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721" r:id="rId2"/>
    <p:sldId id="731" r:id="rId3"/>
    <p:sldId id="720" r:id="rId4"/>
    <p:sldId id="732" r:id="rId5"/>
    <p:sldId id="722" r:id="rId6"/>
    <p:sldId id="723" r:id="rId7"/>
    <p:sldId id="724" r:id="rId8"/>
    <p:sldId id="725" r:id="rId9"/>
    <p:sldId id="726" r:id="rId10"/>
    <p:sldId id="727" r:id="rId11"/>
    <p:sldId id="728" r:id="rId12"/>
    <p:sldId id="729" r:id="rId13"/>
    <p:sldId id="730" r:id="rId14"/>
    <p:sldId id="733" r:id="rId15"/>
    <p:sldId id="734" r:id="rId16"/>
    <p:sldId id="735" r:id="rId17"/>
    <p:sldId id="736" r:id="rId18"/>
    <p:sldId id="737" r:id="rId19"/>
    <p:sldId id="738" r:id="rId20"/>
    <p:sldId id="739" r:id="rId21"/>
    <p:sldId id="740" r:id="rId22"/>
    <p:sldId id="741" r:id="rId23"/>
    <p:sldId id="742" r:id="rId24"/>
    <p:sldId id="743" r:id="rId25"/>
    <p:sldId id="744" r:id="rId26"/>
    <p:sldId id="745" r:id="rId27"/>
    <p:sldId id="746" r:id="rId28"/>
    <p:sldId id="747" r:id="rId29"/>
    <p:sldId id="748" r:id="rId30"/>
    <p:sldId id="749" r:id="rId31"/>
    <p:sldId id="750" r:id="rId32"/>
    <p:sldId id="751" r:id="rId33"/>
    <p:sldId id="752" r:id="rId34"/>
    <p:sldId id="753" r:id="rId35"/>
    <p:sldId id="754" r:id="rId36"/>
    <p:sldId id="719" r:id="rId37"/>
  </p:sldIdLst>
  <p:sldSz cx="9144000" cy="5143500" type="screen16x9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46E78"/>
    <a:srgbClr val="E7EEBA"/>
    <a:srgbClr val="96C9D2"/>
    <a:srgbClr val="C1E0E5"/>
    <a:srgbClr val="DCEDF0"/>
    <a:srgbClr val="C24E4E"/>
    <a:srgbClr val="99B323"/>
    <a:srgbClr val="E8B128"/>
    <a:srgbClr val="AB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6" autoAdjust="0"/>
    <p:restoredTop sz="93219" autoAdjust="0"/>
  </p:normalViewPr>
  <p:slideViewPr>
    <p:cSldViewPr snapToGrid="0" snapToObjects="1">
      <p:cViewPr varScale="1">
        <p:scale>
          <a:sx n="114" d="100"/>
          <a:sy n="114" d="100"/>
        </p:scale>
        <p:origin x="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3C5B-193A-4BF8-A82E-7EEB60FC9D06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2EFD-17CF-42D6-A0C8-2B54CA1B5F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537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A0AF-27EE-2F44-8E2A-D118AC8FD312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F2086-D505-2D44-8947-B67946DAF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52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648" r="542" b="24906"/>
          <a:stretch/>
        </p:blipFill>
        <p:spPr>
          <a:xfrm>
            <a:off x="0" y="-2250"/>
            <a:ext cx="9144000" cy="514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4571964" y="2970854"/>
            <a:ext cx="3888134" cy="1550031"/>
          </a:xfrm>
          <a:prstGeom prst="rect">
            <a:avLst/>
          </a:prstGeom>
        </p:spPr>
        <p:txBody>
          <a:bodyPr wrap="square" lIns="36000" tIns="36000" rIns="36000" bIns="36000" anchor="ctr">
            <a:spAutoFit/>
          </a:bodyPr>
          <a:lstStyle/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Michaelango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Leonardo da Vinci and Rafael (Raffaello Sanzio in Italian) are the famous three Masters of the Italian Renaissance.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creatively excelled in both science and art so their works influenced the future of Western culture.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Radio frequency technology is commonly called RF thus we have adopted Rafael’s name for its R and F.</a:t>
            </a:r>
          </a:p>
        </p:txBody>
      </p:sp>
      <p:sp>
        <p:nvSpPr>
          <p:cNvPr id="14" name="標題 83"/>
          <p:cNvSpPr>
            <a:spLocks noGrp="1"/>
          </p:cNvSpPr>
          <p:nvPr>
            <p:ph type="title" hasCustomPrompt="1"/>
          </p:nvPr>
        </p:nvSpPr>
        <p:spPr>
          <a:xfrm>
            <a:off x="679939" y="1401972"/>
            <a:ext cx="7200000" cy="396000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1" i="0" baseline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Edit Report Title</a:t>
            </a:r>
            <a:endParaRPr lang="zh-TW" altLang="en-US" dirty="0"/>
          </a:p>
        </p:txBody>
      </p:sp>
      <p:sp>
        <p:nvSpPr>
          <p:cNvPr id="15" name="文字版面配置區 31"/>
          <p:cNvSpPr>
            <a:spLocks noGrp="1"/>
          </p:cNvSpPr>
          <p:nvPr>
            <p:ph type="body" sz="quarter" idx="23" hasCustomPrompt="1"/>
          </p:nvPr>
        </p:nvSpPr>
        <p:spPr>
          <a:xfrm>
            <a:off x="1748253" y="4228170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zh-TW" altLang="en-US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MMM-DD-YYYY</a:t>
            </a:r>
            <a:endParaRPr lang="zh-TW" altLang="en-US" dirty="0"/>
          </a:p>
        </p:txBody>
      </p:sp>
      <p:sp>
        <p:nvSpPr>
          <p:cNvPr id="20" name="文字版面配置區 31"/>
          <p:cNvSpPr>
            <a:spLocks noGrp="1"/>
          </p:cNvSpPr>
          <p:nvPr>
            <p:ph type="body" sz="quarter" idx="24" hasCustomPrompt="1"/>
          </p:nvPr>
        </p:nvSpPr>
        <p:spPr>
          <a:xfrm>
            <a:off x="1748253" y="3835302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1" name="文字版面配置區 31"/>
          <p:cNvSpPr>
            <a:spLocks noGrp="1"/>
          </p:cNvSpPr>
          <p:nvPr>
            <p:ph type="body" sz="quarter" idx="20" hasCustomPrompt="1"/>
          </p:nvPr>
        </p:nvSpPr>
        <p:spPr>
          <a:xfrm>
            <a:off x="1748253" y="3049564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kern="120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2" name="文字版面配置區 31"/>
          <p:cNvSpPr>
            <a:spLocks noGrp="1"/>
          </p:cNvSpPr>
          <p:nvPr>
            <p:ph type="body" sz="quarter" idx="21" hasCustomPrompt="1"/>
          </p:nvPr>
        </p:nvSpPr>
        <p:spPr>
          <a:xfrm>
            <a:off x="1748253" y="3442433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4" name="Rectangle 15"/>
          <p:cNvSpPr/>
          <p:nvPr userDrawn="1"/>
        </p:nvSpPr>
        <p:spPr>
          <a:xfrm>
            <a:off x="679939" y="3070994"/>
            <a:ext cx="864587" cy="245058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Presented by : </a:t>
            </a:r>
            <a:endParaRPr lang="en-US" altLang="zh-TW" sz="1000" b="1" kern="1200" dirty="0">
              <a:solidFill>
                <a:srgbClr val="F3F3F3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25" name="Rectangle 15"/>
          <p:cNvSpPr/>
          <p:nvPr userDrawn="1"/>
        </p:nvSpPr>
        <p:spPr>
          <a:xfrm>
            <a:off x="679939" y="3450348"/>
            <a:ext cx="846954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R="0" lvl="0" indent="0" algn="l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b="1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Reviewed by :</a:t>
            </a:r>
            <a:r>
              <a:rPr lang="en-US" altLang="zh-TW" sz="1000" b="1" baseline="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endParaRPr lang="en-US" altLang="zh-TW" sz="1000" b="1" dirty="0">
              <a:solidFill>
                <a:srgbClr val="F3F3F3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" name="Rectangle 17"/>
          <p:cNvSpPr/>
          <p:nvPr userDrawn="1"/>
        </p:nvSpPr>
        <p:spPr>
          <a:xfrm>
            <a:off x="679939" y="3843230"/>
            <a:ext cx="741156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Created by : </a:t>
            </a:r>
          </a:p>
        </p:txBody>
      </p:sp>
      <p:sp>
        <p:nvSpPr>
          <p:cNvPr id="27" name="Rectangle 18"/>
          <p:cNvSpPr/>
          <p:nvPr userDrawn="1"/>
        </p:nvSpPr>
        <p:spPr>
          <a:xfrm>
            <a:off x="679939" y="4243485"/>
            <a:ext cx="1119465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Presentation date : </a:t>
            </a:r>
            <a:endParaRPr lang="zh-TW" altLang="en-US" sz="1000" b="1" kern="1200" dirty="0">
              <a:solidFill>
                <a:srgbClr val="F3F3F3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0" name="圖片 29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/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31" name="框架 30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1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" r="9250"/>
          <a:stretch/>
        </p:blipFill>
        <p:spPr bwMode="auto">
          <a:xfrm>
            <a:off x="0" y="-2250"/>
            <a:ext cx="9144000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框架 4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圖片 6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/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8" name="標題 9"/>
          <p:cNvSpPr txBox="1">
            <a:spLocks/>
          </p:cNvSpPr>
          <p:nvPr userDrawn="1"/>
        </p:nvSpPr>
        <p:spPr>
          <a:xfrm>
            <a:off x="2772000" y="2283750"/>
            <a:ext cx="3600000" cy="5760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j-cs"/>
              </a:defRPr>
            </a:lvl1pPr>
          </a:lstStyle>
          <a:p>
            <a:pPr algn="ctr"/>
            <a:r>
              <a:rPr lang="en-US" altLang="zh-TW" sz="1800" b="1" dirty="0">
                <a:solidFill>
                  <a:schemeClr val="bg1"/>
                </a:solidFill>
                <a:effectLst/>
                <a:latin typeface="ZapfDingbats" pitchFamily="18"/>
              </a:rPr>
              <a:t>Thank You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162125" y="3375855"/>
            <a:ext cx="6819752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lvl="0" algn="ctr"/>
            <a:r>
              <a:rPr lang="en-US" altLang="zh-TW" sz="140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</a:t>
            </a:r>
            <a:r>
              <a:rPr lang="en-US" altLang="zh-TW" sz="1400" baseline="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400" baseline="0" dirty="0">
                <a:solidFill>
                  <a:srgbClr val="99B3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</a:t>
            </a:r>
            <a:r>
              <a:rPr lang="en-US" altLang="zh-TW" sz="1000" dirty="0">
                <a:solidFill>
                  <a:srgbClr val="D3D4D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000" kern="12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 RF integrated circuits with this same aspiration by continuously pursuing innovation and unique creativity.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投影片編號版面配置區 3"/>
          <p:cNvSpPr txBox="1">
            <a:spLocks/>
          </p:cNvSpPr>
          <p:nvPr userDrawn="1"/>
        </p:nvSpPr>
        <p:spPr>
          <a:xfrm>
            <a:off x="390123" y="4914968"/>
            <a:ext cx="129597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</a:lstStyle>
          <a:p>
            <a:pPr lvl="0" algn="ctr"/>
            <a:r>
              <a:rPr lang="en-US" altLang="zh-TW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4" name="Text Box 19"/>
          <p:cNvSpPr txBox="1">
            <a:spLocks noChangeArrowheads="1"/>
          </p:cNvSpPr>
          <p:nvPr userDrawn="1"/>
        </p:nvSpPr>
        <p:spPr bwMode="auto">
          <a:xfrm>
            <a:off x="7609030" y="4914968"/>
            <a:ext cx="1282970" cy="1958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defRPr/>
            </a:pPr>
            <a:r>
              <a:rPr lang="en-US" altLang="zh-TW" sz="800" b="0" i="1" dirty="0">
                <a:solidFill>
                  <a:srgbClr val="F6B9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</a:p>
        </p:txBody>
      </p:sp>
      <p:grpSp>
        <p:nvGrpSpPr>
          <p:cNvPr id="31" name="群組 30"/>
          <p:cNvGrpSpPr>
            <a:grpSpLocks noChangeAspect="1"/>
          </p:cNvGrpSpPr>
          <p:nvPr userDrawn="1"/>
        </p:nvGrpSpPr>
        <p:grpSpPr>
          <a:xfrm>
            <a:off x="8164750" y="4612872"/>
            <a:ext cx="741426" cy="288000"/>
            <a:chOff x="7965218" y="4546501"/>
            <a:chExt cx="926782" cy="360000"/>
          </a:xfrm>
        </p:grpSpPr>
        <p:grpSp>
          <p:nvGrpSpPr>
            <p:cNvPr id="6" name="群組 5"/>
            <p:cNvGrpSpPr/>
            <p:nvPr userDrawn="1"/>
          </p:nvGrpSpPr>
          <p:grpSpPr>
            <a:xfrm>
              <a:off x="8496408" y="4546501"/>
              <a:ext cx="395592" cy="360000"/>
              <a:chOff x="5469835" y="3003630"/>
              <a:chExt cx="395592" cy="360000"/>
            </a:xfrm>
          </p:grpSpPr>
          <p:pic>
            <p:nvPicPr>
              <p:cNvPr id="28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86" r="72051" b="9655"/>
              <a:stretch/>
            </p:blipFill>
            <p:spPr bwMode="auto">
              <a:xfrm>
                <a:off x="5469836" y="3003630"/>
                <a:ext cx="395591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矩形 4"/>
              <p:cNvSpPr/>
              <p:nvPr userDrawn="1"/>
            </p:nvSpPr>
            <p:spPr>
              <a:xfrm>
                <a:off x="5469835" y="3003630"/>
                <a:ext cx="395591" cy="360000"/>
              </a:xfrm>
              <a:prstGeom prst="rect">
                <a:avLst/>
              </a:prstGeom>
              <a:solidFill>
                <a:srgbClr val="FFFFFF">
                  <a:alpha val="6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0" name="群組 29"/>
            <p:cNvGrpSpPr/>
            <p:nvPr userDrawn="1"/>
          </p:nvGrpSpPr>
          <p:grpSpPr>
            <a:xfrm>
              <a:off x="7965218" y="4798501"/>
              <a:ext cx="642182" cy="108000"/>
              <a:chOff x="4458584" y="2799907"/>
              <a:chExt cx="642182" cy="108000"/>
            </a:xfrm>
          </p:grpSpPr>
          <p:pic>
            <p:nvPicPr>
              <p:cNvPr id="29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72" t="37421" r="5424" b="30389"/>
              <a:stretch/>
            </p:blipFill>
            <p:spPr bwMode="auto">
              <a:xfrm>
                <a:off x="4458584" y="2799907"/>
                <a:ext cx="642182" cy="1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6"/>
              <p:cNvSpPr/>
              <p:nvPr userDrawn="1"/>
            </p:nvSpPr>
            <p:spPr>
              <a:xfrm>
                <a:off x="4458584" y="2799907"/>
                <a:ext cx="640800" cy="108000"/>
              </a:xfrm>
              <a:prstGeom prst="rect">
                <a:avLst/>
              </a:prstGeom>
              <a:solidFill>
                <a:srgbClr val="FFFFFF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9" name="矩形 38"/>
          <p:cNvSpPr/>
          <p:nvPr userDrawn="1"/>
        </p:nvSpPr>
        <p:spPr>
          <a:xfrm rot="5400000">
            <a:off x="324000" y="4972568"/>
            <a:ext cx="126000" cy="10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2000" y="4906501"/>
            <a:ext cx="270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 userDrawn="1"/>
        </p:nvSpPr>
        <p:spPr>
          <a:xfrm flipH="1">
            <a:off x="657000" y="4906501"/>
            <a:ext cx="8235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投影片編號版面配置區 3"/>
          <p:cNvSpPr txBox="1">
            <a:spLocks/>
          </p:cNvSpPr>
          <p:nvPr userDrawn="1"/>
        </p:nvSpPr>
        <p:spPr>
          <a:xfrm>
            <a:off x="254280" y="4914968"/>
            <a:ext cx="12732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</a:lstStyle>
          <a:p>
            <a:pPr lvl="0" algn="ctr"/>
            <a:fld id="{9C5D9D58-E8C0-45B8-84D0-B47AD46CE60E}" type="slidenum">
              <a:rPr lang="zh-TW" altLang="en-US" sz="700" baseline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lvl="0" algn="ctr"/>
              <a:t>‹#›</a:t>
            </a:fld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学习报告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 dirty="0"/>
              <a:t>Dec</a:t>
            </a:r>
            <a:r>
              <a:rPr lang="en-US" dirty="0"/>
              <a:t>-25-2025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r>
              <a:rPr lang="en-US" altLang="zh-CN" dirty="0"/>
              <a:t>	</a:t>
            </a:r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127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1F32-7A38-40AC-3EF9-F8998076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BBA147-D39A-1BEC-693A-AD54655E591B}"/>
              </a:ext>
            </a:extLst>
          </p:cNvPr>
          <p:cNvSpPr txBox="1"/>
          <p:nvPr/>
        </p:nvSpPr>
        <p:spPr>
          <a:xfrm>
            <a:off x="5187351" y="3325884"/>
            <a:ext cx="3822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</a:t>
            </a:r>
            <a:r>
              <a:rPr lang="zh-CN" altLang="en-US" sz="4000" dirty="0">
                <a:solidFill>
                  <a:schemeClr val="accent1"/>
                </a:solidFill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43918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FreeRTOS </a:t>
            </a:r>
            <a:r>
              <a:rPr lang="zh-CN" altLang="en-US" b="1" dirty="0">
                <a:solidFill>
                  <a:schemeClr val="accent1"/>
                </a:solidFill>
              </a:rPr>
              <a:t>简介与核心概念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FAD2B1-7A51-017C-B1E8-BB69A3DF6F00}"/>
              </a:ext>
            </a:extLst>
          </p:cNvPr>
          <p:cNvSpPr txBox="1"/>
          <p:nvPr/>
        </p:nvSpPr>
        <p:spPr>
          <a:xfrm>
            <a:off x="215591" y="780585"/>
            <a:ext cx="77909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B0F0"/>
                </a:solidFill>
              </a:rPr>
              <a:t>FreeRTOS </a:t>
            </a:r>
            <a:r>
              <a:rPr lang="zh-CN" altLang="en-US" sz="1200" b="1" dirty="0">
                <a:solidFill>
                  <a:srgbClr val="00B0F0"/>
                </a:solidFill>
              </a:rPr>
              <a:t>实时操作系统基础</a:t>
            </a:r>
          </a:p>
          <a:p>
            <a:r>
              <a:rPr lang="en-US" altLang="zh-CN" sz="1200" dirty="0"/>
              <a:t>1. </a:t>
            </a:r>
            <a:r>
              <a:rPr lang="zh-CN" altLang="en-US" sz="1200" dirty="0"/>
              <a:t>什么是 </a:t>
            </a:r>
            <a:r>
              <a:rPr lang="en-US" altLang="zh-CN" sz="1200" dirty="0"/>
              <a:t>FreeRTOS</a:t>
            </a:r>
            <a:r>
              <a:rPr lang="zh-CN" altLang="en-US" sz="1200" dirty="0"/>
              <a:t>？</a:t>
            </a:r>
          </a:p>
          <a:p>
            <a:r>
              <a:rPr lang="zh-CN" altLang="en-US" sz="1200" dirty="0"/>
              <a:t>轻量级实时操作系统（</a:t>
            </a:r>
            <a:r>
              <a:rPr lang="en-US" altLang="zh-CN" sz="1200" dirty="0"/>
              <a:t>RTOS</a:t>
            </a:r>
            <a:r>
              <a:rPr lang="zh-CN" altLang="en-US" sz="1200" dirty="0"/>
              <a:t>），适用于微控制器（</a:t>
            </a:r>
            <a:r>
              <a:rPr lang="en-US" altLang="zh-CN" sz="1200" dirty="0"/>
              <a:t>MCU</a:t>
            </a:r>
            <a:r>
              <a:rPr lang="zh-CN" altLang="en-US" sz="1200" dirty="0"/>
              <a:t>）</a:t>
            </a:r>
          </a:p>
          <a:p>
            <a:r>
              <a:rPr lang="zh-CN" altLang="en-US" sz="1200" dirty="0"/>
              <a:t>核心特点：免费开源、占用资源少（</a:t>
            </a:r>
            <a:r>
              <a:rPr lang="en-US" altLang="zh-CN" sz="1200" dirty="0"/>
              <a:t>RAM≥2KB </a:t>
            </a:r>
            <a:r>
              <a:rPr lang="zh-CN" altLang="en-US" sz="1200" dirty="0"/>
              <a:t>即可运行）、支持多任务调度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核心概念</a:t>
            </a:r>
          </a:p>
          <a:p>
            <a:r>
              <a:rPr lang="zh-CN" altLang="en-US" sz="1200" dirty="0"/>
              <a:t>任务（</a:t>
            </a:r>
            <a:r>
              <a:rPr lang="en-US" altLang="zh-CN" sz="1200" dirty="0"/>
              <a:t>Task</a:t>
            </a:r>
            <a:r>
              <a:rPr lang="zh-CN" altLang="en-US" sz="1200" dirty="0"/>
              <a:t>）：最小执行单元，每个任务有独立的堆栈和优先级</a:t>
            </a:r>
          </a:p>
          <a:p>
            <a:r>
              <a:rPr lang="zh-CN" altLang="en-US" sz="1200" dirty="0"/>
              <a:t>调度器（</a:t>
            </a:r>
            <a:r>
              <a:rPr lang="en-US" altLang="zh-CN" sz="1200" dirty="0"/>
              <a:t>Scheduler</a:t>
            </a:r>
            <a:r>
              <a:rPr lang="zh-CN" altLang="en-US" sz="1200" dirty="0"/>
              <a:t>）：负责按优先级分配 </a:t>
            </a:r>
            <a:r>
              <a:rPr lang="en-US" altLang="zh-CN" sz="1200" dirty="0"/>
              <a:t>CPU </a:t>
            </a:r>
            <a:r>
              <a:rPr lang="zh-CN" altLang="en-US" sz="1200" dirty="0"/>
              <a:t>资源，高优先级任务抢占低优先级任务</a:t>
            </a:r>
          </a:p>
          <a:p>
            <a:r>
              <a:rPr lang="zh-CN" altLang="en-US" sz="1200" dirty="0"/>
              <a:t>内核（</a:t>
            </a:r>
            <a:r>
              <a:rPr lang="en-US" altLang="zh-CN" sz="1200" dirty="0"/>
              <a:t>Kernel</a:t>
            </a:r>
            <a:r>
              <a:rPr lang="zh-CN" altLang="en-US" sz="1200" dirty="0"/>
              <a:t>）：提供任务管理、通信同步、时间管理等核心功能</a:t>
            </a:r>
          </a:p>
          <a:p>
            <a:r>
              <a:rPr lang="zh-CN" altLang="en-US" sz="1200" dirty="0"/>
              <a:t>临界区（</a:t>
            </a:r>
            <a:r>
              <a:rPr lang="en-US" altLang="zh-CN" sz="1200" dirty="0"/>
              <a:t>Critical Section</a:t>
            </a:r>
            <a:r>
              <a:rPr lang="zh-CN" altLang="en-US" sz="1200" dirty="0"/>
              <a:t>）：禁止中断的代码段，保护共享资源（如全局变量）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3. </a:t>
            </a:r>
            <a:r>
              <a:rPr lang="zh-CN" altLang="en-US" sz="1200" dirty="0"/>
              <a:t>系统配置方式</a:t>
            </a:r>
          </a:p>
          <a:p>
            <a:r>
              <a:rPr lang="zh-CN" altLang="en-US" sz="1200" dirty="0"/>
              <a:t>配置文件：</a:t>
            </a:r>
            <a:r>
              <a:rPr lang="en-US" altLang="zh-CN" sz="1200" dirty="0"/>
              <a:t>FreeRTOSConfig.h</a:t>
            </a:r>
            <a:r>
              <a:rPr lang="zh-CN" altLang="en-US" sz="1200" dirty="0"/>
              <a:t>（所有功能通过宏定义启用 </a:t>
            </a:r>
            <a:r>
              <a:rPr lang="en-US" altLang="zh-CN" sz="1200" dirty="0"/>
              <a:t>/ </a:t>
            </a:r>
            <a:r>
              <a:rPr lang="zh-CN" altLang="en-US" sz="1200" dirty="0"/>
              <a:t>禁用）</a:t>
            </a:r>
          </a:p>
          <a:p>
            <a:r>
              <a:rPr lang="zh-CN" altLang="en-US" sz="1200" dirty="0"/>
              <a:t>常用配置宏：</a:t>
            </a:r>
          </a:p>
          <a:p>
            <a:r>
              <a:rPr lang="en-US" altLang="zh-CN" sz="1200" dirty="0"/>
              <a:t>configUSE_PREEMPTION</a:t>
            </a:r>
            <a:r>
              <a:rPr lang="zh-CN" altLang="en-US" sz="1200" dirty="0"/>
              <a:t>：启用抢占式调度（默认开启）</a:t>
            </a:r>
          </a:p>
          <a:p>
            <a:r>
              <a:rPr lang="en-US" altLang="zh-CN" sz="1200" dirty="0"/>
              <a:t>configMAX_PRIORITIES</a:t>
            </a:r>
            <a:r>
              <a:rPr lang="zh-CN" altLang="en-US" sz="1200" dirty="0"/>
              <a:t>：设置最大任务优先级（如 </a:t>
            </a:r>
            <a:r>
              <a:rPr lang="en-US" altLang="zh-CN" sz="1200" dirty="0"/>
              <a:t>32</a:t>
            </a:r>
            <a:r>
              <a:rPr lang="zh-CN" altLang="en-US" sz="1200" dirty="0"/>
              <a:t>）</a:t>
            </a:r>
          </a:p>
          <a:p>
            <a:r>
              <a:rPr lang="en-US" altLang="zh-CN" sz="1200" dirty="0"/>
              <a:t>configTICK_RATE_HZ</a:t>
            </a:r>
            <a:r>
              <a:rPr lang="zh-CN" altLang="en-US" sz="1200" dirty="0"/>
              <a:t>：系统节拍频率（默认 </a:t>
            </a:r>
            <a:r>
              <a:rPr lang="en-US" altLang="zh-CN" sz="1200" dirty="0"/>
              <a:t>1000Hz</a:t>
            </a:r>
            <a:r>
              <a:rPr lang="zh-CN" altLang="en-US" sz="1200" dirty="0"/>
              <a:t>，即 </a:t>
            </a:r>
            <a:r>
              <a:rPr lang="en-US" altLang="zh-CN" sz="1200" dirty="0"/>
              <a:t>1ms </a:t>
            </a:r>
            <a:r>
              <a:rPr lang="zh-CN" altLang="en-US" sz="1200" dirty="0"/>
              <a:t>一个 </a:t>
            </a:r>
            <a:r>
              <a:rPr lang="en-US" altLang="zh-CN" sz="1200" dirty="0"/>
              <a:t>tick</a:t>
            </a:r>
            <a:r>
              <a:rPr lang="zh-CN" altLang="en-US" sz="1200" dirty="0"/>
              <a:t>）</a:t>
            </a:r>
          </a:p>
          <a:p>
            <a:r>
              <a:rPr lang="en-US" altLang="zh-CN" sz="1200" dirty="0" err="1"/>
              <a:t>configMINIMAL_STACK_SIZE</a:t>
            </a:r>
            <a:r>
              <a:rPr lang="zh-CN" altLang="en-US" sz="1200" dirty="0"/>
              <a:t>：空闲任务堆栈大小（如 </a:t>
            </a:r>
            <a:r>
              <a:rPr lang="en-US" altLang="zh-CN" sz="1200" dirty="0"/>
              <a:t>128 </a:t>
            </a:r>
            <a:r>
              <a:rPr lang="zh-CN" altLang="en-US" sz="1200" dirty="0"/>
              <a:t>字）</a:t>
            </a:r>
          </a:p>
        </p:txBody>
      </p:sp>
    </p:spTree>
    <p:extLst>
      <p:ext uri="{BB962C8B-B14F-4D97-AF65-F5344CB8AC3E}">
        <p14:creationId xmlns:p14="http://schemas.microsoft.com/office/powerpoint/2010/main" val="257736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D4599AB-F8F0-B83E-A0B4-BF51FCF661C8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</a:t>
            </a:r>
            <a:r>
              <a:rPr lang="zh-CN" altLang="en-US" sz="4000" dirty="0">
                <a:solidFill>
                  <a:schemeClr val="accent1"/>
                </a:solidFill>
              </a:rPr>
              <a:t>任务相关</a:t>
            </a:r>
            <a:r>
              <a:rPr lang="en-US" altLang="zh-CN" sz="4000" dirty="0">
                <a:solidFill>
                  <a:schemeClr val="accent1"/>
                </a:solidFill>
              </a:rPr>
              <a:t>API</a:t>
            </a:r>
            <a:r>
              <a:rPr lang="zh-CN" altLang="en-US" sz="4000" dirty="0">
                <a:solidFill>
                  <a:schemeClr val="accent1"/>
                </a:solidFill>
              </a:rPr>
              <a:t>、软件定时器</a:t>
            </a:r>
          </a:p>
        </p:txBody>
      </p:sp>
    </p:spTree>
    <p:extLst>
      <p:ext uri="{BB962C8B-B14F-4D97-AF65-F5344CB8AC3E}">
        <p14:creationId xmlns:p14="http://schemas.microsoft.com/office/powerpoint/2010/main" val="142550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9537A-2A86-59F8-272C-C62780E07486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任务的创建与删除</a:t>
            </a:r>
          </a:p>
        </p:txBody>
      </p:sp>
      <p:graphicFrame>
        <p:nvGraphicFramePr>
          <p:cNvPr id="6" name="内容占位符 3">
            <a:extLst>
              <a:ext uri="{FF2B5EF4-FFF2-40B4-BE49-F238E27FC236}">
                <a16:creationId xmlns:a16="http://schemas.microsoft.com/office/drawing/2014/main" id="{0B03D0D9-DFAA-8F51-B08D-8F409D3B97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933681"/>
              </p:ext>
            </p:extLst>
          </p:nvPr>
        </p:nvGraphicFramePr>
        <p:xfrm>
          <a:off x="273844" y="797926"/>
          <a:ext cx="8596311" cy="2712533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78646819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4313305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392204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功能分类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4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5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4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5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函数名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805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5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8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861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创建 </a:t>
                      </a:r>
                      <a:r>
                        <a:rPr lang="en-US" altLang="zh-CN" sz="1200" b="0" dirty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删除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005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5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5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5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xTaskCreate()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A05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5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6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动态创建任务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0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8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9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38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endParaRPr lang="zh-CN" altLang="en-US" sz="1200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6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5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6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xTaskCreateStatic()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6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5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6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6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静态创建任务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A05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4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9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9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0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endParaRPr lang="zh-CN" altLang="en-US" sz="1200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6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6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6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7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vTaskDelete()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6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6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7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删除任务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4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9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9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25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挂起 </a:t>
                      </a:r>
                      <a:r>
                        <a:rPr lang="en-US" altLang="zh-CN" sz="1200" b="0" dirty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恢复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807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6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7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7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vTaskSuspend()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6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7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7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挂起任务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4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9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A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00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endParaRPr lang="zh-CN" altLang="en-US" sz="1200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407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8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7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7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vTaskResume()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808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7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3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恢复任务（任务级）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4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A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975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endParaRPr lang="zh-CN" altLang="en-US" sz="1200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E07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3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7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7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xTaskResumeFromISR()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3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7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3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3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</a:rPr>
                        <a:t>恢复任务（中断级）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7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5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7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985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95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B40C8-0E6F-3FBB-48DC-0B74FBD29800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软件定时器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332D9BB-A721-28B1-D54D-742BA491F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638014"/>
              </p:ext>
            </p:extLst>
          </p:nvPr>
        </p:nvGraphicFramePr>
        <p:xfrm>
          <a:off x="215591" y="658497"/>
          <a:ext cx="7970808" cy="3828843"/>
        </p:xfrm>
        <a:graphic>
          <a:graphicData uri="http://schemas.openxmlformats.org/drawingml/2006/table">
            <a:tbl>
              <a:tblPr/>
              <a:tblGrid>
                <a:gridCol w="2656936">
                  <a:extLst>
                    <a:ext uri="{9D8B030D-6E8A-4147-A177-3AD203B41FA5}">
                      <a16:colId xmlns:a16="http://schemas.microsoft.com/office/drawing/2014/main" val="1713180522"/>
                    </a:ext>
                  </a:extLst>
                </a:gridCol>
                <a:gridCol w="2656936">
                  <a:extLst>
                    <a:ext uri="{9D8B030D-6E8A-4147-A177-3AD203B41FA5}">
                      <a16:colId xmlns:a16="http://schemas.microsoft.com/office/drawing/2014/main" val="4190885558"/>
                    </a:ext>
                  </a:extLst>
                </a:gridCol>
                <a:gridCol w="2656936">
                  <a:extLst>
                    <a:ext uri="{9D8B030D-6E8A-4147-A177-3AD203B41FA5}">
                      <a16:colId xmlns:a16="http://schemas.microsoft.com/office/drawing/2014/main" val="3799374106"/>
                    </a:ext>
                  </a:extLst>
                </a:gridCol>
              </a:tblGrid>
              <a:tr h="337183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</a:rPr>
                        <a:t>API </a:t>
                      </a:r>
                      <a:r>
                        <a:rPr lang="zh-CN" altLang="en-US" sz="900" b="1">
                          <a:solidFill>
                            <a:srgbClr val="000000"/>
                          </a:solidFill>
                          <a:effectLst/>
                        </a:rPr>
                        <a:t>函数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C06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6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6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</a:rPr>
                        <a:t>功能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E06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72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6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00"/>
                          </a:solidFill>
                          <a:effectLst/>
                        </a:rPr>
                        <a:t>参数说明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2072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72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72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4C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08615"/>
                  </a:ext>
                </a:extLst>
              </a:tr>
              <a:tr h="170129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xTimerCreate()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0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7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动态创建软件定时器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6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7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7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8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pcTimerName：</a:t>
                      </a:r>
                      <a:r>
                        <a:rPr lang="zh-CN" altLang="en-US" sz="1200" b="0">
                          <a:effectLst/>
                        </a:rPr>
                        <a:t>定时器名；</a:t>
                      </a:r>
                      <a:r>
                        <a:rPr lang="en-US" sz="1200" b="0">
                          <a:effectLst/>
                        </a:rPr>
                        <a:t>xTimerPeriodInTicks：</a:t>
                      </a:r>
                      <a:r>
                        <a:rPr lang="zh-CN" altLang="en-US" sz="1200" b="0">
                          <a:effectLst/>
                        </a:rPr>
                        <a:t>周期（</a:t>
                      </a:r>
                      <a:r>
                        <a:rPr lang="en-US" sz="1200" b="0">
                          <a:effectLst/>
                        </a:rPr>
                        <a:t>tick </a:t>
                      </a:r>
                      <a:r>
                        <a:rPr lang="zh-CN" altLang="en-US" sz="1200" b="0">
                          <a:effectLst/>
                        </a:rPr>
                        <a:t>数）；</a:t>
                      </a:r>
                      <a:r>
                        <a:rPr lang="en-US" sz="1200" b="0">
                          <a:effectLst/>
                        </a:rPr>
                        <a:t>uxAutoReload：</a:t>
                      </a:r>
                      <a:r>
                        <a:rPr lang="zh-CN" altLang="en-US" sz="1200" b="0">
                          <a:effectLst/>
                        </a:rPr>
                        <a:t>是否自动重载（</a:t>
                      </a:r>
                      <a:r>
                        <a:rPr lang="en-US" sz="1200" b="0">
                          <a:effectLst/>
                        </a:rPr>
                        <a:t>pdTRUE = </a:t>
                      </a:r>
                      <a:r>
                        <a:rPr lang="zh-CN" altLang="en-US" sz="1200" b="0">
                          <a:effectLst/>
                        </a:rPr>
                        <a:t>周期，</a:t>
                      </a:r>
                      <a:r>
                        <a:rPr lang="en-US" sz="1200" b="0">
                          <a:effectLst/>
                        </a:rPr>
                        <a:t>pdFALSE = </a:t>
                      </a:r>
                      <a:r>
                        <a:rPr lang="zh-CN" altLang="en-US" sz="1200" b="0">
                          <a:effectLst/>
                        </a:rPr>
                        <a:t>单次）；</a:t>
                      </a:r>
                      <a:r>
                        <a:rPr lang="en-US" sz="1200" b="0">
                          <a:effectLst/>
                        </a:rPr>
                        <a:t>pvTimerID：</a:t>
                      </a:r>
                      <a:r>
                        <a:rPr lang="zh-CN" altLang="en-US" sz="1200" b="0">
                          <a:effectLst/>
                        </a:rPr>
                        <a:t>定时器 </a:t>
                      </a:r>
                      <a:r>
                        <a:rPr lang="en-US" sz="1200" b="0">
                          <a:effectLst/>
                        </a:rPr>
                        <a:t>ID；pxCallbackFunction：</a:t>
                      </a:r>
                      <a:r>
                        <a:rPr lang="zh-CN" altLang="en-US" sz="1200" b="0">
                          <a:effectLst/>
                        </a:rPr>
                        <a:t>回调函数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C07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7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4C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62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63791"/>
                  </a:ext>
                </a:extLst>
              </a:tr>
              <a:tr h="64942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xTimerStart()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807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8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7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8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任务中启动定时器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A08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7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8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8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200" b="0">
                          <a:effectLst/>
                        </a:rPr>
                        <a:t>xTimer</a:t>
                      </a:r>
                      <a:r>
                        <a:rPr lang="zh-CN" altLang="en-US" sz="1200" b="0">
                          <a:effectLst/>
                        </a:rPr>
                        <a:t>：定时器句柄；</a:t>
                      </a:r>
                      <a:r>
                        <a:rPr lang="en-US" altLang="zh-CN" sz="1200" b="0">
                          <a:effectLst/>
                        </a:rPr>
                        <a:t>xTicksToWait</a:t>
                      </a:r>
                      <a:r>
                        <a:rPr lang="zh-CN" altLang="en-US" sz="1200" b="0">
                          <a:effectLst/>
                        </a:rPr>
                        <a:t>：阻塞时间（等待定时器启动）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E07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6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62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9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286513"/>
                  </a:ext>
                </a:extLst>
              </a:tr>
              <a:tr h="33841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xTimerStartFromISR()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408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8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8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8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中断中启动定时器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E08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7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8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90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同上，用于中断服务函数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607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6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9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9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08576"/>
                  </a:ext>
                </a:extLst>
              </a:tr>
              <a:tr h="33841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xTimerStop()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A08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8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8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任务中停止定时器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A08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7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90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2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同上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607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7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9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F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44802"/>
                  </a:ext>
                </a:extLst>
              </a:tr>
              <a:tr h="461769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xTimerReset()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A02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2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2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任务中复位定时器（重新开始计时）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002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2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2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2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</a:rPr>
                        <a:t>同上</a:t>
                      </a:r>
                    </a:p>
                  </a:txBody>
                  <a:tcPr marL="78619" marR="78619" marT="52413" marB="52413" anchor="ctr">
                    <a:lnL w="4229" cap="flat" cmpd="sng" algn="ctr">
                      <a:solidFill>
                        <a:srgbClr val="E02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22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F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28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3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32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E9346-52A9-B65F-918C-3043BD9AF3D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相关实验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A2BB7D-BE5E-B65F-21B0-C42D6710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864681"/>
            <a:ext cx="7850038" cy="43032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43885E-2E89-5BA2-2E50-92EFB0E069AF}"/>
              </a:ext>
            </a:extLst>
          </p:cNvPr>
          <p:cNvSpPr txBox="1"/>
          <p:nvPr/>
        </p:nvSpPr>
        <p:spPr>
          <a:xfrm>
            <a:off x="215591" y="587682"/>
            <a:ext cx="299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创建两个任务进行打印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5F240C-BF54-517E-D58D-8CE8B30D2651}"/>
              </a:ext>
            </a:extLst>
          </p:cNvPr>
          <p:cNvSpPr txBox="1"/>
          <p:nvPr/>
        </p:nvSpPr>
        <p:spPr>
          <a:xfrm>
            <a:off x="215589" y="1304722"/>
            <a:ext cx="866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用一个任务创建两个定时器分别来挂起和恢复</a:t>
            </a:r>
            <a:r>
              <a:rPr lang="en-US" altLang="zh-CN" sz="1200" dirty="0"/>
              <a:t>task1</a:t>
            </a:r>
            <a:r>
              <a:rPr lang="zh-CN" altLang="en-US" sz="1200" dirty="0"/>
              <a:t>和</a:t>
            </a:r>
            <a:r>
              <a:rPr lang="en-US" altLang="zh-CN" sz="1200" dirty="0"/>
              <a:t>task2</a:t>
            </a:r>
            <a:r>
              <a:rPr lang="zh-CN" altLang="en-US" sz="1200" dirty="0"/>
              <a:t>，并通过延时开启定时器达到挂起恢复轮询进行的效果；之后删除自身释放空间</a:t>
            </a:r>
          </a:p>
        </p:txBody>
      </p:sp>
      <p:pic>
        <p:nvPicPr>
          <p:cNvPr id="10" name="图片 9" descr="电脑萤幕画面&#10;&#10;AI 生成的内容可能不正确。">
            <a:extLst>
              <a:ext uri="{FF2B5EF4-FFF2-40B4-BE49-F238E27FC236}">
                <a16:creationId xmlns:a16="http://schemas.microsoft.com/office/drawing/2014/main" id="{8580C385-8663-F5A4-361F-0470AF7FF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1" y="1776099"/>
            <a:ext cx="8669617" cy="271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8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2A8644-F153-E87D-44D4-30843E9337D1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实验结果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7CC73550-8E51-617B-BEF5-E8B6CD9C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587682"/>
            <a:ext cx="4548219" cy="41775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43FD04-3493-8D39-6DE8-0A1915B7D3C5}"/>
              </a:ext>
            </a:extLst>
          </p:cNvPr>
          <p:cNvSpPr txBox="1"/>
          <p:nvPr/>
        </p:nvSpPr>
        <p:spPr>
          <a:xfrm>
            <a:off x="4980317" y="1392814"/>
            <a:ext cx="30077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上电后</a:t>
            </a:r>
            <a:r>
              <a:rPr lang="en-US" altLang="zh-CN" sz="2000" dirty="0">
                <a:solidFill>
                  <a:srgbClr val="00B0F0"/>
                </a:solidFill>
              </a:rPr>
              <a:t>task1</a:t>
            </a:r>
            <a:r>
              <a:rPr lang="zh-CN" altLang="en-US" sz="2000" dirty="0">
                <a:solidFill>
                  <a:srgbClr val="00B0F0"/>
                </a:solidFill>
              </a:rPr>
              <a:t>和</a:t>
            </a:r>
            <a:r>
              <a:rPr lang="en-US" altLang="zh-CN" sz="2000" dirty="0">
                <a:solidFill>
                  <a:srgbClr val="00B0F0"/>
                </a:solidFill>
              </a:rPr>
              <a:t>task2</a:t>
            </a:r>
            <a:r>
              <a:rPr lang="zh-CN" altLang="en-US" sz="2000" dirty="0">
                <a:solidFill>
                  <a:srgbClr val="00B0F0"/>
                </a:solidFill>
              </a:rPr>
              <a:t>开始正常打印，</a:t>
            </a:r>
            <a:r>
              <a:rPr lang="en-US" altLang="zh-CN" sz="2000" dirty="0">
                <a:solidFill>
                  <a:srgbClr val="00B0F0"/>
                </a:solidFill>
              </a:rPr>
              <a:t>20s</a:t>
            </a:r>
            <a:r>
              <a:rPr lang="zh-CN" altLang="en-US" sz="2000" dirty="0">
                <a:solidFill>
                  <a:srgbClr val="00B0F0"/>
                </a:solidFill>
              </a:rPr>
              <a:t>后挂起定时器触发打印停止，又过</a:t>
            </a:r>
            <a:r>
              <a:rPr lang="en-US" altLang="zh-CN" sz="2000" dirty="0">
                <a:solidFill>
                  <a:srgbClr val="00B0F0"/>
                </a:solidFill>
              </a:rPr>
              <a:t>10s</a:t>
            </a:r>
            <a:r>
              <a:rPr lang="zh-CN" altLang="en-US" sz="2000" dirty="0">
                <a:solidFill>
                  <a:srgbClr val="00B0F0"/>
                </a:solidFill>
              </a:rPr>
              <a:t>后恢复定时器触发，</a:t>
            </a:r>
            <a:r>
              <a:rPr lang="en-US" altLang="zh-CN" sz="2000" dirty="0">
                <a:solidFill>
                  <a:srgbClr val="00B0F0"/>
                </a:solidFill>
              </a:rPr>
              <a:t>task1</a:t>
            </a:r>
            <a:r>
              <a:rPr lang="zh-CN" altLang="en-US" sz="2000" dirty="0">
                <a:solidFill>
                  <a:srgbClr val="00B0F0"/>
                </a:solidFill>
              </a:rPr>
              <a:t>和</a:t>
            </a:r>
            <a:r>
              <a:rPr lang="en-US" altLang="zh-CN" sz="2000" dirty="0">
                <a:solidFill>
                  <a:srgbClr val="00B0F0"/>
                </a:solidFill>
              </a:rPr>
              <a:t>task2</a:t>
            </a:r>
            <a:r>
              <a:rPr lang="zh-CN" altLang="en-US" sz="2000" dirty="0">
                <a:solidFill>
                  <a:srgbClr val="00B0F0"/>
                </a:solidFill>
              </a:rPr>
              <a:t>又开始运行继续打印，之后就是挂起和恢复的交替循环</a:t>
            </a:r>
          </a:p>
        </p:txBody>
      </p:sp>
    </p:spTree>
    <p:extLst>
      <p:ext uri="{BB962C8B-B14F-4D97-AF65-F5344CB8AC3E}">
        <p14:creationId xmlns:p14="http://schemas.microsoft.com/office/powerpoint/2010/main" val="311360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4D6C52-A025-E528-C061-023C1BAF8639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临界段与内核控制</a:t>
            </a:r>
          </a:p>
        </p:txBody>
      </p:sp>
    </p:spTree>
    <p:extLst>
      <p:ext uri="{BB962C8B-B14F-4D97-AF65-F5344CB8AC3E}">
        <p14:creationId xmlns:p14="http://schemas.microsoft.com/office/powerpoint/2010/main" val="184006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411F0-1E46-58B5-1393-E45ED21AAF87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临界段保护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02DCF2-E085-364B-AB1E-EBC6E245FA4F}"/>
              </a:ext>
            </a:extLst>
          </p:cNvPr>
          <p:cNvSpPr txBox="1"/>
          <p:nvPr/>
        </p:nvSpPr>
        <p:spPr>
          <a:xfrm>
            <a:off x="215591" y="838584"/>
            <a:ext cx="7815533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dirty="0"/>
              <a:t>共享资源：多个任务 </a:t>
            </a:r>
            <a:r>
              <a:rPr lang="en-US" altLang="zh-CN" sz="1200" dirty="0"/>
              <a:t>/ </a:t>
            </a:r>
            <a:r>
              <a:rPr lang="zh-CN" altLang="en-US" sz="1200" dirty="0"/>
              <a:t>中断共同访问的资源（如全局变量、外设寄存器）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dirty="0"/>
              <a:t>临界段代码：访问共享资源的代码段（必须完整执行，不能被打断）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任务级临界段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API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：</a:t>
            </a:r>
            <a:endParaRPr lang="en-US" altLang="zh-CN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taskENTER_CRITICAL</a:t>
            </a:r>
            <a:r>
              <a:rPr lang="en-US" altLang="zh-CN" sz="1200" dirty="0"/>
              <a:t>(); // </a:t>
            </a:r>
            <a:r>
              <a:rPr lang="zh-CN" altLang="en-US" sz="1200" dirty="0"/>
              <a:t>进入临界段（关闭中断）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g_shared_var</a:t>
            </a:r>
            <a:r>
              <a:rPr lang="en-US" altLang="zh-CN" sz="1200" dirty="0"/>
              <a:t>++; // </a:t>
            </a:r>
            <a:r>
              <a:rPr lang="zh-CN" altLang="en-US" sz="1200" dirty="0"/>
              <a:t>访问共享资源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taskEXIT_CRITICAL</a:t>
            </a:r>
            <a:r>
              <a:rPr lang="en-US" altLang="zh-CN" sz="1200" dirty="0"/>
              <a:t>(); // </a:t>
            </a:r>
            <a:r>
              <a:rPr lang="zh-CN" altLang="en-US" sz="1200" dirty="0"/>
              <a:t>退出临界段（恢复中断）</a:t>
            </a:r>
            <a:endParaRPr lang="en-US" altLang="zh-CN" sz="1200" dirty="0"/>
          </a:p>
          <a:p>
            <a:pPr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Menlo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中断级临界段 </a:t>
            </a:r>
            <a:r>
              <a:rPr lang="en-US" altLang="zh-CN" sz="1200" dirty="0"/>
              <a:t>API</a:t>
            </a:r>
            <a:r>
              <a:rPr lang="zh-CN" altLang="en-US" sz="1200" dirty="0"/>
              <a:t>（中断服务函数中使用）：</a:t>
            </a:r>
            <a:endParaRPr lang="en-US" altLang="zh-CN" sz="1200" dirty="0"/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UBaseType_t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uxSavedInterruptStatus</a:t>
            </a:r>
            <a:r>
              <a:rPr lang="en-US" altLang="zh-CN" sz="1200" dirty="0"/>
              <a:t>; 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uxSavedInterruptStatus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taskENTER_CRITICAL_FROM_ISR</a:t>
            </a:r>
            <a:r>
              <a:rPr lang="en-US" altLang="zh-CN" sz="1200" dirty="0"/>
              <a:t>(); 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g_shared_var</a:t>
            </a:r>
            <a:r>
              <a:rPr lang="en-US" altLang="zh-CN" sz="1200" dirty="0"/>
              <a:t>++; 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 err="1"/>
              <a:t>taskEXIT_CRITICAL_FROM_ISR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uxSavedInterruptStatus</a:t>
            </a:r>
            <a:r>
              <a:rPr lang="en-US" altLang="zh-CN" sz="1200" dirty="0"/>
              <a:t>);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6459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0FA7DD-983E-5566-4B58-993F9E02895E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内核控制函数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A65688-65BA-5E55-4D66-446F3AD98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81481"/>
              </p:ext>
            </p:extLst>
          </p:nvPr>
        </p:nvGraphicFramePr>
        <p:xfrm>
          <a:off x="215591" y="999852"/>
          <a:ext cx="7886700" cy="2876361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982540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5425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081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函数名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502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A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1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B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功能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10A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1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A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B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适用场景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1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1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1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A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048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taskYIELD()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B0B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B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B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B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主动放弃 </a:t>
                      </a:r>
                      <a:r>
                        <a:rPr lang="en-US" altLang="zh-CN" b="0">
                          <a:effectLst/>
                        </a:rPr>
                        <a:t>CPU</a:t>
                      </a:r>
                      <a:r>
                        <a:rPr lang="zh-CN" altLang="en-US" b="0">
                          <a:effectLst/>
                        </a:rPr>
                        <a:t>，触发任务切换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B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B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C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低优先级任务让高优先级任务执行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1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A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C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57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vTaskStartScheduler()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C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B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C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启动任务调度器（启动后创建空闲任务）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D0B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C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C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主函数中最后调用（启动 </a:t>
                      </a:r>
                      <a:r>
                        <a:rPr lang="en-US" altLang="zh-CN" b="0">
                          <a:effectLst/>
                        </a:rPr>
                        <a:t>RTOS</a:t>
                      </a:r>
                      <a:r>
                        <a:rPr lang="zh-CN" altLang="en-US" b="0">
                          <a:effectLst/>
                        </a:rPr>
                        <a:t>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2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C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C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7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vTaskEndScheduler()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C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C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C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C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停止调度器（仅部分端口支持）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D0C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C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C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系统停机时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2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90C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A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122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vTaskSuspendAll()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90C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C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C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D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挂起所有任务调度（不关闭中断）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C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CC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D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批量操作共享资源时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2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A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A9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32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xTaskResumeAll()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90D3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90D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90D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D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恢复所有任务调度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90D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D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D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批量操作完成后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30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21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A9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1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32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59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66E8F7-0925-8CB7-C63D-EBF2B0F983FC}"/>
              </a:ext>
            </a:extLst>
          </p:cNvPr>
          <p:cNvSpPr txBox="1"/>
          <p:nvPr/>
        </p:nvSpPr>
        <p:spPr>
          <a:xfrm>
            <a:off x="3847382" y="3272288"/>
            <a:ext cx="5296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时间管理</a:t>
            </a:r>
          </a:p>
        </p:txBody>
      </p:sp>
    </p:spTree>
    <p:extLst>
      <p:ext uri="{BB962C8B-B14F-4D97-AF65-F5344CB8AC3E}">
        <p14:creationId xmlns:p14="http://schemas.microsoft.com/office/powerpoint/2010/main" val="41277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8D61A-4830-35A1-AFCE-F1BE91A81E03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延时函数和系统节拍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FB9BDDF-D970-9FBE-0A75-43F78FA9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6478"/>
              </p:ext>
            </p:extLst>
          </p:nvPr>
        </p:nvGraphicFramePr>
        <p:xfrm>
          <a:off x="215591" y="2469995"/>
          <a:ext cx="8577147" cy="2102227"/>
        </p:xfrm>
        <a:graphic>
          <a:graphicData uri="http://schemas.openxmlformats.org/drawingml/2006/table">
            <a:tbl>
              <a:tblPr/>
              <a:tblGrid>
                <a:gridCol w="2859049">
                  <a:extLst>
                    <a:ext uri="{9D8B030D-6E8A-4147-A177-3AD203B41FA5}">
                      <a16:colId xmlns:a16="http://schemas.microsoft.com/office/drawing/2014/main" val="57591339"/>
                    </a:ext>
                  </a:extLst>
                </a:gridCol>
                <a:gridCol w="2859049">
                  <a:extLst>
                    <a:ext uri="{9D8B030D-6E8A-4147-A177-3AD203B41FA5}">
                      <a16:colId xmlns:a16="http://schemas.microsoft.com/office/drawing/2014/main" val="4162825467"/>
                    </a:ext>
                  </a:extLst>
                </a:gridCol>
                <a:gridCol w="2859049">
                  <a:extLst>
                    <a:ext uri="{9D8B030D-6E8A-4147-A177-3AD203B41FA5}">
                      <a16:colId xmlns:a16="http://schemas.microsoft.com/office/drawing/2014/main" val="2252552722"/>
                    </a:ext>
                  </a:extLst>
                </a:gridCol>
              </a:tblGrid>
              <a:tr h="32787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0000"/>
                          </a:solidFill>
                          <a:effectLst/>
                        </a:rPr>
                        <a:t>函数名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509A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905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8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0000"/>
                          </a:solidFill>
                          <a:effectLst/>
                        </a:rPr>
                        <a:t>延时模式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9054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C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4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D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 dirty="0">
                          <a:solidFill>
                            <a:srgbClr val="000000"/>
                          </a:solidFill>
                          <a:effectLst/>
                        </a:rPr>
                        <a:t>特点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80C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AB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C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D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70447"/>
                  </a:ext>
                </a:extLst>
              </a:tr>
              <a:tr h="569139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 err="1">
                          <a:effectLst/>
                        </a:rPr>
                        <a:t>vTaskDelay</a:t>
                      </a:r>
                      <a:r>
                        <a:rPr lang="en-US" sz="1200" b="0" dirty="0">
                          <a:effectLst/>
                        </a:rPr>
                        <a:t>()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308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8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8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A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相对延时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108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D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D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</a:rPr>
                        <a:t>从调用时刻开始延时 </a:t>
                      </a:r>
                      <a:r>
                        <a:rPr lang="en-US" altLang="zh-CN" sz="1200" b="0" dirty="0">
                          <a:effectLst/>
                        </a:rPr>
                        <a:t>n </a:t>
                      </a:r>
                      <a:r>
                        <a:rPr lang="zh-CN" altLang="en-US" sz="1200" b="0" dirty="0">
                          <a:effectLst/>
                        </a:rPr>
                        <a:t>个 </a:t>
                      </a:r>
                      <a:r>
                        <a:rPr lang="en-US" altLang="zh-CN" sz="1200" b="0" dirty="0">
                          <a:effectLst/>
                        </a:rPr>
                        <a:t>tick</a:t>
                      </a:r>
                      <a:r>
                        <a:rPr lang="zh-CN" altLang="en-US" sz="1200" b="0" dirty="0">
                          <a:effectLst/>
                        </a:rPr>
                        <a:t>，不精确（受任务调度影响）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20D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8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D1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07368"/>
                  </a:ext>
                </a:extLst>
              </a:tr>
              <a:tr h="106577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 dirty="0" err="1">
                          <a:effectLst/>
                        </a:rPr>
                        <a:t>vTaskDelayUntil</a:t>
                      </a:r>
                      <a:r>
                        <a:rPr lang="en-US" sz="1200" b="0" dirty="0">
                          <a:effectLst/>
                        </a:rPr>
                        <a:t>()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F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C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A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绝对延时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F0C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C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</a:rPr>
                        <a:t>按固定周期执行，精确（不受其他任务影响）</a:t>
                      </a:r>
                    </a:p>
                  </a:txBody>
                  <a:tcPr marL="112802" marR="112802" marT="75202" marB="75202" anchor="ctr">
                    <a:lnL w="4229" cap="flat" cmpd="sng" algn="ctr">
                      <a:solidFill>
                        <a:srgbClr val="30C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A7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A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6239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A96FDEF4-7B63-B1ED-DB91-34CAA4E8E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91" y="558261"/>
            <a:ext cx="8577147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1. 系统节拍（Tick）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Inter"/>
              </a:rPr>
              <a:t>定义：系统定时器产生的周期性中断（默认 1ms 一次），是 RTOS 的时间基准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Inter"/>
              </a:rPr>
              <a:t>配置：configTICK_RATE_HZ 决定节拍频率（1000Hz→1ms/tick）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2. 两种延时模式</a:t>
            </a:r>
            <a:endParaRPr kumimoji="0" lang="en-US" altLang="zh-CN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 dirty="0" err="1"/>
              <a:t>vTaskDelay</a:t>
            </a:r>
            <a:r>
              <a:rPr lang="en-US" altLang="zh-CN" sz="1200" dirty="0"/>
              <a:t>()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vTaskDelayUntil</a:t>
            </a:r>
            <a:r>
              <a:rPr lang="en-US" altLang="zh-CN" sz="1200" dirty="0"/>
              <a:t>()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3. 延时函数注意事项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Inter"/>
              </a:rPr>
              <a:t>延时期间任务进入阻塞状态，释放 CPU 给其他任务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Inter"/>
              </a:rPr>
              <a:t>vTaskDelay (0) 等价于 taskYIELD ()，主动放弃 CPU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Inter"/>
              </a:rPr>
              <a:t>绝对延时适用于周期性任务（如每隔 100ms 采集一次传感器数据）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6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0EF1D0-0EE7-274F-C03E-46C25E77672B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信号量（同步与互斥）</a:t>
            </a:r>
          </a:p>
        </p:txBody>
      </p:sp>
    </p:spTree>
    <p:extLst>
      <p:ext uri="{BB962C8B-B14F-4D97-AF65-F5344CB8AC3E}">
        <p14:creationId xmlns:p14="http://schemas.microsoft.com/office/powerpoint/2010/main" val="4153566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9618F65-BFE7-D858-226B-9D4AE0D9A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072416"/>
              </p:ext>
            </p:extLst>
          </p:nvPr>
        </p:nvGraphicFramePr>
        <p:xfrm>
          <a:off x="215591" y="636575"/>
          <a:ext cx="8701176" cy="2855261"/>
        </p:xfrm>
        <a:graphic>
          <a:graphicData uri="http://schemas.openxmlformats.org/drawingml/2006/table">
            <a:tbl>
              <a:tblPr/>
              <a:tblGrid>
                <a:gridCol w="2175294">
                  <a:extLst>
                    <a:ext uri="{9D8B030D-6E8A-4147-A177-3AD203B41FA5}">
                      <a16:colId xmlns:a16="http://schemas.microsoft.com/office/drawing/2014/main" val="1629308954"/>
                    </a:ext>
                  </a:extLst>
                </a:gridCol>
                <a:gridCol w="2175294">
                  <a:extLst>
                    <a:ext uri="{9D8B030D-6E8A-4147-A177-3AD203B41FA5}">
                      <a16:colId xmlns:a16="http://schemas.microsoft.com/office/drawing/2014/main" val="1803181647"/>
                    </a:ext>
                  </a:extLst>
                </a:gridCol>
                <a:gridCol w="2175294">
                  <a:extLst>
                    <a:ext uri="{9D8B030D-6E8A-4147-A177-3AD203B41FA5}">
                      <a16:colId xmlns:a16="http://schemas.microsoft.com/office/drawing/2014/main" val="3237996557"/>
                    </a:ext>
                  </a:extLst>
                </a:gridCol>
                <a:gridCol w="2175294">
                  <a:extLst>
                    <a:ext uri="{9D8B030D-6E8A-4147-A177-3AD203B41FA5}">
                      <a16:colId xmlns:a16="http://schemas.microsoft.com/office/drawing/2014/main" val="1736288420"/>
                    </a:ext>
                  </a:extLst>
                </a:gridCol>
              </a:tblGrid>
              <a:tr h="24011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类型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C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F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D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核心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API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2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F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F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E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effectLst/>
                        </a:rPr>
                        <a:t>用途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60F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F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effectLst/>
                        </a:rPr>
                        <a:t>特点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C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F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9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179049"/>
                  </a:ext>
                </a:extLst>
              </a:tr>
              <a:tr h="65516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二值信号量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00E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E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D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F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xSemaphoreCreateBinary()</a:t>
                      </a:r>
                    </a:p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xSemaphoreGive()</a:t>
                      </a:r>
                    </a:p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xSemaphoreTake()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80E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D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E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F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任务同步（如中断唤醒任务、任务 </a:t>
                      </a:r>
                      <a:r>
                        <a:rPr lang="en-US" altLang="zh-CN" sz="900" b="1">
                          <a:effectLst/>
                        </a:rPr>
                        <a:t>A </a:t>
                      </a:r>
                      <a:r>
                        <a:rPr lang="zh-CN" altLang="en-US" sz="900" b="1">
                          <a:effectLst/>
                        </a:rPr>
                        <a:t>等待任务 </a:t>
                      </a:r>
                      <a:r>
                        <a:rPr lang="en-US" altLang="zh-CN" sz="900" b="1">
                          <a:effectLst/>
                        </a:rPr>
                        <a:t>B </a:t>
                      </a:r>
                      <a:r>
                        <a:rPr lang="zh-CN" altLang="en-US" sz="900" b="1">
                          <a:effectLst/>
                        </a:rPr>
                        <a:t>数据）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20D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E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F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只有 </a:t>
                      </a:r>
                      <a:r>
                        <a:rPr lang="en-US" altLang="zh-CN" sz="900" b="1">
                          <a:effectLst/>
                        </a:rPr>
                        <a:t>0 </a:t>
                      </a:r>
                      <a:r>
                        <a:rPr lang="zh-CN" altLang="en-US" sz="900" b="1">
                          <a:effectLst/>
                        </a:rPr>
                        <a:t>和 </a:t>
                      </a:r>
                      <a:r>
                        <a:rPr lang="en-US" altLang="zh-CN" sz="900" b="1">
                          <a:effectLst/>
                        </a:rPr>
                        <a:t>1 </a:t>
                      </a:r>
                      <a:r>
                        <a:rPr lang="zh-CN" altLang="en-US" sz="900" b="1">
                          <a:effectLst/>
                        </a:rPr>
                        <a:t>两个状态，无优先级继承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00E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E2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9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9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299196"/>
                  </a:ext>
                </a:extLst>
              </a:tr>
              <a:tr h="45684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计数型信号量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E0E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E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F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E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xSemaphoreCreateCounting(uxMaxCount, uxInitialCount)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40E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F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7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事件计数（如中断触发次数）、资源管理（如 </a:t>
                      </a:r>
                      <a:r>
                        <a:rPr lang="en-US" altLang="zh-CN" sz="900" b="1">
                          <a:effectLst/>
                        </a:rPr>
                        <a:t>3 </a:t>
                      </a:r>
                      <a:r>
                        <a:rPr lang="zh-CN" altLang="en-US" sz="900" b="1">
                          <a:effectLst/>
                        </a:rPr>
                        <a:t>个串口资源）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20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E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F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0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计数范围 </a:t>
                      </a:r>
                      <a:r>
                        <a:rPr lang="en-US" altLang="zh-CN" sz="900" b="1">
                          <a:effectLst/>
                        </a:rPr>
                        <a:t>0~</a:t>
                      </a:r>
                      <a:r>
                        <a:rPr lang="en-US" sz="900" b="1">
                          <a:effectLst/>
                        </a:rPr>
                        <a:t>uxMaxCount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00E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E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9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6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594666"/>
                  </a:ext>
                </a:extLst>
              </a:tr>
              <a:tr h="393563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互斥信号量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C0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8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E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xSemaphoreCreateMutex()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1081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0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7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共享资源互斥访问（如全局变量、外设）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700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9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0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C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有优先级继承机制，避免优先级翻转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609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F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6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CA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779786"/>
                  </a:ext>
                </a:extLst>
              </a:tr>
              <a:tr h="45684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递归互斥信号量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D02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4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900" b="1">
                          <a:effectLst/>
                        </a:rPr>
                        <a:t>xSemaphoreCreateRecursiveMutex()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F04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C7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>
                          <a:effectLst/>
                        </a:rPr>
                        <a:t>同一任务多次访问共享资源（如嵌套函数访问全局缓存）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C0C7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C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C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同一任务可多次 </a:t>
                      </a:r>
                      <a:r>
                        <a:rPr lang="en-US" sz="900" b="1" dirty="0">
                          <a:effectLst/>
                        </a:rPr>
                        <a:t>take，</a:t>
                      </a:r>
                      <a:r>
                        <a:rPr lang="zh-CN" altLang="en-US" sz="900" b="1" dirty="0">
                          <a:effectLst/>
                        </a:rPr>
                        <a:t>需对应多次 </a:t>
                      </a:r>
                      <a:r>
                        <a:rPr lang="en-US" sz="900" b="1" dirty="0">
                          <a:effectLst/>
                        </a:rPr>
                        <a:t>give</a:t>
                      </a:r>
                    </a:p>
                  </a:txBody>
                  <a:tcPr marL="91236" marR="91236" marT="60824" marB="60824" anchor="ctr">
                    <a:lnL w="4229" cap="flat" cmpd="sng" algn="ctr">
                      <a:solidFill>
                        <a:srgbClr val="B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13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CA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1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490531"/>
                  </a:ext>
                </a:extLst>
              </a:tr>
            </a:tbl>
          </a:graphicData>
        </a:graphic>
      </p:graphicFrame>
      <p:sp>
        <p:nvSpPr>
          <p:cNvPr id="4" name="標題 1">
            <a:extLst>
              <a:ext uri="{FF2B5EF4-FFF2-40B4-BE49-F238E27FC236}">
                <a16:creationId xmlns:a16="http://schemas.microsoft.com/office/drawing/2014/main" id="{1B2DC5F5-7657-EEBD-0D4D-034845DFFFD1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信号量类型与核心 </a:t>
            </a:r>
            <a:r>
              <a:rPr lang="en-US" altLang="zh-CN" b="1" dirty="0">
                <a:solidFill>
                  <a:schemeClr val="accent1"/>
                </a:solidFill>
              </a:rPr>
              <a:t>API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B80B8A-C680-D9D4-8769-0C2CA2D241A1}"/>
              </a:ext>
            </a:extLst>
          </p:cNvPr>
          <p:cNvSpPr txBox="1"/>
          <p:nvPr/>
        </p:nvSpPr>
        <p:spPr>
          <a:xfrm>
            <a:off x="215591" y="3542550"/>
            <a:ext cx="6202462" cy="12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信号量的作用：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任务同步：让一个任务等待另一个任务的特定事件（如数据准备完成）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资源互斥：保护共享资源（如打印机、串口），同一时间只能一个任务访问</a:t>
            </a:r>
            <a:endParaRPr lang="en-US" altLang="zh-CN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中断级信号量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API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：</a:t>
            </a:r>
            <a:endParaRPr lang="en-US" altLang="zh-CN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释放：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xSemaphoreGiveFromISR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获取：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xSemaphoreTakeFromISR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（不推荐，中断中应快速退出）</a:t>
            </a:r>
          </a:p>
        </p:txBody>
      </p:sp>
    </p:spTree>
    <p:extLst>
      <p:ext uri="{BB962C8B-B14F-4D97-AF65-F5344CB8AC3E}">
        <p14:creationId xmlns:p14="http://schemas.microsoft.com/office/powerpoint/2010/main" val="421002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96972-AA72-5D0A-A2EB-D5A3707565B7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相关实验</a:t>
            </a:r>
            <a:r>
              <a:rPr lang="en-US" altLang="zh-CN" b="1" dirty="0">
                <a:solidFill>
                  <a:schemeClr val="accent1"/>
                </a:solidFill>
              </a:rPr>
              <a:t>-</a:t>
            </a:r>
            <a:r>
              <a:rPr lang="zh-CN" altLang="en-US" b="1" dirty="0">
                <a:solidFill>
                  <a:schemeClr val="accent1"/>
                </a:solidFill>
              </a:rPr>
              <a:t>互斥信号量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FC89DCFC-BCF2-2AC1-EFAA-5F2BAEA5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1146703"/>
            <a:ext cx="6562493" cy="125158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6401110-6314-5F3A-DA31-65258F121686}"/>
              </a:ext>
            </a:extLst>
          </p:cNvPr>
          <p:cNvSpPr txBox="1"/>
          <p:nvPr/>
        </p:nvSpPr>
        <p:spPr>
          <a:xfrm>
            <a:off x="215591" y="636360"/>
            <a:ext cx="874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分别创建高中低三个优先级的任务，其中高优先级和低优先级通过互斥信号量去抢占同一个资源，中级任务则不加信号量，同时在低优先级任务加一个循环来模拟占用互斥信号量</a:t>
            </a: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FFEE9D5C-B402-1E95-DC46-FB48F5E9D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1" y="2745217"/>
            <a:ext cx="4011352" cy="1437941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973743D6-10E8-4EF6-63F2-7A120F2D3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943" y="2745217"/>
            <a:ext cx="4778465" cy="17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3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7B7E3A-940D-3EFA-B3CD-4265C6731A6D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实验结果</a:t>
            </a:r>
          </a:p>
        </p:txBody>
      </p:sp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B5282C42-92BB-723D-9276-6AD5826C743D}"/>
              </a:ext>
            </a:extLst>
          </p:cNvPr>
          <p:cNvPicPr>
            <a:picLocks/>
          </p:cNvPicPr>
          <p:nvPr/>
        </p:nvPicPr>
        <p:blipFill>
          <a:blip r:embed="rId2"/>
          <a:srcRect t="-1023" r="25610"/>
          <a:stretch>
            <a:fillRect/>
          </a:stretch>
        </p:blipFill>
        <p:spPr>
          <a:xfrm>
            <a:off x="215590" y="490655"/>
            <a:ext cx="4194717" cy="38527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9378CA7-A403-453A-B352-B697776E6CF9}"/>
              </a:ext>
            </a:extLst>
          </p:cNvPr>
          <p:cNvSpPr txBox="1"/>
          <p:nvPr/>
        </p:nvSpPr>
        <p:spPr>
          <a:xfrm>
            <a:off x="4330390" y="1503631"/>
            <a:ext cx="4194717" cy="2312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B0F0"/>
                </a:solidFill>
              </a:rPr>
              <a:t>第一次</a:t>
            </a:r>
            <a:r>
              <a:rPr lang="en-US" altLang="zh-CN" sz="1400" dirty="0" err="1">
                <a:solidFill>
                  <a:srgbClr val="00B0F0"/>
                </a:solidFill>
              </a:rPr>
              <a:t>hightask</a:t>
            </a:r>
            <a:r>
              <a:rPr lang="zh-CN" altLang="en-US" sz="1400" dirty="0">
                <a:solidFill>
                  <a:srgbClr val="00B0F0"/>
                </a:solidFill>
              </a:rPr>
              <a:t>打印因为优先级最高所以没有阻塞直接抢占到了互斥信号量；第二次打印可以看到等待信号量和得到信号量</a:t>
            </a:r>
            <a:r>
              <a:rPr lang="en-US" altLang="zh-CN" sz="1400" dirty="0">
                <a:solidFill>
                  <a:srgbClr val="00B0F0"/>
                </a:solidFill>
              </a:rPr>
              <a:t>running</a:t>
            </a:r>
            <a:r>
              <a:rPr lang="zh-CN" altLang="en-US" sz="1400" dirty="0">
                <a:solidFill>
                  <a:srgbClr val="00B0F0"/>
                </a:solidFill>
              </a:rPr>
              <a:t>之间间隔了</a:t>
            </a:r>
            <a:r>
              <a:rPr lang="en-US" altLang="zh-CN" sz="1400" dirty="0">
                <a:solidFill>
                  <a:srgbClr val="00B0F0"/>
                </a:solidFill>
              </a:rPr>
              <a:t>3s</a:t>
            </a:r>
            <a:r>
              <a:rPr lang="zh-CN" altLang="en-US" sz="1400" dirty="0">
                <a:solidFill>
                  <a:srgbClr val="00B0F0"/>
                </a:solidFill>
              </a:rPr>
              <a:t>，并且</a:t>
            </a:r>
            <a:r>
              <a:rPr lang="en-US" altLang="zh-CN" sz="1400" dirty="0">
                <a:solidFill>
                  <a:srgbClr val="00B0F0"/>
                </a:solidFill>
              </a:rPr>
              <a:t>medium</a:t>
            </a:r>
            <a:r>
              <a:rPr lang="zh-CN" altLang="en-US" sz="1400" dirty="0">
                <a:solidFill>
                  <a:srgbClr val="00B0F0"/>
                </a:solidFill>
              </a:rPr>
              <a:t>也随之运行，表面在</a:t>
            </a:r>
            <a:r>
              <a:rPr lang="en-US" altLang="zh-CN" sz="1400" dirty="0">
                <a:solidFill>
                  <a:srgbClr val="00B0F0"/>
                </a:solidFill>
              </a:rPr>
              <a:t>high</a:t>
            </a:r>
            <a:r>
              <a:rPr lang="zh-CN" altLang="en-US" sz="1400" dirty="0">
                <a:solidFill>
                  <a:srgbClr val="00B0F0"/>
                </a:solidFill>
              </a:rPr>
              <a:t>等待</a:t>
            </a:r>
            <a:r>
              <a:rPr lang="en-US" altLang="zh-CN" sz="1400" dirty="0">
                <a:solidFill>
                  <a:srgbClr val="00B0F0"/>
                </a:solidFill>
              </a:rPr>
              <a:t>low</a:t>
            </a:r>
            <a:r>
              <a:rPr lang="zh-CN" altLang="en-US" sz="1400" dirty="0">
                <a:solidFill>
                  <a:srgbClr val="00B0F0"/>
                </a:solidFill>
              </a:rPr>
              <a:t>释放互斥信号量的过程中</a:t>
            </a:r>
            <a:r>
              <a:rPr lang="en-US" altLang="zh-CN" sz="1400" dirty="0">
                <a:solidFill>
                  <a:srgbClr val="00B0F0"/>
                </a:solidFill>
              </a:rPr>
              <a:t>low</a:t>
            </a:r>
            <a:r>
              <a:rPr lang="zh-CN" altLang="en-US" sz="1400" dirty="0">
                <a:solidFill>
                  <a:srgbClr val="00B0F0"/>
                </a:solidFill>
              </a:rPr>
              <a:t>的优先级被拉高，</a:t>
            </a:r>
            <a:r>
              <a:rPr lang="en-US" altLang="zh-CN" sz="1400" dirty="0">
                <a:solidFill>
                  <a:srgbClr val="00B0F0"/>
                </a:solidFill>
              </a:rPr>
              <a:t>medium</a:t>
            </a:r>
            <a:r>
              <a:rPr lang="zh-CN" altLang="en-US" sz="1400" dirty="0">
                <a:solidFill>
                  <a:srgbClr val="00B0F0"/>
                </a:solidFill>
              </a:rPr>
              <a:t>优先级暂时低于</a:t>
            </a:r>
            <a:r>
              <a:rPr lang="en-US" altLang="zh-CN" sz="1400" dirty="0">
                <a:solidFill>
                  <a:srgbClr val="00B0F0"/>
                </a:solidFill>
              </a:rPr>
              <a:t>low</a:t>
            </a:r>
            <a:r>
              <a:rPr lang="zh-CN" altLang="en-US" sz="1400" dirty="0">
                <a:solidFill>
                  <a:srgbClr val="00B0F0"/>
                </a:solidFill>
              </a:rPr>
              <a:t>，当</a:t>
            </a:r>
            <a:r>
              <a:rPr lang="en-US" altLang="zh-CN" sz="1400" dirty="0">
                <a:solidFill>
                  <a:srgbClr val="00B0F0"/>
                </a:solidFill>
              </a:rPr>
              <a:t>low</a:t>
            </a:r>
            <a:r>
              <a:rPr lang="zh-CN" altLang="en-US" sz="1400" dirty="0">
                <a:solidFill>
                  <a:srgbClr val="00B0F0"/>
                </a:solidFill>
              </a:rPr>
              <a:t>释放了互斥信号量之后</a:t>
            </a:r>
            <a:r>
              <a:rPr lang="en-US" altLang="zh-CN" sz="1400" dirty="0">
                <a:solidFill>
                  <a:srgbClr val="00B0F0"/>
                </a:solidFill>
              </a:rPr>
              <a:t>high</a:t>
            </a:r>
            <a:r>
              <a:rPr lang="zh-CN" altLang="en-US" sz="1400" dirty="0">
                <a:solidFill>
                  <a:srgbClr val="00B0F0"/>
                </a:solidFill>
              </a:rPr>
              <a:t>任务运行随后</a:t>
            </a:r>
            <a:r>
              <a:rPr lang="en-US" altLang="zh-CN" sz="1400" dirty="0">
                <a:solidFill>
                  <a:srgbClr val="00B0F0"/>
                </a:solidFill>
              </a:rPr>
              <a:t>medium</a:t>
            </a:r>
            <a:r>
              <a:rPr lang="zh-CN" altLang="en-US" sz="1400" dirty="0">
                <a:solidFill>
                  <a:srgbClr val="00B0F0"/>
                </a:solidFill>
              </a:rPr>
              <a:t>也运行</a:t>
            </a:r>
          </a:p>
        </p:txBody>
      </p:sp>
    </p:spTree>
    <p:extLst>
      <p:ext uri="{BB962C8B-B14F-4D97-AF65-F5344CB8AC3E}">
        <p14:creationId xmlns:p14="http://schemas.microsoft.com/office/powerpoint/2010/main" val="3773618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27EE-4AD7-6FF6-5771-B21E2F22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C7DDC-568A-F08C-9630-56F5E90EC54F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相关实验</a:t>
            </a:r>
            <a:r>
              <a:rPr lang="en-US" altLang="zh-CN" b="1" dirty="0">
                <a:solidFill>
                  <a:schemeClr val="accent1"/>
                </a:solidFill>
              </a:rPr>
              <a:t>-</a:t>
            </a:r>
            <a:r>
              <a:rPr lang="zh-CN" altLang="en-US" b="1" dirty="0">
                <a:solidFill>
                  <a:schemeClr val="accent1"/>
                </a:solidFill>
              </a:rPr>
              <a:t>二值信号量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2435E1-5D4B-0C4C-8043-BC25618DD322}"/>
              </a:ext>
            </a:extLst>
          </p:cNvPr>
          <p:cNvSpPr txBox="1"/>
          <p:nvPr/>
        </p:nvSpPr>
        <p:spPr>
          <a:xfrm>
            <a:off x="215591" y="963504"/>
            <a:ext cx="8745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在任务中创建二值信号量，然后分别再两个按键中断中进行获取和释放二值信号量，同时</a:t>
            </a:r>
            <a:r>
              <a:rPr lang="en-US" altLang="zh-CN" sz="1200" dirty="0"/>
              <a:t>gpio0</a:t>
            </a:r>
            <a:r>
              <a:rPr lang="zh-CN" altLang="en-US" sz="1200" dirty="0"/>
              <a:t>负责熄灭</a:t>
            </a:r>
            <a:r>
              <a:rPr lang="en-US" altLang="zh-CN" sz="1200" dirty="0"/>
              <a:t>led</a:t>
            </a:r>
            <a:r>
              <a:rPr lang="zh-CN" altLang="en-US" sz="1200" dirty="0"/>
              <a:t>，</a:t>
            </a:r>
            <a:r>
              <a:rPr lang="en-US" altLang="zh-CN" sz="1200" dirty="0"/>
              <a:t>gpio1</a:t>
            </a:r>
            <a:r>
              <a:rPr lang="zh-CN" altLang="en-US" sz="1200" dirty="0"/>
              <a:t>负责点亮</a:t>
            </a:r>
            <a:r>
              <a:rPr lang="en-US" altLang="zh-CN" sz="1200" dirty="0"/>
              <a:t>led</a:t>
            </a:r>
            <a:endParaRPr lang="zh-CN" altLang="en-US" sz="1200" dirty="0"/>
          </a:p>
        </p:txBody>
      </p:sp>
      <p:pic>
        <p:nvPicPr>
          <p:cNvPr id="6" name="图片 5" descr="屏幕的截图&#10;&#10;AI 生成的内容可能不正确。">
            <a:extLst>
              <a:ext uri="{FF2B5EF4-FFF2-40B4-BE49-F238E27FC236}">
                <a16:creationId xmlns:a16="http://schemas.microsoft.com/office/drawing/2014/main" id="{AD8F55FB-C8B6-9C0B-88CF-DD98EF5F1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27" y="1608814"/>
            <a:ext cx="3517610" cy="1483034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C6EEFD75-4A9B-BA32-6920-4FADEFDD1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30" y="3148222"/>
            <a:ext cx="5721683" cy="15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93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20B7B-4999-CEFB-E5FC-2BF90A10C519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实验结果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E03BEE76-1B22-D225-3F4F-11D1A143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667213"/>
            <a:ext cx="3967486" cy="38090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6F16038-5724-38A4-1C2C-63D5CABD8829}"/>
              </a:ext>
            </a:extLst>
          </p:cNvPr>
          <p:cNvSpPr txBox="1"/>
          <p:nvPr/>
        </p:nvSpPr>
        <p:spPr>
          <a:xfrm>
            <a:off x="4960925" y="667213"/>
            <a:ext cx="3179646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上电然后创建二值信号量，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点亮</a:t>
            </a:r>
            <a:r>
              <a:rPr lang="en-US" altLang="zh-CN" sz="1600" dirty="0">
                <a:solidFill>
                  <a:srgbClr val="00B0F0"/>
                </a:solidFill>
              </a:rPr>
              <a:t>led</a:t>
            </a:r>
            <a:r>
              <a:rPr lang="zh-CN" altLang="en-US" sz="1600" dirty="0">
                <a:solidFill>
                  <a:srgbClr val="00B0F0"/>
                </a:solidFill>
              </a:rPr>
              <a:t>然后按下按键</a:t>
            </a:r>
            <a:r>
              <a:rPr lang="en-US" altLang="zh-CN" sz="1600" dirty="0">
                <a:solidFill>
                  <a:srgbClr val="00B0F0"/>
                </a:solidFill>
              </a:rPr>
              <a:t>2</a:t>
            </a:r>
            <a:r>
              <a:rPr lang="zh-CN" altLang="en-US" sz="1600" dirty="0">
                <a:solidFill>
                  <a:srgbClr val="00B0F0"/>
                </a:solidFill>
              </a:rPr>
              <a:t>释放二值信号量，按下按键</a:t>
            </a:r>
            <a:r>
              <a:rPr lang="en-US" altLang="zh-CN" sz="1600" dirty="0">
                <a:solidFill>
                  <a:srgbClr val="00B0F0"/>
                </a:solidFill>
              </a:rPr>
              <a:t>0</a:t>
            </a:r>
            <a:r>
              <a:rPr lang="zh-CN" altLang="en-US" sz="1600" dirty="0">
                <a:solidFill>
                  <a:srgbClr val="00B0F0"/>
                </a:solidFill>
              </a:rPr>
              <a:t>成功获得信号量并熄灭</a:t>
            </a:r>
            <a:r>
              <a:rPr lang="en-US" altLang="zh-CN" sz="1600" dirty="0">
                <a:solidFill>
                  <a:srgbClr val="00B0F0"/>
                </a:solidFill>
              </a:rPr>
              <a:t>led</a:t>
            </a:r>
            <a:r>
              <a:rPr lang="zh-CN" altLang="en-US" sz="1600" dirty="0">
                <a:solidFill>
                  <a:srgbClr val="00B0F0"/>
                </a:solidFill>
              </a:rPr>
              <a:t>；之后继续按下按键</a:t>
            </a:r>
            <a:r>
              <a:rPr lang="en-US" altLang="zh-CN" sz="1600" dirty="0">
                <a:solidFill>
                  <a:srgbClr val="00B0F0"/>
                </a:solidFill>
              </a:rPr>
              <a:t>0</a:t>
            </a:r>
            <a:r>
              <a:rPr lang="zh-CN" altLang="en-US" sz="1600" dirty="0">
                <a:solidFill>
                  <a:srgbClr val="00B0F0"/>
                </a:solidFill>
              </a:rPr>
              <a:t>可以看到获取信号量失败，按下按键</a:t>
            </a:r>
            <a:r>
              <a:rPr lang="en-US" altLang="zh-CN" sz="1600" dirty="0">
                <a:solidFill>
                  <a:srgbClr val="00B0F0"/>
                </a:solidFill>
              </a:rPr>
              <a:t>2</a:t>
            </a:r>
            <a:r>
              <a:rPr lang="zh-CN" altLang="en-US" sz="1600" dirty="0">
                <a:solidFill>
                  <a:srgbClr val="00B0F0"/>
                </a:solidFill>
              </a:rPr>
              <a:t>释放信号量之后再按下按键</a:t>
            </a:r>
            <a:r>
              <a:rPr lang="en-US" altLang="zh-CN" sz="1600" dirty="0">
                <a:solidFill>
                  <a:srgbClr val="00B0F0"/>
                </a:solidFill>
              </a:rPr>
              <a:t>0</a:t>
            </a:r>
            <a:r>
              <a:rPr lang="zh-CN" altLang="en-US" sz="1600" dirty="0">
                <a:solidFill>
                  <a:srgbClr val="00B0F0"/>
                </a:solidFill>
              </a:rPr>
              <a:t>成功获取信号量</a:t>
            </a:r>
          </a:p>
        </p:txBody>
      </p:sp>
    </p:spTree>
    <p:extLst>
      <p:ext uri="{BB962C8B-B14F-4D97-AF65-F5344CB8AC3E}">
        <p14:creationId xmlns:p14="http://schemas.microsoft.com/office/powerpoint/2010/main" val="3596224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2534E4-5CDC-7648-60DF-7BF50FB96428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事件标志组</a:t>
            </a:r>
          </a:p>
        </p:txBody>
      </p:sp>
    </p:spTree>
    <p:extLst>
      <p:ext uri="{BB962C8B-B14F-4D97-AF65-F5344CB8AC3E}">
        <p14:creationId xmlns:p14="http://schemas.microsoft.com/office/powerpoint/2010/main" val="3601302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88CCA0D-C9C2-3110-F308-B7F2BE91E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57829"/>
              </p:ext>
            </p:extLst>
          </p:nvPr>
        </p:nvGraphicFramePr>
        <p:xfrm>
          <a:off x="215590" y="650802"/>
          <a:ext cx="8638479" cy="3176716"/>
        </p:xfrm>
        <a:graphic>
          <a:graphicData uri="http://schemas.openxmlformats.org/drawingml/2006/table">
            <a:tbl>
              <a:tblPr/>
              <a:tblGrid>
                <a:gridCol w="2879493">
                  <a:extLst>
                    <a:ext uri="{9D8B030D-6E8A-4147-A177-3AD203B41FA5}">
                      <a16:colId xmlns:a16="http://schemas.microsoft.com/office/drawing/2014/main" val="2928715758"/>
                    </a:ext>
                  </a:extLst>
                </a:gridCol>
                <a:gridCol w="2879493">
                  <a:extLst>
                    <a:ext uri="{9D8B030D-6E8A-4147-A177-3AD203B41FA5}">
                      <a16:colId xmlns:a16="http://schemas.microsoft.com/office/drawing/2014/main" val="3630319547"/>
                    </a:ext>
                  </a:extLst>
                </a:gridCol>
                <a:gridCol w="2879493">
                  <a:extLst>
                    <a:ext uri="{9D8B030D-6E8A-4147-A177-3AD203B41FA5}">
                      <a16:colId xmlns:a16="http://schemas.microsoft.com/office/drawing/2014/main" val="1625430608"/>
                    </a:ext>
                  </a:extLst>
                </a:gridCol>
              </a:tblGrid>
              <a:tr h="317213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</a:rPr>
                        <a:t>API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</a:rPr>
                        <a:t>函数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8065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C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5F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E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</a:rPr>
                        <a:t>功能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70C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90E7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2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E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</a:rPr>
                        <a:t>示例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90E7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8B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E6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E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835640"/>
                  </a:ext>
                </a:extLst>
              </a:tr>
              <a:tr h="5739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xEventGroupCreate()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10E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B7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E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0">
                          <a:effectLst/>
                        </a:rPr>
                        <a:t>动态创建事件标志组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10B7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B6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E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C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EventGroupHandle_t evt_grp = xEventGroupCreate();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B0B6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E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E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C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155921"/>
                  </a:ext>
                </a:extLst>
              </a:tr>
              <a:tr h="57370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xEventGroupSetBits()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F0B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C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B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D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0">
                          <a:effectLst/>
                        </a:rPr>
                        <a:t>任务中设置事件位（标记事件发生）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70CB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C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C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F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xEventGroupSetBits (evt_grp, BIT0); // </a:t>
                      </a:r>
                      <a:r>
                        <a:rPr lang="zh-CN" altLang="en-US" sz="1000" b="0">
                          <a:effectLst/>
                        </a:rPr>
                        <a:t>设置 </a:t>
                      </a:r>
                      <a:r>
                        <a:rPr lang="en-US" sz="1000" b="0">
                          <a:effectLst/>
                        </a:rPr>
                        <a:t>bit0（</a:t>
                      </a:r>
                      <a:r>
                        <a:rPr lang="zh-CN" altLang="en-US" sz="1000" b="0">
                          <a:effectLst/>
                        </a:rPr>
                        <a:t>事件 </a:t>
                      </a:r>
                      <a:r>
                        <a:rPr lang="en-US" altLang="zh-CN" sz="1000" b="0">
                          <a:effectLst/>
                        </a:rPr>
                        <a:t>1 </a:t>
                      </a:r>
                      <a:r>
                        <a:rPr lang="zh-CN" altLang="en-US" sz="1000" b="0">
                          <a:effectLst/>
                        </a:rPr>
                        <a:t>发生）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30C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E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C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F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717707"/>
                  </a:ext>
                </a:extLst>
              </a:tr>
              <a:tr h="73945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xEventGroupSetBitsFromISR()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50DF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F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DC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E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0" dirty="0">
                          <a:effectLst/>
                        </a:rPr>
                        <a:t>中断中设置事件位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10F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4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F5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C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xEventGroupSetBitsFromISR (evt_grp, BIT1, NULL); // </a:t>
                      </a:r>
                      <a:r>
                        <a:rPr lang="zh-CN" altLang="en-US" sz="1000" b="0">
                          <a:effectLst/>
                        </a:rPr>
                        <a:t>中断中设置 </a:t>
                      </a:r>
                      <a:r>
                        <a:rPr lang="en-US" sz="1000" b="0">
                          <a:effectLst/>
                        </a:rPr>
                        <a:t>bit1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704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EA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F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C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75158"/>
                  </a:ext>
                </a:extLst>
              </a:tr>
              <a:tr h="81363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000" b="0">
                          <a:effectLst/>
                        </a:rPr>
                        <a:t>xEventGroupWaitBits()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50F0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C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E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E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000" b="0">
                          <a:effectLst/>
                        </a:rPr>
                        <a:t>等待事件位（阻塞直到条件满足）</a:t>
                      </a: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B0C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C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C3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C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 err="1">
                          <a:effectLst/>
                        </a:rPr>
                        <a:t>xEventGroupWaitBits</a:t>
                      </a:r>
                      <a:r>
                        <a:rPr lang="en-US" sz="1000" b="0" dirty="0">
                          <a:effectLst/>
                        </a:rPr>
                        <a:t>(</a:t>
                      </a:r>
                      <a:r>
                        <a:rPr lang="en-US" sz="1000" b="0" dirty="0" err="1">
                          <a:effectLst/>
                        </a:rPr>
                        <a:t>evt_grp</a:t>
                      </a:r>
                      <a:r>
                        <a:rPr lang="en-US" sz="1000" b="0" dirty="0">
                          <a:effectLst/>
                        </a:rPr>
                        <a:t>, BIT0</a:t>
                      </a:r>
                      <a:r>
                        <a:rPr lang="en-US" altLang="zh-CN" sz="1000" b="0" dirty="0">
                          <a:effectLst/>
                        </a:rPr>
                        <a:t>BIT1, </a:t>
                      </a:r>
                      <a:r>
                        <a:rPr lang="en-US" altLang="zh-CN" sz="1000" b="0" dirty="0" err="1">
                          <a:effectLst/>
                        </a:rPr>
                        <a:t>pdTRUE</a:t>
                      </a:r>
                      <a:r>
                        <a:rPr lang="en-US" altLang="zh-CN" sz="1000" b="0" dirty="0">
                          <a:effectLst/>
                        </a:rPr>
                        <a:t>, </a:t>
                      </a:r>
                      <a:r>
                        <a:rPr lang="en-US" altLang="zh-CN" sz="1000" b="0" dirty="0" err="1">
                          <a:effectLst/>
                        </a:rPr>
                        <a:t>pdTRUE</a:t>
                      </a:r>
                      <a:r>
                        <a:rPr lang="en-US" altLang="zh-CN" sz="1000" b="0" dirty="0">
                          <a:effectLst/>
                        </a:rPr>
                        <a:t>, </a:t>
                      </a:r>
                      <a:r>
                        <a:rPr lang="en-US" altLang="zh-CN" sz="1000" b="0" dirty="0" err="1">
                          <a:effectLst/>
                        </a:rPr>
                        <a:t>portMAX_DELAY</a:t>
                      </a:r>
                      <a:r>
                        <a:rPr lang="en-US" altLang="zh-CN" sz="1000" b="0" dirty="0">
                          <a:effectLst/>
                        </a:rPr>
                        <a:t>);</a:t>
                      </a:r>
                    </a:p>
                    <a:p>
                      <a:pPr>
                        <a:lnSpc>
                          <a:spcPts val="2100"/>
                        </a:lnSpc>
                        <a:buNone/>
                      </a:pPr>
                      <a:endParaRPr lang="en-US" sz="1000" b="0" dirty="0">
                        <a:effectLst/>
                      </a:endParaRPr>
                    </a:p>
                  </a:txBody>
                  <a:tcPr marL="85583" marR="85583" marT="57055" marB="57055" anchor="ctr">
                    <a:lnL w="4229" cap="flat" cmpd="sng" algn="ctr">
                      <a:solidFill>
                        <a:srgbClr val="B0C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E2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C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C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832672"/>
                  </a:ext>
                </a:extLst>
              </a:tr>
            </a:tbl>
          </a:graphicData>
        </a:graphic>
      </p:graphicFrame>
      <p:sp>
        <p:nvSpPr>
          <p:cNvPr id="4" name="標題 1">
            <a:extLst>
              <a:ext uri="{FF2B5EF4-FFF2-40B4-BE49-F238E27FC236}">
                <a16:creationId xmlns:a16="http://schemas.microsoft.com/office/drawing/2014/main" id="{58799B2D-BE5C-5E0F-0C08-45C3C8A35C8D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事件标志组（多事件同步）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8D3474-CCE2-F50A-42D1-62BE8D30F427}"/>
              </a:ext>
            </a:extLst>
          </p:cNvPr>
          <p:cNvSpPr txBox="1"/>
          <p:nvPr/>
        </p:nvSpPr>
        <p:spPr>
          <a:xfrm>
            <a:off x="137532" y="3963069"/>
            <a:ext cx="8376423" cy="764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事件标志组的作用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用于一个任务等待多个事件中的一个或多个发生（如 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Task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等待 “按键按下” 或 “串口接收数据” 事件）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事件标志：用一个 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bit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表示一个事件（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bit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置 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1 =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事件发生，置 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0 =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事件未发生）</a:t>
            </a:r>
            <a:endParaRPr lang="en-US" altLang="zh-CN" sz="1200" i="0" dirty="0">
              <a:solidFill>
                <a:srgbClr val="222222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事件组大小：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configUSE_16_BIT_TICKS=1 → 8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个事件位（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bit0~bit7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）；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configUSE_16_BIT_TICKS=0 → 24 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个事件位（</a:t>
            </a:r>
            <a:r>
              <a:rPr lang="en-US" altLang="zh-CN" sz="1200" i="0" dirty="0">
                <a:solidFill>
                  <a:srgbClr val="222222"/>
                </a:solidFill>
                <a:effectLst/>
                <a:latin typeface="Inter"/>
              </a:rPr>
              <a:t>bit0~bit23</a:t>
            </a:r>
            <a:r>
              <a:rPr lang="zh-CN" altLang="en-US" sz="1200" i="0" dirty="0">
                <a:solidFill>
                  <a:srgbClr val="222222"/>
                </a:solidFill>
                <a:effectLst/>
                <a:latin typeface="Inter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2890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02B0DE-84D6-AB46-AFF8-4BD537017538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相关实验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49468A-5BE4-EA39-99DB-4DF99C0A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1405350"/>
            <a:ext cx="7783551" cy="548919"/>
          </a:xfrm>
          <a:prstGeom prst="rect">
            <a:avLst/>
          </a:prstGeom>
        </p:spPr>
      </p:pic>
      <p:pic>
        <p:nvPicPr>
          <p:cNvPr id="6" name="图片 5" descr="电脑萤幕画面&#10;&#10;AI 生成的内容可能不正确。">
            <a:extLst>
              <a:ext uri="{FF2B5EF4-FFF2-40B4-BE49-F238E27FC236}">
                <a16:creationId xmlns:a16="http://schemas.microsoft.com/office/drawing/2014/main" id="{276372B5-BB55-A974-4F0B-77DF775E0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1" y="2115004"/>
            <a:ext cx="7688766" cy="232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FCCA4D-08D4-A9F7-68A0-07EC1F8B8D54}"/>
              </a:ext>
            </a:extLst>
          </p:cNvPr>
          <p:cNvSpPr txBox="1"/>
          <p:nvPr/>
        </p:nvSpPr>
        <p:spPr>
          <a:xfrm>
            <a:off x="170055" y="1020337"/>
            <a:ext cx="6021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创建三个任务，</a:t>
            </a:r>
            <a:r>
              <a:rPr lang="en-US" altLang="zh-CN" sz="1200" dirty="0"/>
              <a:t>task1</a:t>
            </a:r>
            <a:r>
              <a:rPr lang="zh-CN" altLang="en-US" sz="1200" dirty="0"/>
              <a:t>和</a:t>
            </a:r>
            <a:r>
              <a:rPr lang="en-US" altLang="zh-CN" sz="1200" dirty="0"/>
              <a:t>task2</a:t>
            </a:r>
            <a:r>
              <a:rPr lang="zh-CN" altLang="en-US" sz="1200" dirty="0"/>
              <a:t>正常循环打印，</a:t>
            </a:r>
            <a:r>
              <a:rPr lang="en-US" altLang="zh-CN" sz="1200" dirty="0"/>
              <a:t>task3</a:t>
            </a:r>
            <a:r>
              <a:rPr lang="zh-CN" altLang="en-US" sz="1200" dirty="0"/>
              <a:t>等待</a:t>
            </a:r>
            <a:r>
              <a:rPr lang="en-US" altLang="zh-CN" sz="1200" dirty="0"/>
              <a:t>task1</a:t>
            </a:r>
            <a:r>
              <a:rPr lang="zh-CN" altLang="en-US" sz="1200" dirty="0"/>
              <a:t>和</a:t>
            </a:r>
            <a:r>
              <a:rPr lang="en-US" altLang="zh-CN" sz="1200" dirty="0"/>
              <a:t>task2</a:t>
            </a:r>
            <a:r>
              <a:rPr lang="zh-CN" altLang="en-US" sz="1200" dirty="0"/>
              <a:t>都运行之后才运行</a:t>
            </a:r>
          </a:p>
        </p:txBody>
      </p:sp>
    </p:spTree>
    <p:extLst>
      <p:ext uri="{BB962C8B-B14F-4D97-AF65-F5344CB8AC3E}">
        <p14:creationId xmlns:p14="http://schemas.microsoft.com/office/powerpoint/2010/main" val="3324341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54ACB-6234-5C0B-75D9-128E34CB54D1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实验结果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B37793D0-F788-842A-9375-0F9EF44DC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479502"/>
            <a:ext cx="3722096" cy="43740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D8670A0-6C34-C2FB-C53A-7518F2767669}"/>
              </a:ext>
            </a:extLst>
          </p:cNvPr>
          <p:cNvSpPr txBox="1"/>
          <p:nvPr/>
        </p:nvSpPr>
        <p:spPr>
          <a:xfrm>
            <a:off x="5101683" y="1937461"/>
            <a:ext cx="2442117" cy="783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可以看到</a:t>
            </a:r>
            <a:r>
              <a:rPr lang="en-US" altLang="zh-CN" sz="1600" dirty="0">
                <a:solidFill>
                  <a:srgbClr val="00B0F0"/>
                </a:solidFill>
              </a:rPr>
              <a:t>task3</a:t>
            </a:r>
            <a:r>
              <a:rPr lang="zh-CN" altLang="en-US" sz="1600" dirty="0">
                <a:solidFill>
                  <a:srgbClr val="00B0F0"/>
                </a:solidFill>
              </a:rPr>
              <a:t>都是在</a:t>
            </a:r>
            <a:r>
              <a:rPr lang="en-US" altLang="zh-CN" sz="1600" dirty="0">
                <a:solidFill>
                  <a:srgbClr val="00B0F0"/>
                </a:solidFill>
              </a:rPr>
              <a:t>task1</a:t>
            </a:r>
            <a:r>
              <a:rPr lang="zh-CN" altLang="en-US" sz="1600" dirty="0">
                <a:solidFill>
                  <a:srgbClr val="00B0F0"/>
                </a:solidFill>
              </a:rPr>
              <a:t>运行之后才会运行</a:t>
            </a:r>
          </a:p>
        </p:txBody>
      </p:sp>
    </p:spTree>
    <p:extLst>
      <p:ext uri="{BB962C8B-B14F-4D97-AF65-F5344CB8AC3E}">
        <p14:creationId xmlns:p14="http://schemas.microsoft.com/office/powerpoint/2010/main" val="434002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B52B2E-B7B1-051B-6F48-3A4EB1BCD196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高级特性（任务通知 </a:t>
            </a:r>
            <a:r>
              <a:rPr lang="en-US" altLang="zh-CN" sz="4000" dirty="0">
                <a:solidFill>
                  <a:schemeClr val="accent1"/>
                </a:solidFill>
              </a:rPr>
              <a:t>+ </a:t>
            </a:r>
            <a:r>
              <a:rPr lang="zh-CN" altLang="en-US" sz="4000" dirty="0">
                <a:solidFill>
                  <a:schemeClr val="accent1"/>
                </a:solidFill>
              </a:rPr>
              <a:t>低功耗）</a:t>
            </a:r>
          </a:p>
        </p:txBody>
      </p:sp>
    </p:spTree>
    <p:extLst>
      <p:ext uri="{BB962C8B-B14F-4D97-AF65-F5344CB8AC3E}">
        <p14:creationId xmlns:p14="http://schemas.microsoft.com/office/powerpoint/2010/main" val="2810125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035072-906E-5C22-B50B-D9196407F457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任务通知与 </a:t>
            </a:r>
            <a:r>
              <a:rPr lang="en-US" altLang="zh-CN" b="1" dirty="0" err="1">
                <a:solidFill>
                  <a:schemeClr val="accent1"/>
                </a:solidFill>
              </a:rPr>
              <a:t>Tickless</a:t>
            </a:r>
            <a:r>
              <a:rPr lang="en-US" altLang="zh-CN" b="1" dirty="0">
                <a:solidFill>
                  <a:schemeClr val="accent1"/>
                </a:solidFill>
              </a:rPr>
              <a:t> </a:t>
            </a:r>
            <a:r>
              <a:rPr lang="zh-CN" altLang="en-US" b="1" dirty="0">
                <a:solidFill>
                  <a:schemeClr val="accent1"/>
                </a:solidFill>
              </a:rPr>
              <a:t>低功耗模式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7D92BC-AFCA-6BFE-8094-77C7D5897808}"/>
              </a:ext>
            </a:extLst>
          </p:cNvPr>
          <p:cNvSpPr txBox="1"/>
          <p:nvPr/>
        </p:nvSpPr>
        <p:spPr>
          <a:xfrm>
            <a:off x="215591" y="705604"/>
            <a:ext cx="8745530" cy="3765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任务通知（替代队列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信号量）</a:t>
            </a:r>
            <a:endParaRPr lang="zh-CN" altLang="en-US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特性：每个任务有一个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32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位通知值，无需创建队列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/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信号量对象，节省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RAM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优势：速度比队列快（直接操作任务控制块），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RAM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占用少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适用场景：</a:t>
            </a:r>
          </a:p>
          <a:p>
            <a:pPr marL="1143000" lvl="2" indent="-2286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替代二值信号量（任务同步）</a:t>
            </a:r>
          </a:p>
          <a:p>
            <a:pPr marL="1143000" lvl="2" indent="-2286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替代计数型信号量（事件计数）</a:t>
            </a:r>
          </a:p>
          <a:p>
            <a:pPr marL="1143000" lvl="2" indent="-2286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替代队列（传递简单数据，如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32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位整数）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核心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API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：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xTaskNotifyGive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（发送通知）、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ulTaskNotifyTake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（接收通知）</a:t>
            </a:r>
            <a:endParaRPr lang="en-US" altLang="zh-CN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zh-CN" altLang="en-US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2. </a:t>
            </a:r>
            <a:r>
              <a:rPr lang="en-US" altLang="zh-CN" sz="1200" b="1" i="0" dirty="0" err="1">
                <a:solidFill>
                  <a:srgbClr val="000000"/>
                </a:solidFill>
                <a:effectLst/>
                <a:latin typeface="Inter"/>
              </a:rPr>
              <a:t>Tickless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低功耗模式</a:t>
            </a:r>
            <a:endParaRPr lang="zh-CN" altLang="en-US" sz="1200" b="0" i="0" dirty="0">
              <a:solidFill>
                <a:srgbClr val="222222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原理：系统空闲时，关闭系统节拍中断，让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MCU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进入低功耗模式，直到有中断或定时时间到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配置方法：</a:t>
            </a:r>
          </a:p>
          <a:p>
            <a:pPr marL="1143000" lvl="2" indent="-2286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FreeRTOSConfig.h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中开启：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#define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configUSE_TICKLESS_IDLE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1</a:t>
            </a:r>
          </a:p>
          <a:p>
            <a:pPr marL="1143000" lvl="2" indent="-2286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实现低功耗钩子函数：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vApplicationIdleHook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（进入低功耗）和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vApplicationTickHook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（退出低功耗）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优势：降低系统功耗（适用于电池供电设备）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注意事项：需确保所有外设中断能唤醒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MCU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（如串口、按键中断）</a:t>
            </a:r>
          </a:p>
        </p:txBody>
      </p:sp>
    </p:spTree>
    <p:extLst>
      <p:ext uri="{BB962C8B-B14F-4D97-AF65-F5344CB8AC3E}">
        <p14:creationId xmlns:p14="http://schemas.microsoft.com/office/powerpoint/2010/main" val="1856299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77A33B-6E2E-65E4-D7A0-662201702910}"/>
              </a:ext>
            </a:extLst>
          </p:cNvPr>
          <p:cNvSpPr txBox="1"/>
          <p:nvPr/>
        </p:nvSpPr>
        <p:spPr>
          <a:xfrm>
            <a:off x="3847382" y="3272288"/>
            <a:ext cx="5296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FreeRTOS </a:t>
            </a:r>
            <a:r>
              <a:rPr lang="zh-CN" altLang="en-US" sz="4000" dirty="0">
                <a:solidFill>
                  <a:schemeClr val="accent1"/>
                </a:solidFill>
              </a:rPr>
              <a:t>内存管理和空闲任务</a:t>
            </a:r>
          </a:p>
        </p:txBody>
      </p:sp>
    </p:spTree>
    <p:extLst>
      <p:ext uri="{BB962C8B-B14F-4D97-AF65-F5344CB8AC3E}">
        <p14:creationId xmlns:p14="http://schemas.microsoft.com/office/powerpoint/2010/main" val="949133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E4D6CA-068D-F66A-2DE3-36FE571B1A3B}"/>
              </a:ext>
            </a:extLst>
          </p:cNvPr>
          <p:cNvSpPr txBox="1">
            <a:spLocks/>
          </p:cNvSpPr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D7528866-6054-445B-9523-5148C711E8F5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FreeRTOS </a:t>
            </a:r>
            <a:r>
              <a:rPr lang="zh-CN" altLang="en-US" b="1" dirty="0">
                <a:solidFill>
                  <a:schemeClr val="accent1"/>
                </a:solidFill>
              </a:rPr>
              <a:t>内存管理方案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82EFA6-0AE7-34C7-A626-A68D993CE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41369"/>
              </p:ext>
            </p:extLst>
          </p:nvPr>
        </p:nvGraphicFramePr>
        <p:xfrm>
          <a:off x="367991" y="744396"/>
          <a:ext cx="8210745" cy="3208812"/>
        </p:xfrm>
        <a:graphic>
          <a:graphicData uri="http://schemas.openxmlformats.org/drawingml/2006/table">
            <a:tbl>
              <a:tblPr/>
              <a:tblGrid>
                <a:gridCol w="2736915">
                  <a:extLst>
                    <a:ext uri="{9D8B030D-6E8A-4147-A177-3AD203B41FA5}">
                      <a16:colId xmlns:a16="http://schemas.microsoft.com/office/drawing/2014/main" val="2678668715"/>
                    </a:ext>
                  </a:extLst>
                </a:gridCol>
                <a:gridCol w="2736915">
                  <a:extLst>
                    <a:ext uri="{9D8B030D-6E8A-4147-A177-3AD203B41FA5}">
                      <a16:colId xmlns:a16="http://schemas.microsoft.com/office/drawing/2014/main" val="1410599636"/>
                    </a:ext>
                  </a:extLst>
                </a:gridCol>
                <a:gridCol w="2736915">
                  <a:extLst>
                    <a:ext uri="{9D8B030D-6E8A-4147-A177-3AD203B41FA5}">
                      <a16:colId xmlns:a16="http://schemas.microsoft.com/office/drawing/2014/main" val="1893616177"/>
                    </a:ext>
                  </a:extLst>
                </a:gridCol>
              </a:tblGrid>
              <a:tr h="32230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方案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504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4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4B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特点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304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4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适用场景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3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222054"/>
                  </a:ext>
                </a:extLst>
              </a:tr>
              <a:tr h="564549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>
                          <a:effectLst/>
                        </a:rPr>
                        <a:t>heap_1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9048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905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4B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5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仅支持内存分配（</a:t>
                      </a:r>
                      <a:r>
                        <a:rPr lang="en-US" sz="1100" b="0">
                          <a:effectLst/>
                        </a:rPr>
                        <a:t>pvPortMalloc ()），</a:t>
                      </a:r>
                      <a:r>
                        <a:rPr lang="zh-CN" altLang="en-US" sz="1100" b="0">
                          <a:effectLst/>
                        </a:rPr>
                        <a:t>不支持释放（</a:t>
                      </a:r>
                      <a:r>
                        <a:rPr lang="en-US" sz="1100" b="0">
                          <a:effectLst/>
                        </a:rPr>
                        <a:t>vPortFree ()）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905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4D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4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5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无需删除任务 </a:t>
                      </a:r>
                      <a:r>
                        <a:rPr lang="en-US" altLang="zh-CN" sz="1100" b="0">
                          <a:effectLst/>
                        </a:rPr>
                        <a:t>/ </a:t>
                      </a:r>
                      <a:r>
                        <a:rPr lang="zh-CN" altLang="en-US" sz="1100" b="0">
                          <a:effectLst/>
                        </a:rPr>
                        <a:t>队列的应用（如固定任务数）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704D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4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C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C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20754"/>
                  </a:ext>
                </a:extLst>
              </a:tr>
              <a:tr h="56351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>
                          <a:effectLst/>
                        </a:rPr>
                        <a:t>heap_2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5053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5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5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支持分配和释放，但不支持内存块合并（易产生碎片）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105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4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5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B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任务 </a:t>
                      </a:r>
                      <a:r>
                        <a:rPr lang="en-US" altLang="zh-CN" sz="1100" b="0">
                          <a:effectLst/>
                        </a:rPr>
                        <a:t>/ </a:t>
                      </a:r>
                      <a:r>
                        <a:rPr lang="zh-CN" altLang="en-US" sz="1100" b="0">
                          <a:effectLst/>
                        </a:rPr>
                        <a:t>队列创建删除频率低的应用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104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4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C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06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06510"/>
                  </a:ext>
                </a:extLst>
              </a:tr>
              <a:tr h="56351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>
                          <a:effectLst/>
                        </a:rPr>
                        <a:t>heap_3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C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9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封装标准 </a:t>
                      </a:r>
                      <a:r>
                        <a:rPr lang="en-US" sz="1100" b="0">
                          <a:effectLst/>
                        </a:rPr>
                        <a:t>C </a:t>
                      </a:r>
                      <a:r>
                        <a:rPr lang="zh-CN" altLang="en-US" sz="1100" b="0">
                          <a:effectLst/>
                        </a:rPr>
                        <a:t>库的 </a:t>
                      </a:r>
                      <a:r>
                        <a:rPr lang="en-US" sz="1100" b="0">
                          <a:effectLst/>
                        </a:rPr>
                        <a:t>malloc () </a:t>
                      </a:r>
                      <a:r>
                        <a:rPr lang="zh-CN" altLang="en-US" sz="1100" b="0">
                          <a:effectLst/>
                        </a:rPr>
                        <a:t>和 </a:t>
                      </a:r>
                      <a:r>
                        <a:rPr lang="en-US" sz="1100" b="0">
                          <a:effectLst/>
                        </a:rPr>
                        <a:t>free ()，</a:t>
                      </a:r>
                      <a:r>
                        <a:rPr lang="zh-CN" altLang="en-US" sz="1100" b="0">
                          <a:effectLst/>
                        </a:rPr>
                        <a:t>线程安全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2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B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B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9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对内存碎片不敏感，需要标准 </a:t>
                      </a:r>
                      <a:r>
                        <a:rPr lang="en-US" altLang="zh-CN" sz="1100" b="0">
                          <a:effectLst/>
                        </a:rPr>
                        <a:t>C </a:t>
                      </a:r>
                      <a:r>
                        <a:rPr lang="zh-CN" altLang="en-US" sz="1100" b="0">
                          <a:effectLst/>
                        </a:rPr>
                        <a:t>库的应用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20B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B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060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B9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733886"/>
                  </a:ext>
                </a:extLst>
              </a:tr>
              <a:tr h="3236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>
                          <a:effectLst/>
                        </a:rPr>
                        <a:t>heap_4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00A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9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9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A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支持内存块合并（减少碎片），最常用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609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B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9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A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任务 </a:t>
                      </a:r>
                      <a:r>
                        <a:rPr lang="en-US" altLang="zh-CN" sz="1100" b="0">
                          <a:effectLst/>
                        </a:rPr>
                        <a:t>/ </a:t>
                      </a:r>
                      <a:r>
                        <a:rPr lang="zh-CN" altLang="en-US" sz="1100" b="0">
                          <a:effectLst/>
                        </a:rPr>
                        <a:t>队列频繁创建删除的应用（推荐）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60B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B9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91007"/>
                  </a:ext>
                </a:extLst>
              </a:tr>
              <a:tr h="564549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>
                          <a:effectLst/>
                        </a:rPr>
                        <a:t>heap_5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E0A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A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A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A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支持多块不连续内存区域，扩展 </a:t>
                      </a:r>
                      <a:r>
                        <a:rPr lang="en-US" altLang="zh-CN" sz="1100" b="0">
                          <a:effectLst/>
                        </a:rPr>
                        <a:t>heap_4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80A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9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A8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A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100" b="0" dirty="0">
                          <a:effectLst/>
                        </a:rPr>
                        <a:t>MCU </a:t>
                      </a:r>
                      <a:r>
                        <a:rPr lang="zh-CN" altLang="en-US" sz="1100" b="0" dirty="0">
                          <a:effectLst/>
                        </a:rPr>
                        <a:t>有多个 </a:t>
                      </a:r>
                      <a:r>
                        <a:rPr lang="en-US" sz="1100" b="0" dirty="0">
                          <a:effectLst/>
                        </a:rPr>
                        <a:t>RAM </a:t>
                      </a:r>
                      <a:r>
                        <a:rPr lang="zh-CN" altLang="en-US" sz="1100" b="0" dirty="0">
                          <a:effectLst/>
                        </a:rPr>
                        <a:t>区域（如内部 </a:t>
                      </a:r>
                      <a:r>
                        <a:rPr lang="en-US" sz="1100" b="0" dirty="0">
                          <a:effectLst/>
                        </a:rPr>
                        <a:t>RAM + </a:t>
                      </a:r>
                      <a:r>
                        <a:rPr lang="zh-CN" altLang="en-US" sz="1100" b="0" dirty="0">
                          <a:effectLst/>
                        </a:rPr>
                        <a:t>外部 </a:t>
                      </a:r>
                      <a:r>
                        <a:rPr lang="en-US" sz="1100" b="0" dirty="0">
                          <a:effectLst/>
                        </a:rPr>
                        <a:t>SRAM）</a:t>
                      </a:r>
                      <a:r>
                        <a:rPr lang="zh-CN" altLang="en-US" sz="1100" b="0" dirty="0">
                          <a:effectLst/>
                        </a:rPr>
                        <a:t>的应用</a:t>
                      </a:r>
                    </a:p>
                  </a:txBody>
                  <a:tcPr marL="94538" marR="94538" marT="63026" marB="63026" anchor="ctr">
                    <a:lnL w="4229" cap="flat" cmpd="sng" algn="ctr">
                      <a:solidFill>
                        <a:srgbClr val="609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B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B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41952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66A0336-D407-A634-3376-19D095B7173F}"/>
              </a:ext>
            </a:extLst>
          </p:cNvPr>
          <p:cNvSpPr txBox="1"/>
          <p:nvPr/>
        </p:nvSpPr>
        <p:spPr>
          <a:xfrm>
            <a:off x="367991" y="4237521"/>
            <a:ext cx="4572000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优先选择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heap_4.c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（通用性最强）</a:t>
            </a:r>
          </a:p>
        </p:txBody>
      </p:sp>
    </p:spTree>
    <p:extLst>
      <p:ext uri="{BB962C8B-B14F-4D97-AF65-F5344CB8AC3E}">
        <p14:creationId xmlns:p14="http://schemas.microsoft.com/office/powerpoint/2010/main" val="3777973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6CB14-921C-DCBC-4828-F9545E25D11A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FreeRTOS </a:t>
            </a:r>
            <a:r>
              <a:rPr lang="zh-CN" altLang="en-US" b="1" dirty="0">
                <a:solidFill>
                  <a:schemeClr val="accent1"/>
                </a:solidFill>
              </a:rPr>
              <a:t>空闲任务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7FC82C-0E04-6BA7-A63C-A7B5875FF1B3}"/>
              </a:ext>
            </a:extLst>
          </p:cNvPr>
          <p:cNvSpPr txBox="1"/>
          <p:nvPr/>
        </p:nvSpPr>
        <p:spPr>
          <a:xfrm>
            <a:off x="367991" y="1270270"/>
            <a:ext cx="8041178" cy="169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空闲任务（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Idle Task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自动创建：调度器启动（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vTaskStartScheduler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）后自动创建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优先级：最低优先级（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0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级），仅当无其他任务就绪时运行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核心作用：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释放动态创建任务的内存：当任务调用 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vTaskDelete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(NULL)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删除自身时，空闲任务会释放该任务的堆栈和 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TCB 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内存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执行空闲钩子函数：</a:t>
            </a:r>
            <a:r>
              <a:rPr lang="en-US" altLang="zh-CN" sz="1200" b="0" i="0" dirty="0" err="1">
                <a:solidFill>
                  <a:srgbClr val="222222"/>
                </a:solidFill>
                <a:effectLst/>
                <a:latin typeface="Inter"/>
              </a:rPr>
              <a:t>vApplicationIdleHook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Inter"/>
              </a:rPr>
              <a:t> ()</a:t>
            </a:r>
            <a:r>
              <a:rPr lang="zh-CN" altLang="en-US" sz="1200" b="0" i="0" dirty="0">
                <a:solidFill>
                  <a:srgbClr val="222222"/>
                </a:solidFill>
                <a:effectLst/>
                <a:latin typeface="Inter"/>
              </a:rPr>
              <a:t>（可用于低功耗处理）</a:t>
            </a:r>
            <a:endParaRPr lang="en-US" altLang="zh-CN" sz="1200" dirty="0">
              <a:solidFill>
                <a:srgbClr val="222222"/>
              </a:solidFill>
              <a:latin typeface="Inter"/>
            </a:endParaRPr>
          </a:p>
          <a:p>
            <a:pPr lvl="1" algn="l">
              <a:lnSpc>
                <a:spcPts val="1800"/>
              </a:lnSpc>
            </a:pPr>
            <a:endParaRPr lang="en-US" altLang="zh-CN" sz="1200" b="0" i="0" dirty="0">
              <a:solidFill>
                <a:srgbClr val="222222"/>
              </a:solidFill>
              <a:effectLst/>
              <a:latin typeface="Inter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7EA220-A2C3-D7EC-2C7D-93DB726FA585}"/>
              </a:ext>
            </a:extLst>
          </p:cNvPr>
          <p:cNvSpPr txBox="1"/>
          <p:nvPr/>
        </p:nvSpPr>
        <p:spPr>
          <a:xfrm>
            <a:off x="367991" y="2961374"/>
            <a:ext cx="8776009" cy="153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空闲钩子函数（可选）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void </a:t>
            </a:r>
            <a:r>
              <a:rPr lang="en-US" altLang="zh-CN" sz="1200" dirty="0" err="1">
                <a:solidFill>
                  <a:srgbClr val="000000"/>
                </a:solidFill>
                <a:latin typeface="Inter"/>
              </a:rPr>
              <a:t>vApplicationIdleHook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(void) {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  //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空闲时执行的操作（如进入低功耗模式）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latin typeface="Inter"/>
              </a:rPr>
              <a:t>enter_low_power_mode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();</a:t>
            </a: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2171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955395-AC8C-4BC9-BDED-8BD7DCBFF5ED}"/>
              </a:ext>
            </a:extLst>
          </p:cNvPr>
          <p:cNvSpPr txBox="1"/>
          <p:nvPr/>
        </p:nvSpPr>
        <p:spPr>
          <a:xfrm>
            <a:off x="5187351" y="3325884"/>
            <a:ext cx="3822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</a:rPr>
              <a:t>SDK</a:t>
            </a:r>
            <a:r>
              <a:rPr lang="zh-CN" altLang="en-US" sz="4000" dirty="0">
                <a:solidFill>
                  <a:schemeClr val="accent1"/>
                </a:solidFill>
              </a:rPr>
              <a:t>外设总结</a:t>
            </a:r>
          </a:p>
        </p:txBody>
      </p:sp>
    </p:spTree>
    <p:extLst>
      <p:ext uri="{BB962C8B-B14F-4D97-AF65-F5344CB8AC3E}">
        <p14:creationId xmlns:p14="http://schemas.microsoft.com/office/powerpoint/2010/main" val="1867922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099ABD-1CE7-4748-CC4B-91554A6B4D61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外设通用注意事项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310086-464F-A458-F43D-23312F89F0CD}"/>
              </a:ext>
            </a:extLst>
          </p:cNvPr>
          <p:cNvSpPr txBox="1"/>
          <p:nvPr/>
        </p:nvSpPr>
        <p:spPr>
          <a:xfrm>
            <a:off x="367991" y="1783093"/>
            <a:ext cx="797798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时钟 </a:t>
            </a:r>
            <a:r>
              <a:rPr lang="en-US" altLang="zh-CN" sz="1200" b="1" dirty="0"/>
              <a:t>/ </a:t>
            </a:r>
            <a:r>
              <a:rPr lang="zh-CN" altLang="en-US" sz="1200" b="1" dirty="0"/>
              <a:t>电源</a:t>
            </a:r>
            <a:endParaRPr lang="zh-CN" altLang="en-US" sz="1200" dirty="0"/>
          </a:p>
          <a:p>
            <a:pPr lvl="1"/>
            <a:r>
              <a:rPr lang="zh-CN" altLang="en-US" sz="1200" dirty="0"/>
              <a:t>开启外设时钟，系统时钟匹配外设速率需求（如 </a:t>
            </a:r>
            <a:r>
              <a:rPr lang="en-US" altLang="zh-CN" sz="1200" dirty="0"/>
              <a:t>I2S MCLK</a:t>
            </a:r>
            <a:r>
              <a:rPr lang="zh-CN" altLang="en-US" sz="1200" dirty="0"/>
              <a:t>、</a:t>
            </a:r>
            <a:r>
              <a:rPr lang="en-US" altLang="zh-CN" sz="1200" dirty="0"/>
              <a:t>QSPI </a:t>
            </a:r>
            <a:r>
              <a:rPr lang="zh-CN" altLang="en-US" sz="1200" dirty="0"/>
              <a:t>高速时钟）</a:t>
            </a:r>
          </a:p>
          <a:p>
            <a:r>
              <a:rPr lang="zh-CN" altLang="en-US" sz="1200" b="1" dirty="0"/>
              <a:t>引脚复用（</a:t>
            </a:r>
            <a:r>
              <a:rPr lang="en-US" altLang="zh-CN" sz="1200" b="1" dirty="0"/>
              <a:t>Pin-mux</a:t>
            </a:r>
            <a:r>
              <a:rPr lang="zh-CN" altLang="en-US" sz="1200" b="1" dirty="0"/>
              <a:t>）</a:t>
            </a:r>
            <a:endParaRPr lang="zh-CN" altLang="en-US" sz="1200" dirty="0"/>
          </a:p>
          <a:p>
            <a:pPr lvl="1"/>
            <a:r>
              <a:rPr lang="zh-CN" altLang="en-US" sz="1200" dirty="0"/>
              <a:t>正确配置功能模式与上拉 </a:t>
            </a:r>
            <a:r>
              <a:rPr lang="en-US" altLang="zh-CN" sz="1200" dirty="0"/>
              <a:t>/ </a:t>
            </a:r>
            <a:r>
              <a:rPr lang="zh-CN" altLang="en-US" sz="1200" dirty="0"/>
              <a:t>下拉</a:t>
            </a:r>
          </a:p>
          <a:p>
            <a:pPr lvl="1"/>
            <a:r>
              <a:rPr lang="en-US" altLang="zh-CN" sz="1200" dirty="0"/>
              <a:t>I2C </a:t>
            </a:r>
            <a:r>
              <a:rPr lang="zh-CN" altLang="en-US" sz="1200" dirty="0"/>
              <a:t>为开漏输出，需外部上拉电阻</a:t>
            </a:r>
          </a:p>
          <a:p>
            <a:r>
              <a:rPr lang="zh-CN" altLang="en-US" sz="1200" b="1" dirty="0"/>
              <a:t>中断与回调</a:t>
            </a:r>
            <a:endParaRPr lang="zh-CN" altLang="en-US" sz="1200" dirty="0"/>
          </a:p>
          <a:p>
            <a:pPr lvl="1"/>
            <a:r>
              <a:rPr lang="zh-CN" altLang="en-US" sz="1200" dirty="0"/>
              <a:t>驱动多为异步回调 </a:t>
            </a:r>
            <a:r>
              <a:rPr lang="en-US" altLang="zh-CN" sz="1200" dirty="0"/>
              <a:t>/ </a:t>
            </a:r>
            <a:r>
              <a:rPr lang="zh-CN" altLang="en-US" sz="1200" dirty="0"/>
              <a:t>中断或 </a:t>
            </a:r>
            <a:r>
              <a:rPr lang="en-US" altLang="zh-CN" sz="1200" dirty="0"/>
              <a:t>DMA </a:t>
            </a:r>
            <a:r>
              <a:rPr lang="zh-CN" altLang="en-US" sz="1200" dirty="0"/>
              <a:t>回调</a:t>
            </a:r>
          </a:p>
          <a:p>
            <a:pPr lvl="1"/>
            <a:r>
              <a:rPr lang="zh-CN" altLang="en-US" sz="1200" dirty="0"/>
              <a:t>回调函数需短小，避免阻塞操作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793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A2A8-4123-20FA-8448-C6FEBE35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FC6988-6AD8-A6FF-D47D-9DF96FEFB64A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</a:rPr>
              <a:t>外设初始化流程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6AC7031-DAEA-B287-B523-E0DEC7DF6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06274"/>
              </p:ext>
            </p:extLst>
          </p:nvPr>
        </p:nvGraphicFramePr>
        <p:xfrm>
          <a:off x="367991" y="1506711"/>
          <a:ext cx="8596312" cy="2344802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68770798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725916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函数名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D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D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功能说明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A0D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D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D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0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24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Change_Ahb_System_Clk(mode)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E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B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设置主系统 </a:t>
                      </a:r>
                      <a:r>
                        <a:rPr lang="en-US" altLang="zh-CN" b="0" dirty="0">
                          <a:effectLst/>
                        </a:rPr>
                        <a:t>/ AHB </a:t>
                      </a:r>
                      <a:r>
                        <a:rPr lang="zh-CN" altLang="en-US" b="0">
                          <a:effectLst/>
                        </a:rPr>
                        <a:t>时钟，外设初始化前调用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00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F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18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Init_Default_Pin_Mux()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A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B0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配置常用引脚复用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F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F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7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console_drv_init(baudrate)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6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初始化串口用于 </a:t>
                      </a:r>
                      <a:r>
                        <a:rPr lang="en-US" altLang="zh-CN" b="0" dirty="0">
                          <a:effectLst/>
                        </a:rPr>
                        <a:t>printf </a:t>
                      </a:r>
                      <a:r>
                        <a:rPr lang="zh-CN" altLang="en-US" b="0" dirty="0">
                          <a:effectLst/>
                        </a:rPr>
                        <a:t>调试，引脚配置后执行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6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06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F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0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64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fr-FR" b="0">
                          <a:effectLst/>
                        </a:rPr>
                        <a:t>Comm_Subsystem_Disable_LDO_Mode()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6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6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6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子系统电源模式调整（按平台需求）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F06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0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0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227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外设驱动初始化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906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6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6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逐个开启时钟、配置引脚、注册回调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中断</a:t>
                      </a: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706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5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000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06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3039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07E45E1-DB95-2B1F-C439-B6C589EC6560}"/>
              </a:ext>
            </a:extLst>
          </p:cNvPr>
          <p:cNvSpPr txBox="1"/>
          <p:nvPr/>
        </p:nvSpPr>
        <p:spPr>
          <a:xfrm>
            <a:off x="367991" y="1177710"/>
            <a:ext cx="6100354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1500"/>
              </a:spcBef>
              <a:buNone/>
            </a:pP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核心初始化函数（按执行顺序）</a:t>
            </a:r>
          </a:p>
        </p:txBody>
      </p:sp>
    </p:spTree>
    <p:extLst>
      <p:ext uri="{BB962C8B-B14F-4D97-AF65-F5344CB8AC3E}">
        <p14:creationId xmlns:p14="http://schemas.microsoft.com/office/powerpoint/2010/main" val="3161697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96AEC-6E10-9351-F083-D37639F0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1639-A847-2D16-14A1-E57673A0B841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I2C &amp; I2S </a:t>
            </a:r>
            <a:r>
              <a:rPr lang="zh-CN" altLang="en-US" b="1" dirty="0">
                <a:solidFill>
                  <a:schemeClr val="accent1"/>
                </a:solidFill>
              </a:rPr>
              <a:t>核心要点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55CCAF-E290-2379-244E-5C69F05FAE1B}"/>
              </a:ext>
            </a:extLst>
          </p:cNvPr>
          <p:cNvSpPr txBox="1"/>
          <p:nvPr/>
        </p:nvSpPr>
        <p:spPr>
          <a:xfrm>
            <a:off x="367991" y="1234453"/>
            <a:ext cx="797798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/>
              <a:t>I2C </a:t>
            </a:r>
            <a:r>
              <a:rPr lang="zh-CN" altLang="en-US" sz="1200" dirty="0"/>
              <a:t>关键特性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基本行为：主设备异步非阻塞，读 </a:t>
            </a:r>
            <a:r>
              <a:rPr lang="en-US" altLang="zh-CN" sz="1200" dirty="0"/>
              <a:t>/ </a:t>
            </a:r>
            <a:r>
              <a:rPr lang="zh-CN" altLang="en-US" sz="1200" dirty="0"/>
              <a:t>写通过回调通知结果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引脚要求：开漏输出 </a:t>
            </a:r>
            <a:r>
              <a:rPr lang="en-US" altLang="zh-CN" sz="1200" dirty="0"/>
              <a:t>+ </a:t>
            </a:r>
            <a:r>
              <a:rPr lang="zh-CN" altLang="en-US" sz="1200" dirty="0"/>
              <a:t>外部上拉电阻，按芯片手册选 </a:t>
            </a:r>
            <a:r>
              <a:rPr lang="en-US" altLang="zh-CN" sz="1200" dirty="0"/>
              <a:t>SCL/SDA </a:t>
            </a:r>
            <a:r>
              <a:rPr lang="zh-CN" altLang="en-US" sz="1200" dirty="0"/>
              <a:t>引脚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速率匹配：需兼容从设备最大速率（避免通信失败）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 </a:t>
            </a:r>
            <a:r>
              <a:rPr lang="en-US" altLang="zh-CN" sz="1200" dirty="0"/>
              <a:t>API</a:t>
            </a:r>
            <a:r>
              <a:rPr lang="zh-CN" altLang="en-US" sz="1200" dirty="0"/>
              <a:t>：</a:t>
            </a:r>
            <a:r>
              <a:rPr lang="en-US" altLang="zh-CN" sz="1200" dirty="0"/>
              <a:t>i2c_preinit () → i2c_init () → i2c_write ()/i2c_read ()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I2S </a:t>
            </a:r>
            <a:r>
              <a:rPr lang="zh-CN" altLang="en-US" sz="1200" dirty="0"/>
              <a:t>关键特性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目标：传输连续音频流，依赖 </a:t>
            </a:r>
            <a:r>
              <a:rPr lang="en-US" altLang="zh-CN" sz="1200" dirty="0"/>
              <a:t>DMA </a:t>
            </a:r>
            <a:r>
              <a:rPr lang="zh-CN" altLang="en-US" sz="1200" dirty="0"/>
              <a:t>避免间断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核心参数：采样率、通道格式、位宽、</a:t>
            </a:r>
            <a:r>
              <a:rPr lang="en-US" altLang="zh-CN" sz="1200" dirty="0"/>
              <a:t>BCLK/WCLK </a:t>
            </a:r>
            <a:r>
              <a:rPr lang="zh-CN" altLang="en-US" sz="1200" dirty="0"/>
              <a:t>比、</a:t>
            </a:r>
            <a:r>
              <a:rPr lang="en-US" altLang="zh-CN" sz="1200" dirty="0"/>
              <a:t>MCLK </a:t>
            </a:r>
            <a:r>
              <a:rPr lang="zh-CN" altLang="en-US" sz="1200" dirty="0"/>
              <a:t>配置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缓冲区：环形 </a:t>
            </a:r>
            <a:r>
              <a:rPr lang="en-US" altLang="zh-CN" sz="1200" dirty="0"/>
              <a:t>/ </a:t>
            </a:r>
            <a:r>
              <a:rPr lang="zh-CN" altLang="en-US" sz="1200" dirty="0"/>
              <a:t>双缓冲，回调中提交下一片数据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 </a:t>
            </a:r>
            <a:r>
              <a:rPr lang="en-US" altLang="zh-CN" sz="1200" dirty="0"/>
              <a:t>API</a:t>
            </a:r>
            <a:r>
              <a:rPr lang="zh-CN" altLang="en-US" sz="1200" dirty="0"/>
              <a:t>：</a:t>
            </a:r>
            <a:r>
              <a:rPr lang="en-US" altLang="zh-CN" sz="1200" dirty="0"/>
              <a:t>I2s_Init () → I2s_Start ()/I2s_Stop () → i2c_Register_Int_Callback ()</a:t>
            </a:r>
          </a:p>
          <a:p>
            <a:endParaRPr lang="zh-CN" altLang="en-US" sz="12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875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1F83-8D49-0110-A903-30183DBC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03B9F-EAFA-785F-CF81-2D3B7D657C4D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SPI/QSPI &amp; PWM </a:t>
            </a:r>
            <a:r>
              <a:rPr lang="zh-CN" altLang="en-US" b="1" dirty="0">
                <a:solidFill>
                  <a:schemeClr val="accent1"/>
                </a:solidFill>
              </a:rPr>
              <a:t>核心要点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BE7E03-63AC-772B-3842-F458D6A4D7D0}"/>
              </a:ext>
            </a:extLst>
          </p:cNvPr>
          <p:cNvSpPr txBox="1"/>
          <p:nvPr/>
        </p:nvSpPr>
        <p:spPr>
          <a:xfrm>
            <a:off x="367991" y="1234453"/>
            <a:ext cx="7977987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/>
              <a:t>SPI/QSPI </a:t>
            </a:r>
            <a:r>
              <a:rPr lang="zh-CN" altLang="en-US" sz="1200" dirty="0"/>
              <a:t>关键特性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模式与时序：匹配 </a:t>
            </a:r>
            <a:r>
              <a:rPr lang="en-US" altLang="zh-CN" sz="1200" dirty="0"/>
              <a:t>CPOL/CPHA</a:t>
            </a:r>
            <a:r>
              <a:rPr lang="zh-CN" altLang="en-US" sz="1200" dirty="0"/>
              <a:t>、</a:t>
            </a:r>
            <a:r>
              <a:rPr lang="en-US" altLang="zh-CN" sz="1200" dirty="0"/>
              <a:t>MSB/LSB </a:t>
            </a:r>
            <a:r>
              <a:rPr lang="zh-CN" altLang="en-US" sz="1200" dirty="0"/>
              <a:t>顺序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QSPI </a:t>
            </a:r>
            <a:r>
              <a:rPr lang="zh-CN" altLang="en-US" sz="1200" dirty="0"/>
              <a:t>优势：</a:t>
            </a:r>
            <a:r>
              <a:rPr lang="en-US" altLang="zh-CN" sz="1200" dirty="0"/>
              <a:t>1/2/4 bit </a:t>
            </a:r>
            <a:r>
              <a:rPr lang="zh-CN" altLang="en-US" sz="1200" dirty="0"/>
              <a:t>数据线，支持高速传输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传输方式：</a:t>
            </a:r>
            <a:r>
              <a:rPr lang="en-US" altLang="zh-CN" sz="1200" dirty="0"/>
              <a:t>DMA</a:t>
            </a:r>
            <a:r>
              <a:rPr lang="zh-CN" altLang="en-US" sz="1200" dirty="0"/>
              <a:t>（大数据非阻塞）、</a:t>
            </a:r>
            <a:r>
              <a:rPr lang="en-US" altLang="zh-CN" sz="1200" dirty="0"/>
              <a:t>PIO</a:t>
            </a:r>
            <a:r>
              <a:rPr lang="zh-CN" altLang="en-US" sz="1200" dirty="0"/>
              <a:t>（短命令阻塞）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 </a:t>
            </a:r>
            <a:r>
              <a:rPr lang="en-US" altLang="zh-CN" sz="1200" dirty="0"/>
              <a:t>API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qspi_init</a:t>
            </a:r>
            <a:r>
              <a:rPr lang="en-US" altLang="zh-CN" sz="1200" dirty="0"/>
              <a:t> () → </a:t>
            </a:r>
            <a:r>
              <a:rPr lang="en-US" altLang="zh-CN" sz="1200" dirty="0" err="1"/>
              <a:t>qspi_transfer</a:t>
            </a:r>
            <a:r>
              <a:rPr lang="en-US" altLang="zh-CN" sz="1200" dirty="0"/>
              <a:t> ()</a:t>
            </a:r>
            <a:r>
              <a:rPr lang="zh-CN" altLang="en-US" sz="1200" dirty="0"/>
              <a:t>（</a:t>
            </a:r>
            <a:r>
              <a:rPr lang="en-US" altLang="zh-CN" sz="1200" dirty="0"/>
              <a:t>PIO</a:t>
            </a:r>
            <a:r>
              <a:rPr lang="zh-CN" altLang="en-US" sz="1200" dirty="0"/>
              <a:t>）</a:t>
            </a:r>
            <a:r>
              <a:rPr lang="en-US" altLang="zh-CN" sz="1200" dirty="0"/>
              <a:t>/</a:t>
            </a:r>
            <a:r>
              <a:rPr lang="en-US" altLang="zh-CN" sz="1200" dirty="0" err="1"/>
              <a:t>qspi_write_dma</a:t>
            </a:r>
            <a:r>
              <a:rPr lang="en-US" altLang="zh-CN" sz="1200" dirty="0"/>
              <a:t> ()</a:t>
            </a:r>
            <a:r>
              <a:rPr lang="zh-CN" altLang="en-US" sz="1200" dirty="0"/>
              <a:t>（</a:t>
            </a:r>
            <a:r>
              <a:rPr lang="en-US" altLang="zh-CN" sz="1200" dirty="0"/>
              <a:t>DMA</a:t>
            </a:r>
            <a:r>
              <a:rPr lang="zh-CN" altLang="en-US" sz="1200" dirty="0"/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PWM </a:t>
            </a:r>
            <a:r>
              <a:rPr lang="zh-CN" altLang="en-US" sz="1200" dirty="0"/>
              <a:t>关键特性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核心概念：频率 </a:t>
            </a:r>
            <a:r>
              <a:rPr lang="en-US" altLang="zh-CN" sz="1200" dirty="0"/>
              <a:t>= </a:t>
            </a:r>
            <a:r>
              <a:rPr lang="zh-CN" altLang="en-US" sz="1200" dirty="0"/>
              <a:t>计数周期决定，占空比 </a:t>
            </a:r>
            <a:r>
              <a:rPr lang="en-US" altLang="zh-CN" sz="1200" dirty="0"/>
              <a:t>= </a:t>
            </a:r>
            <a:r>
              <a:rPr lang="zh-CN" altLang="en-US" sz="1200" dirty="0"/>
              <a:t>阈值 </a:t>
            </a:r>
            <a:r>
              <a:rPr lang="en-US" altLang="zh-CN" sz="1200" dirty="0"/>
              <a:t>/ </a:t>
            </a:r>
            <a:r>
              <a:rPr lang="zh-CN" altLang="en-US" sz="1200" dirty="0"/>
              <a:t>计数结束值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功能支持：多通道、序列播放、</a:t>
            </a:r>
            <a:r>
              <a:rPr lang="en-US" altLang="zh-CN" sz="1200" dirty="0"/>
              <a:t>DMA </a:t>
            </a:r>
            <a:r>
              <a:rPr lang="zh-CN" altLang="en-US" sz="1200" dirty="0"/>
              <a:t>生成复杂波形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计算注意：修改计数结束值会同时影响频率与占空比分辨率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 </a:t>
            </a:r>
            <a:r>
              <a:rPr lang="en-US" altLang="zh-CN" sz="1200" dirty="0"/>
              <a:t>API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Pwm_Init</a:t>
            </a:r>
            <a:r>
              <a:rPr lang="en-US" altLang="zh-CN" sz="1200" dirty="0"/>
              <a:t> () → </a:t>
            </a:r>
            <a:r>
              <a:rPr lang="en-US" altLang="zh-CN" sz="1200" dirty="0" err="1"/>
              <a:t>Pwm_Start</a:t>
            </a:r>
            <a:r>
              <a:rPr lang="en-US" altLang="zh-CN" sz="1200" dirty="0"/>
              <a:t> ()/</a:t>
            </a:r>
            <a:r>
              <a:rPr lang="en-US" altLang="zh-CN" sz="1200" dirty="0" err="1"/>
              <a:t>Pwm_Stop</a:t>
            </a:r>
            <a:r>
              <a:rPr lang="en-US" altLang="zh-CN" sz="1200" dirty="0"/>
              <a:t> ()</a:t>
            </a:r>
          </a:p>
          <a:p>
            <a:pPr>
              <a:lnSpc>
                <a:spcPct val="150000"/>
              </a:lnSpc>
            </a:pP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656717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84A5-5CA4-EE62-F3D9-1EBAD16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A3295-6C99-664F-C17A-F9D44C0B5AF2}"/>
              </a:ext>
            </a:extLst>
          </p:cNvPr>
          <p:cNvSpPr txBox="1">
            <a:spLocks/>
          </p:cNvSpPr>
          <p:nvPr/>
        </p:nvSpPr>
        <p:spPr>
          <a:xfrm>
            <a:off x="367991" y="2729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accent1"/>
                </a:solidFill>
              </a:rPr>
              <a:t>GPIO </a:t>
            </a:r>
            <a:r>
              <a:rPr lang="zh-CN" altLang="en-US" b="1" dirty="0">
                <a:solidFill>
                  <a:schemeClr val="accent1"/>
                </a:solidFill>
              </a:rPr>
              <a:t>核心要点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FC555D-EBAC-08A2-898C-1044647FFE7C}"/>
              </a:ext>
            </a:extLst>
          </p:cNvPr>
          <p:cNvSpPr txBox="1"/>
          <p:nvPr/>
        </p:nvSpPr>
        <p:spPr>
          <a:xfrm>
            <a:off x="367991" y="1234453"/>
            <a:ext cx="7977987" cy="282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工作模式：输入 </a:t>
            </a:r>
            <a:r>
              <a:rPr lang="en-US" altLang="zh-CN" sz="1200" dirty="0"/>
              <a:t>/ </a:t>
            </a:r>
            <a:r>
              <a:rPr lang="zh-CN" altLang="en-US" sz="1200" dirty="0"/>
              <a:t>输出 </a:t>
            </a:r>
            <a:r>
              <a:rPr lang="en-US" altLang="zh-CN" sz="1200" dirty="0"/>
              <a:t>/ </a:t>
            </a:r>
            <a:r>
              <a:rPr lang="zh-CN" altLang="en-US" sz="1200" dirty="0"/>
              <a:t>中断（电平 </a:t>
            </a:r>
            <a:r>
              <a:rPr lang="en-US" altLang="zh-CN" sz="1200" dirty="0"/>
              <a:t>/ </a:t>
            </a:r>
            <a:r>
              <a:rPr lang="zh-CN" altLang="en-US" sz="1200" dirty="0"/>
              <a:t>边沿 </a:t>
            </a:r>
            <a:r>
              <a:rPr lang="en-US" altLang="zh-CN" sz="1200" dirty="0"/>
              <a:t>/ </a:t>
            </a:r>
            <a:r>
              <a:rPr lang="zh-CN" altLang="en-US" sz="1200" dirty="0"/>
              <a:t>双边沿）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关键特性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原子操作：避免读 </a:t>
            </a:r>
            <a:r>
              <a:rPr lang="en-US" altLang="zh-CN" sz="1200" dirty="0"/>
              <a:t>- </a:t>
            </a:r>
            <a:r>
              <a:rPr lang="zh-CN" altLang="en-US" sz="1200" dirty="0"/>
              <a:t>改 </a:t>
            </a:r>
            <a:r>
              <a:rPr lang="en-US" altLang="zh-CN" sz="1200" dirty="0"/>
              <a:t>- </a:t>
            </a:r>
            <a:r>
              <a:rPr lang="zh-CN" altLang="en-US" sz="1200" dirty="0"/>
              <a:t>写竞态（用 </a:t>
            </a:r>
            <a:r>
              <a:rPr lang="en-US" altLang="zh-CN" sz="1200" dirty="0"/>
              <a:t>OUTPUT_HIGH/LOW </a:t>
            </a:r>
            <a:r>
              <a:rPr lang="zh-CN" altLang="en-US" sz="1200" dirty="0"/>
              <a:t>等接口）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中断回调：中断上下文执行，不阻塞、不耗时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去抖动：按钮场景必备，平衡响应速度与稳定性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核心 </a:t>
            </a:r>
            <a:r>
              <a:rPr lang="en-US" altLang="zh-CN" sz="1200" dirty="0"/>
              <a:t>API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配置：</a:t>
            </a:r>
            <a:r>
              <a:rPr lang="en-US" altLang="zh-CN" sz="1200" dirty="0" err="1"/>
              <a:t>gpio_cfg</a:t>
            </a:r>
            <a:r>
              <a:rPr lang="en-US" altLang="zh-CN" sz="1200" dirty="0"/>
              <a:t> ()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gpio_cfg_output</a:t>
            </a:r>
            <a:r>
              <a:rPr lang="en-US" altLang="zh-CN" sz="1200" dirty="0"/>
              <a:t> ()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gpio_cfg_input</a:t>
            </a:r>
            <a:r>
              <a:rPr lang="en-US" altLang="zh-CN" sz="1200" dirty="0"/>
              <a:t> ()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中断：</a:t>
            </a:r>
            <a:r>
              <a:rPr lang="en-US" altLang="zh-CN" sz="1200" dirty="0" err="1"/>
              <a:t>gpio_register_isr</a:t>
            </a:r>
            <a:r>
              <a:rPr lang="en-US" altLang="zh-CN" sz="1200" dirty="0"/>
              <a:t> ()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操作：</a:t>
            </a:r>
            <a:r>
              <a:rPr lang="en-US" altLang="zh-CN" sz="1200" dirty="0" err="1"/>
              <a:t>gpio_pin_set</a:t>
            </a:r>
            <a:r>
              <a:rPr lang="en-US" altLang="zh-CN" sz="1200" dirty="0"/>
              <a:t>/clear/toggle/write/get ()</a:t>
            </a:r>
          </a:p>
          <a:p>
            <a:pPr>
              <a:lnSpc>
                <a:spcPct val="150000"/>
              </a:lnSpc>
            </a:pP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9144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31A727-7DFB-BEE8-C069-F2D72A1B15A0}"/>
              </a:ext>
            </a:extLst>
          </p:cNvPr>
          <p:cNvSpPr txBox="1"/>
          <p:nvPr/>
        </p:nvSpPr>
        <p:spPr>
          <a:xfrm>
            <a:off x="421179" y="293716"/>
            <a:ext cx="753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Q&amp;A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example</a:t>
            </a:r>
            <a:r>
              <a:rPr lang="zh-CN" altLang="en-US" dirty="0"/>
              <a:t>的</a:t>
            </a:r>
            <a:r>
              <a:rPr lang="en-US" altLang="zh-CN" dirty="0" err="1"/>
              <a:t>pwm</a:t>
            </a:r>
            <a:r>
              <a:rPr lang="zh-CN" altLang="en-US" dirty="0"/>
              <a:t>工程尝试去用</a:t>
            </a:r>
            <a:r>
              <a:rPr lang="en-US" altLang="zh-CN" dirty="0"/>
              <a:t>pwm1</a:t>
            </a:r>
            <a:r>
              <a:rPr lang="zh-CN" altLang="en-US" dirty="0"/>
              <a:t>实现呼吸灯但没有效果？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7627C6-57C9-0CE2-D98A-2D54D1D545C3}"/>
              </a:ext>
            </a:extLst>
          </p:cNvPr>
          <p:cNvSpPr txBox="1"/>
          <p:nvPr/>
        </p:nvSpPr>
        <p:spPr>
          <a:xfrm>
            <a:off x="421179" y="3534303"/>
            <a:ext cx="53928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引用书籍</a:t>
            </a:r>
            <a:endParaRPr lang="en-US" altLang="zh-CN" dirty="0"/>
          </a:p>
          <a:p>
            <a:r>
              <a:rPr lang="en-US" altLang="zh-CN" sz="1200" dirty="0"/>
              <a:t>Joseph Yiu. ARM Cortex-M3 </a:t>
            </a:r>
            <a:r>
              <a:rPr lang="zh-CN" altLang="en-US" sz="1200" dirty="0"/>
              <a:t>与 </a:t>
            </a:r>
            <a:r>
              <a:rPr lang="en-US" altLang="zh-CN" sz="1200" dirty="0"/>
              <a:t>Cortex-M4 </a:t>
            </a:r>
            <a:r>
              <a:rPr lang="zh-CN" altLang="en-US" sz="1200" dirty="0"/>
              <a:t>权威指南（第三版）</a:t>
            </a:r>
            <a:r>
              <a:rPr lang="en-US" altLang="zh-CN" sz="1200" dirty="0"/>
              <a:t>[M].</a:t>
            </a:r>
          </a:p>
          <a:p>
            <a:r>
              <a:rPr lang="zh-CN" altLang="en-US" sz="1200" dirty="0"/>
              <a:t>吴常玉，曹孟娟，王丽红译。北京：清华大学出版社，</a:t>
            </a:r>
            <a:r>
              <a:rPr lang="en-US" altLang="zh-CN" sz="1200" dirty="0"/>
              <a:t>[</a:t>
            </a:r>
            <a:r>
              <a:rPr lang="zh-CN" altLang="en-US" sz="1200" dirty="0"/>
              <a:t>中文翻译版出版年份</a:t>
            </a:r>
            <a:r>
              <a:rPr lang="en-US" altLang="zh-CN" sz="1200" dirty="0"/>
              <a:t>].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81969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6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29529</TotalTime>
  <Words>2625</Words>
  <Application>Microsoft Office PowerPoint</Application>
  <PresentationFormat>全屏显示(16:9)</PresentationFormat>
  <Paragraphs>294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Inter</vt:lpstr>
      <vt:lpstr>Menlo</vt:lpstr>
      <vt:lpstr>ZapfDingbats</vt:lpstr>
      <vt:lpstr>Arial</vt:lpstr>
      <vt:lpstr>Calibri</vt:lpstr>
      <vt:lpstr>Office 佈景主題</vt:lpstr>
      <vt:lpstr>学习报告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公司新版政策語錄</dc:title>
  <dc:creator>KW31_陳柏廷(Point.Chen)</dc:creator>
  <cp:lastModifiedBy>梦 幽</cp:lastModifiedBy>
  <cp:revision>1167</cp:revision>
  <cp:lastPrinted>2023-11-14T06:51:44Z</cp:lastPrinted>
  <dcterms:created xsi:type="dcterms:W3CDTF">2021-05-06T16:03:29Z</dcterms:created>
  <dcterms:modified xsi:type="dcterms:W3CDTF">2025-12-26T06:54:45Z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1028-1.9.1.2994</vt:lpwstr>
  </property>
</Properties>
</file>