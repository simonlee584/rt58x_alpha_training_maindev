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29"/>
  </p:handoutMasterIdLst>
  <p:sldIdLst>
    <p:sldId id="256" r:id="rId3"/>
    <p:sldId id="271" r:id="rId4"/>
    <p:sldId id="258" r:id="rId5"/>
    <p:sldId id="272" r:id="rId6"/>
    <p:sldId id="290" r:id="rId7"/>
    <p:sldId id="288" r:id="rId8"/>
    <p:sldId id="291" r:id="rId10"/>
    <p:sldId id="292" r:id="rId11"/>
    <p:sldId id="274" r:id="rId12"/>
    <p:sldId id="296" r:id="rId13"/>
    <p:sldId id="293" r:id="rId14"/>
    <p:sldId id="297" r:id="rId15"/>
    <p:sldId id="273" r:id="rId16"/>
    <p:sldId id="277" r:id="rId17"/>
    <p:sldId id="283" r:id="rId18"/>
    <p:sldId id="282" r:id="rId19"/>
    <p:sldId id="294" r:id="rId20"/>
    <p:sldId id="275" r:id="rId21"/>
    <p:sldId id="278" r:id="rId22"/>
    <p:sldId id="286" r:id="rId23"/>
    <p:sldId id="298" r:id="rId24"/>
    <p:sldId id="299" r:id="rId25"/>
    <p:sldId id="287" r:id="rId26"/>
    <p:sldId id="304" r:id="rId27"/>
    <p:sldId id="261" r:id="rId28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60FE"/>
    <a:srgbClr val="4F86FF"/>
    <a:srgbClr val="6071FF"/>
    <a:srgbClr val="6F5FFE"/>
    <a:srgbClr val="A694FE"/>
    <a:srgbClr val="F77F65"/>
    <a:srgbClr val="FB936C"/>
    <a:srgbClr val="FB9070"/>
    <a:srgbClr val="FA8977"/>
    <a:srgbClr val="F983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58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C49B2-44E8-4EFD-A97B-B11A258AE9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B3AF3-F35D-4318-B7D7-AB8D96882F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89247-7E6D-40B4-9848-6A52CBD56A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0" Type="http://schemas.openxmlformats.org/officeDocument/2006/relationships/vmlDrawing" Target="../drawings/vmlDrawing1.v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 noChangeArrowheads="1" noTextEdit="1"/>
          </p:cNvSpPr>
          <p:nvPr userDrawn="1"/>
        </p:nvSpPr>
        <p:spPr bwMode="auto">
          <a:xfrm>
            <a:off x="0" y="4763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57" name="图片 105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3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8" name="图片 105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3"/>
            <a:ext cx="12192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任意多边形 5"/>
          <p:cNvSpPr/>
          <p:nvPr userDrawn="1"/>
        </p:nvSpPr>
        <p:spPr bwMode="auto">
          <a:xfrm>
            <a:off x="1588" y="5891213"/>
            <a:ext cx="0" cy="963613"/>
          </a:xfrm>
          <a:custGeom>
            <a:avLst/>
            <a:gdLst>
              <a:gd name="T0" fmla="*/ 0 h 608"/>
              <a:gd name="T1" fmla="*/ 608 h 608"/>
              <a:gd name="T2" fmla="*/ 608 h 608"/>
              <a:gd name="T3" fmla="*/ 608 h 608"/>
              <a:gd name="T4" fmla="*/ 187 h 608"/>
              <a:gd name="T5" fmla="*/ 187 h 608"/>
              <a:gd name="T6" fmla="*/ 0 h 608"/>
              <a:gd name="T7" fmla="*/ 0 h 60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608">
                <a:moveTo>
                  <a:pt x="0" y="0"/>
                </a:moveTo>
                <a:cubicBezTo>
                  <a:pt x="0" y="608"/>
                  <a:pt x="0" y="608"/>
                  <a:pt x="0" y="608"/>
                </a:cubicBezTo>
                <a:cubicBezTo>
                  <a:pt x="0" y="608"/>
                  <a:pt x="0" y="608"/>
                  <a:pt x="0" y="608"/>
                </a:cubicBezTo>
                <a:cubicBezTo>
                  <a:pt x="0" y="608"/>
                  <a:pt x="0" y="608"/>
                  <a:pt x="0" y="608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60" name="图片 105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006851"/>
            <a:ext cx="1219200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任意多边形 6"/>
          <p:cNvSpPr/>
          <p:nvPr userDrawn="1"/>
        </p:nvSpPr>
        <p:spPr bwMode="auto">
          <a:xfrm>
            <a:off x="1588" y="6188076"/>
            <a:ext cx="0" cy="666750"/>
          </a:xfrm>
          <a:custGeom>
            <a:avLst/>
            <a:gdLst>
              <a:gd name="T0" fmla="*/ 0 h 421"/>
              <a:gd name="T1" fmla="*/ 421 h 421"/>
              <a:gd name="T2" fmla="*/ 0 h 421"/>
              <a:gd name="T3" fmla="*/ 0 h 42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421">
                <a:moveTo>
                  <a:pt x="0" y="0"/>
                </a:moveTo>
                <a:cubicBezTo>
                  <a:pt x="0" y="421"/>
                  <a:pt x="0" y="421"/>
                  <a:pt x="0" y="421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9F9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62" name="图片 106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03713"/>
            <a:ext cx="121920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任意多边形 7"/>
          <p:cNvSpPr/>
          <p:nvPr userDrawn="1"/>
        </p:nvSpPr>
        <p:spPr bwMode="auto">
          <a:xfrm>
            <a:off x="1588" y="4246563"/>
            <a:ext cx="12192000" cy="2608263"/>
          </a:xfrm>
          <a:custGeom>
            <a:avLst/>
            <a:gdLst>
              <a:gd name="T0" fmla="*/ 7680 w 7680"/>
              <a:gd name="T1" fmla="*/ 377 h 1645"/>
              <a:gd name="T2" fmla="*/ 7252 w 7680"/>
              <a:gd name="T3" fmla="*/ 250 h 1645"/>
              <a:gd name="T4" fmla="*/ 5444 w 7680"/>
              <a:gd name="T5" fmla="*/ 754 h 1645"/>
              <a:gd name="T6" fmla="*/ 4155 w 7680"/>
              <a:gd name="T7" fmla="*/ 663 h 1645"/>
              <a:gd name="T8" fmla="*/ 2423 w 7680"/>
              <a:gd name="T9" fmla="*/ 986 h 1645"/>
              <a:gd name="T10" fmla="*/ 1268 w 7680"/>
              <a:gd name="T11" fmla="*/ 1282 h 1645"/>
              <a:gd name="T12" fmla="*/ 0 w 7680"/>
              <a:gd name="T13" fmla="*/ 1394 h 1645"/>
              <a:gd name="T14" fmla="*/ 0 w 7680"/>
              <a:gd name="T15" fmla="*/ 1645 h 1645"/>
              <a:gd name="T16" fmla="*/ 7680 w 7680"/>
              <a:gd name="T17" fmla="*/ 1645 h 1645"/>
              <a:gd name="T18" fmla="*/ 7680 w 7680"/>
              <a:gd name="T19" fmla="*/ 377 h 1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0" h="1645">
                <a:moveTo>
                  <a:pt x="7680" y="377"/>
                </a:moveTo>
                <a:cubicBezTo>
                  <a:pt x="7569" y="337"/>
                  <a:pt x="7429" y="295"/>
                  <a:pt x="7252" y="250"/>
                </a:cubicBezTo>
                <a:cubicBezTo>
                  <a:pt x="6269" y="0"/>
                  <a:pt x="6031" y="1018"/>
                  <a:pt x="5444" y="754"/>
                </a:cubicBezTo>
                <a:cubicBezTo>
                  <a:pt x="4857" y="490"/>
                  <a:pt x="4492" y="362"/>
                  <a:pt x="4155" y="663"/>
                </a:cubicBezTo>
                <a:cubicBezTo>
                  <a:pt x="3890" y="899"/>
                  <a:pt x="2966" y="1015"/>
                  <a:pt x="2423" y="986"/>
                </a:cubicBezTo>
                <a:cubicBezTo>
                  <a:pt x="1880" y="956"/>
                  <a:pt x="1908" y="778"/>
                  <a:pt x="1268" y="1282"/>
                </a:cubicBezTo>
                <a:cubicBezTo>
                  <a:pt x="997" y="1495"/>
                  <a:pt x="397" y="1452"/>
                  <a:pt x="0" y="1394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7680" y="1645"/>
                  <a:pt x="7680" y="1645"/>
                  <a:pt x="7680" y="1645"/>
                </a:cubicBezTo>
                <a:lnTo>
                  <a:pt x="7680" y="3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 bwMode="auto">
          <a:xfrm>
            <a:off x="6800850" y="5589588"/>
            <a:ext cx="5392738" cy="1265238"/>
          </a:xfrm>
          <a:custGeom>
            <a:avLst/>
            <a:gdLst>
              <a:gd name="T0" fmla="*/ 3397 w 3397"/>
              <a:gd name="T1" fmla="*/ 798 h 798"/>
              <a:gd name="T2" fmla="*/ 3397 w 3397"/>
              <a:gd name="T3" fmla="*/ 169 h 798"/>
              <a:gd name="T4" fmla="*/ 3371 w 3397"/>
              <a:gd name="T5" fmla="*/ 150 h 798"/>
              <a:gd name="T6" fmla="*/ 2566 w 3397"/>
              <a:gd name="T7" fmla="*/ 266 h 798"/>
              <a:gd name="T8" fmla="*/ 2388 w 3397"/>
              <a:gd name="T9" fmla="*/ 430 h 798"/>
              <a:gd name="T10" fmla="*/ 1570 w 3397"/>
              <a:gd name="T11" fmla="*/ 262 h 798"/>
              <a:gd name="T12" fmla="*/ 867 w 3397"/>
              <a:gd name="T13" fmla="*/ 532 h 798"/>
              <a:gd name="T14" fmla="*/ 0 w 3397"/>
              <a:gd name="T15" fmla="*/ 798 h 798"/>
              <a:gd name="T16" fmla="*/ 3397 w 3397"/>
              <a:gd name="T17" fmla="*/ 798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97" h="798">
                <a:moveTo>
                  <a:pt x="3397" y="798"/>
                </a:moveTo>
                <a:cubicBezTo>
                  <a:pt x="3397" y="169"/>
                  <a:pt x="3397" y="169"/>
                  <a:pt x="3397" y="169"/>
                </a:cubicBezTo>
                <a:cubicBezTo>
                  <a:pt x="3389" y="162"/>
                  <a:pt x="3380" y="156"/>
                  <a:pt x="3371" y="150"/>
                </a:cubicBezTo>
                <a:cubicBezTo>
                  <a:pt x="3139" y="0"/>
                  <a:pt x="2450" y="75"/>
                  <a:pt x="2566" y="266"/>
                </a:cubicBezTo>
                <a:cubicBezTo>
                  <a:pt x="2682" y="457"/>
                  <a:pt x="2620" y="450"/>
                  <a:pt x="2388" y="430"/>
                </a:cubicBezTo>
                <a:cubicBezTo>
                  <a:pt x="2156" y="409"/>
                  <a:pt x="1956" y="247"/>
                  <a:pt x="1570" y="262"/>
                </a:cubicBezTo>
                <a:cubicBezTo>
                  <a:pt x="1329" y="272"/>
                  <a:pt x="1740" y="437"/>
                  <a:pt x="867" y="532"/>
                </a:cubicBezTo>
                <a:cubicBezTo>
                  <a:pt x="252" y="600"/>
                  <a:pt x="59" y="728"/>
                  <a:pt x="0" y="798"/>
                </a:cubicBezTo>
                <a:lnTo>
                  <a:pt x="3397" y="798"/>
                </a:lnTo>
                <a:close/>
              </a:path>
            </a:pathLst>
          </a:custGeom>
          <a:solidFill>
            <a:srgbClr val="F6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65" name="图片 106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4763"/>
            <a:ext cx="433863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24810" y="4079394"/>
            <a:ext cx="2913783" cy="248371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24810" y="4387946"/>
            <a:ext cx="2913783" cy="248371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2310034" y="1947333"/>
            <a:ext cx="7341963" cy="102032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310034" y="3024804"/>
            <a:ext cx="7341963" cy="558799"/>
          </a:xfrm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 noChangeArrowheads="1" noTextEdit="1"/>
          </p:cNvSpPr>
          <p:nvPr userDrawn="1"/>
        </p:nvSpPr>
        <p:spPr bwMode="auto">
          <a:xfrm>
            <a:off x="0" y="4763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3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3"/>
            <a:ext cx="12192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任意多边形 9"/>
          <p:cNvSpPr/>
          <p:nvPr userDrawn="1"/>
        </p:nvSpPr>
        <p:spPr bwMode="auto">
          <a:xfrm>
            <a:off x="1588" y="5891213"/>
            <a:ext cx="0" cy="963613"/>
          </a:xfrm>
          <a:custGeom>
            <a:avLst/>
            <a:gdLst>
              <a:gd name="T0" fmla="*/ 0 h 608"/>
              <a:gd name="T1" fmla="*/ 608 h 608"/>
              <a:gd name="T2" fmla="*/ 608 h 608"/>
              <a:gd name="T3" fmla="*/ 608 h 608"/>
              <a:gd name="T4" fmla="*/ 187 h 608"/>
              <a:gd name="T5" fmla="*/ 187 h 608"/>
              <a:gd name="T6" fmla="*/ 0 h 608"/>
              <a:gd name="T7" fmla="*/ 0 h 60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608">
                <a:moveTo>
                  <a:pt x="0" y="0"/>
                </a:moveTo>
                <a:cubicBezTo>
                  <a:pt x="0" y="608"/>
                  <a:pt x="0" y="608"/>
                  <a:pt x="0" y="608"/>
                </a:cubicBezTo>
                <a:cubicBezTo>
                  <a:pt x="0" y="608"/>
                  <a:pt x="0" y="608"/>
                  <a:pt x="0" y="608"/>
                </a:cubicBezTo>
                <a:cubicBezTo>
                  <a:pt x="0" y="608"/>
                  <a:pt x="0" y="608"/>
                  <a:pt x="0" y="608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006851"/>
            <a:ext cx="1219200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任意多边形 11"/>
          <p:cNvSpPr/>
          <p:nvPr userDrawn="1"/>
        </p:nvSpPr>
        <p:spPr bwMode="auto">
          <a:xfrm>
            <a:off x="1588" y="6188076"/>
            <a:ext cx="0" cy="666750"/>
          </a:xfrm>
          <a:custGeom>
            <a:avLst/>
            <a:gdLst>
              <a:gd name="T0" fmla="*/ 0 h 421"/>
              <a:gd name="T1" fmla="*/ 421 h 421"/>
              <a:gd name="T2" fmla="*/ 0 h 421"/>
              <a:gd name="T3" fmla="*/ 0 h 42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421">
                <a:moveTo>
                  <a:pt x="0" y="0"/>
                </a:moveTo>
                <a:cubicBezTo>
                  <a:pt x="0" y="421"/>
                  <a:pt x="0" y="421"/>
                  <a:pt x="0" y="421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9F9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03713"/>
            <a:ext cx="121920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任意多边形 13"/>
          <p:cNvSpPr/>
          <p:nvPr userDrawn="1"/>
        </p:nvSpPr>
        <p:spPr bwMode="auto">
          <a:xfrm>
            <a:off x="1588" y="4246563"/>
            <a:ext cx="12192000" cy="2608263"/>
          </a:xfrm>
          <a:custGeom>
            <a:avLst/>
            <a:gdLst>
              <a:gd name="T0" fmla="*/ 7680 w 7680"/>
              <a:gd name="T1" fmla="*/ 377 h 1645"/>
              <a:gd name="T2" fmla="*/ 7252 w 7680"/>
              <a:gd name="T3" fmla="*/ 250 h 1645"/>
              <a:gd name="T4" fmla="*/ 5444 w 7680"/>
              <a:gd name="T5" fmla="*/ 754 h 1645"/>
              <a:gd name="T6" fmla="*/ 4155 w 7680"/>
              <a:gd name="T7" fmla="*/ 663 h 1645"/>
              <a:gd name="T8" fmla="*/ 2423 w 7680"/>
              <a:gd name="T9" fmla="*/ 986 h 1645"/>
              <a:gd name="T10" fmla="*/ 1268 w 7680"/>
              <a:gd name="T11" fmla="*/ 1282 h 1645"/>
              <a:gd name="T12" fmla="*/ 0 w 7680"/>
              <a:gd name="T13" fmla="*/ 1394 h 1645"/>
              <a:gd name="T14" fmla="*/ 0 w 7680"/>
              <a:gd name="T15" fmla="*/ 1645 h 1645"/>
              <a:gd name="T16" fmla="*/ 7680 w 7680"/>
              <a:gd name="T17" fmla="*/ 1645 h 1645"/>
              <a:gd name="T18" fmla="*/ 7680 w 7680"/>
              <a:gd name="T19" fmla="*/ 377 h 1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0" h="1645">
                <a:moveTo>
                  <a:pt x="7680" y="377"/>
                </a:moveTo>
                <a:cubicBezTo>
                  <a:pt x="7569" y="337"/>
                  <a:pt x="7429" y="295"/>
                  <a:pt x="7252" y="250"/>
                </a:cubicBezTo>
                <a:cubicBezTo>
                  <a:pt x="6269" y="0"/>
                  <a:pt x="6031" y="1018"/>
                  <a:pt x="5444" y="754"/>
                </a:cubicBezTo>
                <a:cubicBezTo>
                  <a:pt x="4857" y="490"/>
                  <a:pt x="4492" y="362"/>
                  <a:pt x="4155" y="663"/>
                </a:cubicBezTo>
                <a:cubicBezTo>
                  <a:pt x="3890" y="899"/>
                  <a:pt x="2966" y="1015"/>
                  <a:pt x="2423" y="986"/>
                </a:cubicBezTo>
                <a:cubicBezTo>
                  <a:pt x="1880" y="956"/>
                  <a:pt x="1908" y="778"/>
                  <a:pt x="1268" y="1282"/>
                </a:cubicBezTo>
                <a:cubicBezTo>
                  <a:pt x="997" y="1495"/>
                  <a:pt x="397" y="1452"/>
                  <a:pt x="0" y="1394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7680" y="1645"/>
                  <a:pt x="7680" y="1645"/>
                  <a:pt x="7680" y="1645"/>
                </a:cubicBezTo>
                <a:lnTo>
                  <a:pt x="7680" y="3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任意多边形 14"/>
          <p:cNvSpPr/>
          <p:nvPr userDrawn="1"/>
        </p:nvSpPr>
        <p:spPr bwMode="auto">
          <a:xfrm>
            <a:off x="6800850" y="5589588"/>
            <a:ext cx="5392738" cy="1265238"/>
          </a:xfrm>
          <a:custGeom>
            <a:avLst/>
            <a:gdLst>
              <a:gd name="T0" fmla="*/ 3397 w 3397"/>
              <a:gd name="T1" fmla="*/ 798 h 798"/>
              <a:gd name="T2" fmla="*/ 3397 w 3397"/>
              <a:gd name="T3" fmla="*/ 169 h 798"/>
              <a:gd name="T4" fmla="*/ 3371 w 3397"/>
              <a:gd name="T5" fmla="*/ 150 h 798"/>
              <a:gd name="T6" fmla="*/ 2566 w 3397"/>
              <a:gd name="T7" fmla="*/ 266 h 798"/>
              <a:gd name="T8" fmla="*/ 2388 w 3397"/>
              <a:gd name="T9" fmla="*/ 430 h 798"/>
              <a:gd name="T10" fmla="*/ 1570 w 3397"/>
              <a:gd name="T11" fmla="*/ 262 h 798"/>
              <a:gd name="T12" fmla="*/ 867 w 3397"/>
              <a:gd name="T13" fmla="*/ 532 h 798"/>
              <a:gd name="T14" fmla="*/ 0 w 3397"/>
              <a:gd name="T15" fmla="*/ 798 h 798"/>
              <a:gd name="T16" fmla="*/ 3397 w 3397"/>
              <a:gd name="T17" fmla="*/ 798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97" h="798">
                <a:moveTo>
                  <a:pt x="3397" y="798"/>
                </a:moveTo>
                <a:cubicBezTo>
                  <a:pt x="3397" y="169"/>
                  <a:pt x="3397" y="169"/>
                  <a:pt x="3397" y="169"/>
                </a:cubicBezTo>
                <a:cubicBezTo>
                  <a:pt x="3389" y="162"/>
                  <a:pt x="3380" y="156"/>
                  <a:pt x="3371" y="150"/>
                </a:cubicBezTo>
                <a:cubicBezTo>
                  <a:pt x="3139" y="0"/>
                  <a:pt x="2450" y="75"/>
                  <a:pt x="2566" y="266"/>
                </a:cubicBezTo>
                <a:cubicBezTo>
                  <a:pt x="2682" y="457"/>
                  <a:pt x="2620" y="450"/>
                  <a:pt x="2388" y="430"/>
                </a:cubicBezTo>
                <a:cubicBezTo>
                  <a:pt x="2156" y="409"/>
                  <a:pt x="1956" y="247"/>
                  <a:pt x="1570" y="262"/>
                </a:cubicBezTo>
                <a:cubicBezTo>
                  <a:pt x="1329" y="272"/>
                  <a:pt x="1740" y="437"/>
                  <a:pt x="867" y="532"/>
                </a:cubicBezTo>
                <a:cubicBezTo>
                  <a:pt x="252" y="600"/>
                  <a:pt x="59" y="728"/>
                  <a:pt x="0" y="798"/>
                </a:cubicBezTo>
                <a:lnTo>
                  <a:pt x="3397" y="798"/>
                </a:lnTo>
                <a:close/>
              </a:path>
            </a:pathLst>
          </a:custGeom>
          <a:solidFill>
            <a:srgbClr val="F6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4763"/>
            <a:ext cx="433863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8"/>
          <p:cNvSpPr/>
          <p:nvPr userDrawn="1"/>
        </p:nvSpPr>
        <p:spPr>
          <a:xfrm>
            <a:off x="671512" y="588962"/>
            <a:ext cx="10848976" cy="5680078"/>
          </a:xfrm>
          <a:prstGeom prst="rect">
            <a:avLst/>
          </a:prstGeom>
          <a:solidFill>
            <a:schemeClr val="bg1"/>
          </a:solidFill>
          <a:ln>
            <a:solidFill>
              <a:srgbClr val="6E6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Pr>
        <a:solidFill>
          <a:srgbClr val="353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 noChangeArrowheads="1" noTextEdit="1"/>
          </p:cNvSpPr>
          <p:nvPr userDrawn="1"/>
        </p:nvSpPr>
        <p:spPr bwMode="auto">
          <a:xfrm>
            <a:off x="0" y="4763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3"/>
            <a:ext cx="12192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3"/>
            <a:ext cx="12192000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任意多边形 12"/>
          <p:cNvSpPr/>
          <p:nvPr userDrawn="1"/>
        </p:nvSpPr>
        <p:spPr bwMode="auto">
          <a:xfrm>
            <a:off x="1588" y="5891213"/>
            <a:ext cx="0" cy="963613"/>
          </a:xfrm>
          <a:custGeom>
            <a:avLst/>
            <a:gdLst>
              <a:gd name="T0" fmla="*/ 0 h 608"/>
              <a:gd name="T1" fmla="*/ 608 h 608"/>
              <a:gd name="T2" fmla="*/ 608 h 608"/>
              <a:gd name="T3" fmla="*/ 608 h 608"/>
              <a:gd name="T4" fmla="*/ 187 h 608"/>
              <a:gd name="T5" fmla="*/ 187 h 608"/>
              <a:gd name="T6" fmla="*/ 0 h 608"/>
              <a:gd name="T7" fmla="*/ 0 h 60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608">
                <a:moveTo>
                  <a:pt x="0" y="0"/>
                </a:moveTo>
                <a:cubicBezTo>
                  <a:pt x="0" y="608"/>
                  <a:pt x="0" y="608"/>
                  <a:pt x="0" y="608"/>
                </a:cubicBezTo>
                <a:cubicBezTo>
                  <a:pt x="0" y="608"/>
                  <a:pt x="0" y="608"/>
                  <a:pt x="0" y="608"/>
                </a:cubicBezTo>
                <a:cubicBezTo>
                  <a:pt x="0" y="608"/>
                  <a:pt x="0" y="608"/>
                  <a:pt x="0" y="608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187"/>
                  <a:pt x="0" y="187"/>
                  <a:pt x="0" y="187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4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006851"/>
            <a:ext cx="12192000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任意多边形 14"/>
          <p:cNvSpPr/>
          <p:nvPr userDrawn="1"/>
        </p:nvSpPr>
        <p:spPr bwMode="auto">
          <a:xfrm>
            <a:off x="1588" y="6188076"/>
            <a:ext cx="0" cy="666750"/>
          </a:xfrm>
          <a:custGeom>
            <a:avLst/>
            <a:gdLst>
              <a:gd name="T0" fmla="*/ 0 h 421"/>
              <a:gd name="T1" fmla="*/ 421 h 421"/>
              <a:gd name="T2" fmla="*/ 0 h 421"/>
              <a:gd name="T3" fmla="*/ 0 h 421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</a:cxnLst>
            <a:rect l="0" t="0" r="r" b="b"/>
            <a:pathLst>
              <a:path h="421">
                <a:moveTo>
                  <a:pt x="0" y="0"/>
                </a:moveTo>
                <a:cubicBezTo>
                  <a:pt x="0" y="421"/>
                  <a:pt x="0" y="421"/>
                  <a:pt x="0" y="421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9F9F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03713"/>
            <a:ext cx="12192000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任意多边形 16"/>
          <p:cNvSpPr/>
          <p:nvPr userDrawn="1"/>
        </p:nvSpPr>
        <p:spPr bwMode="auto">
          <a:xfrm>
            <a:off x="1588" y="4246563"/>
            <a:ext cx="12192000" cy="2608263"/>
          </a:xfrm>
          <a:custGeom>
            <a:avLst/>
            <a:gdLst>
              <a:gd name="T0" fmla="*/ 7680 w 7680"/>
              <a:gd name="T1" fmla="*/ 377 h 1645"/>
              <a:gd name="T2" fmla="*/ 7252 w 7680"/>
              <a:gd name="T3" fmla="*/ 250 h 1645"/>
              <a:gd name="T4" fmla="*/ 5444 w 7680"/>
              <a:gd name="T5" fmla="*/ 754 h 1645"/>
              <a:gd name="T6" fmla="*/ 4155 w 7680"/>
              <a:gd name="T7" fmla="*/ 663 h 1645"/>
              <a:gd name="T8" fmla="*/ 2423 w 7680"/>
              <a:gd name="T9" fmla="*/ 986 h 1645"/>
              <a:gd name="T10" fmla="*/ 1268 w 7680"/>
              <a:gd name="T11" fmla="*/ 1282 h 1645"/>
              <a:gd name="T12" fmla="*/ 0 w 7680"/>
              <a:gd name="T13" fmla="*/ 1394 h 1645"/>
              <a:gd name="T14" fmla="*/ 0 w 7680"/>
              <a:gd name="T15" fmla="*/ 1645 h 1645"/>
              <a:gd name="T16" fmla="*/ 7680 w 7680"/>
              <a:gd name="T17" fmla="*/ 1645 h 1645"/>
              <a:gd name="T18" fmla="*/ 7680 w 7680"/>
              <a:gd name="T19" fmla="*/ 377 h 1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0" h="1645">
                <a:moveTo>
                  <a:pt x="7680" y="377"/>
                </a:moveTo>
                <a:cubicBezTo>
                  <a:pt x="7569" y="337"/>
                  <a:pt x="7429" y="295"/>
                  <a:pt x="7252" y="250"/>
                </a:cubicBezTo>
                <a:cubicBezTo>
                  <a:pt x="6269" y="0"/>
                  <a:pt x="6031" y="1018"/>
                  <a:pt x="5444" y="754"/>
                </a:cubicBezTo>
                <a:cubicBezTo>
                  <a:pt x="4857" y="490"/>
                  <a:pt x="4492" y="362"/>
                  <a:pt x="4155" y="663"/>
                </a:cubicBezTo>
                <a:cubicBezTo>
                  <a:pt x="3890" y="899"/>
                  <a:pt x="2966" y="1015"/>
                  <a:pt x="2423" y="986"/>
                </a:cubicBezTo>
                <a:cubicBezTo>
                  <a:pt x="1880" y="956"/>
                  <a:pt x="1908" y="778"/>
                  <a:pt x="1268" y="1282"/>
                </a:cubicBezTo>
                <a:cubicBezTo>
                  <a:pt x="997" y="1495"/>
                  <a:pt x="397" y="1452"/>
                  <a:pt x="0" y="1394"/>
                </a:cubicBezTo>
                <a:cubicBezTo>
                  <a:pt x="0" y="1645"/>
                  <a:pt x="0" y="1645"/>
                  <a:pt x="0" y="1645"/>
                </a:cubicBezTo>
                <a:cubicBezTo>
                  <a:pt x="7680" y="1645"/>
                  <a:pt x="7680" y="1645"/>
                  <a:pt x="7680" y="1645"/>
                </a:cubicBezTo>
                <a:lnTo>
                  <a:pt x="7680" y="3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 bwMode="auto">
          <a:xfrm>
            <a:off x="6800850" y="5589588"/>
            <a:ext cx="5392738" cy="1265238"/>
          </a:xfrm>
          <a:custGeom>
            <a:avLst/>
            <a:gdLst>
              <a:gd name="T0" fmla="*/ 3397 w 3397"/>
              <a:gd name="T1" fmla="*/ 798 h 798"/>
              <a:gd name="T2" fmla="*/ 3397 w 3397"/>
              <a:gd name="T3" fmla="*/ 169 h 798"/>
              <a:gd name="T4" fmla="*/ 3371 w 3397"/>
              <a:gd name="T5" fmla="*/ 150 h 798"/>
              <a:gd name="T6" fmla="*/ 2566 w 3397"/>
              <a:gd name="T7" fmla="*/ 266 h 798"/>
              <a:gd name="T8" fmla="*/ 2388 w 3397"/>
              <a:gd name="T9" fmla="*/ 430 h 798"/>
              <a:gd name="T10" fmla="*/ 1570 w 3397"/>
              <a:gd name="T11" fmla="*/ 262 h 798"/>
              <a:gd name="T12" fmla="*/ 867 w 3397"/>
              <a:gd name="T13" fmla="*/ 532 h 798"/>
              <a:gd name="T14" fmla="*/ 0 w 3397"/>
              <a:gd name="T15" fmla="*/ 798 h 798"/>
              <a:gd name="T16" fmla="*/ 3397 w 3397"/>
              <a:gd name="T17" fmla="*/ 798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97" h="798">
                <a:moveTo>
                  <a:pt x="3397" y="798"/>
                </a:moveTo>
                <a:cubicBezTo>
                  <a:pt x="3397" y="169"/>
                  <a:pt x="3397" y="169"/>
                  <a:pt x="3397" y="169"/>
                </a:cubicBezTo>
                <a:cubicBezTo>
                  <a:pt x="3389" y="162"/>
                  <a:pt x="3380" y="156"/>
                  <a:pt x="3371" y="150"/>
                </a:cubicBezTo>
                <a:cubicBezTo>
                  <a:pt x="3139" y="0"/>
                  <a:pt x="2450" y="75"/>
                  <a:pt x="2566" y="266"/>
                </a:cubicBezTo>
                <a:cubicBezTo>
                  <a:pt x="2682" y="457"/>
                  <a:pt x="2620" y="450"/>
                  <a:pt x="2388" y="430"/>
                </a:cubicBezTo>
                <a:cubicBezTo>
                  <a:pt x="2156" y="409"/>
                  <a:pt x="1956" y="247"/>
                  <a:pt x="1570" y="262"/>
                </a:cubicBezTo>
                <a:cubicBezTo>
                  <a:pt x="1329" y="272"/>
                  <a:pt x="1740" y="437"/>
                  <a:pt x="867" y="532"/>
                </a:cubicBezTo>
                <a:cubicBezTo>
                  <a:pt x="252" y="600"/>
                  <a:pt x="59" y="728"/>
                  <a:pt x="0" y="798"/>
                </a:cubicBezTo>
                <a:lnTo>
                  <a:pt x="3397" y="798"/>
                </a:lnTo>
                <a:close/>
              </a:path>
            </a:pathLst>
          </a:custGeom>
          <a:solidFill>
            <a:srgbClr val="F6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4763"/>
            <a:ext cx="433863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384334" y="2772208"/>
            <a:ext cx="7292859" cy="65679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"/>
          </p:nvPr>
        </p:nvSpPr>
        <p:spPr>
          <a:xfrm>
            <a:off x="3378560" y="3518030"/>
            <a:ext cx="7311425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sp>
        <p:nvSpPr>
          <p:cNvPr id="2" name="矩形 1"/>
          <p:cNvSpPr/>
          <p:nvPr userDrawn="1"/>
        </p:nvSpPr>
        <p:spPr>
          <a:xfrm>
            <a:off x="952504" y="1231900"/>
            <a:ext cx="10286992" cy="4800600"/>
          </a:xfrm>
          <a:prstGeom prst="rect">
            <a:avLst/>
          </a:prstGeom>
          <a:solidFill>
            <a:schemeClr val="bg1"/>
          </a:solidFill>
          <a:ln>
            <a:solidFill>
              <a:srgbClr val="6E6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雪地上&#10;&#10;中度可信度描述已自动生成"/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-7937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2000"/>
                </a:schemeClr>
              </a:gs>
              <a:gs pos="0">
                <a:schemeClr val="accent1">
                  <a:lumMod val="80000"/>
                  <a:lumOff val="20000"/>
                  <a:alpha val="5000"/>
                </a:schemeClr>
              </a:gs>
              <a:gs pos="100000">
                <a:schemeClr val="accent1">
                  <a:alpha val="2000"/>
                  <a:lumMod val="10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6472940"/>
            <a:ext cx="12192000" cy="400050"/>
          </a:xfrm>
          <a:custGeom>
            <a:avLst/>
            <a:gdLst>
              <a:gd name="connsiteX0" fmla="*/ 12192000 w 12192000"/>
              <a:gd name="connsiteY0" fmla="*/ 0 h 329410"/>
              <a:gd name="connsiteX1" fmla="*/ 12192000 w 12192000"/>
              <a:gd name="connsiteY1" fmla="*/ 329410 h 329410"/>
              <a:gd name="connsiteX2" fmla="*/ 0 w 12192000"/>
              <a:gd name="connsiteY2" fmla="*/ 329410 h 329410"/>
              <a:gd name="connsiteX3" fmla="*/ 0 w 12192000"/>
              <a:gd name="connsiteY3" fmla="*/ 29375 h 329410"/>
              <a:gd name="connsiteX4" fmla="*/ 577089 w 12192000"/>
              <a:gd name="connsiteY4" fmla="*/ 49593 h 329410"/>
              <a:gd name="connsiteX5" fmla="*/ 5704114 w 12192000"/>
              <a:gd name="connsiteY5" fmla="*/ 124873 h 329410"/>
              <a:gd name="connsiteX6" fmla="*/ 11982536 w 12192000"/>
              <a:gd name="connsiteY6" fmla="*/ 9255 h 329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29410">
                <a:moveTo>
                  <a:pt x="12192000" y="0"/>
                </a:moveTo>
                <a:lnTo>
                  <a:pt x="12192000" y="329410"/>
                </a:lnTo>
                <a:lnTo>
                  <a:pt x="0" y="329410"/>
                </a:lnTo>
                <a:lnTo>
                  <a:pt x="0" y="29375"/>
                </a:lnTo>
                <a:lnTo>
                  <a:pt x="577089" y="49593"/>
                </a:lnTo>
                <a:cubicBezTo>
                  <a:pt x="2152931" y="98068"/>
                  <a:pt x="3885480" y="124873"/>
                  <a:pt x="5704114" y="124873"/>
                </a:cubicBezTo>
                <a:cubicBezTo>
                  <a:pt x="7977407" y="124873"/>
                  <a:pt x="10116192" y="82990"/>
                  <a:pt x="11982536" y="9255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11" name="任意多边形 10"/>
          <p:cNvSpPr/>
          <p:nvPr userDrawn="1"/>
        </p:nvSpPr>
        <p:spPr>
          <a:xfrm>
            <a:off x="0" y="389940"/>
            <a:ext cx="599976" cy="574820"/>
          </a:xfrm>
          <a:custGeom>
            <a:avLst/>
            <a:gdLst>
              <a:gd name="connsiteX0" fmla="*/ 0 w 599976"/>
              <a:gd name="connsiteY0" fmla="*/ 0 h 574820"/>
              <a:gd name="connsiteX1" fmla="*/ 312566 w 599976"/>
              <a:gd name="connsiteY1" fmla="*/ 0 h 574820"/>
              <a:gd name="connsiteX2" fmla="*/ 599976 w 599976"/>
              <a:gd name="connsiteY2" fmla="*/ 287410 h 574820"/>
              <a:gd name="connsiteX3" fmla="*/ 599975 w 599976"/>
              <a:gd name="connsiteY3" fmla="*/ 287410 h 574820"/>
              <a:gd name="connsiteX4" fmla="*/ 312565 w 599976"/>
              <a:gd name="connsiteY4" fmla="*/ 574820 h 574820"/>
              <a:gd name="connsiteX5" fmla="*/ 0 w 599976"/>
              <a:gd name="connsiteY5" fmla="*/ 574820 h 57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9976" h="574820">
                <a:moveTo>
                  <a:pt x="0" y="0"/>
                </a:moveTo>
                <a:lnTo>
                  <a:pt x="312566" y="0"/>
                </a:lnTo>
                <a:cubicBezTo>
                  <a:pt x="471298" y="0"/>
                  <a:pt x="599976" y="128678"/>
                  <a:pt x="599976" y="287410"/>
                </a:cubicBezTo>
                <a:lnTo>
                  <a:pt x="599975" y="287410"/>
                </a:lnTo>
                <a:cubicBezTo>
                  <a:pt x="599975" y="446142"/>
                  <a:pt x="471297" y="574820"/>
                  <a:pt x="312565" y="574820"/>
                </a:cubicBezTo>
                <a:lnTo>
                  <a:pt x="0" y="57482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3" imgW="9525" imgH="9525" progId="TCLayout.ActiveDocument.1">
                  <p:embed/>
                </p:oleObj>
              </mc:Choice>
              <mc:Fallback>
                <p:oleObj name="think-cell Slide" r:id="rId3" imgW="9525" imgH="9525" progId="TCLayout.ActiveDocument.1">
                  <p:embed/>
                  <p:pic>
                    <p:nvPicPr>
                      <p:cNvPr id="0" name="图片 -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 userDrawn="1"/>
        </p:nvGrpSpPr>
        <p:grpSpPr>
          <a:xfrm flipH="1">
            <a:off x="0" y="4763"/>
            <a:ext cx="12193588" cy="6850063"/>
            <a:chOff x="0" y="4763"/>
            <a:chExt cx="12193588" cy="6850063"/>
          </a:xfrm>
        </p:grpSpPr>
        <p:sp>
          <p:nvSpPr>
            <p:cNvPr id="12" name="矩形 11"/>
            <p:cNvSpPr>
              <a:spLocks noChangeAspect="1" noChangeArrowheads="1" noTextEdit="1"/>
            </p:cNvSpPr>
            <p:nvPr userDrawn="1"/>
          </p:nvSpPr>
          <p:spPr bwMode="auto">
            <a:xfrm>
              <a:off x="0" y="4763"/>
              <a:ext cx="12192000" cy="6848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6" name="图片 15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8" y="4763"/>
              <a:ext cx="12192000" cy="6848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图片 16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8" y="4763"/>
              <a:ext cx="12192000" cy="2268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任意多边形 17"/>
            <p:cNvSpPr/>
            <p:nvPr userDrawn="1"/>
          </p:nvSpPr>
          <p:spPr bwMode="auto">
            <a:xfrm>
              <a:off x="1588" y="5891213"/>
              <a:ext cx="0" cy="963613"/>
            </a:xfrm>
            <a:custGeom>
              <a:avLst/>
              <a:gdLst>
                <a:gd name="T0" fmla="*/ 0 h 608"/>
                <a:gd name="T1" fmla="*/ 608 h 608"/>
                <a:gd name="T2" fmla="*/ 608 h 608"/>
                <a:gd name="T3" fmla="*/ 608 h 608"/>
                <a:gd name="T4" fmla="*/ 187 h 608"/>
                <a:gd name="T5" fmla="*/ 187 h 608"/>
                <a:gd name="T6" fmla="*/ 0 h 608"/>
                <a:gd name="T7" fmla="*/ 0 h 608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608">
                  <a:moveTo>
                    <a:pt x="0" y="0"/>
                  </a:moveTo>
                  <a:cubicBezTo>
                    <a:pt x="0" y="608"/>
                    <a:pt x="0" y="608"/>
                    <a:pt x="0" y="608"/>
                  </a:cubicBezTo>
                  <a:cubicBezTo>
                    <a:pt x="0" y="608"/>
                    <a:pt x="0" y="608"/>
                    <a:pt x="0" y="608"/>
                  </a:cubicBezTo>
                  <a:cubicBezTo>
                    <a:pt x="0" y="608"/>
                    <a:pt x="0" y="608"/>
                    <a:pt x="0" y="608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9" name="图片 18"/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8" y="4006851"/>
              <a:ext cx="12192000" cy="2262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任意多边形 19"/>
            <p:cNvSpPr/>
            <p:nvPr userDrawn="1"/>
          </p:nvSpPr>
          <p:spPr bwMode="auto">
            <a:xfrm>
              <a:off x="1588" y="6188076"/>
              <a:ext cx="0" cy="666750"/>
            </a:xfrm>
            <a:custGeom>
              <a:avLst/>
              <a:gdLst>
                <a:gd name="T0" fmla="*/ 0 h 421"/>
                <a:gd name="T1" fmla="*/ 421 h 421"/>
                <a:gd name="T2" fmla="*/ 0 h 421"/>
                <a:gd name="T3" fmla="*/ 0 h 42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421">
                  <a:moveTo>
                    <a:pt x="0" y="0"/>
                  </a:moveTo>
                  <a:cubicBezTo>
                    <a:pt x="0" y="421"/>
                    <a:pt x="0" y="421"/>
                    <a:pt x="0" y="4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9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21" name="图片 20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8" y="4303713"/>
              <a:ext cx="12192000" cy="2549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任意多边形 21"/>
            <p:cNvSpPr/>
            <p:nvPr userDrawn="1"/>
          </p:nvSpPr>
          <p:spPr bwMode="auto">
            <a:xfrm>
              <a:off x="1588" y="4246563"/>
              <a:ext cx="12192000" cy="2608263"/>
            </a:xfrm>
            <a:custGeom>
              <a:avLst/>
              <a:gdLst>
                <a:gd name="T0" fmla="*/ 7680 w 7680"/>
                <a:gd name="T1" fmla="*/ 377 h 1645"/>
                <a:gd name="T2" fmla="*/ 7252 w 7680"/>
                <a:gd name="T3" fmla="*/ 250 h 1645"/>
                <a:gd name="T4" fmla="*/ 5444 w 7680"/>
                <a:gd name="T5" fmla="*/ 754 h 1645"/>
                <a:gd name="T6" fmla="*/ 4155 w 7680"/>
                <a:gd name="T7" fmla="*/ 663 h 1645"/>
                <a:gd name="T8" fmla="*/ 2423 w 7680"/>
                <a:gd name="T9" fmla="*/ 986 h 1645"/>
                <a:gd name="T10" fmla="*/ 1268 w 7680"/>
                <a:gd name="T11" fmla="*/ 1282 h 1645"/>
                <a:gd name="T12" fmla="*/ 0 w 7680"/>
                <a:gd name="T13" fmla="*/ 1394 h 1645"/>
                <a:gd name="T14" fmla="*/ 0 w 7680"/>
                <a:gd name="T15" fmla="*/ 1645 h 1645"/>
                <a:gd name="T16" fmla="*/ 7680 w 7680"/>
                <a:gd name="T17" fmla="*/ 1645 h 1645"/>
                <a:gd name="T18" fmla="*/ 7680 w 7680"/>
                <a:gd name="T19" fmla="*/ 377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80" h="1645">
                  <a:moveTo>
                    <a:pt x="7680" y="377"/>
                  </a:moveTo>
                  <a:cubicBezTo>
                    <a:pt x="7569" y="337"/>
                    <a:pt x="7429" y="295"/>
                    <a:pt x="7252" y="250"/>
                  </a:cubicBezTo>
                  <a:cubicBezTo>
                    <a:pt x="6269" y="0"/>
                    <a:pt x="6031" y="1018"/>
                    <a:pt x="5444" y="754"/>
                  </a:cubicBezTo>
                  <a:cubicBezTo>
                    <a:pt x="4857" y="490"/>
                    <a:pt x="4492" y="362"/>
                    <a:pt x="4155" y="663"/>
                  </a:cubicBezTo>
                  <a:cubicBezTo>
                    <a:pt x="3890" y="899"/>
                    <a:pt x="2966" y="1015"/>
                    <a:pt x="2423" y="986"/>
                  </a:cubicBezTo>
                  <a:cubicBezTo>
                    <a:pt x="1880" y="956"/>
                    <a:pt x="1908" y="778"/>
                    <a:pt x="1268" y="1282"/>
                  </a:cubicBezTo>
                  <a:cubicBezTo>
                    <a:pt x="997" y="1495"/>
                    <a:pt x="397" y="1452"/>
                    <a:pt x="0" y="1394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7680" y="1645"/>
                    <a:pt x="7680" y="1645"/>
                    <a:pt x="7680" y="1645"/>
                  </a:cubicBezTo>
                  <a:lnTo>
                    <a:pt x="7680" y="3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任意多边形 22"/>
            <p:cNvSpPr/>
            <p:nvPr userDrawn="1"/>
          </p:nvSpPr>
          <p:spPr bwMode="auto">
            <a:xfrm>
              <a:off x="6800850" y="5589588"/>
              <a:ext cx="5392738" cy="1265238"/>
            </a:xfrm>
            <a:custGeom>
              <a:avLst/>
              <a:gdLst>
                <a:gd name="T0" fmla="*/ 3397 w 3397"/>
                <a:gd name="T1" fmla="*/ 798 h 798"/>
                <a:gd name="T2" fmla="*/ 3397 w 3397"/>
                <a:gd name="T3" fmla="*/ 169 h 798"/>
                <a:gd name="T4" fmla="*/ 3371 w 3397"/>
                <a:gd name="T5" fmla="*/ 150 h 798"/>
                <a:gd name="T6" fmla="*/ 2566 w 3397"/>
                <a:gd name="T7" fmla="*/ 266 h 798"/>
                <a:gd name="T8" fmla="*/ 2388 w 3397"/>
                <a:gd name="T9" fmla="*/ 430 h 798"/>
                <a:gd name="T10" fmla="*/ 1570 w 3397"/>
                <a:gd name="T11" fmla="*/ 262 h 798"/>
                <a:gd name="T12" fmla="*/ 867 w 3397"/>
                <a:gd name="T13" fmla="*/ 532 h 798"/>
                <a:gd name="T14" fmla="*/ 0 w 3397"/>
                <a:gd name="T15" fmla="*/ 798 h 798"/>
                <a:gd name="T16" fmla="*/ 3397 w 3397"/>
                <a:gd name="T17" fmla="*/ 798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97" h="798">
                  <a:moveTo>
                    <a:pt x="3397" y="798"/>
                  </a:moveTo>
                  <a:cubicBezTo>
                    <a:pt x="3397" y="169"/>
                    <a:pt x="3397" y="169"/>
                    <a:pt x="3397" y="169"/>
                  </a:cubicBezTo>
                  <a:cubicBezTo>
                    <a:pt x="3389" y="162"/>
                    <a:pt x="3380" y="156"/>
                    <a:pt x="3371" y="150"/>
                  </a:cubicBezTo>
                  <a:cubicBezTo>
                    <a:pt x="3139" y="0"/>
                    <a:pt x="2450" y="75"/>
                    <a:pt x="2566" y="266"/>
                  </a:cubicBezTo>
                  <a:cubicBezTo>
                    <a:pt x="2682" y="457"/>
                    <a:pt x="2620" y="450"/>
                    <a:pt x="2388" y="430"/>
                  </a:cubicBezTo>
                  <a:cubicBezTo>
                    <a:pt x="2156" y="409"/>
                    <a:pt x="1956" y="247"/>
                    <a:pt x="1570" y="262"/>
                  </a:cubicBezTo>
                  <a:cubicBezTo>
                    <a:pt x="1329" y="272"/>
                    <a:pt x="1740" y="437"/>
                    <a:pt x="867" y="532"/>
                  </a:cubicBezTo>
                  <a:cubicBezTo>
                    <a:pt x="252" y="600"/>
                    <a:pt x="59" y="728"/>
                    <a:pt x="0" y="798"/>
                  </a:cubicBezTo>
                  <a:lnTo>
                    <a:pt x="3397" y="798"/>
                  </a:lnTo>
                  <a:close/>
                </a:path>
              </a:pathLst>
            </a:custGeom>
            <a:solidFill>
              <a:srgbClr val="F6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24" name="图片 23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1513" y="4763"/>
              <a:ext cx="4338638" cy="812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标题 12"/>
          <p:cNvSpPr>
            <a:spLocks noGrp="1"/>
          </p:cNvSpPr>
          <p:nvPr>
            <p:ph type="ctrTitle" hasCustomPrompt="1"/>
          </p:nvPr>
        </p:nvSpPr>
        <p:spPr>
          <a:xfrm>
            <a:off x="4266915" y="2531479"/>
            <a:ext cx="3985202" cy="865136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zh-CN" altLang="en-US" dirty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266915" y="3750870"/>
            <a:ext cx="39852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altLang="zh-CN" dirty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266915" y="4066504"/>
            <a:ext cx="3985202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altLang="zh-CN" dirty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卡片和总结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9144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6736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8128000" y="1524000"/>
            <a:ext cx="3454400" cy="3657600"/>
          </a:xfrm>
          <a:custGeom>
            <a:avLst/>
            <a:gdLst>
              <a:gd name="connisteX0" fmla="*/ 0 w 3454400"/>
              <a:gd name="connsiteY0" fmla="*/ 203200 h 3657600"/>
              <a:gd name="connisteX1" fmla="*/ 203200 w 3454400"/>
              <a:gd name="connsiteY1" fmla="*/ 0 h 3657600"/>
              <a:gd name="connisteX2" fmla="*/ 3251200 w 3454400"/>
              <a:gd name="connsiteY2" fmla="*/ 0 h 3657600"/>
              <a:gd name="connisteX3" fmla="*/ 3454400 w 3454400"/>
              <a:gd name="connsiteY3" fmla="*/ 203200 h 3657600"/>
              <a:gd name="connisteX4" fmla="*/ 3454400 w 3454400"/>
              <a:gd name="connsiteY4" fmla="*/ 3454400 h 3657600"/>
              <a:gd name="connisteX5" fmla="*/ 3251200 w 3454400"/>
              <a:gd name="connsiteY5" fmla="*/ 3657600 h 3657600"/>
              <a:gd name="connisteX6" fmla="*/ 203200 w 3454400"/>
              <a:gd name="connsiteY6" fmla="*/ 3657600 h 3657600"/>
              <a:gd name="connisteX7" fmla="*/ 0 w 3454400"/>
              <a:gd name="connsiteY7" fmla="*/ 3454400 h 3657600"/>
              <a:gd name="connisteX8" fmla="*/ 0 w 3454400"/>
              <a:gd name="connsiteY8" fmla="*/ 203200 h 365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65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454400"/>
                </a:lnTo>
                <a:cubicBezTo>
                  <a:pt x="3454400" y="3566624"/>
                  <a:pt x="3363424" y="3657600"/>
                  <a:pt x="3251200" y="3657600"/>
                </a:cubicBezTo>
                <a:lnTo>
                  <a:pt x="203200" y="3657600"/>
                </a:lnTo>
                <a:cubicBezTo>
                  <a:pt x="90976" y="3657600"/>
                  <a:pt x="0" y="3566624"/>
                  <a:pt x="0" y="3454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311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8432800" y="2870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609600" y="5638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宫格文本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1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1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229600" y="18796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229600" y="24384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441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5" hasCustomPrompt="1"/>
            <p:custDataLst>
              <p:tags r:id="rId12"/>
            </p:custDataLst>
          </p:nvPr>
        </p:nvSpPr>
        <p:spPr>
          <a:xfrm>
            <a:off x="441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8229600" y="4114800"/>
            <a:ext cx="335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8229600" y="4673600"/>
            <a:ext cx="3352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1"/>
            <a:ext cx="10850562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35380"/>
            <a:ext cx="10850562" cy="5008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000250" marR="0" lvl="4" indent="-1714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Fifth level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lang="en-US" altLang="zh-CN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en-US" altLang="zh-CN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en-US" altLang="zh-CN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en-US" altLang="zh-CN" sz="14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0250" marR="0" indent="-17145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en-US" altLang="zh-CN" sz="1200" kern="1200" noProof="0" dirty="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tags" Target="../tags/tag26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1" Type="http://schemas.openxmlformats.org/officeDocument/2006/relationships/slideLayout" Target="../slideLayouts/slideLayout2.xml"/><Relationship Id="rId20" Type="http://schemas.openxmlformats.org/officeDocument/2006/relationships/themeOverride" Target="../theme/themeOverride2.xml"/><Relationship Id="rId2" Type="http://schemas.openxmlformats.org/officeDocument/2006/relationships/tags" Target="../tags/tag28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image" Target="../media/image9.png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3.xml"/><Relationship Id="rId2" Type="http://schemas.openxmlformats.org/officeDocument/2006/relationships/tags" Target="../tags/tag4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4.xml"/><Relationship Id="rId2" Type="http://schemas.openxmlformats.org/officeDocument/2006/relationships/tags" Target="../tags/tag6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0" Type="http://schemas.openxmlformats.org/officeDocument/2006/relationships/slideLayout" Target="../slideLayouts/slideLayout4.xml"/><Relationship Id="rId4" Type="http://schemas.openxmlformats.org/officeDocument/2006/relationships/tags" Target="../tags/tag67.xml"/><Relationship Id="rId39" Type="http://schemas.openxmlformats.org/officeDocument/2006/relationships/tags" Target="../tags/tag99.xml"/><Relationship Id="rId38" Type="http://schemas.openxmlformats.org/officeDocument/2006/relationships/image" Target="../media/image18.png"/><Relationship Id="rId37" Type="http://schemas.openxmlformats.org/officeDocument/2006/relationships/image" Target="../media/image17.png"/><Relationship Id="rId36" Type="http://schemas.openxmlformats.org/officeDocument/2006/relationships/image" Target="../media/image16.png"/><Relationship Id="rId35" Type="http://schemas.openxmlformats.org/officeDocument/2006/relationships/tags" Target="../tags/tag98.xml"/><Relationship Id="rId34" Type="http://schemas.openxmlformats.org/officeDocument/2006/relationships/tags" Target="../tags/tag97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6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02.xml"/><Relationship Id="rId3" Type="http://schemas.openxmlformats.org/officeDocument/2006/relationships/image" Target="../media/image19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5.xml"/><Relationship Id="rId2" Type="http://schemas.openxmlformats.org/officeDocument/2006/relationships/tags" Target="../tags/tag103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9" Type="http://schemas.openxmlformats.org/officeDocument/2006/relationships/slideLayout" Target="../slideLayouts/slideLayout4.xml"/><Relationship Id="rId28" Type="http://schemas.openxmlformats.org/officeDocument/2006/relationships/tags" Target="../tags/tag137.xml"/><Relationship Id="rId27" Type="http://schemas.openxmlformats.org/officeDocument/2006/relationships/tags" Target="../tags/tag136.xml"/><Relationship Id="rId26" Type="http://schemas.openxmlformats.org/officeDocument/2006/relationships/tags" Target="../tags/tag135.xml"/><Relationship Id="rId25" Type="http://schemas.openxmlformats.org/officeDocument/2006/relationships/tags" Target="../tags/tag134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6.xml"/><Relationship Id="rId2" Type="http://schemas.openxmlformats.org/officeDocument/2006/relationships/tags" Target="../tags/tag140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hemeOverride" Target="../theme/themeOverride7.xml"/><Relationship Id="rId2" Type="http://schemas.openxmlformats.org/officeDocument/2006/relationships/tags" Target="../tags/tag148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6.xml"/><Relationship Id="rId4" Type="http://schemas.openxmlformats.org/officeDocument/2006/relationships/themeOverride" Target="../theme/themeOverride8.xml"/><Relationship Id="rId3" Type="http://schemas.openxmlformats.org/officeDocument/2006/relationships/tags" Target="../tags/tag157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350" y="870073"/>
            <a:ext cx="5498947" cy="5632206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83140" y="1571398"/>
            <a:ext cx="5787509" cy="1938020"/>
          </a:xfrm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6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FreeRTOS</a:t>
            </a:r>
            <a:br>
              <a:rPr lang="en-US" altLang="zh-CN" sz="6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6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学习</a:t>
            </a:r>
            <a:r>
              <a:rPr lang="zh-CN" altLang="en-US" sz="6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汇报</a:t>
            </a:r>
            <a:endParaRPr lang="zh-CN" altLang="en-US" sz="60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91698" y="4256550"/>
            <a:ext cx="2913783" cy="312420"/>
          </a:xfrm>
        </p:spPr>
        <p:txBody>
          <a:bodyPr>
            <a:spAutoFit/>
          </a:bodyPr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汇报人：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许浩彬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691698" y="4568912"/>
            <a:ext cx="2913783" cy="312420"/>
          </a:xfrm>
        </p:spPr>
        <p:txBody>
          <a:bodyPr>
            <a:spAutoFit/>
          </a:bodyPr>
          <a:lstStyle/>
          <a:p>
            <a:pPr algn="l"/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汇报时间：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2025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年</a:t>
            </a:r>
            <a:r>
              <a:rPr sz="1600" dirty="0">
                <a:solidFill>
                  <a:schemeClr val="tx1"/>
                </a:solidFill>
                <a:cs typeface="+mn-ea"/>
                <a:sym typeface="+mn-lt"/>
              </a:rPr>
              <a:t>12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月</a:t>
            </a:r>
            <a:r>
              <a:rPr sz="1600" dirty="0">
                <a:solidFill>
                  <a:schemeClr val="tx1"/>
                </a:solidFill>
                <a:cs typeface="+mn-ea"/>
                <a:sym typeface="+mn-lt"/>
              </a:rPr>
              <a:t>25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日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648200" y="4652963"/>
            <a:ext cx="1987550" cy="1219200"/>
            <a:chOff x="4648200" y="4652963"/>
            <a:chExt cx="1987550" cy="1219200"/>
          </a:xfrm>
        </p:grpSpPr>
        <p:sp>
          <p:nvSpPr>
            <p:cNvPr id="4126" name="任意多边形 4125"/>
            <p:cNvSpPr/>
            <p:nvPr/>
          </p:nvSpPr>
          <p:spPr bwMode="auto">
            <a:xfrm>
              <a:off x="4648200" y="4735513"/>
              <a:ext cx="1987550" cy="1136650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27" name="任意多边形 4126"/>
            <p:cNvSpPr/>
            <p:nvPr/>
          </p:nvSpPr>
          <p:spPr bwMode="auto">
            <a:xfrm>
              <a:off x="4662488" y="4652963"/>
              <a:ext cx="1968500" cy="1135063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28" name="任意多边形 4127"/>
            <p:cNvSpPr/>
            <p:nvPr/>
          </p:nvSpPr>
          <p:spPr bwMode="auto">
            <a:xfrm>
              <a:off x="4770438" y="4708526"/>
              <a:ext cx="1757363" cy="1012825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29" name="任意多边形 4128"/>
            <p:cNvSpPr/>
            <p:nvPr/>
          </p:nvSpPr>
          <p:spPr bwMode="auto">
            <a:xfrm>
              <a:off x="5667375" y="4857751"/>
              <a:ext cx="341313" cy="371475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0" name="任意多边形 4129"/>
            <p:cNvSpPr/>
            <p:nvPr/>
          </p:nvSpPr>
          <p:spPr bwMode="auto">
            <a:xfrm>
              <a:off x="5276850" y="5040313"/>
              <a:ext cx="390525" cy="319088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1" name="任意多边形 4130"/>
            <p:cNvSpPr/>
            <p:nvPr/>
          </p:nvSpPr>
          <p:spPr bwMode="auto">
            <a:xfrm>
              <a:off x="5321300" y="5049838"/>
              <a:ext cx="344488" cy="292100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2" name="任意多边形 4131"/>
            <p:cNvSpPr/>
            <p:nvPr/>
          </p:nvSpPr>
          <p:spPr bwMode="auto">
            <a:xfrm>
              <a:off x="5321300" y="5160963"/>
              <a:ext cx="725488" cy="319088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3" name="任意多边形 4132"/>
            <p:cNvSpPr/>
            <p:nvPr/>
          </p:nvSpPr>
          <p:spPr bwMode="auto">
            <a:xfrm>
              <a:off x="5665788" y="4768851"/>
              <a:ext cx="341313" cy="217488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4" name="任意多边形 4133"/>
            <p:cNvSpPr/>
            <p:nvPr/>
          </p:nvSpPr>
          <p:spPr bwMode="auto">
            <a:xfrm>
              <a:off x="5249863" y="4860926"/>
              <a:ext cx="417513" cy="319088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5" name="任意多边形 4134"/>
            <p:cNvSpPr/>
            <p:nvPr/>
          </p:nvSpPr>
          <p:spPr bwMode="auto">
            <a:xfrm>
              <a:off x="5321300" y="5068888"/>
              <a:ext cx="757238" cy="319088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872163" y="2306638"/>
            <a:ext cx="2243138" cy="1693863"/>
            <a:chOff x="5872163" y="2306638"/>
            <a:chExt cx="2243138" cy="1693863"/>
          </a:xfrm>
        </p:grpSpPr>
        <p:sp>
          <p:nvSpPr>
            <p:cNvPr id="4136" name="任意多边形 4135"/>
            <p:cNvSpPr>
              <a:spLocks noEditPoints="1"/>
            </p:cNvSpPr>
            <p:nvPr/>
          </p:nvSpPr>
          <p:spPr bwMode="auto">
            <a:xfrm>
              <a:off x="5872163" y="2819401"/>
              <a:ext cx="2243138" cy="1181100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rgbClr val="FCFCFE">
                <a:alpha val="1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7" name="任意多边形 4136"/>
            <p:cNvSpPr>
              <a:spLocks noEditPoints="1"/>
            </p:cNvSpPr>
            <p:nvPr/>
          </p:nvSpPr>
          <p:spPr bwMode="auto">
            <a:xfrm>
              <a:off x="6164263" y="2971801"/>
              <a:ext cx="1660525" cy="874713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rgbClr val="F9FA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8" name="任意多边形 4137"/>
            <p:cNvSpPr/>
            <p:nvPr/>
          </p:nvSpPr>
          <p:spPr bwMode="auto">
            <a:xfrm>
              <a:off x="6470650" y="3133726"/>
              <a:ext cx="1047750" cy="552450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rgbClr val="F7F8FD">
                <a:alpha val="3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39" name="任意多边形 4138"/>
            <p:cNvSpPr/>
            <p:nvPr/>
          </p:nvSpPr>
          <p:spPr bwMode="auto">
            <a:xfrm>
              <a:off x="6388100" y="2568576"/>
              <a:ext cx="306388" cy="174625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0" name="任意多边形 4139"/>
            <p:cNvSpPr/>
            <p:nvPr/>
          </p:nvSpPr>
          <p:spPr bwMode="auto">
            <a:xfrm>
              <a:off x="6388100" y="2655888"/>
              <a:ext cx="152400" cy="546100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1" name="任意多边形 4140"/>
            <p:cNvSpPr/>
            <p:nvPr/>
          </p:nvSpPr>
          <p:spPr bwMode="auto">
            <a:xfrm>
              <a:off x="6540500" y="2655888"/>
              <a:ext cx="153988" cy="546100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2" name="任意多边形 4141"/>
            <p:cNvSpPr/>
            <p:nvPr/>
          </p:nvSpPr>
          <p:spPr bwMode="auto">
            <a:xfrm>
              <a:off x="6719888" y="2306638"/>
              <a:ext cx="306388" cy="176213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3" name="任意多边形 4142"/>
            <p:cNvSpPr/>
            <p:nvPr/>
          </p:nvSpPr>
          <p:spPr bwMode="auto">
            <a:xfrm>
              <a:off x="6719888" y="2393951"/>
              <a:ext cx="153988" cy="106362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4" name="任意多边形 4143"/>
            <p:cNvSpPr/>
            <p:nvPr/>
          </p:nvSpPr>
          <p:spPr bwMode="auto">
            <a:xfrm>
              <a:off x="6873875" y="2393951"/>
              <a:ext cx="152400" cy="106362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5" name="任意多边形 4144"/>
            <p:cNvSpPr/>
            <p:nvPr/>
          </p:nvSpPr>
          <p:spPr bwMode="auto">
            <a:xfrm>
              <a:off x="7056438" y="2692401"/>
              <a:ext cx="306388" cy="174625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6" name="任意多边形 4145"/>
            <p:cNvSpPr/>
            <p:nvPr/>
          </p:nvSpPr>
          <p:spPr bwMode="auto">
            <a:xfrm>
              <a:off x="7056438" y="2778126"/>
              <a:ext cx="152400" cy="896938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7" name="任意多边形 4146"/>
            <p:cNvSpPr/>
            <p:nvPr/>
          </p:nvSpPr>
          <p:spPr bwMode="auto">
            <a:xfrm>
              <a:off x="7208838" y="2778126"/>
              <a:ext cx="153988" cy="896938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8" name="任意多边形 4147"/>
            <p:cNvSpPr/>
            <p:nvPr/>
          </p:nvSpPr>
          <p:spPr bwMode="auto">
            <a:xfrm>
              <a:off x="7388225" y="3025776"/>
              <a:ext cx="306388" cy="174625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49" name="任意多边形 4148"/>
            <p:cNvSpPr/>
            <p:nvPr/>
          </p:nvSpPr>
          <p:spPr bwMode="auto">
            <a:xfrm>
              <a:off x="7388225" y="3111501"/>
              <a:ext cx="153988" cy="74771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50" name="任意多边形 4149"/>
            <p:cNvSpPr/>
            <p:nvPr/>
          </p:nvSpPr>
          <p:spPr bwMode="auto">
            <a:xfrm>
              <a:off x="7542213" y="3111501"/>
              <a:ext cx="152400" cy="74771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Id2"/>
    </p:custData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>
            <p:custDataLst>
              <p:tags r:id="rId1"/>
            </p:custDataLst>
          </p:nvPr>
        </p:nvGrpSpPr>
        <p:grpSpPr>
          <a:xfrm>
            <a:off x="7114583" y="1076326"/>
            <a:ext cx="3210544" cy="4820270"/>
            <a:chOff x="7259363" y="1040656"/>
            <a:chExt cx="3210544" cy="4820270"/>
          </a:xfrm>
        </p:grpSpPr>
        <p:grpSp>
          <p:nvGrpSpPr>
            <p:cNvPr id="3" name="组合 2"/>
            <p:cNvGrpSpPr/>
            <p:nvPr/>
          </p:nvGrpSpPr>
          <p:grpSpPr>
            <a:xfrm>
              <a:off x="7289827" y="1040656"/>
              <a:ext cx="3180080" cy="911406"/>
              <a:chOff x="6197600" y="930693"/>
              <a:chExt cx="3314224" cy="949851"/>
            </a:xfrm>
          </p:grpSpPr>
          <p:sp>
            <p:nvSpPr>
              <p:cNvPr id="4" name="文本框 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277782" y="930693"/>
                <a:ext cx="1331859" cy="7054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4400" dirty="0">
                    <a:gradFill>
                      <a:gsLst>
                        <a:gs pos="0">
                          <a:schemeClr val="accent1"/>
                        </a:gs>
                        <a:gs pos="84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01</a:t>
                </a:r>
                <a:endParaRPr lang="en-US" altLang="zh-CN" sz="4400" dirty="0">
                  <a:gradFill>
                    <a:gsLst>
                      <a:gs pos="0">
                        <a:schemeClr val="accent1"/>
                      </a:gs>
                      <a:gs pos="84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042039" y="1058642"/>
                <a:ext cx="2469785" cy="415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dist"/>
                <a:r>
                  <a:rPr lang="zh-CN" altLang="en-US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列表和列表</a:t>
                </a:r>
                <a:r>
                  <a:rPr lang="zh-CN" altLang="en-US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项</a:t>
                </a:r>
                <a:endParaRPr lang="zh-CN" altLang="en-US" sz="2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cxnSp>
            <p:nvCxnSpPr>
              <p:cNvPr id="11" name="直接连接符 10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6197600" y="1880544"/>
                <a:ext cx="3314194" cy="0"/>
              </a:xfrm>
              <a:prstGeom prst="line">
                <a:avLst/>
              </a:prstGeom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>
              <a:off x="7289827" y="1952049"/>
              <a:ext cx="3180051" cy="1233350"/>
              <a:chOff x="6197600" y="595168"/>
              <a:chExt cx="3314194" cy="1285376"/>
            </a:xfrm>
          </p:grpSpPr>
          <p:sp>
            <p:nvSpPr>
              <p:cNvPr id="13" name="文本框 1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277782" y="595168"/>
                <a:ext cx="1577946" cy="7054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4400" dirty="0">
                    <a:gradFill>
                      <a:gsLst>
                        <a:gs pos="0">
                          <a:schemeClr val="accent1"/>
                        </a:gs>
                        <a:gs pos="84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02</a:t>
                </a:r>
                <a:endParaRPr lang="zh-CN" altLang="en-US" sz="8000" dirty="0">
                  <a:gradFill>
                    <a:gsLst>
                      <a:gs pos="0">
                        <a:schemeClr val="accent1"/>
                      </a:gs>
                      <a:gs pos="84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042039" y="708776"/>
                <a:ext cx="2185879" cy="395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dist"/>
                <a:r>
                  <a:rPr lang="zh-CN" altLang="en-US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任务</a:t>
                </a:r>
                <a:r>
                  <a:rPr lang="en-US" altLang="zh-CN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API</a:t>
                </a:r>
                <a:r>
                  <a:rPr lang="zh-CN" altLang="en-US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函数</a:t>
                </a:r>
                <a:endParaRPr lang="zh-CN" altLang="en-US" sz="2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cxnSp>
            <p:nvCxnSpPr>
              <p:cNvPr id="18" name="直接连接符 17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197600" y="1880544"/>
                <a:ext cx="3314194" cy="0"/>
              </a:xfrm>
              <a:prstGeom prst="line">
                <a:avLst/>
              </a:prstGeom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7259363" y="2916781"/>
              <a:ext cx="3210516" cy="1710808"/>
              <a:chOff x="6165851" y="315231"/>
              <a:chExt cx="3345944" cy="1782974"/>
            </a:xfrm>
          </p:grpSpPr>
          <p:sp>
            <p:nvSpPr>
              <p:cNvPr id="20" name="文本框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277782" y="315231"/>
                <a:ext cx="1577946" cy="7054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4400" dirty="0">
                    <a:gradFill>
                      <a:gsLst>
                        <a:gs pos="0">
                          <a:schemeClr val="accent1"/>
                        </a:gs>
                        <a:gs pos="84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03</a:t>
                </a:r>
                <a:endParaRPr lang="en-US" altLang="zh-CN" sz="4400" dirty="0">
                  <a:gradFill>
                    <a:gsLst>
                      <a:gs pos="0">
                        <a:schemeClr val="accent1"/>
                      </a:gs>
                      <a:gs pos="84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6165851" y="1882761"/>
                <a:ext cx="3345944" cy="2154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5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24" name="直接连接符 23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6197600" y="1880544"/>
                <a:ext cx="3314194" cy="0"/>
              </a:xfrm>
              <a:prstGeom prst="line">
                <a:avLst/>
              </a:prstGeom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合 24"/>
            <p:cNvGrpSpPr/>
            <p:nvPr/>
          </p:nvGrpSpPr>
          <p:grpSpPr>
            <a:xfrm>
              <a:off x="7259363" y="3875163"/>
              <a:ext cx="3210516" cy="1985763"/>
              <a:chOff x="6165851" y="28678"/>
              <a:chExt cx="3345944" cy="2069527"/>
            </a:xfrm>
          </p:grpSpPr>
          <p:sp>
            <p:nvSpPr>
              <p:cNvPr id="26" name="文本框 2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277782" y="28678"/>
                <a:ext cx="1577946" cy="7054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4400" dirty="0">
                    <a:gradFill>
                      <a:gsLst>
                        <a:gs pos="0">
                          <a:schemeClr val="accent1"/>
                        </a:gs>
                        <a:gs pos="84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04</a:t>
                </a:r>
                <a:endParaRPr lang="en-US" altLang="zh-CN" sz="4400" dirty="0">
                  <a:gradFill>
                    <a:gsLst>
                      <a:gs pos="0">
                        <a:schemeClr val="accent1"/>
                      </a:gs>
                      <a:gs pos="84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65851" y="1882761"/>
                <a:ext cx="3345944" cy="2154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5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文本框 2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042056" y="147799"/>
                <a:ext cx="2128304" cy="4486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dist"/>
                <a:r>
                  <a:rPr lang="zh-CN" altLang="en-US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软件</a:t>
                </a:r>
                <a:r>
                  <a:rPr lang="zh-CN" altLang="en-US" sz="2800" b="1" dirty="0"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2">
                            <a:lumMod val="75000"/>
                          </a:schemeClr>
                        </a:gs>
                      </a:gsLst>
                      <a:lin ang="2400000" scaled="0"/>
                    </a:gradFill>
                    <a:cs typeface="+mn-ea"/>
                    <a:sym typeface="+mn-lt"/>
                  </a:rPr>
                  <a:t>定时器</a:t>
                </a:r>
                <a:endParaRPr lang="zh-CN" altLang="en-US" sz="2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2400000" scaled="0"/>
                  </a:gradFill>
                  <a:cs typeface="+mn-ea"/>
                  <a:sym typeface="+mn-lt"/>
                </a:endParaRPr>
              </a:p>
            </p:txBody>
          </p:sp>
          <p:cxnSp>
            <p:nvCxnSpPr>
              <p:cNvPr id="31" name="直接连接符 3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6197600" y="1880544"/>
                <a:ext cx="3314194" cy="0"/>
              </a:xfrm>
              <a:prstGeom prst="line">
                <a:avLst/>
              </a:prstGeom>
              <a:ln w="95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0" name="图片 39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5639" y="228600"/>
            <a:ext cx="5735004" cy="5695895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5314374" y="4736573"/>
            <a:ext cx="1126623" cy="691091"/>
            <a:chOff x="1746466" y="3978032"/>
            <a:chExt cx="1126623" cy="691091"/>
          </a:xfrm>
        </p:grpSpPr>
        <p:sp>
          <p:nvSpPr>
            <p:cNvPr id="59" name="任意多边形 58"/>
            <p:cNvSpPr/>
            <p:nvPr/>
          </p:nvSpPr>
          <p:spPr bwMode="auto">
            <a:xfrm>
              <a:off x="1746466" y="4024824"/>
              <a:ext cx="1126623" cy="644299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任意多边形 59"/>
            <p:cNvSpPr/>
            <p:nvPr/>
          </p:nvSpPr>
          <p:spPr bwMode="auto">
            <a:xfrm>
              <a:off x="1754565" y="3978032"/>
              <a:ext cx="1115825" cy="643399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任意多边形 60"/>
            <p:cNvSpPr/>
            <p:nvPr/>
          </p:nvSpPr>
          <p:spPr bwMode="auto">
            <a:xfrm>
              <a:off x="1815755" y="4009527"/>
              <a:ext cx="996143" cy="574110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任意多边形 61"/>
            <p:cNvSpPr/>
            <p:nvPr/>
          </p:nvSpPr>
          <p:spPr bwMode="auto">
            <a:xfrm>
              <a:off x="2324175" y="4094113"/>
              <a:ext cx="193470" cy="210567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任意多边形 62"/>
            <p:cNvSpPr/>
            <p:nvPr/>
          </p:nvSpPr>
          <p:spPr bwMode="auto">
            <a:xfrm>
              <a:off x="2102810" y="4197597"/>
              <a:ext cx="221365" cy="180872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任意多边形 63"/>
            <p:cNvSpPr/>
            <p:nvPr/>
          </p:nvSpPr>
          <p:spPr bwMode="auto">
            <a:xfrm>
              <a:off x="2128006" y="4202996"/>
              <a:ext cx="195269" cy="165574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任意多边形 64"/>
            <p:cNvSpPr/>
            <p:nvPr/>
          </p:nvSpPr>
          <p:spPr bwMode="auto">
            <a:xfrm>
              <a:off x="2128006" y="4265986"/>
              <a:ext cx="411235" cy="180872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任意多边形 65"/>
            <p:cNvSpPr/>
            <p:nvPr/>
          </p:nvSpPr>
          <p:spPr bwMode="auto">
            <a:xfrm>
              <a:off x="2323275" y="4043721"/>
              <a:ext cx="193470" cy="123281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任意多边形 66"/>
            <p:cNvSpPr/>
            <p:nvPr/>
          </p:nvSpPr>
          <p:spPr bwMode="auto">
            <a:xfrm>
              <a:off x="2087512" y="4095913"/>
              <a:ext cx="236663" cy="180872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任意多边形 67"/>
            <p:cNvSpPr/>
            <p:nvPr/>
          </p:nvSpPr>
          <p:spPr bwMode="auto">
            <a:xfrm>
              <a:off x="2128006" y="4213794"/>
              <a:ext cx="429233" cy="180872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314374" y="1900091"/>
            <a:ext cx="1271500" cy="960149"/>
            <a:chOff x="2440257" y="2648041"/>
            <a:chExt cx="1271500" cy="960149"/>
          </a:xfrm>
        </p:grpSpPr>
        <p:sp>
          <p:nvSpPr>
            <p:cNvPr id="70" name="任意多边形 69"/>
            <p:cNvSpPr>
              <a:spLocks noEditPoints="1"/>
            </p:cNvSpPr>
            <p:nvPr/>
          </p:nvSpPr>
          <p:spPr bwMode="auto">
            <a:xfrm>
              <a:off x="2440257" y="2938695"/>
              <a:ext cx="1271500" cy="669495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任意多边形 70"/>
            <p:cNvSpPr>
              <a:spLocks noEditPoints="1"/>
            </p:cNvSpPr>
            <p:nvPr/>
          </p:nvSpPr>
          <p:spPr bwMode="auto">
            <a:xfrm>
              <a:off x="2605831" y="3025082"/>
              <a:ext cx="941252" cy="495822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任意多边形 71"/>
            <p:cNvSpPr/>
            <p:nvPr/>
          </p:nvSpPr>
          <p:spPr bwMode="auto">
            <a:xfrm>
              <a:off x="2779504" y="3116867"/>
              <a:ext cx="593907" cy="313151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chemeClr val="bg1">
                <a:lumMod val="65000"/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3" name="任意多边形 72"/>
            <p:cNvSpPr/>
            <p:nvPr/>
          </p:nvSpPr>
          <p:spPr bwMode="auto">
            <a:xfrm>
              <a:off x="2732711" y="2796518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任意多边形 73"/>
            <p:cNvSpPr/>
            <p:nvPr/>
          </p:nvSpPr>
          <p:spPr bwMode="auto">
            <a:xfrm>
              <a:off x="2732711" y="2846010"/>
              <a:ext cx="86386" cy="309551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任意多边形 74"/>
            <p:cNvSpPr/>
            <p:nvPr/>
          </p:nvSpPr>
          <p:spPr bwMode="auto">
            <a:xfrm>
              <a:off x="2819097" y="2846010"/>
              <a:ext cx="87286" cy="309551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任意多边形 75"/>
            <p:cNvSpPr/>
            <p:nvPr/>
          </p:nvSpPr>
          <p:spPr bwMode="auto">
            <a:xfrm>
              <a:off x="2920781" y="2648041"/>
              <a:ext cx="173673" cy="99884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任意多边形 76"/>
            <p:cNvSpPr/>
            <p:nvPr/>
          </p:nvSpPr>
          <p:spPr bwMode="auto">
            <a:xfrm>
              <a:off x="2920781" y="2697533"/>
              <a:ext cx="87286" cy="60290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任意多边形 77"/>
            <p:cNvSpPr/>
            <p:nvPr/>
          </p:nvSpPr>
          <p:spPr bwMode="auto">
            <a:xfrm>
              <a:off x="3008068" y="2697533"/>
              <a:ext cx="86386" cy="60290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任意多边形 78"/>
            <p:cNvSpPr/>
            <p:nvPr/>
          </p:nvSpPr>
          <p:spPr bwMode="auto">
            <a:xfrm>
              <a:off x="3111551" y="2866707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任意多边形 79"/>
            <p:cNvSpPr/>
            <p:nvPr/>
          </p:nvSpPr>
          <p:spPr bwMode="auto">
            <a:xfrm>
              <a:off x="3111551" y="2915299"/>
              <a:ext cx="86386" cy="508420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任意多边形 80"/>
            <p:cNvSpPr/>
            <p:nvPr/>
          </p:nvSpPr>
          <p:spPr bwMode="auto">
            <a:xfrm>
              <a:off x="3197938" y="2915299"/>
              <a:ext cx="87286" cy="508420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任意多边形 81"/>
            <p:cNvSpPr/>
            <p:nvPr/>
          </p:nvSpPr>
          <p:spPr bwMode="auto">
            <a:xfrm>
              <a:off x="3299622" y="3055677"/>
              <a:ext cx="173673" cy="98984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任意多边形 82"/>
            <p:cNvSpPr/>
            <p:nvPr/>
          </p:nvSpPr>
          <p:spPr bwMode="auto">
            <a:xfrm>
              <a:off x="3299622" y="3104269"/>
              <a:ext cx="87286" cy="42383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任意多边形 83"/>
            <p:cNvSpPr/>
            <p:nvPr/>
          </p:nvSpPr>
          <p:spPr bwMode="auto">
            <a:xfrm>
              <a:off x="3386908" y="3104269"/>
              <a:ext cx="86386" cy="42383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16"/>
            </p:custDataLst>
          </p:nvPr>
        </p:nvSpPr>
        <p:spPr>
          <a:xfrm>
            <a:off x="7221983" y="4783456"/>
            <a:ext cx="1277952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400" dirty="0">
                <a:gradFill>
                  <a:gsLst>
                    <a:gs pos="0">
                      <a:schemeClr val="accent1"/>
                    </a:gs>
                    <a:gs pos="84000">
                      <a:schemeClr val="accent2">
                        <a:lumMod val="75000"/>
                      </a:schemeClr>
                    </a:gs>
                  </a:gsLst>
                  <a:lin ang="2400000" scaled="0"/>
                </a:gradFill>
                <a:cs typeface="+mn-ea"/>
                <a:sym typeface="+mn-lt"/>
              </a:rPr>
              <a:t>05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84000">
                    <a:schemeClr val="accent2">
                      <a:lumMod val="75000"/>
                    </a:schemeClr>
                  </a:gs>
                </a:gsLst>
                <a:lin ang="2400000" scaled="0"/>
              </a:gra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955323" y="3075808"/>
            <a:ext cx="2042160" cy="4305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400000" scaled="0"/>
                </a:gradFill>
                <a:cs typeface="+mn-ea"/>
                <a:sym typeface="+mn-lt"/>
              </a:rPr>
              <a:t>队列</a:t>
            </a:r>
            <a:endParaRPr lang="zh-CN" altLang="en-US" sz="2800" b="1" dirty="0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75000"/>
                    </a:schemeClr>
                  </a:gs>
                </a:gsLst>
                <a:lin ang="2400000" scaled="0"/>
              </a:gradFill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8010568" y="4911593"/>
            <a:ext cx="2042160" cy="4305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400000" scaled="0"/>
                </a:gradFill>
                <a:cs typeface="+mn-ea"/>
                <a:sym typeface="+mn-lt"/>
              </a:rPr>
              <a:t>任务</a:t>
            </a:r>
            <a:r>
              <a:rPr lang="zh-CN" altLang="en-US" sz="28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2400000" scaled="0"/>
                </a:gradFill>
                <a:cs typeface="+mn-ea"/>
                <a:sym typeface="+mn-lt"/>
              </a:rPr>
              <a:t>通知</a:t>
            </a:r>
            <a:endParaRPr lang="zh-CN" altLang="en-US" sz="2800" b="1" dirty="0"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75000"/>
                    </a:schemeClr>
                  </a:gs>
                </a:gsLst>
                <a:lin ang="2400000" scaled="0"/>
              </a:gradFill>
              <a:cs typeface="+mn-ea"/>
              <a:sym typeface="+mn-lt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897170" y="3769675"/>
            <a:ext cx="4535055" cy="47815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36A9A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列表和列表项</a:t>
            </a:r>
            <a:endParaRPr lang="zh-CN" altLang="en-US" sz="28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07401" y="3948548"/>
            <a:ext cx="1126623" cy="691091"/>
            <a:chOff x="1746466" y="3978032"/>
            <a:chExt cx="1126623" cy="691091"/>
          </a:xfrm>
        </p:grpSpPr>
        <p:sp>
          <p:nvSpPr>
            <p:cNvPr id="238" name="任意多边形 237"/>
            <p:cNvSpPr/>
            <p:nvPr/>
          </p:nvSpPr>
          <p:spPr bwMode="auto">
            <a:xfrm>
              <a:off x="1746466" y="4024824"/>
              <a:ext cx="1126623" cy="644299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任意多边形 238"/>
            <p:cNvSpPr/>
            <p:nvPr/>
          </p:nvSpPr>
          <p:spPr bwMode="auto">
            <a:xfrm>
              <a:off x="1754565" y="3978032"/>
              <a:ext cx="1115825" cy="643399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任意多边形 239"/>
            <p:cNvSpPr/>
            <p:nvPr/>
          </p:nvSpPr>
          <p:spPr bwMode="auto">
            <a:xfrm>
              <a:off x="1815755" y="4009527"/>
              <a:ext cx="996143" cy="574110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任意多边形 240"/>
            <p:cNvSpPr/>
            <p:nvPr/>
          </p:nvSpPr>
          <p:spPr bwMode="auto">
            <a:xfrm>
              <a:off x="2324175" y="4094113"/>
              <a:ext cx="193470" cy="210567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任意多边形 241"/>
            <p:cNvSpPr/>
            <p:nvPr/>
          </p:nvSpPr>
          <p:spPr bwMode="auto">
            <a:xfrm>
              <a:off x="2102810" y="4197597"/>
              <a:ext cx="221365" cy="180872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任意多边形 242"/>
            <p:cNvSpPr/>
            <p:nvPr/>
          </p:nvSpPr>
          <p:spPr bwMode="auto">
            <a:xfrm>
              <a:off x="2128006" y="4202996"/>
              <a:ext cx="195269" cy="165574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任意多边形 243"/>
            <p:cNvSpPr/>
            <p:nvPr/>
          </p:nvSpPr>
          <p:spPr bwMode="auto">
            <a:xfrm>
              <a:off x="2128006" y="4265986"/>
              <a:ext cx="411235" cy="180872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" name="任意多边形 244"/>
            <p:cNvSpPr/>
            <p:nvPr/>
          </p:nvSpPr>
          <p:spPr bwMode="auto">
            <a:xfrm>
              <a:off x="2323275" y="4043721"/>
              <a:ext cx="193470" cy="123281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6" name="任意多边形 245"/>
            <p:cNvSpPr/>
            <p:nvPr/>
          </p:nvSpPr>
          <p:spPr bwMode="auto">
            <a:xfrm>
              <a:off x="2087512" y="4095913"/>
              <a:ext cx="236663" cy="180872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7" name="任意多边形 246"/>
            <p:cNvSpPr/>
            <p:nvPr/>
          </p:nvSpPr>
          <p:spPr bwMode="auto">
            <a:xfrm>
              <a:off x="2128006" y="4213794"/>
              <a:ext cx="429233" cy="180872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17287" y="2356943"/>
            <a:ext cx="1271500" cy="960149"/>
            <a:chOff x="2440257" y="2648041"/>
            <a:chExt cx="1271500" cy="960149"/>
          </a:xfrm>
        </p:grpSpPr>
        <p:sp>
          <p:nvSpPr>
            <p:cNvPr id="248" name="任意多边形 247"/>
            <p:cNvSpPr>
              <a:spLocks noEditPoints="1"/>
            </p:cNvSpPr>
            <p:nvPr/>
          </p:nvSpPr>
          <p:spPr bwMode="auto">
            <a:xfrm>
              <a:off x="2440257" y="2938695"/>
              <a:ext cx="1271500" cy="669495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9" name="任意多边形 248"/>
            <p:cNvSpPr>
              <a:spLocks noEditPoints="1"/>
            </p:cNvSpPr>
            <p:nvPr/>
          </p:nvSpPr>
          <p:spPr bwMode="auto">
            <a:xfrm>
              <a:off x="2605831" y="3025082"/>
              <a:ext cx="941252" cy="495822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0" name="任意多边形 249"/>
            <p:cNvSpPr/>
            <p:nvPr/>
          </p:nvSpPr>
          <p:spPr bwMode="auto">
            <a:xfrm>
              <a:off x="2779504" y="3116867"/>
              <a:ext cx="593907" cy="313151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chemeClr val="bg1">
                <a:lumMod val="65000"/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1" name="任意多边形 250"/>
            <p:cNvSpPr/>
            <p:nvPr/>
          </p:nvSpPr>
          <p:spPr bwMode="auto">
            <a:xfrm>
              <a:off x="2732711" y="2796518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2" name="任意多边形 251"/>
            <p:cNvSpPr/>
            <p:nvPr/>
          </p:nvSpPr>
          <p:spPr bwMode="auto">
            <a:xfrm>
              <a:off x="2732711" y="2846010"/>
              <a:ext cx="86386" cy="309551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3" name="任意多边形 252"/>
            <p:cNvSpPr/>
            <p:nvPr/>
          </p:nvSpPr>
          <p:spPr bwMode="auto">
            <a:xfrm>
              <a:off x="2819097" y="2846010"/>
              <a:ext cx="87286" cy="309551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4" name="任意多边形 253"/>
            <p:cNvSpPr/>
            <p:nvPr/>
          </p:nvSpPr>
          <p:spPr bwMode="auto">
            <a:xfrm>
              <a:off x="2920781" y="2648041"/>
              <a:ext cx="173673" cy="99884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5" name="任意多边形 254"/>
            <p:cNvSpPr/>
            <p:nvPr/>
          </p:nvSpPr>
          <p:spPr bwMode="auto">
            <a:xfrm>
              <a:off x="2920781" y="2697533"/>
              <a:ext cx="87286" cy="60290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6" name="任意多边形 255"/>
            <p:cNvSpPr/>
            <p:nvPr/>
          </p:nvSpPr>
          <p:spPr bwMode="auto">
            <a:xfrm>
              <a:off x="3008068" y="2697533"/>
              <a:ext cx="86386" cy="60290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7" name="任意多边形 256"/>
            <p:cNvSpPr/>
            <p:nvPr/>
          </p:nvSpPr>
          <p:spPr bwMode="auto">
            <a:xfrm>
              <a:off x="3111551" y="2866707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8" name="任意多边形 257"/>
            <p:cNvSpPr/>
            <p:nvPr/>
          </p:nvSpPr>
          <p:spPr bwMode="auto">
            <a:xfrm>
              <a:off x="3111551" y="2915299"/>
              <a:ext cx="86386" cy="508420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9" name="任意多边形 258"/>
            <p:cNvSpPr/>
            <p:nvPr/>
          </p:nvSpPr>
          <p:spPr bwMode="auto">
            <a:xfrm>
              <a:off x="3197938" y="2915299"/>
              <a:ext cx="87286" cy="508420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0" name="任意多边形 259"/>
            <p:cNvSpPr/>
            <p:nvPr/>
          </p:nvSpPr>
          <p:spPr bwMode="auto">
            <a:xfrm>
              <a:off x="3299622" y="3055677"/>
              <a:ext cx="173673" cy="98984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1" name="任意多边形 260"/>
            <p:cNvSpPr/>
            <p:nvPr/>
          </p:nvSpPr>
          <p:spPr bwMode="auto">
            <a:xfrm>
              <a:off x="3299622" y="3104269"/>
              <a:ext cx="87286" cy="42383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2" name="任意多边形 261"/>
            <p:cNvSpPr/>
            <p:nvPr/>
          </p:nvSpPr>
          <p:spPr bwMode="auto">
            <a:xfrm>
              <a:off x="3386908" y="3104269"/>
              <a:ext cx="86386" cy="42383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465" y="1792528"/>
            <a:ext cx="3404299" cy="349857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60248" y="2378888"/>
            <a:ext cx="15536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  <a:cs typeface="+mn-ea"/>
                <a:sym typeface="+mn-lt"/>
              </a:rPr>
              <a:t>01</a:t>
            </a:r>
            <a:endParaRPr lang="en-US" sz="9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30580" y="470535"/>
            <a:ext cx="4657090" cy="53403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列表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2877220" y="2984171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042160" y="1591310"/>
            <a:ext cx="1677035" cy="1532890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2"/>
            </p:custDataLst>
          </p:nvPr>
        </p:nvSpPr>
        <p:spPr>
          <a:xfrm>
            <a:off x="1419098" y="2984171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3"/>
            </p:custDataLst>
          </p:nvPr>
        </p:nvSpPr>
        <p:spPr>
          <a:xfrm>
            <a:off x="2148159" y="4284816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3099818" y="3486138"/>
            <a:ext cx="848081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列表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42795" y="2149475"/>
            <a:ext cx="16764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uxNumberO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fItems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1692910" y="3344545"/>
            <a:ext cx="72898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pxIndex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2421890" y="4751070"/>
            <a:ext cx="80518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xListEnd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352544" y="3656179"/>
            <a:ext cx="20625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6938137" y="2326781"/>
            <a:ext cx="3776310" cy="1102185"/>
            <a:chOff x="6982597" y="1586133"/>
            <a:chExt cx="3782660" cy="1104038"/>
          </a:xfrm>
        </p:grpSpPr>
        <p:sp>
          <p:nvSpPr>
            <p:cNvPr id="22" name="圆角矩形 21"/>
            <p:cNvSpPr/>
            <p:nvPr>
              <p:custDataLst>
                <p:tags r:id="rId8"/>
              </p:custDataLst>
            </p:nvPr>
          </p:nvSpPr>
          <p:spPr>
            <a:xfrm>
              <a:off x="6982597" y="1586133"/>
              <a:ext cx="3782660" cy="1104038"/>
            </a:xfrm>
            <a:prstGeom prst="roundRect">
              <a:avLst>
                <a:gd name="adj" fmla="val 141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sx="102000" sy="102000" algn="ctr" rotWithShape="0">
                <a:schemeClr val="accent1">
                  <a:lumMod val="90000"/>
                  <a:lumOff val="1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9"/>
              </p:custDataLst>
            </p:nvPr>
          </p:nvSpPr>
          <p:spPr>
            <a:xfrm>
              <a:off x="7290454" y="1649104"/>
              <a:ext cx="3319638" cy="83897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是什么？</a:t>
              </a:r>
              <a:endParaRPr lang="en-US" altLang="zh-CN" sz="1400" b="1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 b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FreeRTOS</a:t>
              </a:r>
              <a:r>
                <a:rPr lang="zh-CN" altLang="en-US" sz="1400" b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的一种数据结构，可看成一个双向循环</a:t>
              </a:r>
              <a:r>
                <a:rPr lang="zh-CN" altLang="en-US" sz="1400" b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链表</a:t>
              </a:r>
              <a:endParaRPr lang="zh-CN" altLang="en-US" sz="1400" b="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24" name="左大括号 23"/>
          <p:cNvSpPr/>
          <p:nvPr/>
        </p:nvSpPr>
        <p:spPr>
          <a:xfrm>
            <a:off x="6548120" y="2249170"/>
            <a:ext cx="173990" cy="2871470"/>
          </a:xfrm>
          <a:prstGeom prst="leftBrace">
            <a:avLst>
              <a:gd name="adj1" fmla="val 136027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462713" y="3603993"/>
            <a:ext cx="109526" cy="1095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>
            <p:custDataLst>
              <p:tags r:id="rId10"/>
            </p:custDataLst>
          </p:nvPr>
        </p:nvGrpSpPr>
        <p:grpSpPr>
          <a:xfrm>
            <a:off x="6932422" y="3853673"/>
            <a:ext cx="3776310" cy="1102185"/>
            <a:chOff x="6976872" y="1647832"/>
            <a:chExt cx="3782660" cy="1104038"/>
          </a:xfrm>
        </p:grpSpPr>
        <p:sp>
          <p:nvSpPr>
            <p:cNvPr id="27" name="圆角矩形 26"/>
            <p:cNvSpPr/>
            <p:nvPr>
              <p:custDataLst>
                <p:tags r:id="rId11"/>
              </p:custDataLst>
            </p:nvPr>
          </p:nvSpPr>
          <p:spPr>
            <a:xfrm>
              <a:off x="6976872" y="1647832"/>
              <a:ext cx="3782660" cy="1104038"/>
            </a:xfrm>
            <a:prstGeom prst="roundRect">
              <a:avLst>
                <a:gd name="adj" fmla="val 141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sx="102000" sy="102000" algn="ctr" rotWithShape="0">
                <a:schemeClr val="accent1">
                  <a:lumMod val="90000"/>
                  <a:lumOff val="1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7208401" y="1649104"/>
              <a:ext cx="3319638" cy="2951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作用</a:t>
              </a:r>
              <a:endParaRPr lang="zh-CN" altLang="en-US" sz="1600" b="1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1473200" y="3604260"/>
            <a:ext cx="120523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记录当前</a:t>
            </a:r>
            <a:r>
              <a:rPr lang="zh-CN" altLang="en-US"/>
              <a:t>列表项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4"/>
            </p:custDataLst>
          </p:nvPr>
        </p:nvSpPr>
        <p:spPr>
          <a:xfrm>
            <a:off x="2148205" y="2400935"/>
            <a:ext cx="150558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列表项</a:t>
            </a:r>
            <a:r>
              <a:rPr lang="zh-CN" altLang="en-US"/>
              <a:t>数量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5"/>
            </p:custDataLst>
          </p:nvPr>
        </p:nvSpPr>
        <p:spPr>
          <a:xfrm>
            <a:off x="2148205" y="5013325"/>
            <a:ext cx="1367155" cy="286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迷你</a:t>
            </a:r>
            <a:r>
              <a:rPr lang="zh-CN" altLang="en-US"/>
              <a:t>列表项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97065" y="4197985"/>
            <a:ext cx="3562350" cy="55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用于任务管理，如就绪任务，阻塞任务，软件定时器等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30468" y="47084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列表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项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2877220" y="2506651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2148159" y="1206006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419098" y="2506651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2148159" y="3807296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3606281" y="3807296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任意多边形 32"/>
          <p:cNvSpPr/>
          <p:nvPr/>
        </p:nvSpPr>
        <p:spPr>
          <a:xfrm>
            <a:off x="3606281" y="1206006"/>
            <a:ext cx="1276615" cy="1440814"/>
          </a:xfrm>
          <a:custGeom>
            <a:avLst/>
            <a:gdLst>
              <a:gd name="connsiteX0" fmla="*/ 908522 w 1623848"/>
              <a:gd name="connsiteY0" fmla="*/ 22821 h 1832708"/>
              <a:gd name="connsiteX1" fmla="*/ 1504446 w 1623848"/>
              <a:gd name="connsiteY1" fmla="*/ 320783 h 1832708"/>
              <a:gd name="connsiteX2" fmla="*/ 1623848 w 1623848"/>
              <a:gd name="connsiteY2" fmla="*/ 513979 h 1832708"/>
              <a:gd name="connsiteX3" fmla="*/ 1623848 w 1623848"/>
              <a:gd name="connsiteY3" fmla="*/ 1318729 h 1832708"/>
              <a:gd name="connsiteX4" fmla="*/ 1504446 w 1623848"/>
              <a:gd name="connsiteY4" fmla="*/ 1511925 h 1832708"/>
              <a:gd name="connsiteX5" fmla="*/ 908522 w 1623848"/>
              <a:gd name="connsiteY5" fmla="*/ 1809887 h 1832708"/>
              <a:gd name="connsiteX6" fmla="*/ 715326 w 1623848"/>
              <a:gd name="connsiteY6" fmla="*/ 1809887 h 1832708"/>
              <a:gd name="connsiteX7" fmla="*/ 119402 w 1623848"/>
              <a:gd name="connsiteY7" fmla="*/ 1511925 h 1832708"/>
              <a:gd name="connsiteX8" fmla="*/ 0 w 1623848"/>
              <a:gd name="connsiteY8" fmla="*/ 1318729 h 1832708"/>
              <a:gd name="connsiteX9" fmla="*/ 0 w 1623848"/>
              <a:gd name="connsiteY9" fmla="*/ 513979 h 1832708"/>
              <a:gd name="connsiteX10" fmla="*/ 119402 w 1623848"/>
              <a:gd name="connsiteY10" fmla="*/ 320783 h 1832708"/>
              <a:gd name="connsiteX11" fmla="*/ 715326 w 1623848"/>
              <a:gd name="connsiteY11" fmla="*/ 22821 h 1832708"/>
              <a:gd name="connsiteX12" fmla="*/ 908522 w 1623848"/>
              <a:gd name="connsiteY12" fmla="*/ 22821 h 1832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3848" h="1832708">
                <a:moveTo>
                  <a:pt x="908522" y="22821"/>
                </a:moveTo>
                <a:lnTo>
                  <a:pt x="1504446" y="320783"/>
                </a:lnTo>
                <a:cubicBezTo>
                  <a:pt x="1577639" y="357380"/>
                  <a:pt x="1623848" y="432147"/>
                  <a:pt x="1623848" y="513979"/>
                </a:cubicBezTo>
                <a:lnTo>
                  <a:pt x="1623848" y="1318729"/>
                </a:lnTo>
                <a:cubicBezTo>
                  <a:pt x="1623848" y="1400561"/>
                  <a:pt x="1577639" y="1475329"/>
                  <a:pt x="1504446" y="1511925"/>
                </a:cubicBezTo>
                <a:lnTo>
                  <a:pt x="908522" y="1809887"/>
                </a:lnTo>
                <a:cubicBezTo>
                  <a:pt x="847665" y="1840316"/>
                  <a:pt x="776183" y="1840316"/>
                  <a:pt x="715326" y="1809887"/>
                </a:cubicBezTo>
                <a:lnTo>
                  <a:pt x="119402" y="1511925"/>
                </a:lnTo>
                <a:cubicBezTo>
                  <a:pt x="46208" y="1475329"/>
                  <a:pt x="0" y="1400561"/>
                  <a:pt x="0" y="1318729"/>
                </a:cubicBezTo>
                <a:lnTo>
                  <a:pt x="0" y="513979"/>
                </a:lnTo>
                <a:cubicBezTo>
                  <a:pt x="0" y="432147"/>
                  <a:pt x="46208" y="357380"/>
                  <a:pt x="119402" y="320783"/>
                </a:cubicBezTo>
                <a:lnTo>
                  <a:pt x="715326" y="22821"/>
                </a:lnTo>
                <a:cubicBezTo>
                  <a:pt x="776183" y="-7607"/>
                  <a:pt x="847665" y="-7607"/>
                  <a:pt x="908522" y="22821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987675" y="3008630"/>
            <a:ext cx="104203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列表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项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468436" y="1557689"/>
            <a:ext cx="6360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pxNext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794760" y="1671955"/>
            <a:ext cx="100584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xItemValue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548130" y="2887345"/>
            <a:ext cx="101854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pxPrevious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314575" y="4217035"/>
            <a:ext cx="944245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pvOwner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1885" y="4217035"/>
            <a:ext cx="114808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pvContainer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4352544" y="3178659"/>
            <a:ext cx="20625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左大括号 43"/>
          <p:cNvSpPr/>
          <p:nvPr/>
        </p:nvSpPr>
        <p:spPr>
          <a:xfrm>
            <a:off x="6579235" y="2022475"/>
            <a:ext cx="173990" cy="2317750"/>
          </a:xfrm>
          <a:prstGeom prst="leftBrace">
            <a:avLst>
              <a:gd name="adj1" fmla="val 136027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462713" y="3126473"/>
            <a:ext cx="109526" cy="1095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844030" y="2236470"/>
            <a:ext cx="3349625" cy="840740"/>
            <a:chOff x="6976872" y="1508533"/>
            <a:chExt cx="3782660" cy="1104038"/>
          </a:xfrm>
        </p:grpSpPr>
        <p:sp>
          <p:nvSpPr>
            <p:cNvPr id="47" name="圆角矩形 46"/>
            <p:cNvSpPr/>
            <p:nvPr/>
          </p:nvSpPr>
          <p:spPr>
            <a:xfrm>
              <a:off x="6976872" y="1508533"/>
              <a:ext cx="3782660" cy="1104038"/>
            </a:xfrm>
            <a:prstGeom prst="roundRect">
              <a:avLst>
                <a:gd name="adj" fmla="val 141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190500" sx="102000" sy="102000" algn="ctr" rotWithShape="0">
                <a:schemeClr val="accent1">
                  <a:lumMod val="90000"/>
                  <a:lumOff val="1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253080" y="1546848"/>
              <a:ext cx="3319574" cy="10656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是什么？</a:t>
              </a:r>
              <a:endParaRPr lang="zh-CN" altLang="en-US" sz="1600" b="1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00" b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存放再列表中的项目，可看作双向链表的每一个</a:t>
              </a:r>
              <a:r>
                <a:rPr lang="zh-CN" altLang="en-US" sz="1400" b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节点</a:t>
              </a:r>
              <a:endParaRPr lang="zh-CN" altLang="en-US" sz="1400" b="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</p:grpSp>
      <p:sp>
        <p:nvSpPr>
          <p:cNvPr id="50" name="圆角矩形 49"/>
          <p:cNvSpPr/>
          <p:nvPr/>
        </p:nvSpPr>
        <p:spPr>
          <a:xfrm>
            <a:off x="6917055" y="3332480"/>
            <a:ext cx="3129280" cy="894080"/>
          </a:xfrm>
          <a:prstGeom prst="roundRect">
            <a:avLst>
              <a:gd name="adj" fmla="val 14171"/>
            </a:avLst>
          </a:prstGeom>
          <a:solidFill>
            <a:schemeClr val="accent1"/>
          </a:solidFill>
          <a:ln>
            <a:noFill/>
          </a:ln>
          <a:effectLst>
            <a:outerShdw blurRad="190500" sx="102000" sy="102000" algn="ctr" rotWithShape="0">
              <a:schemeClr val="accent1">
                <a:lumMod val="90000"/>
                <a:lumOff val="1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606165" y="1917700"/>
            <a:ext cx="1351915" cy="318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列表项的</a:t>
            </a:r>
            <a:r>
              <a:rPr lang="zh-CN" altLang="en-US"/>
              <a:t>值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216785" y="1824990"/>
            <a:ext cx="1207770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指向下一个</a:t>
            </a:r>
            <a:r>
              <a:rPr lang="zh-CN" altLang="en-US"/>
              <a:t>列表项</a:t>
            </a:r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537335" y="3126740"/>
            <a:ext cx="1102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指向前一个</a:t>
            </a:r>
            <a:r>
              <a:rPr lang="zh-CN" altLang="en-US"/>
              <a:t>列表项</a:t>
            </a:r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2216150" y="4468495"/>
            <a:ext cx="1109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指向绑定的</a:t>
            </a:r>
            <a:r>
              <a:rPr lang="zh-CN" altLang="en-US"/>
              <a:t>对象</a:t>
            </a:r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3651885" y="4468495"/>
            <a:ext cx="1159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确定归属</a:t>
            </a:r>
            <a:r>
              <a:rPr lang="zh-CN" altLang="en-US"/>
              <a:t>列表</a:t>
            </a:r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7049248" y="3377532"/>
            <a:ext cx="2939553" cy="811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effectLst/>
                <a:cs typeface="+mn-ea"/>
                <a:sym typeface="+mn-lt"/>
              </a:rPr>
              <a:t>作用</a:t>
            </a:r>
            <a:endParaRPr lang="zh-CN" altLang="en-US" sz="1600" b="1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1400" b="0" dirty="0">
                <a:solidFill>
                  <a:schemeClr val="bg1"/>
                </a:solidFill>
                <a:effectLst/>
                <a:cs typeface="+mn-ea"/>
                <a:sym typeface="+mn-lt"/>
              </a:rPr>
              <a:t>绑定具体的内核对象，通常是任务的</a:t>
            </a:r>
            <a:r>
              <a:rPr lang="en-US" altLang="zh-CN" sz="1400" b="0" dirty="0">
                <a:solidFill>
                  <a:schemeClr val="bg1"/>
                </a:solidFill>
                <a:effectLst/>
                <a:cs typeface="+mn-ea"/>
                <a:sym typeface="+mn-lt"/>
              </a:rPr>
              <a:t>TCB</a:t>
            </a:r>
            <a:r>
              <a:rPr lang="zh-CN" altLang="en-US" sz="1400" b="0" dirty="0">
                <a:solidFill>
                  <a:schemeClr val="bg1"/>
                </a:solidFill>
                <a:effectLst/>
                <a:cs typeface="+mn-ea"/>
                <a:sym typeface="+mn-lt"/>
              </a:rPr>
              <a:t>块</a:t>
            </a:r>
            <a:endParaRPr lang="zh-CN" altLang="en-US" sz="1400" b="0" dirty="0"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94080" y="5501005"/>
            <a:ext cx="101244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迷你列表项：迷你列表项比列表项少了</a:t>
            </a:r>
            <a:r>
              <a:rPr lang="en-US" altLang="zh-CN" sz="2000"/>
              <a:t>pvOwner</a:t>
            </a:r>
            <a:r>
              <a:rPr lang="zh-CN" altLang="en-US" sz="2000"/>
              <a:t>、</a:t>
            </a:r>
            <a:r>
              <a:rPr lang="en-US" altLang="zh-CN" sz="2000"/>
              <a:t>pvContainer</a:t>
            </a:r>
            <a:r>
              <a:rPr lang="zh-CN" altLang="en-US" sz="2000"/>
              <a:t>两个成员，当不需要使用过多功能时，可使用迷你列表项来节约空间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0468" y="47084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b="1" dirty="0">
                <a:latin typeface="+mn-lt"/>
                <a:ea typeface="+mn-ea"/>
                <a:cs typeface="+mn-ea"/>
                <a:sym typeface="+mn-lt"/>
              </a:rPr>
              <a:t>API</a:t>
            </a:r>
            <a:endParaRPr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 rot="516705">
            <a:off x="4047788" y="3157296"/>
            <a:ext cx="3587869" cy="1575510"/>
          </a:xfrm>
          <a:prstGeom prst="ellipse">
            <a:avLst/>
          </a:prstGeom>
          <a:noFill/>
          <a:ln>
            <a:gradFill>
              <a:gsLst>
                <a:gs pos="30000">
                  <a:schemeClr val="accent1">
                    <a:alpha val="0"/>
                  </a:schemeClr>
                </a:gs>
                <a:gs pos="100000">
                  <a:schemeClr val="accent1">
                    <a:alpha val="6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231957" y="1650481"/>
            <a:ext cx="3400425" cy="3400425"/>
          </a:xfrm>
          <a:prstGeom prst="ellipse">
            <a:avLst/>
          </a:prstGeom>
          <a:gradFill flip="none" rotWithShape="1">
            <a:gsLst>
              <a:gs pos="99000">
                <a:schemeClr val="accent1">
                  <a:alpha val="10000"/>
                </a:schemeClr>
              </a:gs>
              <a:gs pos="78000">
                <a:schemeClr val="accent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7433119" y="1685342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63510" y="2183765"/>
            <a:ext cx="2758440" cy="441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列表项插入，此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API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会根据列表项中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xItemValue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的值进行升序插入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71854" y="1767991"/>
            <a:ext cx="132524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vListInsert()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15195" y="2079042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7433119" y="4679874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63510" y="5203190"/>
            <a:ext cx="2833370" cy="4419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列表项插入，此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API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会根据列表的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pxIndex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指向的位置，将列表项插入其前驱位置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24814" y="4779668"/>
            <a:ext cx="177673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vListInsertEnd()</a:t>
            </a:r>
            <a:endParaRPr lang="zh-CN" altLang="en-US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848850" y="5121834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平行四边形 18"/>
          <p:cNvSpPr/>
          <p:nvPr/>
        </p:nvSpPr>
        <p:spPr>
          <a:xfrm flipH="1">
            <a:off x="1198233" y="1298627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 flipH="1">
            <a:off x="1696085" y="1659255"/>
            <a:ext cx="2446655" cy="5480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列表初始化（包括一个迷你列表项），由于初始化时没有其他列表项，故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pxIndex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指向迷你列表项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 flipH="1">
            <a:off x="1696439" y="1298726"/>
            <a:ext cx="177736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vListInitialise(</a:t>
            </a:r>
            <a:r>
              <a:rPr lang="zh-CN" altLang="en-US" sz="2000" dirty="0">
                <a:solidFill>
                  <a:schemeClr val="accent1"/>
                </a:solidFill>
                <a:cs typeface="+mn-ea"/>
                <a:sym typeface="+mn-lt"/>
              </a:rPr>
              <a:t>）</a:t>
            </a:r>
            <a:endParaRPr lang="zh-CN" altLang="en-US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 flipH="1">
            <a:off x="1696073" y="1605967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 flipH="1">
            <a:off x="890846" y="3350883"/>
            <a:ext cx="258352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列表项初始化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 flipH="1">
            <a:off x="890846" y="2935057"/>
            <a:ext cx="21012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vListInitialiseItem()</a:t>
            </a:r>
            <a:endParaRPr lang="zh-CN" altLang="en-US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 flipH="1">
            <a:off x="906355" y="3281033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平行四边形 26"/>
          <p:cNvSpPr/>
          <p:nvPr/>
        </p:nvSpPr>
        <p:spPr>
          <a:xfrm flipH="1">
            <a:off x="1198233" y="4293159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 flipH="1">
            <a:off x="1719299" y="4763059"/>
            <a:ext cx="258352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删除指定列表项，但不会释放内存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 flipH="1">
            <a:off x="1719299" y="4356758"/>
            <a:ext cx="177673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uxListRemove()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 flipH="1">
            <a:off x="1734808" y="4663999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3978910" y="2897505"/>
            <a:ext cx="3950335" cy="108648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cs typeface="+mn-ea"/>
                <a:sym typeface="+mn-lt"/>
              </a:rPr>
              <a:t>列表和列表项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dirty="0">
                <a:solidFill>
                  <a:schemeClr val="accent1"/>
                </a:solidFill>
                <a:cs typeface="+mn-ea"/>
                <a:sym typeface="+mn-lt"/>
              </a:rPr>
              <a:t>API</a:t>
            </a:r>
            <a:endParaRPr lang="en-US" altLang="zh-CN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3996461" y="3767148"/>
            <a:ext cx="145370" cy="145370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969254" y="4801158"/>
            <a:ext cx="254972" cy="254972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 rot="21194436">
            <a:off x="3763135" y="2850547"/>
            <a:ext cx="4314670" cy="1894664"/>
          </a:xfrm>
          <a:prstGeom prst="ellipse">
            <a:avLst/>
          </a:prstGeom>
          <a:noFill/>
          <a:ln>
            <a:gradFill>
              <a:gsLst>
                <a:gs pos="30000">
                  <a:schemeClr val="accent1">
                    <a:alpha val="0"/>
                  </a:schemeClr>
                </a:gs>
                <a:gs pos="100000">
                  <a:schemeClr val="accent1">
                    <a:alpha val="6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6520" y="5855970"/>
            <a:ext cx="9967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listGET_OWNER_OF_NEXT_ENTRY()</a:t>
            </a:r>
            <a:r>
              <a:rPr lang="zh-CN" altLang="en-US"/>
              <a:t>：遍历</a:t>
            </a:r>
            <a:r>
              <a:rPr lang="zh-CN" altLang="en-US"/>
              <a:t>列表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67273" y="42639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实验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4035" y="250190"/>
            <a:ext cx="2921635" cy="60604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85" y="1519555"/>
            <a:ext cx="7081520" cy="3415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94335" y="3856355"/>
            <a:ext cx="6927850" cy="2599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305" y="1066165"/>
            <a:ext cx="3063240" cy="4551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35" y="1066165"/>
            <a:ext cx="6927850" cy="2599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7273" y="42639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实验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888915" y="3741735"/>
            <a:ext cx="4535055" cy="53403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36A9A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任务</a:t>
            </a:r>
            <a:r>
              <a:rPr lang="en-US" altLang="zh-CN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API</a:t>
            </a:r>
            <a:r>
              <a:rPr lang="zh-CN" altLang="en-US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函数</a:t>
            </a:r>
            <a:endParaRPr lang="zh-CN" altLang="en-US" sz="32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07401" y="3948548"/>
            <a:ext cx="1126623" cy="691091"/>
            <a:chOff x="1746466" y="3978032"/>
            <a:chExt cx="1126623" cy="691091"/>
          </a:xfrm>
        </p:grpSpPr>
        <p:sp>
          <p:nvSpPr>
            <p:cNvPr id="238" name="任意多边形 237"/>
            <p:cNvSpPr/>
            <p:nvPr/>
          </p:nvSpPr>
          <p:spPr bwMode="auto">
            <a:xfrm>
              <a:off x="1746466" y="4024824"/>
              <a:ext cx="1126623" cy="644299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任意多边形 238"/>
            <p:cNvSpPr/>
            <p:nvPr/>
          </p:nvSpPr>
          <p:spPr bwMode="auto">
            <a:xfrm>
              <a:off x="1754565" y="3978032"/>
              <a:ext cx="1115825" cy="643399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任意多边形 239"/>
            <p:cNvSpPr/>
            <p:nvPr/>
          </p:nvSpPr>
          <p:spPr bwMode="auto">
            <a:xfrm>
              <a:off x="1815755" y="4009527"/>
              <a:ext cx="996143" cy="574110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任意多边形 240"/>
            <p:cNvSpPr/>
            <p:nvPr/>
          </p:nvSpPr>
          <p:spPr bwMode="auto">
            <a:xfrm>
              <a:off x="2324175" y="4094113"/>
              <a:ext cx="193470" cy="210567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任意多边形 241"/>
            <p:cNvSpPr/>
            <p:nvPr/>
          </p:nvSpPr>
          <p:spPr bwMode="auto">
            <a:xfrm>
              <a:off x="2102810" y="4197597"/>
              <a:ext cx="221365" cy="180872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任意多边形 242"/>
            <p:cNvSpPr/>
            <p:nvPr/>
          </p:nvSpPr>
          <p:spPr bwMode="auto">
            <a:xfrm>
              <a:off x="2128006" y="4202996"/>
              <a:ext cx="195269" cy="165574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任意多边形 243"/>
            <p:cNvSpPr/>
            <p:nvPr/>
          </p:nvSpPr>
          <p:spPr bwMode="auto">
            <a:xfrm>
              <a:off x="2128006" y="4265986"/>
              <a:ext cx="411235" cy="180872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" name="任意多边形 244"/>
            <p:cNvSpPr/>
            <p:nvPr/>
          </p:nvSpPr>
          <p:spPr bwMode="auto">
            <a:xfrm>
              <a:off x="2323275" y="4043721"/>
              <a:ext cx="193470" cy="123281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6" name="任意多边形 245"/>
            <p:cNvSpPr/>
            <p:nvPr/>
          </p:nvSpPr>
          <p:spPr bwMode="auto">
            <a:xfrm>
              <a:off x="2087512" y="4095913"/>
              <a:ext cx="236663" cy="180872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7" name="任意多边形 246"/>
            <p:cNvSpPr/>
            <p:nvPr/>
          </p:nvSpPr>
          <p:spPr bwMode="auto">
            <a:xfrm>
              <a:off x="2128006" y="4213794"/>
              <a:ext cx="429233" cy="180872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17287" y="2356943"/>
            <a:ext cx="1271500" cy="960149"/>
            <a:chOff x="2440257" y="2648041"/>
            <a:chExt cx="1271500" cy="960149"/>
          </a:xfrm>
        </p:grpSpPr>
        <p:sp>
          <p:nvSpPr>
            <p:cNvPr id="248" name="任意多边形 247"/>
            <p:cNvSpPr>
              <a:spLocks noEditPoints="1"/>
            </p:cNvSpPr>
            <p:nvPr/>
          </p:nvSpPr>
          <p:spPr bwMode="auto">
            <a:xfrm>
              <a:off x="2440257" y="2938695"/>
              <a:ext cx="1271500" cy="669495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9" name="任意多边形 248"/>
            <p:cNvSpPr>
              <a:spLocks noEditPoints="1"/>
            </p:cNvSpPr>
            <p:nvPr/>
          </p:nvSpPr>
          <p:spPr bwMode="auto">
            <a:xfrm>
              <a:off x="2605831" y="3025082"/>
              <a:ext cx="941252" cy="495822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0" name="任意多边形 249"/>
            <p:cNvSpPr/>
            <p:nvPr/>
          </p:nvSpPr>
          <p:spPr bwMode="auto">
            <a:xfrm>
              <a:off x="2779504" y="3116867"/>
              <a:ext cx="593907" cy="313151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chemeClr val="bg1">
                <a:lumMod val="65000"/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1" name="任意多边形 250"/>
            <p:cNvSpPr/>
            <p:nvPr/>
          </p:nvSpPr>
          <p:spPr bwMode="auto">
            <a:xfrm>
              <a:off x="2732711" y="2796518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2" name="任意多边形 251"/>
            <p:cNvSpPr/>
            <p:nvPr/>
          </p:nvSpPr>
          <p:spPr bwMode="auto">
            <a:xfrm>
              <a:off x="2732711" y="2846010"/>
              <a:ext cx="86386" cy="309551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3" name="任意多边形 252"/>
            <p:cNvSpPr/>
            <p:nvPr/>
          </p:nvSpPr>
          <p:spPr bwMode="auto">
            <a:xfrm>
              <a:off x="2819097" y="2846010"/>
              <a:ext cx="87286" cy="309551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4" name="任意多边形 253"/>
            <p:cNvSpPr/>
            <p:nvPr/>
          </p:nvSpPr>
          <p:spPr bwMode="auto">
            <a:xfrm>
              <a:off x="2920781" y="2648041"/>
              <a:ext cx="173673" cy="99884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5" name="任意多边形 254"/>
            <p:cNvSpPr/>
            <p:nvPr/>
          </p:nvSpPr>
          <p:spPr bwMode="auto">
            <a:xfrm>
              <a:off x="2920781" y="2697533"/>
              <a:ext cx="87286" cy="60290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6" name="任意多边形 255"/>
            <p:cNvSpPr/>
            <p:nvPr/>
          </p:nvSpPr>
          <p:spPr bwMode="auto">
            <a:xfrm>
              <a:off x="3008068" y="2697533"/>
              <a:ext cx="86386" cy="60290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7" name="任意多边形 256"/>
            <p:cNvSpPr/>
            <p:nvPr/>
          </p:nvSpPr>
          <p:spPr bwMode="auto">
            <a:xfrm>
              <a:off x="3111551" y="2866707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8" name="任意多边形 257"/>
            <p:cNvSpPr/>
            <p:nvPr/>
          </p:nvSpPr>
          <p:spPr bwMode="auto">
            <a:xfrm>
              <a:off x="3111551" y="2915299"/>
              <a:ext cx="86386" cy="508420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9" name="任意多边形 258"/>
            <p:cNvSpPr/>
            <p:nvPr/>
          </p:nvSpPr>
          <p:spPr bwMode="auto">
            <a:xfrm>
              <a:off x="3197938" y="2915299"/>
              <a:ext cx="87286" cy="508420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0" name="任意多边形 259"/>
            <p:cNvSpPr/>
            <p:nvPr/>
          </p:nvSpPr>
          <p:spPr bwMode="auto">
            <a:xfrm>
              <a:off x="3299622" y="3055677"/>
              <a:ext cx="173673" cy="98984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1" name="任意多边形 260"/>
            <p:cNvSpPr/>
            <p:nvPr/>
          </p:nvSpPr>
          <p:spPr bwMode="auto">
            <a:xfrm>
              <a:off x="3299622" y="3104269"/>
              <a:ext cx="87286" cy="42383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2" name="任意多边形 261"/>
            <p:cNvSpPr/>
            <p:nvPr/>
          </p:nvSpPr>
          <p:spPr bwMode="auto">
            <a:xfrm>
              <a:off x="3386908" y="3104269"/>
              <a:ext cx="86386" cy="42383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465" y="1792528"/>
            <a:ext cx="3404299" cy="349857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60248" y="2378888"/>
            <a:ext cx="15392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  <a:cs typeface="+mn-ea"/>
                <a:sym typeface="+mn-lt"/>
              </a:rPr>
              <a:t>02</a:t>
            </a:r>
            <a:endParaRPr lang="en-US" sz="9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0" y="1152525"/>
          <a:ext cx="1215771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280"/>
                <a:gridCol w="2471420"/>
                <a:gridCol w="3439160"/>
                <a:gridCol w="273685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API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API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uxTaskPriorityGet()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查询某个</a:t>
                      </a:r>
                      <a:r>
                        <a:rPr lang="zh-CN" altLang="en-US"/>
                        <a:t>的任务</a:t>
                      </a:r>
                      <a:r>
                        <a:rPr lang="zh-CN" altLang="en-US"/>
                        <a:t>优先级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pcTaskGetName()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获取某个任务的任务</a:t>
                      </a:r>
                      <a:r>
                        <a:rPr lang="zh-CN" altLang="en-US"/>
                        <a:t>名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vTaskPrioritySet()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改变某个</a:t>
                      </a:r>
                      <a:r>
                        <a:rPr lang="zh-CN" altLang="en-US"/>
                        <a:t>的任务</a:t>
                      </a:r>
                      <a:r>
                        <a:rPr lang="zh-CN" altLang="en-US"/>
                        <a:t>优先级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xTaskGetTickCount()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获取系统时间计数器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uxTaskGetSystemState()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获取系统中任务</a:t>
                      </a:r>
                      <a:r>
                        <a:rPr lang="zh-CN" altLang="en-US"/>
                        <a:t>的状态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xTaskGetTickCountFromISR()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在中断中获取时间计数器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vTaskGetInfo()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获取某任务</a:t>
                      </a:r>
                      <a:r>
                        <a:rPr lang="zh-CN" altLang="en-US"/>
                        <a:t>信息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xTaskGetSchedulerState()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获取任务调度器的</a:t>
                      </a:r>
                      <a:r>
                        <a:rPr lang="zh-CN" altLang="en-US"/>
                        <a:t>状态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xTaskGetApplicationTaskTag()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获取某任务标签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uxTaskGetNumberOfTasks()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获取系统中存在的任务</a:t>
                      </a:r>
                      <a:r>
                        <a:rPr lang="zh-CN" altLang="en-US"/>
                        <a:t>数量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xTaskGetCurrentTaskHandle()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获取正在运行的任务的</a:t>
                      </a:r>
                      <a:r>
                        <a:rPr lang="zh-CN" altLang="en-US"/>
                        <a:t>句柄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vTaskGetRunTimeStats()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获取每个任务的运行</a:t>
                      </a:r>
                      <a:r>
                        <a:rPr lang="zh-CN" altLang="en-US"/>
                        <a:t>时间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xTaskGetHandle()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根据任务名获取该任务的</a:t>
                      </a:r>
                      <a:r>
                        <a:rPr lang="zh-CN" altLang="en-US"/>
                        <a:t>句柄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vTaskSetApplicationTaskTag()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设置任务标签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xTaskGetIdleTaskHandle()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获取空闲任务的</a:t>
                      </a:r>
                      <a:r>
                        <a:rPr lang="zh-CN" altLang="en-US"/>
                        <a:t>句柄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SetThreadLocalStoragePointer()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设置线程本地储存</a:t>
                      </a:r>
                      <a:r>
                        <a:rPr lang="zh-CN" altLang="en-US"/>
                        <a:t>指针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eTaskGetState()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获取某个任务的</a:t>
                      </a:r>
                      <a:r>
                        <a:rPr lang="zh-CN" altLang="en-US"/>
                        <a:t>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GetThreadLocalStoragePointer()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获取线程本地</a:t>
                      </a:r>
                      <a:r>
                        <a:rPr lang="zh-CN" altLang="en-US"/>
                        <a:t>指针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uxTaskGetStackHighWaterMark()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获取任务的堆栈的历史剩余最小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vTaskList()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以表格形式输出当前系统中所有任务的详细</a:t>
                      </a:r>
                      <a:r>
                        <a:rPr lang="zh-CN" altLang="en-US"/>
                        <a:t>信息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25058" y="39718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API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5" y="465455"/>
            <a:ext cx="3986530" cy="563245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chemeClr val="accent4"/>
                </a:solidFill>
              </a:rPr>
              <a:t>实验一：任务状态</a:t>
            </a:r>
            <a:r>
              <a:rPr lang="zh-CN" altLang="en-US">
                <a:solidFill>
                  <a:schemeClr val="accent4"/>
                </a:solidFill>
              </a:rPr>
              <a:t>查询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023974" y="1693109"/>
            <a:ext cx="1898730" cy="2833067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Shape 501"/>
          <p:cNvSpPr/>
          <p:nvPr>
            <p:custDataLst>
              <p:tags r:id="rId3"/>
            </p:custDataLst>
          </p:nvPr>
        </p:nvSpPr>
        <p:spPr>
          <a:xfrm>
            <a:off x="6613978" y="1310227"/>
            <a:ext cx="718721" cy="720028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81" name="直接连接符 180"/>
          <p:cNvCxnSpPr/>
          <p:nvPr>
            <p:custDataLst>
              <p:tags r:id="rId4"/>
            </p:custDataLst>
          </p:nvPr>
        </p:nvCxnSpPr>
        <p:spPr>
          <a:xfrm>
            <a:off x="6784511" y="2898600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6116955" y="3032760"/>
            <a:ext cx="1658620" cy="11137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获取指定的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单个任务的任务状态</a:t>
            </a:r>
            <a:endParaRPr lang="en-US" altLang="zh-CN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6288594" y="2173345"/>
            <a:ext cx="1369490" cy="6024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</a:rPr>
              <a:t>vTaskGetInfo()</a:t>
            </a:r>
            <a:endParaRPr lang="en-US" altLang="zh-CN" sz="9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4066439" y="1692455"/>
            <a:ext cx="1898730" cy="2833067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Shape 501"/>
          <p:cNvSpPr/>
          <p:nvPr>
            <p:custDataLst>
              <p:tags r:id="rId8"/>
            </p:custDataLst>
          </p:nvPr>
        </p:nvSpPr>
        <p:spPr>
          <a:xfrm>
            <a:off x="4656444" y="1310227"/>
            <a:ext cx="718721" cy="720028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23" name="直接连接符 122"/>
          <p:cNvCxnSpPr/>
          <p:nvPr>
            <p:custDataLst>
              <p:tags r:id="rId9"/>
            </p:custDataLst>
          </p:nvPr>
        </p:nvCxnSpPr>
        <p:spPr>
          <a:xfrm>
            <a:off x="4826977" y="2897946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163695" y="3034030"/>
            <a:ext cx="1654175" cy="11137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通过任务名来获取任务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的句柄</a:t>
            </a:r>
            <a:endParaRPr lang="en-US" altLang="zh-CN" sz="14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4137660" y="2172970"/>
            <a:ext cx="1563370" cy="60261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>
                <a:solidFill>
                  <a:srgbClr val="FFFFFF"/>
                </a:solidFill>
                <a:latin typeface="+mn-ea"/>
                <a:cs typeface="+mn-ea"/>
              </a:rPr>
              <a:t>xTaskGetHandle()</a:t>
            </a:r>
            <a:endParaRPr lang="zh-CN" altLang="en-US" sz="12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02" name="任意多边形 201"/>
          <p:cNvSpPr/>
          <p:nvPr>
            <p:custDataLst>
              <p:tags r:id="rId12"/>
            </p:custDataLst>
          </p:nvPr>
        </p:nvSpPr>
        <p:spPr>
          <a:xfrm>
            <a:off x="151371" y="1691802"/>
            <a:ext cx="1898730" cy="2833067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7" name="Shape 501"/>
          <p:cNvSpPr/>
          <p:nvPr>
            <p:custDataLst>
              <p:tags r:id="rId13"/>
            </p:custDataLst>
          </p:nvPr>
        </p:nvSpPr>
        <p:spPr>
          <a:xfrm>
            <a:off x="741375" y="1310227"/>
            <a:ext cx="718721" cy="720028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30" name="直接连接符 129"/>
          <p:cNvCxnSpPr/>
          <p:nvPr>
            <p:custDataLst>
              <p:tags r:id="rId14"/>
            </p:custDataLst>
          </p:nvPr>
        </p:nvCxnSpPr>
        <p:spPr>
          <a:xfrm>
            <a:off x="911908" y="2897293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415991" y="3033197"/>
            <a:ext cx="1458350" cy="11140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</a:rPr>
              <a:t>获取当前系统的存在的任务数量，返回值为任务</a:t>
            </a:r>
            <a:r>
              <a:rPr lang="zh-CN" altLang="en-US" sz="1400" dirty="0">
                <a:solidFill>
                  <a:srgbClr val="FFFFFF"/>
                </a:solidFill>
                <a:latin typeface="+mn-ea"/>
                <a:cs typeface="+mn-ea"/>
              </a:rPr>
              <a:t>个数</a:t>
            </a:r>
            <a:endParaRPr lang="zh-CN" altLang="en-US" sz="14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6"/>
            </p:custDataLst>
          </p:nvPr>
        </p:nvSpPr>
        <p:spPr>
          <a:xfrm>
            <a:off x="176853" y="2172038"/>
            <a:ext cx="1872595" cy="6024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>
                <a:solidFill>
                  <a:srgbClr val="FFFFFF"/>
                </a:solidFill>
                <a:latin typeface="+mn-ea"/>
                <a:cs typeface="+mn-ea"/>
              </a:rPr>
              <a:t>uxTaskGetNumberOfTasks()</a:t>
            </a:r>
            <a:endParaRPr lang="en-US" altLang="zh-CN" sz="10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0" name="任意多边形 9"/>
          <p:cNvSpPr/>
          <p:nvPr>
            <p:custDataLst>
              <p:tags r:id="rId17"/>
            </p:custDataLst>
          </p:nvPr>
        </p:nvSpPr>
        <p:spPr>
          <a:xfrm>
            <a:off x="7981508" y="1691149"/>
            <a:ext cx="1898730" cy="2833067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Shape 501"/>
          <p:cNvSpPr/>
          <p:nvPr>
            <p:custDataLst>
              <p:tags r:id="rId18"/>
            </p:custDataLst>
          </p:nvPr>
        </p:nvSpPr>
        <p:spPr>
          <a:xfrm>
            <a:off x="8571513" y="1310227"/>
            <a:ext cx="718721" cy="720028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1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38" name="直接连接符 137"/>
          <p:cNvCxnSpPr/>
          <p:nvPr>
            <p:custDataLst>
              <p:tags r:id="rId19"/>
            </p:custDataLst>
          </p:nvPr>
        </p:nvCxnSpPr>
        <p:spPr>
          <a:xfrm>
            <a:off x="8742045" y="2896640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20"/>
            </p:custDataLst>
          </p:nvPr>
        </p:nvSpPr>
        <p:spPr>
          <a:xfrm>
            <a:off x="8010525" y="3032760"/>
            <a:ext cx="1826260" cy="11137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查询某个任务的运行状态，返回一个枚举类型（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0: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运行态，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1: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就绪态，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    2: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阻塞态，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4: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挂起态，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5: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被删除，</a:t>
            </a:r>
            <a:r>
              <a:rPr lang="en-US" altLang="zh-CN" sz="1400">
                <a:solidFill>
                  <a:srgbClr val="FFFFFF"/>
                </a:solidFill>
                <a:latin typeface="+mn-ea"/>
                <a:cs typeface="+mn-ea"/>
              </a:rPr>
              <a:t>6: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无效）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21"/>
            </p:custDataLst>
          </p:nvPr>
        </p:nvSpPr>
        <p:spPr>
          <a:xfrm>
            <a:off x="8246128" y="2171385"/>
            <a:ext cx="1369490" cy="6024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</a:rPr>
              <a:t>eTaskGetState()</a:t>
            </a:r>
            <a:endParaRPr lang="zh-CN" altLang="en-US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" name="任意多边形 1"/>
          <p:cNvSpPr/>
          <p:nvPr>
            <p:custDataLst>
              <p:tags r:id="rId22"/>
            </p:custDataLst>
          </p:nvPr>
        </p:nvSpPr>
        <p:spPr>
          <a:xfrm>
            <a:off x="2108905" y="1692455"/>
            <a:ext cx="1898730" cy="2833067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Shape 501"/>
          <p:cNvSpPr/>
          <p:nvPr>
            <p:custDataLst>
              <p:tags r:id="rId23"/>
            </p:custDataLst>
          </p:nvPr>
        </p:nvSpPr>
        <p:spPr>
          <a:xfrm>
            <a:off x="2698910" y="1310227"/>
            <a:ext cx="718721" cy="720028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24"/>
            </p:custDataLst>
          </p:nvPr>
        </p:nvCxnSpPr>
        <p:spPr>
          <a:xfrm>
            <a:off x="2869442" y="2897946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25"/>
            </p:custDataLst>
          </p:nvPr>
        </p:nvSpPr>
        <p:spPr>
          <a:xfrm>
            <a:off x="2193290" y="3020695"/>
            <a:ext cx="1746885" cy="11137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获取系统中所有任务的任务状态</a:t>
            </a:r>
            <a:endParaRPr lang="en-US" altLang="zh-CN" sz="14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26"/>
            </p:custDataLst>
          </p:nvPr>
        </p:nvSpPr>
        <p:spPr>
          <a:xfrm>
            <a:off x="2191385" y="2172970"/>
            <a:ext cx="1722755" cy="60261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000" b="1">
                <a:solidFill>
                  <a:srgbClr val="FFFFFF"/>
                </a:solidFill>
                <a:latin typeface="+mn-ea"/>
                <a:cs typeface="+mn-ea"/>
              </a:rPr>
              <a:t>uxTaskGetSystemState()</a:t>
            </a:r>
            <a:endParaRPr lang="zh-CN" altLang="en-US" sz="10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8" name="任意多边形 7"/>
          <p:cNvSpPr/>
          <p:nvPr>
            <p:custDataLst>
              <p:tags r:id="rId27"/>
            </p:custDataLst>
          </p:nvPr>
        </p:nvSpPr>
        <p:spPr>
          <a:xfrm>
            <a:off x="9939042" y="1691802"/>
            <a:ext cx="1898730" cy="2833067"/>
          </a:xfrm>
          <a:custGeom>
            <a:avLst/>
            <a:gdLst>
              <a:gd name="adj" fmla="val 9103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906" h="4336">
                <a:moveTo>
                  <a:pt x="265" y="0"/>
                </a:moveTo>
                <a:lnTo>
                  <a:pt x="801" y="0"/>
                </a:lnTo>
                <a:lnTo>
                  <a:pt x="802" y="15"/>
                </a:lnTo>
                <a:cubicBezTo>
                  <a:pt x="828" y="354"/>
                  <a:pt x="1111" y="621"/>
                  <a:pt x="1457" y="621"/>
                </a:cubicBezTo>
                <a:cubicBezTo>
                  <a:pt x="1802" y="621"/>
                  <a:pt x="2085" y="354"/>
                  <a:pt x="2111" y="15"/>
                </a:cubicBezTo>
                <a:lnTo>
                  <a:pt x="2112" y="0"/>
                </a:lnTo>
                <a:lnTo>
                  <a:pt x="2641" y="0"/>
                </a:lnTo>
                <a:cubicBezTo>
                  <a:pt x="2788" y="0"/>
                  <a:pt x="2906" y="118"/>
                  <a:pt x="2906" y="265"/>
                </a:cubicBezTo>
                <a:lnTo>
                  <a:pt x="2906" y="4071"/>
                </a:lnTo>
                <a:cubicBezTo>
                  <a:pt x="2906" y="4218"/>
                  <a:pt x="2788" y="4336"/>
                  <a:pt x="2641" y="4336"/>
                </a:cubicBezTo>
                <a:lnTo>
                  <a:pt x="265" y="4336"/>
                </a:lnTo>
                <a:cubicBezTo>
                  <a:pt x="118" y="4336"/>
                  <a:pt x="0" y="4218"/>
                  <a:pt x="0" y="4071"/>
                </a:cubicBezTo>
                <a:lnTo>
                  <a:pt x="0" y="265"/>
                </a:lnTo>
                <a:cubicBezTo>
                  <a:pt x="0" y="118"/>
                  <a:pt x="118" y="0"/>
                  <a:pt x="265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wrap="square" lIns="71437" tIns="71437" rIns="71437" bIns="71437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Shape 501"/>
          <p:cNvSpPr/>
          <p:nvPr>
            <p:custDataLst>
              <p:tags r:id="rId28"/>
            </p:custDataLst>
          </p:nvPr>
        </p:nvSpPr>
        <p:spPr>
          <a:xfrm>
            <a:off x="10529047" y="1310227"/>
            <a:ext cx="718721" cy="720028"/>
          </a:xfrm>
          <a:prstGeom prst="ellipse">
            <a:avLst/>
          </a:prstGeom>
          <a:gradFill>
            <a:gsLst>
              <a:gs pos="0">
                <a:schemeClr val="accent2">
                  <a:lumMod val="90000"/>
                  <a:lumOff val="10000"/>
                </a:schemeClr>
              </a:gs>
              <a:gs pos="100000">
                <a:schemeClr val="accent2"/>
              </a:gs>
            </a:gsLst>
            <a:lin ang="2700000" scaled="0"/>
          </a:gradFill>
          <a:ln w="12700">
            <a:miter lim="400000"/>
          </a:ln>
          <a:effectLst>
            <a:innerShdw blurRad="317500" dist="50800" dir="16200000">
              <a:schemeClr val="accent4">
                <a:lumMod val="20000"/>
                <a:lumOff val="80000"/>
                <a:alpha val="30000"/>
              </a:schemeClr>
            </a:innerShdw>
          </a:effectLst>
        </p:spPr>
        <p:txBody>
          <a:bodyPr lIns="71437" tIns="71437" rIns="71437" bIns="71437" anchor="ctr">
            <a:noAutofit/>
          </a:bodyPr>
          <a:lstStyle/>
          <a:p>
            <a:pPr lvl="0" algn="l">
              <a:buClrTx/>
              <a:buSzTx/>
              <a:buFontTx/>
            </a:pPr>
            <a:endParaRPr sz="2800" u="sng" dirty="0">
              <a:latin typeface="+mj-lt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16" name="直接连接符 115"/>
          <p:cNvCxnSpPr/>
          <p:nvPr>
            <p:custDataLst>
              <p:tags r:id="rId29"/>
            </p:custDataLst>
          </p:nvPr>
        </p:nvCxnSpPr>
        <p:spPr>
          <a:xfrm>
            <a:off x="10699580" y="2897293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>
            <p:custDataLst>
              <p:tags r:id="rId30"/>
            </p:custDataLst>
          </p:nvPr>
        </p:nvSpPr>
        <p:spPr>
          <a:xfrm>
            <a:off x="10203662" y="3033197"/>
            <a:ext cx="1473378" cy="11140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创建一个表格描述每个任务的详细</a:t>
            </a:r>
            <a:r>
              <a:rPr lang="zh-CN" altLang="en-US" sz="1400">
                <a:solidFill>
                  <a:srgbClr val="FFFFFF"/>
                </a:solidFill>
                <a:latin typeface="+mn-ea"/>
                <a:cs typeface="+mn-ea"/>
              </a:rPr>
              <a:t>信息</a:t>
            </a:r>
            <a:endParaRPr lang="zh-CN" altLang="en-US" sz="14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1"/>
            </p:custDataLst>
          </p:nvPr>
        </p:nvSpPr>
        <p:spPr>
          <a:xfrm>
            <a:off x="10203662" y="2172038"/>
            <a:ext cx="1369490" cy="60241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</a:rPr>
              <a:t>vTaskList()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71065" y="2089150"/>
            <a:ext cx="18954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configUSE_TRACE_FACILITY</a:t>
            </a:r>
            <a:endParaRPr lang="en-US" altLang="zh-CN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32"/>
            </p:custDataLst>
          </p:nvPr>
        </p:nvCxnSpPr>
        <p:spPr>
          <a:xfrm>
            <a:off x="2869442" y="2463606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137660" y="2171700"/>
            <a:ext cx="20199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INCLUDE_xTaskGetHandle</a:t>
            </a:r>
            <a:endParaRPr lang="en-US" altLang="zh-CN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33"/>
            </p:custDataLst>
          </p:nvPr>
        </p:nvCxnSpPr>
        <p:spPr>
          <a:xfrm>
            <a:off x="4825707" y="2463606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029960" y="2089150"/>
            <a:ext cx="1945640" cy="38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configUSE_TRACE_FACILITY</a:t>
            </a:r>
            <a:endParaRPr lang="en-US" altLang="zh-CN" sz="10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34"/>
            </p:custDataLst>
          </p:nvPr>
        </p:nvCxnSpPr>
        <p:spPr>
          <a:xfrm>
            <a:off x="6783876" y="2464260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040370" y="2108200"/>
            <a:ext cx="1857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bg1"/>
                </a:solidFill>
              </a:rPr>
              <a:t>INCLUDE_eTaskGetState</a:t>
            </a:r>
            <a:endParaRPr lang="en-US" altLang="zh-CN" sz="1000">
              <a:solidFill>
                <a:schemeClr val="bg1"/>
              </a:solidFill>
            </a:endParaRPr>
          </a:p>
        </p:txBody>
      </p:sp>
      <p:cxnSp>
        <p:nvCxnSpPr>
          <p:cNvPr id="35" name="直接连接符 34"/>
          <p:cNvCxnSpPr/>
          <p:nvPr>
            <p:custDataLst>
              <p:tags r:id="rId35"/>
            </p:custDataLst>
          </p:nvPr>
        </p:nvCxnSpPr>
        <p:spPr>
          <a:xfrm>
            <a:off x="8741410" y="2431185"/>
            <a:ext cx="378309" cy="0"/>
          </a:xfrm>
          <a:prstGeom prst="line">
            <a:avLst/>
          </a:prstGeom>
          <a:ln w="12700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7165" y="4820920"/>
            <a:ext cx="3830320" cy="151638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80205" y="4820920"/>
            <a:ext cx="3595370" cy="151638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010525" y="4712335"/>
            <a:ext cx="3790950" cy="1733550"/>
          </a:xfrm>
          <a:prstGeom prst="rect">
            <a:avLst/>
          </a:prstGeom>
        </p:spPr>
      </p:pic>
    </p:spTree>
    <p:custDataLst>
      <p:tags r:id="rId3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标题 2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5" y="465455"/>
            <a:ext cx="3900805" cy="563245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chemeClr val="accent4"/>
                </a:solidFill>
              </a:rPr>
              <a:t>实验二：任务运行</a:t>
            </a:r>
            <a:r>
              <a:rPr lang="zh-CN" altLang="en-US">
                <a:solidFill>
                  <a:schemeClr val="accent4"/>
                </a:solidFill>
              </a:rPr>
              <a:t>时间</a:t>
            </a:r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1770" y="1202055"/>
            <a:ext cx="103530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使用</a:t>
            </a:r>
            <a:r>
              <a:rPr lang="en-US" altLang="zh-CN" sz="2000"/>
              <a:t>vTaskGetRunTimeStats()</a:t>
            </a:r>
            <a:r>
              <a:rPr lang="zh-CN" altLang="en-US" sz="2000"/>
              <a:t>来统计每个任务使用</a:t>
            </a:r>
            <a:r>
              <a:rPr lang="en-US" altLang="zh-CN" sz="2000"/>
              <a:t>CPU</a:t>
            </a:r>
            <a:r>
              <a:rPr lang="zh-CN" altLang="en-US" sz="2000"/>
              <a:t>的时间，以及所使用的时间占总时间的比例，使用此函数需做以下</a:t>
            </a:r>
            <a:r>
              <a:rPr lang="zh-CN" altLang="en-US" sz="2000"/>
              <a:t>操作：</a:t>
            </a:r>
            <a:endParaRPr lang="zh-CN" altLang="en-US" sz="2000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302895" y="1990725"/>
          <a:ext cx="112077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77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configGENERATE_RUN_TIME_STATS         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#define portCONFIGURE_TIMER_FOR_RUN_TIME_STATS()   ConfigureTimeForRunTimeStats()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#define portGET_RUN_TIME_COUNTER_VALUE()   FreeRTOSRunTimeTicks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02895" y="3310255"/>
            <a:ext cx="1064133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其中：</a:t>
            </a:r>
            <a:r>
              <a:rPr lang="en-US" altLang="zh-CN">
                <a:sym typeface="+mn-ea"/>
              </a:rPr>
              <a:t>portCONFIGURE_TIMER_FOR_RUN_TIME_STATS()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FreeRTOS</a:t>
            </a:r>
            <a:r>
              <a:rPr lang="zh-CN" altLang="en-US">
                <a:sym typeface="+mn-ea"/>
              </a:rPr>
              <a:t>配置一个高精度的定时</a:t>
            </a:r>
            <a:r>
              <a:rPr lang="zh-CN" altLang="en-US">
                <a:sym typeface="+mn-ea"/>
              </a:rPr>
              <a:t>器</a:t>
            </a:r>
            <a:endParaRPr lang="zh-CN" altLang="en-US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           portGET_RUN_TIME_COUNTER_VALUE()</a:t>
            </a:r>
            <a:r>
              <a:rPr lang="zh-CN" altLang="en-US">
                <a:sym typeface="+mn-ea"/>
              </a:rPr>
              <a:t>读取时基的时间</a:t>
            </a:r>
            <a:r>
              <a:rPr lang="zh-CN" altLang="en-US">
                <a:sym typeface="+mn-ea"/>
              </a:rPr>
              <a:t>值</a:t>
            </a:r>
            <a:endParaRPr lang="zh-CN" altLang="en-US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" y="4095750"/>
            <a:ext cx="5944870" cy="20580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02895" y="6156960"/>
            <a:ext cx="52343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注：实际运行时间要乘以定时器中断周期</a:t>
            </a:r>
            <a:endParaRPr lang="zh-CN" altLang="en-US" sz="1600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897245" y="3741420"/>
            <a:ext cx="1278255" cy="534035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36A9A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队列</a:t>
            </a:r>
            <a:endParaRPr lang="zh-CN" altLang="en-US" sz="32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07401" y="3948548"/>
            <a:ext cx="1126623" cy="691091"/>
            <a:chOff x="1746466" y="3978032"/>
            <a:chExt cx="1126623" cy="691091"/>
          </a:xfrm>
        </p:grpSpPr>
        <p:sp>
          <p:nvSpPr>
            <p:cNvPr id="238" name="任意多边形 237"/>
            <p:cNvSpPr/>
            <p:nvPr/>
          </p:nvSpPr>
          <p:spPr bwMode="auto">
            <a:xfrm>
              <a:off x="1746466" y="4024824"/>
              <a:ext cx="1126623" cy="644299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任意多边形 238"/>
            <p:cNvSpPr/>
            <p:nvPr/>
          </p:nvSpPr>
          <p:spPr bwMode="auto">
            <a:xfrm>
              <a:off x="1754565" y="3978032"/>
              <a:ext cx="1115825" cy="643399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任意多边形 239"/>
            <p:cNvSpPr/>
            <p:nvPr/>
          </p:nvSpPr>
          <p:spPr bwMode="auto">
            <a:xfrm>
              <a:off x="1815755" y="4009527"/>
              <a:ext cx="996143" cy="574110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任意多边形 240"/>
            <p:cNvSpPr/>
            <p:nvPr/>
          </p:nvSpPr>
          <p:spPr bwMode="auto">
            <a:xfrm>
              <a:off x="2324175" y="4094113"/>
              <a:ext cx="193470" cy="210567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任意多边形 241"/>
            <p:cNvSpPr/>
            <p:nvPr/>
          </p:nvSpPr>
          <p:spPr bwMode="auto">
            <a:xfrm>
              <a:off x="2102810" y="4197597"/>
              <a:ext cx="221365" cy="180872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任意多边形 242"/>
            <p:cNvSpPr/>
            <p:nvPr/>
          </p:nvSpPr>
          <p:spPr bwMode="auto">
            <a:xfrm>
              <a:off x="2128006" y="4202996"/>
              <a:ext cx="195269" cy="165574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任意多边形 243"/>
            <p:cNvSpPr/>
            <p:nvPr/>
          </p:nvSpPr>
          <p:spPr bwMode="auto">
            <a:xfrm>
              <a:off x="2128006" y="4265986"/>
              <a:ext cx="411235" cy="180872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" name="任意多边形 244"/>
            <p:cNvSpPr/>
            <p:nvPr/>
          </p:nvSpPr>
          <p:spPr bwMode="auto">
            <a:xfrm>
              <a:off x="2323275" y="4043721"/>
              <a:ext cx="193470" cy="123281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6" name="任意多边形 245"/>
            <p:cNvSpPr/>
            <p:nvPr/>
          </p:nvSpPr>
          <p:spPr bwMode="auto">
            <a:xfrm>
              <a:off x="2087512" y="4095913"/>
              <a:ext cx="236663" cy="180872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7" name="任意多边形 246"/>
            <p:cNvSpPr/>
            <p:nvPr/>
          </p:nvSpPr>
          <p:spPr bwMode="auto">
            <a:xfrm>
              <a:off x="2128006" y="4213794"/>
              <a:ext cx="429233" cy="180872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17287" y="2356943"/>
            <a:ext cx="1271500" cy="960149"/>
            <a:chOff x="2440257" y="2648041"/>
            <a:chExt cx="1271500" cy="960149"/>
          </a:xfrm>
        </p:grpSpPr>
        <p:sp>
          <p:nvSpPr>
            <p:cNvPr id="248" name="任意多边形 247"/>
            <p:cNvSpPr>
              <a:spLocks noEditPoints="1"/>
            </p:cNvSpPr>
            <p:nvPr/>
          </p:nvSpPr>
          <p:spPr bwMode="auto">
            <a:xfrm>
              <a:off x="2440257" y="2938695"/>
              <a:ext cx="1271500" cy="669495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9" name="任意多边形 248"/>
            <p:cNvSpPr>
              <a:spLocks noEditPoints="1"/>
            </p:cNvSpPr>
            <p:nvPr/>
          </p:nvSpPr>
          <p:spPr bwMode="auto">
            <a:xfrm>
              <a:off x="2605831" y="3025082"/>
              <a:ext cx="941252" cy="495822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0" name="任意多边形 249"/>
            <p:cNvSpPr/>
            <p:nvPr/>
          </p:nvSpPr>
          <p:spPr bwMode="auto">
            <a:xfrm>
              <a:off x="2779504" y="3116867"/>
              <a:ext cx="593907" cy="313151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chemeClr val="bg1">
                <a:lumMod val="65000"/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1" name="任意多边形 250"/>
            <p:cNvSpPr/>
            <p:nvPr/>
          </p:nvSpPr>
          <p:spPr bwMode="auto">
            <a:xfrm>
              <a:off x="2732711" y="2796518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2" name="任意多边形 251"/>
            <p:cNvSpPr/>
            <p:nvPr/>
          </p:nvSpPr>
          <p:spPr bwMode="auto">
            <a:xfrm>
              <a:off x="2732711" y="2846010"/>
              <a:ext cx="86386" cy="309551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3" name="任意多边形 252"/>
            <p:cNvSpPr/>
            <p:nvPr/>
          </p:nvSpPr>
          <p:spPr bwMode="auto">
            <a:xfrm>
              <a:off x="2819097" y="2846010"/>
              <a:ext cx="87286" cy="309551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4" name="任意多边形 253"/>
            <p:cNvSpPr/>
            <p:nvPr/>
          </p:nvSpPr>
          <p:spPr bwMode="auto">
            <a:xfrm>
              <a:off x="2920781" y="2648041"/>
              <a:ext cx="173673" cy="99884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5" name="任意多边形 254"/>
            <p:cNvSpPr/>
            <p:nvPr/>
          </p:nvSpPr>
          <p:spPr bwMode="auto">
            <a:xfrm>
              <a:off x="2920781" y="2697533"/>
              <a:ext cx="87286" cy="60290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6" name="任意多边形 255"/>
            <p:cNvSpPr/>
            <p:nvPr/>
          </p:nvSpPr>
          <p:spPr bwMode="auto">
            <a:xfrm>
              <a:off x="3008068" y="2697533"/>
              <a:ext cx="86386" cy="60290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7" name="任意多边形 256"/>
            <p:cNvSpPr/>
            <p:nvPr/>
          </p:nvSpPr>
          <p:spPr bwMode="auto">
            <a:xfrm>
              <a:off x="3111551" y="2866707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8" name="任意多边形 257"/>
            <p:cNvSpPr/>
            <p:nvPr/>
          </p:nvSpPr>
          <p:spPr bwMode="auto">
            <a:xfrm>
              <a:off x="3111551" y="2915299"/>
              <a:ext cx="86386" cy="508420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9" name="任意多边形 258"/>
            <p:cNvSpPr/>
            <p:nvPr/>
          </p:nvSpPr>
          <p:spPr bwMode="auto">
            <a:xfrm>
              <a:off x="3197938" y="2915299"/>
              <a:ext cx="87286" cy="508420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0" name="任意多边形 259"/>
            <p:cNvSpPr/>
            <p:nvPr/>
          </p:nvSpPr>
          <p:spPr bwMode="auto">
            <a:xfrm>
              <a:off x="3299622" y="3055677"/>
              <a:ext cx="173673" cy="98984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1" name="任意多边形 260"/>
            <p:cNvSpPr/>
            <p:nvPr/>
          </p:nvSpPr>
          <p:spPr bwMode="auto">
            <a:xfrm>
              <a:off x="3299622" y="3104269"/>
              <a:ext cx="87286" cy="42383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2" name="任意多边形 261"/>
            <p:cNvSpPr/>
            <p:nvPr/>
          </p:nvSpPr>
          <p:spPr bwMode="auto">
            <a:xfrm>
              <a:off x="3386908" y="3104269"/>
              <a:ext cx="86386" cy="42383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465" y="1792528"/>
            <a:ext cx="3404299" cy="349857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60248" y="2378888"/>
            <a:ext cx="15392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  <a:cs typeface="+mn-ea"/>
                <a:sym typeface="+mn-lt"/>
              </a:rPr>
              <a:t>03</a:t>
            </a:r>
            <a:endParaRPr lang="en-US" sz="9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30468" y="419413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队列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342068"/>
            <a:ext cx="12192000" cy="2086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>
            <p:custDataLst>
              <p:tags r:id="rId1"/>
            </p:custDataLst>
          </p:nvPr>
        </p:nvSpPr>
        <p:spPr>
          <a:xfrm>
            <a:off x="1188720" y="3210721"/>
            <a:ext cx="1257300" cy="12573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多任务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访问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40141" y="4737245"/>
            <a:ext cx="2754458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每个队列都可向队列发送或者读取消息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5408295" y="3210721"/>
            <a:ext cx="1257300" cy="12573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bg1"/>
            </a:solidFill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出队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阻塞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9094470" y="3210721"/>
            <a:ext cx="1257300" cy="12573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/>
            </a:solidFill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入队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阻塞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8375332" y="4737245"/>
            <a:ext cx="2695575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与出队阻塞一样，基于超时时间进行相关的发送操作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4785" y="1506220"/>
            <a:ext cx="11685270" cy="1551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是什么？</a:t>
            </a:r>
            <a:endParaRPr lang="zh-CN" altLang="en-US" sz="2400" b="1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一种先进先出的数据缓冲区，在</a:t>
            </a:r>
            <a:r>
              <a:rPr lang="en-US" altLang="zh-CN" sz="2400">
                <a:solidFill>
                  <a:schemeClr val="bg1"/>
                </a:solidFill>
              </a:rPr>
              <a:t>freertos</a:t>
            </a:r>
            <a:r>
              <a:rPr lang="zh-CN" altLang="en-US" sz="2400">
                <a:solidFill>
                  <a:schemeClr val="bg1"/>
                </a:solidFill>
              </a:rPr>
              <a:t>中主要用于任务与任务或任务与中断间传递消息，其长度和数据大小在初始化是</a:t>
            </a:r>
            <a:r>
              <a:rPr lang="zh-CN" altLang="en-US" sz="2400">
                <a:solidFill>
                  <a:schemeClr val="bg1"/>
                </a:solidFill>
              </a:rPr>
              <a:t>确定。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4945" y="473710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从队列读取消息时，可设定一个超时时间，在该时间内阻塞，直至读取成功，若超出时间仍读取</a:t>
            </a:r>
            <a:r>
              <a:rPr lang="zh-CN" altLang="en-US" sz="1600"/>
              <a:t>不到则返回失败</a:t>
            </a:r>
            <a:endParaRPr lang="zh-CN" altLang="en-US" sz="1600"/>
          </a:p>
        </p:txBody>
      </p:sp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77128" y="42766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API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单圆角矩形 3"/>
          <p:cNvSpPr/>
          <p:nvPr>
            <p:custDataLst>
              <p:tags r:id="rId1"/>
            </p:custDataLst>
          </p:nvPr>
        </p:nvSpPr>
        <p:spPr>
          <a:xfrm flipH="1">
            <a:off x="8474075" y="4344035"/>
            <a:ext cx="3081655" cy="1703705"/>
          </a:xfrm>
          <a:prstGeom prst="snip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4783964" y="2099703"/>
            <a:ext cx="2673948" cy="2673948"/>
          </a:xfrm>
          <a:prstGeom prst="ellipse">
            <a:avLst/>
          </a:prstGeom>
          <a:solidFill>
            <a:schemeClr val="accent1"/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单圆角矩形 6"/>
          <p:cNvSpPr/>
          <p:nvPr>
            <p:custDataLst>
              <p:tags r:id="rId3"/>
            </p:custDataLst>
          </p:nvPr>
        </p:nvSpPr>
        <p:spPr>
          <a:xfrm>
            <a:off x="738170" y="1696269"/>
            <a:ext cx="3029712" cy="1568958"/>
          </a:xfrm>
          <a:prstGeom prst="snip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2826385" y="2082165"/>
            <a:ext cx="2052320" cy="371475"/>
          </a:xfrm>
          <a:custGeom>
            <a:avLst/>
            <a:gdLst>
              <a:gd name="connsiteX0" fmla="*/ 2400300 w 2400300"/>
              <a:gd name="connsiteY0" fmla="*/ 371475 h 371475"/>
              <a:gd name="connsiteX1" fmla="*/ 2028825 w 2400300"/>
              <a:gd name="connsiteY1" fmla="*/ 0 h 371475"/>
              <a:gd name="connsiteX2" fmla="*/ 0 w 2400300"/>
              <a:gd name="connsiteY2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0" h="371475">
                <a:moveTo>
                  <a:pt x="2400300" y="371475"/>
                </a:moveTo>
                <a:lnTo>
                  <a:pt x="2028825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" name="椭圆 8"/>
          <p:cNvSpPr/>
          <p:nvPr>
            <p:custDataLst>
              <p:tags r:id="rId5"/>
            </p:custDataLst>
          </p:nvPr>
        </p:nvSpPr>
        <p:spPr>
          <a:xfrm>
            <a:off x="4831837" y="2421741"/>
            <a:ext cx="147084" cy="14708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47237" y="1948783"/>
            <a:ext cx="181864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xQueueCreate()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947664" y="2307550"/>
            <a:ext cx="2465443" cy="884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创建队列，初始化队列长度和数据大小，成功返回队列句柄，失败返回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NULL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8"/>
            </p:custDataLst>
          </p:nvPr>
        </p:nvSpPr>
        <p:spPr>
          <a:xfrm>
            <a:off x="792370" y="2052381"/>
            <a:ext cx="94644" cy="946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单圆角矩形 12"/>
          <p:cNvSpPr/>
          <p:nvPr>
            <p:custDataLst>
              <p:tags r:id="rId9"/>
            </p:custDataLst>
          </p:nvPr>
        </p:nvSpPr>
        <p:spPr>
          <a:xfrm flipH="1">
            <a:off x="8473994" y="1696268"/>
            <a:ext cx="3029712" cy="1569600"/>
          </a:xfrm>
          <a:prstGeom prst="snip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flipH="1">
            <a:off x="7362825" y="2082165"/>
            <a:ext cx="1741170" cy="371475"/>
          </a:xfrm>
          <a:custGeom>
            <a:avLst/>
            <a:gdLst>
              <a:gd name="connsiteX0" fmla="*/ 2400300 w 2400300"/>
              <a:gd name="connsiteY0" fmla="*/ 371475 h 371475"/>
              <a:gd name="connsiteX1" fmla="*/ 2028825 w 2400300"/>
              <a:gd name="connsiteY1" fmla="*/ 0 h 371475"/>
              <a:gd name="connsiteX2" fmla="*/ 0 w 2400300"/>
              <a:gd name="connsiteY2" fmla="*/ 0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0300" h="371475">
                <a:moveTo>
                  <a:pt x="2400300" y="371475"/>
                </a:moveTo>
                <a:lnTo>
                  <a:pt x="2028825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>
            <p:custDataLst>
              <p:tags r:id="rId11"/>
            </p:custDataLst>
          </p:nvPr>
        </p:nvSpPr>
        <p:spPr>
          <a:xfrm flipH="1">
            <a:off x="7262955" y="2421741"/>
            <a:ext cx="147084" cy="147084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 flipH="1">
            <a:off x="9243291" y="1948783"/>
            <a:ext cx="19742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xQueueReceive()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 flipH="1">
            <a:off x="9056170" y="2308820"/>
            <a:ext cx="2465443" cy="884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从队列读取消息，需指定队列句柄，数据缓冲区及阻塞时间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>
            <p:custDataLst>
              <p:tags r:id="rId14"/>
            </p:custDataLst>
          </p:nvPr>
        </p:nvSpPr>
        <p:spPr>
          <a:xfrm flipH="1">
            <a:off x="11265962" y="2052381"/>
            <a:ext cx="94644" cy="946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单圆角矩形 18"/>
          <p:cNvSpPr/>
          <p:nvPr>
            <p:custDataLst>
              <p:tags r:id="rId15"/>
            </p:custDataLst>
          </p:nvPr>
        </p:nvSpPr>
        <p:spPr>
          <a:xfrm>
            <a:off x="738170" y="4344218"/>
            <a:ext cx="3029712" cy="1569600"/>
          </a:xfrm>
          <a:prstGeom prst="snip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>
            <p:custDataLst>
              <p:tags r:id="rId16"/>
            </p:custDataLst>
          </p:nvPr>
        </p:nvGrpSpPr>
        <p:grpSpPr>
          <a:xfrm flipV="1">
            <a:off x="2765425" y="4270375"/>
            <a:ext cx="2213610" cy="486410"/>
            <a:chOff x="2453640" y="4528929"/>
            <a:chExt cx="2500343" cy="486591"/>
          </a:xfrm>
        </p:grpSpPr>
        <p:sp>
          <p:nvSpPr>
            <p:cNvPr id="21" name="任意多边形 20"/>
            <p:cNvSpPr/>
            <p:nvPr>
              <p:custDataLst>
                <p:tags r:id="rId17"/>
              </p:custDataLst>
            </p:nvPr>
          </p:nvSpPr>
          <p:spPr>
            <a:xfrm>
              <a:off x="2453640" y="4528929"/>
              <a:ext cx="2400300" cy="371475"/>
            </a:xfrm>
            <a:custGeom>
              <a:avLst/>
              <a:gdLst>
                <a:gd name="connsiteX0" fmla="*/ 2400300 w 2400300"/>
                <a:gd name="connsiteY0" fmla="*/ 371475 h 371475"/>
                <a:gd name="connsiteX1" fmla="*/ 2028825 w 2400300"/>
                <a:gd name="connsiteY1" fmla="*/ 0 h 371475"/>
                <a:gd name="connsiteX2" fmla="*/ 0 w 2400300"/>
                <a:gd name="connsiteY2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00300" h="371475">
                  <a:moveTo>
                    <a:pt x="2400300" y="371475"/>
                  </a:moveTo>
                  <a:lnTo>
                    <a:pt x="202882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4806899" y="4868436"/>
              <a:ext cx="147084" cy="1470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947237" y="4579039"/>
            <a:ext cx="164973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xQueueSend()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947664" y="4938441"/>
            <a:ext cx="2465443" cy="884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发送消息到队列，需指定队列句柄，发送的消息及阻塞时间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>
            <p:custDataLst>
              <p:tags r:id="rId21"/>
            </p:custDataLst>
          </p:nvPr>
        </p:nvSpPr>
        <p:spPr>
          <a:xfrm>
            <a:off x="777130" y="4682002"/>
            <a:ext cx="94644" cy="946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>
            <p:custDataLst>
              <p:tags r:id="rId22"/>
            </p:custDataLst>
          </p:nvPr>
        </p:nvGrpSpPr>
        <p:grpSpPr>
          <a:xfrm flipV="1">
            <a:off x="7262955" y="4273570"/>
            <a:ext cx="2500343" cy="486591"/>
            <a:chOff x="7238017" y="4528929"/>
            <a:chExt cx="2500343" cy="486591"/>
          </a:xfrm>
        </p:grpSpPr>
        <p:sp>
          <p:nvSpPr>
            <p:cNvPr id="27" name="任意多边形 26"/>
            <p:cNvSpPr/>
            <p:nvPr>
              <p:custDataLst>
                <p:tags r:id="rId23"/>
              </p:custDataLst>
            </p:nvPr>
          </p:nvSpPr>
          <p:spPr>
            <a:xfrm flipH="1">
              <a:off x="7338060" y="4528929"/>
              <a:ext cx="2400300" cy="371475"/>
            </a:xfrm>
            <a:custGeom>
              <a:avLst/>
              <a:gdLst>
                <a:gd name="connsiteX0" fmla="*/ 2400300 w 2400300"/>
                <a:gd name="connsiteY0" fmla="*/ 371475 h 371475"/>
                <a:gd name="connsiteX1" fmla="*/ 2028825 w 2400300"/>
                <a:gd name="connsiteY1" fmla="*/ 0 h 371475"/>
                <a:gd name="connsiteX2" fmla="*/ 0 w 2400300"/>
                <a:gd name="connsiteY2" fmla="*/ 0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00300" h="371475">
                  <a:moveTo>
                    <a:pt x="2400300" y="371475"/>
                  </a:moveTo>
                  <a:lnTo>
                    <a:pt x="2028825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+mn-ea"/>
                <a:sym typeface="+mn-lt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 flipH="1">
              <a:off x="7238017" y="4868436"/>
              <a:ext cx="147084" cy="14708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zh-CN" altLang="en-US" sz="16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 flipH="1">
            <a:off x="10201506" y="4578404"/>
            <a:ext cx="10160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dirty="0">
                <a:solidFill>
                  <a:schemeClr val="accent1"/>
                </a:solidFill>
                <a:cs typeface="+mn-ea"/>
                <a:sym typeface="+mn-lt"/>
              </a:rPr>
              <a:t>中断</a:t>
            </a:r>
            <a:r>
              <a:rPr lang="zh-CN" altLang="en-US" sz="2000" dirty="0">
                <a:solidFill>
                  <a:schemeClr val="accent1"/>
                </a:solidFill>
                <a:cs typeface="+mn-ea"/>
                <a:sym typeface="+mn-lt"/>
              </a:rPr>
              <a:t>版本</a:t>
            </a:r>
            <a:endParaRPr lang="zh-CN" altLang="en-US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>
            <p:custDataLst>
              <p:tags r:id="rId26"/>
            </p:custDataLst>
          </p:nvPr>
        </p:nvSpPr>
        <p:spPr>
          <a:xfrm flipH="1">
            <a:off x="11265962" y="4682002"/>
            <a:ext cx="94644" cy="946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 flipH="1">
            <a:off x="8505825" y="4886325"/>
            <a:ext cx="3049905" cy="11607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中断不可阻塞，发送和读取的中断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API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如下：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xQueueSendFromISR()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cs typeface="+mn-ea"/>
                <a:sym typeface="+mn-lt"/>
              </a:rPr>
              <a:t>xQueueReceiveFromISR()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75250" y="2898775"/>
            <a:ext cx="18415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>
                <a:solidFill>
                  <a:schemeClr val="bg1"/>
                </a:solidFill>
              </a:rPr>
              <a:t>队列操作</a:t>
            </a:r>
            <a:r>
              <a:rPr lang="en-US" altLang="zh-CN" sz="3200">
                <a:solidFill>
                  <a:schemeClr val="bg1"/>
                </a:solidFill>
              </a:rPr>
              <a:t>API</a:t>
            </a:r>
            <a:endParaRPr lang="en-US" altLang="zh-CN" sz="3200">
              <a:solidFill>
                <a:schemeClr val="bg1"/>
              </a:solidFill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30468" y="47084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API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886471" y="1259052"/>
            <a:ext cx="30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40995" y="1152525"/>
          <a:ext cx="8536940" cy="154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4730"/>
                <a:gridCol w="498221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创建</a:t>
                      </a:r>
                      <a:r>
                        <a:rPr lang="zh-CN" altLang="en-US"/>
                        <a:t>队列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xQueueCreateStatic()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静态创建，需手动分配和释放</a:t>
                      </a:r>
                      <a:r>
                        <a:rPr lang="zh-CN" altLang="en-US"/>
                        <a:t>内存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xQueueGenericCreate()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动态创建，可指定队列</a:t>
                      </a: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</a:tr>
              <a:tr h="4457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xQueueGenericCreateStatic()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静态创建，</a:t>
                      </a:r>
                      <a:r>
                        <a:rPr lang="zh-CN" altLang="en-US" sz="1800">
                          <a:sym typeface="+mn-ea"/>
                        </a:rPr>
                        <a:t>需手动分配和释放内存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345440" y="3008630"/>
          <a:ext cx="8533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935"/>
                <a:gridCol w="49891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发送消息到</a:t>
                      </a:r>
                      <a:r>
                        <a:rPr lang="zh-CN" altLang="en-US"/>
                        <a:t>队列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xQueueSendToBack()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功能与</a:t>
                      </a:r>
                      <a:r>
                        <a:rPr lang="en-US" altLang="zh-CN"/>
                        <a:t>xQueueSend()</a:t>
                      </a:r>
                      <a:r>
                        <a:rPr lang="zh-CN" altLang="en-US"/>
                        <a:t>一样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xQueueSendToFront()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发送消息到队列</a:t>
                      </a:r>
                      <a:r>
                        <a:rPr lang="zh-CN" altLang="en-US"/>
                        <a:t>头部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xQueueOverwrite()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队列满时，直接覆盖旧值，适用长度为</a:t>
                      </a:r>
                      <a:r>
                        <a:rPr lang="en-US" altLang="zh-CN"/>
                        <a:t>1</a:t>
                      </a:r>
                      <a:r>
                        <a:rPr lang="zh-CN" altLang="en-US"/>
                        <a:t>的</a:t>
                      </a:r>
                      <a:r>
                        <a:rPr lang="zh-CN" altLang="en-US"/>
                        <a:t>队列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340995" y="4845685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190"/>
                <a:gridCol w="498094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从队列会获取</a:t>
                      </a:r>
                      <a:r>
                        <a:rPr lang="zh-CN" altLang="en-US"/>
                        <a:t>消息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xQueuePeek()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从队列读取消息，但不会删除该</a:t>
                      </a:r>
                      <a:r>
                        <a:rPr lang="zh-CN" altLang="en-US"/>
                        <a:t>消息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右大括号 6"/>
          <p:cNvSpPr/>
          <p:nvPr/>
        </p:nvSpPr>
        <p:spPr>
          <a:xfrm>
            <a:off x="8956040" y="3008630"/>
            <a:ext cx="441325" cy="2599055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396730" y="3841115"/>
            <a:ext cx="2765425" cy="93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若在中断中使用，则需在末尾添加</a:t>
            </a:r>
            <a:r>
              <a:rPr lang="en-US" altLang="zh-CN"/>
              <a:t>FromISR</a:t>
            </a:r>
            <a:r>
              <a:rPr lang="zh-CN" altLang="en-US"/>
              <a:t>，</a:t>
            </a:r>
            <a:r>
              <a:rPr lang="zh-CN" altLang="en-US"/>
              <a:t>以此使用中断</a:t>
            </a:r>
            <a:r>
              <a:rPr lang="zh-CN" altLang="en-US"/>
              <a:t>版本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67273" y="42639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实验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" y="1692910"/>
            <a:ext cx="8185150" cy="46297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3675" y="1133475"/>
            <a:ext cx="1007872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队列长度为</a:t>
            </a:r>
            <a:r>
              <a:rPr lang="en-US" altLang="zh-CN" sz="2000"/>
              <a:t>4</a:t>
            </a:r>
            <a:r>
              <a:rPr lang="zh-CN" altLang="en-US" sz="2000"/>
              <a:t>，通过串口接收并发送</a:t>
            </a:r>
            <a:r>
              <a:rPr lang="zh-CN" altLang="en-US" sz="2000"/>
              <a:t>数据到队列，定时器每秒触发中断从</a:t>
            </a:r>
            <a:r>
              <a:rPr lang="zh-CN" altLang="en-US" sz="2000"/>
              <a:t>队列取一次数据</a:t>
            </a:r>
            <a:endParaRPr lang="zh-CN" alt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871770" y="3831270"/>
            <a:ext cx="4535055" cy="53403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36A9A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软件定时器</a:t>
            </a:r>
            <a:endParaRPr lang="zh-CN" altLang="en-US" sz="32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07401" y="3948548"/>
            <a:ext cx="1126623" cy="691091"/>
            <a:chOff x="1746466" y="3978032"/>
            <a:chExt cx="1126623" cy="691091"/>
          </a:xfrm>
        </p:grpSpPr>
        <p:sp>
          <p:nvSpPr>
            <p:cNvPr id="238" name="任意多边形 237"/>
            <p:cNvSpPr/>
            <p:nvPr/>
          </p:nvSpPr>
          <p:spPr bwMode="auto">
            <a:xfrm>
              <a:off x="1746466" y="4024824"/>
              <a:ext cx="1126623" cy="644299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任意多边形 238"/>
            <p:cNvSpPr/>
            <p:nvPr/>
          </p:nvSpPr>
          <p:spPr bwMode="auto">
            <a:xfrm>
              <a:off x="1754565" y="3978032"/>
              <a:ext cx="1115825" cy="643399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任意多边形 239"/>
            <p:cNvSpPr/>
            <p:nvPr/>
          </p:nvSpPr>
          <p:spPr bwMode="auto">
            <a:xfrm>
              <a:off x="1815755" y="4009527"/>
              <a:ext cx="996143" cy="574110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任意多边形 240"/>
            <p:cNvSpPr/>
            <p:nvPr/>
          </p:nvSpPr>
          <p:spPr bwMode="auto">
            <a:xfrm>
              <a:off x="2324175" y="4094113"/>
              <a:ext cx="193470" cy="210567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任意多边形 241"/>
            <p:cNvSpPr/>
            <p:nvPr/>
          </p:nvSpPr>
          <p:spPr bwMode="auto">
            <a:xfrm>
              <a:off x="2102810" y="4197597"/>
              <a:ext cx="221365" cy="180872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任意多边形 242"/>
            <p:cNvSpPr/>
            <p:nvPr/>
          </p:nvSpPr>
          <p:spPr bwMode="auto">
            <a:xfrm>
              <a:off x="2128006" y="4202996"/>
              <a:ext cx="195269" cy="165574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任意多边形 243"/>
            <p:cNvSpPr/>
            <p:nvPr/>
          </p:nvSpPr>
          <p:spPr bwMode="auto">
            <a:xfrm>
              <a:off x="2128006" y="4265986"/>
              <a:ext cx="411235" cy="180872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" name="任意多边形 244"/>
            <p:cNvSpPr/>
            <p:nvPr/>
          </p:nvSpPr>
          <p:spPr bwMode="auto">
            <a:xfrm>
              <a:off x="2323275" y="4043721"/>
              <a:ext cx="193470" cy="123281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6" name="任意多边形 245"/>
            <p:cNvSpPr/>
            <p:nvPr/>
          </p:nvSpPr>
          <p:spPr bwMode="auto">
            <a:xfrm>
              <a:off x="2087512" y="4095913"/>
              <a:ext cx="236663" cy="180872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7" name="任意多边形 246"/>
            <p:cNvSpPr/>
            <p:nvPr/>
          </p:nvSpPr>
          <p:spPr bwMode="auto">
            <a:xfrm>
              <a:off x="2128006" y="4213794"/>
              <a:ext cx="429233" cy="180872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17287" y="2356943"/>
            <a:ext cx="1271500" cy="960149"/>
            <a:chOff x="2440257" y="2648041"/>
            <a:chExt cx="1271500" cy="960149"/>
          </a:xfrm>
        </p:grpSpPr>
        <p:sp>
          <p:nvSpPr>
            <p:cNvPr id="248" name="任意多边形 247"/>
            <p:cNvSpPr>
              <a:spLocks noEditPoints="1"/>
            </p:cNvSpPr>
            <p:nvPr/>
          </p:nvSpPr>
          <p:spPr bwMode="auto">
            <a:xfrm>
              <a:off x="2440257" y="2938695"/>
              <a:ext cx="1271500" cy="669495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9" name="任意多边形 248"/>
            <p:cNvSpPr>
              <a:spLocks noEditPoints="1"/>
            </p:cNvSpPr>
            <p:nvPr/>
          </p:nvSpPr>
          <p:spPr bwMode="auto">
            <a:xfrm>
              <a:off x="2605831" y="3025082"/>
              <a:ext cx="941252" cy="495822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0" name="任意多边形 249"/>
            <p:cNvSpPr/>
            <p:nvPr/>
          </p:nvSpPr>
          <p:spPr bwMode="auto">
            <a:xfrm>
              <a:off x="2779504" y="3116867"/>
              <a:ext cx="593907" cy="313151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chemeClr val="bg1">
                <a:lumMod val="65000"/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1" name="任意多边形 250"/>
            <p:cNvSpPr/>
            <p:nvPr/>
          </p:nvSpPr>
          <p:spPr bwMode="auto">
            <a:xfrm>
              <a:off x="2732711" y="2796518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2" name="任意多边形 251"/>
            <p:cNvSpPr/>
            <p:nvPr/>
          </p:nvSpPr>
          <p:spPr bwMode="auto">
            <a:xfrm>
              <a:off x="2732711" y="2846010"/>
              <a:ext cx="86386" cy="309551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3" name="任意多边形 252"/>
            <p:cNvSpPr/>
            <p:nvPr/>
          </p:nvSpPr>
          <p:spPr bwMode="auto">
            <a:xfrm>
              <a:off x="2819097" y="2846010"/>
              <a:ext cx="87286" cy="309551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4" name="任意多边形 253"/>
            <p:cNvSpPr/>
            <p:nvPr/>
          </p:nvSpPr>
          <p:spPr bwMode="auto">
            <a:xfrm>
              <a:off x="2920781" y="2648041"/>
              <a:ext cx="173673" cy="99884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5" name="任意多边形 254"/>
            <p:cNvSpPr/>
            <p:nvPr/>
          </p:nvSpPr>
          <p:spPr bwMode="auto">
            <a:xfrm>
              <a:off x="2920781" y="2697533"/>
              <a:ext cx="87286" cy="60290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6" name="任意多边形 255"/>
            <p:cNvSpPr/>
            <p:nvPr/>
          </p:nvSpPr>
          <p:spPr bwMode="auto">
            <a:xfrm>
              <a:off x="3008068" y="2697533"/>
              <a:ext cx="86386" cy="60290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7" name="任意多边形 256"/>
            <p:cNvSpPr/>
            <p:nvPr/>
          </p:nvSpPr>
          <p:spPr bwMode="auto">
            <a:xfrm>
              <a:off x="3111551" y="2866707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8" name="任意多边形 257"/>
            <p:cNvSpPr/>
            <p:nvPr/>
          </p:nvSpPr>
          <p:spPr bwMode="auto">
            <a:xfrm>
              <a:off x="3111551" y="2915299"/>
              <a:ext cx="86386" cy="508420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9" name="任意多边形 258"/>
            <p:cNvSpPr/>
            <p:nvPr/>
          </p:nvSpPr>
          <p:spPr bwMode="auto">
            <a:xfrm>
              <a:off x="3197938" y="2915299"/>
              <a:ext cx="87286" cy="508420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0" name="任意多边形 259"/>
            <p:cNvSpPr/>
            <p:nvPr/>
          </p:nvSpPr>
          <p:spPr bwMode="auto">
            <a:xfrm>
              <a:off x="3299622" y="3055677"/>
              <a:ext cx="173673" cy="98984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1" name="任意多边形 260"/>
            <p:cNvSpPr/>
            <p:nvPr/>
          </p:nvSpPr>
          <p:spPr bwMode="auto">
            <a:xfrm>
              <a:off x="3299622" y="3104269"/>
              <a:ext cx="87286" cy="42383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2" name="任意多边形 261"/>
            <p:cNvSpPr/>
            <p:nvPr/>
          </p:nvSpPr>
          <p:spPr bwMode="auto">
            <a:xfrm>
              <a:off x="3386908" y="3104269"/>
              <a:ext cx="86386" cy="42383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465" y="1792528"/>
            <a:ext cx="3404299" cy="349857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60248" y="2378888"/>
            <a:ext cx="15536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  <a:cs typeface="+mn-ea"/>
                <a:sym typeface="+mn-lt"/>
              </a:rPr>
              <a:t>04</a:t>
            </a:r>
            <a:endParaRPr lang="en-US" sz="9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30580" y="470535"/>
            <a:ext cx="2580005" cy="53403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软件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定时器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158240"/>
            <a:ext cx="12192000" cy="160718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87145" y="1304531"/>
            <a:ext cx="1422400" cy="4305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是</a:t>
            </a: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什么？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9775" y="1815465"/>
            <a:ext cx="11276330" cy="664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一个基于系统节拍（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tick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）并通过软件实现的定时器，无需硬件资源，会在每个定时器时间周期触发回调函数，多用于对时间精度和实时性要求不高的场景（回调函数中不可使用带阻塞的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API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）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圆角矩形 13"/>
          <p:cNvSpPr/>
          <p:nvPr>
            <p:custDataLst>
              <p:tags r:id="rId1"/>
            </p:custDataLst>
          </p:nvPr>
        </p:nvSpPr>
        <p:spPr>
          <a:xfrm>
            <a:off x="1314450" y="2918942"/>
            <a:ext cx="2560955" cy="4524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409" tIns="35204" rIns="70409" bIns="3520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定时器服务任务与队列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906145" y="3480435"/>
            <a:ext cx="3377565" cy="98298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定时器独立与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FreeRTOS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内核，相关的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函数通过队列发送给定时器任务，且该队列用户无法访问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7527290" y="2918743"/>
            <a:ext cx="1553845" cy="452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409" tIns="35204" rIns="70409" bIns="35204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定时器类型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6144895" y="3480435"/>
            <a:ext cx="4318635" cy="77470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软件定时器分单次定时器和周期定时器，单次定时器开启后运行一次就会关闭，周期定时器开启后会周期型运行，只有调用停止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才会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关闭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5"/>
            </p:custDataLst>
          </p:nvPr>
        </p:nvCxnSpPr>
        <p:spPr>
          <a:xfrm>
            <a:off x="5752949" y="2949077"/>
            <a:ext cx="0" cy="1144797"/>
          </a:xfrm>
          <a:prstGeom prst="line">
            <a:avLst/>
          </a:prstGeom>
          <a:ln w="9779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/>
        </p:nvGraphicFramePr>
        <p:xfrm>
          <a:off x="1546225" y="4463415"/>
          <a:ext cx="853313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285"/>
                <a:gridCol w="4347845"/>
              </a:tblGrid>
              <a:tr h="3295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configUSE_TIMERS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启动调度器</a:t>
                      </a:r>
                      <a:r>
                        <a:rPr lang="zh-CN" altLang="en-US"/>
                        <a:t>时自动创建定时器服务</a:t>
                      </a: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configTIMER_TASK_PRIORITY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设置定时器服务任务的</a:t>
                      </a:r>
                      <a:r>
                        <a:rPr lang="zh-CN" altLang="en-US"/>
                        <a:t>优先级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configTIMER_QUEUE_LENGTH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定时器命令队列长度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configTIMER_TASK_STACK_DEPTH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定时器服务任务的堆栈</a:t>
                      </a:r>
                      <a:r>
                        <a:rPr lang="zh-CN" altLang="en-US"/>
                        <a:t>大小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282113" y="6240463"/>
            <a:ext cx="2909887" cy="206375"/>
          </a:xfrm>
        </p:spPr>
        <p:txBody>
          <a:bodyPr/>
          <a:lstStyle/>
          <a:p>
            <a:fld id="{5DD3DB80-B894-403A-B48E-6FDC1A72010E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0468" y="470848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API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 rot="516705">
            <a:off x="4211618" y="3544011"/>
            <a:ext cx="3587869" cy="1575510"/>
          </a:xfrm>
          <a:prstGeom prst="ellipse">
            <a:avLst/>
          </a:prstGeom>
          <a:noFill/>
          <a:ln>
            <a:gradFill>
              <a:gsLst>
                <a:gs pos="30000">
                  <a:schemeClr val="accent1">
                    <a:alpha val="0"/>
                  </a:schemeClr>
                </a:gs>
                <a:gs pos="100000">
                  <a:schemeClr val="accent1">
                    <a:alpha val="6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395787" y="2037196"/>
            <a:ext cx="3400425" cy="3400425"/>
          </a:xfrm>
          <a:prstGeom prst="ellipse">
            <a:avLst/>
          </a:prstGeom>
          <a:gradFill flip="none" rotWithShape="1">
            <a:gsLst>
              <a:gs pos="99000">
                <a:schemeClr val="accent1">
                  <a:alpha val="10000"/>
                </a:schemeClr>
              </a:gs>
              <a:gs pos="78000">
                <a:schemeClr val="accent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7433119" y="1685342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748954" y="2254937"/>
            <a:ext cx="258352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复位软件定时器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49299" y="1824506"/>
            <a:ext cx="159766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xTimerReset()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979025" y="2170482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8261572" y="3182608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86290" y="3737610"/>
            <a:ext cx="1805940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删除定时器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07267" y="3321772"/>
            <a:ext cx="166814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xTimerDelete()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807478" y="3667748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7433119" y="4679874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42834" y="5220259"/>
            <a:ext cx="2583525" cy="5899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修改定时器周期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42910" y="4813935"/>
            <a:ext cx="2556510" cy="341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xTimerChangePeriod()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  <a:p>
            <a:pPr algn="r"/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246995" y="5134610"/>
            <a:ext cx="35242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平行四边形 18"/>
          <p:cNvSpPr/>
          <p:nvPr/>
        </p:nvSpPr>
        <p:spPr>
          <a:xfrm flipH="1">
            <a:off x="1362063" y="1685342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 flipH="1">
            <a:off x="1883129" y="2240332"/>
            <a:ext cx="258352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创建软件定时器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 flipH="1">
            <a:off x="1883129" y="1824506"/>
            <a:ext cx="169608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xTimerCreate()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 flipH="1">
            <a:off x="1898638" y="2170482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平行四边形 22"/>
          <p:cNvSpPr/>
          <p:nvPr/>
        </p:nvSpPr>
        <p:spPr>
          <a:xfrm flipH="1">
            <a:off x="533610" y="3182608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 flipH="1">
            <a:off x="1054676" y="3737598"/>
            <a:ext cx="2583525" cy="2946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启动软件定时器</a:t>
            </a:r>
            <a:endParaRPr lang="zh-CN" altLang="en-US" sz="16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 flipH="1">
            <a:off x="1054676" y="3321772"/>
            <a:ext cx="147066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xTimerStart()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 flipH="1">
            <a:off x="1070185" y="3667748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平行四边形 26"/>
          <p:cNvSpPr/>
          <p:nvPr/>
        </p:nvSpPr>
        <p:spPr>
          <a:xfrm flipH="1">
            <a:off x="1362063" y="4679874"/>
            <a:ext cx="3434906" cy="1043940"/>
          </a:xfrm>
          <a:prstGeom prst="parallelogram">
            <a:avLst>
              <a:gd name="adj" fmla="val 27269"/>
            </a:avLst>
          </a:prstGeom>
          <a:noFill/>
          <a:ln w="22225">
            <a:gradFill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 flipH="1">
            <a:off x="1883129" y="5234864"/>
            <a:ext cx="2583525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停止软件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定时器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 flipH="1">
            <a:off x="1883129" y="4819038"/>
            <a:ext cx="145669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000" dirty="0">
                <a:solidFill>
                  <a:schemeClr val="accent1"/>
                </a:solidFill>
                <a:cs typeface="+mn-ea"/>
                <a:sym typeface="+mn-lt"/>
              </a:rPr>
              <a:t>xTimerStop()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 flipH="1">
            <a:off x="1898638" y="5165014"/>
            <a:ext cx="35242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 flipH="1">
            <a:off x="4740275" y="3365500"/>
            <a:ext cx="2687320" cy="100457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cs typeface="+mn-ea"/>
                <a:sym typeface="+mn-lt"/>
              </a:rPr>
              <a:t>软件定时器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dirty="0">
                <a:solidFill>
                  <a:schemeClr val="accent1"/>
                </a:solidFill>
                <a:cs typeface="+mn-ea"/>
                <a:sym typeface="+mn-lt"/>
              </a:rPr>
              <a:t>API</a:t>
            </a:r>
            <a:endParaRPr lang="en-US" altLang="zh-CN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4160291" y="4153863"/>
            <a:ext cx="145370" cy="145370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133084" y="5187873"/>
            <a:ext cx="254972" cy="254972"/>
          </a:xfrm>
          <a:prstGeom prst="ellipse">
            <a:avLst/>
          </a:prstGeom>
          <a:solidFill>
            <a:schemeClr val="accent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 rot="21194436">
            <a:off x="3926965" y="3237262"/>
            <a:ext cx="4314670" cy="1894664"/>
          </a:xfrm>
          <a:prstGeom prst="ellipse">
            <a:avLst/>
          </a:prstGeom>
          <a:noFill/>
          <a:ln>
            <a:gradFill>
              <a:gsLst>
                <a:gs pos="30000">
                  <a:schemeClr val="accent1">
                    <a:alpha val="0"/>
                  </a:schemeClr>
                </a:gs>
                <a:gs pos="100000">
                  <a:schemeClr val="accent1">
                    <a:alpha val="6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97118" y="396553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55005" y="1077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按下</a:t>
            </a:r>
            <a:r>
              <a:rPr lang="en-US" altLang="zh-CN"/>
              <a:t>KEY0</a:t>
            </a:r>
            <a:r>
              <a:rPr lang="zh-CN" altLang="en-US"/>
              <a:t>，开始周期定时</a:t>
            </a:r>
            <a:r>
              <a:rPr lang="zh-CN" altLang="en-US"/>
              <a:t>器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11825" y="21653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按下</a:t>
            </a:r>
            <a:r>
              <a:rPr lang="en-US" altLang="zh-CN"/>
              <a:t>KEY1</a:t>
            </a:r>
            <a:r>
              <a:rPr lang="zh-CN" altLang="en-US"/>
              <a:t>，开启单</a:t>
            </a:r>
            <a:r>
              <a:rPr lang="zh-CN" altLang="en-US"/>
              <a:t>次定时器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711825" y="3354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再次按下</a:t>
            </a:r>
            <a:r>
              <a:rPr lang="en-US" altLang="zh-CN"/>
              <a:t>KEY1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267460"/>
            <a:ext cx="5283200" cy="432308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V="1">
            <a:off x="3748405" y="1267460"/>
            <a:ext cx="2006600" cy="17843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3452495" y="2350770"/>
            <a:ext cx="2259330" cy="34036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3444875" y="3531235"/>
            <a:ext cx="2289175" cy="44386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5415280" y="4972685"/>
            <a:ext cx="459105" cy="5207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874385" y="4814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按下</a:t>
            </a:r>
            <a:r>
              <a:rPr lang="en-US" altLang="zh-CN"/>
              <a:t>KEY3</a:t>
            </a:r>
            <a:r>
              <a:rPr lang="zh-CN" altLang="en-US"/>
              <a:t>，停止两个</a:t>
            </a:r>
            <a:r>
              <a:rPr lang="zh-CN" altLang="en-US"/>
              <a:t>定时器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871770" y="3831270"/>
            <a:ext cx="4535055" cy="534035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36A9A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任务</a:t>
            </a:r>
            <a:r>
              <a:rPr lang="zh-CN" altLang="en-US" sz="32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通知</a:t>
            </a:r>
            <a:endParaRPr lang="zh-CN" altLang="en-US" sz="3200" b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07401" y="3948548"/>
            <a:ext cx="1126623" cy="691091"/>
            <a:chOff x="1746466" y="3978032"/>
            <a:chExt cx="1126623" cy="691091"/>
          </a:xfrm>
        </p:grpSpPr>
        <p:sp>
          <p:nvSpPr>
            <p:cNvPr id="238" name="任意多边形 237"/>
            <p:cNvSpPr/>
            <p:nvPr/>
          </p:nvSpPr>
          <p:spPr bwMode="auto">
            <a:xfrm>
              <a:off x="1746466" y="4024824"/>
              <a:ext cx="1126623" cy="644299"/>
            </a:xfrm>
            <a:custGeom>
              <a:avLst/>
              <a:gdLst>
                <a:gd name="T0" fmla="*/ 671 w 1142"/>
                <a:gd name="T1" fmla="*/ 644 h 654"/>
                <a:gd name="T2" fmla="*/ 604 w 1142"/>
                <a:gd name="T3" fmla="*/ 641 h 654"/>
                <a:gd name="T4" fmla="*/ 25 w 1142"/>
                <a:gd name="T5" fmla="*/ 306 h 654"/>
                <a:gd name="T6" fmla="*/ 17 w 1142"/>
                <a:gd name="T7" fmla="*/ 226 h 654"/>
                <a:gd name="T8" fmla="*/ 466 w 1142"/>
                <a:gd name="T9" fmla="*/ 10 h 654"/>
                <a:gd name="T10" fmla="*/ 533 w 1142"/>
                <a:gd name="T11" fmla="*/ 13 h 654"/>
                <a:gd name="T12" fmla="*/ 1122 w 1142"/>
                <a:gd name="T13" fmla="*/ 305 h 654"/>
                <a:gd name="T14" fmla="*/ 1118 w 1142"/>
                <a:gd name="T15" fmla="*/ 386 h 654"/>
                <a:gd name="T16" fmla="*/ 671 w 1142"/>
                <a:gd name="T17" fmla="*/ 64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2" h="654">
                  <a:moveTo>
                    <a:pt x="671" y="644"/>
                  </a:moveTo>
                  <a:cubicBezTo>
                    <a:pt x="654" y="654"/>
                    <a:pt x="624" y="652"/>
                    <a:pt x="604" y="641"/>
                  </a:cubicBezTo>
                  <a:cubicBezTo>
                    <a:pt x="25" y="306"/>
                    <a:pt x="25" y="306"/>
                    <a:pt x="25" y="306"/>
                  </a:cubicBezTo>
                  <a:cubicBezTo>
                    <a:pt x="5" y="295"/>
                    <a:pt x="0" y="236"/>
                    <a:pt x="17" y="226"/>
                  </a:cubicBezTo>
                  <a:cubicBezTo>
                    <a:pt x="466" y="10"/>
                    <a:pt x="466" y="10"/>
                    <a:pt x="466" y="10"/>
                  </a:cubicBezTo>
                  <a:cubicBezTo>
                    <a:pt x="483" y="0"/>
                    <a:pt x="513" y="1"/>
                    <a:pt x="533" y="13"/>
                  </a:cubicBezTo>
                  <a:cubicBezTo>
                    <a:pt x="1122" y="305"/>
                    <a:pt x="1122" y="305"/>
                    <a:pt x="1122" y="305"/>
                  </a:cubicBezTo>
                  <a:cubicBezTo>
                    <a:pt x="1142" y="317"/>
                    <a:pt x="1135" y="376"/>
                    <a:pt x="1118" y="386"/>
                  </a:cubicBezTo>
                  <a:lnTo>
                    <a:pt x="671" y="644"/>
                  </a:lnTo>
                  <a:close/>
                </a:path>
              </a:pathLst>
            </a:custGeom>
            <a:solidFill>
              <a:srgbClr val="CECD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任意多边形 238"/>
            <p:cNvSpPr/>
            <p:nvPr/>
          </p:nvSpPr>
          <p:spPr bwMode="auto">
            <a:xfrm>
              <a:off x="1754565" y="3978032"/>
              <a:ext cx="1115825" cy="643399"/>
            </a:xfrm>
            <a:custGeom>
              <a:avLst/>
              <a:gdLst>
                <a:gd name="T0" fmla="*/ 669 w 1132"/>
                <a:gd name="T1" fmla="*/ 643 h 653"/>
                <a:gd name="T2" fmla="*/ 602 w 1132"/>
                <a:gd name="T3" fmla="*/ 641 h 653"/>
                <a:gd name="T4" fmla="*/ 22 w 1132"/>
                <a:gd name="T5" fmla="*/ 306 h 653"/>
                <a:gd name="T6" fmla="*/ 17 w 1132"/>
                <a:gd name="T7" fmla="*/ 267 h 653"/>
                <a:gd name="T8" fmla="*/ 463 w 1132"/>
                <a:gd name="T9" fmla="*/ 10 h 653"/>
                <a:gd name="T10" fmla="*/ 530 w 1132"/>
                <a:gd name="T11" fmla="*/ 12 h 653"/>
                <a:gd name="T12" fmla="*/ 1110 w 1132"/>
                <a:gd name="T13" fmla="*/ 347 h 653"/>
                <a:gd name="T14" fmla="*/ 1115 w 1132"/>
                <a:gd name="T15" fmla="*/ 386 h 653"/>
                <a:gd name="T16" fmla="*/ 669 w 1132"/>
                <a:gd name="T17" fmla="*/ 643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2" h="653">
                  <a:moveTo>
                    <a:pt x="669" y="643"/>
                  </a:moveTo>
                  <a:cubicBezTo>
                    <a:pt x="651" y="653"/>
                    <a:pt x="621" y="652"/>
                    <a:pt x="602" y="641"/>
                  </a:cubicBezTo>
                  <a:cubicBezTo>
                    <a:pt x="22" y="306"/>
                    <a:pt x="22" y="306"/>
                    <a:pt x="22" y="306"/>
                  </a:cubicBezTo>
                  <a:cubicBezTo>
                    <a:pt x="2" y="294"/>
                    <a:pt x="0" y="277"/>
                    <a:pt x="17" y="267"/>
                  </a:cubicBezTo>
                  <a:cubicBezTo>
                    <a:pt x="463" y="10"/>
                    <a:pt x="463" y="10"/>
                    <a:pt x="463" y="10"/>
                  </a:cubicBezTo>
                  <a:cubicBezTo>
                    <a:pt x="481" y="0"/>
                    <a:pt x="511" y="1"/>
                    <a:pt x="530" y="12"/>
                  </a:cubicBezTo>
                  <a:cubicBezTo>
                    <a:pt x="1110" y="347"/>
                    <a:pt x="1110" y="347"/>
                    <a:pt x="1110" y="347"/>
                  </a:cubicBezTo>
                  <a:cubicBezTo>
                    <a:pt x="1130" y="358"/>
                    <a:pt x="1132" y="376"/>
                    <a:pt x="1115" y="386"/>
                  </a:cubicBezTo>
                  <a:lnTo>
                    <a:pt x="669" y="6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任意多边形 239"/>
            <p:cNvSpPr/>
            <p:nvPr/>
          </p:nvSpPr>
          <p:spPr bwMode="auto">
            <a:xfrm>
              <a:off x="1815755" y="4009527"/>
              <a:ext cx="996143" cy="574110"/>
            </a:xfrm>
            <a:custGeom>
              <a:avLst/>
              <a:gdLst>
                <a:gd name="T0" fmla="*/ 484 w 1107"/>
                <a:gd name="T1" fmla="*/ 0 h 638"/>
                <a:gd name="T2" fmla="*/ 1107 w 1107"/>
                <a:gd name="T3" fmla="*/ 358 h 638"/>
                <a:gd name="T4" fmla="*/ 622 w 1107"/>
                <a:gd name="T5" fmla="*/ 638 h 638"/>
                <a:gd name="T6" fmla="*/ 0 w 1107"/>
                <a:gd name="T7" fmla="*/ 281 h 638"/>
                <a:gd name="T8" fmla="*/ 484 w 1107"/>
                <a:gd name="T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7" h="638">
                  <a:moveTo>
                    <a:pt x="484" y="0"/>
                  </a:moveTo>
                  <a:lnTo>
                    <a:pt x="1107" y="358"/>
                  </a:lnTo>
                  <a:lnTo>
                    <a:pt x="622" y="638"/>
                  </a:lnTo>
                  <a:lnTo>
                    <a:pt x="0" y="281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任意多边形 240"/>
            <p:cNvSpPr/>
            <p:nvPr/>
          </p:nvSpPr>
          <p:spPr bwMode="auto">
            <a:xfrm>
              <a:off x="2324175" y="4094113"/>
              <a:ext cx="193470" cy="210567"/>
            </a:xfrm>
            <a:custGeom>
              <a:avLst/>
              <a:gdLst>
                <a:gd name="T0" fmla="*/ 0 w 215"/>
                <a:gd name="T1" fmla="*/ 234 h 234"/>
                <a:gd name="T2" fmla="*/ 215 w 215"/>
                <a:gd name="T3" fmla="*/ 171 h 234"/>
                <a:gd name="T4" fmla="*/ 215 w 215"/>
                <a:gd name="T5" fmla="*/ 20 h 234"/>
                <a:gd name="T6" fmla="*/ 1 w 215"/>
                <a:gd name="T7" fmla="*/ 0 h 234"/>
                <a:gd name="T8" fmla="*/ 0 w 215"/>
                <a:gd name="T9" fmla="*/ 95 h 234"/>
                <a:gd name="T10" fmla="*/ 0 w 215"/>
                <a:gd name="T1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5" h="234">
                  <a:moveTo>
                    <a:pt x="0" y="234"/>
                  </a:moveTo>
                  <a:lnTo>
                    <a:pt x="215" y="171"/>
                  </a:lnTo>
                  <a:lnTo>
                    <a:pt x="215" y="20"/>
                  </a:lnTo>
                  <a:lnTo>
                    <a:pt x="1" y="0"/>
                  </a:lnTo>
                  <a:lnTo>
                    <a:pt x="0" y="95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6C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任意多边形 241"/>
            <p:cNvSpPr/>
            <p:nvPr/>
          </p:nvSpPr>
          <p:spPr bwMode="auto">
            <a:xfrm>
              <a:off x="2102810" y="4197597"/>
              <a:ext cx="221365" cy="180872"/>
            </a:xfrm>
            <a:custGeom>
              <a:avLst/>
              <a:gdLst>
                <a:gd name="T0" fmla="*/ 3 w 225"/>
                <a:gd name="T1" fmla="*/ 119 h 183"/>
                <a:gd name="T2" fmla="*/ 26 w 225"/>
                <a:gd name="T3" fmla="*/ 183 h 183"/>
                <a:gd name="T4" fmla="*/ 224 w 225"/>
                <a:gd name="T5" fmla="*/ 126 h 183"/>
                <a:gd name="T6" fmla="*/ 225 w 225"/>
                <a:gd name="T7" fmla="*/ 0 h 183"/>
                <a:gd name="T8" fmla="*/ 224 w 225"/>
                <a:gd name="T9" fmla="*/ 0 h 183"/>
                <a:gd name="T10" fmla="*/ 67 w 225"/>
                <a:gd name="T11" fmla="*/ 37 h 183"/>
                <a:gd name="T12" fmla="*/ 45 w 225"/>
                <a:gd name="T13" fmla="*/ 52 h 183"/>
                <a:gd name="T14" fmla="*/ 3 w 225"/>
                <a:gd name="T15" fmla="*/ 25 h 183"/>
                <a:gd name="T16" fmla="*/ 3 w 225"/>
                <a:gd name="T17" fmla="*/ 119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5" h="183">
                  <a:moveTo>
                    <a:pt x="3" y="119"/>
                  </a:moveTo>
                  <a:cubicBezTo>
                    <a:pt x="0" y="141"/>
                    <a:pt x="8" y="163"/>
                    <a:pt x="26" y="183"/>
                  </a:cubicBezTo>
                  <a:cubicBezTo>
                    <a:pt x="224" y="126"/>
                    <a:pt x="224" y="126"/>
                    <a:pt x="224" y="126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167" y="0"/>
                    <a:pt x="110" y="12"/>
                    <a:pt x="67" y="37"/>
                  </a:cubicBezTo>
                  <a:cubicBezTo>
                    <a:pt x="59" y="42"/>
                    <a:pt x="52" y="47"/>
                    <a:pt x="45" y="52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3" y="119"/>
                  </a:lnTo>
                  <a:close/>
                </a:path>
              </a:pathLst>
            </a:custGeom>
            <a:solidFill>
              <a:srgbClr val="FFB4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任意多边形 242"/>
            <p:cNvSpPr/>
            <p:nvPr/>
          </p:nvSpPr>
          <p:spPr bwMode="auto">
            <a:xfrm>
              <a:off x="2128006" y="4202996"/>
              <a:ext cx="195269" cy="165574"/>
            </a:xfrm>
            <a:custGeom>
              <a:avLst/>
              <a:gdLst>
                <a:gd name="T0" fmla="*/ 0 w 217"/>
                <a:gd name="T1" fmla="*/ 184 h 184"/>
                <a:gd name="T2" fmla="*/ 0 w 217"/>
                <a:gd name="T3" fmla="*/ 82 h 184"/>
                <a:gd name="T4" fmla="*/ 217 w 217"/>
                <a:gd name="T5" fmla="*/ 0 h 184"/>
                <a:gd name="T6" fmla="*/ 217 w 217"/>
                <a:gd name="T7" fmla="*/ 85 h 184"/>
                <a:gd name="T8" fmla="*/ 0 w 217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7" h="184">
                  <a:moveTo>
                    <a:pt x="0" y="184"/>
                  </a:moveTo>
                  <a:lnTo>
                    <a:pt x="0" y="82"/>
                  </a:lnTo>
                  <a:lnTo>
                    <a:pt x="217" y="0"/>
                  </a:lnTo>
                  <a:lnTo>
                    <a:pt x="217" y="85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D9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任意多边形 243"/>
            <p:cNvSpPr/>
            <p:nvPr/>
          </p:nvSpPr>
          <p:spPr bwMode="auto">
            <a:xfrm>
              <a:off x="2128006" y="4265986"/>
              <a:ext cx="411235" cy="180872"/>
            </a:xfrm>
            <a:custGeom>
              <a:avLst/>
              <a:gdLst>
                <a:gd name="T0" fmla="*/ 0 w 417"/>
                <a:gd name="T1" fmla="*/ 61 h 184"/>
                <a:gd name="T2" fmla="*/ 0 w 417"/>
                <a:gd name="T3" fmla="*/ 114 h 184"/>
                <a:gd name="T4" fmla="*/ 42 w 417"/>
                <a:gd name="T5" fmla="*/ 147 h 184"/>
                <a:gd name="T6" fmla="*/ 197 w 417"/>
                <a:gd name="T7" fmla="*/ 184 h 184"/>
                <a:gd name="T8" fmla="*/ 353 w 417"/>
                <a:gd name="T9" fmla="*/ 147 h 184"/>
                <a:gd name="T10" fmla="*/ 417 w 417"/>
                <a:gd name="T11" fmla="*/ 59 h 184"/>
                <a:gd name="T12" fmla="*/ 417 w 417"/>
                <a:gd name="T13" fmla="*/ 1 h 184"/>
                <a:gd name="T14" fmla="*/ 396 w 417"/>
                <a:gd name="T15" fmla="*/ 3 h 184"/>
                <a:gd name="T16" fmla="*/ 394 w 417"/>
                <a:gd name="T17" fmla="*/ 0 h 184"/>
                <a:gd name="T18" fmla="*/ 382 w 417"/>
                <a:gd name="T19" fmla="*/ 4 h 184"/>
                <a:gd name="T20" fmla="*/ 170 w 417"/>
                <a:gd name="T21" fmla="*/ 22 h 184"/>
                <a:gd name="T22" fmla="*/ 0 w 417"/>
                <a:gd name="T23" fmla="*/ 6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7" h="184">
                  <a:moveTo>
                    <a:pt x="0" y="61"/>
                  </a:moveTo>
                  <a:cubicBezTo>
                    <a:pt x="0" y="114"/>
                    <a:pt x="0" y="114"/>
                    <a:pt x="0" y="114"/>
                  </a:cubicBezTo>
                  <a:cubicBezTo>
                    <a:pt x="10" y="126"/>
                    <a:pt x="24" y="137"/>
                    <a:pt x="42" y="147"/>
                  </a:cubicBezTo>
                  <a:cubicBezTo>
                    <a:pt x="85" y="172"/>
                    <a:pt x="141" y="184"/>
                    <a:pt x="197" y="184"/>
                  </a:cubicBezTo>
                  <a:cubicBezTo>
                    <a:pt x="253" y="184"/>
                    <a:pt x="310" y="172"/>
                    <a:pt x="353" y="147"/>
                  </a:cubicBezTo>
                  <a:cubicBezTo>
                    <a:pt x="395" y="123"/>
                    <a:pt x="416" y="91"/>
                    <a:pt x="417" y="59"/>
                  </a:cubicBezTo>
                  <a:cubicBezTo>
                    <a:pt x="417" y="1"/>
                    <a:pt x="417" y="1"/>
                    <a:pt x="417" y="1"/>
                  </a:cubicBezTo>
                  <a:cubicBezTo>
                    <a:pt x="396" y="3"/>
                    <a:pt x="396" y="3"/>
                    <a:pt x="396" y="3"/>
                  </a:cubicBezTo>
                  <a:cubicBezTo>
                    <a:pt x="395" y="2"/>
                    <a:pt x="395" y="1"/>
                    <a:pt x="394" y="0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170" y="22"/>
                    <a:pt x="170" y="22"/>
                    <a:pt x="170" y="22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654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5" name="任意多边形 244"/>
            <p:cNvSpPr/>
            <p:nvPr/>
          </p:nvSpPr>
          <p:spPr bwMode="auto">
            <a:xfrm>
              <a:off x="2323275" y="4043721"/>
              <a:ext cx="193470" cy="123281"/>
            </a:xfrm>
            <a:custGeom>
              <a:avLst/>
              <a:gdLst>
                <a:gd name="T0" fmla="*/ 1 w 196"/>
                <a:gd name="T1" fmla="*/ 0 h 126"/>
                <a:gd name="T2" fmla="*/ 155 w 196"/>
                <a:gd name="T3" fmla="*/ 37 h 126"/>
                <a:gd name="T4" fmla="*/ 196 w 196"/>
                <a:gd name="T5" fmla="*/ 70 h 126"/>
                <a:gd name="T6" fmla="*/ 0 w 196"/>
                <a:gd name="T7" fmla="*/ 126 h 126"/>
                <a:gd name="T8" fmla="*/ 1 w 196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" h="126">
                  <a:moveTo>
                    <a:pt x="1" y="0"/>
                  </a:moveTo>
                  <a:cubicBezTo>
                    <a:pt x="56" y="0"/>
                    <a:pt x="112" y="13"/>
                    <a:pt x="155" y="37"/>
                  </a:cubicBezTo>
                  <a:cubicBezTo>
                    <a:pt x="172" y="47"/>
                    <a:pt x="186" y="58"/>
                    <a:pt x="196" y="70"/>
                  </a:cubicBezTo>
                  <a:cubicBezTo>
                    <a:pt x="0" y="126"/>
                    <a:pt x="0" y="126"/>
                    <a:pt x="0" y="12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C95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6" name="任意多边形 245"/>
            <p:cNvSpPr/>
            <p:nvPr/>
          </p:nvSpPr>
          <p:spPr bwMode="auto">
            <a:xfrm>
              <a:off x="2087512" y="4095913"/>
              <a:ext cx="236663" cy="180872"/>
            </a:xfrm>
            <a:custGeom>
              <a:avLst/>
              <a:gdLst>
                <a:gd name="T0" fmla="*/ 82 w 240"/>
                <a:gd name="T1" fmla="*/ 38 h 184"/>
                <a:gd name="T2" fmla="*/ 239 w 240"/>
                <a:gd name="T3" fmla="*/ 1 h 184"/>
                <a:gd name="T4" fmla="*/ 240 w 240"/>
                <a:gd name="T5" fmla="*/ 1 h 184"/>
                <a:gd name="T6" fmla="*/ 239 w 240"/>
                <a:gd name="T7" fmla="*/ 127 h 184"/>
                <a:gd name="T8" fmla="*/ 41 w 240"/>
                <a:gd name="T9" fmla="*/ 184 h 184"/>
                <a:gd name="T10" fmla="*/ 82 w 240"/>
                <a:gd name="T11" fmla="*/ 3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0" h="184">
                  <a:moveTo>
                    <a:pt x="82" y="38"/>
                  </a:moveTo>
                  <a:cubicBezTo>
                    <a:pt x="126" y="13"/>
                    <a:pt x="182" y="0"/>
                    <a:pt x="239" y="1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27"/>
                    <a:pt x="239" y="127"/>
                    <a:pt x="239" y="127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0" y="137"/>
                    <a:pt x="14" y="77"/>
                    <a:pt x="82" y="38"/>
                  </a:cubicBezTo>
                  <a:close/>
                </a:path>
              </a:pathLst>
            </a:custGeom>
            <a:solidFill>
              <a:srgbClr val="FFEE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7" name="任意多边形 246"/>
            <p:cNvSpPr/>
            <p:nvPr/>
          </p:nvSpPr>
          <p:spPr bwMode="auto">
            <a:xfrm>
              <a:off x="2128006" y="4213794"/>
              <a:ext cx="429233" cy="180872"/>
            </a:xfrm>
            <a:custGeom>
              <a:avLst/>
              <a:gdLst>
                <a:gd name="T0" fmla="*/ 198 w 435"/>
                <a:gd name="T1" fmla="*/ 57 h 184"/>
                <a:gd name="T2" fmla="*/ 394 w 435"/>
                <a:gd name="T3" fmla="*/ 0 h 184"/>
                <a:gd name="T4" fmla="*/ 353 w 435"/>
                <a:gd name="T5" fmla="*/ 147 h 184"/>
                <a:gd name="T6" fmla="*/ 197 w 435"/>
                <a:gd name="T7" fmla="*/ 184 h 184"/>
                <a:gd name="T8" fmla="*/ 42 w 435"/>
                <a:gd name="T9" fmla="*/ 147 h 184"/>
                <a:gd name="T10" fmla="*/ 0 w 435"/>
                <a:gd name="T11" fmla="*/ 114 h 184"/>
                <a:gd name="T12" fmla="*/ 198 w 435"/>
                <a:gd name="T13" fmla="*/ 5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84">
                  <a:moveTo>
                    <a:pt x="198" y="57"/>
                  </a:moveTo>
                  <a:cubicBezTo>
                    <a:pt x="394" y="0"/>
                    <a:pt x="394" y="0"/>
                    <a:pt x="394" y="0"/>
                  </a:cubicBezTo>
                  <a:cubicBezTo>
                    <a:pt x="435" y="48"/>
                    <a:pt x="421" y="107"/>
                    <a:pt x="353" y="147"/>
                  </a:cubicBezTo>
                  <a:cubicBezTo>
                    <a:pt x="310" y="172"/>
                    <a:pt x="253" y="184"/>
                    <a:pt x="197" y="184"/>
                  </a:cubicBezTo>
                  <a:cubicBezTo>
                    <a:pt x="141" y="184"/>
                    <a:pt x="85" y="172"/>
                    <a:pt x="42" y="147"/>
                  </a:cubicBezTo>
                  <a:cubicBezTo>
                    <a:pt x="24" y="137"/>
                    <a:pt x="10" y="126"/>
                    <a:pt x="0" y="114"/>
                  </a:cubicBezTo>
                  <a:lnTo>
                    <a:pt x="198" y="57"/>
                  </a:lnTo>
                  <a:close/>
                </a:path>
              </a:pathLst>
            </a:custGeom>
            <a:solidFill>
              <a:srgbClr val="927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817287" y="2356943"/>
            <a:ext cx="1271500" cy="960149"/>
            <a:chOff x="2440257" y="2648041"/>
            <a:chExt cx="1271500" cy="960149"/>
          </a:xfrm>
        </p:grpSpPr>
        <p:sp>
          <p:nvSpPr>
            <p:cNvPr id="248" name="任意多边形 247"/>
            <p:cNvSpPr>
              <a:spLocks noEditPoints="1"/>
            </p:cNvSpPr>
            <p:nvPr/>
          </p:nvSpPr>
          <p:spPr bwMode="auto">
            <a:xfrm>
              <a:off x="2440257" y="2938695"/>
              <a:ext cx="1271500" cy="669495"/>
            </a:xfrm>
            <a:custGeom>
              <a:avLst/>
              <a:gdLst>
                <a:gd name="T0" fmla="*/ 647 w 1290"/>
                <a:gd name="T1" fmla="*/ 592 h 680"/>
                <a:gd name="T2" fmla="*/ 339 w 1290"/>
                <a:gd name="T3" fmla="*/ 518 h 680"/>
                <a:gd name="T4" fmla="*/ 337 w 1290"/>
                <a:gd name="T5" fmla="*/ 162 h 680"/>
                <a:gd name="T6" fmla="*/ 644 w 1290"/>
                <a:gd name="T7" fmla="*/ 88 h 680"/>
                <a:gd name="T8" fmla="*/ 952 w 1290"/>
                <a:gd name="T9" fmla="*/ 162 h 680"/>
                <a:gd name="T10" fmla="*/ 954 w 1290"/>
                <a:gd name="T11" fmla="*/ 518 h 680"/>
                <a:gd name="T12" fmla="*/ 647 w 1290"/>
                <a:gd name="T13" fmla="*/ 592 h 680"/>
                <a:gd name="T14" fmla="*/ 643 w 1290"/>
                <a:gd name="T15" fmla="*/ 0 h 680"/>
                <a:gd name="T16" fmla="*/ 229 w 1290"/>
                <a:gd name="T17" fmla="*/ 99 h 680"/>
                <a:gd name="T18" fmla="*/ 232 w 1290"/>
                <a:gd name="T19" fmla="*/ 580 h 680"/>
                <a:gd name="T20" fmla="*/ 647 w 1290"/>
                <a:gd name="T21" fmla="*/ 680 h 680"/>
                <a:gd name="T22" fmla="*/ 1062 w 1290"/>
                <a:gd name="T23" fmla="*/ 580 h 680"/>
                <a:gd name="T24" fmla="*/ 1059 w 1290"/>
                <a:gd name="T25" fmla="*/ 99 h 680"/>
                <a:gd name="T26" fmla="*/ 643 w 1290"/>
                <a:gd name="T27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0" h="680">
                  <a:moveTo>
                    <a:pt x="647" y="592"/>
                  </a:moveTo>
                  <a:cubicBezTo>
                    <a:pt x="535" y="592"/>
                    <a:pt x="424" y="567"/>
                    <a:pt x="339" y="518"/>
                  </a:cubicBezTo>
                  <a:cubicBezTo>
                    <a:pt x="168" y="419"/>
                    <a:pt x="168" y="260"/>
                    <a:pt x="337" y="162"/>
                  </a:cubicBezTo>
                  <a:cubicBezTo>
                    <a:pt x="421" y="112"/>
                    <a:pt x="533" y="88"/>
                    <a:pt x="644" y="88"/>
                  </a:cubicBezTo>
                  <a:cubicBezTo>
                    <a:pt x="755" y="88"/>
                    <a:pt x="867" y="112"/>
                    <a:pt x="952" y="162"/>
                  </a:cubicBezTo>
                  <a:cubicBezTo>
                    <a:pt x="1122" y="260"/>
                    <a:pt x="1123" y="419"/>
                    <a:pt x="954" y="518"/>
                  </a:cubicBezTo>
                  <a:cubicBezTo>
                    <a:pt x="869" y="567"/>
                    <a:pt x="758" y="592"/>
                    <a:pt x="647" y="592"/>
                  </a:cubicBezTo>
                  <a:moveTo>
                    <a:pt x="643" y="0"/>
                  </a:moveTo>
                  <a:cubicBezTo>
                    <a:pt x="493" y="0"/>
                    <a:pt x="343" y="33"/>
                    <a:pt x="229" y="99"/>
                  </a:cubicBezTo>
                  <a:cubicBezTo>
                    <a:pt x="0" y="232"/>
                    <a:pt x="2" y="447"/>
                    <a:pt x="232" y="580"/>
                  </a:cubicBezTo>
                  <a:cubicBezTo>
                    <a:pt x="347" y="646"/>
                    <a:pt x="497" y="680"/>
                    <a:pt x="647" y="680"/>
                  </a:cubicBezTo>
                  <a:cubicBezTo>
                    <a:pt x="797" y="680"/>
                    <a:pt x="947" y="646"/>
                    <a:pt x="1062" y="580"/>
                  </a:cubicBezTo>
                  <a:cubicBezTo>
                    <a:pt x="1290" y="447"/>
                    <a:pt x="1289" y="232"/>
                    <a:pt x="1059" y="99"/>
                  </a:cubicBezTo>
                  <a:cubicBezTo>
                    <a:pt x="944" y="33"/>
                    <a:pt x="794" y="0"/>
                    <a:pt x="643" y="0"/>
                  </a:cubicBezTo>
                </a:path>
              </a:pathLst>
            </a:custGeom>
            <a:solidFill>
              <a:schemeClr val="bg1">
                <a:lumMod val="65000"/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9" name="任意多边形 248"/>
            <p:cNvSpPr>
              <a:spLocks noEditPoints="1"/>
            </p:cNvSpPr>
            <p:nvPr/>
          </p:nvSpPr>
          <p:spPr bwMode="auto">
            <a:xfrm>
              <a:off x="2605831" y="3025082"/>
              <a:ext cx="941252" cy="495822"/>
            </a:xfrm>
            <a:custGeom>
              <a:avLst/>
              <a:gdLst>
                <a:gd name="T0" fmla="*/ 478 w 955"/>
                <a:gd name="T1" fmla="*/ 411 h 504"/>
                <a:gd name="T2" fmla="*/ 284 w 955"/>
                <a:gd name="T3" fmla="*/ 364 h 504"/>
                <a:gd name="T4" fmla="*/ 282 w 955"/>
                <a:gd name="T5" fmla="*/ 139 h 504"/>
                <a:gd name="T6" fmla="*/ 476 w 955"/>
                <a:gd name="T7" fmla="*/ 93 h 504"/>
                <a:gd name="T8" fmla="*/ 671 w 955"/>
                <a:gd name="T9" fmla="*/ 139 h 504"/>
                <a:gd name="T10" fmla="*/ 672 w 955"/>
                <a:gd name="T11" fmla="*/ 364 h 504"/>
                <a:gd name="T12" fmla="*/ 478 w 955"/>
                <a:gd name="T13" fmla="*/ 411 h 504"/>
                <a:gd name="T14" fmla="*/ 476 w 955"/>
                <a:gd name="T15" fmla="*/ 0 h 504"/>
                <a:gd name="T16" fmla="*/ 169 w 955"/>
                <a:gd name="T17" fmla="*/ 74 h 504"/>
                <a:gd name="T18" fmla="*/ 171 w 955"/>
                <a:gd name="T19" fmla="*/ 430 h 504"/>
                <a:gd name="T20" fmla="*/ 479 w 955"/>
                <a:gd name="T21" fmla="*/ 504 h 504"/>
                <a:gd name="T22" fmla="*/ 786 w 955"/>
                <a:gd name="T23" fmla="*/ 430 h 504"/>
                <a:gd name="T24" fmla="*/ 784 w 955"/>
                <a:gd name="T25" fmla="*/ 74 h 504"/>
                <a:gd name="T26" fmla="*/ 476 w 955"/>
                <a:gd name="T27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5" h="504">
                  <a:moveTo>
                    <a:pt x="478" y="411"/>
                  </a:moveTo>
                  <a:cubicBezTo>
                    <a:pt x="408" y="411"/>
                    <a:pt x="338" y="395"/>
                    <a:pt x="284" y="364"/>
                  </a:cubicBezTo>
                  <a:cubicBezTo>
                    <a:pt x="176" y="302"/>
                    <a:pt x="176" y="201"/>
                    <a:pt x="282" y="139"/>
                  </a:cubicBezTo>
                  <a:cubicBezTo>
                    <a:pt x="336" y="108"/>
                    <a:pt x="406" y="93"/>
                    <a:pt x="476" y="93"/>
                  </a:cubicBezTo>
                  <a:cubicBezTo>
                    <a:pt x="547" y="93"/>
                    <a:pt x="617" y="108"/>
                    <a:pt x="671" y="139"/>
                  </a:cubicBezTo>
                  <a:cubicBezTo>
                    <a:pt x="778" y="201"/>
                    <a:pt x="779" y="302"/>
                    <a:pt x="672" y="364"/>
                  </a:cubicBezTo>
                  <a:cubicBezTo>
                    <a:pt x="619" y="395"/>
                    <a:pt x="548" y="411"/>
                    <a:pt x="478" y="411"/>
                  </a:cubicBezTo>
                  <a:moveTo>
                    <a:pt x="476" y="0"/>
                  </a:moveTo>
                  <a:cubicBezTo>
                    <a:pt x="365" y="0"/>
                    <a:pt x="253" y="24"/>
                    <a:pt x="169" y="74"/>
                  </a:cubicBezTo>
                  <a:cubicBezTo>
                    <a:pt x="0" y="172"/>
                    <a:pt x="0" y="331"/>
                    <a:pt x="171" y="430"/>
                  </a:cubicBezTo>
                  <a:cubicBezTo>
                    <a:pt x="256" y="479"/>
                    <a:pt x="367" y="504"/>
                    <a:pt x="479" y="504"/>
                  </a:cubicBezTo>
                  <a:cubicBezTo>
                    <a:pt x="590" y="504"/>
                    <a:pt x="701" y="479"/>
                    <a:pt x="786" y="430"/>
                  </a:cubicBezTo>
                  <a:cubicBezTo>
                    <a:pt x="955" y="331"/>
                    <a:pt x="954" y="172"/>
                    <a:pt x="784" y="74"/>
                  </a:cubicBezTo>
                  <a:cubicBezTo>
                    <a:pt x="699" y="24"/>
                    <a:pt x="587" y="0"/>
                    <a:pt x="476" y="0"/>
                  </a:cubicBezTo>
                </a:path>
              </a:pathLst>
            </a:custGeom>
            <a:solidFill>
              <a:schemeClr val="bg1">
                <a:lumMod val="65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0" name="任意多边形 249"/>
            <p:cNvSpPr/>
            <p:nvPr/>
          </p:nvSpPr>
          <p:spPr bwMode="auto">
            <a:xfrm>
              <a:off x="2779504" y="3116867"/>
              <a:ext cx="593907" cy="313151"/>
            </a:xfrm>
            <a:custGeom>
              <a:avLst/>
              <a:gdLst>
                <a:gd name="T0" fmla="*/ 300 w 603"/>
                <a:gd name="T1" fmla="*/ 0 h 318"/>
                <a:gd name="T2" fmla="*/ 106 w 603"/>
                <a:gd name="T3" fmla="*/ 46 h 318"/>
                <a:gd name="T4" fmla="*/ 108 w 603"/>
                <a:gd name="T5" fmla="*/ 271 h 318"/>
                <a:gd name="T6" fmla="*/ 302 w 603"/>
                <a:gd name="T7" fmla="*/ 318 h 318"/>
                <a:gd name="T8" fmla="*/ 496 w 603"/>
                <a:gd name="T9" fmla="*/ 271 h 318"/>
                <a:gd name="T10" fmla="*/ 495 w 603"/>
                <a:gd name="T11" fmla="*/ 46 h 318"/>
                <a:gd name="T12" fmla="*/ 300 w 603"/>
                <a:gd name="T13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3" h="318">
                  <a:moveTo>
                    <a:pt x="300" y="0"/>
                  </a:moveTo>
                  <a:cubicBezTo>
                    <a:pt x="230" y="0"/>
                    <a:pt x="160" y="15"/>
                    <a:pt x="106" y="46"/>
                  </a:cubicBezTo>
                  <a:cubicBezTo>
                    <a:pt x="0" y="108"/>
                    <a:pt x="0" y="209"/>
                    <a:pt x="108" y="271"/>
                  </a:cubicBezTo>
                  <a:cubicBezTo>
                    <a:pt x="162" y="302"/>
                    <a:pt x="232" y="318"/>
                    <a:pt x="302" y="318"/>
                  </a:cubicBezTo>
                  <a:cubicBezTo>
                    <a:pt x="372" y="318"/>
                    <a:pt x="443" y="302"/>
                    <a:pt x="496" y="271"/>
                  </a:cubicBezTo>
                  <a:cubicBezTo>
                    <a:pt x="603" y="209"/>
                    <a:pt x="602" y="108"/>
                    <a:pt x="495" y="46"/>
                  </a:cubicBezTo>
                  <a:cubicBezTo>
                    <a:pt x="441" y="15"/>
                    <a:pt x="371" y="0"/>
                    <a:pt x="300" y="0"/>
                  </a:cubicBezTo>
                </a:path>
              </a:pathLst>
            </a:custGeom>
            <a:solidFill>
              <a:schemeClr val="bg1">
                <a:lumMod val="65000"/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1" name="任意多边形 250"/>
            <p:cNvSpPr/>
            <p:nvPr/>
          </p:nvSpPr>
          <p:spPr bwMode="auto">
            <a:xfrm>
              <a:off x="2732711" y="2796518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5 h 110"/>
                <a:gd name="T4" fmla="*/ 96 w 193"/>
                <a:gd name="T5" fmla="*/ 110 h 110"/>
                <a:gd name="T6" fmla="*/ 0 w 193"/>
                <a:gd name="T7" fmla="*/ 55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5"/>
                  </a:lnTo>
                  <a:lnTo>
                    <a:pt x="96" y="110"/>
                  </a:lnTo>
                  <a:lnTo>
                    <a:pt x="0" y="5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A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2" name="任意多边形 251"/>
            <p:cNvSpPr/>
            <p:nvPr/>
          </p:nvSpPr>
          <p:spPr bwMode="auto">
            <a:xfrm>
              <a:off x="2732711" y="2846010"/>
              <a:ext cx="86386" cy="309551"/>
            </a:xfrm>
            <a:custGeom>
              <a:avLst/>
              <a:gdLst>
                <a:gd name="T0" fmla="*/ 0 w 96"/>
                <a:gd name="T1" fmla="*/ 0 h 344"/>
                <a:gd name="T2" fmla="*/ 96 w 96"/>
                <a:gd name="T3" fmla="*/ 55 h 344"/>
                <a:gd name="T4" fmla="*/ 96 w 96"/>
                <a:gd name="T5" fmla="*/ 344 h 344"/>
                <a:gd name="T6" fmla="*/ 0 w 96"/>
                <a:gd name="T7" fmla="*/ 289 h 344"/>
                <a:gd name="T8" fmla="*/ 0 w 96"/>
                <a:gd name="T9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344">
                  <a:moveTo>
                    <a:pt x="0" y="0"/>
                  </a:moveTo>
                  <a:lnTo>
                    <a:pt x="96" y="55"/>
                  </a:lnTo>
                  <a:lnTo>
                    <a:pt x="96" y="344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7A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3" name="任意多边形 252"/>
            <p:cNvSpPr/>
            <p:nvPr/>
          </p:nvSpPr>
          <p:spPr bwMode="auto">
            <a:xfrm>
              <a:off x="2819097" y="2846010"/>
              <a:ext cx="87286" cy="309551"/>
            </a:xfrm>
            <a:custGeom>
              <a:avLst/>
              <a:gdLst>
                <a:gd name="T0" fmla="*/ 0 w 97"/>
                <a:gd name="T1" fmla="*/ 344 h 344"/>
                <a:gd name="T2" fmla="*/ 0 w 97"/>
                <a:gd name="T3" fmla="*/ 55 h 344"/>
                <a:gd name="T4" fmla="*/ 97 w 97"/>
                <a:gd name="T5" fmla="*/ 0 h 344"/>
                <a:gd name="T6" fmla="*/ 97 w 97"/>
                <a:gd name="T7" fmla="*/ 289 h 344"/>
                <a:gd name="T8" fmla="*/ 0 w 97"/>
                <a:gd name="T9" fmla="*/ 34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344">
                  <a:moveTo>
                    <a:pt x="0" y="344"/>
                  </a:moveTo>
                  <a:lnTo>
                    <a:pt x="0" y="55"/>
                  </a:lnTo>
                  <a:lnTo>
                    <a:pt x="97" y="0"/>
                  </a:lnTo>
                  <a:lnTo>
                    <a:pt x="97" y="289"/>
                  </a:lnTo>
                  <a:lnTo>
                    <a:pt x="0" y="344"/>
                  </a:lnTo>
                  <a:close/>
                </a:path>
              </a:pathLst>
            </a:custGeom>
            <a:solidFill>
              <a:srgbClr val="EF5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4" name="任意多边形 253"/>
            <p:cNvSpPr/>
            <p:nvPr/>
          </p:nvSpPr>
          <p:spPr bwMode="auto">
            <a:xfrm>
              <a:off x="2920781" y="2648041"/>
              <a:ext cx="173673" cy="99884"/>
            </a:xfrm>
            <a:custGeom>
              <a:avLst/>
              <a:gdLst>
                <a:gd name="T0" fmla="*/ 97 w 193"/>
                <a:gd name="T1" fmla="*/ 0 h 111"/>
                <a:gd name="T2" fmla="*/ 193 w 193"/>
                <a:gd name="T3" fmla="*/ 55 h 111"/>
                <a:gd name="T4" fmla="*/ 97 w 193"/>
                <a:gd name="T5" fmla="*/ 111 h 111"/>
                <a:gd name="T6" fmla="*/ 0 w 193"/>
                <a:gd name="T7" fmla="*/ 55 h 111"/>
                <a:gd name="T8" fmla="*/ 97 w 193"/>
                <a:gd name="T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1">
                  <a:moveTo>
                    <a:pt x="97" y="0"/>
                  </a:moveTo>
                  <a:lnTo>
                    <a:pt x="193" y="55"/>
                  </a:lnTo>
                  <a:lnTo>
                    <a:pt x="97" y="111"/>
                  </a:lnTo>
                  <a:lnTo>
                    <a:pt x="0" y="55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FA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5" name="任意多边形 254"/>
            <p:cNvSpPr/>
            <p:nvPr/>
          </p:nvSpPr>
          <p:spPr bwMode="auto">
            <a:xfrm>
              <a:off x="2920781" y="2697533"/>
              <a:ext cx="87286" cy="602905"/>
            </a:xfrm>
            <a:custGeom>
              <a:avLst/>
              <a:gdLst>
                <a:gd name="T0" fmla="*/ 0 w 97"/>
                <a:gd name="T1" fmla="*/ 0 h 670"/>
                <a:gd name="T2" fmla="*/ 97 w 97"/>
                <a:gd name="T3" fmla="*/ 56 h 670"/>
                <a:gd name="T4" fmla="*/ 97 w 97"/>
                <a:gd name="T5" fmla="*/ 670 h 670"/>
                <a:gd name="T6" fmla="*/ 0 w 97"/>
                <a:gd name="T7" fmla="*/ 614 h 670"/>
                <a:gd name="T8" fmla="*/ 0 w 97"/>
                <a:gd name="T9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670">
                  <a:moveTo>
                    <a:pt x="0" y="0"/>
                  </a:moveTo>
                  <a:lnTo>
                    <a:pt x="97" y="56"/>
                  </a:lnTo>
                  <a:lnTo>
                    <a:pt x="97" y="670"/>
                  </a:lnTo>
                  <a:lnTo>
                    <a:pt x="0" y="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9E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6" name="任意多边形 255"/>
            <p:cNvSpPr/>
            <p:nvPr/>
          </p:nvSpPr>
          <p:spPr bwMode="auto">
            <a:xfrm>
              <a:off x="3008068" y="2697533"/>
              <a:ext cx="86386" cy="602905"/>
            </a:xfrm>
            <a:custGeom>
              <a:avLst/>
              <a:gdLst>
                <a:gd name="T0" fmla="*/ 0 w 96"/>
                <a:gd name="T1" fmla="*/ 670 h 670"/>
                <a:gd name="T2" fmla="*/ 0 w 96"/>
                <a:gd name="T3" fmla="*/ 56 h 670"/>
                <a:gd name="T4" fmla="*/ 96 w 96"/>
                <a:gd name="T5" fmla="*/ 0 h 670"/>
                <a:gd name="T6" fmla="*/ 96 w 96"/>
                <a:gd name="T7" fmla="*/ 614 h 670"/>
                <a:gd name="T8" fmla="*/ 0 w 96"/>
                <a:gd name="T9" fmla="*/ 67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670">
                  <a:moveTo>
                    <a:pt x="0" y="670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614"/>
                  </a:lnTo>
                  <a:lnTo>
                    <a:pt x="0" y="670"/>
                  </a:lnTo>
                  <a:close/>
                </a:path>
              </a:pathLst>
            </a:custGeom>
            <a:solidFill>
              <a:srgbClr val="F285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7" name="任意多边形 256"/>
            <p:cNvSpPr/>
            <p:nvPr/>
          </p:nvSpPr>
          <p:spPr bwMode="auto">
            <a:xfrm>
              <a:off x="3111551" y="2866707"/>
              <a:ext cx="173673" cy="98984"/>
            </a:xfrm>
            <a:custGeom>
              <a:avLst/>
              <a:gdLst>
                <a:gd name="T0" fmla="*/ 96 w 193"/>
                <a:gd name="T1" fmla="*/ 0 h 110"/>
                <a:gd name="T2" fmla="*/ 193 w 193"/>
                <a:gd name="T3" fmla="*/ 54 h 110"/>
                <a:gd name="T4" fmla="*/ 96 w 193"/>
                <a:gd name="T5" fmla="*/ 110 h 110"/>
                <a:gd name="T6" fmla="*/ 0 w 193"/>
                <a:gd name="T7" fmla="*/ 54 h 110"/>
                <a:gd name="T8" fmla="*/ 96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6" y="0"/>
                  </a:moveTo>
                  <a:lnTo>
                    <a:pt x="193" y="54"/>
                  </a:lnTo>
                  <a:lnTo>
                    <a:pt x="96" y="110"/>
                  </a:lnTo>
                  <a:lnTo>
                    <a:pt x="0" y="5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3BB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8" name="任意多边形 257"/>
            <p:cNvSpPr/>
            <p:nvPr/>
          </p:nvSpPr>
          <p:spPr bwMode="auto">
            <a:xfrm>
              <a:off x="3111551" y="2915299"/>
              <a:ext cx="86386" cy="508420"/>
            </a:xfrm>
            <a:custGeom>
              <a:avLst/>
              <a:gdLst>
                <a:gd name="T0" fmla="*/ 0 w 96"/>
                <a:gd name="T1" fmla="*/ 0 h 565"/>
                <a:gd name="T2" fmla="*/ 96 w 96"/>
                <a:gd name="T3" fmla="*/ 56 h 565"/>
                <a:gd name="T4" fmla="*/ 96 w 96"/>
                <a:gd name="T5" fmla="*/ 565 h 565"/>
                <a:gd name="T6" fmla="*/ 0 w 96"/>
                <a:gd name="T7" fmla="*/ 509 h 565"/>
                <a:gd name="T8" fmla="*/ 0 w 96"/>
                <a:gd name="T9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565">
                  <a:moveTo>
                    <a:pt x="0" y="0"/>
                  </a:moveTo>
                  <a:lnTo>
                    <a:pt x="96" y="56"/>
                  </a:lnTo>
                  <a:lnTo>
                    <a:pt x="96" y="565"/>
                  </a:lnTo>
                  <a:lnTo>
                    <a:pt x="0" y="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A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9" name="任意多边形 258"/>
            <p:cNvSpPr/>
            <p:nvPr/>
          </p:nvSpPr>
          <p:spPr bwMode="auto">
            <a:xfrm>
              <a:off x="3197938" y="2915299"/>
              <a:ext cx="87286" cy="508420"/>
            </a:xfrm>
            <a:custGeom>
              <a:avLst/>
              <a:gdLst>
                <a:gd name="T0" fmla="*/ 0 w 97"/>
                <a:gd name="T1" fmla="*/ 565 h 565"/>
                <a:gd name="T2" fmla="*/ 0 w 97"/>
                <a:gd name="T3" fmla="*/ 56 h 565"/>
                <a:gd name="T4" fmla="*/ 97 w 97"/>
                <a:gd name="T5" fmla="*/ 0 h 565"/>
                <a:gd name="T6" fmla="*/ 97 w 97"/>
                <a:gd name="T7" fmla="*/ 509 h 565"/>
                <a:gd name="T8" fmla="*/ 0 w 97"/>
                <a:gd name="T9" fmla="*/ 565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565">
                  <a:moveTo>
                    <a:pt x="0" y="565"/>
                  </a:moveTo>
                  <a:lnTo>
                    <a:pt x="0" y="56"/>
                  </a:lnTo>
                  <a:lnTo>
                    <a:pt x="97" y="0"/>
                  </a:lnTo>
                  <a:lnTo>
                    <a:pt x="97" y="509"/>
                  </a:lnTo>
                  <a:lnTo>
                    <a:pt x="0" y="565"/>
                  </a:lnTo>
                  <a:close/>
                </a:path>
              </a:pathLst>
            </a:custGeom>
            <a:solidFill>
              <a:srgbClr val="219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0" name="任意多边形 259"/>
            <p:cNvSpPr/>
            <p:nvPr/>
          </p:nvSpPr>
          <p:spPr bwMode="auto">
            <a:xfrm>
              <a:off x="3299622" y="3055677"/>
              <a:ext cx="173673" cy="98984"/>
            </a:xfrm>
            <a:custGeom>
              <a:avLst/>
              <a:gdLst>
                <a:gd name="T0" fmla="*/ 97 w 193"/>
                <a:gd name="T1" fmla="*/ 0 h 110"/>
                <a:gd name="T2" fmla="*/ 193 w 193"/>
                <a:gd name="T3" fmla="*/ 54 h 110"/>
                <a:gd name="T4" fmla="*/ 97 w 193"/>
                <a:gd name="T5" fmla="*/ 110 h 110"/>
                <a:gd name="T6" fmla="*/ 0 w 193"/>
                <a:gd name="T7" fmla="*/ 54 h 110"/>
                <a:gd name="T8" fmla="*/ 97 w 193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110">
                  <a:moveTo>
                    <a:pt x="97" y="0"/>
                  </a:moveTo>
                  <a:lnTo>
                    <a:pt x="193" y="54"/>
                  </a:lnTo>
                  <a:lnTo>
                    <a:pt x="97" y="110"/>
                  </a:lnTo>
                  <a:lnTo>
                    <a:pt x="0" y="5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18EF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1" name="任意多边形 260"/>
            <p:cNvSpPr/>
            <p:nvPr/>
          </p:nvSpPr>
          <p:spPr bwMode="auto">
            <a:xfrm>
              <a:off x="3299622" y="3104269"/>
              <a:ext cx="87286" cy="423833"/>
            </a:xfrm>
            <a:custGeom>
              <a:avLst/>
              <a:gdLst>
                <a:gd name="T0" fmla="*/ 0 w 97"/>
                <a:gd name="T1" fmla="*/ 0 h 471"/>
                <a:gd name="T2" fmla="*/ 97 w 97"/>
                <a:gd name="T3" fmla="*/ 56 h 471"/>
                <a:gd name="T4" fmla="*/ 97 w 97"/>
                <a:gd name="T5" fmla="*/ 471 h 471"/>
                <a:gd name="T6" fmla="*/ 0 w 97"/>
                <a:gd name="T7" fmla="*/ 415 h 471"/>
                <a:gd name="T8" fmla="*/ 0 w 97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471">
                  <a:moveTo>
                    <a:pt x="0" y="0"/>
                  </a:moveTo>
                  <a:lnTo>
                    <a:pt x="97" y="56"/>
                  </a:lnTo>
                  <a:lnTo>
                    <a:pt x="97" y="471"/>
                  </a:lnTo>
                  <a:lnTo>
                    <a:pt x="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D1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2" name="任意多边形 261"/>
            <p:cNvSpPr/>
            <p:nvPr/>
          </p:nvSpPr>
          <p:spPr bwMode="auto">
            <a:xfrm>
              <a:off x="3386908" y="3104269"/>
              <a:ext cx="86386" cy="423833"/>
            </a:xfrm>
            <a:custGeom>
              <a:avLst/>
              <a:gdLst>
                <a:gd name="T0" fmla="*/ 0 w 96"/>
                <a:gd name="T1" fmla="*/ 471 h 471"/>
                <a:gd name="T2" fmla="*/ 0 w 96"/>
                <a:gd name="T3" fmla="*/ 56 h 471"/>
                <a:gd name="T4" fmla="*/ 96 w 96"/>
                <a:gd name="T5" fmla="*/ 0 h 471"/>
                <a:gd name="T6" fmla="*/ 96 w 96"/>
                <a:gd name="T7" fmla="*/ 415 h 471"/>
                <a:gd name="T8" fmla="*/ 0 w 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471">
                  <a:moveTo>
                    <a:pt x="0" y="471"/>
                  </a:moveTo>
                  <a:lnTo>
                    <a:pt x="0" y="56"/>
                  </a:lnTo>
                  <a:lnTo>
                    <a:pt x="96" y="0"/>
                  </a:lnTo>
                  <a:lnTo>
                    <a:pt x="96" y="415"/>
                  </a:lnTo>
                  <a:lnTo>
                    <a:pt x="0" y="471"/>
                  </a:lnTo>
                  <a:close/>
                </a:path>
              </a:pathLst>
            </a:custGeom>
            <a:solidFill>
              <a:srgbClr val="11C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 descr="Small Laptop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465" y="1792528"/>
            <a:ext cx="3404299" cy="349857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60248" y="2378888"/>
            <a:ext cx="15392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  <a:cs typeface="+mn-ea"/>
                <a:sym typeface="+mn-lt"/>
              </a:rPr>
              <a:t>05</a:t>
            </a:r>
            <a:endParaRPr lang="en-US" sz="9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32983" y="402903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任务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通知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1158240"/>
            <a:ext cx="12192000" cy="168084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>
                <a:cs typeface="+mn-ea"/>
                <a:sym typeface="+mn-lt"/>
              </a:rPr>
              <a:t>任务通知是一个事件，每个任务都有一个</a:t>
            </a:r>
            <a:r>
              <a:rPr lang="en-US" altLang="zh-CN">
                <a:cs typeface="+mn-ea"/>
                <a:sym typeface="+mn-lt"/>
              </a:rPr>
              <a:t>32</a:t>
            </a:r>
            <a:r>
              <a:rPr lang="zh-CN" altLang="en-US">
                <a:cs typeface="+mn-ea"/>
                <a:sym typeface="+mn-lt"/>
              </a:rPr>
              <a:t>位的通知值。多数情况下，任务通知可以用来替代二值信号量、计数型信号量、队列（长度为</a:t>
            </a:r>
            <a:r>
              <a:rPr lang="en-US" altLang="zh-CN">
                <a:cs typeface="+mn-ea"/>
                <a:sym typeface="+mn-lt"/>
              </a:rPr>
              <a:t>1</a:t>
            </a:r>
            <a:r>
              <a:rPr lang="zh-CN" altLang="en-US">
                <a:cs typeface="+mn-ea"/>
                <a:sym typeface="+mn-lt"/>
              </a:rPr>
              <a:t>）以及事件</a:t>
            </a:r>
            <a:r>
              <a:rPr lang="zh-CN" altLang="en-US">
                <a:cs typeface="+mn-ea"/>
                <a:sym typeface="+mn-lt"/>
              </a:rPr>
              <a:t>标志组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21605" y="1246505"/>
            <a:ext cx="1479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是</a:t>
            </a:r>
            <a:r>
              <a:rPr lang="zh-CN" altLang="en-US" sz="2800">
                <a:solidFill>
                  <a:schemeClr val="bg1"/>
                </a:solidFill>
              </a:rPr>
              <a:t>什么？</a:t>
            </a:r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7160" y="5622925"/>
            <a:ext cx="642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优点</a:t>
            </a:r>
            <a:endParaRPr lang="zh-CN" altLang="en-US"/>
          </a:p>
        </p:txBody>
      </p:sp>
      <p:sp>
        <p:nvSpPr>
          <p:cNvPr id="29" name="左大括号 28"/>
          <p:cNvSpPr/>
          <p:nvPr/>
        </p:nvSpPr>
        <p:spPr>
          <a:xfrm>
            <a:off x="920115" y="5349875"/>
            <a:ext cx="154305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1"/>
            </p:custDataLst>
          </p:nvPr>
        </p:nvSpPr>
        <p:spPr>
          <a:xfrm>
            <a:off x="1214755" y="5349875"/>
            <a:ext cx="157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速度快</a:t>
            </a:r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"/>
            </p:custDataLst>
          </p:nvPr>
        </p:nvSpPr>
        <p:spPr>
          <a:xfrm>
            <a:off x="1214755" y="5895975"/>
            <a:ext cx="145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RAM</a:t>
            </a:r>
            <a:r>
              <a:rPr lang="zh-CN" altLang="en-US"/>
              <a:t>使用</a:t>
            </a:r>
            <a:r>
              <a:rPr lang="zh-CN" altLang="en-US"/>
              <a:t>少</a:t>
            </a:r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"/>
            </p:custDataLst>
          </p:nvPr>
        </p:nvSpPr>
        <p:spPr>
          <a:xfrm>
            <a:off x="4503420" y="5622925"/>
            <a:ext cx="80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缺点</a:t>
            </a:r>
            <a:endParaRPr lang="zh-CN" altLang="en-US"/>
          </a:p>
        </p:txBody>
      </p:sp>
      <p:sp>
        <p:nvSpPr>
          <p:cNvPr id="34" name="左大括号 33"/>
          <p:cNvSpPr/>
          <p:nvPr>
            <p:custDataLst>
              <p:tags r:id="rId4"/>
            </p:custDataLst>
          </p:nvPr>
        </p:nvSpPr>
        <p:spPr>
          <a:xfrm>
            <a:off x="5154930" y="5242560"/>
            <a:ext cx="154305" cy="11360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5290185" y="5254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只能有一个接收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"/>
            </p:custDataLst>
          </p:nvPr>
        </p:nvSpPr>
        <p:spPr>
          <a:xfrm>
            <a:off x="5309235" y="5622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不能在</a:t>
            </a:r>
            <a:r>
              <a:rPr lang="en-US" altLang="zh-CN"/>
              <a:t>ISR</a:t>
            </a:r>
            <a:r>
              <a:rPr lang="zh-CN" altLang="en-US"/>
              <a:t>中</a:t>
            </a:r>
            <a:r>
              <a:rPr lang="zh-CN" altLang="en-US"/>
              <a:t>接收</a:t>
            </a:r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7"/>
            </p:custDataLst>
          </p:nvPr>
        </p:nvSpPr>
        <p:spPr>
          <a:xfrm>
            <a:off x="5309235" y="6007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无缓冲</a:t>
            </a:r>
            <a:endParaRPr lang="zh-CN" altLang="en-US"/>
          </a:p>
        </p:txBody>
      </p:sp>
      <p:graphicFrame>
        <p:nvGraphicFramePr>
          <p:cNvPr id="57" name="表格 56"/>
          <p:cNvGraphicFramePr/>
          <p:nvPr/>
        </p:nvGraphicFramePr>
        <p:xfrm>
          <a:off x="70485" y="3060700"/>
          <a:ext cx="425259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25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更新通知值</a:t>
                      </a:r>
                      <a:r>
                        <a:rPr lang="zh-CN" altLang="en-US"/>
                        <a:t>方式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不覆盖接收任务的通知值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覆盖接收任务的通知值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更新接收任务通知值的一个或多</a:t>
                      </a:r>
                      <a:r>
                        <a:rPr lang="en-US" altLang="zh-CN"/>
                        <a:t>bit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对值进行增量（加</a:t>
                      </a:r>
                      <a:r>
                        <a:rPr lang="en-US" altLang="zh-CN"/>
                        <a:t> 1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/>
      <p:bldP spid="32" grpId="0"/>
      <p:bldP spid="33" grpId="0"/>
      <p:bldP spid="34" grpId="0" animBg="1"/>
      <p:bldP spid="35" grpId="0"/>
      <p:bldP spid="54" grpId="0"/>
      <p:bldP spid="5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文本框 32"/>
          <p:cNvSpPr txBox="1"/>
          <p:nvPr/>
        </p:nvSpPr>
        <p:spPr>
          <a:xfrm>
            <a:off x="632983" y="402903"/>
            <a:ext cx="1935592" cy="534035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3200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en-US" altLang="zh-CN" sz="1200" kern="120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相关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API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4" name="表格 33"/>
          <p:cNvGraphicFramePr/>
          <p:nvPr/>
        </p:nvGraphicFramePr>
        <p:xfrm>
          <a:off x="692150" y="1526540"/>
          <a:ext cx="8533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505"/>
                <a:gridCol w="576262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API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xTaskNotify()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发送通知，带有通知值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xTaskNotifyGive()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发送通知，不带通知值，将接收任务的通知值</a:t>
                      </a:r>
                      <a:r>
                        <a:rPr lang="zh-CN" altLang="en-US"/>
                        <a:t>加一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xTaskNotifyAndQuery()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发送通知，带有通知值，且会保留接收任务</a:t>
                      </a:r>
                      <a:r>
                        <a:rPr lang="zh-CN" altLang="en-US"/>
                        <a:t>原有的通知</a:t>
                      </a:r>
                      <a:r>
                        <a:rPr lang="zh-CN" altLang="en-US"/>
                        <a:t>值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692150" y="1047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发送任务</a:t>
            </a:r>
            <a:r>
              <a:rPr lang="zh-CN" altLang="en-US"/>
              <a:t>通知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92150" y="38995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接收任务</a:t>
            </a:r>
            <a:r>
              <a:rPr lang="zh-CN" altLang="en-US"/>
              <a:t>通知</a:t>
            </a:r>
            <a:endParaRPr lang="zh-CN" altLang="en-US"/>
          </a:p>
        </p:txBody>
      </p:sp>
      <p:graphicFrame>
        <p:nvGraphicFramePr>
          <p:cNvPr id="38" name="表格 37"/>
          <p:cNvGraphicFramePr/>
          <p:nvPr/>
        </p:nvGraphicFramePr>
        <p:xfrm>
          <a:off x="692150" y="4450080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API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ulTaskNotifyTake()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获取任务通知，在函数退出时将通知值减一或者清</a:t>
                      </a:r>
                      <a:r>
                        <a:rPr lang="zh-CN" altLang="en-US"/>
                        <a:t>零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xTaskNotifyWait()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等待任务通知，可等待任何类型的任务</a:t>
                      </a:r>
                      <a:r>
                        <a:rPr lang="zh-CN" altLang="en-US"/>
                        <a:t>通知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图片 -1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ctrTitle"/>
          </p:nvPr>
        </p:nvSpPr>
        <p:spPr>
          <a:xfrm>
            <a:off x="3162755" y="2059526"/>
            <a:ext cx="5483534" cy="1144929"/>
          </a:xfrm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Thanks</a:t>
            </a:r>
            <a:br>
              <a:rPr lang="en-US" altLang="zh-CN" sz="4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3600" b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And Your Slogan Here.</a:t>
            </a:r>
            <a:endParaRPr lang="zh-CN" altLang="en-US" sz="40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8"/>
          </p:nvPr>
        </p:nvSpPr>
        <p:spPr>
          <a:xfrm>
            <a:off x="3911921" y="3817809"/>
            <a:ext cx="3985202" cy="339725"/>
          </a:xfr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汇报人：</a:t>
            </a:r>
            <a:r>
              <a:rPr lang="zh-CN" altLang="en-US" dirty="0">
                <a:solidFill>
                  <a:schemeClr val="tx1"/>
                </a:solidFill>
                <a:cs typeface="+mn-ea"/>
                <a:sym typeface="+mn-lt"/>
              </a:rPr>
              <a:t>许浩彬</a:t>
            </a:r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c74feb44c0244fd79704fb4bdb64adc9ff2fc78"/>
  <p:tag name="KSO_WM_NEWLAYOUT_ID" val="62"/>
</p:tagLst>
</file>

<file path=ppt/tags/tag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108bce1d2dbd9863269ab0eb87663c72c10e77c"/>
  <p:tag name="KSO_WM_NEWLAYOUT_ID" val="75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6.xml><?xml version="1.0" encoding="utf-8"?>
<p:tagLst xmlns:p="http://schemas.openxmlformats.org/presentationml/2006/main">
  <p:tag name="ISLIDE.THEME" val="https://www.islide.cc;"/>
</p:tagLst>
</file>

<file path=ppt/tags/tag27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28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29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0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1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2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3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4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5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6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7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8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39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40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41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}"/>
</p:tagLst>
</file>

<file path=ppt/tags/tag42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43.xml><?xml version="1.0" encoding="utf-8"?>
<p:tagLst xmlns:p="http://schemas.openxmlformats.org/presentationml/2006/main">
  <p:tag name="KSO_WM_DIAGRAM_VIRTUALLY_FRAME" val="{&quot;height&quot;:392.52700787401574,&quot;left&quot;:560.2033858267716,&quot;top&quot;:84.75007874015746,&quot;width&quot;:264.19653543307084}"/>
</p:tagLst>
</file>

<file path=ppt/tags/tag44.xml><?xml version="1.0" encoding="utf-8"?>
<p:tagLst xmlns:p="http://schemas.openxmlformats.org/presentationml/2006/main">
  <p:tag name="ISLIDE.THEME" val="https://www.islide.cc;"/>
</p:tagLst>
</file>

<file path=ppt/tags/tag45.xml><?xml version="1.0" encoding="utf-8"?>
<p:tagLst xmlns:p="http://schemas.openxmlformats.org/presentationml/2006/main">
  <p:tag name="ISLIDE.THEME" val="https://www.islide.cc;"/>
</p:tagLst>
</file>

<file path=ppt/tags/tag46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47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48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49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50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51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52.xml><?xml version="1.0" encoding="utf-8"?>
<p:tagLst xmlns:p="http://schemas.openxmlformats.org/presentationml/2006/main">
  <p:tag name="KSO_WM_DIAGRAM_VIRTUALLY_FRAME" val="{&quot;height&quot;:213.21391414099236,&quot;left&quot;:545.86,&quot;top&quot;:177.11110236220472,&quot;width&quot;:297.79727475345334}"/>
</p:tagLst>
</file>

<file path=ppt/tags/tag53.xml><?xml version="1.0" encoding="utf-8"?>
<p:tagLst xmlns:p="http://schemas.openxmlformats.org/presentationml/2006/main">
  <p:tag name="KSO_WM_DIAGRAM_VIRTUALLY_FRAME" val="{&quot;height&quot;:213.21391414099236,&quot;left&quot;:545.86,&quot;top&quot;:177.11110236220472,&quot;width&quot;:297.79727475345334}"/>
</p:tagLst>
</file>

<file path=ppt/tags/tag54.xml><?xml version="1.0" encoding="utf-8"?>
<p:tagLst xmlns:p="http://schemas.openxmlformats.org/presentationml/2006/main">
  <p:tag name="KSO_WM_DIAGRAM_VIRTUALLY_FRAME" val="{&quot;height&quot;:213.21391414099236,&quot;left&quot;:545.86,&quot;top&quot;:177.11110236220472,&quot;width&quot;:297.79727475345334}"/>
</p:tagLst>
</file>

<file path=ppt/tags/tag55.xml><?xml version="1.0" encoding="utf-8"?>
<p:tagLst xmlns:p="http://schemas.openxmlformats.org/presentationml/2006/main">
  <p:tag name="KSO_WM_DIAGRAM_VIRTUALLY_FRAME" val="{&quot;height&quot;:213.21391414099236,&quot;left&quot;:545.86,&quot;top&quot;:177.11110236220472,&quot;width&quot;:297.79727475345334}"/>
</p:tagLst>
</file>

<file path=ppt/tags/tag56.xml><?xml version="1.0" encoding="utf-8"?>
<p:tagLst xmlns:p="http://schemas.openxmlformats.org/presentationml/2006/main">
  <p:tag name="KSO_WM_DIAGRAM_VIRTUALLY_FRAME" val="{&quot;height&quot;:213.21391414099236,&quot;left&quot;:545.86,&quot;top&quot;:177.11110236220472,&quot;width&quot;:297.79727475345334}"/>
</p:tagLst>
</file>

<file path=ppt/tags/tag57.xml><?xml version="1.0" encoding="utf-8"?>
<p:tagLst xmlns:p="http://schemas.openxmlformats.org/presentationml/2006/main">
  <p:tag name="KSO_WM_DIAGRAM_VIRTUALLY_FRAME" val="{&quot;height&quot;:213.21391414099236,&quot;left&quot;:545.86,&quot;top&quot;:177.11110236220472,&quot;width&quot;:297.79727475345334}"/>
</p:tagLst>
</file>

<file path=ppt/tags/tag58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59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60.xml><?xml version="1.0" encoding="utf-8"?>
<p:tagLst xmlns:p="http://schemas.openxmlformats.org/presentationml/2006/main">
  <p:tag name="KSO_WM_DIAGRAM_VIRTUALLY_FRAME" val="{&quot;height&quot;:261.7870078740158,&quot;left&quot;:111.74000000000001,&quot;top&quot;:189.05,&quot;width&quot;:215.3336220472441}"/>
</p:tagLst>
</file>

<file path=ppt/tags/tag61.xml><?xml version="1.0" encoding="utf-8"?>
<p:tagLst xmlns:p="http://schemas.openxmlformats.org/presentationml/2006/main">
  <p:tag name="ISLIDE.THEME" val="https://www.islide.cc;"/>
</p:tagLst>
</file>

<file path=ppt/tags/tag62.xml><?xml version="1.0" encoding="utf-8"?>
<p:tagLst xmlns:p="http://schemas.openxmlformats.org/presentationml/2006/main">
  <p:tag name="ISLIDE.THEME" val="https://www.islide.cc;"/>
</p:tagLst>
</file>

<file path=ppt/tags/tag63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24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4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4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4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4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6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4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智能图形项正文"/>
  <p:tag name="KSO_WM_UNIT_TEXT_TYPE" val="1"/>
  <p:tag name="KSO_WM_UNIT_USESOURCEFORMAT_APPLY" val="0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4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VALUE" val="10"/>
  <p:tag name="KSO_WM_UNIT_TYPE" val="l_h_a"/>
  <p:tag name="KSO_WM_UNIT_INDEX" val="1_4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0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3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3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3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2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3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7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3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智能图形项正文"/>
  <p:tag name="KSO_WM_UNIT_TEXT_TYPE" val="1"/>
  <p:tag name="KSO_WM_UNIT_USESOURCEFORMAT_APPLY" val="0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3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VALUE" val="10"/>
  <p:tag name="KSO_WM_UNIT_TYPE" val="l_h_a"/>
  <p:tag name="KSO_WM_UNIT_INDEX" val="1_3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1_3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1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1_2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1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1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7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1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智能图形项正文"/>
  <p:tag name="KSO_WM_UNIT_TEXT_TYPE" val="1"/>
  <p:tag name="KSO_WM_UNIT_USESOURCEFORMAT_APPLY" val="0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24_5*l_h_a*1_1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0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5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5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800000011920929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5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8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5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UNIT_SUBTYPE" val="a"/>
  <p:tag name="KSO_WM_UNIT_VALUE" val="32"/>
  <p:tag name="KSO_WM_UNIT_TYPE" val="l_h_f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智能图形项正文"/>
  <p:tag name="KSO_WM_UNIT_TEXT_TYPE" val="1"/>
  <p:tag name="KSO_WM_UNIT_USESOURCEFORMAT_APPLY" val="0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5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UNIT_VALUE" val="10"/>
  <p:tag name="KSO_WM_UNIT_TYPE" val="l_h_a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0"/>
</p:tagLst>
</file>

<file path=ppt/tags/tag8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2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3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2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2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2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8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2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智能图形项正文"/>
  <p:tag name="KSO_WM_UNIT_TEXT_TYPE" val="1"/>
  <p:tag name="KSO_WM_UNIT_USESOURCEFORMAT_APPLY" val="0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2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VALUE" val="10"/>
  <p:tag name="KSO_WM_UNIT_TYPE" val="l_h_a"/>
  <p:tag name="KSO_WM_UNIT_INDEX" val="1_2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0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6_3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6_3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0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6_2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6_2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gradient&quot;:[{&quot;brightness&quot;:0.10000000149011612,&quot;colorType&quot;:1,&quot;foreColorIndex&quot;:6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.800000011920929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13"/>
  <p:tag name="KSO_WM_UNIT_TEXT_FILL_TYPE" val="1"/>
  <p:tag name="KSO_WM_UNIT_USESOURCEFORMAT_APPLY" val="0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4_5*l_h_i*1_6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6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9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f*1_6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2"/>
  <p:tag name="KSO_WM_DIAGRAM_COLOR_TEXT_CAN_REMOVE" val="n"/>
  <p:tag name="KSO_WM_UNIT_SUBTYPE" val="a"/>
  <p:tag name="KSO_WM_UNIT_VALUE" val="32"/>
  <p:tag name="KSO_WM_UNIT_TYPE" val="l_h_f"/>
  <p:tag name="KSO_WM_UNIT_INDEX" val="1_6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智能图形项正文"/>
  <p:tag name="KSO_WM_UNIT_TEXT_TYPE" val="1"/>
  <p:tag name="KSO_WM_UNIT_USESOURCEFORMAT_APPLY" val="0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diagram20230924_5*l_h_a*1_6_1"/>
  <p:tag name="KSO_WM_TEMPLATE_CATEGORY" val="diagram"/>
  <p:tag name="KSO_WM_TEMPLATE_INDEX" val="20230924"/>
  <p:tag name="KSO_WM_UNIT_LAYERLEVEL" val="1_1_1"/>
  <p:tag name="KSO_WM_TAG_VERSION" val="3.0"/>
  <p:tag name="KSO_WM_BEAUTIFY_FLAG" val="#wm#"/>
  <p:tag name="KSO_WM_DIAGRAM_GROUP_CODE" val="l1-1"/>
  <p:tag name="KSO_WM_UNIT_VALUE" val="10"/>
  <p:tag name="KSO_WM_UNIT_TYPE" val="l_h_a"/>
  <p:tag name="KSO_WM_UNIT_INDEX" val="1_6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UNIT_USESOURCEFORMAT_APPLY" val="0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2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2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3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3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4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DIAGRAM_VERSION" val="3"/>
  <p:tag name="KSO_WM_DIAGRAM_COLOR_TRICK" val="2"/>
  <p:tag name="KSO_WM_DIAGRAM_COLOR_TEXT_CAN_REMOVE" val="n"/>
  <p:tag name="KSO_WM_UNIT_TYPE" val="l_h_i"/>
  <p:tag name="KSO_WM_UNIT_INDEX" val="1_4_1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4_5*l_h_i*1_5_1"/>
  <p:tag name="KSO_WM_TEMPLATE_CATEGORY" val="diagram"/>
  <p:tag name="KSO_WM_TEMPLATE_INDEX" val="20230924"/>
  <p:tag name="KSO_WM_UNIT_LAYERLEVEL" val="1_1_1"/>
  <p:tag name="KSO_WM_TAG_VERSION" val="3.0"/>
  <p:tag name="KSO_WM_DIAGRAM_GROUP_CODE" val="l1-1"/>
  <p:tag name="KSO_WM_UNIT_TYPE" val="l_h_i"/>
  <p:tag name="KSO_WM_UNIT_INDEX" val="1_5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03.1000061035156,&quot;left&quot;:11.891943359375,&quot;top&quot;:102.87499694824218,&quot;width&quot;:920.2161132812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99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24"/>
  <p:tag name="KSO_WM_SPECIAL_SOURCE" val="bdnull"/>
  <p:tag name="KSO_WM_SLIDE_ID" val="diagram20230924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94.3*246.1"/>
  <p:tag name="KSO_WM_SLIDE_POSITION" val="32.8*184.9"/>
  <p:tag name="KSO_WM_DIAGRAM_GROUP_CODE" val="l1-1"/>
  <p:tag name="KSO_WM_SLIDE_DIAGTYPE" val="l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0924_5*a*1"/>
  <p:tag name="KSO_WM_TEMPLATE_CATEGORY" val="diagram"/>
  <p:tag name="KSO_WM_TEMPLATE_INDEX" val="20230924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TABLE_ENDDRAG_ORIGIN_RECT" val="882*110"/>
  <p:tag name="TABLE_ENDDRAG_RECT" val="23*156*882*110"/>
</p:tagLst>
</file>

<file path=ppt/tags/tag102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24"/>
</p:tagLst>
</file>

<file path=ppt/tags/tag103.xml><?xml version="1.0" encoding="utf-8"?>
<p:tagLst xmlns:p="http://schemas.openxmlformats.org/presentationml/2006/main">
  <p:tag name="ISLIDE.THEME" val="https://www.islide.cc;"/>
</p:tagLst>
</file>

<file path=ppt/tags/tag104.xml><?xml version="1.0" encoding="utf-8"?>
<p:tagLst xmlns:p="http://schemas.openxmlformats.org/presentationml/2006/main">
  <p:tag name="KSO_WM_DIAGRAM_VIRTUALLY_FRAME" val="{&quot;height&quot;:262.6307086614173,&quot;left&quot;:34.65677165354331,&quot;top&quot;:252.8126771653543,&quot;width&quot;:837.0681889763779}"/>
</p:tagLst>
</file>

<file path=ppt/tags/tag105.xml><?xml version="1.0" encoding="utf-8"?>
<p:tagLst xmlns:p="http://schemas.openxmlformats.org/presentationml/2006/main">
  <p:tag name="KSO_WM_DIAGRAM_VIRTUALLY_FRAME" val="{&quot;height&quot;:262.6307086614173,&quot;left&quot;:34.65677165354331,&quot;top&quot;:252.8126771653543,&quot;width&quot;:837.0681889763779}"/>
</p:tagLst>
</file>

<file path=ppt/tags/tag106.xml><?xml version="1.0" encoding="utf-8"?>
<p:tagLst xmlns:p="http://schemas.openxmlformats.org/presentationml/2006/main">
  <p:tag name="KSO_WM_DIAGRAM_VIRTUALLY_FRAME" val="{&quot;height&quot;:262.6307086614173,&quot;left&quot;:34.65677165354331,&quot;top&quot;:252.8126771653543,&quot;width&quot;:837.0681889763779}"/>
</p:tagLst>
</file>

<file path=ppt/tags/tag107.xml><?xml version="1.0" encoding="utf-8"?>
<p:tagLst xmlns:p="http://schemas.openxmlformats.org/presentationml/2006/main">
  <p:tag name="KSO_WM_DIAGRAM_VIRTUALLY_FRAME" val="{&quot;height&quot;:262.6307086614173,&quot;left&quot;:34.65677165354331,&quot;top&quot;:252.8126771653543,&quot;width&quot;:837.0681889763779}"/>
</p:tagLst>
</file>

<file path=ppt/tags/tag108.xml><?xml version="1.0" encoding="utf-8"?>
<p:tagLst xmlns:p="http://schemas.openxmlformats.org/presentationml/2006/main">
  <p:tag name="KSO_WM_DIAGRAM_VIRTUALLY_FRAME" val="{&quot;height&quot;:262.6307086614173,&quot;left&quot;:34.65677165354331,&quot;top&quot;:252.8126771653543,&quot;width&quot;:837.0681889763779}"/>
</p:tagLst>
</file>

<file path=ppt/tags/tag109.xml><?xml version="1.0" encoding="utf-8"?>
<p:tagLst xmlns:p="http://schemas.openxmlformats.org/presentationml/2006/main">
  <p:tag name="ISLIDE.THEME" val="https://www.islide.cc;"/>
</p:tagLst>
</file>

<file path=ppt/tags/tag110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1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2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3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4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5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6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7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8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19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0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1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2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3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4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5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6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7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8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29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0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1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2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3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4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5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6.xml><?xml version="1.0" encoding="utf-8"?>
<p:tagLst xmlns:p="http://schemas.openxmlformats.org/presentationml/2006/main">
  <p:tag name="KSO_WM_DIAGRAM_VIRTUALLY_FRAME" val="{&quot;height&quot;:342.6355905511811,&quot;left&quot;:38.4355905511811,&quot;top&quot;:133.5644094488189,&quot;width&quot;:873.9644094488189}"/>
</p:tagLst>
</file>

<file path=ppt/tags/tag137.xml><?xml version="1.0" encoding="utf-8"?>
<p:tagLst xmlns:p="http://schemas.openxmlformats.org/presentationml/2006/main">
  <p:tag name="ISLIDE.THEME" val="https://www.islide.cc;"/>
</p:tagLst>
</file>

<file path=ppt/tags/tag138.xml><?xml version="1.0" encoding="utf-8"?>
<p:tagLst xmlns:p="http://schemas.openxmlformats.org/presentationml/2006/main">
  <p:tag name="TABLE_ENDDRAG_ORIGIN_RECT" val="703*122"/>
  <p:tag name="TABLE_ENDDRAG_RECT" val="65*90*703*122"/>
</p:tagLst>
</file>

<file path=ppt/tags/tag139.xml><?xml version="1.0" encoding="utf-8"?>
<p:tagLst xmlns:p="http://schemas.openxmlformats.org/presentationml/2006/main">
  <p:tag name="ISLIDE.THEME" val="https://www.islide.cc;"/>
</p:tagLst>
</file>

<file path=ppt/tags/tag140.xml><?xml version="1.0" encoding="utf-8"?>
<p:tagLst xmlns:p="http://schemas.openxmlformats.org/presentationml/2006/main">
  <p:tag name="ISLIDE.THEME" val="https://www.islide.cc;"/>
</p:tagLst>
</file>

<file path=ppt/tags/tag141.xml><?xml version="1.0" encoding="utf-8"?>
<p:tagLst xmlns:p="http://schemas.openxmlformats.org/presentationml/2006/main">
  <p:tag name="KSO_WM_DIAGRAM_VIRTUALLY_FRAME" val="{&quot;height&quot;:196.55322834645668,&quot;left&quot;:71.35,&quot;top&quot;:223.35,&quot;width&quot;:847.2945669291337}"/>
</p:tagLst>
</file>

<file path=ppt/tags/tag142.xml><?xml version="1.0" encoding="utf-8"?>
<p:tagLst xmlns:p="http://schemas.openxmlformats.org/presentationml/2006/main">
  <p:tag name="KSO_WM_DIAGRAM_VIRTUALLY_FRAME" val="{&quot;height&quot;:196.55322834645668,&quot;left&quot;:71.35,&quot;top&quot;:223.35,&quot;width&quot;:847.2945669291337}"/>
</p:tagLst>
</file>

<file path=ppt/tags/tag143.xml><?xml version="1.0" encoding="utf-8"?>
<p:tagLst xmlns:p="http://schemas.openxmlformats.org/presentationml/2006/main">
  <p:tag name="KSO_WM_DIAGRAM_VIRTUALLY_FRAME" val="{&quot;height&quot;:196.55322834645668,&quot;left&quot;:71.35,&quot;top&quot;:223.35,&quot;width&quot;:847.2945669291337}"/>
</p:tagLst>
</file>

<file path=ppt/tags/tag144.xml><?xml version="1.0" encoding="utf-8"?>
<p:tagLst xmlns:p="http://schemas.openxmlformats.org/presentationml/2006/main">
  <p:tag name="KSO_WM_DIAGRAM_VIRTUALLY_FRAME" val="{&quot;height&quot;:196.55322834645668,&quot;left&quot;:71.35,&quot;top&quot;:223.35,&quot;width&quot;:847.2945669291337}"/>
</p:tagLst>
</file>

<file path=ppt/tags/tag145.xml><?xml version="1.0" encoding="utf-8"?>
<p:tagLst xmlns:p="http://schemas.openxmlformats.org/presentationml/2006/main">
  <p:tag name="KSO_WM_DIAGRAM_VIRTUALLY_FRAME" val="{&quot;height&quot;:196.55322834645668,&quot;left&quot;:71.35,&quot;top&quot;:223.35,&quot;width&quot;:847.2945669291337}"/>
</p:tagLst>
</file>

<file path=ppt/tags/tag146.xml><?xml version="1.0" encoding="utf-8"?>
<p:tagLst xmlns:p="http://schemas.openxmlformats.org/presentationml/2006/main">
  <p:tag name="ISLIDE.THEME" val="https://www.islide.cc;"/>
</p:tagLst>
</file>

<file path=ppt/tags/tag147.xml><?xml version="1.0" encoding="utf-8"?>
<p:tagLst xmlns:p="http://schemas.openxmlformats.org/presentationml/2006/main">
  <p:tag name="ISLIDE.THEME" val="https://www.islide.cc;"/>
</p:tagLst>
</file>

<file path=ppt/tags/tag148.xml><?xml version="1.0" encoding="utf-8"?>
<p:tagLst xmlns:p="http://schemas.openxmlformats.org/presentationml/2006/main">
  <p:tag name="ISLIDE.THEME" val="https://www.islide.cc;"/>
</p:tagLst>
</file>

<file path=ppt/tags/tag149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0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1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2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3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4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5.xml><?xml version="1.0" encoding="utf-8"?>
<p:tagLst xmlns:p="http://schemas.openxmlformats.org/presentationml/2006/main">
  <p:tag name="KSO_WM_DIAGRAM_VIRTUALLY_FRAME" val="{&quot;height&quot;:142.1,&quot;left&quot;:89.85,&quot;top&quot;:360.15,&quot;width&quot;:648.2}"/>
</p:tagLst>
</file>

<file path=ppt/tags/tag156.xml><?xml version="1.0" encoding="utf-8"?>
<p:tagLst xmlns:p="http://schemas.openxmlformats.org/presentationml/2006/main">
  <p:tag name="ISLIDE.THEME" val="https://www.islide.cc;"/>
</p:tagLst>
</file>

<file path=ppt/tags/tag157.xml><?xml version="1.0" encoding="utf-8"?>
<p:tagLst xmlns:p="http://schemas.openxmlformats.org/presentationml/2006/main">
  <p:tag name="ISLIDE.THEME" val="https://www.islide.cc;"/>
</p:tagLst>
</file>

<file path=ppt/tags/tag158.xml><?xml version="1.0" encoding="utf-8"?>
<p:tagLst xmlns:p="http://schemas.openxmlformats.org/presentationml/2006/main">
  <p:tag name="ISLIDE.THEME" val="#194778"/>
</p:tagLst>
</file>

<file path=ppt/theme/theme1.xml><?xml version="1.0" encoding="utf-8"?>
<a:theme xmlns:a="http://schemas.openxmlformats.org/drawingml/2006/main" name="OfficePLUS主题">
  <a:themeElements>
    <a:clrScheme name="自定义 60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6668FE"/>
      </a:accent1>
      <a:accent2>
        <a:srgbClr val="8685FE"/>
      </a:accent2>
      <a:accent3>
        <a:srgbClr val="32ABFB"/>
      </a:accent3>
      <a:accent4>
        <a:srgbClr val="4D85FF"/>
      </a:accent4>
      <a:accent5>
        <a:srgbClr val="858585"/>
      </a:accent5>
      <a:accent6>
        <a:srgbClr val="898D8D"/>
      </a:accent6>
      <a:hlink>
        <a:srgbClr val="47398F"/>
      </a:hlink>
      <a:folHlink>
        <a:srgbClr val="BFBFBF"/>
      </a:folHlink>
    </a:clrScheme>
    <a:fontScheme name="l1vdmp3k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自定义 60">
    <a:dk1>
      <a:srgbClr val="000000"/>
    </a:dk1>
    <a:lt1>
      <a:srgbClr val="FFFFFF"/>
    </a:lt1>
    <a:dk2>
      <a:srgbClr val="768394"/>
    </a:dk2>
    <a:lt2>
      <a:srgbClr val="F0F0F0"/>
    </a:lt2>
    <a:accent1>
      <a:srgbClr val="6668FE"/>
    </a:accent1>
    <a:accent2>
      <a:srgbClr val="8685FE"/>
    </a:accent2>
    <a:accent3>
      <a:srgbClr val="32ABFB"/>
    </a:accent3>
    <a:accent4>
      <a:srgbClr val="4D85FF"/>
    </a:accent4>
    <a:accent5>
      <a:srgbClr val="858585"/>
    </a:accent5>
    <a:accent6>
      <a:srgbClr val="898D8D"/>
    </a:accent6>
    <a:hlink>
      <a:srgbClr val="47398F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3779</Words>
  <Application>WPS 演示</Application>
  <PresentationFormat>宽屏</PresentationFormat>
  <Paragraphs>498</Paragraphs>
  <Slides>25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Arial Unicode MS</vt:lpstr>
      <vt:lpstr>Calibri</vt:lpstr>
      <vt:lpstr>OfficePLUS主题</vt:lpstr>
      <vt:lpstr>TCLayout.ActiveDocument.1</vt:lpstr>
      <vt:lpstr>TCLayout.ActiveDocument.1</vt:lpstr>
      <vt:lpstr>FreeRTOS与SDK学习汇报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实验一：任务状态查询</vt:lpstr>
      <vt:lpstr>实验二：任务运行时间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黑影</cp:lastModifiedBy>
  <cp:revision>11</cp:revision>
  <cp:lastPrinted>2018-03-19T16:00:00Z</cp:lastPrinted>
  <dcterms:created xsi:type="dcterms:W3CDTF">2018-03-19T16:00:00Z</dcterms:created>
  <dcterms:modified xsi:type="dcterms:W3CDTF">2025-12-24T09:48:40Z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2052-12.1.0.24034</vt:lpwstr>
  </property>
  <property fmtid="{D5CDD505-2E9C-101B-9397-08002B2CF9AE}" pid="4" name="ICV">
    <vt:lpwstr>3C486603A45B4BBD908F70FE96B019CA_12</vt:lpwstr>
  </property>
</Properties>
</file>