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3"/>
  </p:notesMasterIdLst>
  <p:handoutMasterIdLst>
    <p:handoutMasterId r:id="rId54"/>
  </p:handoutMasterIdLst>
  <p:sldIdLst>
    <p:sldId id="721" r:id="rId2"/>
    <p:sldId id="720" r:id="rId3"/>
    <p:sldId id="722" r:id="rId4"/>
    <p:sldId id="723" r:id="rId5"/>
    <p:sldId id="724" r:id="rId6"/>
    <p:sldId id="725" r:id="rId7"/>
    <p:sldId id="726" r:id="rId8"/>
    <p:sldId id="727" r:id="rId9"/>
    <p:sldId id="728" r:id="rId10"/>
    <p:sldId id="729" r:id="rId11"/>
    <p:sldId id="730" r:id="rId12"/>
    <p:sldId id="731" r:id="rId13"/>
    <p:sldId id="732" r:id="rId14"/>
    <p:sldId id="733" r:id="rId15"/>
    <p:sldId id="734" r:id="rId16"/>
    <p:sldId id="735" r:id="rId17"/>
    <p:sldId id="736" r:id="rId18"/>
    <p:sldId id="737" r:id="rId19"/>
    <p:sldId id="738" r:id="rId20"/>
    <p:sldId id="754" r:id="rId21"/>
    <p:sldId id="739" r:id="rId22"/>
    <p:sldId id="740" r:id="rId23"/>
    <p:sldId id="741" r:id="rId24"/>
    <p:sldId id="755" r:id="rId25"/>
    <p:sldId id="742" r:id="rId26"/>
    <p:sldId id="743" r:id="rId27"/>
    <p:sldId id="744" r:id="rId28"/>
    <p:sldId id="745" r:id="rId29"/>
    <p:sldId id="746" r:id="rId30"/>
    <p:sldId id="747" r:id="rId31"/>
    <p:sldId id="748" r:id="rId32"/>
    <p:sldId id="749" r:id="rId33"/>
    <p:sldId id="750" r:id="rId34"/>
    <p:sldId id="756" r:id="rId35"/>
    <p:sldId id="751" r:id="rId36"/>
    <p:sldId id="752" r:id="rId37"/>
    <p:sldId id="753" r:id="rId38"/>
    <p:sldId id="764" r:id="rId39"/>
    <p:sldId id="757" r:id="rId40"/>
    <p:sldId id="758" r:id="rId41"/>
    <p:sldId id="759" r:id="rId42"/>
    <p:sldId id="765" r:id="rId43"/>
    <p:sldId id="760" r:id="rId44"/>
    <p:sldId id="766" r:id="rId45"/>
    <p:sldId id="761" r:id="rId46"/>
    <p:sldId id="762" r:id="rId47"/>
    <p:sldId id="763" r:id="rId48"/>
    <p:sldId id="767" r:id="rId49"/>
    <p:sldId id="768" r:id="rId50"/>
    <p:sldId id="769" r:id="rId51"/>
    <p:sldId id="719" r:id="rId52"/>
  </p:sldIdLst>
  <p:sldSz cx="9144000" cy="5143500" type="screen16x9"/>
  <p:notesSz cx="6807200" cy="99393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DF0"/>
    <a:srgbClr val="0000CC"/>
    <a:srgbClr val="346E78"/>
    <a:srgbClr val="E7EEBA"/>
    <a:srgbClr val="96C9D2"/>
    <a:srgbClr val="C1E0E5"/>
    <a:srgbClr val="C24E4E"/>
    <a:srgbClr val="99B323"/>
    <a:srgbClr val="E8B128"/>
    <a:srgbClr val="ABA7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淺色樣式 1 - 輔色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DBED569-4797-4DF1-A0F4-6AAB3CD982D8}" styleName="淺色樣式 3 - 輔色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A488322-F2BA-4B5B-9748-0D474271808F}" styleName="中等深淺樣式 3 - 輔色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6" autoAdjust="0"/>
    <p:restoredTop sz="93219" autoAdjust="0"/>
  </p:normalViewPr>
  <p:slideViewPr>
    <p:cSldViewPr snapToGrid="0" snapToObjects="1">
      <p:cViewPr varScale="1">
        <p:scale>
          <a:sx n="128" d="100"/>
          <a:sy n="128" d="100"/>
        </p:scale>
        <p:origin x="36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>
      <p:cViewPr varScale="1">
        <p:scale>
          <a:sx n="61" d="100"/>
          <a:sy n="61" d="100"/>
        </p:scale>
        <p:origin x="3168" y="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F83C5B-193A-4BF8-A82E-7EEB60FC9D06}" type="datetimeFigureOut">
              <a:rPr lang="zh-TW" altLang="en-US" smtClean="0"/>
              <a:t>2026/1/27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FA2EFD-17CF-42D6-A0C8-2B54CA1B5FB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55376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36A0AF-27EE-2F44-8E2A-D118AC8FD312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FF2086-D505-2D44-8947-B67946DAFD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528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畫面剪輯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" t="648" r="542" b="24906"/>
          <a:stretch/>
        </p:blipFill>
        <p:spPr>
          <a:xfrm>
            <a:off x="0" y="-2250"/>
            <a:ext cx="9144000" cy="514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0" y="-2250"/>
            <a:ext cx="9144000" cy="5148000"/>
          </a:xfrm>
          <a:prstGeom prst="rect">
            <a:avLst/>
          </a:prstGeom>
          <a:solidFill>
            <a:schemeClr val="tx1">
              <a:lumMod val="75000"/>
              <a:lumOff val="25000"/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/>
          <p:cNvSpPr/>
          <p:nvPr userDrawn="1"/>
        </p:nvSpPr>
        <p:spPr>
          <a:xfrm>
            <a:off x="4571964" y="2970854"/>
            <a:ext cx="3888134" cy="1550031"/>
          </a:xfrm>
          <a:prstGeom prst="rect">
            <a:avLst/>
          </a:prstGeom>
        </p:spPr>
        <p:txBody>
          <a:bodyPr wrap="square" lIns="36000" tIns="36000" rIns="36000" bIns="36000" anchor="ctr">
            <a:spAutoFit/>
          </a:bodyPr>
          <a:lstStyle/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000" dirty="0" err="1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Michaelango</a:t>
            </a: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Leonardo da Vinci and Rafael (</a:t>
            </a:r>
            <a:r>
              <a:rPr lang="en-US" sz="1000" dirty="0" err="1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Raffaello</a:t>
            </a: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err="1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Sanzio</a:t>
            </a: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Italian) are the famous three Masters of the Italian Renaissance.</a:t>
            </a: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2">
                  <a:lumMod val="75000"/>
                  <a:alpha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They creatively excelled in both science and art so their works influenced the future of Western culture.</a:t>
            </a: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endParaRPr lang="en-US" sz="1000" dirty="0">
              <a:solidFill>
                <a:schemeClr val="bg2">
                  <a:lumMod val="75000"/>
                  <a:alpha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0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Radio frequency technology is commonly called RF thus we have adopted Rafael’s name for its R and F.</a:t>
            </a:r>
          </a:p>
        </p:txBody>
      </p:sp>
      <p:sp>
        <p:nvSpPr>
          <p:cNvPr id="14" name="標題 83"/>
          <p:cNvSpPr>
            <a:spLocks noGrp="1"/>
          </p:cNvSpPr>
          <p:nvPr>
            <p:ph type="title" hasCustomPrompt="1"/>
          </p:nvPr>
        </p:nvSpPr>
        <p:spPr>
          <a:xfrm>
            <a:off x="679939" y="1401972"/>
            <a:ext cx="7200000" cy="396000"/>
          </a:xfrm>
          <a:prstGeom prst="rect">
            <a:avLst/>
          </a:prstGeom>
        </p:spPr>
        <p:txBody>
          <a:bodyPr lIns="36000" tIns="36000" rIns="36000" bIns="36000" anchor="ctr"/>
          <a:lstStyle>
            <a:lvl1pPr>
              <a:defRPr sz="2400" b="1" i="0" baseline="0">
                <a:solidFill>
                  <a:schemeClr val="bg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r>
              <a:rPr lang="en-US" altLang="zh-TW" dirty="0"/>
              <a:t>Edit Report Title</a:t>
            </a:r>
            <a:endParaRPr lang="zh-TW" altLang="en-US" dirty="0"/>
          </a:p>
        </p:txBody>
      </p:sp>
      <p:sp>
        <p:nvSpPr>
          <p:cNvPr id="15" name="文字版面配置區 31"/>
          <p:cNvSpPr>
            <a:spLocks noGrp="1"/>
          </p:cNvSpPr>
          <p:nvPr>
            <p:ph type="body" sz="quarter" idx="23" hasCustomPrompt="1"/>
          </p:nvPr>
        </p:nvSpPr>
        <p:spPr>
          <a:xfrm>
            <a:off x="1748253" y="4228170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zh-TW" altLang="en-US" sz="1000" b="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MMM-DD-YYYY</a:t>
            </a:r>
            <a:endParaRPr lang="zh-TW" altLang="en-US" dirty="0"/>
          </a:p>
        </p:txBody>
      </p:sp>
      <p:sp>
        <p:nvSpPr>
          <p:cNvPr id="20" name="文字版面配置區 31"/>
          <p:cNvSpPr>
            <a:spLocks noGrp="1"/>
          </p:cNvSpPr>
          <p:nvPr>
            <p:ph type="body" sz="quarter" idx="24" hasCustomPrompt="1"/>
          </p:nvPr>
        </p:nvSpPr>
        <p:spPr>
          <a:xfrm>
            <a:off x="1748253" y="3835302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en-US" altLang="zh-TW" sz="1000" b="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Name / Title</a:t>
            </a:r>
          </a:p>
        </p:txBody>
      </p:sp>
      <p:sp>
        <p:nvSpPr>
          <p:cNvPr id="21" name="文字版面配置區 31"/>
          <p:cNvSpPr>
            <a:spLocks noGrp="1"/>
          </p:cNvSpPr>
          <p:nvPr>
            <p:ph type="body" sz="quarter" idx="20" hasCustomPrompt="1"/>
          </p:nvPr>
        </p:nvSpPr>
        <p:spPr>
          <a:xfrm>
            <a:off x="1748253" y="3049564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en-US" altLang="zh-TW" sz="1000" b="0" kern="120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Name / Title</a:t>
            </a:r>
          </a:p>
        </p:txBody>
      </p:sp>
      <p:sp>
        <p:nvSpPr>
          <p:cNvPr id="22" name="文字版面配置區 31"/>
          <p:cNvSpPr>
            <a:spLocks noGrp="1"/>
          </p:cNvSpPr>
          <p:nvPr>
            <p:ph type="body" sz="quarter" idx="21" hasCustomPrompt="1"/>
          </p:nvPr>
        </p:nvSpPr>
        <p:spPr>
          <a:xfrm>
            <a:off x="1748253" y="3442433"/>
            <a:ext cx="1800000" cy="288000"/>
          </a:xfrm>
          <a:prstGeom prst="rect">
            <a:avLst/>
          </a:prstGeom>
        </p:spPr>
        <p:txBody>
          <a:bodyPr lIns="36000" tIns="36000" rIns="36000" bIns="36000" anchor="ctr"/>
          <a:lstStyle>
            <a:lvl1pPr marL="0" indent="0" algn="l">
              <a:buFontTx/>
              <a:buNone/>
              <a:defRPr lang="en-US" altLang="zh-TW" sz="1000" b="0" baseline="0" dirty="0">
                <a:solidFill>
                  <a:srgbClr val="E9CA7F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Calibri" panose="020F0502020204030204" pitchFamily="34" charset="0"/>
              </a:defRPr>
            </a:lvl1pPr>
          </a:lstStyle>
          <a:p>
            <a:pPr lvl="0">
              <a:spcBef>
                <a:spcPct val="0"/>
              </a:spcBef>
              <a:buNone/>
            </a:pPr>
            <a:r>
              <a:rPr lang="en-US" altLang="zh-TW" dirty="0"/>
              <a:t>Name / Title</a:t>
            </a:r>
          </a:p>
        </p:txBody>
      </p:sp>
      <p:sp>
        <p:nvSpPr>
          <p:cNvPr id="24" name="Rectangle 15"/>
          <p:cNvSpPr/>
          <p:nvPr userDrawn="1"/>
        </p:nvSpPr>
        <p:spPr>
          <a:xfrm>
            <a:off x="679939" y="3070994"/>
            <a:ext cx="864587" cy="245058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L="0" marR="0" indent="0" algn="l" defTabSz="6858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b="1" kern="120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Presented by : </a:t>
            </a:r>
            <a:endParaRPr lang="en-US" altLang="zh-TW" sz="1000" b="1" kern="1200" dirty="0">
              <a:solidFill>
                <a:srgbClr val="F3F3F3"/>
              </a:solidFill>
              <a:latin typeface="Calibri" panose="020F0502020204030204" pitchFamily="34" charset="0"/>
              <a:ea typeface="Arial" charset="0"/>
              <a:cs typeface="Calibri" panose="020F0502020204030204" pitchFamily="34" charset="0"/>
            </a:endParaRPr>
          </a:p>
        </p:txBody>
      </p:sp>
      <p:sp>
        <p:nvSpPr>
          <p:cNvPr id="25" name="Rectangle 15"/>
          <p:cNvSpPr/>
          <p:nvPr userDrawn="1"/>
        </p:nvSpPr>
        <p:spPr>
          <a:xfrm>
            <a:off x="679939" y="3450348"/>
            <a:ext cx="846954" cy="257369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R="0" lvl="0" indent="0" algn="l" defTabSz="68580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1000" b="1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Reviewed by :</a:t>
            </a:r>
            <a:r>
              <a:rPr lang="en-US" altLang="zh-TW" sz="1000" b="1" baseline="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 </a:t>
            </a:r>
            <a:endParaRPr lang="en-US" altLang="zh-TW" sz="1000" b="1" dirty="0">
              <a:solidFill>
                <a:srgbClr val="F3F3F3"/>
              </a:solidFill>
              <a:latin typeface="Calibri" panose="020F0502020204030204" pitchFamily="34" charset="0"/>
              <a:ea typeface="微軟正黑體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26" name="Rectangle 17"/>
          <p:cNvSpPr/>
          <p:nvPr userDrawn="1"/>
        </p:nvSpPr>
        <p:spPr>
          <a:xfrm>
            <a:off x="679939" y="3843230"/>
            <a:ext cx="741156" cy="257369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b="1" kern="120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Created by : </a:t>
            </a:r>
          </a:p>
        </p:txBody>
      </p:sp>
      <p:sp>
        <p:nvSpPr>
          <p:cNvPr id="27" name="Rectangle 18"/>
          <p:cNvSpPr/>
          <p:nvPr userDrawn="1"/>
        </p:nvSpPr>
        <p:spPr>
          <a:xfrm>
            <a:off x="679939" y="4243485"/>
            <a:ext cx="1119465" cy="257369"/>
          </a:xfrm>
          <a:prstGeom prst="rect">
            <a:avLst/>
          </a:prstGeom>
        </p:spPr>
        <p:txBody>
          <a:bodyPr wrap="none" lIns="36000" tIns="36000" rIns="36000" bIns="36000" anchor="ctr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b="1" kern="1200" dirty="0">
                <a:solidFill>
                  <a:srgbClr val="F3F3F3"/>
                </a:solidFill>
                <a:latin typeface="Calibri" panose="020F0502020204030204" pitchFamily="34" charset="0"/>
                <a:ea typeface="微軟正黑體" panose="020B0604030504040204" pitchFamily="34" charset="-120"/>
                <a:cs typeface="Calibri" panose="020F0502020204030204" pitchFamily="34" charset="0"/>
              </a:rPr>
              <a:t>Presentation date : </a:t>
            </a:r>
            <a:endParaRPr lang="zh-TW" altLang="en-US" sz="1000" b="1" kern="1200" dirty="0">
              <a:solidFill>
                <a:srgbClr val="F3F3F3"/>
              </a:solidFill>
              <a:latin typeface="Calibri" panose="020F0502020204030204" pitchFamily="34" charset="0"/>
              <a:ea typeface="微軟正黑體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0" name="圖片 29" descr="畫面剪輯"/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4C4C4C"/>
              </a:clrFrom>
              <a:clrTo>
                <a:srgbClr val="4C4C4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9" t="431" r="6450" b="312"/>
          <a:stretch/>
        </p:blipFill>
        <p:spPr>
          <a:xfrm>
            <a:off x="679939" y="758664"/>
            <a:ext cx="1338182" cy="360000"/>
          </a:xfrm>
          <a:prstGeom prst="rect">
            <a:avLst/>
          </a:prstGeom>
        </p:spPr>
      </p:pic>
      <p:sp>
        <p:nvSpPr>
          <p:cNvPr id="31" name="框架 30"/>
          <p:cNvSpPr/>
          <p:nvPr userDrawn="1"/>
        </p:nvSpPr>
        <p:spPr>
          <a:xfrm>
            <a:off x="0" y="-2250"/>
            <a:ext cx="9144000" cy="5148000"/>
          </a:xfrm>
          <a:prstGeom prst="frame">
            <a:avLst>
              <a:gd name="adj1" fmla="val 582"/>
            </a:avLst>
          </a:prstGeom>
          <a:solidFill>
            <a:srgbClr val="DFC27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1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9" r="9250"/>
          <a:stretch/>
        </p:blipFill>
        <p:spPr bwMode="auto">
          <a:xfrm>
            <a:off x="0" y="-2250"/>
            <a:ext cx="9144000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-2250"/>
            <a:ext cx="9144000" cy="5148000"/>
          </a:xfrm>
          <a:prstGeom prst="rect">
            <a:avLst/>
          </a:prstGeom>
          <a:solidFill>
            <a:schemeClr val="tx1">
              <a:lumMod val="75000"/>
              <a:lumOff val="25000"/>
              <a:alpha val="9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框架 4"/>
          <p:cNvSpPr/>
          <p:nvPr userDrawn="1"/>
        </p:nvSpPr>
        <p:spPr>
          <a:xfrm>
            <a:off x="0" y="-2250"/>
            <a:ext cx="9144000" cy="5148000"/>
          </a:xfrm>
          <a:prstGeom prst="frame">
            <a:avLst>
              <a:gd name="adj1" fmla="val 582"/>
            </a:avLst>
          </a:prstGeom>
          <a:solidFill>
            <a:srgbClr val="DFC27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圖片 6" descr="畫面剪輯"/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4C4C4C"/>
              </a:clrFrom>
              <a:clrTo>
                <a:srgbClr val="4C4C4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9" t="431" r="6450" b="312"/>
          <a:stretch/>
        </p:blipFill>
        <p:spPr>
          <a:xfrm>
            <a:off x="679939" y="758664"/>
            <a:ext cx="1338182" cy="360000"/>
          </a:xfrm>
          <a:prstGeom prst="rect">
            <a:avLst/>
          </a:prstGeom>
        </p:spPr>
      </p:pic>
      <p:sp>
        <p:nvSpPr>
          <p:cNvPr id="8" name="標題 9"/>
          <p:cNvSpPr txBox="1">
            <a:spLocks/>
          </p:cNvSpPr>
          <p:nvPr userDrawn="1"/>
        </p:nvSpPr>
        <p:spPr>
          <a:xfrm>
            <a:off x="2772000" y="2283750"/>
            <a:ext cx="3600000" cy="576000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i="0" kern="1200" baseline="0">
                <a:solidFill>
                  <a:schemeClr val="tx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+mj-cs"/>
              </a:defRPr>
            </a:lvl1pPr>
          </a:lstStyle>
          <a:p>
            <a:pPr algn="ctr"/>
            <a:r>
              <a:rPr lang="en-US" altLang="zh-TW" sz="1800" b="1" dirty="0">
                <a:solidFill>
                  <a:schemeClr val="bg1"/>
                </a:solidFill>
                <a:effectLst/>
                <a:latin typeface="ZapfDingbats" pitchFamily="18"/>
              </a:rPr>
              <a:t>Thank You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1162125" y="3375855"/>
            <a:ext cx="6819752" cy="215444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/>
          <a:p>
            <a:pPr lvl="0" algn="ctr"/>
            <a:r>
              <a:rPr lang="en-US" altLang="zh-TW" sz="1400" dirty="0">
                <a:solidFill>
                  <a:srgbClr val="E8B1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Rafael</a:t>
            </a:r>
            <a:r>
              <a:rPr lang="en-US" altLang="zh-TW" sz="1400" baseline="0" dirty="0">
                <a:solidFill>
                  <a:srgbClr val="E8B1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400" baseline="0" dirty="0">
                <a:solidFill>
                  <a:srgbClr val="99B3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Micro</a:t>
            </a:r>
            <a:r>
              <a:rPr lang="en-US" altLang="zh-TW" sz="1000" dirty="0">
                <a:solidFill>
                  <a:srgbClr val="D3D4D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000" kern="1200" dirty="0">
                <a:solidFill>
                  <a:schemeClr val="bg2">
                    <a:lumMod val="75000"/>
                    <a:alpha val="5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create RF integrated circuits with this same aspiration by continuously pursuing innovation and unique creativity.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投影片編號版面配置區 3"/>
          <p:cNvSpPr txBox="1">
            <a:spLocks/>
          </p:cNvSpPr>
          <p:nvPr userDrawn="1"/>
        </p:nvSpPr>
        <p:spPr>
          <a:xfrm>
            <a:off x="390123" y="4914968"/>
            <a:ext cx="129597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TW"/>
            </a:defPPr>
            <a:lvl1pPr>
              <a:defRPr sz="1000" baseline="0">
                <a:solidFill>
                  <a:srgbClr val="19353F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</a:lstStyle>
          <a:p>
            <a:pPr lvl="0" algn="ctr"/>
            <a:r>
              <a:rPr lang="en-US" altLang="zh-TW" sz="700" baseline="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29</a:t>
            </a:r>
            <a:r>
              <a:rPr lang="zh-TW" altLang="en-US" sz="700" baseline="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4" name="Text Box 19"/>
          <p:cNvSpPr txBox="1">
            <a:spLocks noChangeArrowheads="1"/>
          </p:cNvSpPr>
          <p:nvPr userDrawn="1"/>
        </p:nvSpPr>
        <p:spPr bwMode="auto">
          <a:xfrm>
            <a:off x="7609030" y="4914968"/>
            <a:ext cx="1282970" cy="19581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36000" tIns="36000" rIns="36000" bIns="36000" anchor="ctr">
            <a:spAutoFit/>
          </a:bodyPr>
          <a:lstStyle>
            <a:lvl1pPr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r" eaLnBrk="1" hangingPunct="1">
              <a:defRPr/>
            </a:pPr>
            <a:r>
              <a:rPr lang="en-US" altLang="zh-TW" sz="800" b="0" i="1" dirty="0">
                <a:solidFill>
                  <a:srgbClr val="F6B9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Proprietary and Confidential</a:t>
            </a:r>
          </a:p>
        </p:txBody>
      </p:sp>
      <p:grpSp>
        <p:nvGrpSpPr>
          <p:cNvPr id="31" name="群組 30"/>
          <p:cNvGrpSpPr>
            <a:grpSpLocks noChangeAspect="1"/>
          </p:cNvGrpSpPr>
          <p:nvPr userDrawn="1"/>
        </p:nvGrpSpPr>
        <p:grpSpPr>
          <a:xfrm>
            <a:off x="8164750" y="4612872"/>
            <a:ext cx="741426" cy="288000"/>
            <a:chOff x="7965218" y="4546501"/>
            <a:chExt cx="926782" cy="360000"/>
          </a:xfrm>
        </p:grpSpPr>
        <p:grpSp>
          <p:nvGrpSpPr>
            <p:cNvPr id="6" name="群組 5"/>
            <p:cNvGrpSpPr/>
            <p:nvPr userDrawn="1"/>
          </p:nvGrpSpPr>
          <p:grpSpPr>
            <a:xfrm>
              <a:off x="8496408" y="4546501"/>
              <a:ext cx="395592" cy="360000"/>
              <a:chOff x="5469835" y="3003630"/>
              <a:chExt cx="395592" cy="360000"/>
            </a:xfrm>
          </p:grpSpPr>
          <p:pic>
            <p:nvPicPr>
              <p:cNvPr id="28" name="Picture 20" descr="logo_rafaelmicro"/>
              <p:cNvPicPr>
                <a:picLocks noChangeAspect="1" noChangeArrowheads="1"/>
              </p:cNvPicPr>
              <p:nvPr userDrawn="1"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6586" r="72051" b="9655"/>
              <a:stretch/>
            </p:blipFill>
            <p:spPr bwMode="auto">
              <a:xfrm>
                <a:off x="5469836" y="3003630"/>
                <a:ext cx="395591" cy="360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" name="矩形 4"/>
              <p:cNvSpPr/>
              <p:nvPr userDrawn="1"/>
            </p:nvSpPr>
            <p:spPr>
              <a:xfrm>
                <a:off x="5469835" y="3003630"/>
                <a:ext cx="395591" cy="360000"/>
              </a:xfrm>
              <a:prstGeom prst="rect">
                <a:avLst/>
              </a:prstGeom>
              <a:solidFill>
                <a:srgbClr val="FFFFFF">
                  <a:alpha val="6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群組 29"/>
            <p:cNvGrpSpPr/>
            <p:nvPr userDrawn="1"/>
          </p:nvGrpSpPr>
          <p:grpSpPr>
            <a:xfrm>
              <a:off x="7965218" y="4798501"/>
              <a:ext cx="642182" cy="108000"/>
              <a:chOff x="4458584" y="2799907"/>
              <a:chExt cx="642182" cy="108000"/>
            </a:xfrm>
          </p:grpSpPr>
          <p:pic>
            <p:nvPicPr>
              <p:cNvPr id="29" name="Picture 20" descr="logo_rafaelmicro"/>
              <p:cNvPicPr>
                <a:picLocks noChangeAspect="1" noChangeArrowheads="1"/>
              </p:cNvPicPr>
              <p:nvPr userDrawn="1"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8572" t="37421" r="5424" b="30389"/>
              <a:stretch/>
            </p:blipFill>
            <p:spPr bwMode="auto">
              <a:xfrm>
                <a:off x="4458584" y="2799907"/>
                <a:ext cx="642182" cy="108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" name="矩形 6"/>
              <p:cNvSpPr/>
              <p:nvPr userDrawn="1"/>
            </p:nvSpPr>
            <p:spPr>
              <a:xfrm>
                <a:off x="4458584" y="2799907"/>
                <a:ext cx="640800" cy="108000"/>
              </a:xfrm>
              <a:prstGeom prst="rect">
                <a:avLst/>
              </a:prstGeom>
              <a:solidFill>
                <a:srgbClr val="FFFFFF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39" name="矩形 38"/>
          <p:cNvSpPr/>
          <p:nvPr userDrawn="1"/>
        </p:nvSpPr>
        <p:spPr>
          <a:xfrm rot="5400000">
            <a:off x="324000" y="4972568"/>
            <a:ext cx="126000" cy="10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/>
          <p:cNvSpPr/>
          <p:nvPr userDrawn="1"/>
        </p:nvSpPr>
        <p:spPr>
          <a:xfrm>
            <a:off x="252000" y="4906501"/>
            <a:ext cx="270000" cy="10800"/>
          </a:xfrm>
          <a:prstGeom prst="rect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/>
          <p:cNvSpPr/>
          <p:nvPr userDrawn="1"/>
        </p:nvSpPr>
        <p:spPr>
          <a:xfrm flipH="1">
            <a:off x="657000" y="4906501"/>
            <a:ext cx="8235000" cy="10800"/>
          </a:xfrm>
          <a:prstGeom prst="rect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投影片編號版面配置區 3"/>
          <p:cNvSpPr txBox="1">
            <a:spLocks/>
          </p:cNvSpPr>
          <p:nvPr userDrawn="1"/>
        </p:nvSpPr>
        <p:spPr>
          <a:xfrm>
            <a:off x="254280" y="4914968"/>
            <a:ext cx="12732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TW"/>
            </a:defPPr>
            <a:lvl1pPr>
              <a:defRPr sz="1000" baseline="0">
                <a:solidFill>
                  <a:srgbClr val="19353F"/>
                </a:solidFill>
                <a:latin typeface="Calibri" panose="020F0502020204030204" pitchFamily="34" charset="0"/>
                <a:ea typeface="新細明體" panose="02020500000000000000" pitchFamily="18" charset="-120"/>
              </a:defRPr>
            </a:lvl1pPr>
          </a:lstStyle>
          <a:p>
            <a:pPr lvl="0" algn="ctr"/>
            <a:fld id="{9C5D9D58-E8C0-45B8-84D0-B47AD46CE60E}" type="slidenum">
              <a:rPr lang="zh-TW" altLang="en-US" sz="700" baseline="0" smtClean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pPr lvl="0" algn="ctr"/>
              <a:t>‹#›</a:t>
            </a:fld>
            <a:r>
              <a:rPr lang="zh-TW" altLang="en-US" sz="700" baseline="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</p:sldLayoutIdLst>
  <p:hf sldNum="0"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025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65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94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23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5285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8035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935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835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学习报告</a:t>
            </a:r>
            <a:endParaRPr 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 altLang="zh-CN" dirty="0"/>
              <a:t>Jan</a:t>
            </a:r>
            <a:r>
              <a:rPr lang="en-US" dirty="0"/>
              <a:t>-27-2026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zh-CN" altLang="en-US" dirty="0"/>
              <a:t>冯一帆</a:t>
            </a:r>
            <a:endParaRPr 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zh-CN" altLang="en-US" dirty="0"/>
              <a:t>冯一帆</a:t>
            </a:r>
            <a:endParaRPr 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zh-CN" altLang="en-US" dirty="0"/>
              <a:t>冯一帆</a:t>
            </a:r>
            <a:endParaRPr 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96E1309-36DE-2BCF-2E67-EBA346A089E0}"/>
              </a:ext>
            </a:extLst>
          </p:cNvPr>
          <p:cNvSpPr txBox="1"/>
          <p:nvPr/>
        </p:nvSpPr>
        <p:spPr>
          <a:xfrm>
            <a:off x="629759" y="1816937"/>
            <a:ext cx="4990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</a:rPr>
              <a:t>常见程序卡死问题以及</a:t>
            </a:r>
            <a:r>
              <a:rPr lang="en-US" altLang="zh-CN" sz="1200" dirty="0">
                <a:solidFill>
                  <a:schemeClr val="bg1"/>
                </a:solidFill>
              </a:rPr>
              <a:t>i2s</a:t>
            </a:r>
            <a:r>
              <a:rPr lang="zh-CN" altLang="en-US" sz="1200" dirty="0">
                <a:solidFill>
                  <a:schemeClr val="bg1"/>
                </a:solidFill>
              </a:rPr>
              <a:t>和</a:t>
            </a:r>
            <a:r>
              <a:rPr lang="en-US" altLang="zh-CN" sz="1200" dirty="0" err="1">
                <a:solidFill>
                  <a:schemeClr val="bg1"/>
                </a:solidFill>
              </a:rPr>
              <a:t>ble</a:t>
            </a:r>
            <a:r>
              <a:rPr lang="zh-CN" altLang="en-US" sz="1200" dirty="0">
                <a:solidFill>
                  <a:schemeClr val="bg1"/>
                </a:solidFill>
              </a:rPr>
              <a:t>相关接口</a:t>
            </a:r>
          </a:p>
        </p:txBody>
      </p:sp>
    </p:spTree>
    <p:extLst>
      <p:ext uri="{BB962C8B-B14F-4D97-AF65-F5344CB8AC3E}">
        <p14:creationId xmlns:p14="http://schemas.microsoft.com/office/powerpoint/2010/main" val="2071277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/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A095973-D2A7-89B8-B5E9-C495F8F0D2DB}"/>
              </a:ext>
            </a:extLst>
          </p:cNvPr>
          <p:cNvSpPr txBox="1"/>
          <p:nvPr/>
        </p:nvSpPr>
        <p:spPr>
          <a:xfrm>
            <a:off x="5096107" y="3652026"/>
            <a:ext cx="38650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+mn-ea"/>
              </a:rPr>
              <a:t>常见程序卡死问题</a:t>
            </a:r>
          </a:p>
        </p:txBody>
      </p:sp>
    </p:spTree>
    <p:extLst>
      <p:ext uri="{BB962C8B-B14F-4D97-AF65-F5344CB8AC3E}">
        <p14:creationId xmlns:p14="http://schemas.microsoft.com/office/powerpoint/2010/main" val="2577367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FFD63-D36D-588F-3C08-ED8CF299C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40713E4-4D49-89C3-BAF0-242753A88652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常见原因及场景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8657805-31E0-168B-0F31-F8B3A7C05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84303"/>
              </p:ext>
            </p:extLst>
          </p:nvPr>
        </p:nvGraphicFramePr>
        <p:xfrm>
          <a:off x="550589" y="1890229"/>
          <a:ext cx="7886700" cy="19685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6062">
                  <a:extLst>
                    <a:ext uri="{9D8B030D-6E8A-4147-A177-3AD203B41FA5}">
                      <a16:colId xmlns:a16="http://schemas.microsoft.com/office/drawing/2014/main" val="3002990419"/>
                    </a:ext>
                  </a:extLst>
                </a:gridCol>
                <a:gridCol w="5660638">
                  <a:extLst>
                    <a:ext uri="{9D8B030D-6E8A-4147-A177-3AD203B41FA5}">
                      <a16:colId xmlns:a16="http://schemas.microsoft.com/office/drawing/2014/main" val="39287841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 dirty="0">
                          <a:effectLst/>
                        </a:rPr>
                        <a:t>场景</a:t>
                      </a:r>
                      <a:endParaRPr lang="zh-CN" sz="11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 dirty="0">
                          <a:effectLst/>
                        </a:rPr>
                        <a:t>高频原因</a:t>
                      </a:r>
                      <a:endParaRPr lang="zh-CN" sz="11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542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 dirty="0">
                          <a:effectLst/>
                        </a:rPr>
                        <a:t>通用</a:t>
                      </a:r>
                      <a:r>
                        <a:rPr lang="en-US" sz="1100" kern="100" dirty="0">
                          <a:effectLst/>
                        </a:rPr>
                        <a:t> PC </a:t>
                      </a:r>
                      <a:r>
                        <a:rPr lang="zh-CN" sz="1100" kern="100" dirty="0">
                          <a:effectLst/>
                        </a:rPr>
                        <a:t>程序</a:t>
                      </a:r>
                      <a:endParaRPr lang="zh-CN" sz="11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>
                          <a:effectLst/>
                        </a:rPr>
                        <a:t>无限循环、内存泄漏、资源竞争（多线程）、磁盘</a:t>
                      </a:r>
                      <a:r>
                        <a:rPr lang="en-US" sz="1100" kern="100">
                          <a:effectLst/>
                        </a:rPr>
                        <a:t> I/O </a:t>
                      </a:r>
                      <a:r>
                        <a:rPr lang="zh-CN" sz="1100" kern="100">
                          <a:effectLst/>
                        </a:rPr>
                        <a:t>瓶颈、未处理异常</a:t>
                      </a:r>
                      <a:endParaRPr lang="zh-CN" sz="11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/>
                </a:tc>
                <a:extLst>
                  <a:ext uri="{0D108BD9-81ED-4DB2-BD59-A6C34878D82A}">
                    <a16:rowId xmlns:a16="http://schemas.microsoft.com/office/drawing/2014/main" val="26792676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 dirty="0">
                          <a:effectLst/>
                        </a:rPr>
                        <a:t>嵌入式程序（</a:t>
                      </a:r>
                      <a:r>
                        <a:rPr lang="en-US" sz="1100" kern="100" dirty="0">
                          <a:effectLst/>
                        </a:rPr>
                        <a:t>Cortex-M</a:t>
                      </a:r>
                      <a:r>
                        <a:rPr lang="zh-CN" sz="1100" kern="100" dirty="0">
                          <a:effectLst/>
                        </a:rPr>
                        <a:t>）</a:t>
                      </a:r>
                      <a:endParaRPr lang="zh-CN" sz="11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>
                          <a:effectLst/>
                        </a:rPr>
                        <a:t>堆栈溢出、指针越界、中断优先级错误、外设配置错误、时钟异常、电源干扰</a:t>
                      </a:r>
                      <a:endParaRPr lang="zh-CN" sz="11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/>
                </a:tc>
                <a:extLst>
                  <a:ext uri="{0D108BD9-81ED-4DB2-BD59-A6C34878D82A}">
                    <a16:rowId xmlns:a16="http://schemas.microsoft.com/office/drawing/2014/main" val="1612470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</a:rPr>
                        <a:t>RTOS </a:t>
                      </a:r>
                      <a:r>
                        <a:rPr lang="zh-CN" sz="1100" kern="100" dirty="0">
                          <a:effectLst/>
                        </a:rPr>
                        <a:t>程序（</a:t>
                      </a:r>
                      <a:r>
                        <a:rPr lang="en-US" sz="1100" kern="100" dirty="0" err="1">
                          <a:effectLst/>
                        </a:rPr>
                        <a:t>FreeRTOS</a:t>
                      </a:r>
                      <a:r>
                        <a:rPr lang="zh-CN" sz="1100" kern="100" dirty="0">
                          <a:effectLst/>
                        </a:rPr>
                        <a:t>）</a:t>
                      </a:r>
                      <a:endParaRPr lang="zh-CN" sz="11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>
                          <a:effectLst/>
                        </a:rPr>
                        <a:t>任务死锁、</a:t>
                      </a:r>
                      <a:r>
                        <a:rPr lang="en-US" sz="1100" kern="100">
                          <a:effectLst/>
                        </a:rPr>
                        <a:t>PendSV/SVC </a:t>
                      </a:r>
                      <a:r>
                        <a:rPr lang="zh-CN" sz="1100" kern="100">
                          <a:effectLst/>
                        </a:rPr>
                        <a:t>配置错误、中断嵌套过深、栈大小不足</a:t>
                      </a:r>
                      <a:endParaRPr lang="zh-CN" sz="11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/>
                </a:tc>
                <a:extLst>
                  <a:ext uri="{0D108BD9-81ED-4DB2-BD59-A6C34878D82A}">
                    <a16:rowId xmlns:a16="http://schemas.microsoft.com/office/drawing/2014/main" val="770957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 dirty="0">
                          <a:effectLst/>
                        </a:rPr>
                        <a:t>图形界面程序</a:t>
                      </a:r>
                      <a:endParaRPr lang="zh-CN" sz="11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100" kern="100" dirty="0">
                          <a:effectLst/>
                        </a:rPr>
                        <a:t>主线程阻塞（如</a:t>
                      </a:r>
                      <a:r>
                        <a:rPr lang="en-US" sz="1100" kern="100" dirty="0">
                          <a:effectLst/>
                        </a:rPr>
                        <a:t> UI </a:t>
                      </a:r>
                      <a:r>
                        <a:rPr lang="zh-CN" sz="1100" kern="100" dirty="0">
                          <a:effectLst/>
                        </a:rPr>
                        <a:t>线程执行耗时计算）、资源加载超时、第三方控件兼容性问题</a:t>
                      </a:r>
                      <a:endParaRPr lang="zh-CN" sz="11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60655" marR="160655" marT="107315" marB="107315" anchor="ctr"/>
                </a:tc>
                <a:extLst>
                  <a:ext uri="{0D108BD9-81ED-4DB2-BD59-A6C34878D82A}">
                    <a16:rowId xmlns:a16="http://schemas.microsoft.com/office/drawing/2014/main" val="3169409355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0D45A608-C055-51AB-C787-3F0A834CB27F}"/>
              </a:ext>
            </a:extLst>
          </p:cNvPr>
          <p:cNvSpPr txBox="1"/>
          <p:nvPr/>
        </p:nvSpPr>
        <p:spPr>
          <a:xfrm>
            <a:off x="550591" y="4153553"/>
            <a:ext cx="7886700" cy="505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排查时需结合场景选择工具：嵌入式场景用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J-Link+GDB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查看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HardFault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栈帧、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FreeRTOS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Trace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查看任务调度；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程序用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Valgrind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检测内存泄漏、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VisualVM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监控线程状态。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AAB351-B72C-1F2C-EAE3-640ACFAD447F}"/>
              </a:ext>
            </a:extLst>
          </p:cNvPr>
          <p:cNvSpPr txBox="1"/>
          <p:nvPr/>
        </p:nvSpPr>
        <p:spPr>
          <a:xfrm>
            <a:off x="550589" y="1207398"/>
            <a:ext cx="78866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程序卡死或跑飞（运行失控）的原因可从</a:t>
            </a:r>
            <a:r>
              <a:rPr lang="zh-CN" altLang="zh-CN" sz="1200" b="1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软件设计缺陷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zh-CN" sz="1200" b="1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系统资源问题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zh-CN" sz="1200" b="1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硬件故障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三大维度分类</a:t>
            </a:r>
            <a:r>
              <a:rPr lang="zh-CN" altLang="en-US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，这里主要围绕软件设计缺陷来讲，下面是不同软件场景的常见原因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11827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B5FA-FD7C-61E0-EFEA-610DA615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376C38D6-DA5F-CB05-4675-38CAE719140A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多线程死锁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实验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图片 8" descr="文本&#10;&#10;AI 生成的内容可能不正确。">
            <a:extLst>
              <a:ext uri="{FF2B5EF4-FFF2-40B4-BE49-F238E27FC236}">
                <a16:creationId xmlns:a16="http://schemas.microsoft.com/office/drawing/2014/main" id="{D71F8EA8-B5FF-B06A-6738-904863247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590148"/>
            <a:ext cx="3642385" cy="3630589"/>
          </a:xfrm>
          <a:prstGeom prst="rect">
            <a:avLst/>
          </a:prstGeom>
        </p:spPr>
      </p:pic>
      <p:pic>
        <p:nvPicPr>
          <p:cNvPr id="10" name="图片 9" descr="文本&#10;&#10;AI 生成的内容可能不正确。">
            <a:extLst>
              <a:ext uri="{FF2B5EF4-FFF2-40B4-BE49-F238E27FC236}">
                <a16:creationId xmlns:a16="http://schemas.microsoft.com/office/drawing/2014/main" id="{9343897B-B466-A0B6-7CCD-6A8F1C7DA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976" y="3451117"/>
            <a:ext cx="5274310" cy="76962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377985B4-2A8B-5CD9-DF88-692FA8F826CB}"/>
              </a:ext>
            </a:extLst>
          </p:cNvPr>
          <p:cNvSpPr txBox="1"/>
          <p:nvPr/>
        </p:nvSpPr>
        <p:spPr>
          <a:xfrm>
            <a:off x="3969834" y="595355"/>
            <a:ext cx="4572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创建两个任务</a:t>
            </a:r>
            <a:r>
              <a:rPr lang="en-US" altLang="zh-CN" sz="1600" dirty="0">
                <a:latin typeface="+mn-ea"/>
              </a:rPr>
              <a:t>task1</a:t>
            </a:r>
            <a:r>
              <a:rPr lang="zh-CN" altLang="en-US" sz="1600" dirty="0">
                <a:latin typeface="+mn-ea"/>
              </a:rPr>
              <a:t>和</a:t>
            </a:r>
            <a:r>
              <a:rPr lang="en-US" altLang="zh-CN" sz="1600" dirty="0">
                <a:latin typeface="+mn-ea"/>
              </a:rPr>
              <a:t>task2</a:t>
            </a:r>
            <a:r>
              <a:rPr lang="zh-CN" altLang="en-US" sz="1600" dirty="0">
                <a:latin typeface="+mn-ea"/>
              </a:rPr>
              <a:t>，并且都需要</a:t>
            </a:r>
            <a:r>
              <a:rPr lang="en-US" altLang="zh-CN" sz="1600" dirty="0">
                <a:latin typeface="+mn-ea"/>
              </a:rPr>
              <a:t>A B</a:t>
            </a:r>
            <a:r>
              <a:rPr lang="zh-CN" altLang="en-US" sz="1600" dirty="0">
                <a:latin typeface="+mn-ea"/>
              </a:rPr>
              <a:t>两个互斥信号量，</a:t>
            </a:r>
            <a:r>
              <a:rPr lang="zh-CN" altLang="zh-CN" sz="1600" dirty="0">
                <a:latin typeface="+mn-ea"/>
              </a:rPr>
              <a:t>同时还创建了一个低优先级的心跳任务</a:t>
            </a:r>
            <a:r>
              <a:rPr lang="zh-CN" altLang="en-US" sz="1600" dirty="0">
                <a:latin typeface="+mn-ea"/>
              </a:rPr>
              <a:t>（</a:t>
            </a:r>
            <a:r>
              <a:rPr lang="en-US" altLang="zh-CN" sz="1600" dirty="0" err="1">
                <a:latin typeface="+mn-ea"/>
              </a:rPr>
              <a:t>LedTask</a:t>
            </a:r>
            <a:r>
              <a:rPr lang="zh-CN" altLang="en-US" sz="1600" dirty="0">
                <a:latin typeface="+mn-ea"/>
              </a:rPr>
              <a:t>）</a:t>
            </a:r>
            <a:r>
              <a:rPr lang="zh-CN" altLang="zh-CN" sz="1600" dirty="0">
                <a:latin typeface="+mn-ea"/>
              </a:rPr>
              <a:t>来判断是系统卡死还是任务卡死（</a:t>
            </a:r>
            <a:r>
              <a:rPr lang="en-US" altLang="zh-CN" sz="1600" dirty="0">
                <a:latin typeface="+mn-ea"/>
              </a:rPr>
              <a:t>led</a:t>
            </a:r>
            <a:r>
              <a:rPr lang="zh-CN" altLang="zh-CN" sz="1600" dirty="0">
                <a:latin typeface="+mn-ea"/>
              </a:rPr>
              <a:t>翻转）</a:t>
            </a:r>
          </a:p>
          <a:p>
            <a:endParaRPr lang="zh-CN" altLang="en-US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7590213-7402-B68B-5FB7-C3A235DEEA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591" y="4220737"/>
            <a:ext cx="5274310" cy="241300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D2CF4F99-11BC-88B4-AED0-1063DE8BB089}"/>
              </a:ext>
            </a:extLst>
          </p:cNvPr>
          <p:cNvSpPr txBox="1"/>
          <p:nvPr/>
        </p:nvSpPr>
        <p:spPr>
          <a:xfrm>
            <a:off x="3969834" y="2298622"/>
            <a:ext cx="4572000" cy="115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/>
              <a:t>Task1</a:t>
            </a:r>
            <a:r>
              <a:rPr lang="zh-CN" altLang="en-US" sz="1600" dirty="0"/>
              <a:t>和</a:t>
            </a:r>
            <a:r>
              <a:rPr lang="en-US" altLang="zh-CN" sz="1600" dirty="0"/>
              <a:t>2</a:t>
            </a:r>
            <a:r>
              <a:rPr lang="zh-CN" altLang="en-US" sz="1600" dirty="0"/>
              <a:t>都被阻塞，但心跳任务还在进行（</a:t>
            </a:r>
            <a:r>
              <a:rPr lang="en-US" altLang="zh-CN" sz="1600" dirty="0"/>
              <a:t>led</a:t>
            </a:r>
            <a:r>
              <a:rPr lang="zh-CN" altLang="en-US" sz="1600" dirty="0"/>
              <a:t>灯正常翻转），表明并非系统阻塞，只需去排查任务阻塞</a:t>
            </a:r>
          </a:p>
        </p:txBody>
      </p:sp>
    </p:spTree>
    <p:extLst>
      <p:ext uri="{BB962C8B-B14F-4D97-AF65-F5344CB8AC3E}">
        <p14:creationId xmlns:p14="http://schemas.microsoft.com/office/powerpoint/2010/main" val="1677574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388DE-E4D3-627D-4FF7-21495C1F9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87BB0699-1E38-4902-238F-9DA33FC8C4F9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多线程死锁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分析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图片 4" descr="表格&#10;&#10;AI 生成的内容可能不正确。">
            <a:extLst>
              <a:ext uri="{FF2B5EF4-FFF2-40B4-BE49-F238E27FC236}">
                <a16:creationId xmlns:a16="http://schemas.microsoft.com/office/drawing/2014/main" id="{9124A367-955B-9E8E-08DF-9373754FA51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591"/>
          <a:stretch>
            <a:fillRect/>
          </a:stretch>
        </p:blipFill>
        <p:spPr bwMode="auto">
          <a:xfrm>
            <a:off x="215591" y="555630"/>
            <a:ext cx="3336072" cy="4032239"/>
          </a:xfrm>
          <a:prstGeom prst="rect">
            <a:avLst/>
          </a:prstGeom>
          <a:noFill/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E118F2D-222F-60F1-F043-617189188432}"/>
              </a:ext>
            </a:extLst>
          </p:cNvPr>
          <p:cNvSpPr txBox="1"/>
          <p:nvPr/>
        </p:nvSpPr>
        <p:spPr>
          <a:xfrm>
            <a:off x="3757961" y="1660746"/>
            <a:ext cx="4572000" cy="1530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zh-CN" sz="16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确定是任务阻塞后加入</a:t>
            </a:r>
            <a:r>
              <a:rPr lang="en-US" altLang="zh-CN" sz="1600" dirty="0" err="1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vtasklist</a:t>
            </a:r>
            <a:r>
              <a:rPr lang="zh-CN" altLang="zh-CN" sz="16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打印任务状态来定位导致任务阻塞的任务，通过打印可以开出来</a:t>
            </a:r>
            <a:r>
              <a:rPr lang="en-US" altLang="zh-CN" sz="16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task1</a:t>
            </a:r>
            <a:r>
              <a:rPr lang="zh-CN" altLang="zh-CN" sz="16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6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task2</a:t>
            </a:r>
            <a:r>
              <a:rPr lang="zh-CN" altLang="zh-CN" sz="16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运行一次后就一直在阻塞，大概率就是这两个任务导致的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855127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2FA74-122C-F49D-B774-4C09D983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D85F89C-3F60-9D11-C974-FF00C5989C3B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栈溢出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实验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98" name="Picture 2" descr="屏幕的截图&#10;&#10;AI 生成的内容可能不正确。">
            <a:extLst>
              <a:ext uri="{FF2B5EF4-FFF2-40B4-BE49-F238E27FC236}">
                <a16:creationId xmlns:a16="http://schemas.microsoft.com/office/drawing/2014/main" id="{92E5B178-E3D0-EB44-FB19-74F1341F8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591" y="1033656"/>
            <a:ext cx="5270500" cy="189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7" name="图片 1" descr="文本&#10;&#10;AI 生成的内容可能不正确。">
            <a:extLst>
              <a:ext uri="{FF2B5EF4-FFF2-40B4-BE49-F238E27FC236}">
                <a16:creationId xmlns:a16="http://schemas.microsoft.com/office/drawing/2014/main" id="{5A61BADC-A7BC-8569-A02E-C1F4E14BA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591" y="3325618"/>
            <a:ext cx="5276850" cy="1568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A8DBA6DA-EF34-0F73-CC77-2E3C70B2D7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591" y="606731"/>
            <a:ext cx="3971692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创建一个没有限制的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无限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递归函数让其运行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CB2FCF9-4267-7D5C-D23D-14AF5B199B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663" y="3025765"/>
            <a:ext cx="758097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通过打印看到函数递归几次之后就停止了，同时心跳任务（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led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不再翻转）也停止了，系统被阻塞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62744C0-0EE9-B820-E7AE-49229F5862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591" y="4665856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8961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4DE56-21F1-887E-59C9-C993954D5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7480198-A528-B1A8-51D2-EF07B6D093D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栈溢出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分析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6B140FD-41E9-A64B-113A-9991538B3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443" y="3571023"/>
            <a:ext cx="5276850" cy="33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1" name="图片 1">
            <a:extLst>
              <a:ext uri="{FF2B5EF4-FFF2-40B4-BE49-F238E27FC236}">
                <a16:creationId xmlns:a16="http://schemas.microsoft.com/office/drawing/2014/main" id="{4848E08A-95A7-A88C-E3C3-F5B1060B3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443" y="4070351"/>
            <a:ext cx="24003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893F2FDD-98B2-6A99-8340-1E7FCC615A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443" y="616717"/>
            <a:ext cx="8207298" cy="2954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利用</a:t>
            </a:r>
            <a:r>
              <a:rPr kumimoji="0" lang="en-US" altLang="zh-CN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keil</a:t>
            </a: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debug</a:t>
            </a: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模式发现程序跑飞进入</a:t>
            </a:r>
            <a:r>
              <a:rPr kumimoji="0" lang="en-US" altLang="zh-CN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hardfault</a:t>
            </a: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，再看</a:t>
            </a: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寄存器的值（</a:t>
            </a: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EXC_RETURN</a:t>
            </a: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）得知异常发生前处于线程模式。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出现该异常的原因一般有：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  线程栈（</a:t>
            </a: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PSP</a:t>
            </a: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）溢出； 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  非法内存访问（如空指针、未初始化外设）； 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  上下文保存 </a:t>
            </a: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/ </a:t>
            </a: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恢复错误</a:t>
            </a:r>
            <a:b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</a:b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后续从这几点排查问题即可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A8F204B7-EB0C-BE08-B492-552F19E30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502" y="2538916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015A307-1766-5D9C-B974-03845D5B3C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502" y="2742116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8838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0D2CE-F32E-F37C-7D71-46E76F73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4AA697C5-0B02-D218-A76E-B1CF01E895DC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数组越界覆盖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实验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 descr="屏幕上有字&#10;&#10;AI 生成的内容可能不正确。">
            <a:extLst>
              <a:ext uri="{FF2B5EF4-FFF2-40B4-BE49-F238E27FC236}">
                <a16:creationId xmlns:a16="http://schemas.microsoft.com/office/drawing/2014/main" id="{91D8B068-338D-C9C1-51F1-6DE293550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1054797"/>
            <a:ext cx="4016375" cy="223329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097B6F3-4144-FC62-7F05-4C130F86E705}"/>
              </a:ext>
            </a:extLst>
          </p:cNvPr>
          <p:cNvSpPr txBox="1"/>
          <p:nvPr/>
        </p:nvSpPr>
        <p:spPr>
          <a:xfrm>
            <a:off x="215591" y="587682"/>
            <a:ext cx="7690624" cy="292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定义一个数组，对数组范围之外的元素进行赋值，运行可以看到心跳任务停止，系统跑飞，打印也混乱</a:t>
            </a:r>
          </a:p>
        </p:txBody>
      </p:sp>
      <p:pic>
        <p:nvPicPr>
          <p:cNvPr id="6" name="图片 5" descr="表格&#10;&#10;AI 生成的内容可能不正确。">
            <a:extLst>
              <a:ext uri="{FF2B5EF4-FFF2-40B4-BE49-F238E27FC236}">
                <a16:creationId xmlns:a16="http://schemas.microsoft.com/office/drawing/2014/main" id="{880F5615-1802-209F-7CE3-4EC378817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91" y="3401686"/>
            <a:ext cx="5274310" cy="80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3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B8C18-4CFE-ADA1-0564-9FA86743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ADE95DAA-A222-55F1-A5DC-1C9974C51879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数组越界覆盖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分析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 descr="图形用户界面, 文本&#10;&#10;AI 生成的内容可能不正确。">
            <a:extLst>
              <a:ext uri="{FF2B5EF4-FFF2-40B4-BE49-F238E27FC236}">
                <a16:creationId xmlns:a16="http://schemas.microsoft.com/office/drawing/2014/main" id="{EA08E427-A43A-2B09-E0F0-C7F52AA31EF7}"/>
              </a:ext>
            </a:extLst>
          </p:cNvPr>
          <p:cNvPicPr>
            <a:picLocks/>
          </p:cNvPicPr>
          <p:nvPr/>
        </p:nvPicPr>
        <p:blipFill>
          <a:blip r:embed="rId2"/>
          <a:srcRect r="46138"/>
          <a:stretch>
            <a:fillRect/>
          </a:stretch>
        </p:blipFill>
        <p:spPr>
          <a:xfrm>
            <a:off x="215591" y="1521460"/>
            <a:ext cx="2565880" cy="2459355"/>
          </a:xfrm>
          <a:prstGeom prst="rect">
            <a:avLst/>
          </a:prstGeom>
        </p:spPr>
      </p:pic>
      <p:pic>
        <p:nvPicPr>
          <p:cNvPr id="3" name="图片 2" descr="表格&#10;&#10;AI 生成的内容可能不正确。">
            <a:extLst>
              <a:ext uri="{FF2B5EF4-FFF2-40B4-BE49-F238E27FC236}">
                <a16:creationId xmlns:a16="http://schemas.microsoft.com/office/drawing/2014/main" id="{0BEF18E7-F22A-C4F4-0FEF-DF3B50069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471" y="1521460"/>
            <a:ext cx="4498975" cy="21005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E4C6840-D7EA-4A6A-FC61-409743EDCB4F}"/>
              </a:ext>
            </a:extLst>
          </p:cNvPr>
          <p:cNvSpPr txBox="1"/>
          <p:nvPr/>
        </p:nvSpPr>
        <p:spPr>
          <a:xfrm>
            <a:off x="215591" y="644554"/>
            <a:ext cx="8745530" cy="82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进入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debug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，运行一段时间终止后发现程序停在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nop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（即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delay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），通过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call stack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窗口发现调用链：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ArrayOutOfBounds_Test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→ Delay_ms_48MHz → Delay_us_48MHz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；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所以问题在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ArrayOutOfBounds_Test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函数中</a:t>
            </a:r>
          </a:p>
        </p:txBody>
      </p:sp>
    </p:spTree>
    <p:extLst>
      <p:ext uri="{BB962C8B-B14F-4D97-AF65-F5344CB8AC3E}">
        <p14:creationId xmlns:p14="http://schemas.microsoft.com/office/powerpoint/2010/main" val="1363028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E069D-746E-D399-C119-616F2613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7459531-6E48-1C31-868E-E97AE51D045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非法代码地址跳转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实验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 descr="文本&#10;&#10;AI 生成的内容可能不正确。">
            <a:extLst>
              <a:ext uri="{FF2B5EF4-FFF2-40B4-BE49-F238E27FC236}">
                <a16:creationId xmlns:a16="http://schemas.microsoft.com/office/drawing/2014/main" id="{E4813C7A-7F24-B5A7-A0E3-B0B74D0B6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1670087"/>
            <a:ext cx="4953635" cy="1457325"/>
          </a:xfrm>
          <a:prstGeom prst="rect">
            <a:avLst/>
          </a:prstGeom>
        </p:spPr>
      </p:pic>
      <p:pic>
        <p:nvPicPr>
          <p:cNvPr id="3" name="图片 2" descr="文本&#10;&#10;AI 生成的内容可能不正确。">
            <a:extLst>
              <a:ext uri="{FF2B5EF4-FFF2-40B4-BE49-F238E27FC236}">
                <a16:creationId xmlns:a16="http://schemas.microsoft.com/office/drawing/2014/main" id="{9F3AA627-B899-5A29-EAB8-FE3BE8568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91" y="3458062"/>
            <a:ext cx="5274310" cy="70294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CF4FC88-63DE-6A6C-2A49-D1903075DD1C}"/>
              </a:ext>
            </a:extLst>
          </p:cNvPr>
          <p:cNvSpPr txBox="1"/>
          <p:nvPr/>
        </p:nvSpPr>
        <p:spPr>
          <a:xfrm>
            <a:off x="215591" y="1046728"/>
            <a:ext cx="4572000" cy="292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将函数指针定义为无效地址，通过打印可以看到程序已经跑飞了</a:t>
            </a:r>
          </a:p>
        </p:txBody>
      </p:sp>
    </p:spTree>
    <p:extLst>
      <p:ext uri="{BB962C8B-B14F-4D97-AF65-F5344CB8AC3E}">
        <p14:creationId xmlns:p14="http://schemas.microsoft.com/office/powerpoint/2010/main" val="1260263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7A01-08FA-5FB8-8316-8B8D0F799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40BFF0EE-1443-1FE2-05DF-9A192A0ECA6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非法代码地址跳转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分析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 descr="手机屏幕截图&#10;&#10;AI 生成的内容可能不正确。">
            <a:extLst>
              <a:ext uri="{FF2B5EF4-FFF2-40B4-BE49-F238E27FC236}">
                <a16:creationId xmlns:a16="http://schemas.microsoft.com/office/drawing/2014/main" id="{BD968555-8792-F045-EAA0-44266AA51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1984840"/>
            <a:ext cx="1909445" cy="1838960"/>
          </a:xfrm>
          <a:prstGeom prst="rect">
            <a:avLst/>
          </a:prstGeom>
        </p:spPr>
      </p:pic>
      <p:pic>
        <p:nvPicPr>
          <p:cNvPr id="3" name="图片 2" descr="图形用户界面, 表格&#10;&#10;AI 生成的内容可能不正确。">
            <a:extLst>
              <a:ext uri="{FF2B5EF4-FFF2-40B4-BE49-F238E27FC236}">
                <a16:creationId xmlns:a16="http://schemas.microsoft.com/office/drawing/2014/main" id="{3EA8135F-E0F0-AE21-51B5-D80255BC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504" y="2762715"/>
            <a:ext cx="3147060" cy="74041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E708224-934B-B312-FF78-A9F1ECE6B5F5}"/>
              </a:ext>
            </a:extLst>
          </p:cNvPr>
          <p:cNvSpPr txBox="1"/>
          <p:nvPr/>
        </p:nvSpPr>
        <p:spPr>
          <a:xfrm>
            <a:off x="215591" y="1063129"/>
            <a:ext cx="7421136" cy="505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进入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debug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通过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判断触发了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hardfault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，打开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call stack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查看调用链发现是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IllegalCodeAddress_Test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（）函数触发了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hardfault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，所以问题出在该函数中</a:t>
            </a:r>
          </a:p>
        </p:txBody>
      </p:sp>
    </p:spTree>
    <p:extLst>
      <p:ext uri="{BB962C8B-B14F-4D97-AF65-F5344CB8AC3E}">
        <p14:creationId xmlns:p14="http://schemas.microsoft.com/office/powerpoint/2010/main" val="1808165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93DED-A660-5626-62A3-89436478B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88D213D6-4C61-9FC2-8843-FA1F539C7071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未定义指令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实验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 descr="文本&#10;&#10;AI 生成的内容可能不正确。">
            <a:extLst>
              <a:ext uri="{FF2B5EF4-FFF2-40B4-BE49-F238E27FC236}">
                <a16:creationId xmlns:a16="http://schemas.microsoft.com/office/drawing/2014/main" id="{B294C002-7FA5-4FBB-5A37-EEA6A2295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1290157"/>
            <a:ext cx="4704715" cy="2195195"/>
          </a:xfrm>
          <a:prstGeom prst="rect">
            <a:avLst/>
          </a:prstGeom>
        </p:spPr>
      </p:pic>
      <p:pic>
        <p:nvPicPr>
          <p:cNvPr id="3" name="图片 2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F871B3F3-DAB7-5D30-2EA8-A440AD71B63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" r="-199" b="46220"/>
          <a:stretch>
            <a:fillRect/>
          </a:stretch>
        </p:blipFill>
        <p:spPr bwMode="auto">
          <a:xfrm>
            <a:off x="215591" y="3754122"/>
            <a:ext cx="4166870" cy="43370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A25371-B39F-DBE0-FF11-D873D9855EE6}"/>
              </a:ext>
            </a:extLst>
          </p:cNvPr>
          <p:cNvSpPr txBox="1"/>
          <p:nvPr/>
        </p:nvSpPr>
        <p:spPr>
          <a:xfrm>
            <a:off x="215591" y="800933"/>
            <a:ext cx="5192750" cy="292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创建一个函数去执行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cpu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不支持的指令，执行到那里之后程序立马就异常了</a:t>
            </a:r>
          </a:p>
        </p:txBody>
      </p:sp>
    </p:spTree>
    <p:extLst>
      <p:ext uri="{BB962C8B-B14F-4D97-AF65-F5344CB8AC3E}">
        <p14:creationId xmlns:p14="http://schemas.microsoft.com/office/powerpoint/2010/main" val="30759389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78387-AA1C-A86B-7461-A3056BF07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D7858739-640C-CAF2-8501-EF78D4421B1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未定义指令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分析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图片 1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7345A76D-6388-BE43-A48B-B34E0101B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2376534"/>
            <a:ext cx="5274310" cy="114871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E5DAE51-E48E-AA5E-ED51-A2F030CDB3FA}"/>
              </a:ext>
            </a:extLst>
          </p:cNvPr>
          <p:cNvSpPr txBox="1"/>
          <p:nvPr/>
        </p:nvSpPr>
        <p:spPr>
          <a:xfrm>
            <a:off x="215591" y="1246787"/>
            <a:ext cx="5884126" cy="505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进入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debug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，通过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call stack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得知是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UndefinedInstruction_Test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()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函数触发了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hardfault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异常</a:t>
            </a:r>
          </a:p>
        </p:txBody>
      </p:sp>
    </p:spTree>
    <p:extLst>
      <p:ext uri="{BB962C8B-B14F-4D97-AF65-F5344CB8AC3E}">
        <p14:creationId xmlns:p14="http://schemas.microsoft.com/office/powerpoint/2010/main" val="769156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3C01B-A835-CFA0-0ED0-9625DD99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D4842698-26A0-91A0-D52D-D6FE8BE29184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0A1645D-F3AD-2DCD-F983-07AEE7BA7E6B}"/>
              </a:ext>
            </a:extLst>
          </p:cNvPr>
          <p:cNvSpPr txBox="1"/>
          <p:nvPr/>
        </p:nvSpPr>
        <p:spPr>
          <a:xfrm>
            <a:off x="6543907" y="3652026"/>
            <a:ext cx="21809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+mn-ea"/>
              </a:rPr>
              <a:t>I2S</a:t>
            </a:r>
            <a:r>
              <a:rPr lang="zh-CN" altLang="en-US" sz="3200" dirty="0">
                <a:solidFill>
                  <a:schemeClr val="accent1"/>
                </a:solidFill>
                <a:latin typeface="+mn-ea"/>
              </a:rPr>
              <a:t>详解</a:t>
            </a:r>
          </a:p>
        </p:txBody>
      </p:sp>
    </p:spTree>
    <p:extLst>
      <p:ext uri="{BB962C8B-B14F-4D97-AF65-F5344CB8AC3E}">
        <p14:creationId xmlns:p14="http://schemas.microsoft.com/office/powerpoint/2010/main" val="2663673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04C9C-B3C5-5D54-4C0A-9E8677A0E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0860989D-2FBC-97AC-B6C0-CA425560532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I2S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介绍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D040515-4919-6023-BB26-79930DCCE786}"/>
              </a:ext>
            </a:extLst>
          </p:cNvPr>
          <p:cNvSpPr txBox="1"/>
          <p:nvPr/>
        </p:nvSpPr>
        <p:spPr>
          <a:xfrm>
            <a:off x="215591" y="505275"/>
            <a:ext cx="87455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I2S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Inter-IC Sound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）模块是专为音频数据同步传输设计的外设，支持多种音频格式、灵活的时钟配置及无</a:t>
            </a:r>
            <a:r>
              <a:rPr lang="en-US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 CPU 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干预的</a:t>
            </a:r>
            <a:r>
              <a:rPr lang="en-US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 DMA 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数据传输，适用于嵌入式系统中的语音通话、音乐播放、录音等音频场景</a:t>
            </a:r>
            <a:r>
              <a:rPr lang="zh-CN" altLang="en-US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zh-CN" altLang="en-US" sz="1200" dirty="0">
                <a:ea typeface="等线" panose="02010600030101010101" pitchFamily="2" charset="-122"/>
                <a:cs typeface="Times New Roman" panose="02020603050405020304" pitchFamily="18" charset="0"/>
              </a:rPr>
              <a:t>下面是</a:t>
            </a:r>
            <a:r>
              <a:rPr lang="en-US" altLang="zh-CN" sz="1200" dirty="0">
                <a:ea typeface="等线" panose="02010600030101010101" pitchFamily="2" charset="-122"/>
                <a:cs typeface="Times New Roman" panose="02020603050405020304" pitchFamily="18" charset="0"/>
              </a:rPr>
              <a:t>i2s</a:t>
            </a:r>
            <a:r>
              <a:rPr lang="zh-CN" altLang="en-US" sz="1200" dirty="0">
                <a:ea typeface="等线" panose="02010600030101010101" pitchFamily="2" charset="-122"/>
                <a:cs typeface="Times New Roman" panose="02020603050405020304" pitchFamily="18" charset="0"/>
              </a:rPr>
              <a:t>的信号线介绍</a:t>
            </a:r>
            <a:endParaRPr lang="zh-CN" altLang="en-US" sz="1200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851218-8971-7E7B-990A-D9EF82AE0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6544993"/>
              </p:ext>
            </p:extLst>
          </p:nvPr>
        </p:nvGraphicFramePr>
        <p:xfrm>
          <a:off x="215593" y="1009618"/>
          <a:ext cx="8745528" cy="3124264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38612">
                  <a:extLst>
                    <a:ext uri="{9D8B030D-6E8A-4147-A177-3AD203B41FA5}">
                      <a16:colId xmlns:a16="http://schemas.microsoft.com/office/drawing/2014/main" val="131152188"/>
                    </a:ext>
                  </a:extLst>
                </a:gridCol>
                <a:gridCol w="2146300">
                  <a:extLst>
                    <a:ext uri="{9D8B030D-6E8A-4147-A177-3AD203B41FA5}">
                      <a16:colId xmlns:a16="http://schemas.microsoft.com/office/drawing/2014/main" val="1404073494"/>
                    </a:ext>
                  </a:extLst>
                </a:gridCol>
                <a:gridCol w="4960616">
                  <a:extLst>
                    <a:ext uri="{9D8B030D-6E8A-4147-A177-3AD203B41FA5}">
                      <a16:colId xmlns:a16="http://schemas.microsoft.com/office/drawing/2014/main" val="4269865027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信号线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b="1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名称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b="1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功能说明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026502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SCK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位时钟（也称</a:t>
                      </a:r>
                      <a:r>
                        <a:rPr lang="en-US" altLang="zh-CN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BCK/BCLK</a:t>
                      </a: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频率固定为 </a:t>
                      </a:r>
                      <a:r>
                        <a:rPr lang="en-US" altLang="zh-CN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2× </a:t>
                      </a: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采样频率 </a:t>
                      </a:r>
                      <a:r>
                        <a:rPr lang="en-US" altLang="zh-CN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× </a:t>
                      </a: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采样位数，比如 </a:t>
                      </a:r>
                      <a:r>
                        <a:rPr lang="en-US" altLang="zh-CN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44.1kHz </a:t>
                      </a: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采样率、</a:t>
                      </a:r>
                      <a:r>
                        <a:rPr lang="en-US" altLang="zh-CN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16 </a:t>
                      </a: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位立体声的音频，其 </a:t>
                      </a:r>
                      <a:r>
                        <a:rPr lang="en-US" altLang="zh-CN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SCK </a:t>
                      </a: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频率为 </a:t>
                      </a:r>
                      <a:r>
                        <a:rPr lang="en-US" altLang="zh-CN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1.4112MHz</a:t>
                      </a: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，用于同步每一位数据的传输节奏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62752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声道选择线（也称 </a:t>
                      </a:r>
                      <a:r>
                        <a:rPr lang="en-US" altLang="zh-CN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LRCK/WCK</a:t>
                      </a: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频率与音频采样频率一致，低电平通常对应左声道，高电平对应右声道，实现左右声道数据的区分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172304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串行数据线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以二进制补码格式传输 </a:t>
                      </a:r>
                      <a:r>
                        <a:rPr lang="en-US" altLang="zh-CN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PCM </a:t>
                      </a: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音频数据，采用高位优先（</a:t>
                      </a:r>
                      <a:r>
                        <a:rPr lang="en-US" altLang="zh-CN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MSB</a:t>
                      </a: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）的传输规则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329673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MCK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主时钟（可选）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一般为 </a:t>
                      </a:r>
                      <a:r>
                        <a:rPr lang="en-US" altLang="zh-CN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256 </a:t>
                      </a: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倍或 </a:t>
                      </a:r>
                      <a:r>
                        <a:rPr lang="en-US" altLang="zh-CN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384 </a:t>
                      </a:r>
                      <a:r>
                        <a:rPr lang="zh-CN" altLang="en-US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倍采样频率，用于为音频芯片提供精准时钟参考，减少信号抖动，提升音质，常见频率如 </a:t>
                      </a:r>
                      <a:r>
                        <a:rPr lang="en-US" altLang="zh-CN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11.2896MHz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0627201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5466E898-1468-721F-7047-0027BA822CAD}"/>
              </a:ext>
            </a:extLst>
          </p:cNvPr>
          <p:cNvSpPr txBox="1"/>
          <p:nvPr/>
        </p:nvSpPr>
        <p:spPr>
          <a:xfrm>
            <a:off x="215591" y="4306677"/>
            <a:ext cx="87455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ea typeface="等线" panose="02010600030101010101" pitchFamily="2" charset="-122"/>
                <a:cs typeface="Times New Roman" panose="02020603050405020304" pitchFamily="18" charset="0"/>
              </a:rPr>
              <a:t>后续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从核心特性、时钟系统、数据格式、</a:t>
            </a:r>
            <a:r>
              <a:rPr lang="en-US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DMA 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控制</a:t>
            </a:r>
            <a:r>
              <a:rPr lang="zh-CN" altLang="en-US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四</a:t>
            </a:r>
            <a:r>
              <a:rPr lang="zh-CN" altLang="zh-CN" sz="12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个维度进行全面总结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9226039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28B9A-AF69-0A49-A83C-1F1D9ED3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F057C3A1-01DD-6538-C25D-D6CAE6D01234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I2S-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核心特性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A1BA27F-A7FE-6E22-8880-A5BA380147EE}"/>
              </a:ext>
            </a:extLst>
          </p:cNvPr>
          <p:cNvSpPr txBox="1"/>
          <p:nvPr/>
        </p:nvSpPr>
        <p:spPr>
          <a:xfrm>
            <a:off x="215591" y="529864"/>
            <a:ext cx="8745530" cy="4221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模块以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“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高兼容性、低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CPU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负载、灵活配置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”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为设计核心，关键特性如下：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主模式专属设计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：仅支持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Master Mode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（主模式），可独立配置为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仅发送（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Tx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仅接收（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Rx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或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收发双向（</a:t>
            </a: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Tx+Rx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模式，满足单声道录音、立体声播放等不同场景需求。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多音频格式支持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：覆盖三种主流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I2S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音频格式，兼容多数外部音频设备（如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Codec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、麦克风、扬声器）：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模式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：标准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I2S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格式，数据在位时钟（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BCK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）的第二个边沿传输，左右声道数据与帧时钟（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W1C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）边沿存在固定延迟（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个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BCK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周期）。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左对齐（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LJ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）模式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：左声道数据与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WCK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上升沿同步，右声道数据紧随左声道后传输，无延迟，适用于对同步精度要求高的场景。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右对齐（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RJ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）模式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：右声道数据与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WCK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上升沿同步，左声道数据紧随右声道后传输，无延迟，兼容特定音频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Codec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接口需求。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采样参数灵活可调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采样宽度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：支持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16bit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（普通语音）、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24bit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（高保真音乐）、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32bit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（专业音频）三种精度，适配不同音质需求。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采样率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：支持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8kHz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（语音通话）、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16kHz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（语音识别）、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32kHz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（高清语音）、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48kHz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（音乐播放）四种标准采样率，覆盖主流音频场景。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独立时钟生成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：内置主时钟（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MCLK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）和位时钟（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BCK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）生成器，可基于外部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PLL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时钟（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32MHz/48MHz/64MHz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）分频生成，为外部音频设备提供稳定时钟源，无需额外外部晶振。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altLang="zh-CN" sz="11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xDMA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无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CPU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干预传输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：集成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RDMA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（读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DMA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，内存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→I2S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WDMA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（写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DMA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I2S→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内存）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两个独立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DMA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通道，支持单次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/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连续传输模式，减少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CPU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中断处理负载，避免音频卡顿。</a:t>
            </a:r>
          </a:p>
        </p:txBody>
      </p:sp>
    </p:spTree>
    <p:extLst>
      <p:ext uri="{BB962C8B-B14F-4D97-AF65-F5344CB8AC3E}">
        <p14:creationId xmlns:p14="http://schemas.microsoft.com/office/powerpoint/2010/main" val="3246602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C46D-CE21-CA9A-D727-89DF5493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CBCFBF49-A944-956E-CD43-50059D7A6A9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I2S-</a:t>
            </a:r>
            <a:r>
              <a:rPr lang="zh-CN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时钟系统：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MCLK </a:t>
            </a:r>
            <a:r>
              <a:rPr lang="zh-CN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与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BCK </a:t>
            </a:r>
            <a:r>
              <a:rPr lang="zh-CN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的联动配置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B35E870-BE7A-E7FF-5CE9-A6179626578D}"/>
              </a:ext>
            </a:extLst>
          </p:cNvPr>
          <p:cNvSpPr txBox="1"/>
          <p:nvPr/>
        </p:nvSpPr>
        <p:spPr>
          <a:xfrm>
            <a:off x="215591" y="866194"/>
            <a:ext cx="8745530" cy="2346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的时钟系统是音频同步的核心，需通过多寄存器协同配置，确保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MCLK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（主时钟）、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BCK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（位时钟）、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WCK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（帧时钟）满足音频格式时序要求，核心逻辑如下：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时钟生成公式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BCK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频率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I2S_BCK = 2 × I2S_WCK ×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每声道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BCK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位数（注：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每声道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BCK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位数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”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支持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16bit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或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32bit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，由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I2S_MS_SET0.cfg_bck_len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配置）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MCLK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频率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I2S_MCLK = I2S_BCK ×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倍率（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2/4/8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内部</a:t>
            </a:r>
            <a:r>
              <a:rPr lang="en-US" altLang="zh-CN" sz="11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iMCLK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/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分频系数（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1/2/4/8/16/32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）（注：倍率由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I2S_MS_SET0.cfg_bck_osr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配置，分频系数由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I2S_MCLK_SET1.cfg_mck_div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配置）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zh-CN" sz="11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关键时钟参数配置</a:t>
            </a:r>
            <a:endParaRPr lang="zh-CN" altLang="zh-CN" sz="11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需根据外部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PLL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时钟（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32MHz/48MHz/64MHz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）选择内部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1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iMCLK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频率，并搭配分频系数与倍率，确保时钟精度。以下为典型场景配置示例（以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PLL=</a:t>
            </a:r>
            <a:r>
              <a:rPr lang="en-US" altLang="zh-CN" sz="11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48</a:t>
            </a:r>
            <a:r>
              <a:rPr lang="en-US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MHz </a:t>
            </a:r>
            <a:r>
              <a:rPr lang="zh-CN" altLang="zh-CN" sz="11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为例）：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DCFCC0E-E0E9-4045-9EE3-4E93C3A450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459383"/>
              </p:ext>
            </p:extLst>
          </p:nvPr>
        </p:nvGraphicFramePr>
        <p:xfrm>
          <a:off x="215591" y="3480065"/>
          <a:ext cx="7652030" cy="8867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92884">
                  <a:extLst>
                    <a:ext uri="{9D8B030D-6E8A-4147-A177-3AD203B41FA5}">
                      <a16:colId xmlns:a16="http://schemas.microsoft.com/office/drawing/2014/main" val="4016670774"/>
                    </a:ext>
                  </a:extLst>
                </a:gridCol>
                <a:gridCol w="1093191">
                  <a:extLst>
                    <a:ext uri="{9D8B030D-6E8A-4147-A177-3AD203B41FA5}">
                      <a16:colId xmlns:a16="http://schemas.microsoft.com/office/drawing/2014/main" val="4193508197"/>
                    </a:ext>
                  </a:extLst>
                </a:gridCol>
                <a:gridCol w="1093191">
                  <a:extLst>
                    <a:ext uri="{9D8B030D-6E8A-4147-A177-3AD203B41FA5}">
                      <a16:colId xmlns:a16="http://schemas.microsoft.com/office/drawing/2014/main" val="396904142"/>
                    </a:ext>
                  </a:extLst>
                </a:gridCol>
                <a:gridCol w="1093191">
                  <a:extLst>
                    <a:ext uri="{9D8B030D-6E8A-4147-A177-3AD203B41FA5}">
                      <a16:colId xmlns:a16="http://schemas.microsoft.com/office/drawing/2014/main" val="168983276"/>
                    </a:ext>
                  </a:extLst>
                </a:gridCol>
                <a:gridCol w="1093191">
                  <a:extLst>
                    <a:ext uri="{9D8B030D-6E8A-4147-A177-3AD203B41FA5}">
                      <a16:colId xmlns:a16="http://schemas.microsoft.com/office/drawing/2014/main" val="929190559"/>
                    </a:ext>
                  </a:extLst>
                </a:gridCol>
                <a:gridCol w="1093191">
                  <a:extLst>
                    <a:ext uri="{9D8B030D-6E8A-4147-A177-3AD203B41FA5}">
                      <a16:colId xmlns:a16="http://schemas.microsoft.com/office/drawing/2014/main" val="1195033707"/>
                    </a:ext>
                  </a:extLst>
                </a:gridCol>
                <a:gridCol w="1093191">
                  <a:extLst>
                    <a:ext uri="{9D8B030D-6E8A-4147-A177-3AD203B41FA5}">
                      <a16:colId xmlns:a16="http://schemas.microsoft.com/office/drawing/2014/main" val="1245089066"/>
                    </a:ext>
                  </a:extLst>
                </a:gridCol>
              </a:tblGrid>
              <a:tr h="20267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I2S_WCK</a:t>
                      </a:r>
                      <a:r>
                        <a:rPr lang="zh-CN" sz="800" kern="100" dirty="0">
                          <a:effectLst/>
                        </a:rPr>
                        <a:t>（采样率）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800" kern="100">
                          <a:effectLst/>
                        </a:rPr>
                        <a:t>每声道</a:t>
                      </a:r>
                      <a:r>
                        <a:rPr lang="en-US" sz="800" kern="100">
                          <a:effectLst/>
                        </a:rPr>
                        <a:t> BCK </a:t>
                      </a:r>
                      <a:r>
                        <a:rPr lang="zh-CN" sz="800" kern="100">
                          <a:effectLst/>
                        </a:rPr>
                        <a:t>位数</a:t>
                      </a:r>
                      <a:endParaRPr lang="zh-CN" sz="8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I2S_BCK </a:t>
                      </a:r>
                      <a:r>
                        <a:rPr lang="zh-CN" sz="800" kern="100" dirty="0">
                          <a:effectLst/>
                        </a:rPr>
                        <a:t>频率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MCLK/BCK </a:t>
                      </a:r>
                      <a:r>
                        <a:rPr lang="zh-CN" sz="800" kern="100">
                          <a:effectLst/>
                        </a:rPr>
                        <a:t>倍率</a:t>
                      </a:r>
                      <a:endParaRPr lang="zh-CN" sz="8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I2S_MCLK </a:t>
                      </a:r>
                      <a:r>
                        <a:rPr lang="zh-CN" sz="800" kern="100">
                          <a:effectLst/>
                        </a:rPr>
                        <a:t>频率</a:t>
                      </a:r>
                      <a:endParaRPr lang="zh-CN" sz="8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800" kern="100">
                          <a:effectLst/>
                        </a:rPr>
                        <a:t>内部</a:t>
                      </a:r>
                      <a:r>
                        <a:rPr lang="en-US" sz="800" kern="100">
                          <a:effectLst/>
                        </a:rPr>
                        <a:t> iMCLK</a:t>
                      </a:r>
                      <a:endParaRPr lang="zh-CN" sz="8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800" kern="100">
                          <a:effectLst/>
                        </a:rPr>
                        <a:t>分频系数</a:t>
                      </a:r>
                      <a:endParaRPr lang="zh-CN" sz="8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extLst>
                  <a:ext uri="{0D108BD9-81ED-4DB2-BD59-A6C34878D82A}">
                    <a16:rowId xmlns:a16="http://schemas.microsoft.com/office/drawing/2014/main" val="3515617422"/>
                  </a:ext>
                </a:extLst>
              </a:tr>
              <a:tr h="4524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16kHz</a:t>
                      </a:r>
                      <a:r>
                        <a:rPr lang="zh-CN" sz="800" kern="100" dirty="0">
                          <a:effectLst/>
                        </a:rPr>
                        <a:t>（语音通话）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24bit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1.024MHz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altLang="zh-CN" sz="8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 dirty="0">
                          <a:effectLst/>
                        </a:rPr>
                        <a:t>4.096MH</a:t>
                      </a:r>
                      <a:r>
                        <a:rPr lang="en-US" altLang="zh-CN" sz="800" kern="100" dirty="0">
                          <a:effectLst/>
                        </a:rPr>
                        <a:t>z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100">
                          <a:effectLst/>
                        </a:rPr>
                        <a:t>8.192MHz</a:t>
                      </a:r>
                      <a:endParaRPr lang="zh-CN" sz="800" kern="10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altLang="zh-CN" sz="800" kern="100" dirty="0"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800" kern="100" dirty="0"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22625" marR="122625" marT="81912" marB="81912" anchor="ctr"/>
                </a:tc>
                <a:extLst>
                  <a:ext uri="{0D108BD9-81ED-4DB2-BD59-A6C34878D82A}">
                    <a16:rowId xmlns:a16="http://schemas.microsoft.com/office/drawing/2014/main" val="469551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4414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4CD-4DF4-7D4D-F838-97EF9B065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D7BF5C0B-C8E3-2847-AD3C-50F6E4FB137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I2S-</a:t>
            </a:r>
            <a:r>
              <a:rPr lang="zh-CN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音频数据格式与内存存储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0A4D6D1-2FC8-51DA-0ED7-89F29DDCC88C}"/>
              </a:ext>
            </a:extLst>
          </p:cNvPr>
          <p:cNvSpPr txBox="1"/>
          <p:nvPr/>
        </p:nvSpPr>
        <p:spPr>
          <a:xfrm>
            <a:off x="215591" y="576102"/>
            <a:ext cx="8745530" cy="4267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模块支持立体声、单声道（左声道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/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右声道）三种数据格式，且样本在内存中以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32bit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字节）对齐存储，需通过寄存器配置与内存布局严格匹配，避免数据错位。</a:t>
            </a:r>
          </a:p>
          <a:p>
            <a:pPr>
              <a:spcAft>
                <a:spcPts val="400"/>
              </a:spcAft>
              <a:buNone/>
            </a:pP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数据格式配置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4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核心配置寄存器为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I2S_MS_SET0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，通过以下关键位定义数据格式：</a:t>
            </a: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样本宽度（</a:t>
            </a:r>
            <a:r>
              <a:rPr lang="en-US" altLang="zh-CN" sz="12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cfg_txd_wid</a:t>
            </a: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en-US" altLang="zh-CN" sz="12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cfg_rxd_wid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[5:4]/[7:6]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位，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0=16bit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1=24bit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2=32bit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，需与外部音频设备的采样精度一致。</a:t>
            </a: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声道模式（</a:t>
            </a:r>
            <a:r>
              <a:rPr lang="en-US" altLang="zh-CN" sz="12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cfg_txd_chn</a:t>
            </a: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en-US" altLang="zh-CN" sz="12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cfg_rxd_chn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[9:8]/[11:10]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位，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 =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立体声，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=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单声道左，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=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单声道右，决定内存中声道数据的存储方式。</a:t>
            </a:r>
          </a:p>
          <a:p>
            <a:pPr>
              <a:spcAft>
                <a:spcPts val="400"/>
              </a:spcAft>
              <a:buNone/>
            </a:pP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内存存储布局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spcAft>
                <a:spcPts val="400"/>
              </a:spcAft>
              <a:buNone/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样本在内存中以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32bit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为单位存储，不同声道模式的布局差异如下（以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2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24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bit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样本为例）：</a:t>
            </a: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立体声（</a:t>
            </a:r>
            <a:r>
              <a:rPr lang="en-US" altLang="zh-CN" sz="12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cfg_txd_chn</a:t>
            </a: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=0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每个 </a:t>
            </a:r>
            <a:r>
              <a:rPr lang="en-US" altLang="zh-CN" sz="1200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64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bit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存储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个左声道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+ 1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个右声道样本，格式为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Stereo_R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（高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24bit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，低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8bit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补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Stereo_L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（低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24bit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，高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8bit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补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，需要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个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32bit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单元存储一对立体声样本，适配双声道音频传输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单声道左（</a:t>
            </a:r>
            <a:r>
              <a:rPr lang="en-US" altLang="zh-CN" sz="12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cfg_txd_chn</a:t>
            </a: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=1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每个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32bit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仅存储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个左声道样本，未使用的高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8bit 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补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，格式为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[0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（高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8bit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Mono_L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（低 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24bit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en-US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，适用于单声道录音（仅左声道输入）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单声道右（</a:t>
            </a:r>
            <a:r>
              <a:rPr lang="en-US" altLang="zh-CN" sz="1200" b="1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cfg_txd_chn</a:t>
            </a: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=2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：每个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32bit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仅存储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1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个右声道样本，未使用的高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16bit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0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，格式为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[0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（高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16bit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200" kern="100" dirty="0" err="1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Mono_R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（低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16bit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，适用于单声道录音（仅右声道输入）。</a:t>
            </a:r>
          </a:p>
          <a:p>
            <a:pPr>
              <a:spcAft>
                <a:spcPts val="400"/>
              </a:spcAft>
              <a:buNone/>
            </a:pPr>
            <a:r>
              <a:rPr lang="en-US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zh-CN" altLang="zh-CN" sz="12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样本宽度适配规则</a:t>
            </a:r>
            <a:endParaRPr lang="zh-CN" altLang="zh-CN" sz="12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若样本宽度（如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16bit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&lt;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内存存储宽度（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）：未使用的高位补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0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（无符号样本）或符号扩展（有符号样本）。</a:t>
            </a: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若样本宽度（如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32bit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= 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内存存储宽度：直接完整存储，无额外处理。</a:t>
            </a:r>
          </a:p>
          <a:p>
            <a:pPr marL="342900" lvl="0" indent="-342900">
              <a:spcAft>
                <a:spcPts val="4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若样本宽度（如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24bit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）需扩展至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32bit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：高位补</a:t>
            </a:r>
            <a:r>
              <a:rPr lang="en-US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0</a:t>
            </a:r>
            <a:r>
              <a:rPr lang="zh-CN" altLang="zh-CN" sz="12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（无符号）或符号扩展（有符号），确保数据精度不丢失。</a:t>
            </a:r>
          </a:p>
        </p:txBody>
      </p:sp>
    </p:spTree>
    <p:extLst>
      <p:ext uri="{BB962C8B-B14F-4D97-AF65-F5344CB8AC3E}">
        <p14:creationId xmlns:p14="http://schemas.microsoft.com/office/powerpoint/2010/main" val="4107764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CC7B7-5B0B-17EF-15A0-87D367642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A29240F4-E74F-E33D-4973-004659AC65F2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I2S-</a:t>
            </a:r>
            <a:r>
              <a:rPr lang="en-US" altLang="zh-CN" b="1" dirty="0"/>
              <a:t> </a:t>
            </a:r>
            <a:r>
              <a:rPr lang="en-US" altLang="zh-CN" sz="2400" b="1" spc="-38" dirty="0" err="1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xDMA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zh-CN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控制：无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CPU </a:t>
            </a:r>
            <a:r>
              <a:rPr lang="zh-CN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干预的音频传输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436B165-9AE7-89C9-4C85-258FFB234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591" y="928977"/>
            <a:ext cx="8807639" cy="3459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 </a:t>
            </a:r>
            <a:r>
              <a:rPr kumimoji="0" lang="zh-CN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模块集成 </a:t>
            </a: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RDMA</a:t>
            </a:r>
            <a:r>
              <a:rPr kumimoji="0" lang="zh-CN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（读 </a:t>
            </a: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kumimoji="0" lang="zh-CN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）和 </a:t>
            </a: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WDMA</a:t>
            </a:r>
            <a:r>
              <a:rPr kumimoji="0" lang="zh-CN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（写 </a:t>
            </a:r>
            <a:r>
              <a:rPr kumimoji="0" lang="en-US" altLang="zh-CN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kumimoji="0" lang="zh-CN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）两个独立通道，支持</a:t>
            </a:r>
            <a:r>
              <a:rPr kumimoji="0" lang="zh-CN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单次模式</a:t>
            </a:r>
            <a:r>
              <a:rPr kumimoji="0" lang="zh-CN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kumimoji="0" lang="zh-CN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连续模式</a:t>
            </a:r>
            <a:r>
              <a:rPr kumimoji="0" lang="zh-CN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，适配不同音频传输场景，核心逻辑如下：</a:t>
            </a:r>
            <a:endParaRPr kumimoji="0" lang="zh-CN" altLang="en-U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indent="0">
              <a:lnSpc>
                <a:spcPct val="115000"/>
              </a:lnSpc>
              <a:spcAft>
                <a:spcPts val="800"/>
              </a:spcAft>
              <a:buSzTx/>
              <a:buFontTx/>
              <a:buNone/>
              <a:tabLst/>
              <a:defRPr/>
            </a:pPr>
            <a:r>
              <a:rPr lang="en-US" altLang="zh-CN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1. DMA </a:t>
            </a:r>
            <a:r>
              <a:rPr lang="zh-CN" altLang="en-US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核心参数</a:t>
            </a:r>
          </a:p>
          <a:p>
            <a:pPr marL="171450" indent="-171450">
              <a:lnSpc>
                <a:spcPct val="115000"/>
              </a:lnSpc>
              <a:spcAft>
                <a:spcPts val="800"/>
              </a:spcAft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CN" altLang="en-US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起始地址（</a:t>
            </a:r>
            <a:r>
              <a:rPr lang="en-US" altLang="zh-CN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PTR_START</a:t>
            </a:r>
            <a:r>
              <a:rPr lang="zh-CN" altLang="en-US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配置于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I2S_RDMA_SET1/I2S_WDMA_SET1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，需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字节对齐（因内存以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32bit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为单位访问），指向音频数据在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SRAM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中的起始位置。</a:t>
            </a:r>
          </a:p>
          <a:p>
            <a:pPr marL="171450" indent="-171450">
              <a:lnSpc>
                <a:spcPct val="115000"/>
              </a:lnSpc>
              <a:spcAft>
                <a:spcPts val="800"/>
              </a:spcAft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CN" altLang="en-US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段大小（</a:t>
            </a:r>
            <a:r>
              <a:rPr lang="en-US" altLang="zh-CN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SEG_N</a:t>
            </a:r>
            <a:r>
              <a:rPr lang="zh-CN" altLang="en-US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配置于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I2S_RDMA_SET0/I2S_WDMA_SET0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（低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16bit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），定义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DMA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传输的总数据量（单位：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字节），如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SEG_N=1024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表示总传输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4096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字节（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1024×4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字节）。</a:t>
            </a:r>
          </a:p>
          <a:p>
            <a:pPr marL="171450" indent="-171450">
              <a:lnSpc>
                <a:spcPct val="115000"/>
              </a:lnSpc>
              <a:spcAft>
                <a:spcPts val="800"/>
              </a:spcAft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CN" altLang="en-US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块大小（</a:t>
            </a:r>
            <a:r>
              <a:rPr lang="en-US" altLang="zh-CN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BLK_M</a:t>
            </a:r>
            <a:r>
              <a:rPr lang="zh-CN" altLang="en-US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配置于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I2S_RDMA_SET0/I2S_WDMA_SET0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（高 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16bit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），定义单次中断触发的传输量（单位：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字节），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BLK_M=0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时为单次模式，</a:t>
            </a:r>
            <a:r>
              <a:rPr lang="en-US" altLang="zh-CN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BLK_M≠0 </a:t>
            </a:r>
            <a:r>
              <a:rPr lang="zh-CN" altLang="en-US" sz="1100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时为连续模式。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b="1" kern="100" dirty="0">
                <a:solidFill>
                  <a:prstClr val="black"/>
                </a:solidFill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kumimoji="0" lang="en-US" altLang="zh-CN" sz="11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. DMA </a:t>
            </a:r>
            <a:r>
              <a:rPr kumimoji="0" lang="zh-CN" altLang="zh-CN" sz="11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中断与同步</a:t>
            </a:r>
            <a:endParaRPr kumimoji="0" lang="zh-CN" altLang="zh-CN" sz="11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Tx/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  <a:defRPr/>
            </a:pPr>
            <a:r>
              <a:rPr kumimoji="0" lang="zh-CN" altLang="zh-CN" sz="11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中断触发条件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：单次模式下传输完成触发中断；连续模式下每完成</a:t>
            </a:r>
            <a:r>
              <a:rPr kumimoji="0" lang="en-US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BLK_M 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次传输触发一次中断，确保</a:t>
            </a:r>
            <a:r>
              <a:rPr kumimoji="0" lang="en-US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CPU 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可及时处理音频数据（如播放缓存填充、录音数据存储）。</a:t>
            </a:r>
          </a:p>
          <a:p>
            <a:pPr marL="171450" marR="0" lvl="0" indent="-17145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Tx/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  <a:defRPr/>
            </a:pPr>
            <a:r>
              <a:rPr kumimoji="0" lang="zh-CN" altLang="zh-CN" sz="11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中断控制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：通过</a:t>
            </a:r>
            <a:r>
              <a:rPr kumimoji="0" lang="en-US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I2S_INT_MASK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使能中断（如使能</a:t>
            </a:r>
            <a:r>
              <a:rPr kumimoji="0" lang="en-US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RDMA 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中断），</a:t>
            </a:r>
            <a:r>
              <a:rPr kumimoji="0" lang="en-US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I2S_INT_CLEAR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清除中断状态（写</a:t>
            </a:r>
            <a:r>
              <a:rPr kumimoji="0" lang="en-US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1 </a:t>
            </a:r>
            <a:r>
              <a:rPr kumimoji="0" lang="zh-CN" altLang="zh-CN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清除），避免中断响应丢失。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757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23964-7309-6506-2846-C034C7859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6C04399-5FC8-7BAD-2D48-160D871F8AAC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A7B564B-E816-1520-0B13-2FC83EA0BF4C}"/>
              </a:ext>
            </a:extLst>
          </p:cNvPr>
          <p:cNvSpPr txBox="1"/>
          <p:nvPr/>
        </p:nvSpPr>
        <p:spPr>
          <a:xfrm>
            <a:off x="3880625" y="3652026"/>
            <a:ext cx="484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+mn-ea"/>
              </a:rPr>
              <a:t>I2S</a:t>
            </a:r>
            <a:r>
              <a:rPr lang="zh-CN" altLang="en-US" sz="3200" dirty="0">
                <a:solidFill>
                  <a:schemeClr val="accent1"/>
                </a:solidFill>
                <a:latin typeface="+mn-ea"/>
              </a:rPr>
              <a:t>的实际应用（</a:t>
            </a:r>
            <a:r>
              <a:rPr lang="en-US" altLang="zh-CN" sz="3200" dirty="0">
                <a:solidFill>
                  <a:schemeClr val="accent1"/>
                </a:solidFill>
                <a:latin typeface="+mn-ea"/>
              </a:rPr>
              <a:t>INMP441</a:t>
            </a:r>
            <a:r>
              <a:rPr lang="zh-CN" altLang="en-US" sz="3200" dirty="0">
                <a:solidFill>
                  <a:schemeClr val="accent1"/>
                </a:solidFill>
                <a:latin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0435000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0ADC5-3C72-790E-B6A6-A6CDA0938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BEA6015E-1FD5-8FB5-EE2B-1E564B86D52B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INMP441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引脚配置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C6BA6BD-C9FC-6E7E-9197-3253365DB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9775627"/>
              </p:ext>
            </p:extLst>
          </p:nvPr>
        </p:nvGraphicFramePr>
        <p:xfrm>
          <a:off x="215591" y="1686449"/>
          <a:ext cx="8745530" cy="1639091"/>
        </p:xfrm>
        <a:graphic>
          <a:graphicData uri="http://schemas.openxmlformats.org/drawingml/2006/table">
            <a:tbl>
              <a:tblPr/>
              <a:tblGrid>
                <a:gridCol w="1351155">
                  <a:extLst>
                    <a:ext uri="{9D8B030D-6E8A-4147-A177-3AD203B41FA5}">
                      <a16:colId xmlns:a16="http://schemas.microsoft.com/office/drawing/2014/main" val="1037226134"/>
                    </a:ext>
                  </a:extLst>
                </a:gridCol>
                <a:gridCol w="1555595">
                  <a:extLst>
                    <a:ext uri="{9D8B030D-6E8A-4147-A177-3AD203B41FA5}">
                      <a16:colId xmlns:a16="http://schemas.microsoft.com/office/drawing/2014/main" val="3889234735"/>
                    </a:ext>
                  </a:extLst>
                </a:gridCol>
                <a:gridCol w="5838780">
                  <a:extLst>
                    <a:ext uri="{9D8B030D-6E8A-4147-A177-3AD203B41FA5}">
                      <a16:colId xmlns:a16="http://schemas.microsoft.com/office/drawing/2014/main" val="396380763"/>
                    </a:ext>
                  </a:extLst>
                </a:gridCol>
              </a:tblGrid>
              <a:tr h="175955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  <a:effectLst/>
                        </a:rPr>
                        <a:t>INMP441 </a:t>
                      </a:r>
                      <a:r>
                        <a:rPr lang="zh-CN" altLang="en-US" sz="1300" b="1">
                          <a:solidFill>
                            <a:srgbClr val="000000"/>
                          </a:solidFill>
                          <a:effectLst/>
                        </a:rPr>
                        <a:t>引脚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1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506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1063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6D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effectLst/>
                        </a:rPr>
                        <a:t>I2S </a:t>
                      </a:r>
                      <a:r>
                        <a:rPr lang="zh-CN" altLang="en-US" sz="1300" b="1" dirty="0">
                          <a:solidFill>
                            <a:srgbClr val="000000"/>
                          </a:solidFill>
                          <a:effectLst/>
                        </a:rPr>
                        <a:t>信号名称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506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1066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B06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0000"/>
                          </a:solidFill>
                          <a:effectLst/>
                        </a:rPr>
                        <a:t>功能说明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D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1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049955"/>
                  </a:ext>
                </a:extLst>
              </a:tr>
              <a:tr h="204419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effectLst/>
                        </a:rPr>
                        <a:t>I2S_SCK</a:t>
                      </a:r>
                      <a:endParaRPr lang="en-US" sz="1000" b="0">
                        <a:effectLst/>
                      </a:endParaRP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9070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7077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6D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72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000" b="0">
                          <a:effectLst/>
                        </a:rPr>
                        <a:t>I2S_BCK（</a:t>
                      </a:r>
                      <a:r>
                        <a:rPr lang="zh-CN" altLang="en-US" sz="1000" b="0">
                          <a:effectLst/>
                        </a:rPr>
                        <a:t>位时钟）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7077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6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80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000" b="0">
                          <a:effectLst/>
                        </a:rPr>
                        <a:t>接收主设备（如 </a:t>
                      </a:r>
                      <a:r>
                        <a:rPr lang="en-US" altLang="zh-CN" sz="1000" b="0">
                          <a:effectLst/>
                        </a:rPr>
                        <a:t>RT570</a:t>
                      </a:r>
                      <a:r>
                        <a:rPr lang="zh-CN" altLang="en-US" sz="1000" b="0">
                          <a:effectLst/>
                        </a:rPr>
                        <a:t>）的位时钟，用于同步数据传输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1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7066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1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0013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023590"/>
                  </a:ext>
                </a:extLst>
              </a:tr>
              <a:tr h="284771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effectLst/>
                        </a:rPr>
                        <a:t>I2S_WS</a:t>
                      </a:r>
                      <a:endParaRPr lang="en-US" sz="1000" b="0">
                        <a:effectLst/>
                      </a:endParaRP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7078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307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72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7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000" b="0">
                          <a:effectLst/>
                        </a:rPr>
                        <a:t>I2S_WCK（</a:t>
                      </a:r>
                      <a:r>
                        <a:rPr lang="zh-CN" altLang="en-US" sz="1000" b="0">
                          <a:effectLst/>
                        </a:rPr>
                        <a:t>帧时钟）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307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7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80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87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000" b="0">
                          <a:effectLst/>
                        </a:rPr>
                        <a:t>接收主设备的帧时钟，区分左 </a:t>
                      </a:r>
                      <a:r>
                        <a:rPr lang="en-US" altLang="zh-CN" sz="1000" b="0">
                          <a:effectLst/>
                        </a:rPr>
                        <a:t>/ </a:t>
                      </a:r>
                      <a:r>
                        <a:rPr lang="zh-CN" altLang="en-US" sz="1000" b="0">
                          <a:effectLst/>
                        </a:rPr>
                        <a:t>右声道（</a:t>
                      </a:r>
                      <a:r>
                        <a:rPr lang="en-US" altLang="zh-CN" sz="1000" b="0">
                          <a:effectLst/>
                        </a:rPr>
                        <a:t>WS </a:t>
                      </a:r>
                      <a:r>
                        <a:rPr lang="zh-CN" altLang="en-US" sz="1000" b="0">
                          <a:effectLst/>
                        </a:rPr>
                        <a:t>电平决定 </a:t>
                      </a:r>
                      <a:r>
                        <a:rPr lang="en-US" altLang="zh-CN" sz="1000" b="0">
                          <a:effectLst/>
                        </a:rPr>
                        <a:t>INMP441 </a:t>
                      </a:r>
                      <a:r>
                        <a:rPr lang="zh-CN" altLang="en-US" sz="1000" b="0">
                          <a:effectLst/>
                        </a:rPr>
                        <a:t>输出的声道，接地 </a:t>
                      </a:r>
                      <a:r>
                        <a:rPr lang="en-US" altLang="zh-CN" sz="1000" b="0">
                          <a:effectLst/>
                        </a:rPr>
                        <a:t>= </a:t>
                      </a:r>
                      <a:r>
                        <a:rPr lang="zh-CN" altLang="en-US" sz="1000" b="0">
                          <a:effectLst/>
                        </a:rPr>
                        <a:t>左声道）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F07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61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0013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1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045989"/>
                  </a:ext>
                </a:extLst>
              </a:tr>
              <a:tr h="284771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effectLst/>
                        </a:rPr>
                        <a:t>I2S_SD</a:t>
                      </a:r>
                      <a:endParaRPr lang="en-US" sz="1000" b="0">
                        <a:effectLst/>
                      </a:endParaRP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107B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81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7E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9083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000" b="0">
                          <a:effectLst/>
                        </a:rPr>
                        <a:t>I2S_SD（</a:t>
                      </a:r>
                      <a:r>
                        <a:rPr lang="zh-CN" altLang="en-US" sz="1000" b="0">
                          <a:effectLst/>
                        </a:rPr>
                        <a:t>数据线）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D081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307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87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7090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000" b="0">
                          <a:effectLst/>
                        </a:rPr>
                        <a:t>向主设备输出 </a:t>
                      </a:r>
                      <a:r>
                        <a:rPr lang="en-US" altLang="zh-CN" sz="1000" b="0">
                          <a:effectLst/>
                        </a:rPr>
                        <a:t>I2S </a:t>
                      </a:r>
                      <a:r>
                        <a:rPr lang="zh-CN" altLang="en-US" sz="1000" b="0">
                          <a:effectLst/>
                        </a:rPr>
                        <a:t>音频数据（</a:t>
                      </a:r>
                      <a:r>
                        <a:rPr lang="en-US" altLang="zh-CN" sz="1000" b="0">
                          <a:effectLst/>
                        </a:rPr>
                        <a:t>INMP441 </a:t>
                      </a:r>
                      <a:r>
                        <a:rPr lang="zh-CN" altLang="en-US" sz="1000" b="0">
                          <a:effectLst/>
                        </a:rPr>
                        <a:t>是输出端，对应主设备的 </a:t>
                      </a:r>
                      <a:r>
                        <a:rPr lang="en-US" altLang="zh-CN" sz="1000" b="0">
                          <a:effectLst/>
                        </a:rPr>
                        <a:t>I2S_Rx </a:t>
                      </a:r>
                      <a:r>
                        <a:rPr lang="zh-CN" altLang="en-US" sz="1000" b="0">
                          <a:effectLst/>
                        </a:rPr>
                        <a:t>数据线）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307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61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16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01B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2551911"/>
                  </a:ext>
                </a:extLst>
              </a:tr>
              <a:tr h="284771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effectLst/>
                        </a:rPr>
                        <a:t>L/R</a:t>
                      </a:r>
                      <a:endParaRPr lang="en-US" sz="1000" b="0">
                        <a:effectLst/>
                      </a:endParaRP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3087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908A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9083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B083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000" b="0">
                          <a:effectLst/>
                        </a:rPr>
                        <a:t>（声道选择）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908A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B074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7090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708A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000" b="0" dirty="0">
                          <a:effectLst/>
                        </a:rPr>
                        <a:t>非 </a:t>
                      </a:r>
                      <a:r>
                        <a:rPr lang="en-US" altLang="zh-CN" sz="1000" b="0" dirty="0">
                          <a:effectLst/>
                        </a:rPr>
                        <a:t>I2S </a:t>
                      </a:r>
                      <a:r>
                        <a:rPr lang="zh-CN" altLang="en-US" sz="1000" b="0" dirty="0">
                          <a:effectLst/>
                        </a:rPr>
                        <a:t>标准信号，用于选择 </a:t>
                      </a:r>
                      <a:r>
                        <a:rPr lang="en-US" altLang="zh-CN" sz="1000" b="0" dirty="0">
                          <a:effectLst/>
                        </a:rPr>
                        <a:t>INMP441 </a:t>
                      </a:r>
                      <a:r>
                        <a:rPr lang="zh-CN" altLang="en-US" sz="1000" b="0" dirty="0">
                          <a:effectLst/>
                        </a:rPr>
                        <a:t>输出的声道（接地 </a:t>
                      </a:r>
                      <a:r>
                        <a:rPr lang="en-US" altLang="zh-CN" sz="1000" b="0" dirty="0">
                          <a:effectLst/>
                        </a:rPr>
                        <a:t>= </a:t>
                      </a:r>
                      <a:r>
                        <a:rPr lang="zh-CN" altLang="en-US" sz="1000" b="0" dirty="0">
                          <a:effectLst/>
                        </a:rPr>
                        <a:t>左声道，接 </a:t>
                      </a:r>
                      <a:r>
                        <a:rPr lang="en-US" altLang="zh-CN" sz="1000" b="0" dirty="0">
                          <a:effectLst/>
                        </a:rPr>
                        <a:t>VCC = </a:t>
                      </a:r>
                      <a:r>
                        <a:rPr lang="zh-CN" altLang="en-US" sz="1000" b="0" dirty="0">
                          <a:effectLst/>
                        </a:rPr>
                        <a:t>右声道）</a:t>
                      </a:r>
                    </a:p>
                  </a:txBody>
                  <a:tcPr marL="101711" marR="101711" marT="67808" marB="67808" anchor="ctr">
                    <a:lnL w="4229" cap="flat" cmpd="sng" algn="ctr">
                      <a:solidFill>
                        <a:srgbClr val="B074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61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A01B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1065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1621556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9341E4CA-6CC6-8F2F-7BED-C4EF3B1FADCA}"/>
              </a:ext>
            </a:extLst>
          </p:cNvPr>
          <p:cNvSpPr txBox="1"/>
          <p:nvPr/>
        </p:nvSpPr>
        <p:spPr>
          <a:xfrm>
            <a:off x="215591" y="856468"/>
            <a:ext cx="8745530" cy="53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900"/>
              </a:spcBef>
              <a:buNone/>
            </a:pP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INMP441 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引脚与 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I2S 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信号的对应关系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INMP441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是从设备（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Slave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），仅需接收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I2S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时钟并输出数据，引脚与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I2S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信号的对应是固定的：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04D79E4-56FA-1E84-4A0F-E723277729C7}"/>
              </a:ext>
            </a:extLst>
          </p:cNvPr>
          <p:cNvSpPr txBox="1"/>
          <p:nvPr/>
        </p:nvSpPr>
        <p:spPr>
          <a:xfrm>
            <a:off x="254620" y="3621592"/>
            <a:ext cx="8745530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注意事项</a:t>
            </a:r>
            <a:endParaRPr lang="en-US" altLang="zh-CN" sz="1200" b="0" i="0" dirty="0">
              <a:solidFill>
                <a:srgbClr val="000000"/>
              </a:solidFill>
              <a:effectLst/>
              <a:latin typeface="Inter"/>
            </a:endParaRP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INMP441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是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I2S 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从设备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，无需主时钟（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MCLK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），仅需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BCK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WCK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即可工作；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数据格式为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24bit I2S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标准格式，需在主设备（如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RT570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）中配置对应的数据宽度和格式；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L/R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引脚需根据需求接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GND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或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VCC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，确定输出声道。</a:t>
            </a:r>
          </a:p>
        </p:txBody>
      </p:sp>
    </p:spTree>
    <p:extLst>
      <p:ext uri="{BB962C8B-B14F-4D97-AF65-F5344CB8AC3E}">
        <p14:creationId xmlns:p14="http://schemas.microsoft.com/office/powerpoint/2010/main" val="243043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CA8F5-39C1-3521-61EE-86AE1A49C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8CC95FF-920A-A9E6-E127-ED34CDA8B749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I2S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初始化参数配置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图片 2" descr="文本&#10;&#10;AI 生成的内容可能不正确。">
            <a:extLst>
              <a:ext uri="{FF2B5EF4-FFF2-40B4-BE49-F238E27FC236}">
                <a16:creationId xmlns:a16="http://schemas.microsoft.com/office/drawing/2014/main" id="{0215120E-26CE-26A7-5724-10DBDCCB5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91" y="626568"/>
            <a:ext cx="5129561" cy="219716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2349C5F-4633-E192-CD36-E23446911801}"/>
              </a:ext>
            </a:extLst>
          </p:cNvPr>
          <p:cNvSpPr txBox="1"/>
          <p:nvPr/>
        </p:nvSpPr>
        <p:spPr>
          <a:xfrm>
            <a:off x="5345152" y="787309"/>
            <a:ext cx="379884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I2S</a:t>
            </a:r>
            <a:r>
              <a:rPr lang="zh-CN" altLang="en-US" sz="1200" dirty="0"/>
              <a:t>参数配置</a:t>
            </a:r>
          </a:p>
          <a:p>
            <a:endParaRPr lang="zh-CN" altLang="en-US" sz="1200" dirty="0"/>
          </a:p>
          <a:p>
            <a:r>
              <a:rPr lang="zh-CN" altLang="en-US" sz="1200" dirty="0"/>
              <a:t>采样率：</a:t>
            </a:r>
            <a:r>
              <a:rPr lang="en-US" altLang="zh-CN" sz="1200" dirty="0"/>
              <a:t>16kHz</a:t>
            </a:r>
          </a:p>
          <a:p>
            <a:r>
              <a:rPr lang="zh-CN" altLang="en-US" sz="1200" dirty="0"/>
              <a:t>位宽：</a:t>
            </a:r>
            <a:r>
              <a:rPr lang="en-US" altLang="zh-CN" sz="1200" dirty="0"/>
              <a:t>24bit</a:t>
            </a:r>
          </a:p>
          <a:p>
            <a:r>
              <a:rPr lang="zh-CN" altLang="en-US" sz="1200" dirty="0"/>
              <a:t>通道：单声道（左声道）</a:t>
            </a:r>
          </a:p>
          <a:p>
            <a:r>
              <a:rPr lang="zh-CN" altLang="en-US" sz="1200" dirty="0"/>
              <a:t>模式：</a:t>
            </a:r>
            <a:r>
              <a:rPr lang="en-US" altLang="zh-CN" sz="1200" dirty="0"/>
              <a:t>I2S</a:t>
            </a:r>
            <a:r>
              <a:rPr lang="zh-CN" altLang="en-US" sz="1200" dirty="0"/>
              <a:t>标准格式，仅接收（</a:t>
            </a:r>
            <a:r>
              <a:rPr lang="en-US" altLang="zh-CN" sz="1200" dirty="0"/>
              <a:t>RX</a:t>
            </a:r>
            <a:r>
              <a:rPr lang="zh-CN" altLang="en-US" sz="1200" dirty="0"/>
              <a:t>）</a:t>
            </a:r>
          </a:p>
          <a:p>
            <a:r>
              <a:rPr lang="zh-CN" altLang="en-US" sz="1200" dirty="0"/>
              <a:t>时钟：</a:t>
            </a:r>
            <a:r>
              <a:rPr lang="en-US" altLang="zh-CN" sz="1200" dirty="0" err="1"/>
              <a:t>iMCLK</a:t>
            </a:r>
            <a:r>
              <a:rPr lang="en-US" altLang="zh-CN" sz="1200" dirty="0"/>
              <a:t>=8.192MHz</a:t>
            </a:r>
            <a:r>
              <a:rPr lang="zh-CN" altLang="en-US" sz="1200" dirty="0"/>
              <a:t>，</a:t>
            </a:r>
            <a:r>
              <a:rPr lang="en-US" altLang="zh-CN" sz="1200" dirty="0"/>
              <a:t>MCLK=4.096MHz</a:t>
            </a:r>
            <a:r>
              <a:rPr lang="zh-CN" altLang="en-US" sz="1200" dirty="0"/>
              <a:t>，</a:t>
            </a:r>
            <a:r>
              <a:rPr lang="en-US" altLang="zh-CN" sz="1200" dirty="0"/>
              <a:t>BCK ratio=64</a:t>
            </a:r>
          </a:p>
          <a:p>
            <a:r>
              <a:rPr lang="en-US" altLang="zh-CN" sz="1200" dirty="0"/>
              <a:t>DMA</a:t>
            </a:r>
            <a:r>
              <a:rPr lang="zh-CN" altLang="en-US" sz="1200" dirty="0"/>
              <a:t>缓冲区：起始地址</a:t>
            </a:r>
            <a:r>
              <a:rPr lang="en-US" altLang="zh-CN" sz="1200" dirty="0"/>
              <a:t>0x20003000</a:t>
            </a:r>
            <a:r>
              <a:rPr lang="zh-CN" altLang="en-US" sz="1200" dirty="0"/>
              <a:t>，块大小</a:t>
            </a:r>
            <a:r>
              <a:rPr lang="en-US" altLang="zh-CN" sz="1200" dirty="0"/>
              <a:t>256</a:t>
            </a:r>
            <a:r>
              <a:rPr lang="zh-CN" altLang="en-US" sz="1200" dirty="0"/>
              <a:t>，环形缓冲区比例</a:t>
            </a:r>
            <a:r>
              <a:rPr lang="en-US" altLang="zh-CN" sz="1200" dirty="0"/>
              <a:t>16</a:t>
            </a:r>
            <a:endParaRPr lang="zh-CN" altLang="en-US" sz="1200" dirty="0"/>
          </a:p>
        </p:txBody>
      </p:sp>
      <p:pic>
        <p:nvPicPr>
          <p:cNvPr id="8" name="图片 7" descr="图表, 箱线图&#10;&#10;AI 生成的内容可能不正确。">
            <a:extLst>
              <a:ext uri="{FF2B5EF4-FFF2-40B4-BE49-F238E27FC236}">
                <a16:creationId xmlns:a16="http://schemas.microsoft.com/office/drawing/2014/main" id="{D212A8FD-551F-6B0F-C50C-B42774415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859" y="2823737"/>
            <a:ext cx="7648755" cy="123627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CE01891-5328-1C73-628B-936C6F9284A2}"/>
              </a:ext>
            </a:extLst>
          </p:cNvPr>
          <p:cNvSpPr txBox="1"/>
          <p:nvPr/>
        </p:nvSpPr>
        <p:spPr>
          <a:xfrm>
            <a:off x="215591" y="4193766"/>
            <a:ext cx="64492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从</a:t>
            </a:r>
            <a:r>
              <a:rPr lang="en-US" altLang="zh-CN" sz="1200" dirty="0"/>
              <a:t>INMP441</a:t>
            </a:r>
            <a:r>
              <a:rPr lang="zh-CN" altLang="en-US" sz="1200" dirty="0"/>
              <a:t>的左声道输出格式得知一个完整数据帧（</a:t>
            </a:r>
            <a:r>
              <a:rPr lang="en-US" altLang="zh-CN" sz="1200" dirty="0" err="1"/>
              <a:t>ws</a:t>
            </a:r>
            <a:r>
              <a:rPr lang="zh-CN" altLang="en-US" sz="1200" dirty="0"/>
              <a:t>）需要</a:t>
            </a:r>
            <a:r>
              <a:rPr lang="en-US" altLang="zh-CN" sz="1200" dirty="0"/>
              <a:t>64</a:t>
            </a:r>
            <a:r>
              <a:rPr lang="zh-CN" altLang="en-US" sz="1200" dirty="0"/>
              <a:t>个</a:t>
            </a:r>
            <a:r>
              <a:rPr lang="en-US" altLang="zh-CN" sz="1200" dirty="0" err="1"/>
              <a:t>sck</a:t>
            </a:r>
            <a:r>
              <a:rPr lang="zh-CN" altLang="en-US" sz="1200" dirty="0"/>
              <a:t>，所以</a:t>
            </a:r>
            <a:r>
              <a:rPr lang="en-US" altLang="zh-CN" sz="1200" dirty="0" err="1"/>
              <a:t>bck_ratio</a:t>
            </a:r>
            <a:r>
              <a:rPr lang="en-US" altLang="zh-CN" sz="1200" dirty="0"/>
              <a:t>=64</a:t>
            </a:r>
            <a:r>
              <a:rPr lang="zh-CN" altLang="en-US" sz="1200" dirty="0"/>
              <a:t>；</a:t>
            </a:r>
            <a:endParaRPr lang="en-US" altLang="zh-CN" sz="1200" dirty="0"/>
          </a:p>
        </p:txBody>
      </p:sp>
    </p:spTree>
    <p:extLst>
      <p:ext uri="{BB962C8B-B14F-4D97-AF65-F5344CB8AC3E}">
        <p14:creationId xmlns:p14="http://schemas.microsoft.com/office/powerpoint/2010/main" val="2222304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E563B-2534-F4CC-B17F-ACFB68EDF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764FF2F-8E90-22EB-D081-A2FF2263E229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I2S-INMP441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流程说明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8900505-C20C-DF92-58EA-F7EB37E20B6A}"/>
              </a:ext>
            </a:extLst>
          </p:cNvPr>
          <p:cNvSpPr txBox="1"/>
          <p:nvPr/>
        </p:nvSpPr>
        <p:spPr>
          <a:xfrm>
            <a:off x="2224143" y="618879"/>
            <a:ext cx="36878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i2s_Register_Int_Callback();//</a:t>
            </a:r>
            <a:r>
              <a:rPr lang="zh-CN" altLang="en-US" sz="1200" dirty="0"/>
              <a:t>注册中断回调函数</a:t>
            </a:r>
            <a:endParaRPr lang="en-US" altLang="zh-CN" sz="1200" dirty="0"/>
          </a:p>
          <a:p>
            <a:r>
              <a:rPr lang="pt-BR" altLang="zh-CN" sz="1200" dirty="0"/>
              <a:t>I2s_Init();//</a:t>
            </a:r>
            <a:r>
              <a:rPr lang="zh-CN" altLang="en-US" sz="1200" dirty="0"/>
              <a:t>初始化</a:t>
            </a:r>
            <a:r>
              <a:rPr lang="en-US" altLang="zh-CN" sz="1200" dirty="0"/>
              <a:t>i2s</a:t>
            </a:r>
            <a:r>
              <a:rPr lang="zh-CN" altLang="en-US" sz="1200" dirty="0"/>
              <a:t>参数</a:t>
            </a:r>
          </a:p>
        </p:txBody>
      </p:sp>
      <p:sp>
        <p:nvSpPr>
          <p:cNvPr id="10" name="箭头: 下 9">
            <a:extLst>
              <a:ext uri="{FF2B5EF4-FFF2-40B4-BE49-F238E27FC236}">
                <a16:creationId xmlns:a16="http://schemas.microsoft.com/office/drawing/2014/main" id="{FC4BDE6E-E317-A9FE-BD9B-7FCF56059A61}"/>
              </a:ext>
            </a:extLst>
          </p:cNvPr>
          <p:cNvSpPr/>
          <p:nvPr/>
        </p:nvSpPr>
        <p:spPr>
          <a:xfrm>
            <a:off x="3720860" y="1155940"/>
            <a:ext cx="126521" cy="2070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0136E95-B069-3F71-8FF8-0CAFF0DA8452}"/>
              </a:ext>
            </a:extLst>
          </p:cNvPr>
          <p:cNvSpPr txBox="1"/>
          <p:nvPr/>
        </p:nvSpPr>
        <p:spPr>
          <a:xfrm>
            <a:off x="2477202" y="1388651"/>
            <a:ext cx="31817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I2s_Start();//</a:t>
            </a:r>
            <a:r>
              <a:rPr lang="zh-CN" altLang="en-US" sz="1200" dirty="0"/>
              <a:t>使能</a:t>
            </a:r>
            <a:r>
              <a:rPr lang="en-US" altLang="zh-CN" sz="1200" dirty="0" err="1"/>
              <a:t>wdma</a:t>
            </a:r>
            <a:r>
              <a:rPr lang="en-US" altLang="zh-CN" sz="1200" dirty="0"/>
              <a:t>/</a:t>
            </a:r>
            <a:r>
              <a:rPr lang="en-US" altLang="zh-CN" sz="1200" dirty="0" err="1"/>
              <a:t>rdma</a:t>
            </a:r>
            <a:r>
              <a:rPr lang="en-US" altLang="zh-CN" sz="1200" dirty="0"/>
              <a:t> </a:t>
            </a:r>
            <a:r>
              <a:rPr lang="zh-CN" altLang="en-US" sz="1200" dirty="0"/>
              <a:t>和</a:t>
            </a:r>
            <a:r>
              <a:rPr lang="en-US" altLang="zh-CN" sz="1200" dirty="0"/>
              <a:t>i2s</a:t>
            </a:r>
            <a:r>
              <a:rPr lang="zh-CN" altLang="en-US" sz="1200" dirty="0"/>
              <a:t>寄存器</a:t>
            </a:r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FD3AA4BA-F283-407A-A0B9-CD5289C9D7F2}"/>
              </a:ext>
            </a:extLst>
          </p:cNvPr>
          <p:cNvSpPr/>
          <p:nvPr/>
        </p:nvSpPr>
        <p:spPr>
          <a:xfrm>
            <a:off x="3720859" y="1639973"/>
            <a:ext cx="126521" cy="2070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B3451F9-9F03-5293-CD71-24C7831A1BDE}"/>
              </a:ext>
            </a:extLst>
          </p:cNvPr>
          <p:cNvSpPr txBox="1"/>
          <p:nvPr/>
        </p:nvSpPr>
        <p:spPr>
          <a:xfrm>
            <a:off x="2751098" y="1865214"/>
            <a:ext cx="24801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I2s_Stop();//</a:t>
            </a:r>
            <a:r>
              <a:rPr lang="zh-CN" altLang="en-US" sz="1200" dirty="0"/>
              <a:t>清空寄存器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78593E1-E5F3-F3FC-AFE3-D407433DC88E}"/>
              </a:ext>
            </a:extLst>
          </p:cNvPr>
          <p:cNvSpPr txBox="1"/>
          <p:nvPr/>
        </p:nvSpPr>
        <p:spPr>
          <a:xfrm>
            <a:off x="215592" y="2571750"/>
            <a:ext cx="8745530" cy="16662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/>
              <a:t>        每当</a:t>
            </a:r>
            <a:r>
              <a:rPr lang="en-US" altLang="zh-CN" sz="1400" dirty="0" err="1"/>
              <a:t>dma</a:t>
            </a:r>
            <a:r>
              <a:rPr lang="zh-CN" altLang="en-US" sz="1400" dirty="0"/>
              <a:t>写满</a:t>
            </a:r>
            <a:r>
              <a:rPr lang="en-US" altLang="zh-CN" sz="1400" dirty="0"/>
              <a:t>/</a:t>
            </a:r>
            <a:r>
              <a:rPr lang="zh-CN" altLang="en-US" sz="1400" dirty="0"/>
              <a:t>读完 一个块会触发中断，触发中断回调函数，在该函数中将</a:t>
            </a:r>
            <a:r>
              <a:rPr lang="en-US" altLang="zh-CN" sz="1400" dirty="0" err="1"/>
              <a:t>dma</a:t>
            </a:r>
            <a:r>
              <a:rPr lang="zh-CN" altLang="en-US" sz="1400" dirty="0"/>
              <a:t>的数据写入</a:t>
            </a:r>
            <a:r>
              <a:rPr lang="en-US" altLang="zh-CN" sz="1400" dirty="0"/>
              <a:t>/</a:t>
            </a:r>
            <a:r>
              <a:rPr lang="zh-CN" altLang="en-US" sz="1400" dirty="0"/>
              <a:t>读出来；但若</a:t>
            </a:r>
            <a:r>
              <a:rPr lang="en-US" altLang="zh-CN" sz="1400" dirty="0"/>
              <a:t>i2s</a:t>
            </a:r>
            <a:r>
              <a:rPr lang="zh-CN" altLang="en-US" sz="1400" dirty="0"/>
              <a:t>停止时</a:t>
            </a:r>
            <a:r>
              <a:rPr lang="en-US" altLang="zh-CN" sz="1400" dirty="0" err="1"/>
              <a:t>dma</a:t>
            </a:r>
            <a:r>
              <a:rPr lang="zh-CN" altLang="en-US" sz="1400" dirty="0"/>
              <a:t>块数据没有写满无法触发中断就会导致该块数据丢失，所以在想要调用</a:t>
            </a:r>
            <a:r>
              <a:rPr lang="en-US" altLang="zh-CN" sz="1400" dirty="0"/>
              <a:t>i2s_stop</a:t>
            </a:r>
            <a:r>
              <a:rPr lang="zh-CN" altLang="en-US" sz="1400" dirty="0"/>
              <a:t>时不直接调用，而且设一个标志位将其置</a:t>
            </a:r>
            <a:r>
              <a:rPr lang="en-US" altLang="zh-CN" sz="1400" dirty="0"/>
              <a:t>1</a:t>
            </a:r>
            <a:r>
              <a:rPr lang="zh-CN" altLang="en-US" sz="1400" dirty="0"/>
              <a:t>，在中断回调中若发现标志位置</a:t>
            </a:r>
            <a:r>
              <a:rPr lang="en-US" altLang="zh-CN" sz="1400" dirty="0"/>
              <a:t>1</a:t>
            </a:r>
            <a:r>
              <a:rPr lang="zh-CN" altLang="en-US" sz="1400" dirty="0"/>
              <a:t>则调用</a:t>
            </a:r>
            <a:r>
              <a:rPr lang="en-US" altLang="zh-CN" sz="1400" dirty="0"/>
              <a:t>i2s_stop;</a:t>
            </a:r>
            <a:br>
              <a:rPr lang="en-US" altLang="zh-CN" sz="1400" dirty="0"/>
            </a:br>
            <a:r>
              <a:rPr lang="en-US" altLang="zh-CN" sz="1400" dirty="0"/>
              <a:t>        </a:t>
            </a:r>
            <a:r>
              <a:rPr lang="zh-CN" altLang="en-US" sz="1400" dirty="0"/>
              <a:t>在</a:t>
            </a:r>
            <a:r>
              <a:rPr lang="en-US" altLang="zh-CN" sz="1400" dirty="0"/>
              <a:t>stm32</a:t>
            </a:r>
            <a:r>
              <a:rPr lang="zh-CN" altLang="en-US" sz="1400" dirty="0"/>
              <a:t>的</a:t>
            </a:r>
            <a:r>
              <a:rPr lang="en-US" altLang="zh-CN" sz="1400" dirty="0"/>
              <a:t>DMA</a:t>
            </a:r>
            <a:r>
              <a:rPr lang="zh-CN" altLang="en-US" sz="1400" dirty="0"/>
              <a:t>配置中，有一个</a:t>
            </a:r>
            <a:r>
              <a:rPr lang="en-US" altLang="zh-CN" sz="1400" dirty="0"/>
              <a:t>NDTR</a:t>
            </a:r>
            <a:r>
              <a:rPr lang="zh-CN" altLang="en-US" sz="1400" dirty="0"/>
              <a:t>寄存器，其初始值是块大小，每接收一个数据就会</a:t>
            </a:r>
            <a:r>
              <a:rPr lang="en-US" altLang="zh-CN" sz="1400" dirty="0"/>
              <a:t>NDTR--,</a:t>
            </a:r>
            <a:r>
              <a:rPr lang="zh-CN" altLang="en-US" sz="1400" dirty="0"/>
              <a:t>减到</a:t>
            </a:r>
            <a:r>
              <a:rPr lang="en-US" altLang="zh-CN" sz="1400" dirty="0"/>
              <a:t>0</a:t>
            </a:r>
            <a:r>
              <a:rPr lang="zh-CN" altLang="en-US" sz="1400" dirty="0"/>
              <a:t>即触发中断，且有对应函数接口可以查询</a:t>
            </a:r>
            <a:r>
              <a:rPr lang="en-US" altLang="zh-CN" sz="1400" dirty="0"/>
              <a:t>NDTR</a:t>
            </a:r>
            <a:r>
              <a:rPr lang="zh-CN" altLang="en-US" sz="1400" dirty="0"/>
              <a:t>的值来判断写入了多少数据用来提取未满块的数据</a:t>
            </a:r>
          </a:p>
        </p:txBody>
      </p:sp>
    </p:spTree>
    <p:extLst>
      <p:ext uri="{BB962C8B-B14F-4D97-AF65-F5344CB8AC3E}">
        <p14:creationId xmlns:p14="http://schemas.microsoft.com/office/powerpoint/2010/main" val="28655645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FF27-0EA8-398B-4881-0971A4BFC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589804B-E6BC-9BB0-6766-740B2A2F8E0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AB19AC1-343F-8E89-E6E1-BC2B9376C4B4}"/>
              </a:ext>
            </a:extLst>
          </p:cNvPr>
          <p:cNvSpPr txBox="1"/>
          <p:nvPr/>
        </p:nvSpPr>
        <p:spPr>
          <a:xfrm>
            <a:off x="6869151" y="3652026"/>
            <a:ext cx="18557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+mn-ea"/>
              </a:rPr>
              <a:t>BLE_GAP</a:t>
            </a:r>
            <a:endParaRPr lang="zh-CN" altLang="en-US" sz="3200" dirty="0">
              <a:solidFill>
                <a:schemeClr val="accent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380582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F7E27-86FC-9B67-25CF-445AB587D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8B04DC01-3070-FE0D-29CA-BD688B4CAB0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的核心定位与作用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CBB32A9-16FC-AF5C-A7FD-28F67D9249E6}"/>
              </a:ext>
            </a:extLst>
          </p:cNvPr>
          <p:cNvSpPr txBox="1"/>
          <p:nvPr/>
        </p:nvSpPr>
        <p:spPr>
          <a:xfrm>
            <a:off x="215591" y="1419681"/>
            <a:ext cx="8745530" cy="199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是蓝牙协议栈的 “顶层公共接口”，其核心目标是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实现不同蓝牙设备间的基础互联互通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，具体作用包括：</a:t>
            </a:r>
          </a:p>
          <a:p>
            <a:pPr marL="228600" indent="-228600"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统一设备交互范式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：定义设备的基础角色（如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Central/Peripheral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Broadcaster/Observer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）、工作模式（如可发现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可连接模式），确保不同厂商设备遵循相同的 “沟通语言”。</a:t>
            </a:r>
          </a:p>
          <a:p>
            <a:pPr marL="228600" indent="-228600"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衔接底层协议与上层应用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：向下对接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Link Layer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Baseband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）等底层协议，向上为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（通用属性配置文件）、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SDP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（服务发现协议）等提供设备访问能力，是上层应用调用蓝牙基础功能的 “桥梁”。</a:t>
            </a:r>
          </a:p>
          <a:p>
            <a:pPr marL="228600" indent="-228600"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保障基础安全性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：定义设备认证、加密、隐私保护（如随机地址）的基础流程，为后续安全增强（如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Secure Connections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）提供底层支持。</a:t>
            </a:r>
          </a:p>
        </p:txBody>
      </p:sp>
    </p:spTree>
    <p:extLst>
      <p:ext uri="{BB962C8B-B14F-4D97-AF65-F5344CB8AC3E}">
        <p14:creationId xmlns:p14="http://schemas.microsoft.com/office/powerpoint/2010/main" val="1972873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F370E-8FE7-3D65-7A5A-7B9FAF625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EA4D71D1-2C65-B9D1-EF28-DC38933B7974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通用基础定义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6C33349-BDD7-BEEE-7863-AB4A0570D4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255841"/>
              </p:ext>
            </p:extLst>
          </p:nvPr>
        </p:nvGraphicFramePr>
        <p:xfrm>
          <a:off x="170988" y="996141"/>
          <a:ext cx="8665238" cy="2005463"/>
        </p:xfrm>
        <a:graphic>
          <a:graphicData uri="http://schemas.openxmlformats.org/drawingml/2006/table">
            <a:tbl>
              <a:tblPr/>
              <a:tblGrid>
                <a:gridCol w="1010600">
                  <a:extLst>
                    <a:ext uri="{9D8B030D-6E8A-4147-A177-3AD203B41FA5}">
                      <a16:colId xmlns:a16="http://schemas.microsoft.com/office/drawing/2014/main" val="2599233031"/>
                    </a:ext>
                  </a:extLst>
                </a:gridCol>
                <a:gridCol w="1838527">
                  <a:extLst>
                    <a:ext uri="{9D8B030D-6E8A-4147-A177-3AD203B41FA5}">
                      <a16:colId xmlns:a16="http://schemas.microsoft.com/office/drawing/2014/main" val="2218863343"/>
                    </a:ext>
                  </a:extLst>
                </a:gridCol>
                <a:gridCol w="5816111">
                  <a:extLst>
                    <a:ext uri="{9D8B030D-6E8A-4147-A177-3AD203B41FA5}">
                      <a16:colId xmlns:a16="http://schemas.microsoft.com/office/drawing/2014/main" val="4153660569"/>
                    </a:ext>
                  </a:extLst>
                </a:gridCol>
              </a:tblGrid>
              <a:tr h="208829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技术类型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核心角色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功能描述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419392"/>
                  </a:ext>
                </a:extLst>
              </a:tr>
              <a:tr h="21102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BR/EDR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Central（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中心设备）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主导 </a:t>
                      </a: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piconet（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微微网）创建，控制时钟与跳频序列，可连接多个 </a:t>
                      </a: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Peripheral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9081027"/>
                  </a:ext>
                </a:extLst>
              </a:tr>
              <a:tr h="21102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BR/EDR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Peripheral（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从设备）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加入 </a:t>
                      </a: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Central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主导的 </a:t>
                      </a: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piconet，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仅与一个 </a:t>
                      </a: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Central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通信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143998"/>
                  </a:ext>
                </a:extLst>
              </a:tr>
              <a:tr h="21102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LE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Central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发起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LE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连接，控制连接参数（如连接间隔），可管理多个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Peripheral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078308"/>
                  </a:ext>
                </a:extLst>
              </a:tr>
              <a:tr h="21102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LE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Peripheral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广播可连接信号，响应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Central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的连接请求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0136172"/>
                  </a:ext>
                </a:extLst>
              </a:tr>
              <a:tr h="21102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LE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Broadcaster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仅广播非连接型广告数据（如 </a:t>
                      </a:r>
                      <a:r>
                        <a:rPr lang="en-US" altLang="zh-CN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Beacon </a:t>
                      </a:r>
                      <a:r>
                        <a:rPr lang="zh-CN" alt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设备），不接受连接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051772"/>
                  </a:ext>
                </a:extLst>
              </a:tr>
              <a:tr h="21102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LE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Observer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仅扫描并接收广播数据，不发起连接</a:t>
                      </a:r>
                    </a:p>
                  </a:txBody>
                  <a:tcPr marL="75213" marR="75213" marT="37606" marB="376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599170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F8AC38BD-3635-0EAA-C02D-32377E0F0A0C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251276" y="581351"/>
            <a:ext cx="684536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角色定义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ea typeface="ui-sans-serif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GAP 为不同蓝牙技术（BR/EDR、LE）定义了标准化角色，设备需至少支持一种角色以实现交互：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E04EEA-A2B3-2714-CC2B-1767208F48C5}"/>
              </a:ext>
            </a:extLst>
          </p:cNvPr>
          <p:cNvSpPr txBox="1"/>
          <p:nvPr/>
        </p:nvSpPr>
        <p:spPr>
          <a:xfrm>
            <a:off x="170988" y="3057581"/>
            <a:ext cx="8709845" cy="1688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用户接口（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UI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）规范</a:t>
            </a: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定义蓝牙设备在用户层面的参数表示，确保用户操作一致性：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蓝牙设备地址（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BD_ADDR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48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位唯一标识符，分为公共地址（厂商分配）和随机地址（隐私保护用）；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设备名称（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Bluetooth Device Name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：用户可识别的字符串（如 “我的耳机”），最长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248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字节；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配对码（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Passkey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位数字（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Secure Simple Pairing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用），替代传统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PIN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码，提升安全性；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设备类别（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Class of Device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字节编码，标识设备类型（如 “音频设备”“打印机”），用于快速筛选设备；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外观特征（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Appearance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字节编码，描述设备物理形态（如 “入耳式耳机”“智能手表”），可在设备列表中显示图标。</a:t>
            </a:r>
          </a:p>
        </p:txBody>
      </p:sp>
    </p:spTree>
    <p:extLst>
      <p:ext uri="{BB962C8B-B14F-4D97-AF65-F5344CB8AC3E}">
        <p14:creationId xmlns:p14="http://schemas.microsoft.com/office/powerpoint/2010/main" val="37637971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C21E6-0B8C-4AA2-16CD-6369F1335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E9E25CD-495B-10C0-A507-402A5F073BA4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-BR/EDR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物理传输的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功能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8E449EE-0B6F-6BC0-4952-19261861CE57}"/>
              </a:ext>
            </a:extLst>
          </p:cNvPr>
          <p:cNvSpPr txBox="1"/>
          <p:nvPr/>
        </p:nvSpPr>
        <p:spPr>
          <a:xfrm>
            <a:off x="215591" y="759132"/>
            <a:ext cx="8680106" cy="353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针对传统蓝牙（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，如经典蓝牙音频、文件传输），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定义了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设备发现、连接建立、安全模式、休眠管理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四大核心流程：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可发现性与可连接性模式</a:t>
            </a:r>
          </a:p>
          <a:p>
            <a:pPr algn="l">
              <a:lnSpc>
                <a:spcPts val="1800"/>
              </a:lnSpc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可发现性模式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：控制设备是否能被其他设备 “发现”：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非可发现模式（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Non-discoverable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）：不响应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扫描，隐藏自身；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有限可发现模式（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Limited Discoverable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）：仅短时间（如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180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秒）响应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，用于临时配对；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通用可发现模式（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General Discoverable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）：持续响应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，适合长期待连接设备（如蓝牙耳机）。</a:t>
            </a:r>
          </a:p>
          <a:p>
            <a:pPr algn="l">
              <a:lnSpc>
                <a:spcPts val="1800"/>
              </a:lnSpc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可连接性模式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：控制设备是否能被其他设备 “连接”：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非可连接模式（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Non-connectable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）：不响应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扫描，无法建立连接；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可连接模式（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Connectable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）：持续响应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扫描，允许建立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连接。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ui-sans-serif"/>
              </a:rPr>
              <a:t>2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安全机制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认证（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Authentication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：基于链路密钥（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Link Key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）验证设备身份，防止伪装设备接入；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安全模式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：定义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4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种安全级别，其中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安全模式 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4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Service Level Enforced Security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为默认：</a:t>
            </a:r>
          </a:p>
          <a:p>
            <a:pPr lvl="1"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基于服务粒度控制安全策略（如 “音频传输需加密，设备名称读取无需加密”），替代传统链路级安全，更灵活；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绑定（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Bonding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：在配对时存储链路密钥，后续连接无需重复配对，提升用户体验。</a:t>
            </a:r>
          </a:p>
        </p:txBody>
      </p:sp>
    </p:spTree>
    <p:extLst>
      <p:ext uri="{BB962C8B-B14F-4D97-AF65-F5344CB8AC3E}">
        <p14:creationId xmlns:p14="http://schemas.microsoft.com/office/powerpoint/2010/main" val="10666935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F0F30-2008-E929-E19D-8D6E59B20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B59AA042-E4F3-7C5E-A940-A1EA9BE48DF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-BR/EDR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物理传输的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功能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AAE96F2-361D-3CA9-2C5D-F289A8655017}"/>
              </a:ext>
            </a:extLst>
          </p:cNvPr>
          <p:cNvSpPr txBox="1"/>
          <p:nvPr/>
        </p:nvSpPr>
        <p:spPr>
          <a:xfrm>
            <a:off x="215591" y="885345"/>
            <a:ext cx="8712818" cy="353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ui-sans-serif"/>
              </a:rPr>
              <a:t>3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核心操作流程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设备发现（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Device Discovery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分为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（主动扫描）和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 Scan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（被动监听）：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发起方（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Inquiring Device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）发送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请求，遍历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32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个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频道；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响应方（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Discoverable Device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Inquiry Scan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频道监听，返回包含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BD_ADDR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、设备类别、时钟偏移的响应包；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扩展功能：支持 “有限查询（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Limited Inquiry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）”，仅发现处于有限可发现模式的设备（如快速配对新设备）。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连接建立（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Connection Establishment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分为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（主动发起连接）和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Page Scan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（被动响应）：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发起方（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Paging Device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）根据目标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BD_ADDR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计算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频道，发送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请求；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响应方（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Connectable Device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Page Scan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频道监听，匹配自身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BD_ADDR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后建立同步，切换到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piconet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频道；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连接参数：默认使用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逻辑传输，支持后续创建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SCO/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sans-serif"/>
              </a:rPr>
              <a:t>eSCO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同步链路（用于语音通话）。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休眠模式（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Power Management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Hold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Sniff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两种低功耗模式，平衡功耗与响应速度：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Hold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模式：临时暂停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连接（如手机接电话时暂停蓝牙音频），保留同步信息，恢复速度快；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Sniff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模式：降低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连接的交互频率（如耳机闲置时），仅在预设间隔唤醒接收数据，功耗更低。</a:t>
            </a:r>
          </a:p>
        </p:txBody>
      </p:sp>
    </p:spTree>
    <p:extLst>
      <p:ext uri="{BB962C8B-B14F-4D97-AF65-F5344CB8AC3E}">
        <p14:creationId xmlns:p14="http://schemas.microsoft.com/office/powerpoint/2010/main" val="5790839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8A852-0AE5-DF65-2460-BEBAD1F7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2FA0454-6EE9-719C-4752-569B7FC0C322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altLang="zh-CN" sz="2400" dirty="0"/>
              <a:t>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物理传输的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功能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A4950B-37A1-B773-9A9C-A2A34C356343}"/>
              </a:ext>
            </a:extLst>
          </p:cNvPr>
          <p:cNvSpPr txBox="1"/>
          <p:nvPr/>
        </p:nvSpPr>
        <p:spPr>
          <a:xfrm>
            <a:off x="113991" y="583192"/>
            <a:ext cx="8745530" cy="4227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针对低功耗蓝牙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适配其低功耗、低复杂度特性，重新设计了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广播 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扫描机制、连接参数、周期性广播、同步管理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等功能：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广播与扫描机制（非连接型交互）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广播模式（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Advertising Mode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广告设备（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Advertiser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个主广告频道（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37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38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39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频道）发送广告包，支持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7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种广告类型：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可连接无定向广告（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ADV_IND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）：允许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Observer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发起连接，适合常规设备（如智能手环）；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不可连接无定向广告（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ADV_NONCONN_IND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）：仅广播数据（如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Beacon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广播温度数据），不接受连接；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定向连接广告（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ADV_DIRECT_IND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）：仅向特定设备发起连接（如手机唤醒耳机），速度快；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扩展广告（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ADV_EXT_IND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）：支持更长广告数据（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255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字节），可跳转至副广告频道（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37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个通用频道），适合大数据广播。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扫描模式（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Scanning Mode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扫描设备（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Scanner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）监听广告频道，支持两种扫描类型：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被动扫描（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Passive Scanning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）：仅接收广告包，不发送请求，功耗最低（如传感器网关）；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主动扫描（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Active Scanning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）：接收广告包后发送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Scan Request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，获取更多设备信息（如设备名称），适合需要筛选的场景）。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2. 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连接管理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连接建立流程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发起方（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Initiator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）接收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ADV_IND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后，在同一广告频道发送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Connection Request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，协商连接参数：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连接间隔（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Connection Interval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1.25ms~4000ms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，间隔越小，响应越快（如游戏手柄需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10ms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间隔）；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从设备延迟（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Slave Latency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Peripheral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可跳过的连接事件数（如传感器可跳过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10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次，降低功耗）；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监督超时（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Supervision Timeout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）：超过该时间无交互则断开连接（如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4000ms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，避免无效连接占用资源）。</a:t>
            </a:r>
          </a:p>
        </p:txBody>
      </p:sp>
    </p:spTree>
    <p:extLst>
      <p:ext uri="{BB962C8B-B14F-4D97-AF65-F5344CB8AC3E}">
        <p14:creationId xmlns:p14="http://schemas.microsoft.com/office/powerpoint/2010/main" val="33251789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8D7FD-5CC3-C8F4-9672-42BD59C06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3DD864A4-8EA0-CFE0-6722-E1A46BA63DAA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altLang="zh-CN" sz="2400" dirty="0"/>
              <a:t>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物理传输的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功能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31FDBFE-7825-13BC-440B-B05431D865AD}"/>
              </a:ext>
            </a:extLst>
          </p:cNvPr>
          <p:cNvSpPr txBox="1"/>
          <p:nvPr/>
        </p:nvSpPr>
        <p:spPr>
          <a:xfrm>
            <a:off x="215591" y="915065"/>
            <a:ext cx="8712818" cy="3765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周期性广播（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Periodic Advertising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Bluetooth 5.0+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新增功能，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v5.4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中进一步优化，适合低功耗、周期性数据传输（如心率监测）：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周期性广播模式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Advertiser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发送周期性广告同步信息（如间隔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100ms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Scanner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同步后仅在预设时间接收数据，无需持续扫描；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同步转移（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Periodic Advertising Sync Transfer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已同步的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Scanner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可将同步信息传递给其他设备（如手机将耳机的周期性广播同步信息传递给平板），支持多设备无缝切换；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带响应的周期性广播（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Periodic Advertising with Responses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，</a:t>
            </a:r>
            <a:r>
              <a:rPr lang="en-US" altLang="zh-CN" sz="1200" b="1" dirty="0" err="1">
                <a:solidFill>
                  <a:srgbClr val="000000"/>
                </a:solidFill>
                <a:effectLst/>
                <a:latin typeface="ui-sans-serif"/>
              </a:rPr>
              <a:t>PAwR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Bluetooth 5.4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新增功能（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[Vol 0, Part C, 5.3]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），允许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Scanner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在周期性广播中发送响应（如 “请求更新心率采样率”），实现双向低功耗交互，无需建立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ACL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连接。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4.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等时广播（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Isochronous Broadcast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用于实时音频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视频传输（如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Audio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定义其同步与管理机制：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广播等时组（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BIG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，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Broadcast Isochronous Group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ui-sans-serif"/>
              </a:rPr>
              <a:t>   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广播方（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Broadcaster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）将多个等时流（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BIS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，如左声道、右声道）打包为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BIG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，按固定间隔（如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7.5ms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）广播；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同步建立（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Broadcast Isochronous Synchronization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    Observer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接收周期性广告中的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BIG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同步信息，即可接收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BIS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流，支持多设备同时接收（如多个耳机接收同一手机的音频）。</a:t>
            </a:r>
          </a:p>
        </p:txBody>
      </p:sp>
    </p:spTree>
    <p:extLst>
      <p:ext uri="{BB962C8B-B14F-4D97-AF65-F5344CB8AC3E}">
        <p14:creationId xmlns:p14="http://schemas.microsoft.com/office/powerpoint/2010/main" val="5036910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061A-6ACB-2F1C-AF88-536F02A8E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F5F39DFC-3778-CC5F-90F5-4700EE5BE37E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跨传输层（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BR/EDR+LE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）的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功能</a:t>
            </a:r>
            <a:endParaRPr lang="en-US" altLang="zh-TW" sz="2400" b="1" spc="-38" dirty="0">
              <a:solidFill>
                <a:srgbClr val="DFC27B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465E4AE-CF77-7870-95E5-7C0772DDC3AD}"/>
              </a:ext>
            </a:extLst>
          </p:cNvPr>
          <p:cNvSpPr txBox="1"/>
          <p:nvPr/>
        </p:nvSpPr>
        <p:spPr>
          <a:xfrm>
            <a:off x="215591" y="1496872"/>
            <a:ext cx="8795994" cy="2380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针对双模设备（同时支持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和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，如智能手机），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跨传输层密钥派生、角色协同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规则：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跨传输层密钥派生（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Cross-transport Key Derivation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    BR/EDR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共享绑定密钥（如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LTK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），避免重复配对（如手机配对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耳机后，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音频连接无需重新配对）；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角色协同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   设备可同时作为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Peripheral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（如连接经典蓝牙音箱）和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Central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（如连接智能手表），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协调底层资源分配，避免冲突；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安全模式兼容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algn="l"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   支持 “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Secure Connections Only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模式”，强制所有传输层使用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Secure Connections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AES-CCM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加密），禁用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legacy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加密，提升安全性。</a:t>
            </a:r>
          </a:p>
        </p:txBody>
      </p:sp>
    </p:spTree>
    <p:extLst>
      <p:ext uri="{BB962C8B-B14F-4D97-AF65-F5344CB8AC3E}">
        <p14:creationId xmlns:p14="http://schemas.microsoft.com/office/powerpoint/2010/main" val="2698777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FEE98-4B03-83F6-FE7D-8DD0A50FE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E7EE5AC3-7423-1184-8F26-3FAEF20F31C0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的安全机制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08375A1-9606-E6EE-A665-4EB9E6A6EFC9}"/>
              </a:ext>
            </a:extLst>
          </p:cNvPr>
          <p:cNvSpPr txBox="1"/>
          <p:nvPr/>
        </p:nvSpPr>
        <p:spPr>
          <a:xfrm>
            <a:off x="215591" y="1035207"/>
            <a:ext cx="8778242" cy="3303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是蓝牙安全的 “基础框架”，定义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认证、加密、隐私保护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三大核心安全能力，后续安全增强（如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SMP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Secure Connections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）均基于此扩展：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认证（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Authentication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marL="742950" lvl="1" indent="-285750"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基于链路密钥（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Link Key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）验证设备身份，防止 “伪装设备” 接入；</a:t>
            </a:r>
          </a:p>
          <a:p>
            <a:pPr marL="742950" lvl="1" indent="-285750" algn="l">
              <a:lnSpc>
                <a:spcPts val="1800"/>
              </a:lnSpc>
              <a:buFont typeface="+mj-lt"/>
              <a:buAutoNum type="arabicPeriod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Secure Simple Pairing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SSP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Secure Connections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，均使用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ECDH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公钥加密，避免密钥明文传输。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加密（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Encryption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marL="742950" lvl="1" indent="-285750" algn="l">
              <a:lnSpc>
                <a:spcPts val="1800"/>
              </a:lnSpc>
              <a:buFont typeface="+mj-lt"/>
              <a:buAutoNum type="arabicPeriod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E0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流加密（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legacy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）和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AES-CCM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加密（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Secure Connections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）；</a:t>
            </a:r>
          </a:p>
          <a:p>
            <a:pPr marL="742950" lvl="1" indent="-285750" algn="l">
              <a:lnSpc>
                <a:spcPts val="1800"/>
              </a:lnSpc>
              <a:buFont typeface="+mj-lt"/>
              <a:buAutoNum type="arabicPeriod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仅支持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AES-CCM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加密，密钥长度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字节，加密强度更高；</a:t>
            </a:r>
          </a:p>
          <a:p>
            <a:pPr marL="742950" lvl="1" indent="-285750" algn="l">
              <a:lnSpc>
                <a:spcPts val="1800"/>
              </a:lnSpc>
              <a:buFont typeface="+mj-lt"/>
              <a:buAutoNum type="arabicPeriod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 “加密广告数据”（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v5.4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新增），扩展加密范围至非连接场景。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隐私保护（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Privacy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marL="742950" lvl="1" indent="-285750"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支持 “可解析私有地址（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Resolvable Private Address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）”：定期更新（如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15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分钟），需通过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IRK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（身份解析密钥）解析，防止设备被跟踪；</a:t>
            </a:r>
          </a:p>
          <a:p>
            <a:pPr marL="742950" lvl="1" indent="-285750"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地址解析列表（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Resolving List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）：存储设备的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IRK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和身份地址，仅解析信任设备的私有地址，避免陌生设备干扰。</a:t>
            </a:r>
          </a:p>
        </p:txBody>
      </p:sp>
    </p:spTree>
    <p:extLst>
      <p:ext uri="{BB962C8B-B14F-4D97-AF65-F5344CB8AC3E}">
        <p14:creationId xmlns:p14="http://schemas.microsoft.com/office/powerpoint/2010/main" val="2466293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80E3C-CCAC-948C-B2D6-AD233F5F4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89BC2B2-2C7D-FF1C-2D6A-2534FED738AA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服务与特性（</a:t>
            </a:r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GATT Server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侧）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41BF6B1-C762-AD3A-82E2-D88DE6EC43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551081"/>
              </p:ext>
            </p:extLst>
          </p:nvPr>
        </p:nvGraphicFramePr>
        <p:xfrm>
          <a:off x="220647" y="1141202"/>
          <a:ext cx="8702708" cy="3498816"/>
        </p:xfrm>
        <a:graphic>
          <a:graphicData uri="http://schemas.openxmlformats.org/drawingml/2006/table">
            <a:tbl>
              <a:tblPr/>
              <a:tblGrid>
                <a:gridCol w="2175677">
                  <a:extLst>
                    <a:ext uri="{9D8B030D-6E8A-4147-A177-3AD203B41FA5}">
                      <a16:colId xmlns:a16="http://schemas.microsoft.com/office/drawing/2014/main" val="1056693484"/>
                    </a:ext>
                  </a:extLst>
                </a:gridCol>
                <a:gridCol w="2175677">
                  <a:extLst>
                    <a:ext uri="{9D8B030D-6E8A-4147-A177-3AD203B41FA5}">
                      <a16:colId xmlns:a16="http://schemas.microsoft.com/office/drawing/2014/main" val="1610067451"/>
                    </a:ext>
                  </a:extLst>
                </a:gridCol>
                <a:gridCol w="2175677">
                  <a:extLst>
                    <a:ext uri="{9D8B030D-6E8A-4147-A177-3AD203B41FA5}">
                      <a16:colId xmlns:a16="http://schemas.microsoft.com/office/drawing/2014/main" val="3994206219"/>
                    </a:ext>
                  </a:extLst>
                </a:gridCol>
                <a:gridCol w="2175677">
                  <a:extLst>
                    <a:ext uri="{9D8B030D-6E8A-4147-A177-3AD203B41FA5}">
                      <a16:colId xmlns:a16="http://schemas.microsoft.com/office/drawing/2014/main" val="3069267114"/>
                    </a:ext>
                  </a:extLst>
                </a:gridCol>
              </a:tblGrid>
              <a:tr h="233417"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特性 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UUID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特性名称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功能描述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读写权限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056486"/>
                  </a:ext>
                </a:extLst>
              </a:tr>
              <a:tr h="34103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0x2A00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Device Name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设备名称（如 “我的耳机”）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读（默认）、写（可选）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890353"/>
                  </a:ext>
                </a:extLst>
              </a:tr>
              <a:tr h="34103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0x2A01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Appearance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设备外观（如 “入耳式耳机”）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读（默认）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931083"/>
                  </a:ext>
                </a:extLst>
              </a:tr>
              <a:tr h="487172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0x2A04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Peripheral Preferred Connection Parameters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Peripheral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推荐的连接参数（如 “最小连接间隔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10ms”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读（默认）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395268"/>
                  </a:ext>
                </a:extLst>
              </a:tr>
              <a:tr h="425038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0x2A06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Central Address Resolution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指示 </a:t>
                      </a: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Central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是否支持地址解析（隐私保护用）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读（默认）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6506667"/>
                  </a:ext>
                </a:extLst>
              </a:tr>
              <a:tr h="425038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0x2A07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Resolvable Private Address Only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指示设备是否仅使用可解析私有地址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读（默认）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2453641"/>
                  </a:ext>
                </a:extLst>
              </a:tr>
              <a:tr h="425038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0x2AAD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Encrypted Data Key Material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存储加密广告数据的密钥材料（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v5.4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新增）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读（授权后）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0907161"/>
                  </a:ext>
                </a:extLst>
              </a:tr>
              <a:tr h="425038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0x2B2B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LE GATT Security Levels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指示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GATT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服务的安全级别（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v5.4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新增）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读（默认）</a:t>
                      </a:r>
                    </a:p>
                  </a:txBody>
                  <a:tcPr marL="69736" marR="69736" marT="34868" marB="3486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686675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81B7E80C-8DC7-6AC9-1F92-701E41A09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647" y="703736"/>
            <a:ext cx="874047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GAP 作为 GATT 服务的一部分，在 GATT Server 中定义标准化特性（Characteristic），供 Client 读取 / 写入，实现设备信息交互（[Vol 3, Part C, 12]）：</a:t>
            </a:r>
            <a:endParaRPr kumimoji="0" lang="zh-CN" altLang="zh-CN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106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D4E60-FA67-37AA-21C8-6447B982E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7088BC0-B03F-94A3-E440-5DCDF667490C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E928B1-70B4-8AA9-FF98-90AEE3729B14}"/>
              </a:ext>
            </a:extLst>
          </p:cNvPr>
          <p:cNvSpPr txBox="1"/>
          <p:nvPr/>
        </p:nvSpPr>
        <p:spPr>
          <a:xfrm>
            <a:off x="6869151" y="3652026"/>
            <a:ext cx="18557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+mn-ea"/>
              </a:rPr>
              <a:t>BLE_GATT</a:t>
            </a:r>
            <a:endParaRPr lang="zh-CN" altLang="en-US" sz="3200" dirty="0">
              <a:solidFill>
                <a:schemeClr val="accent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9329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1781-3B9D-F85E-585B-CA7A1EE1F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356A089-F876-973C-A71F-2A19E13106F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GATT-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核心定位与作用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9C17E5-EAEB-5C72-F9D1-B04878867F11}"/>
              </a:ext>
            </a:extLst>
          </p:cNvPr>
          <p:cNvSpPr txBox="1"/>
          <p:nvPr/>
        </p:nvSpPr>
        <p:spPr>
          <a:xfrm>
            <a:off x="215591" y="1202350"/>
            <a:ext cx="8745530" cy="2611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建立在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连接基础上，核心目标是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定义设备间数据交互的结构化模型与协议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，通过 “服务（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Service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特征值（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Characteristic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描述符（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Descriptor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）” 的层级结构，实现数据的标准化读写、通知、指示等操作，是蓝牙低功耗设备（如智能手环、传感器）数据交互的核心。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endParaRPr lang="en-US" altLang="zh-CN" sz="1200" dirty="0">
              <a:solidFill>
                <a:srgbClr val="000000"/>
              </a:solidFill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228600" indent="-228600" algn="l">
              <a:lnSpc>
                <a:spcPts val="1800"/>
              </a:lnSpc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核心定位与作用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228600" indent="-228600" algn="l">
              <a:lnSpc>
                <a:spcPts val="1800"/>
              </a:lnSpc>
              <a:buAutoNum type="arabicPeriod"/>
            </a:pPr>
            <a:endParaRPr lang="zh-CN" altLang="en-US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数据结构化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：将设备功能抽象为 “服务”（如 “心率监测服务”“电池服务”），每个服务包含多个 “特征值”（如 “心率测量值”“电池电量”），确保不同厂商设备可互认。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交互标准化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：定义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类核心操作（读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写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通知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指示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可靠写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队列写），明确请求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响应的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PDU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格式，确保数据交互一致性。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跨层适配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：基于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ATT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Attribute Protocol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，属性协议）实现，通过固定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L2CAP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信道（信道号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4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）传输数据，支持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BR/EDR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与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LE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场景。</a:t>
            </a:r>
          </a:p>
        </p:txBody>
      </p:sp>
    </p:spTree>
    <p:extLst>
      <p:ext uri="{BB962C8B-B14F-4D97-AF65-F5344CB8AC3E}">
        <p14:creationId xmlns:p14="http://schemas.microsoft.com/office/powerpoint/2010/main" val="29529717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88CC-22CE-6A54-D5F1-897E13426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AE9F507C-1594-4593-AE8B-4CFEFC7DE2A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GATT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核心组件：服务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特征值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描述符层级模型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568E88-9A18-32A7-17DB-8F8B0E44297B}"/>
              </a:ext>
            </a:extLst>
          </p:cNvPr>
          <p:cNvSpPr txBox="1"/>
          <p:nvPr/>
        </p:nvSpPr>
        <p:spPr>
          <a:xfrm>
            <a:off x="215591" y="680147"/>
            <a:ext cx="87455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/>
              <a:t>GATT </a:t>
            </a:r>
            <a:r>
              <a:rPr lang="zh-CN" altLang="en-US" sz="1200" dirty="0"/>
              <a:t>采用严格的层级结构组织数据，所有组件通过 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UUID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（通用唯一标识符）</a:t>
            </a:r>
            <a:r>
              <a:rPr lang="zh-CN" altLang="en-US" sz="1200" dirty="0"/>
              <a:t> 标识，确保全球唯一性（如 </a:t>
            </a:r>
            <a:r>
              <a:rPr lang="en-US" altLang="zh-CN" sz="1200" dirty="0"/>
              <a:t>UUID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0x180D</a:t>
            </a:r>
            <a:r>
              <a:rPr lang="zh-CN" altLang="en-US" sz="1200" dirty="0"/>
              <a:t> 为 “心率服务”，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0x2A37</a:t>
            </a:r>
            <a:r>
              <a:rPr lang="zh-CN" altLang="en-US" sz="1200" dirty="0"/>
              <a:t> 为 “心率测量特征值”）：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D168659-4081-6C84-7ECE-641EF383E8C3}"/>
              </a:ext>
            </a:extLst>
          </p:cNvPr>
          <p:cNvSpPr txBox="1"/>
          <p:nvPr/>
        </p:nvSpPr>
        <p:spPr>
          <a:xfrm>
            <a:off x="215591" y="1154814"/>
            <a:ext cx="8745530" cy="191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）服务（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Service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定义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：一组相关功能的集合，对应设备的一个具体能力（如 “电池服务” 对应电池电量监测）。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分类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主要服务（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Primary Service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：设备核心功能，如耳机的 “音频服务”；一个设备可包含多个主要服务。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包含服务（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Included Service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：被其他服务引用的辅助服务，如 “心率服务” 包含 “设备信息服务”（获取厂商信息）。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结构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：每个服务由 “服务声明”（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Service Declaration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）和多个 “特征值” 组成，服务声明通过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UUID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标识服务类型，通过句柄（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Handle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）标识在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数据库中的位置。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15B7DE8-FC89-184C-3506-EFF8B6BC10EB}"/>
              </a:ext>
            </a:extLst>
          </p:cNvPr>
          <p:cNvSpPr txBox="1"/>
          <p:nvPr/>
        </p:nvSpPr>
        <p:spPr>
          <a:xfrm>
            <a:off x="215591" y="3086739"/>
            <a:ext cx="8745530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ui-sans-serif"/>
              </a:rPr>
              <a:t>2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数据库（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 Database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定义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 Server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侧存储的 “服务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特征值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-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描述符” 集合，相当于设备的 “数据字典”，客户端通过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ATT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协议访问。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组织方式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：按 “句柄（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Handle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）” 有序排列，句柄为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16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位整数（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1~0xFFFF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），客户端通过 “句柄范围” 或 “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UUID”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查询服务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特征值。</a:t>
            </a:r>
          </a:p>
        </p:txBody>
      </p:sp>
    </p:spTree>
    <p:extLst>
      <p:ext uri="{BB962C8B-B14F-4D97-AF65-F5344CB8AC3E}">
        <p14:creationId xmlns:p14="http://schemas.microsoft.com/office/powerpoint/2010/main" val="42588819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A2FA-41C2-11A4-0F40-1EBDFFDDF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A4F47AAA-35C1-BDC4-EC7D-41A9273023AA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GATT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核心组件：服务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特征值 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描述符层级模型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41CD588-B2EA-FDCC-18A0-C7BEA3869473}"/>
              </a:ext>
            </a:extLst>
          </p:cNvPr>
          <p:cNvSpPr txBox="1"/>
          <p:nvPr/>
        </p:nvSpPr>
        <p:spPr>
          <a:xfrm>
            <a:off x="215591" y="738346"/>
            <a:ext cx="8745530" cy="3303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dirty="0">
                <a:solidFill>
                  <a:srgbClr val="000000"/>
                </a:solidFill>
                <a:latin typeface="ui-sans-serif"/>
              </a:rPr>
              <a:t>3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）特征值（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Characteristic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定义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：服务的最小功能单元，存储具体数据（如 “电池电量值”“温度值”），是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交互的核心对象。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结构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：每个特征值包含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3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个关键部分：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特征值声明（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Characteristic Declaration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：描述特征值的基本信息，包括：</a:t>
            </a:r>
          </a:p>
          <a:p>
            <a:pPr marL="1143000" lvl="2" indent="-22860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特征值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UUID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：标识数据类型（如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0x2A19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为 “电池电量”）。</a:t>
            </a:r>
          </a:p>
          <a:p>
            <a:pPr marL="1143000" lvl="2" indent="-22860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属性权限（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Properties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）：定义该特征值支持的操作（如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0x02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表示 “可读”，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0x10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表示 “通知”）。</a:t>
            </a:r>
          </a:p>
          <a:p>
            <a:pPr marL="1143000" lvl="2" indent="-22860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特征值值句柄（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Value Handle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）：指向实际数据存储的句柄。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特征值值（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Characteristic Value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：存储具体数据（如电池电量为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0x64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表示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100%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），数据格式由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UUID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定义（如 “电池电量” 为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字节无符号整数）。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特征值描述符（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Characteristic Descriptor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：可选组件，补充特征值的元信息，常见类型：</a:t>
            </a:r>
          </a:p>
          <a:p>
            <a:pPr marL="1143000" lvl="2" indent="-22860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客户端特征值配置描述符（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CCCD, 0x2902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：控制特征值的 “通知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/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指示” 功能（如客户端写入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0x0001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 启用通知，设备数据更新时主动推送）。</a:t>
            </a:r>
          </a:p>
          <a:p>
            <a:pPr marL="1143000" lvl="2" indent="-22860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用户描述符（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0x2901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：描述特征值的用途（如 “当前心率”），提升可读性。</a:t>
            </a:r>
          </a:p>
          <a:p>
            <a:pPr marL="1143000" lvl="2" indent="-22860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格式描述符（</a:t>
            </a: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0x2904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：定义数据格式（如整数位数、单位）。</a:t>
            </a:r>
          </a:p>
        </p:txBody>
      </p:sp>
    </p:spTree>
    <p:extLst>
      <p:ext uri="{BB962C8B-B14F-4D97-AF65-F5344CB8AC3E}">
        <p14:creationId xmlns:p14="http://schemas.microsoft.com/office/powerpoint/2010/main" val="14587420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B641-7C79-60E0-D763-E9FD6E500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688AACE0-4B4F-4722-8C57-AD93B6E11155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8407900-AFF2-FDDE-7DAB-FF6DF71F19D3}"/>
              </a:ext>
            </a:extLst>
          </p:cNvPr>
          <p:cNvSpPr txBox="1"/>
          <p:nvPr/>
        </p:nvSpPr>
        <p:spPr>
          <a:xfrm>
            <a:off x="6869151" y="3652026"/>
            <a:ext cx="18557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+mn-ea"/>
              </a:rPr>
              <a:t>BLE_SMP</a:t>
            </a:r>
            <a:endParaRPr lang="zh-CN" altLang="en-US" sz="3200" dirty="0">
              <a:solidFill>
                <a:schemeClr val="accent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710901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9CAF6E-1F89-2643-C737-0C09D26C38B1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的核心定位与适用范围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F98EDA-D782-42A2-3E40-0E219427FF89}"/>
              </a:ext>
            </a:extLst>
          </p:cNvPr>
          <p:cNvSpPr txBox="1"/>
          <p:nvPr/>
        </p:nvSpPr>
        <p:spPr>
          <a:xfrm>
            <a:off x="260318" y="1289707"/>
            <a:ext cx="8745530" cy="2188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1500"/>
              </a:spcBef>
              <a:buNone/>
            </a:pP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1. 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基本定义</a:t>
            </a:r>
          </a:p>
          <a:p>
            <a:pPr algn="l">
              <a:lnSpc>
                <a:spcPts val="1800"/>
              </a:lnSpc>
              <a:buNone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SMP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是蓝牙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系统中负责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安全参数协商、密钥生成与分发、加密与认证控制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的端到端协议，运行在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L2CAP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Logical Link Control and Adaptation Protocol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）之上，使用固定的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L2CAP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通道（通道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0x0006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）实现设备间的安全交互。</a:t>
            </a:r>
          </a:p>
          <a:p>
            <a:pPr algn="l">
              <a:lnSpc>
                <a:spcPts val="1800"/>
              </a:lnSpc>
              <a:spcBef>
                <a:spcPts val="900"/>
              </a:spcBef>
              <a:buNone/>
            </a:pP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2. 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适用场景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仅用于 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LE 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系统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BR/EDR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系统的安全功能由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Link Manager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模块实现，而非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SMP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设备间的配对（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Pairing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）、绑定（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Bonding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）、加密启用、数据签名等安全操作；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需与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Link Layer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LL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，链路层）协同工作，例如通过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LL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协议实现加密会话的建立。</a:t>
            </a:r>
          </a:p>
        </p:txBody>
      </p:sp>
    </p:spTree>
    <p:extLst>
      <p:ext uri="{BB962C8B-B14F-4D97-AF65-F5344CB8AC3E}">
        <p14:creationId xmlns:p14="http://schemas.microsoft.com/office/powerpoint/2010/main" val="6051813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1DFAB-36A8-ACD2-8280-D1293B2B4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3B09CF-54CC-FE2E-182C-9ABD52C517CF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加密工具箱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95DF899-1DFD-9DA7-0173-8D05A5DD21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36948"/>
              </p:ext>
            </p:extLst>
          </p:nvPr>
        </p:nvGraphicFramePr>
        <p:xfrm>
          <a:off x="215593" y="1008026"/>
          <a:ext cx="8745528" cy="3614410"/>
        </p:xfrm>
        <a:graphic>
          <a:graphicData uri="http://schemas.openxmlformats.org/drawingml/2006/table">
            <a:tbl>
              <a:tblPr/>
              <a:tblGrid>
                <a:gridCol w="1704647">
                  <a:extLst>
                    <a:ext uri="{9D8B030D-6E8A-4147-A177-3AD203B41FA5}">
                      <a16:colId xmlns:a16="http://schemas.microsoft.com/office/drawing/2014/main" val="766598976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257485122"/>
                    </a:ext>
                  </a:extLst>
                </a:gridCol>
                <a:gridCol w="3352801">
                  <a:extLst>
                    <a:ext uri="{9D8B030D-6E8A-4147-A177-3AD203B41FA5}">
                      <a16:colId xmlns:a16="http://schemas.microsoft.com/office/drawing/2014/main" val="2051710630"/>
                    </a:ext>
                  </a:extLst>
                </a:gridCol>
              </a:tblGrid>
              <a:tr h="202387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</a:rPr>
                        <a:t>函数名称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1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90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902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903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</a:rPr>
                        <a:t>功能描述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902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90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2A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1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</a:rPr>
                        <a:t>应用场景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90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90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9025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87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052436"/>
                  </a:ext>
                </a:extLst>
              </a:tr>
              <a:tr h="330170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e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103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903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安全哈希函数，用于生成临时密钥或验证值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D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1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配对过程中的参数验证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9022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87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87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35548"/>
                  </a:ext>
                </a:extLst>
              </a:tr>
              <a:tr h="330170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ah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3044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7042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F04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随机地址哈希函数，将设备身份与随机地址关联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7042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3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7048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隐私保护（如可解析私有地址生成）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701E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87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508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247030"/>
                  </a:ext>
                </a:extLst>
              </a:tr>
              <a:tr h="331034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c1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704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704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F04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F04E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LE </a:t>
                      </a:r>
                      <a:r>
                        <a:rPr lang="zh-CN" altLang="en-US" sz="1200" b="0">
                          <a:effectLst/>
                        </a:rPr>
                        <a:t>传统配对（</a:t>
                      </a:r>
                      <a:r>
                        <a:rPr lang="en-US" sz="1200" b="0">
                          <a:effectLst/>
                        </a:rPr>
                        <a:t>Legacy Pairing）</a:t>
                      </a:r>
                      <a:r>
                        <a:rPr lang="zh-CN" altLang="en-US" sz="1200" b="0">
                          <a:effectLst/>
                        </a:rPr>
                        <a:t>的确认值生成函数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704B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7048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F04E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传统配对中的身份验证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9022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508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096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228621"/>
                  </a:ext>
                </a:extLst>
              </a:tr>
              <a:tr h="330170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s1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105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7058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F04E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508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altLang="zh-CN" sz="1200" b="0">
                          <a:effectLst/>
                        </a:rPr>
                        <a:t>LE </a:t>
                      </a:r>
                      <a:r>
                        <a:rPr lang="zh-CN" altLang="en-US" sz="1200" b="0">
                          <a:effectLst/>
                        </a:rPr>
                        <a:t>传统配对的密钥生成函数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7058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F04E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508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传统配对中的长期密钥（</a:t>
                      </a:r>
                      <a:r>
                        <a:rPr lang="en-US" altLang="zh-CN" sz="1200" b="0">
                          <a:effectLst/>
                        </a:rPr>
                        <a:t>LTK</a:t>
                      </a:r>
                      <a:r>
                        <a:rPr lang="zh-CN" altLang="en-US" sz="1200" b="0">
                          <a:effectLst/>
                        </a:rPr>
                        <a:t>）生成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701E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A096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B0A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788275"/>
                  </a:ext>
                </a:extLst>
              </a:tr>
              <a:tr h="330170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AES-CMAC</a:t>
                      </a:r>
                      <a:endParaRPr lang="en-US" sz="1200" b="0" dirty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B08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B08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508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0016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altLang="zh-CN" sz="1200" b="0">
                          <a:effectLst/>
                        </a:rPr>
                        <a:t>AES </a:t>
                      </a:r>
                      <a:r>
                        <a:rPr lang="zh-CN" altLang="en-US" sz="1200" b="0">
                          <a:effectLst/>
                        </a:rPr>
                        <a:t>基于密码的消息认证码算法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B08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5081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8013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数据完整性校验、密钥衍生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502C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24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A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F0B5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925586"/>
                  </a:ext>
                </a:extLst>
              </a:tr>
              <a:tr h="45795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f4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A014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001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0016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01E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LE </a:t>
                      </a:r>
                      <a:r>
                        <a:rPr lang="zh-CN" altLang="en-US" sz="1200" b="0">
                          <a:effectLst/>
                        </a:rPr>
                        <a:t>安全连接（</a:t>
                      </a:r>
                      <a:r>
                        <a:rPr lang="en-US" sz="1200" b="0">
                          <a:effectLst/>
                        </a:rPr>
                        <a:t>Secure Connections）</a:t>
                      </a:r>
                      <a:r>
                        <a:rPr lang="zh-CN" altLang="en-US" sz="1200" b="0">
                          <a:effectLst/>
                        </a:rPr>
                        <a:t>的确认值生成函数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001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E01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8013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601C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安全连接配对中的参数验证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E01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A014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F0B5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0BA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807905"/>
                  </a:ext>
                </a:extLst>
              </a:tr>
              <a:tr h="206408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f5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401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001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A01E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202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LE </a:t>
                      </a:r>
                      <a:r>
                        <a:rPr lang="zh-CN" altLang="en-US" sz="1200" b="0">
                          <a:effectLst/>
                        </a:rPr>
                        <a:t>安全连接的密钥生成函数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001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E01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601C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6023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安全连接中的 </a:t>
                      </a:r>
                      <a:r>
                        <a:rPr lang="en-US" altLang="zh-CN" sz="1200" b="0">
                          <a:effectLst/>
                        </a:rPr>
                        <a:t>LTK </a:t>
                      </a:r>
                      <a:r>
                        <a:rPr lang="zh-CN" altLang="en-US" sz="1200" b="0">
                          <a:effectLst/>
                        </a:rPr>
                        <a:t>生成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E01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201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0BA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10B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5084015"/>
                  </a:ext>
                </a:extLst>
              </a:tr>
              <a:tr h="206408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f6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A023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0024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202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02E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LE </a:t>
                      </a:r>
                      <a:r>
                        <a:rPr lang="zh-CN" altLang="en-US" sz="1200" b="0">
                          <a:effectLst/>
                        </a:rPr>
                        <a:t>安全连接的校验值生成函数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0024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001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6023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602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安全连接中的密钥校验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001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8019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10B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106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35852"/>
                  </a:ext>
                </a:extLst>
              </a:tr>
              <a:tr h="331034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g2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A031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602B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02E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E03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altLang="zh-CN" sz="1200" b="0">
                          <a:effectLst/>
                        </a:rPr>
                        <a:t>LE </a:t>
                      </a:r>
                      <a:r>
                        <a:rPr lang="zh-CN" altLang="en-US" sz="1200" b="0">
                          <a:effectLst/>
                        </a:rPr>
                        <a:t>安全连接的数值比较生成函数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602B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001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602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021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</a:rPr>
                        <a:t>数值比较配对（</a:t>
                      </a:r>
                      <a:r>
                        <a:rPr lang="en-US" sz="1200" b="0" dirty="0">
                          <a:effectLst/>
                        </a:rPr>
                        <a:t>Numeric Comparison）</a:t>
                      </a:r>
                      <a:r>
                        <a:rPr lang="zh-CN" altLang="en-US" sz="1200" b="0" dirty="0">
                          <a:effectLst/>
                        </a:rPr>
                        <a:t>模式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001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201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106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C9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7227813"/>
                  </a:ext>
                </a:extLst>
              </a:tr>
              <a:tr h="206408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Menlo"/>
                        </a:rPr>
                        <a:t>h6/h7</a:t>
                      </a:r>
                      <a:endParaRPr lang="en-US" sz="1200" b="0">
                        <a:effectLst/>
                      </a:endParaRP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E033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C017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E03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033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链路密钥转换函数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C017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001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A021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C014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 dirty="0">
                          <a:effectLst/>
                        </a:rPr>
                        <a:t>BR/EDR </a:t>
                      </a:r>
                      <a:r>
                        <a:rPr lang="zh-CN" altLang="en-US" sz="1200" b="0" dirty="0">
                          <a:effectLst/>
                        </a:rPr>
                        <a:t>与 </a:t>
                      </a:r>
                      <a:r>
                        <a:rPr lang="en-US" sz="1200" b="0" dirty="0">
                          <a:effectLst/>
                        </a:rPr>
                        <a:t>LE </a:t>
                      </a:r>
                      <a:r>
                        <a:rPr lang="zh-CN" altLang="en-US" sz="1200" b="0" dirty="0">
                          <a:effectLst/>
                        </a:rPr>
                        <a:t>密钥格式互转</a:t>
                      </a:r>
                    </a:p>
                  </a:txBody>
                  <a:tcPr marL="63422" marR="63422" marT="42281" marB="42281" anchor="ctr">
                    <a:lnL w="4229" cap="flat" cmpd="sng" algn="ctr">
                      <a:solidFill>
                        <a:srgbClr val="001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E01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C9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8019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493581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D052D6DA-87CD-50A5-26B1-2A50DBEB02C3}"/>
              </a:ext>
            </a:extLst>
          </p:cNvPr>
          <p:cNvSpPr txBox="1"/>
          <p:nvPr/>
        </p:nvSpPr>
        <p:spPr>
          <a:xfrm>
            <a:off x="182878" y="602241"/>
            <a:ext cx="8745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0" i="0" dirty="0">
                <a:effectLst/>
                <a:latin typeface="Inter"/>
              </a:rPr>
              <a:t>定义 </a:t>
            </a:r>
            <a:r>
              <a:rPr lang="en-US" altLang="zh-CN" sz="1200" b="0" i="0" dirty="0">
                <a:effectLst/>
                <a:latin typeface="Inter"/>
              </a:rPr>
              <a:t>SMP </a:t>
            </a:r>
            <a:r>
              <a:rPr lang="zh-CN" altLang="en-US" sz="1200" b="0" i="0" dirty="0">
                <a:effectLst/>
                <a:latin typeface="Inter"/>
              </a:rPr>
              <a:t>所需的加密算法与函数，确保安全操作的标准化，核心函数包括：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296883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BB50C-DE70-F72F-0BB2-81BE19C6A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FE9D6-7F7D-F624-13C5-8E18C819666D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配对方法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2BB21-C30F-C0D3-3B64-6C766BBF4DB5}"/>
              </a:ext>
            </a:extLst>
          </p:cNvPr>
          <p:cNvSpPr txBox="1"/>
          <p:nvPr/>
        </p:nvSpPr>
        <p:spPr>
          <a:xfrm>
            <a:off x="215591" y="1208321"/>
            <a:ext cx="8712818" cy="2380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定义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设备间的配对流程与参数协商规则，核心内容包括：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安全属性（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Security Properties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）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：明确配对过程中需协商的安全参数，如加密密钥长度（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16-128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位）、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IO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能力（输入输出能力，如 “仅显示”“仅输入”“无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IO”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）、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OOB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数据（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Out-of-Band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，带外数据，如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NFC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传输的配对信息）；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配对算法（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Pairing Algorithms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）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：支持两种算法：</a:t>
            </a:r>
          </a:p>
          <a:p>
            <a:pPr marL="742950" lvl="1" indent="-285750"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算法 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1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（传统配对）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：适用于低性能设备，安全性较低，使用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E0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加密算法；</a:t>
            </a:r>
          </a:p>
          <a:p>
            <a:pPr marL="742950" lvl="1" indent="-285750"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算法 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2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（安全连接配对）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：基于椭圆曲线加密（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ECC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），支持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AES-CCM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加密，安全性更高，是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v5.4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推荐的配对方式；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重复尝试限制（</a:t>
            </a:r>
            <a:r>
              <a:rPr lang="en-US" altLang="zh-CN" sz="1200" b="1" i="0" dirty="0">
                <a:solidFill>
                  <a:srgbClr val="000000"/>
                </a:solidFill>
                <a:effectLst/>
                <a:latin typeface="Inter"/>
              </a:rPr>
              <a:t>Repeated Attempts</a:t>
            </a: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）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：防止暴力破解，规定配对失败次数达到阈值后，设备需等待一定时间才能重新发起配对</a:t>
            </a:r>
          </a:p>
        </p:txBody>
      </p:sp>
    </p:spTree>
    <p:extLst>
      <p:ext uri="{BB962C8B-B14F-4D97-AF65-F5344CB8AC3E}">
        <p14:creationId xmlns:p14="http://schemas.microsoft.com/office/powerpoint/2010/main" val="18828524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C90A8-4221-4A1C-5A63-08C8FE9F6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65AE8B-7A56-F73A-C00D-6A52ED0E0CF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的核心功能模块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-LE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安全机制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FB79BE-9833-D301-267D-DFA13C4D20A4}"/>
              </a:ext>
            </a:extLst>
          </p:cNvPr>
          <p:cNvSpPr txBox="1"/>
          <p:nvPr/>
        </p:nvSpPr>
        <p:spPr>
          <a:xfrm>
            <a:off x="215591" y="923776"/>
            <a:ext cx="8745530" cy="315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详细说明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系统的安全核心流程，包括：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密钥定义与生成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</a:t>
            </a:r>
            <a:endParaRPr lang="en-US" altLang="zh-CN" sz="1200" b="0" i="0" dirty="0">
              <a:solidFill>
                <a:srgbClr val="000000"/>
              </a:solidFill>
              <a:effectLst/>
              <a:latin typeface="Inter"/>
            </a:endParaRPr>
          </a:p>
          <a:p>
            <a:pPr lvl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定义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5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类核心密钥：临时密钥（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TK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）、长期密钥（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LTK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）、身份解析密钥（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IRK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）、连接签名密钥（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CSRK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）、设备身份密钥（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DIK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）；</a:t>
            </a:r>
            <a:endParaRPr lang="en-US" altLang="zh-CN" sz="1200" b="0" i="0" dirty="0">
              <a:solidFill>
                <a:srgbClr val="000000"/>
              </a:solidFill>
              <a:effectLst/>
              <a:latin typeface="Inter"/>
            </a:endParaRPr>
          </a:p>
          <a:p>
            <a:pPr lvl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密钥生成逻辑：例如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LTK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由配对双方通过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ECC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密钥交换（安全连接）或预共享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TK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（传统配对）衍生；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密钥分发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：通过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SMP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协议将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LTK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、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IRK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等密钥存储到设备的 “解析列表（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Resolving List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）”，用于后续连接的自动加密；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加密会话建立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：配对完成后，通过 </a:t>
            </a:r>
            <a:r>
              <a:rPr lang="en-US" altLang="zh-CN" sz="1200" b="0" i="0" dirty="0" err="1">
                <a:solidFill>
                  <a:srgbClr val="000000"/>
                </a:solidFill>
                <a:effectLst/>
                <a:latin typeface="Inter"/>
              </a:rPr>
              <a:t>LL_Encrypt_Enable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命令启用加密，使用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LTK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生成会话密钥（</a:t>
            </a:r>
            <a:r>
              <a:rPr lang="en-US" altLang="zh-CN" sz="1200" b="0" i="0" dirty="0" err="1">
                <a:solidFill>
                  <a:srgbClr val="000000"/>
                </a:solidFill>
                <a:effectLst/>
                <a:latin typeface="Inter"/>
              </a:rPr>
              <a:t>K_session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数据签名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：支持使用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CSRK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对数据进行签名，防止数据篡改或伪造（如广播数据的完整性校验）；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200" b="1" i="0" dirty="0">
                <a:solidFill>
                  <a:srgbClr val="000000"/>
                </a:solidFill>
                <a:effectLst/>
                <a:latin typeface="Inter"/>
              </a:rPr>
              <a:t>隐私特性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：通过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IRK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生成 “可解析私有地址（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Resolvable Private Address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）”，隐藏设备真实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Inter"/>
              </a:rPr>
              <a:t>BD_ADDR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Inter"/>
              </a:rPr>
              <a:t>，防止跟踪。</a:t>
            </a:r>
          </a:p>
        </p:txBody>
      </p:sp>
    </p:spTree>
    <p:extLst>
      <p:ext uri="{BB962C8B-B14F-4D97-AF65-F5344CB8AC3E}">
        <p14:creationId xmlns:p14="http://schemas.microsoft.com/office/powerpoint/2010/main" val="9598097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C90A8-4221-4A1C-5A63-08C8FE9F6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65AE8B-7A56-F73A-C00D-6A52ED0E0CF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SMP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协议命令与格式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9C82E7C-67B3-9530-5746-9AF2EEBEF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620478"/>
              </p:ext>
            </p:extLst>
          </p:nvPr>
        </p:nvGraphicFramePr>
        <p:xfrm>
          <a:off x="215591" y="1860260"/>
          <a:ext cx="8613449" cy="2714637"/>
        </p:xfrm>
        <a:graphic>
          <a:graphicData uri="http://schemas.openxmlformats.org/drawingml/2006/table">
            <a:tbl>
              <a:tblPr/>
              <a:tblGrid>
                <a:gridCol w="2559068">
                  <a:extLst>
                    <a:ext uri="{9D8B030D-6E8A-4147-A177-3AD203B41FA5}">
                      <a16:colId xmlns:a16="http://schemas.microsoft.com/office/drawing/2014/main" val="316165935"/>
                    </a:ext>
                  </a:extLst>
                </a:gridCol>
                <a:gridCol w="6054381">
                  <a:extLst>
                    <a:ext uri="{9D8B030D-6E8A-4147-A177-3AD203B41FA5}">
                      <a16:colId xmlns:a16="http://schemas.microsoft.com/office/drawing/2014/main" val="3465539499"/>
                    </a:ext>
                  </a:extLst>
                </a:gridCol>
              </a:tblGrid>
              <a:tr h="238736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</a:rPr>
                        <a:t>命令名称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10B1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AA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B0B5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1" dirty="0">
                          <a:solidFill>
                            <a:srgbClr val="000000"/>
                          </a:solidFill>
                          <a:effectLst/>
                        </a:rPr>
                        <a:t>功能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258102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 dirty="0">
                          <a:effectLst/>
                        </a:rPr>
                        <a:t>Pairing Request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10B4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3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B5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发起配对请求，携带设备 </a:t>
                      </a:r>
                      <a:r>
                        <a:rPr lang="en-US" altLang="zh-CN" sz="1200" b="0">
                          <a:effectLst/>
                        </a:rPr>
                        <a:t>IO </a:t>
                      </a:r>
                      <a:r>
                        <a:rPr lang="zh-CN" altLang="en-US" sz="1200" b="0">
                          <a:effectLst/>
                        </a:rPr>
                        <a:t>能力、加密密钥长度等参数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3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20AD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416107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 dirty="0">
                          <a:effectLst/>
                        </a:rPr>
                        <a:t>Pairing Response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90B9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70BB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>
                          <a:effectLst/>
                        </a:rPr>
                        <a:t>响应配对请求，确认协商的安全参数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A9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20AD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0898283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Pairing Confirm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90BD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70BB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B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</a:rPr>
                        <a:t>传输配对确认值，验证双方密钥一致性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771631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Pairing Random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F0B4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B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B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</a:rPr>
                        <a:t>传输随机数，用于密钥生成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592070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Pairing Failed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50B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B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10B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</a:rPr>
                        <a:t>通知配对失败（如参数不兼容、密钥验证失败）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AD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00B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210764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Encryption Information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30B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10B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C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</a:rPr>
                        <a:t>传输加密相关信息（如 </a:t>
                      </a:r>
                      <a:r>
                        <a:rPr lang="en-US" altLang="zh-CN" sz="1200" b="0" dirty="0">
                          <a:effectLst/>
                        </a:rPr>
                        <a:t>LTK </a:t>
                      </a:r>
                      <a:r>
                        <a:rPr lang="zh-CN" altLang="en-US" sz="1200" b="0" dirty="0">
                          <a:effectLst/>
                        </a:rPr>
                        <a:t>类型）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AD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00B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80C5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770504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en-US" sz="1200" b="0">
                          <a:effectLst/>
                        </a:rPr>
                        <a:t>Identity Information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70C9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C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90C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72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</a:rPr>
                        <a:t>传输设备身份信息（如 </a:t>
                      </a:r>
                      <a:r>
                        <a:rPr lang="en-US" altLang="zh-CN" sz="1200" b="0" dirty="0">
                          <a:effectLst/>
                        </a:rPr>
                        <a:t>IRK</a:t>
                      </a:r>
                      <a:r>
                        <a:rPr lang="zh-CN" altLang="en-US" sz="1200" b="0" dirty="0">
                          <a:effectLst/>
                        </a:rPr>
                        <a:t>）</a:t>
                      </a:r>
                    </a:p>
                  </a:txBody>
                  <a:tcPr marL="107156" marR="107156" marT="71438" marB="71438"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80C5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A9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4465982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2571899A-E1DE-38AE-EA42-B3DD3605E94C}"/>
              </a:ext>
            </a:extLst>
          </p:cNvPr>
          <p:cNvSpPr txBox="1"/>
          <p:nvPr/>
        </p:nvSpPr>
        <p:spPr>
          <a:xfrm>
            <a:off x="215591" y="568603"/>
            <a:ext cx="874553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Inter"/>
              </a:rPr>
              <a:t>定义 SMP 协议的命令结构、交互流程与超时机制：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Inter"/>
              </a:rPr>
              <a:t>命令格式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Inter"/>
              </a:rPr>
              <a:t>：每个 SMP 命令包含 “opcode（1 字节）+ 参数（可变长度）”，例如 “Pairing Request（0x01）”“Pairing Response（0x02）”；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Inter"/>
              </a:rPr>
              <a:t>核心命令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Inter"/>
              </a:rPr>
              <a:t>：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Inter"/>
              </a:rPr>
              <a:t>超时机制（SMP timeout）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Inter"/>
              </a:rPr>
              <a:t>：规定命令响应超时时间（默认 30 秒），超时后视为配对失败。</a:t>
            </a:r>
          </a:p>
        </p:txBody>
      </p:sp>
    </p:spTree>
    <p:extLst>
      <p:ext uri="{BB962C8B-B14F-4D97-AF65-F5344CB8AC3E}">
        <p14:creationId xmlns:p14="http://schemas.microsoft.com/office/powerpoint/2010/main" val="169813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258-0BF3-979A-64A8-26981AD0E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D79ACD33-D16E-246A-0FD5-3E637F10F3C8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8E73936-33CF-0539-643F-E8974BE7B8FE}"/>
              </a:ext>
            </a:extLst>
          </p:cNvPr>
          <p:cNvSpPr txBox="1"/>
          <p:nvPr/>
        </p:nvSpPr>
        <p:spPr>
          <a:xfrm>
            <a:off x="6276561" y="3652026"/>
            <a:ext cx="2448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+mn-ea"/>
              </a:rPr>
              <a:t>BLE_HID</a:t>
            </a:r>
            <a:r>
              <a:rPr lang="zh-CN" altLang="en-US" sz="3200" dirty="0">
                <a:solidFill>
                  <a:schemeClr val="accent1"/>
                </a:solidFill>
                <a:latin typeface="+mn-ea"/>
              </a:rPr>
              <a:t>实例</a:t>
            </a:r>
          </a:p>
        </p:txBody>
      </p:sp>
    </p:spTree>
    <p:extLst>
      <p:ext uri="{BB962C8B-B14F-4D97-AF65-F5344CB8AC3E}">
        <p14:creationId xmlns:p14="http://schemas.microsoft.com/office/powerpoint/2010/main" val="24225231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4776-CAB8-1845-0181-CF4AF459C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8B4D47-C0F5-F921-8B46-FC778D12BE6F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TW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HID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流程阶段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22ABD6E-28C4-9F2C-6BCF-2B36F65F9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88445"/>
              </p:ext>
            </p:extLst>
          </p:nvPr>
        </p:nvGraphicFramePr>
        <p:xfrm>
          <a:off x="215591" y="1790686"/>
          <a:ext cx="8613449" cy="2101155"/>
        </p:xfrm>
        <a:graphic>
          <a:graphicData uri="http://schemas.openxmlformats.org/drawingml/2006/table">
            <a:tbl>
              <a:tblPr/>
              <a:tblGrid>
                <a:gridCol w="2559068">
                  <a:extLst>
                    <a:ext uri="{9D8B030D-6E8A-4147-A177-3AD203B41FA5}">
                      <a16:colId xmlns:a16="http://schemas.microsoft.com/office/drawing/2014/main" val="316165935"/>
                    </a:ext>
                  </a:extLst>
                </a:gridCol>
                <a:gridCol w="6054381">
                  <a:extLst>
                    <a:ext uri="{9D8B030D-6E8A-4147-A177-3AD203B41FA5}">
                      <a16:colId xmlns:a16="http://schemas.microsoft.com/office/drawing/2014/main" val="3465539499"/>
                    </a:ext>
                  </a:extLst>
                </a:gridCol>
              </a:tblGrid>
              <a:tr h="238736"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阶段</a:t>
                      </a:r>
                    </a:p>
                  </a:txBody>
                  <a:tcPr anchor="ctr">
                    <a:lnL w="4229" cap="flat" cmpd="sng" algn="ctr">
                      <a:solidFill>
                        <a:srgbClr val="10B1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AA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B0B5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核心作用</a:t>
                      </a:r>
                    </a:p>
                  </a:txBody>
                  <a:tcPr anchor="ctr">
                    <a:lnL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258102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系统初始化</a:t>
                      </a:r>
                    </a:p>
                  </a:txBody>
                  <a:tcPr anchor="ctr">
                    <a:lnL w="4229" cap="flat" cmpd="sng" algn="ctr">
                      <a:solidFill>
                        <a:srgbClr val="10B4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3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B0B5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协议栈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/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服务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/ IO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能力初始化</a:t>
                      </a:r>
                    </a:p>
                  </a:txBody>
                  <a:tcPr anchor="ctr">
                    <a:lnL w="4229" cap="flat" cmpd="sng" algn="ctr">
                      <a:solidFill>
                        <a:srgbClr val="3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20AD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416107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GAP -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广播连接</a:t>
                      </a:r>
                    </a:p>
                  </a:txBody>
                  <a:tcPr anchor="ctr">
                    <a:lnL w="4229" cap="flat" cmpd="sng" algn="ctr">
                      <a:solidFill>
                        <a:srgbClr val="90B9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70BB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设备广播、建立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BLE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连接</a:t>
                      </a:r>
                    </a:p>
                  </a:txBody>
                  <a:tcPr anchor="ctr">
                    <a:lnL w="4229" cap="flat" cmpd="sng" algn="ctr">
                      <a:solidFill>
                        <a:srgbClr val="D0B7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A9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20AD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0898283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SMP -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配对加密（可选）</a:t>
                      </a:r>
                    </a:p>
                  </a:txBody>
                  <a:tcPr anchor="ctr">
                    <a:lnL w="4229" cap="flat" cmpd="sng" algn="ctr">
                      <a:solidFill>
                        <a:srgbClr val="90BD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70BB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B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设备配对、数据加密</a:t>
                      </a:r>
                    </a:p>
                  </a:txBody>
                  <a:tcPr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AE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771631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GATT -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服务配置</a:t>
                      </a:r>
                    </a:p>
                  </a:txBody>
                  <a:tcPr anchor="ctr">
                    <a:lnL w="4229" cap="flat" cmpd="sng" algn="ctr">
                      <a:solidFill>
                        <a:srgbClr val="F0B4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D0B8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30B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发现 </a:t>
                      </a:r>
                      <a:r>
                        <a:rPr lang="en-US" altLang="zh-CN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HID </a:t>
                      </a: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服务、启用通知</a:t>
                      </a:r>
                    </a:p>
                  </a:txBody>
                  <a:tcPr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F0AF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592070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正常工作</a:t>
                      </a:r>
                    </a:p>
                  </a:txBody>
                  <a:tcPr anchor="ctr">
                    <a:lnL w="4229" cap="flat" cmpd="sng" algn="ctr">
                      <a:solidFill>
                        <a:srgbClr val="50B5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30B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10B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按键扫描→数据传输→手机输入</a:t>
                      </a:r>
                    </a:p>
                  </a:txBody>
                  <a:tcPr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AD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50B3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00B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210764"/>
                  </a:ext>
                </a:extLst>
              </a:tr>
              <a:tr h="239903"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断开连接</a:t>
                      </a:r>
                    </a:p>
                  </a:txBody>
                  <a:tcPr anchor="ctr">
                    <a:lnL w="4229" cap="flat" cmpd="sng" algn="ctr">
                      <a:solidFill>
                        <a:srgbClr val="30B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10BD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D0C2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00"/>
                        </a:lnSpc>
                        <a:buNone/>
                      </a:pPr>
                      <a:r>
                        <a:rPr lang="zh-CN" altLang="en-US" sz="1200" b="0" dirty="0">
                          <a:solidFill>
                            <a:srgbClr val="000000"/>
                          </a:solidFill>
                          <a:effectLst/>
                          <a:latin typeface="ui-sans-serif"/>
                        </a:rPr>
                        <a:t>重置状态、重新广播</a:t>
                      </a:r>
                    </a:p>
                  </a:txBody>
                  <a:tcPr anchor="ctr">
                    <a:lnL w="4229" cap="flat" cmpd="sng" algn="ctr">
                      <a:solidFill>
                        <a:srgbClr val="10B3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D0AD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00BB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80C5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770504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7973F9DF-0D76-7629-1793-6648B005FA60}"/>
              </a:ext>
            </a:extLst>
          </p:cNvPr>
          <p:cNvSpPr txBox="1"/>
          <p:nvPr/>
        </p:nvSpPr>
        <p:spPr>
          <a:xfrm>
            <a:off x="215590" y="796769"/>
            <a:ext cx="861344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BLE HID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（键盘）外设工作全流程，主要包含：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（广播连接）、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GATT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（服务数据）、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SMP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（配对加密）三层协议作用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从按键扫描到手机输入的完整数据流</a:t>
            </a:r>
          </a:p>
        </p:txBody>
      </p:sp>
    </p:spTree>
    <p:extLst>
      <p:ext uri="{BB962C8B-B14F-4D97-AF65-F5344CB8AC3E}">
        <p14:creationId xmlns:p14="http://schemas.microsoft.com/office/powerpoint/2010/main" val="7716715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2D562-EF18-5032-C767-4D7A7D7F0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69CEED-DB25-41E3-9DCD-28C05A9BD2B6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HID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流程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系统初始化和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GAP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广播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A5697C5-216C-F310-54D3-A38DD240F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591" y="608691"/>
            <a:ext cx="4442791" cy="18620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1200" b="1" dirty="0"/>
              <a:t> 系统初始化</a:t>
            </a:r>
            <a:endParaRPr lang="en-US" altLang="zh-CN" sz="12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zh-CN" altLang="zh-CN" sz="12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ea typeface="ui-sans-serif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初始化 BLE 协议栈：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ui-monospace"/>
              </a:rPr>
              <a:t>ble_init()</a:t>
            </a:r>
            <a:r>
              <a:rPr kumimoji="0" lang="zh-CN" altLang="zh-CN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ea typeface="ui-sans-serif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设置设备地址（GAP）：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ui-monospace"/>
              </a:rPr>
              <a:t>ble_cmd_device_addr_set()</a:t>
            </a:r>
            <a:r>
              <a:rPr kumimoji="0" lang="zh-CN" altLang="zh-CN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ea typeface="ui-sans-serif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初始化 GATT 服务：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ui-monospace"/>
              </a:rPr>
              <a:t>server_profile_init()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ea typeface="ui-sans-serif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核心：GAP/GATT/DIS/HID（0x1812）服务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设置 SMP IO 能力：</a:t>
            </a: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ui-monospace"/>
              </a:rPr>
              <a:t>io_capability_init()</a:t>
            </a:r>
            <a:endParaRPr kumimoji="0" lang="zh-CN" altLang="zh-CN" sz="12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ea typeface="ui-sans-serif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zh-CN" altLang="zh-CN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ui-sans-serif"/>
              </a:rPr>
              <a:t>配置：IO_CAP = NOINPUT_NOOUTPUT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C0E55B-EC4D-5C55-C0D8-E0EE809B522A}"/>
              </a:ext>
            </a:extLst>
          </p:cNvPr>
          <p:cNvSpPr txBox="1"/>
          <p:nvPr/>
        </p:nvSpPr>
        <p:spPr>
          <a:xfrm>
            <a:off x="215591" y="2467665"/>
            <a:ext cx="5724939" cy="2149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zh-CN" sz="1200" b="1" dirty="0"/>
              <a:t>GAP </a:t>
            </a:r>
            <a:r>
              <a:rPr lang="zh-CN" altLang="en-US" sz="1200" b="1" dirty="0"/>
              <a:t>广播连接</a:t>
            </a:r>
            <a:endParaRPr lang="en-US" altLang="zh-CN" sz="1200" b="1" dirty="0"/>
          </a:p>
          <a:p>
            <a:pPr>
              <a:lnSpc>
                <a:spcPts val="1800"/>
              </a:lnSpc>
            </a:pPr>
            <a:endParaRPr lang="en-US" altLang="zh-CN" sz="1200" dirty="0"/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设置广播参数：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monospace"/>
              </a:rPr>
              <a:t>ble_cmd_adv_param_set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（间隔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100ms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、可连接）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设置广播数据：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monospace"/>
              </a:rPr>
              <a:t>ble_cmd_adv_data_set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设备名称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+ HID UUID (0x1812) +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键盘外观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(0x03C1)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启动广播：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monospace"/>
              </a:rPr>
              <a:t>ble_cmd_adv_enable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连接建立：</a:t>
            </a: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触发事件：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BLE_GAP_EVT_CONN_COMPLETE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742950" lvl="1" indent="-2857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后续：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MTU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协商（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BLE_ATT_GATT_EVT_MTU_EXCHANGE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387548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3F27D-BDDA-E04C-89CF-C2030AE9B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99F236-618E-6550-1637-0A2CB03B727B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HID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流程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SMP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配对加密和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GATT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服务配置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A68F1A-1F71-415B-C31B-20A9609F3EB3}"/>
              </a:ext>
            </a:extLst>
          </p:cNvPr>
          <p:cNvSpPr txBox="1"/>
          <p:nvPr/>
        </p:nvSpPr>
        <p:spPr>
          <a:xfrm>
            <a:off x="215591" y="780222"/>
            <a:ext cx="8745530" cy="1457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zh-CN" sz="1200" b="1" dirty="0"/>
              <a:t>SMP </a:t>
            </a:r>
            <a:r>
              <a:rPr lang="zh-CN" altLang="en-US" sz="1200" b="1" dirty="0"/>
              <a:t>配对加密</a:t>
            </a:r>
            <a:endParaRPr lang="en-US" altLang="zh-CN" sz="1200" b="1" dirty="0"/>
          </a:p>
          <a:p>
            <a:pPr>
              <a:lnSpc>
                <a:spcPts val="1800"/>
              </a:lnSpc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配对方法选择：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BLE_SM_EVT_STK_GEN_METHOD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IO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能力协商）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配对确认（如需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PIN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BLE_SM_EVT_NUMERIC_COMPARISON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（自动确认）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配对结果：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BLE_SM_EVT_AUTH_STATUS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成功：恢复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CCCD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monospace"/>
              </a:rPr>
              <a:t>ble_cmd_cccd_restore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失败：重置连接状态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BE659C4-C531-7771-9E2C-684BC90CCD08}"/>
              </a:ext>
            </a:extLst>
          </p:cNvPr>
          <p:cNvSpPr txBox="1"/>
          <p:nvPr/>
        </p:nvSpPr>
        <p:spPr>
          <a:xfrm>
            <a:off x="215591" y="2571750"/>
            <a:ext cx="8745530" cy="191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altLang="zh-CN" sz="1200" b="1" dirty="0">
                <a:solidFill>
                  <a:srgbClr val="000000"/>
                </a:solidFill>
                <a:effectLst/>
                <a:latin typeface="ui-sans-serif"/>
              </a:rPr>
              <a:t>GATT</a:t>
            </a: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服务配置</a:t>
            </a:r>
            <a:endParaRPr lang="en-US" altLang="zh-CN" sz="1200" b="1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主机端操作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读取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服务（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0x1812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）：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核心特征：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Report Map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Keyboard Input Report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等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写入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CCCD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：启用通知（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0x0001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触发事件：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BLESERVICE_HIDS_KEYBOARD_INPUT_REPORT_CCCD_WRITE_EVENT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设备端处理</a:t>
            </a:r>
          </a:p>
          <a:p>
            <a:pPr marL="171450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检测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CCCD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写入 → 启动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定时器（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50ms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周期扫描按键）</a:t>
            </a:r>
          </a:p>
        </p:txBody>
      </p:sp>
    </p:spTree>
    <p:extLst>
      <p:ext uri="{BB962C8B-B14F-4D97-AF65-F5344CB8AC3E}">
        <p14:creationId xmlns:p14="http://schemas.microsoft.com/office/powerpoint/2010/main" val="22213131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7C9-2727-0006-0458-770BC13B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706B57-0ED6-2648-FA52-B932AF154B14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HID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流程</a:t>
            </a:r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正常工作和断开连接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3346CD-86EF-6F15-65A5-A64CEA3BD18D}"/>
              </a:ext>
            </a:extLst>
          </p:cNvPr>
          <p:cNvSpPr txBox="1"/>
          <p:nvPr/>
        </p:nvSpPr>
        <p:spPr>
          <a:xfrm>
            <a:off x="215591" y="587682"/>
            <a:ext cx="8745530" cy="191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effectLst/>
                <a:latin typeface="ui-sans-serif"/>
              </a:rPr>
              <a:t>工作数据流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（核心）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 rtl="0">
              <a:lnSpc>
                <a:spcPts val="1800"/>
              </a:lnSpc>
              <a:buNone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GPIO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按键扫描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(50ms) →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检测按键按下 → 生成按键事件 → 填充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HID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报告 → 发送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通知 → 手机解析输入 → 释放按键（空报告）</a:t>
            </a:r>
          </a:p>
          <a:p>
            <a:pPr algn="l">
              <a:lnSpc>
                <a:spcPts val="1800"/>
              </a:lnSpc>
              <a:buNone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关键细节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按键扫描：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monospace"/>
              </a:rPr>
              <a:t>gpio_key_scan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GPIO0-4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）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报告（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8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字节）：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[0]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修饰键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[1]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保留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[2]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按键码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(A=0x04/C=0x06) [3-7]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保留</a:t>
            </a:r>
          </a:p>
          <a:p>
            <a:pPr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发送通知：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monospace"/>
              </a:rPr>
              <a:t>ble_svcs_data_send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(TYPE_BLE_GATT_NOTIFICATION)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A4ACBDC-7175-9D3D-65A9-30DF3FCC416F}"/>
              </a:ext>
            </a:extLst>
          </p:cNvPr>
          <p:cNvSpPr txBox="1"/>
          <p:nvPr/>
        </p:nvSpPr>
        <p:spPr>
          <a:xfrm>
            <a:off x="215591" y="2779932"/>
            <a:ext cx="8745530" cy="1457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zh-CN" altLang="en-US" sz="1200" b="1" dirty="0">
                <a:solidFill>
                  <a:srgbClr val="000000"/>
                </a:solidFill>
                <a:latin typeface="ui-sans-serif"/>
              </a:rPr>
              <a:t>断开连接</a:t>
            </a:r>
            <a:endParaRPr lang="zh-CN" altLang="en-US" sz="1200" b="1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触发事件：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BLE_GAP_EVT_DISCONN_COMPLETE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设备端处理：</a:t>
            </a: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停止 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HID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定时器：</a:t>
            </a:r>
            <a:r>
              <a:rPr lang="en-US" altLang="zh-CN" sz="1200" b="0" dirty="0" err="1">
                <a:solidFill>
                  <a:srgbClr val="000000"/>
                </a:solidFill>
                <a:effectLst/>
                <a:latin typeface="ui-monospace"/>
              </a:rPr>
              <a:t>hids_sw_timer_stop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  <a:endParaRPr lang="en-US" altLang="zh-CN" sz="1200" b="0" dirty="0">
              <a:solidFill>
                <a:srgbClr val="000000"/>
              </a:solidFill>
              <a:effectLst/>
              <a:latin typeface="ui-sans-serif"/>
            </a:endParaRPr>
          </a:p>
          <a:p>
            <a:pPr marL="628650" lvl="1" indent="-171450" algn="l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状态重置：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STATE_STANDBY</a:t>
            </a:r>
          </a:p>
          <a:p>
            <a:pPr algn="l">
              <a:lnSpc>
                <a:spcPts val="1800"/>
              </a:lnSpc>
              <a:buFont typeface="+mj-lt"/>
              <a:buAutoNum type="arabicPeriod"/>
            </a:pP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重新启动广播：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monospace"/>
              </a:rPr>
              <a:t>APP_REQUEST_ADV_START</a:t>
            </a:r>
            <a:r>
              <a:rPr lang="en-US" altLang="zh-CN" sz="1200" b="0" dirty="0">
                <a:solidFill>
                  <a:srgbClr val="000000"/>
                </a:solidFill>
                <a:effectLst/>
                <a:latin typeface="ui-sans-serif"/>
              </a:rPr>
              <a:t> → </a:t>
            </a:r>
            <a:r>
              <a:rPr lang="zh-CN" altLang="en-US" sz="1200" b="0" dirty="0">
                <a:solidFill>
                  <a:srgbClr val="000000"/>
                </a:solidFill>
                <a:effectLst/>
                <a:latin typeface="ui-sans-serif"/>
              </a:rPr>
              <a:t>回到广播阶段</a:t>
            </a:r>
          </a:p>
        </p:txBody>
      </p:sp>
    </p:spTree>
    <p:extLst>
      <p:ext uri="{BB962C8B-B14F-4D97-AF65-F5344CB8AC3E}">
        <p14:creationId xmlns:p14="http://schemas.microsoft.com/office/powerpoint/2010/main" val="22576803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CF7BE1-DA40-1DCC-D982-19667E624A97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altLang="zh-CN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HID-</a:t>
            </a:r>
            <a:r>
              <a:rPr lang="en-US" altLang="zh-CN" sz="2400" b="1" spc="-38" dirty="0" err="1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KeyBoard</a:t>
            </a:r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效果演示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770662260">
            <a:hlinkClick r:id="" action="ppaction://media"/>
            <a:extLst>
              <a:ext uri="{FF2B5EF4-FFF2-40B4-BE49-F238E27FC236}">
                <a16:creationId xmlns:a16="http://schemas.microsoft.com/office/drawing/2014/main" id="{2814E550-4202-E4A5-9343-67519BA6E2F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23415" y="682176"/>
            <a:ext cx="1700616" cy="3779147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DB111BF-B5D5-C8A1-B32C-0C5124530C38}"/>
              </a:ext>
            </a:extLst>
          </p:cNvPr>
          <p:cNvSpPr txBox="1"/>
          <p:nvPr/>
        </p:nvSpPr>
        <p:spPr>
          <a:xfrm>
            <a:off x="4114800" y="2114550"/>
            <a:ext cx="30612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该演示键盘做了</a:t>
            </a:r>
            <a:r>
              <a:rPr lang="en-US" altLang="zh-CN" dirty="0" err="1"/>
              <a:t>abc</a:t>
            </a:r>
            <a:r>
              <a:rPr lang="zh-CN" altLang="en-US" dirty="0"/>
              <a:t>三个按键码和左</a:t>
            </a:r>
            <a:r>
              <a:rPr lang="en-US" altLang="zh-CN" dirty="0"/>
              <a:t>shift</a:t>
            </a:r>
            <a:r>
              <a:rPr lang="zh-CN" altLang="en-US" dirty="0"/>
              <a:t>修饰键</a:t>
            </a:r>
          </a:p>
        </p:txBody>
      </p:sp>
    </p:spTree>
    <p:extLst>
      <p:ext uri="{BB962C8B-B14F-4D97-AF65-F5344CB8AC3E}">
        <p14:creationId xmlns:p14="http://schemas.microsoft.com/office/powerpoint/2010/main" val="42058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3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D31A727-7DFB-BEE8-C069-F2D72A1B15A0}"/>
              </a:ext>
            </a:extLst>
          </p:cNvPr>
          <p:cNvSpPr txBox="1"/>
          <p:nvPr/>
        </p:nvSpPr>
        <p:spPr>
          <a:xfrm>
            <a:off x="215591" y="770650"/>
            <a:ext cx="7531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/>
              <a:t>Q&amp;A</a:t>
            </a:r>
          </a:p>
          <a:p>
            <a:r>
              <a:rPr lang="zh-CN" altLang="en-US" sz="1200" b="1" dirty="0"/>
              <a:t>键盘连接手机正常，连接电脑不行</a:t>
            </a:r>
            <a:endParaRPr lang="en-US" altLang="zh-CN" sz="12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17627C6-57C9-0CE2-D98A-2D54D1D545C3}"/>
              </a:ext>
            </a:extLst>
          </p:cNvPr>
          <p:cNvSpPr txBox="1"/>
          <p:nvPr/>
        </p:nvSpPr>
        <p:spPr>
          <a:xfrm>
            <a:off x="215591" y="3420003"/>
            <a:ext cx="87455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/>
              <a:t>引用书籍</a:t>
            </a:r>
            <a:endParaRPr lang="en-US" altLang="zh-CN" sz="1200" b="1" dirty="0"/>
          </a:p>
          <a:p>
            <a:r>
              <a:rPr lang="en-US" altLang="zh-CN" sz="1200" dirty="0"/>
              <a:t>[1] Bluetooth Core Specification, Version 5.4 </a:t>
            </a:r>
          </a:p>
          <a:p>
            <a:r>
              <a:rPr lang="en-US" altLang="zh-CN" sz="1200" dirty="0"/>
              <a:t>[2] Qualification Program Reference Document</a:t>
            </a:r>
          </a:p>
          <a:p>
            <a:r>
              <a:rPr lang="en-US" altLang="zh-CN" sz="1200" dirty="0"/>
              <a:t>[3] ARM Cortex-M3</a:t>
            </a:r>
            <a:r>
              <a:rPr lang="zh-CN" altLang="en-US" sz="1200" dirty="0"/>
              <a:t>与</a:t>
            </a:r>
            <a:r>
              <a:rPr lang="en-US" altLang="zh-CN" sz="1200" dirty="0"/>
              <a:t>Cortex-M4</a:t>
            </a:r>
            <a:r>
              <a:rPr lang="zh-CN" altLang="en-US" sz="1200" dirty="0"/>
              <a:t>权威指南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AD12E8B7-7A87-EDF3-B192-D245F573E4C1}"/>
              </a:ext>
            </a:extLst>
          </p:cNvPr>
          <p:cNvSpPr txBox="1">
            <a:spLocks/>
          </p:cNvSpPr>
          <p:nvPr/>
        </p:nvSpPr>
        <p:spPr>
          <a:xfrm>
            <a:off x="215591" y="120567"/>
            <a:ext cx="8745530" cy="467115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zh-CN" altLang="en-US" sz="2400" b="1" spc="-38" dirty="0">
                <a:solidFill>
                  <a:srgbClr val="DFC27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问题及资料引用</a:t>
            </a:r>
            <a:endParaRPr lang="en-US" altLang="zh-TW" sz="2400" b="1" spc="-38" dirty="0">
              <a:solidFill>
                <a:srgbClr val="3D566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693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9765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30282</TotalTime>
  <Words>7279</Words>
  <Application>Microsoft Office PowerPoint</Application>
  <PresentationFormat>全屏显示(16:9)</PresentationFormat>
  <Paragraphs>512</Paragraphs>
  <Slides>51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4" baseType="lpstr">
      <vt:lpstr>Arial Unicode MS</vt:lpstr>
      <vt:lpstr>Inter</vt:lpstr>
      <vt:lpstr>Menlo</vt:lpstr>
      <vt:lpstr>ui-monospace</vt:lpstr>
      <vt:lpstr>ui-sans-serif</vt:lpstr>
      <vt:lpstr>ZapfDingbats</vt:lpstr>
      <vt:lpstr>等线</vt:lpstr>
      <vt:lpstr>Arial</vt:lpstr>
      <vt:lpstr>Calibri</vt:lpstr>
      <vt:lpstr>Consolas</vt:lpstr>
      <vt:lpstr>Courier New</vt:lpstr>
      <vt:lpstr>Symbol</vt:lpstr>
      <vt:lpstr>Office 佈景主題</vt:lpstr>
      <vt:lpstr>学习报告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公司新版政策語錄</dc:title>
  <dc:creator>KW31_陳柏廷(Point.Chen)</dc:creator>
  <cp:lastModifiedBy>梦 幽</cp:lastModifiedBy>
  <cp:revision>1199</cp:revision>
  <cp:lastPrinted>2023-11-14T06:51:44Z</cp:lastPrinted>
  <dcterms:created xsi:type="dcterms:W3CDTF">2021-05-06T16:03:29Z</dcterms:created>
  <dcterms:modified xsi:type="dcterms:W3CDTF">2026-01-27T09:51:15Z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1028-1.9.1.2994</vt:lpwstr>
  </property>
</Properties>
</file>