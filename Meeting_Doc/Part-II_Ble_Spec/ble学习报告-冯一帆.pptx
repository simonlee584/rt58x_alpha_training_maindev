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0"/>
  </p:notesMasterIdLst>
  <p:handoutMasterIdLst>
    <p:handoutMasterId r:id="rId61"/>
  </p:handoutMasterIdLst>
  <p:sldIdLst>
    <p:sldId id="721" r:id="rId2"/>
    <p:sldId id="720" r:id="rId3"/>
    <p:sldId id="722" r:id="rId4"/>
    <p:sldId id="723" r:id="rId5"/>
    <p:sldId id="724" r:id="rId6"/>
    <p:sldId id="725" r:id="rId7"/>
    <p:sldId id="726" r:id="rId8"/>
    <p:sldId id="727" r:id="rId9"/>
    <p:sldId id="728" r:id="rId10"/>
    <p:sldId id="729" r:id="rId11"/>
    <p:sldId id="730" r:id="rId12"/>
    <p:sldId id="731" r:id="rId13"/>
    <p:sldId id="732" r:id="rId14"/>
    <p:sldId id="733" r:id="rId15"/>
    <p:sldId id="734" r:id="rId16"/>
    <p:sldId id="735" r:id="rId17"/>
    <p:sldId id="736" r:id="rId18"/>
    <p:sldId id="737" r:id="rId19"/>
    <p:sldId id="738" r:id="rId20"/>
    <p:sldId id="754" r:id="rId21"/>
    <p:sldId id="739" r:id="rId22"/>
    <p:sldId id="740" r:id="rId23"/>
    <p:sldId id="741" r:id="rId24"/>
    <p:sldId id="755" r:id="rId25"/>
    <p:sldId id="742" r:id="rId26"/>
    <p:sldId id="743" r:id="rId27"/>
    <p:sldId id="746" r:id="rId28"/>
    <p:sldId id="770" r:id="rId29"/>
    <p:sldId id="747" r:id="rId30"/>
    <p:sldId id="771" r:id="rId31"/>
    <p:sldId id="749" r:id="rId32"/>
    <p:sldId id="750" r:id="rId33"/>
    <p:sldId id="756" r:id="rId34"/>
    <p:sldId id="751" r:id="rId35"/>
    <p:sldId id="752" r:id="rId36"/>
    <p:sldId id="753" r:id="rId37"/>
    <p:sldId id="772" r:id="rId38"/>
    <p:sldId id="773" r:id="rId39"/>
    <p:sldId id="774" r:id="rId40"/>
    <p:sldId id="775" r:id="rId41"/>
    <p:sldId id="776" r:id="rId42"/>
    <p:sldId id="777" r:id="rId43"/>
    <p:sldId id="764" r:id="rId44"/>
    <p:sldId id="757" r:id="rId45"/>
    <p:sldId id="758" r:id="rId46"/>
    <p:sldId id="759" r:id="rId47"/>
    <p:sldId id="765" r:id="rId48"/>
    <p:sldId id="760" r:id="rId49"/>
    <p:sldId id="778" r:id="rId50"/>
    <p:sldId id="779" r:id="rId51"/>
    <p:sldId id="780" r:id="rId52"/>
    <p:sldId id="781" r:id="rId53"/>
    <p:sldId id="766" r:id="rId54"/>
    <p:sldId id="761" r:id="rId55"/>
    <p:sldId id="762" r:id="rId56"/>
    <p:sldId id="768" r:id="rId57"/>
    <p:sldId id="769" r:id="rId58"/>
    <p:sldId id="719" r:id="rId59"/>
  </p:sldIdLst>
  <p:sldSz cx="9144000" cy="5143500" type="screen16x9"/>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DF0"/>
    <a:srgbClr val="0000CC"/>
    <a:srgbClr val="346E78"/>
    <a:srgbClr val="E7EEBA"/>
    <a:srgbClr val="96C9D2"/>
    <a:srgbClr val="C1E0E5"/>
    <a:srgbClr val="C24E4E"/>
    <a:srgbClr val="99B323"/>
    <a:srgbClr val="E8B128"/>
    <a:srgbClr val="AB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6" autoAdjust="0"/>
    <p:restoredTop sz="93219" autoAdjust="0"/>
  </p:normalViewPr>
  <p:slideViewPr>
    <p:cSldViewPr snapToGrid="0" snapToObjects="1">
      <p:cViewPr varScale="1">
        <p:scale>
          <a:sx n="128" d="100"/>
          <a:sy n="128" d="100"/>
        </p:scale>
        <p:origin x="368" y="80"/>
      </p:cViewPr>
      <p:guideLst/>
    </p:cSldViewPr>
  </p:slideViewPr>
  <p:notesTextViewPr>
    <p:cViewPr>
      <p:scale>
        <a:sx n="1" d="1"/>
        <a:sy n="1" d="1"/>
      </p:scale>
      <p:origin x="0" y="0"/>
    </p:cViewPr>
  </p:notesTextViewPr>
  <p:sorterViewPr>
    <p:cViewPr>
      <p:scale>
        <a:sx n="120" d="100"/>
        <a:sy n="120" d="100"/>
      </p:scale>
      <p:origin x="0" y="0"/>
    </p:cViewPr>
  </p:sorterViewPr>
  <p:notesViewPr>
    <p:cSldViewPr snapToGrid="0" snapToObjects="1">
      <p:cViewPr varScale="1">
        <p:scale>
          <a:sx n="61" d="100"/>
          <a:sy n="61" d="100"/>
        </p:scale>
        <p:origin x="3168" y="3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25F83C5B-193A-4BF8-A82E-7EEB60FC9D06}" type="datetimeFigureOut">
              <a:rPr lang="zh-TW" altLang="en-US" smtClean="0"/>
              <a:t>2026/2/5</a:t>
            </a:fld>
            <a:endParaRPr lang="zh-TW" altLang="en-US"/>
          </a:p>
        </p:txBody>
      </p:sp>
      <p:sp>
        <p:nvSpPr>
          <p:cNvPr id="4" name="頁尾版面配置區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BAFA2EFD-17CF-42D6-A0C8-2B54CA1B5FB2}" type="slidenum">
              <a:rPr lang="zh-TW" altLang="en-US" smtClean="0"/>
              <a:t>‹#›</a:t>
            </a:fld>
            <a:endParaRPr lang="zh-TW" altLang="en-US"/>
          </a:p>
        </p:txBody>
      </p:sp>
    </p:spTree>
    <p:extLst>
      <p:ext uri="{BB962C8B-B14F-4D97-AF65-F5344CB8AC3E}">
        <p14:creationId xmlns:p14="http://schemas.microsoft.com/office/powerpoint/2010/main" val="31355376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B36A0AF-27EE-2F44-8E2A-D118AC8FD312}" type="datetimeFigureOut">
              <a:rPr lang="en-US" smtClean="0"/>
              <a:t>2/5/2026</a:t>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5FF2086-D505-2D44-8947-B67946DAFD09}" type="slidenum">
              <a:rPr lang="en-US" smtClean="0"/>
              <a:t>‹#›</a:t>
            </a:fld>
            <a:endParaRPr lang="en-US"/>
          </a:p>
        </p:txBody>
      </p:sp>
    </p:spTree>
    <p:extLst>
      <p:ext uri="{BB962C8B-B14F-4D97-AF65-F5344CB8AC3E}">
        <p14:creationId xmlns:p14="http://schemas.microsoft.com/office/powerpoint/2010/main" val="3741528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圖片 3" descr="畫面剪輯"/>
          <p:cNvPicPr>
            <a:picLocks/>
          </p:cNvPicPr>
          <p:nvPr userDrawn="1"/>
        </p:nvPicPr>
        <p:blipFill rotWithShape="1">
          <a:blip r:embed="rId2">
            <a:extLst>
              <a:ext uri="{28A0092B-C50C-407E-A947-70E740481C1C}">
                <a14:useLocalDpi xmlns:a14="http://schemas.microsoft.com/office/drawing/2010/main" val="0"/>
              </a:ext>
            </a:extLst>
          </a:blip>
          <a:srcRect l="245" t="648" r="542" b="24906"/>
          <a:stretch/>
        </p:blipFill>
        <p:spPr>
          <a:xfrm>
            <a:off x="0" y="-2250"/>
            <a:ext cx="9144000" cy="5148000"/>
          </a:xfrm>
          <a:prstGeom prst="rect">
            <a:avLst/>
          </a:prstGeom>
        </p:spPr>
      </p:pic>
      <p:sp>
        <p:nvSpPr>
          <p:cNvPr id="11" name="矩形 10"/>
          <p:cNvSpPr/>
          <p:nvPr userDrawn="1"/>
        </p:nvSpPr>
        <p:spPr>
          <a:xfrm>
            <a:off x="0" y="-2250"/>
            <a:ext cx="9144000" cy="5148000"/>
          </a:xfrm>
          <a:prstGeom prst="rect">
            <a:avLst/>
          </a:prstGeom>
          <a:solidFill>
            <a:schemeClr val="tx1">
              <a:lumMod val="75000"/>
              <a:lumOff val="25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userDrawn="1"/>
        </p:nvSpPr>
        <p:spPr>
          <a:xfrm>
            <a:off x="4571964" y="2970854"/>
            <a:ext cx="3888134" cy="1550031"/>
          </a:xfrm>
          <a:prstGeom prst="rect">
            <a:avLst/>
          </a:prstGeom>
        </p:spPr>
        <p:txBody>
          <a:bodyPr wrap="square" lIns="36000" tIns="36000" rIns="36000" bIns="36000" anchor="ctr">
            <a:spAutoFit/>
          </a:bodyPr>
          <a:lstStyle/>
          <a:p>
            <a:pPr marL="0" indent="0" algn="just">
              <a:lnSpc>
                <a:spcPct val="120000"/>
              </a:lnSpc>
              <a:buFont typeface="Arial" panose="020B0604020202020204" pitchFamily="34" charset="0"/>
              <a:buNone/>
            </a:pPr>
            <a:r>
              <a:rPr lang="en-US" sz="1000" dirty="0" err="1">
                <a:solidFill>
                  <a:schemeClr val="bg2">
                    <a:lumMod val="75000"/>
                    <a:alpha val="50000"/>
                  </a:schemeClr>
                </a:solidFill>
                <a:latin typeface="Calibri" panose="020F0502020204030204" pitchFamily="34" charset="0"/>
                <a:cs typeface="Calibri" panose="020F0502020204030204" pitchFamily="34" charset="0"/>
              </a:rPr>
              <a:t>Michaelango</a:t>
            </a:r>
            <a:r>
              <a:rPr lang="en-US" sz="1000" dirty="0">
                <a:solidFill>
                  <a:schemeClr val="bg2">
                    <a:lumMod val="75000"/>
                    <a:alpha val="50000"/>
                  </a:schemeClr>
                </a:solidFill>
                <a:latin typeface="Calibri" panose="020F0502020204030204" pitchFamily="34" charset="0"/>
                <a:cs typeface="Calibri" panose="020F0502020204030204" pitchFamily="34" charset="0"/>
              </a:rPr>
              <a:t>, Leonardo da Vinci and Rafael (</a:t>
            </a:r>
            <a:r>
              <a:rPr lang="en-US" sz="1000" dirty="0" err="1">
                <a:solidFill>
                  <a:schemeClr val="bg2">
                    <a:lumMod val="75000"/>
                    <a:alpha val="50000"/>
                  </a:schemeClr>
                </a:solidFill>
                <a:latin typeface="Calibri" panose="020F0502020204030204" pitchFamily="34" charset="0"/>
                <a:cs typeface="Calibri" panose="020F0502020204030204" pitchFamily="34" charset="0"/>
              </a:rPr>
              <a:t>Raffaello</a:t>
            </a:r>
            <a:r>
              <a:rPr lang="en-US" sz="1000" dirty="0">
                <a:solidFill>
                  <a:schemeClr val="bg2">
                    <a:lumMod val="75000"/>
                    <a:alpha val="50000"/>
                  </a:schemeClr>
                </a:solidFill>
                <a:latin typeface="Calibri" panose="020F0502020204030204" pitchFamily="34" charset="0"/>
                <a:cs typeface="Calibri" panose="020F0502020204030204" pitchFamily="34" charset="0"/>
              </a:rPr>
              <a:t> </a:t>
            </a:r>
            <a:r>
              <a:rPr lang="en-US" sz="1000" dirty="0" err="1">
                <a:solidFill>
                  <a:schemeClr val="bg2">
                    <a:lumMod val="75000"/>
                    <a:alpha val="50000"/>
                  </a:schemeClr>
                </a:solidFill>
                <a:latin typeface="Calibri" panose="020F0502020204030204" pitchFamily="34" charset="0"/>
                <a:cs typeface="Calibri" panose="020F0502020204030204" pitchFamily="34" charset="0"/>
              </a:rPr>
              <a:t>Sanzio</a:t>
            </a:r>
            <a:r>
              <a:rPr lang="en-US" sz="1000" dirty="0">
                <a:solidFill>
                  <a:schemeClr val="bg2">
                    <a:lumMod val="75000"/>
                    <a:alpha val="50000"/>
                  </a:schemeClr>
                </a:solidFill>
                <a:latin typeface="Calibri" panose="020F0502020204030204" pitchFamily="34" charset="0"/>
                <a:cs typeface="Calibri" panose="020F0502020204030204" pitchFamily="34" charset="0"/>
              </a:rPr>
              <a:t> in Italian) are the famous three Masters of the Italian Renaissance.</a:t>
            </a: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They creatively excelled in both science and art so their works influenced the future of Western culture.</a:t>
            </a: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Radio frequency technology is commonly called RF thus we have adopted Rafael’s name for its R and F.</a:t>
            </a:r>
          </a:p>
        </p:txBody>
      </p:sp>
      <p:sp>
        <p:nvSpPr>
          <p:cNvPr id="14" name="標題 83"/>
          <p:cNvSpPr>
            <a:spLocks noGrp="1"/>
          </p:cNvSpPr>
          <p:nvPr>
            <p:ph type="title" hasCustomPrompt="1"/>
          </p:nvPr>
        </p:nvSpPr>
        <p:spPr>
          <a:xfrm>
            <a:off x="679939" y="1401972"/>
            <a:ext cx="7200000" cy="396000"/>
          </a:xfrm>
          <a:prstGeom prst="rect">
            <a:avLst/>
          </a:prstGeom>
        </p:spPr>
        <p:txBody>
          <a:bodyPr lIns="36000" tIns="36000" rIns="36000" bIns="36000" anchor="ctr"/>
          <a:lstStyle>
            <a:lvl1pPr>
              <a:defRPr sz="2400" b="1" i="0" baseline="0">
                <a:solidFill>
                  <a:schemeClr val="bg1"/>
                </a:solidFill>
                <a:latin typeface="Calibri" panose="020F0502020204030204" pitchFamily="34" charset="0"/>
                <a:ea typeface="新細明體" panose="02020500000000000000" pitchFamily="18" charset="-120"/>
                <a:cs typeface="Calibri" panose="020F0502020204030204" pitchFamily="34" charset="0"/>
              </a:defRPr>
            </a:lvl1pPr>
          </a:lstStyle>
          <a:p>
            <a:r>
              <a:rPr lang="en-US" altLang="zh-TW" dirty="0"/>
              <a:t>Edit Report Title</a:t>
            </a:r>
            <a:endParaRPr lang="zh-TW" altLang="en-US" dirty="0"/>
          </a:p>
        </p:txBody>
      </p:sp>
      <p:sp>
        <p:nvSpPr>
          <p:cNvPr id="15" name="文字版面配置區 31"/>
          <p:cNvSpPr>
            <a:spLocks noGrp="1"/>
          </p:cNvSpPr>
          <p:nvPr>
            <p:ph type="body" sz="quarter" idx="23" hasCustomPrompt="1"/>
          </p:nvPr>
        </p:nvSpPr>
        <p:spPr>
          <a:xfrm>
            <a:off x="1748253" y="4228170"/>
            <a:ext cx="1800000" cy="288000"/>
          </a:xfrm>
          <a:prstGeom prst="rect">
            <a:avLst/>
          </a:prstGeom>
        </p:spPr>
        <p:txBody>
          <a:bodyPr lIns="36000" tIns="36000" rIns="36000" bIns="36000" anchor="ctr"/>
          <a:lstStyle>
            <a:lvl1pPr marL="0" indent="0" algn="l">
              <a:buFontTx/>
              <a:buNone/>
              <a:defRPr lang="zh-TW" altLang="en-US" sz="1000" b="0" baseline="0" dirty="0">
                <a:solidFill>
                  <a:srgbClr val="E9CA7F"/>
                </a:solidFill>
                <a:latin typeface="Calibri" panose="020F0502020204030204" pitchFamily="34" charset="0"/>
                <a:ea typeface="新細明體" panose="02020500000000000000" pitchFamily="18" charset="-120"/>
                <a:cs typeface="Calibri" panose="020F0502020204030204" pitchFamily="34" charset="0"/>
              </a:defRPr>
            </a:lvl1pPr>
          </a:lstStyle>
          <a:p>
            <a:pPr lvl="0">
              <a:spcBef>
                <a:spcPct val="0"/>
              </a:spcBef>
              <a:buNone/>
            </a:pPr>
            <a:r>
              <a:rPr lang="en-US" altLang="zh-TW" dirty="0"/>
              <a:t>MMM-DD-YYYY</a:t>
            </a:r>
            <a:endParaRPr lang="zh-TW" altLang="en-US" dirty="0"/>
          </a:p>
        </p:txBody>
      </p:sp>
      <p:sp>
        <p:nvSpPr>
          <p:cNvPr id="20" name="文字版面配置區 31"/>
          <p:cNvSpPr>
            <a:spLocks noGrp="1"/>
          </p:cNvSpPr>
          <p:nvPr>
            <p:ph type="body" sz="quarter" idx="24" hasCustomPrompt="1"/>
          </p:nvPr>
        </p:nvSpPr>
        <p:spPr>
          <a:xfrm>
            <a:off x="1748253" y="3835302"/>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新細明體" panose="02020500000000000000" pitchFamily="18" charset="-120"/>
                <a:cs typeface="Calibri" panose="020F0502020204030204" pitchFamily="34" charset="0"/>
              </a:defRPr>
            </a:lvl1pPr>
          </a:lstStyle>
          <a:p>
            <a:pPr lvl="0">
              <a:spcBef>
                <a:spcPct val="0"/>
              </a:spcBef>
              <a:buNone/>
            </a:pPr>
            <a:r>
              <a:rPr lang="en-US" altLang="zh-TW" dirty="0"/>
              <a:t>Name / Title</a:t>
            </a:r>
          </a:p>
        </p:txBody>
      </p:sp>
      <p:sp>
        <p:nvSpPr>
          <p:cNvPr id="21" name="文字版面配置區 31"/>
          <p:cNvSpPr>
            <a:spLocks noGrp="1"/>
          </p:cNvSpPr>
          <p:nvPr>
            <p:ph type="body" sz="quarter" idx="20" hasCustomPrompt="1"/>
          </p:nvPr>
        </p:nvSpPr>
        <p:spPr>
          <a:xfrm>
            <a:off x="1748253" y="3049564"/>
            <a:ext cx="1800000" cy="288000"/>
          </a:xfrm>
          <a:prstGeom prst="rect">
            <a:avLst/>
          </a:prstGeom>
        </p:spPr>
        <p:txBody>
          <a:bodyPr lIns="36000" tIns="36000" rIns="36000" bIns="36000" anchor="ctr"/>
          <a:lstStyle>
            <a:lvl1pPr marL="0" indent="0" algn="l">
              <a:buFontTx/>
              <a:buNone/>
              <a:defRPr lang="en-US" altLang="zh-TW" sz="1000" b="0" kern="1200" baseline="0" dirty="0">
                <a:solidFill>
                  <a:srgbClr val="E9CA7F"/>
                </a:solidFill>
                <a:latin typeface="Calibri" panose="020F0502020204030204" pitchFamily="34" charset="0"/>
                <a:ea typeface="新細明體" panose="02020500000000000000" pitchFamily="18" charset="-120"/>
                <a:cs typeface="Calibri" panose="020F0502020204030204" pitchFamily="34" charset="0"/>
              </a:defRPr>
            </a:lvl1pPr>
          </a:lstStyle>
          <a:p>
            <a:pPr lvl="0">
              <a:spcBef>
                <a:spcPct val="0"/>
              </a:spcBef>
              <a:buNone/>
            </a:pPr>
            <a:r>
              <a:rPr lang="en-US" altLang="zh-TW" dirty="0"/>
              <a:t>Name / Title</a:t>
            </a:r>
          </a:p>
        </p:txBody>
      </p:sp>
      <p:sp>
        <p:nvSpPr>
          <p:cNvPr id="22" name="文字版面配置區 31"/>
          <p:cNvSpPr>
            <a:spLocks noGrp="1"/>
          </p:cNvSpPr>
          <p:nvPr>
            <p:ph type="body" sz="quarter" idx="21" hasCustomPrompt="1"/>
          </p:nvPr>
        </p:nvSpPr>
        <p:spPr>
          <a:xfrm>
            <a:off x="1748253" y="3442433"/>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新細明體" panose="02020500000000000000" pitchFamily="18" charset="-120"/>
                <a:cs typeface="Calibri" panose="020F0502020204030204" pitchFamily="34" charset="0"/>
              </a:defRPr>
            </a:lvl1pPr>
          </a:lstStyle>
          <a:p>
            <a:pPr lvl="0">
              <a:spcBef>
                <a:spcPct val="0"/>
              </a:spcBef>
              <a:buNone/>
            </a:pPr>
            <a:r>
              <a:rPr lang="en-US" altLang="zh-TW" dirty="0"/>
              <a:t>Name / Title</a:t>
            </a:r>
          </a:p>
        </p:txBody>
      </p:sp>
      <p:sp>
        <p:nvSpPr>
          <p:cNvPr id="24" name="Rectangle 15"/>
          <p:cNvSpPr/>
          <p:nvPr userDrawn="1"/>
        </p:nvSpPr>
        <p:spPr>
          <a:xfrm>
            <a:off x="679939" y="3070994"/>
            <a:ext cx="864587" cy="245058"/>
          </a:xfrm>
          <a:prstGeom prst="rect">
            <a:avLst/>
          </a:prstGeom>
        </p:spPr>
        <p:txBody>
          <a:bodyPr wrap="none" lIns="36000" tIns="36000" rIns="36000" bIns="36000" anchor="ctr">
            <a:spAutoFit/>
          </a:bodyPr>
          <a:lstStyle/>
          <a:p>
            <a:pPr marL="0" marR="0" indent="0" algn="l" defTabSz="685800" rtl="0" eaLnBrk="1" fontAlgn="auto" latinLnBrk="0" hangingPunct="1">
              <a:lnSpc>
                <a:spcPct val="120000"/>
              </a:lnSpc>
              <a:spcBef>
                <a:spcPts val="0"/>
              </a:spcBef>
              <a:spcAft>
                <a:spcPts val="0"/>
              </a:spcAft>
              <a:buClrTx/>
              <a:buSzTx/>
              <a:buFontTx/>
              <a:buNone/>
              <a:tabLst/>
              <a:defRPr/>
            </a:pPr>
            <a:r>
              <a:rPr lang="en-US" altLang="zh-TW" sz="1000" b="1" kern="1200" dirty="0">
                <a:solidFill>
                  <a:srgbClr val="F3F3F3"/>
                </a:solidFill>
                <a:latin typeface="Calibri" panose="020F0502020204030204" pitchFamily="34" charset="0"/>
                <a:ea typeface="微軟正黑體" panose="020B0604030504040204" pitchFamily="34" charset="-120"/>
                <a:cs typeface="Calibri" panose="020F0502020204030204" pitchFamily="34" charset="0"/>
              </a:rPr>
              <a:t>Presented by : </a:t>
            </a:r>
            <a:endParaRPr lang="en-US" altLang="zh-TW" sz="1000" b="1" kern="1200" dirty="0">
              <a:solidFill>
                <a:srgbClr val="F3F3F3"/>
              </a:solidFill>
              <a:latin typeface="Calibri" panose="020F0502020204030204" pitchFamily="34" charset="0"/>
              <a:ea typeface="Arial" charset="0"/>
              <a:cs typeface="Calibri" panose="020F0502020204030204" pitchFamily="34" charset="0"/>
            </a:endParaRPr>
          </a:p>
        </p:txBody>
      </p:sp>
      <p:sp>
        <p:nvSpPr>
          <p:cNvPr id="25" name="Rectangle 15"/>
          <p:cNvSpPr/>
          <p:nvPr userDrawn="1"/>
        </p:nvSpPr>
        <p:spPr>
          <a:xfrm>
            <a:off x="679939" y="3450348"/>
            <a:ext cx="846954" cy="257369"/>
          </a:xfrm>
          <a:prstGeom prst="rect">
            <a:avLst/>
          </a:prstGeom>
        </p:spPr>
        <p:txBody>
          <a:bodyPr wrap="none" lIns="36000" tIns="36000" rIns="36000" bIns="36000" anchor="ctr">
            <a:spAutoFit/>
          </a:bodyPr>
          <a:lstStyle/>
          <a:p>
            <a:pPr marR="0" lvl="0" indent="0" algn="l" defTabSz="685800" fontAlgn="auto">
              <a:lnSpc>
                <a:spcPct val="120000"/>
              </a:lnSpc>
              <a:spcBef>
                <a:spcPts val="0"/>
              </a:spcBef>
              <a:spcAft>
                <a:spcPts val="0"/>
              </a:spcAft>
              <a:buClrTx/>
              <a:buSzTx/>
              <a:buFontTx/>
              <a:buNone/>
              <a:tabLst/>
            </a:pPr>
            <a:r>
              <a:rPr lang="en-US" altLang="zh-TW" sz="1000" b="1" dirty="0">
                <a:solidFill>
                  <a:srgbClr val="F3F3F3"/>
                </a:solidFill>
                <a:latin typeface="Calibri" panose="020F0502020204030204" pitchFamily="34" charset="0"/>
                <a:ea typeface="微軟正黑體" panose="020B0604030504040204" pitchFamily="34" charset="-120"/>
                <a:cs typeface="Calibri" panose="020F0502020204030204" pitchFamily="34" charset="0"/>
              </a:rPr>
              <a:t>Reviewed by :</a:t>
            </a:r>
            <a:r>
              <a:rPr lang="en-US" altLang="zh-TW" sz="1000" b="1" baseline="0" dirty="0">
                <a:solidFill>
                  <a:srgbClr val="F3F3F3"/>
                </a:solidFill>
                <a:latin typeface="Calibri" panose="020F0502020204030204" pitchFamily="34" charset="0"/>
                <a:ea typeface="微軟正黑體" panose="020B0604030504040204" pitchFamily="34" charset="-120"/>
                <a:cs typeface="Calibri" panose="020F0502020204030204" pitchFamily="34" charset="0"/>
              </a:rPr>
              <a:t> </a:t>
            </a:r>
            <a:endParaRPr lang="en-US" altLang="zh-TW" sz="1000" b="1" dirty="0">
              <a:solidFill>
                <a:srgbClr val="F3F3F3"/>
              </a:solidFill>
              <a:latin typeface="Calibri" panose="020F0502020204030204" pitchFamily="34" charset="0"/>
              <a:ea typeface="微軟正黑體" panose="020B0604030504040204" pitchFamily="34" charset="-120"/>
              <a:cs typeface="Calibri" panose="020F0502020204030204" pitchFamily="34" charset="0"/>
            </a:endParaRPr>
          </a:p>
        </p:txBody>
      </p:sp>
      <p:sp>
        <p:nvSpPr>
          <p:cNvPr id="26" name="Rectangle 17"/>
          <p:cNvSpPr/>
          <p:nvPr userDrawn="1"/>
        </p:nvSpPr>
        <p:spPr>
          <a:xfrm>
            <a:off x="679939" y="3843230"/>
            <a:ext cx="741156"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tabLst/>
              <a:defRPr/>
            </a:pPr>
            <a:r>
              <a:rPr lang="en-US" altLang="zh-TW" sz="1000" b="1" kern="1200" dirty="0">
                <a:solidFill>
                  <a:srgbClr val="F3F3F3"/>
                </a:solidFill>
                <a:latin typeface="Calibri" panose="020F0502020204030204" pitchFamily="34" charset="0"/>
                <a:ea typeface="微軟正黑體" panose="020B0604030504040204" pitchFamily="34" charset="-120"/>
                <a:cs typeface="Calibri" panose="020F0502020204030204" pitchFamily="34" charset="0"/>
              </a:rPr>
              <a:t>Created by : </a:t>
            </a:r>
          </a:p>
        </p:txBody>
      </p:sp>
      <p:sp>
        <p:nvSpPr>
          <p:cNvPr id="27" name="Rectangle 18"/>
          <p:cNvSpPr/>
          <p:nvPr userDrawn="1"/>
        </p:nvSpPr>
        <p:spPr>
          <a:xfrm>
            <a:off x="679939" y="4243485"/>
            <a:ext cx="1119465"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tabLst/>
              <a:defRPr/>
            </a:pPr>
            <a:r>
              <a:rPr lang="en-US" altLang="zh-TW" sz="1000" b="1" kern="1200" dirty="0">
                <a:solidFill>
                  <a:srgbClr val="F3F3F3"/>
                </a:solidFill>
                <a:latin typeface="Calibri" panose="020F0502020204030204" pitchFamily="34" charset="0"/>
                <a:ea typeface="微軟正黑體" panose="020B0604030504040204" pitchFamily="34" charset="-120"/>
                <a:cs typeface="Calibri" panose="020F0502020204030204" pitchFamily="34" charset="0"/>
              </a:rPr>
              <a:t>Presentation date : </a:t>
            </a:r>
            <a:endParaRPr lang="zh-TW" altLang="en-US" sz="1000" b="1" kern="1200" dirty="0">
              <a:solidFill>
                <a:srgbClr val="F3F3F3"/>
              </a:solidFill>
              <a:latin typeface="Calibri" panose="020F0502020204030204" pitchFamily="34" charset="0"/>
              <a:ea typeface="微軟正黑體" panose="020B0604030504040204" pitchFamily="34" charset="-120"/>
              <a:cs typeface="Calibri" panose="020F0502020204030204" pitchFamily="34" charset="0"/>
            </a:endParaRPr>
          </a:p>
        </p:txBody>
      </p:sp>
      <p:pic>
        <p:nvPicPr>
          <p:cNvPr id="30" name="圖片 29"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p:blipFill>
        <p:spPr>
          <a:xfrm>
            <a:off x="679939" y="758664"/>
            <a:ext cx="1338182" cy="360000"/>
          </a:xfrm>
          <a:prstGeom prst="rect">
            <a:avLst/>
          </a:prstGeom>
        </p:spPr>
      </p:pic>
      <p:sp>
        <p:nvSpPr>
          <p:cNvPr id="31" name="框架 30"/>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圖片 1"/>
          <p:cNvPicPr>
            <a:picLocks/>
          </p:cNvPicPr>
          <p:nvPr userDrawn="1"/>
        </p:nvPicPr>
        <p:blipFill rotWithShape="1">
          <a:blip r:embed="rId2">
            <a:extLst>
              <a:ext uri="{28A0092B-C50C-407E-A947-70E740481C1C}">
                <a14:useLocalDpi xmlns:a14="http://schemas.microsoft.com/office/drawing/2010/main" val="0"/>
              </a:ext>
            </a:extLst>
          </a:blip>
          <a:srcRect l="1429" r="9250"/>
          <a:stretch/>
        </p:blipFill>
        <p:spPr bwMode="auto">
          <a:xfrm>
            <a:off x="0" y="-2250"/>
            <a:ext cx="9144000" cy="51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userDrawn="1"/>
        </p:nvSpPr>
        <p:spPr>
          <a:xfrm>
            <a:off x="0" y="-2250"/>
            <a:ext cx="9144000" cy="5148000"/>
          </a:xfrm>
          <a:prstGeom prst="rect">
            <a:avLst/>
          </a:prstGeom>
          <a:solidFill>
            <a:schemeClr val="tx1">
              <a:lumMod val="75000"/>
              <a:lumOff val="25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框架 4"/>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圖片 6"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p:blipFill>
        <p:spPr>
          <a:xfrm>
            <a:off x="679939" y="758664"/>
            <a:ext cx="1338182" cy="360000"/>
          </a:xfrm>
          <a:prstGeom prst="rect">
            <a:avLst/>
          </a:prstGeom>
        </p:spPr>
      </p:pic>
      <p:sp>
        <p:nvSpPr>
          <p:cNvPr id="8" name="標題 9"/>
          <p:cNvSpPr txBox="1">
            <a:spLocks/>
          </p:cNvSpPr>
          <p:nvPr userDrawn="1"/>
        </p:nvSpPr>
        <p:spPr>
          <a:xfrm>
            <a:off x="2772000" y="2283750"/>
            <a:ext cx="3600000" cy="576000"/>
          </a:xfrm>
          <a:prstGeom prst="rect">
            <a:avLst/>
          </a:prstGeom>
        </p:spPr>
        <p:txBody>
          <a:bodyPr lIns="0" tIns="0" rIns="0" bIns="0" anchor="ctr"/>
          <a:lstStyle>
            <a:lvl1pPr algn="l" defTabSz="914400" rtl="0" eaLnBrk="1" latinLnBrk="0" hangingPunct="1">
              <a:lnSpc>
                <a:spcPct val="90000"/>
              </a:lnSpc>
              <a:spcBef>
                <a:spcPct val="0"/>
              </a:spcBef>
              <a:buNone/>
              <a:defRPr sz="2400" b="1" i="0" kern="1200" baseline="0">
                <a:solidFill>
                  <a:schemeClr val="tx1"/>
                </a:solidFill>
                <a:latin typeface="Calibri" panose="020F0502020204030204" pitchFamily="34" charset="0"/>
                <a:ea typeface="新細明體" panose="02020500000000000000" pitchFamily="18" charset="-120"/>
                <a:cs typeface="+mj-cs"/>
              </a:defRPr>
            </a:lvl1pPr>
          </a:lstStyle>
          <a:p>
            <a:pPr algn="ctr"/>
            <a:r>
              <a:rPr lang="en-US" altLang="zh-TW" sz="1800" b="1" dirty="0">
                <a:solidFill>
                  <a:schemeClr val="bg1"/>
                </a:solidFill>
                <a:effectLst/>
                <a:latin typeface="ZapfDingbats" pitchFamily="18"/>
              </a:rPr>
              <a:t>Thank You</a:t>
            </a:r>
          </a:p>
        </p:txBody>
      </p:sp>
      <p:sp>
        <p:nvSpPr>
          <p:cNvPr id="9" name="矩形 8"/>
          <p:cNvSpPr/>
          <p:nvPr userDrawn="1"/>
        </p:nvSpPr>
        <p:spPr>
          <a:xfrm>
            <a:off x="1162125" y="3375855"/>
            <a:ext cx="6819752" cy="215444"/>
          </a:xfrm>
          <a:prstGeom prst="rect">
            <a:avLst/>
          </a:prstGeom>
        </p:spPr>
        <p:txBody>
          <a:bodyPr wrap="none" lIns="0" tIns="0" rIns="0" bIns="0" anchor="ctr" anchorCtr="0">
            <a:spAutoFit/>
          </a:bodyPr>
          <a:lstStyle/>
          <a:p>
            <a:pPr lvl="0" algn="ctr"/>
            <a:r>
              <a:rPr lang="en-US" altLang="zh-TW" sz="1400" dirty="0">
                <a:solidFill>
                  <a:srgbClr val="E8B128"/>
                </a:solidFill>
                <a:latin typeface="Calibri" panose="020F0502020204030204" pitchFamily="34" charset="0"/>
                <a:cs typeface="Calibri" panose="020F0502020204030204" pitchFamily="34" charset="0"/>
              </a:rPr>
              <a:t>Rafael</a:t>
            </a:r>
            <a:r>
              <a:rPr lang="en-US" altLang="zh-TW" sz="1400" baseline="0" dirty="0">
                <a:solidFill>
                  <a:srgbClr val="E8B128"/>
                </a:solidFill>
                <a:latin typeface="Calibri" panose="020F0502020204030204" pitchFamily="34" charset="0"/>
                <a:cs typeface="Calibri" panose="020F0502020204030204" pitchFamily="34" charset="0"/>
              </a:rPr>
              <a:t> </a:t>
            </a:r>
            <a:r>
              <a:rPr lang="en-US" altLang="zh-TW" sz="1400" baseline="0" dirty="0">
                <a:solidFill>
                  <a:srgbClr val="99B323"/>
                </a:solidFill>
                <a:latin typeface="Calibri" panose="020F0502020204030204" pitchFamily="34" charset="0"/>
                <a:cs typeface="Calibri" panose="020F0502020204030204" pitchFamily="34" charset="0"/>
              </a:rPr>
              <a:t>Micro</a:t>
            </a:r>
            <a:r>
              <a:rPr lang="en-US" altLang="zh-TW" sz="1000" dirty="0">
                <a:solidFill>
                  <a:srgbClr val="D3D4D6"/>
                </a:solidFill>
                <a:latin typeface="Calibri" panose="020F0502020204030204" pitchFamily="34" charset="0"/>
                <a:cs typeface="Calibri" panose="020F0502020204030204" pitchFamily="34" charset="0"/>
              </a:rPr>
              <a:t> </a:t>
            </a:r>
            <a:r>
              <a:rPr lang="en-US" altLang="zh-TW" sz="1000" kern="1200" dirty="0">
                <a:solidFill>
                  <a:schemeClr val="bg2">
                    <a:lumMod val="75000"/>
                    <a:alpha val="50000"/>
                  </a:schemeClr>
                </a:solidFill>
                <a:latin typeface="Calibri" panose="020F0502020204030204" pitchFamily="34" charset="0"/>
                <a:ea typeface="+mn-ea"/>
                <a:cs typeface="Calibri" panose="020F0502020204030204" pitchFamily="34" charset="0"/>
              </a:rPr>
              <a:t>create RF integrated circuits with this same aspiration by continuously pursuing innovation and unique creativity.</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投影片編號版面配置區 3"/>
          <p:cNvSpPr txBox="1">
            <a:spLocks/>
          </p:cNvSpPr>
          <p:nvPr userDrawn="1"/>
        </p:nvSpPr>
        <p:spPr>
          <a:xfrm>
            <a:off x="390123" y="4914968"/>
            <a:ext cx="129597"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新細明體" panose="02020500000000000000" pitchFamily="18" charset="-120"/>
              </a:defRPr>
            </a:lvl1pPr>
          </a:lstStyle>
          <a:p>
            <a:pPr lvl="0" algn="ctr"/>
            <a:r>
              <a:rPr lang="en-US" altLang="zh-TW" sz="700" baseline="0" dirty="0">
                <a:solidFill>
                  <a:schemeClr val="bg1">
                    <a:lumMod val="65000"/>
                  </a:schemeClr>
                </a:solidFill>
                <a:latin typeface="Calibri" panose="020F0502020204030204" pitchFamily="34" charset="0"/>
                <a:cs typeface="Calibri" panose="020F0502020204030204" pitchFamily="34" charset="0"/>
              </a:rPr>
              <a:t>29</a:t>
            </a:r>
            <a:r>
              <a:rPr lang="zh-TW" altLang="en-US" sz="700" baseline="0" dirty="0">
                <a:solidFill>
                  <a:schemeClr val="bg1">
                    <a:lumMod val="65000"/>
                  </a:schemeClr>
                </a:solidFill>
                <a:latin typeface="Calibri" panose="020F0502020204030204" pitchFamily="34" charset="0"/>
                <a:cs typeface="Calibri" panose="020F0502020204030204" pitchFamily="34" charset="0"/>
              </a:rPr>
              <a:t> </a:t>
            </a:r>
          </a:p>
        </p:txBody>
      </p:sp>
      <p:sp>
        <p:nvSpPr>
          <p:cNvPr id="34" name="Text Box 19"/>
          <p:cNvSpPr txBox="1">
            <a:spLocks noChangeArrowheads="1"/>
          </p:cNvSpPr>
          <p:nvPr userDrawn="1"/>
        </p:nvSpPr>
        <p:spPr bwMode="auto">
          <a:xfrm>
            <a:off x="7609030" y="4914968"/>
            <a:ext cx="1282970" cy="195814"/>
          </a:xfrm>
          <a:prstGeom prst="rect">
            <a:avLst/>
          </a:prstGeom>
          <a:noFill/>
          <a:ln>
            <a:noFill/>
          </a:ln>
          <a:effectLst/>
        </p:spPr>
        <p:txBody>
          <a:bodyPr wrap="none" lIns="36000" tIns="36000" rIns="36000" bIns="36000" anchor="ctr">
            <a:spAutoFit/>
          </a:bodyPr>
          <a:lstStyle>
            <a:lvl1pPr eaLnBrk="0" hangingPunct="0">
              <a:defRPr kumimoji="1" sz="3600">
                <a:solidFill>
                  <a:schemeClr val="tx1"/>
                </a:solidFill>
                <a:latin typeface="Arial" charset="0"/>
                <a:ea typeface="新細明體" pitchFamily="18" charset="-120"/>
              </a:defRPr>
            </a:lvl1pPr>
            <a:lvl2pPr marL="742950" indent="-285750" eaLnBrk="0" hangingPunct="0">
              <a:defRPr kumimoji="1" sz="3600">
                <a:solidFill>
                  <a:schemeClr val="tx1"/>
                </a:solidFill>
                <a:latin typeface="Arial" charset="0"/>
                <a:ea typeface="新細明體" pitchFamily="18" charset="-120"/>
              </a:defRPr>
            </a:lvl2pPr>
            <a:lvl3pPr marL="1143000" indent="-228600" eaLnBrk="0" hangingPunct="0">
              <a:defRPr kumimoji="1" sz="3600">
                <a:solidFill>
                  <a:schemeClr val="tx1"/>
                </a:solidFill>
                <a:latin typeface="Arial" charset="0"/>
                <a:ea typeface="新細明體" pitchFamily="18" charset="-120"/>
              </a:defRPr>
            </a:lvl3pPr>
            <a:lvl4pPr marL="1600200" indent="-228600" eaLnBrk="0" hangingPunct="0">
              <a:defRPr kumimoji="1" sz="3600">
                <a:solidFill>
                  <a:schemeClr val="tx1"/>
                </a:solidFill>
                <a:latin typeface="Arial" charset="0"/>
                <a:ea typeface="新細明體" pitchFamily="18" charset="-120"/>
              </a:defRPr>
            </a:lvl4pPr>
            <a:lvl5pPr marL="2057400" indent="-228600" eaLnBrk="0" hangingPunct="0">
              <a:defRPr kumimoji="1" sz="3600">
                <a:solidFill>
                  <a:schemeClr val="tx1"/>
                </a:solidFill>
                <a:latin typeface="Arial" charset="0"/>
                <a:ea typeface="新細明體" pitchFamily="18" charset="-120"/>
              </a:defRPr>
            </a:lvl5pPr>
            <a:lvl6pPr marL="2514600" indent="-228600" algn="ctr" eaLnBrk="0" fontAlgn="base" hangingPunct="0">
              <a:spcBef>
                <a:spcPct val="0"/>
              </a:spcBef>
              <a:spcAft>
                <a:spcPct val="0"/>
              </a:spcAft>
              <a:defRPr kumimoji="1" sz="3600">
                <a:solidFill>
                  <a:schemeClr val="tx1"/>
                </a:solidFill>
                <a:latin typeface="Arial" charset="0"/>
                <a:ea typeface="新細明體" pitchFamily="18" charset="-120"/>
              </a:defRPr>
            </a:lvl6pPr>
            <a:lvl7pPr marL="2971800" indent="-228600" algn="ctr" eaLnBrk="0" fontAlgn="base" hangingPunct="0">
              <a:spcBef>
                <a:spcPct val="0"/>
              </a:spcBef>
              <a:spcAft>
                <a:spcPct val="0"/>
              </a:spcAft>
              <a:defRPr kumimoji="1" sz="3600">
                <a:solidFill>
                  <a:schemeClr val="tx1"/>
                </a:solidFill>
                <a:latin typeface="Arial" charset="0"/>
                <a:ea typeface="新細明體" pitchFamily="18" charset="-120"/>
              </a:defRPr>
            </a:lvl7pPr>
            <a:lvl8pPr marL="3429000" indent="-228600" algn="ctr" eaLnBrk="0" fontAlgn="base" hangingPunct="0">
              <a:spcBef>
                <a:spcPct val="0"/>
              </a:spcBef>
              <a:spcAft>
                <a:spcPct val="0"/>
              </a:spcAft>
              <a:defRPr kumimoji="1" sz="3600">
                <a:solidFill>
                  <a:schemeClr val="tx1"/>
                </a:solidFill>
                <a:latin typeface="Arial" charset="0"/>
                <a:ea typeface="新細明體" pitchFamily="18" charset="-120"/>
              </a:defRPr>
            </a:lvl8pPr>
            <a:lvl9pPr marL="3886200" indent="-228600" algn="ctr" eaLnBrk="0" fontAlgn="base" hangingPunct="0">
              <a:spcBef>
                <a:spcPct val="0"/>
              </a:spcBef>
              <a:spcAft>
                <a:spcPct val="0"/>
              </a:spcAft>
              <a:defRPr kumimoji="1" sz="3600">
                <a:solidFill>
                  <a:schemeClr val="tx1"/>
                </a:solidFill>
                <a:latin typeface="Arial" charset="0"/>
                <a:ea typeface="新細明體" pitchFamily="18" charset="-120"/>
              </a:defRPr>
            </a:lvl9pPr>
          </a:lstStyle>
          <a:p>
            <a:pPr algn="r" eaLnBrk="1" hangingPunct="1">
              <a:defRPr/>
            </a:pPr>
            <a:r>
              <a:rPr lang="en-US" altLang="zh-TW" sz="800" b="0" i="1" dirty="0">
                <a:solidFill>
                  <a:srgbClr val="F6B982"/>
                </a:solidFill>
                <a:latin typeface="Calibri" panose="020F0502020204030204" pitchFamily="34" charset="0"/>
                <a:cs typeface="Calibri" panose="020F0502020204030204" pitchFamily="34" charset="0"/>
              </a:rPr>
              <a:t>Proprietary and Confidential</a:t>
            </a:r>
          </a:p>
        </p:txBody>
      </p:sp>
      <p:grpSp>
        <p:nvGrpSpPr>
          <p:cNvPr id="31" name="群組 30"/>
          <p:cNvGrpSpPr>
            <a:grpSpLocks noChangeAspect="1"/>
          </p:cNvGrpSpPr>
          <p:nvPr userDrawn="1"/>
        </p:nvGrpSpPr>
        <p:grpSpPr>
          <a:xfrm>
            <a:off x="8164750" y="4612872"/>
            <a:ext cx="741426" cy="288000"/>
            <a:chOff x="7965218" y="4546501"/>
            <a:chExt cx="926782" cy="360000"/>
          </a:xfrm>
        </p:grpSpPr>
        <p:grpSp>
          <p:nvGrpSpPr>
            <p:cNvPr id="6" name="群組 5"/>
            <p:cNvGrpSpPr/>
            <p:nvPr userDrawn="1"/>
          </p:nvGrpSpPr>
          <p:grpSpPr>
            <a:xfrm>
              <a:off x="8496408" y="4546501"/>
              <a:ext cx="395592" cy="360000"/>
              <a:chOff x="5469835" y="3003630"/>
              <a:chExt cx="395592" cy="360000"/>
            </a:xfrm>
          </p:grpSpPr>
          <p:pic>
            <p:nvPicPr>
              <p:cNvPr id="28"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16586" r="72051" b="9655"/>
              <a:stretch/>
            </p:blipFill>
            <p:spPr bwMode="auto">
              <a:xfrm>
                <a:off x="5469836" y="3003630"/>
                <a:ext cx="395591"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5469835" y="3003630"/>
                <a:ext cx="395591" cy="360000"/>
              </a:xfrm>
              <a:prstGeom prst="rect">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群組 29"/>
            <p:cNvGrpSpPr/>
            <p:nvPr userDrawn="1"/>
          </p:nvGrpSpPr>
          <p:grpSpPr>
            <a:xfrm>
              <a:off x="7965218" y="4798501"/>
              <a:ext cx="642182" cy="108000"/>
              <a:chOff x="4458584" y="2799907"/>
              <a:chExt cx="642182" cy="108000"/>
            </a:xfrm>
          </p:grpSpPr>
          <p:pic>
            <p:nvPicPr>
              <p:cNvPr id="29"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572" t="37421" r="5424" b="30389"/>
              <a:stretch/>
            </p:blipFill>
            <p:spPr bwMode="auto">
              <a:xfrm>
                <a:off x="4458584" y="2799907"/>
                <a:ext cx="642182" cy="1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userDrawn="1"/>
            </p:nvSpPr>
            <p:spPr>
              <a:xfrm>
                <a:off x="4458584" y="2799907"/>
                <a:ext cx="640800" cy="108000"/>
              </a:xfrm>
              <a:prstGeom prst="rect">
                <a:avLst/>
              </a:pr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9" name="矩形 38"/>
          <p:cNvSpPr/>
          <p:nvPr userDrawn="1"/>
        </p:nvSpPr>
        <p:spPr>
          <a:xfrm rot="5400000">
            <a:off x="324000" y="4972568"/>
            <a:ext cx="126000" cy="10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252000" y="4906501"/>
            <a:ext cx="270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flipH="1">
            <a:off x="657000" y="4906501"/>
            <a:ext cx="8235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投影片編號版面配置區 3"/>
          <p:cNvSpPr txBox="1">
            <a:spLocks/>
          </p:cNvSpPr>
          <p:nvPr userDrawn="1"/>
        </p:nvSpPr>
        <p:spPr>
          <a:xfrm>
            <a:off x="254280" y="4914968"/>
            <a:ext cx="127320"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新細明體" panose="02020500000000000000" pitchFamily="18" charset="-120"/>
              </a:defRPr>
            </a:lvl1pPr>
          </a:lstStyle>
          <a:p>
            <a:pPr lvl="0" algn="ctr"/>
            <a:fld id="{9C5D9D58-E8C0-45B8-84D0-B47AD46CE60E}" type="slidenum">
              <a:rPr lang="zh-TW" altLang="en-US" sz="700" baseline="0" smtClean="0">
                <a:solidFill>
                  <a:schemeClr val="bg1">
                    <a:lumMod val="65000"/>
                  </a:schemeClr>
                </a:solidFill>
                <a:latin typeface="Calibri" panose="020F0502020204030204" pitchFamily="34" charset="0"/>
                <a:cs typeface="Calibri" panose="020F0502020204030204" pitchFamily="34" charset="0"/>
              </a:rPr>
              <a:pPr lvl="0" algn="ctr"/>
              <a:t>‹#›</a:t>
            </a:fld>
            <a:r>
              <a:rPr lang="zh-TW" altLang="en-US" sz="700" baseline="0" dirty="0">
                <a:solidFill>
                  <a:schemeClr val="bg1">
                    <a:lumMod val="65000"/>
                  </a:schemeClr>
                </a:solidFill>
                <a:latin typeface="Calibri" panose="020F0502020204030204" pitchFamily="34" charset="0"/>
                <a:cs typeface="Calibri" panose="020F0502020204030204" pitchFamily="34" charset="0"/>
              </a:rP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Lst>
  <p:hf sldNum="0" hdr="0" ftr="0"/>
  <p:txStyles>
    <p:titleStyle>
      <a:lvl1pPr algn="l" defTabSz="685800" rtl="0" eaLnBrk="1" latinLnBrk="0" hangingPunct="1">
        <a:lnSpc>
          <a:spcPct val="90000"/>
        </a:lnSpc>
        <a:spcBef>
          <a:spcPct val="0"/>
        </a:spcBef>
        <a:buNone/>
        <a:defRPr sz="2025"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dirty="0"/>
              <a:t>学习报告</a:t>
            </a:r>
            <a:endParaRPr lang="en-US" dirty="0"/>
          </a:p>
        </p:txBody>
      </p:sp>
      <p:sp>
        <p:nvSpPr>
          <p:cNvPr id="3" name="文字版面配置區 2"/>
          <p:cNvSpPr>
            <a:spLocks noGrp="1"/>
          </p:cNvSpPr>
          <p:nvPr>
            <p:ph type="body" sz="quarter" idx="23"/>
          </p:nvPr>
        </p:nvSpPr>
        <p:spPr/>
        <p:txBody>
          <a:bodyPr/>
          <a:lstStyle/>
          <a:p>
            <a:r>
              <a:rPr lang="en-US" altLang="zh-CN" dirty="0"/>
              <a:t>Jan</a:t>
            </a:r>
            <a:r>
              <a:rPr lang="en-US" dirty="0"/>
              <a:t>-27-2026</a:t>
            </a:r>
          </a:p>
        </p:txBody>
      </p:sp>
      <p:sp>
        <p:nvSpPr>
          <p:cNvPr id="4" name="文字版面配置區 3"/>
          <p:cNvSpPr>
            <a:spLocks noGrp="1"/>
          </p:cNvSpPr>
          <p:nvPr>
            <p:ph type="body" sz="quarter" idx="24"/>
          </p:nvPr>
        </p:nvSpPr>
        <p:spPr/>
        <p:txBody>
          <a:bodyPr/>
          <a:lstStyle/>
          <a:p>
            <a:r>
              <a:rPr lang="zh-CN" altLang="en-US" dirty="0"/>
              <a:t>冯一帆</a:t>
            </a:r>
            <a:endParaRPr lang="en-US" dirty="0"/>
          </a:p>
        </p:txBody>
      </p:sp>
      <p:sp>
        <p:nvSpPr>
          <p:cNvPr id="5" name="文字版面配置區 4"/>
          <p:cNvSpPr>
            <a:spLocks noGrp="1"/>
          </p:cNvSpPr>
          <p:nvPr>
            <p:ph type="body" sz="quarter" idx="20"/>
          </p:nvPr>
        </p:nvSpPr>
        <p:spPr/>
        <p:txBody>
          <a:bodyPr/>
          <a:lstStyle/>
          <a:p>
            <a:r>
              <a:rPr lang="zh-CN" altLang="en-US" dirty="0"/>
              <a:t>冯一帆</a:t>
            </a:r>
            <a:endParaRPr lang="en-US" dirty="0"/>
          </a:p>
        </p:txBody>
      </p:sp>
      <p:sp>
        <p:nvSpPr>
          <p:cNvPr id="6" name="文字版面配置區 5"/>
          <p:cNvSpPr>
            <a:spLocks noGrp="1"/>
          </p:cNvSpPr>
          <p:nvPr>
            <p:ph type="body" sz="quarter" idx="21"/>
          </p:nvPr>
        </p:nvSpPr>
        <p:spPr/>
        <p:txBody>
          <a:bodyPr/>
          <a:lstStyle/>
          <a:p>
            <a:r>
              <a:rPr lang="zh-CN" altLang="en-US" dirty="0"/>
              <a:t>冯一帆</a:t>
            </a:r>
            <a:endParaRPr lang="en-US" dirty="0"/>
          </a:p>
        </p:txBody>
      </p:sp>
      <p:sp>
        <p:nvSpPr>
          <p:cNvPr id="7" name="文本框 6">
            <a:extLst>
              <a:ext uri="{FF2B5EF4-FFF2-40B4-BE49-F238E27FC236}">
                <a16:creationId xmlns:a16="http://schemas.microsoft.com/office/drawing/2014/main" id="{196E1309-36DE-2BCF-2E67-EBA346A089E0}"/>
              </a:ext>
            </a:extLst>
          </p:cNvPr>
          <p:cNvSpPr txBox="1"/>
          <p:nvPr/>
        </p:nvSpPr>
        <p:spPr>
          <a:xfrm>
            <a:off x="629759" y="1816937"/>
            <a:ext cx="4990456" cy="276999"/>
          </a:xfrm>
          <a:prstGeom prst="rect">
            <a:avLst/>
          </a:prstGeom>
          <a:noFill/>
        </p:spPr>
        <p:txBody>
          <a:bodyPr wrap="square" rtlCol="0">
            <a:spAutoFit/>
          </a:bodyPr>
          <a:lstStyle/>
          <a:p>
            <a:r>
              <a:rPr lang="zh-CN" altLang="en-US" sz="1200" dirty="0">
                <a:solidFill>
                  <a:schemeClr val="bg1"/>
                </a:solidFill>
              </a:rPr>
              <a:t>常见程序卡死问题以及</a:t>
            </a:r>
            <a:r>
              <a:rPr lang="en-US" altLang="zh-CN" sz="1200" dirty="0">
                <a:solidFill>
                  <a:schemeClr val="bg1"/>
                </a:solidFill>
              </a:rPr>
              <a:t>i2s</a:t>
            </a:r>
            <a:r>
              <a:rPr lang="zh-CN" altLang="en-US" sz="1200" dirty="0">
                <a:solidFill>
                  <a:schemeClr val="bg1"/>
                </a:solidFill>
              </a:rPr>
              <a:t>和</a:t>
            </a:r>
            <a:r>
              <a:rPr lang="en-US" altLang="zh-CN" sz="1200" dirty="0" err="1">
                <a:solidFill>
                  <a:schemeClr val="bg1"/>
                </a:solidFill>
              </a:rPr>
              <a:t>ble</a:t>
            </a:r>
            <a:r>
              <a:rPr lang="zh-CN" altLang="en-US" sz="1200" dirty="0">
                <a:solidFill>
                  <a:schemeClr val="bg1"/>
                </a:solidFill>
              </a:rPr>
              <a:t>相关接口</a:t>
            </a:r>
          </a:p>
        </p:txBody>
      </p:sp>
    </p:spTree>
    <p:extLst>
      <p:ext uri="{BB962C8B-B14F-4D97-AF65-F5344CB8AC3E}">
        <p14:creationId xmlns:p14="http://schemas.microsoft.com/office/powerpoint/2010/main" val="2071277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8A095973-D2A7-89B8-B5E9-C495F8F0D2DB}"/>
              </a:ext>
            </a:extLst>
          </p:cNvPr>
          <p:cNvSpPr txBox="1"/>
          <p:nvPr/>
        </p:nvSpPr>
        <p:spPr>
          <a:xfrm>
            <a:off x="5096107" y="3652026"/>
            <a:ext cx="3865014" cy="584775"/>
          </a:xfrm>
          <a:prstGeom prst="rect">
            <a:avLst/>
          </a:prstGeom>
          <a:noFill/>
        </p:spPr>
        <p:txBody>
          <a:bodyPr wrap="square" rtlCol="0">
            <a:spAutoFit/>
          </a:bodyPr>
          <a:lstStyle/>
          <a:p>
            <a:r>
              <a:rPr lang="zh-CN" altLang="en-US" sz="3200" dirty="0">
                <a:solidFill>
                  <a:schemeClr val="accent1"/>
                </a:solidFill>
                <a:latin typeface="+mn-ea"/>
              </a:rPr>
              <a:t>常见程序卡死问题</a:t>
            </a:r>
          </a:p>
        </p:txBody>
      </p:sp>
    </p:spTree>
    <p:extLst>
      <p:ext uri="{BB962C8B-B14F-4D97-AF65-F5344CB8AC3E}">
        <p14:creationId xmlns:p14="http://schemas.microsoft.com/office/powerpoint/2010/main" val="2577367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FD63-D36D-588F-3C08-ED8CF299C24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40713E4-4D49-89C3-BAF0-242753A88652}"/>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常见原因及场景</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2" name="表格 1">
            <a:extLst>
              <a:ext uri="{FF2B5EF4-FFF2-40B4-BE49-F238E27FC236}">
                <a16:creationId xmlns:a16="http://schemas.microsoft.com/office/drawing/2014/main" id="{58657805-31E0-168B-0F31-F8B3A7C05CA8}"/>
              </a:ext>
            </a:extLst>
          </p:cNvPr>
          <p:cNvGraphicFramePr>
            <a:graphicFrameLocks noGrp="1"/>
          </p:cNvGraphicFramePr>
          <p:nvPr>
            <p:extLst>
              <p:ext uri="{D42A27DB-BD31-4B8C-83A1-F6EECF244321}">
                <p14:modId xmlns:p14="http://schemas.microsoft.com/office/powerpoint/2010/main" val="955084303"/>
              </p:ext>
            </p:extLst>
          </p:nvPr>
        </p:nvGraphicFramePr>
        <p:xfrm>
          <a:off x="550589" y="1890229"/>
          <a:ext cx="7886700" cy="1968500"/>
        </p:xfrm>
        <a:graphic>
          <a:graphicData uri="http://schemas.openxmlformats.org/drawingml/2006/table">
            <a:tbl>
              <a:tblPr firstRow="1" firstCol="1" bandRow="1">
                <a:tableStyleId>{5C22544A-7EE6-4342-B048-85BDC9FD1C3A}</a:tableStyleId>
              </a:tblPr>
              <a:tblGrid>
                <a:gridCol w="2226062">
                  <a:extLst>
                    <a:ext uri="{9D8B030D-6E8A-4147-A177-3AD203B41FA5}">
                      <a16:colId xmlns:a16="http://schemas.microsoft.com/office/drawing/2014/main" val="3002990419"/>
                    </a:ext>
                  </a:extLst>
                </a:gridCol>
                <a:gridCol w="5660638">
                  <a:extLst>
                    <a:ext uri="{9D8B030D-6E8A-4147-A177-3AD203B41FA5}">
                      <a16:colId xmlns:a16="http://schemas.microsoft.com/office/drawing/2014/main" val="3928784186"/>
                    </a:ext>
                  </a:extLst>
                </a:gridCol>
              </a:tblGrid>
              <a:tr h="0">
                <a:tc>
                  <a:txBody>
                    <a:bodyPr/>
                    <a:lstStyle/>
                    <a:p>
                      <a:pPr>
                        <a:lnSpc>
                          <a:spcPct val="115000"/>
                        </a:lnSpc>
                        <a:spcAft>
                          <a:spcPts val="800"/>
                        </a:spcAft>
                        <a:buNone/>
                      </a:pPr>
                      <a:r>
                        <a:rPr lang="zh-CN" sz="1100" kern="100" dirty="0">
                          <a:effectLst/>
                        </a:rPr>
                        <a:t>场景</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tc>
                  <a:txBody>
                    <a:bodyPr/>
                    <a:lstStyle/>
                    <a:p>
                      <a:pPr>
                        <a:lnSpc>
                          <a:spcPct val="115000"/>
                        </a:lnSpc>
                        <a:spcAft>
                          <a:spcPts val="800"/>
                        </a:spcAft>
                        <a:buNone/>
                      </a:pPr>
                      <a:r>
                        <a:rPr lang="zh-CN" sz="1100" kern="100" dirty="0">
                          <a:effectLst/>
                        </a:rPr>
                        <a:t>高频原因</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extLst>
                  <a:ext uri="{0D108BD9-81ED-4DB2-BD59-A6C34878D82A}">
                    <a16:rowId xmlns:a16="http://schemas.microsoft.com/office/drawing/2014/main" val="2998542232"/>
                  </a:ext>
                </a:extLst>
              </a:tr>
              <a:tr h="0">
                <a:tc>
                  <a:txBody>
                    <a:bodyPr/>
                    <a:lstStyle/>
                    <a:p>
                      <a:pPr>
                        <a:lnSpc>
                          <a:spcPct val="115000"/>
                        </a:lnSpc>
                        <a:spcAft>
                          <a:spcPts val="800"/>
                        </a:spcAft>
                        <a:buNone/>
                      </a:pPr>
                      <a:r>
                        <a:rPr lang="zh-CN" sz="1100" kern="100" dirty="0">
                          <a:effectLst/>
                        </a:rPr>
                        <a:t>通用</a:t>
                      </a:r>
                      <a:r>
                        <a:rPr lang="en-US" sz="1100" kern="100" dirty="0">
                          <a:effectLst/>
                        </a:rPr>
                        <a:t> PC </a:t>
                      </a:r>
                      <a:r>
                        <a:rPr lang="zh-CN" sz="1100" kern="100" dirty="0">
                          <a:effectLst/>
                        </a:rPr>
                        <a:t>程序</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tc>
                  <a:txBody>
                    <a:bodyPr/>
                    <a:lstStyle/>
                    <a:p>
                      <a:pPr>
                        <a:lnSpc>
                          <a:spcPct val="115000"/>
                        </a:lnSpc>
                        <a:spcAft>
                          <a:spcPts val="800"/>
                        </a:spcAft>
                        <a:buNone/>
                      </a:pPr>
                      <a:r>
                        <a:rPr lang="zh-CN" sz="1100" kern="100">
                          <a:effectLst/>
                        </a:rPr>
                        <a:t>无限循环、内存泄漏、资源竞争（多线程）、磁盘</a:t>
                      </a:r>
                      <a:r>
                        <a:rPr lang="en-US" sz="1100" kern="100">
                          <a:effectLst/>
                        </a:rPr>
                        <a:t> I/O </a:t>
                      </a:r>
                      <a:r>
                        <a:rPr lang="zh-CN" sz="1100" kern="100">
                          <a:effectLst/>
                        </a:rPr>
                        <a:t>瓶颈、未处理异常</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tc>
                <a:extLst>
                  <a:ext uri="{0D108BD9-81ED-4DB2-BD59-A6C34878D82A}">
                    <a16:rowId xmlns:a16="http://schemas.microsoft.com/office/drawing/2014/main" val="2679267617"/>
                  </a:ext>
                </a:extLst>
              </a:tr>
              <a:tr h="0">
                <a:tc>
                  <a:txBody>
                    <a:bodyPr/>
                    <a:lstStyle/>
                    <a:p>
                      <a:pPr>
                        <a:lnSpc>
                          <a:spcPct val="115000"/>
                        </a:lnSpc>
                        <a:spcAft>
                          <a:spcPts val="800"/>
                        </a:spcAft>
                        <a:buNone/>
                      </a:pPr>
                      <a:r>
                        <a:rPr lang="zh-CN" sz="1100" kern="100" dirty="0">
                          <a:effectLst/>
                        </a:rPr>
                        <a:t>嵌入式程序（</a:t>
                      </a:r>
                      <a:r>
                        <a:rPr lang="en-US" sz="1100" kern="100" dirty="0">
                          <a:effectLst/>
                        </a:rPr>
                        <a:t>Cortex-M</a:t>
                      </a:r>
                      <a:r>
                        <a:rPr lang="zh-CN" sz="1100" kern="100" dirty="0">
                          <a:effectLst/>
                        </a:rPr>
                        <a:t>）</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tc>
                  <a:txBody>
                    <a:bodyPr/>
                    <a:lstStyle/>
                    <a:p>
                      <a:pPr>
                        <a:lnSpc>
                          <a:spcPct val="115000"/>
                        </a:lnSpc>
                        <a:spcAft>
                          <a:spcPts val="800"/>
                        </a:spcAft>
                        <a:buNone/>
                      </a:pPr>
                      <a:r>
                        <a:rPr lang="zh-CN" sz="1100" kern="100">
                          <a:effectLst/>
                        </a:rPr>
                        <a:t>堆栈溢出、指针越界、中断优先级错误、外设配置错误、时钟异常、电源干扰</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tc>
                <a:extLst>
                  <a:ext uri="{0D108BD9-81ED-4DB2-BD59-A6C34878D82A}">
                    <a16:rowId xmlns:a16="http://schemas.microsoft.com/office/drawing/2014/main" val="1612470798"/>
                  </a:ext>
                </a:extLst>
              </a:tr>
              <a:tr h="0">
                <a:tc>
                  <a:txBody>
                    <a:bodyPr/>
                    <a:lstStyle/>
                    <a:p>
                      <a:pPr>
                        <a:lnSpc>
                          <a:spcPct val="115000"/>
                        </a:lnSpc>
                        <a:spcAft>
                          <a:spcPts val="800"/>
                        </a:spcAft>
                        <a:buNone/>
                      </a:pPr>
                      <a:r>
                        <a:rPr lang="en-US" sz="1100" kern="100" dirty="0">
                          <a:effectLst/>
                        </a:rPr>
                        <a:t>RTOS </a:t>
                      </a:r>
                      <a:r>
                        <a:rPr lang="zh-CN" sz="1100" kern="100" dirty="0">
                          <a:effectLst/>
                        </a:rPr>
                        <a:t>程序（</a:t>
                      </a:r>
                      <a:r>
                        <a:rPr lang="en-US" sz="1100" kern="100" dirty="0" err="1">
                          <a:effectLst/>
                        </a:rPr>
                        <a:t>FreeRTOS</a:t>
                      </a:r>
                      <a:r>
                        <a:rPr lang="zh-CN" sz="1100" kern="100" dirty="0">
                          <a:effectLst/>
                        </a:rPr>
                        <a:t>）</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tc>
                  <a:txBody>
                    <a:bodyPr/>
                    <a:lstStyle/>
                    <a:p>
                      <a:pPr>
                        <a:lnSpc>
                          <a:spcPct val="115000"/>
                        </a:lnSpc>
                        <a:spcAft>
                          <a:spcPts val="800"/>
                        </a:spcAft>
                        <a:buNone/>
                      </a:pPr>
                      <a:r>
                        <a:rPr lang="zh-CN" sz="1100" kern="100">
                          <a:effectLst/>
                        </a:rPr>
                        <a:t>任务死锁、</a:t>
                      </a:r>
                      <a:r>
                        <a:rPr lang="en-US" sz="1100" kern="100">
                          <a:effectLst/>
                        </a:rPr>
                        <a:t>PendSV/SVC </a:t>
                      </a:r>
                      <a:r>
                        <a:rPr lang="zh-CN" sz="1100" kern="100">
                          <a:effectLst/>
                        </a:rPr>
                        <a:t>配置错误、中断嵌套过深、栈大小不足</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tc>
                <a:extLst>
                  <a:ext uri="{0D108BD9-81ED-4DB2-BD59-A6C34878D82A}">
                    <a16:rowId xmlns:a16="http://schemas.microsoft.com/office/drawing/2014/main" val="770957223"/>
                  </a:ext>
                </a:extLst>
              </a:tr>
              <a:tr h="0">
                <a:tc>
                  <a:txBody>
                    <a:bodyPr/>
                    <a:lstStyle/>
                    <a:p>
                      <a:pPr>
                        <a:lnSpc>
                          <a:spcPct val="115000"/>
                        </a:lnSpc>
                        <a:spcAft>
                          <a:spcPts val="800"/>
                        </a:spcAft>
                        <a:buNone/>
                      </a:pPr>
                      <a:r>
                        <a:rPr lang="zh-CN" sz="1100" kern="100" dirty="0">
                          <a:effectLst/>
                        </a:rPr>
                        <a:t>图形界面程序</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solidFill>
                      <a:schemeClr val="accent5"/>
                    </a:solidFill>
                  </a:tcPr>
                </a:tc>
                <a:tc>
                  <a:txBody>
                    <a:bodyPr/>
                    <a:lstStyle/>
                    <a:p>
                      <a:pPr>
                        <a:lnSpc>
                          <a:spcPct val="115000"/>
                        </a:lnSpc>
                        <a:spcAft>
                          <a:spcPts val="800"/>
                        </a:spcAft>
                        <a:buNone/>
                      </a:pPr>
                      <a:r>
                        <a:rPr lang="zh-CN" sz="1100" kern="100" dirty="0">
                          <a:effectLst/>
                        </a:rPr>
                        <a:t>主线程阻塞（如</a:t>
                      </a:r>
                      <a:r>
                        <a:rPr lang="en-US" sz="1100" kern="100" dirty="0">
                          <a:effectLst/>
                        </a:rPr>
                        <a:t> UI </a:t>
                      </a:r>
                      <a:r>
                        <a:rPr lang="zh-CN" sz="1100" kern="100" dirty="0">
                          <a:effectLst/>
                        </a:rPr>
                        <a:t>线程执行耗时计算）、资源加载超时、第三方控件兼容性问题</a:t>
                      </a:r>
                      <a:endParaRPr lang="zh-CN" sz="11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60655" marR="160655" marT="107315" marB="107315" anchor="ctr"/>
                </a:tc>
                <a:extLst>
                  <a:ext uri="{0D108BD9-81ED-4DB2-BD59-A6C34878D82A}">
                    <a16:rowId xmlns:a16="http://schemas.microsoft.com/office/drawing/2014/main" val="3169409355"/>
                  </a:ext>
                </a:extLst>
              </a:tr>
            </a:tbl>
          </a:graphicData>
        </a:graphic>
      </p:graphicFrame>
      <p:sp>
        <p:nvSpPr>
          <p:cNvPr id="5" name="文本框 4">
            <a:extLst>
              <a:ext uri="{FF2B5EF4-FFF2-40B4-BE49-F238E27FC236}">
                <a16:creationId xmlns:a16="http://schemas.microsoft.com/office/drawing/2014/main" id="{0D45A608-C055-51AB-C787-3F0A834CB27F}"/>
              </a:ext>
            </a:extLst>
          </p:cNvPr>
          <p:cNvSpPr txBox="1"/>
          <p:nvPr/>
        </p:nvSpPr>
        <p:spPr>
          <a:xfrm>
            <a:off x="550591" y="4153553"/>
            <a:ext cx="7886700" cy="505075"/>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排查时需结合场景选择工具：嵌入式场景用</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J-Link+GDB</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查看</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HardFault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栈帧、</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FreeRTOS</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Trace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查看任务调度；</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PC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程序用</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Valgrind</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检测内存泄漏、</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VisualVM</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监控线程状态。</a:t>
            </a:r>
          </a:p>
        </p:txBody>
      </p:sp>
      <p:sp>
        <p:nvSpPr>
          <p:cNvPr id="7" name="文本框 6">
            <a:extLst>
              <a:ext uri="{FF2B5EF4-FFF2-40B4-BE49-F238E27FC236}">
                <a16:creationId xmlns:a16="http://schemas.microsoft.com/office/drawing/2014/main" id="{8FAAB351-B72C-1F2C-EAE3-640ACFAD447F}"/>
              </a:ext>
            </a:extLst>
          </p:cNvPr>
          <p:cNvSpPr txBox="1"/>
          <p:nvPr/>
        </p:nvSpPr>
        <p:spPr>
          <a:xfrm>
            <a:off x="550589" y="1207398"/>
            <a:ext cx="7886699" cy="461665"/>
          </a:xfrm>
          <a:prstGeom prst="rect">
            <a:avLst/>
          </a:prstGeom>
          <a:noFill/>
        </p:spPr>
        <p:txBody>
          <a:bodyPr wrap="square">
            <a:spAutoFit/>
          </a:bodyPr>
          <a:lstStyle/>
          <a:p>
            <a:r>
              <a:rPr lang="zh-CN" altLang="zh-CN" sz="1200" dirty="0">
                <a:effectLst/>
                <a:ea typeface="等线" panose="02010600030101010101" pitchFamily="2" charset="-122"/>
                <a:cs typeface="Times New Roman" panose="02020603050405020304" pitchFamily="18" charset="0"/>
              </a:rPr>
              <a:t>程序卡死或跑飞（运行失控）的原因可从</a:t>
            </a:r>
            <a:r>
              <a:rPr lang="zh-CN" altLang="zh-CN" sz="1200" b="1" dirty="0">
                <a:effectLst/>
                <a:ea typeface="等线" panose="02010600030101010101" pitchFamily="2" charset="-122"/>
                <a:cs typeface="Times New Roman" panose="02020603050405020304" pitchFamily="18" charset="0"/>
              </a:rPr>
              <a:t>软件设计缺陷</a:t>
            </a:r>
            <a:r>
              <a:rPr lang="zh-CN" altLang="zh-CN" sz="1200" dirty="0">
                <a:effectLst/>
                <a:ea typeface="等线" panose="02010600030101010101" pitchFamily="2" charset="-122"/>
                <a:cs typeface="Times New Roman" panose="02020603050405020304" pitchFamily="18" charset="0"/>
              </a:rPr>
              <a:t>、</a:t>
            </a:r>
            <a:r>
              <a:rPr lang="zh-CN" altLang="zh-CN" sz="1200" b="1" dirty="0">
                <a:effectLst/>
                <a:ea typeface="等线" panose="02010600030101010101" pitchFamily="2" charset="-122"/>
                <a:cs typeface="Times New Roman" panose="02020603050405020304" pitchFamily="18" charset="0"/>
              </a:rPr>
              <a:t>系统资源问题</a:t>
            </a:r>
            <a:r>
              <a:rPr lang="zh-CN" altLang="zh-CN" sz="1200" dirty="0">
                <a:effectLst/>
                <a:ea typeface="等线" panose="02010600030101010101" pitchFamily="2" charset="-122"/>
                <a:cs typeface="Times New Roman" panose="02020603050405020304" pitchFamily="18" charset="0"/>
              </a:rPr>
              <a:t>、</a:t>
            </a:r>
            <a:r>
              <a:rPr lang="zh-CN" altLang="zh-CN" sz="1200" b="1" dirty="0">
                <a:effectLst/>
                <a:ea typeface="等线" panose="02010600030101010101" pitchFamily="2" charset="-122"/>
                <a:cs typeface="Times New Roman" panose="02020603050405020304" pitchFamily="18" charset="0"/>
              </a:rPr>
              <a:t>硬件故障</a:t>
            </a:r>
            <a:r>
              <a:rPr lang="zh-CN" altLang="zh-CN" sz="1200" dirty="0">
                <a:effectLst/>
                <a:ea typeface="等线" panose="02010600030101010101" pitchFamily="2" charset="-122"/>
                <a:cs typeface="Times New Roman" panose="02020603050405020304" pitchFamily="18" charset="0"/>
              </a:rPr>
              <a:t>三大维度分类</a:t>
            </a:r>
            <a:r>
              <a:rPr lang="zh-CN" altLang="en-US" sz="1200" dirty="0">
                <a:effectLst/>
                <a:ea typeface="等线" panose="02010600030101010101" pitchFamily="2" charset="-122"/>
                <a:cs typeface="Times New Roman" panose="02020603050405020304" pitchFamily="18" charset="0"/>
              </a:rPr>
              <a:t>，这里主要围绕软件设计缺陷来讲，下面是不同软件场景的常见原因</a:t>
            </a:r>
            <a:endParaRPr lang="zh-CN" altLang="en-US" sz="1200" dirty="0"/>
          </a:p>
        </p:txBody>
      </p:sp>
    </p:spTree>
    <p:extLst>
      <p:ext uri="{BB962C8B-B14F-4D97-AF65-F5344CB8AC3E}">
        <p14:creationId xmlns:p14="http://schemas.microsoft.com/office/powerpoint/2010/main" val="371182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B5FA-FD7C-61E0-EFEA-610DA615B44F}"/>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376C38D6-DA5F-CB05-4675-38CAE719140A}"/>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多线程死锁</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实验</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9" name="图片 8" descr="文本&#10;&#10;AI 生成的内容可能不正确。">
            <a:extLst>
              <a:ext uri="{FF2B5EF4-FFF2-40B4-BE49-F238E27FC236}">
                <a16:creationId xmlns:a16="http://schemas.microsoft.com/office/drawing/2014/main" id="{D71F8EA8-B5FF-B06A-6738-904863247111}"/>
              </a:ext>
            </a:extLst>
          </p:cNvPr>
          <p:cNvPicPr>
            <a:picLocks noChangeAspect="1"/>
          </p:cNvPicPr>
          <p:nvPr/>
        </p:nvPicPr>
        <p:blipFill>
          <a:blip r:embed="rId2"/>
          <a:stretch>
            <a:fillRect/>
          </a:stretch>
        </p:blipFill>
        <p:spPr>
          <a:xfrm>
            <a:off x="215591" y="590148"/>
            <a:ext cx="3642385" cy="3630589"/>
          </a:xfrm>
          <a:prstGeom prst="rect">
            <a:avLst/>
          </a:prstGeom>
        </p:spPr>
      </p:pic>
      <p:pic>
        <p:nvPicPr>
          <p:cNvPr id="10" name="图片 9" descr="文本&#10;&#10;AI 生成的内容可能不正确。">
            <a:extLst>
              <a:ext uri="{FF2B5EF4-FFF2-40B4-BE49-F238E27FC236}">
                <a16:creationId xmlns:a16="http://schemas.microsoft.com/office/drawing/2014/main" id="{9343897B-B466-A0B6-7CCD-6A8F1C7DADCC}"/>
              </a:ext>
            </a:extLst>
          </p:cNvPr>
          <p:cNvPicPr>
            <a:picLocks noChangeAspect="1"/>
          </p:cNvPicPr>
          <p:nvPr/>
        </p:nvPicPr>
        <p:blipFill>
          <a:blip r:embed="rId3"/>
          <a:stretch>
            <a:fillRect/>
          </a:stretch>
        </p:blipFill>
        <p:spPr>
          <a:xfrm>
            <a:off x="3857976" y="3451117"/>
            <a:ext cx="5274310" cy="769620"/>
          </a:xfrm>
          <a:prstGeom prst="rect">
            <a:avLst/>
          </a:prstGeom>
        </p:spPr>
      </p:pic>
      <p:sp>
        <p:nvSpPr>
          <p:cNvPr id="12" name="文本框 11">
            <a:extLst>
              <a:ext uri="{FF2B5EF4-FFF2-40B4-BE49-F238E27FC236}">
                <a16:creationId xmlns:a16="http://schemas.microsoft.com/office/drawing/2014/main" id="{377985B4-2A8B-5CD9-DF88-692FA8F826CB}"/>
              </a:ext>
            </a:extLst>
          </p:cNvPr>
          <p:cNvSpPr txBox="1"/>
          <p:nvPr/>
        </p:nvSpPr>
        <p:spPr>
          <a:xfrm>
            <a:off x="3969834" y="595355"/>
            <a:ext cx="4572000" cy="1846659"/>
          </a:xfrm>
          <a:prstGeom prst="rect">
            <a:avLst/>
          </a:prstGeom>
          <a:noFill/>
        </p:spPr>
        <p:txBody>
          <a:bodyPr wrap="square">
            <a:spAutoFit/>
          </a:bodyPr>
          <a:lstStyle/>
          <a:p>
            <a:pPr>
              <a:lnSpc>
                <a:spcPct val="150000"/>
              </a:lnSpc>
            </a:pPr>
            <a:r>
              <a:rPr lang="zh-CN" altLang="en-US" sz="1600" dirty="0">
                <a:latin typeface="+mn-ea"/>
              </a:rPr>
              <a:t>创建两个任务</a:t>
            </a:r>
            <a:r>
              <a:rPr lang="en-US" altLang="zh-CN" sz="1600" dirty="0">
                <a:latin typeface="+mn-ea"/>
              </a:rPr>
              <a:t>task1</a:t>
            </a:r>
            <a:r>
              <a:rPr lang="zh-CN" altLang="en-US" sz="1600" dirty="0">
                <a:latin typeface="+mn-ea"/>
              </a:rPr>
              <a:t>和</a:t>
            </a:r>
            <a:r>
              <a:rPr lang="en-US" altLang="zh-CN" sz="1600" dirty="0">
                <a:latin typeface="+mn-ea"/>
              </a:rPr>
              <a:t>task2</a:t>
            </a:r>
            <a:r>
              <a:rPr lang="zh-CN" altLang="en-US" sz="1600" dirty="0">
                <a:latin typeface="+mn-ea"/>
              </a:rPr>
              <a:t>，并且都需要</a:t>
            </a:r>
            <a:r>
              <a:rPr lang="en-US" altLang="zh-CN" sz="1600" dirty="0">
                <a:latin typeface="+mn-ea"/>
              </a:rPr>
              <a:t>A B</a:t>
            </a:r>
            <a:r>
              <a:rPr lang="zh-CN" altLang="en-US" sz="1600" dirty="0">
                <a:latin typeface="+mn-ea"/>
              </a:rPr>
              <a:t>两个互斥信号量，</a:t>
            </a:r>
            <a:r>
              <a:rPr lang="zh-CN" altLang="zh-CN" sz="1600" dirty="0">
                <a:latin typeface="+mn-ea"/>
              </a:rPr>
              <a:t>同时还创建了一个低优先级的心跳任务</a:t>
            </a:r>
            <a:r>
              <a:rPr lang="zh-CN" altLang="en-US" sz="1600" dirty="0">
                <a:latin typeface="+mn-ea"/>
              </a:rPr>
              <a:t>（</a:t>
            </a:r>
            <a:r>
              <a:rPr lang="en-US" altLang="zh-CN" sz="1600" dirty="0" err="1">
                <a:latin typeface="+mn-ea"/>
              </a:rPr>
              <a:t>LedTask</a:t>
            </a:r>
            <a:r>
              <a:rPr lang="zh-CN" altLang="en-US" sz="1600" dirty="0">
                <a:latin typeface="+mn-ea"/>
              </a:rPr>
              <a:t>）</a:t>
            </a:r>
            <a:r>
              <a:rPr lang="zh-CN" altLang="zh-CN" sz="1600" dirty="0">
                <a:latin typeface="+mn-ea"/>
              </a:rPr>
              <a:t>来判断是系统卡死还是任务卡死（</a:t>
            </a:r>
            <a:r>
              <a:rPr lang="en-US" altLang="zh-CN" sz="1600" dirty="0">
                <a:latin typeface="+mn-ea"/>
              </a:rPr>
              <a:t>led</a:t>
            </a:r>
            <a:r>
              <a:rPr lang="zh-CN" altLang="zh-CN" sz="1600" dirty="0">
                <a:latin typeface="+mn-ea"/>
              </a:rPr>
              <a:t>翻转）</a:t>
            </a:r>
          </a:p>
          <a:p>
            <a:endParaRPr lang="zh-CN" altLang="en-US" dirty="0"/>
          </a:p>
        </p:txBody>
      </p:sp>
      <p:pic>
        <p:nvPicPr>
          <p:cNvPr id="13" name="图片 12">
            <a:extLst>
              <a:ext uri="{FF2B5EF4-FFF2-40B4-BE49-F238E27FC236}">
                <a16:creationId xmlns:a16="http://schemas.microsoft.com/office/drawing/2014/main" id="{07590213-7402-B68B-5FB7-C3A235DEEA7D}"/>
              </a:ext>
            </a:extLst>
          </p:cNvPr>
          <p:cNvPicPr>
            <a:picLocks noChangeAspect="1"/>
          </p:cNvPicPr>
          <p:nvPr/>
        </p:nvPicPr>
        <p:blipFill>
          <a:blip r:embed="rId4"/>
          <a:stretch>
            <a:fillRect/>
          </a:stretch>
        </p:blipFill>
        <p:spPr>
          <a:xfrm>
            <a:off x="215591" y="4220737"/>
            <a:ext cx="5274310" cy="241300"/>
          </a:xfrm>
          <a:prstGeom prst="rect">
            <a:avLst/>
          </a:prstGeom>
        </p:spPr>
      </p:pic>
      <p:sp>
        <p:nvSpPr>
          <p:cNvPr id="15" name="文本框 14">
            <a:extLst>
              <a:ext uri="{FF2B5EF4-FFF2-40B4-BE49-F238E27FC236}">
                <a16:creationId xmlns:a16="http://schemas.microsoft.com/office/drawing/2014/main" id="{D2CF4F99-11BC-88B4-AED0-1063DE8BB089}"/>
              </a:ext>
            </a:extLst>
          </p:cNvPr>
          <p:cNvSpPr txBox="1"/>
          <p:nvPr/>
        </p:nvSpPr>
        <p:spPr>
          <a:xfrm>
            <a:off x="3969834" y="2298622"/>
            <a:ext cx="4572000" cy="1152495"/>
          </a:xfrm>
          <a:prstGeom prst="rect">
            <a:avLst/>
          </a:prstGeom>
          <a:noFill/>
        </p:spPr>
        <p:txBody>
          <a:bodyPr wrap="square">
            <a:spAutoFit/>
          </a:bodyPr>
          <a:lstStyle/>
          <a:p>
            <a:pPr>
              <a:lnSpc>
                <a:spcPct val="150000"/>
              </a:lnSpc>
            </a:pPr>
            <a:r>
              <a:rPr lang="en-US" altLang="zh-CN" sz="1600" dirty="0"/>
              <a:t>Task1</a:t>
            </a:r>
            <a:r>
              <a:rPr lang="zh-CN" altLang="en-US" sz="1600" dirty="0"/>
              <a:t>和</a:t>
            </a:r>
            <a:r>
              <a:rPr lang="en-US" altLang="zh-CN" sz="1600" dirty="0"/>
              <a:t>2</a:t>
            </a:r>
            <a:r>
              <a:rPr lang="zh-CN" altLang="en-US" sz="1600" dirty="0"/>
              <a:t>都被阻塞，但心跳任务还在进行（</a:t>
            </a:r>
            <a:r>
              <a:rPr lang="en-US" altLang="zh-CN" sz="1600" dirty="0"/>
              <a:t>led</a:t>
            </a:r>
            <a:r>
              <a:rPr lang="zh-CN" altLang="en-US" sz="1600" dirty="0"/>
              <a:t>灯正常翻转），表明并非系统阻塞，只需去排查任务阻塞</a:t>
            </a:r>
          </a:p>
        </p:txBody>
      </p:sp>
    </p:spTree>
    <p:extLst>
      <p:ext uri="{BB962C8B-B14F-4D97-AF65-F5344CB8AC3E}">
        <p14:creationId xmlns:p14="http://schemas.microsoft.com/office/powerpoint/2010/main" val="167757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88DE-E4D3-627D-4FF7-21495C1F9B79}"/>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87BB0699-1E38-4902-238F-9DA33FC8C4F9}"/>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多线程死锁</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分析</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5" name="图片 4" descr="表格&#10;&#10;AI 生成的内容可能不正确。">
            <a:extLst>
              <a:ext uri="{FF2B5EF4-FFF2-40B4-BE49-F238E27FC236}">
                <a16:creationId xmlns:a16="http://schemas.microsoft.com/office/drawing/2014/main" id="{9124A367-955B-9E8E-08DF-9373754FA511}"/>
              </a:ext>
            </a:extLst>
          </p:cNvPr>
          <p:cNvPicPr>
            <a:picLocks/>
          </p:cNvPicPr>
          <p:nvPr/>
        </p:nvPicPr>
        <p:blipFill>
          <a:blip r:embed="rId2">
            <a:extLst>
              <a:ext uri="{28A0092B-C50C-407E-A947-70E740481C1C}">
                <a14:useLocalDpi xmlns:a14="http://schemas.microsoft.com/office/drawing/2010/main" val="0"/>
              </a:ext>
            </a:extLst>
          </a:blip>
          <a:srcRect r="33591"/>
          <a:stretch>
            <a:fillRect/>
          </a:stretch>
        </p:blipFill>
        <p:spPr bwMode="auto">
          <a:xfrm>
            <a:off x="215591" y="555630"/>
            <a:ext cx="3336072" cy="4032239"/>
          </a:xfrm>
          <a:prstGeom prst="rect">
            <a:avLst/>
          </a:prstGeom>
          <a:noFill/>
        </p:spPr>
      </p:pic>
      <p:sp>
        <p:nvSpPr>
          <p:cNvPr id="7" name="文本框 6">
            <a:extLst>
              <a:ext uri="{FF2B5EF4-FFF2-40B4-BE49-F238E27FC236}">
                <a16:creationId xmlns:a16="http://schemas.microsoft.com/office/drawing/2014/main" id="{7E118F2D-222F-60F1-F043-617189188432}"/>
              </a:ext>
            </a:extLst>
          </p:cNvPr>
          <p:cNvSpPr txBox="1"/>
          <p:nvPr/>
        </p:nvSpPr>
        <p:spPr>
          <a:xfrm>
            <a:off x="3757961" y="1660746"/>
            <a:ext cx="4572000" cy="1530419"/>
          </a:xfrm>
          <a:prstGeom prst="rect">
            <a:avLst/>
          </a:prstGeom>
          <a:noFill/>
        </p:spPr>
        <p:txBody>
          <a:bodyPr wrap="square">
            <a:spAutoFit/>
          </a:bodyPr>
          <a:lstStyle/>
          <a:p>
            <a:pPr>
              <a:lnSpc>
                <a:spcPct val="150000"/>
              </a:lnSpc>
            </a:pPr>
            <a:r>
              <a:rPr lang="zh-CN" altLang="zh-CN" sz="1600" dirty="0">
                <a:effectLst/>
                <a:ea typeface="等线" panose="02010600030101010101" pitchFamily="2" charset="-122"/>
                <a:cs typeface="Times New Roman" panose="02020603050405020304" pitchFamily="18" charset="0"/>
              </a:rPr>
              <a:t>确定是任务阻塞后加入</a:t>
            </a:r>
            <a:r>
              <a:rPr lang="en-US" altLang="zh-CN" sz="1600" dirty="0" err="1">
                <a:effectLst/>
                <a:ea typeface="等线" panose="02010600030101010101" pitchFamily="2" charset="-122"/>
                <a:cs typeface="Times New Roman" panose="02020603050405020304" pitchFamily="18" charset="0"/>
              </a:rPr>
              <a:t>vtasklist</a:t>
            </a:r>
            <a:r>
              <a:rPr lang="zh-CN" altLang="zh-CN" sz="1600" dirty="0">
                <a:effectLst/>
                <a:ea typeface="等线" panose="02010600030101010101" pitchFamily="2" charset="-122"/>
                <a:cs typeface="Times New Roman" panose="02020603050405020304" pitchFamily="18" charset="0"/>
              </a:rPr>
              <a:t>打印任务状态来定位导致任务阻塞的任务，通过打印可以开出来</a:t>
            </a:r>
            <a:r>
              <a:rPr lang="en-US" altLang="zh-CN" sz="1600" dirty="0">
                <a:effectLst/>
                <a:ea typeface="等线" panose="02010600030101010101" pitchFamily="2" charset="-122"/>
                <a:cs typeface="Times New Roman" panose="02020603050405020304" pitchFamily="18" charset="0"/>
              </a:rPr>
              <a:t>task1</a:t>
            </a:r>
            <a:r>
              <a:rPr lang="zh-CN" altLang="zh-CN" sz="1600" dirty="0">
                <a:effectLst/>
                <a:ea typeface="等线" panose="02010600030101010101" pitchFamily="2" charset="-122"/>
                <a:cs typeface="Times New Roman" panose="02020603050405020304" pitchFamily="18" charset="0"/>
              </a:rPr>
              <a:t>和</a:t>
            </a:r>
            <a:r>
              <a:rPr lang="en-US" altLang="zh-CN" sz="1600" dirty="0">
                <a:effectLst/>
                <a:ea typeface="等线" panose="02010600030101010101" pitchFamily="2" charset="-122"/>
                <a:cs typeface="Times New Roman" panose="02020603050405020304" pitchFamily="18" charset="0"/>
              </a:rPr>
              <a:t>task2</a:t>
            </a:r>
            <a:r>
              <a:rPr lang="zh-CN" altLang="zh-CN" sz="1600" dirty="0">
                <a:effectLst/>
                <a:ea typeface="等线" panose="02010600030101010101" pitchFamily="2" charset="-122"/>
                <a:cs typeface="Times New Roman" panose="02020603050405020304" pitchFamily="18" charset="0"/>
              </a:rPr>
              <a:t>运行一次后就一直在阻塞，大概率就是这两个任务导致的</a:t>
            </a:r>
            <a:endParaRPr lang="zh-CN" altLang="en-US" sz="1600" dirty="0"/>
          </a:p>
        </p:txBody>
      </p:sp>
    </p:spTree>
    <p:extLst>
      <p:ext uri="{BB962C8B-B14F-4D97-AF65-F5344CB8AC3E}">
        <p14:creationId xmlns:p14="http://schemas.microsoft.com/office/powerpoint/2010/main" val="1855127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FA74-122C-F49D-B774-4C09D983D2CA}"/>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D85F89C-3F60-9D11-C974-FF00C5989C3B}"/>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栈溢出</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实验</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4098" name="Picture 2" descr="屏幕的截图&#10;&#10;AI 生成的内容可能不正确。">
            <a:extLst>
              <a:ext uri="{FF2B5EF4-FFF2-40B4-BE49-F238E27FC236}">
                <a16:creationId xmlns:a16="http://schemas.microsoft.com/office/drawing/2014/main" id="{92E5B178-E3D0-EB44-FB19-74F1341F8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91" y="1033656"/>
            <a:ext cx="5270500" cy="1898650"/>
          </a:xfrm>
          <a:prstGeom prst="rect">
            <a:avLst/>
          </a:prstGeom>
          <a:noFill/>
          <a:extLst>
            <a:ext uri="{909E8E84-426E-40DD-AFC4-6F175D3DCCD1}">
              <a14:hiddenFill xmlns:a14="http://schemas.microsoft.com/office/drawing/2010/main">
                <a:solidFill>
                  <a:srgbClr val="FFFFFF"/>
                </a:solidFill>
              </a14:hiddenFill>
            </a:ext>
          </a:extLst>
        </p:spPr>
      </p:pic>
      <p:pic>
        <p:nvPicPr>
          <p:cNvPr id="4097" name="图片 1" descr="文本&#10;&#10;AI 生成的内容可能不正确。">
            <a:extLst>
              <a:ext uri="{FF2B5EF4-FFF2-40B4-BE49-F238E27FC236}">
                <a16:creationId xmlns:a16="http://schemas.microsoft.com/office/drawing/2014/main" id="{5A61BADC-A7BC-8569-A02E-C1F4E14BA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91" y="3325618"/>
            <a:ext cx="5276850" cy="15684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A8DBA6DA-EF34-0F73-CC77-2E3C70B2D73D}"/>
              </a:ext>
            </a:extLst>
          </p:cNvPr>
          <p:cNvSpPr>
            <a:spLocks noChangeArrowheads="1"/>
          </p:cNvSpPr>
          <p:nvPr/>
        </p:nvSpPr>
        <p:spPr bwMode="auto">
          <a:xfrm>
            <a:off x="215591" y="606731"/>
            <a:ext cx="397169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创建一个没有限制的</a:t>
            </a:r>
            <a:r>
              <a:rPr kumimoji="0" lang="zh-CN" altLang="en-US"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无限</a:t>
            </a:r>
            <a:r>
              <a:rPr kumimoji="0" lang="zh-CN"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递归函数让其运行</a:t>
            </a:r>
            <a:endParaRPr kumimoji="0" lang="zh-CN"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Rectangle 4">
            <a:extLst>
              <a:ext uri="{FF2B5EF4-FFF2-40B4-BE49-F238E27FC236}">
                <a16:creationId xmlns:a16="http://schemas.microsoft.com/office/drawing/2014/main" id="{5CB2FCF9-4267-7D5C-D23D-14AF5B199BC2}"/>
              </a:ext>
            </a:extLst>
          </p:cNvPr>
          <p:cNvSpPr>
            <a:spLocks noChangeArrowheads="1"/>
          </p:cNvSpPr>
          <p:nvPr/>
        </p:nvSpPr>
        <p:spPr bwMode="auto">
          <a:xfrm>
            <a:off x="122663" y="3025765"/>
            <a:ext cx="758097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通过打印看到函数递归几次之后就停止了，同时心跳任务（</a:t>
            </a: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led</a:t>
            </a:r>
            <a:r>
              <a:rPr kumimoji="0" lang="zh-CN" altLang="en-US"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不再翻转）也停止了，系统被阻塞</a:t>
            </a:r>
            <a:endParaRPr kumimoji="0" lang="zh-CN"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5">
            <a:extLst>
              <a:ext uri="{FF2B5EF4-FFF2-40B4-BE49-F238E27FC236}">
                <a16:creationId xmlns:a16="http://schemas.microsoft.com/office/drawing/2014/main" id="{D62744C0-0EE9-B820-E7AE-49229F586245}"/>
              </a:ext>
            </a:extLst>
          </p:cNvPr>
          <p:cNvSpPr>
            <a:spLocks noChangeArrowheads="1"/>
          </p:cNvSpPr>
          <p:nvPr/>
        </p:nvSpPr>
        <p:spPr bwMode="auto">
          <a:xfrm>
            <a:off x="215591" y="46658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98961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DE56-21F1-887E-59C9-C993954D5780}"/>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7480198-A528-B1A8-51D2-EF07B6D093DE}"/>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栈溢出</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分析</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5122" name="Picture 2">
            <a:extLst>
              <a:ext uri="{FF2B5EF4-FFF2-40B4-BE49-F238E27FC236}">
                <a16:creationId xmlns:a16="http://schemas.microsoft.com/office/drawing/2014/main" id="{86B140FD-41E9-A64B-113A-9991538B3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43" y="3571023"/>
            <a:ext cx="5276850" cy="336550"/>
          </a:xfrm>
          <a:prstGeom prst="rect">
            <a:avLst/>
          </a:prstGeom>
          <a:noFill/>
          <a:extLst>
            <a:ext uri="{909E8E84-426E-40DD-AFC4-6F175D3DCCD1}">
              <a14:hiddenFill xmlns:a14="http://schemas.microsoft.com/office/drawing/2010/main">
                <a:solidFill>
                  <a:srgbClr val="FFFFFF"/>
                </a:solidFill>
              </a14:hiddenFill>
            </a:ext>
          </a:extLst>
        </p:spPr>
      </p:pic>
      <p:pic>
        <p:nvPicPr>
          <p:cNvPr id="5121" name="图片 1">
            <a:extLst>
              <a:ext uri="{FF2B5EF4-FFF2-40B4-BE49-F238E27FC236}">
                <a16:creationId xmlns:a16="http://schemas.microsoft.com/office/drawing/2014/main" id="{4848E08A-95A7-A88C-E3C3-F5B1060B35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43" y="4070351"/>
            <a:ext cx="2400300" cy="203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893F2FDD-98B2-6A99-8340-1E7FCC615A4F}"/>
              </a:ext>
            </a:extLst>
          </p:cNvPr>
          <p:cNvSpPr>
            <a:spLocks noChangeArrowheads="1"/>
          </p:cNvSpPr>
          <p:nvPr/>
        </p:nvSpPr>
        <p:spPr bwMode="auto">
          <a:xfrm>
            <a:off x="401443" y="616717"/>
            <a:ext cx="8207298"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利用</a:t>
            </a:r>
            <a:r>
              <a:rPr kumimoji="0" lang="en-US" altLang="zh-CN" sz="1600" b="0" i="0" u="none" strike="noStrike" cap="none" normalizeH="0" baseline="0" dirty="0" err="1">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keil</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debug</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模式发现程序跑飞进入</a:t>
            </a:r>
            <a:r>
              <a:rPr kumimoji="0" lang="en-US" altLang="zh-CN" sz="1600" b="0" i="0" u="none" strike="noStrike" cap="none" normalizeH="0" baseline="0" dirty="0" err="1">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hardfault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，再看</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LR</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寄存器的值（</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EXC_RETURN</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）得知异常发生前处于线程模式。</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出现该异常的原因一般有：</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线程栈（</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PSP</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）溢出； </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非法内存访问（如空指针、未初始化外设）； </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上下文保存 </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恢复错误</a:t>
            </a:r>
            <a:b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b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后续从这几点排查问题即可</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4">
            <a:extLst>
              <a:ext uri="{FF2B5EF4-FFF2-40B4-BE49-F238E27FC236}">
                <a16:creationId xmlns:a16="http://schemas.microsoft.com/office/drawing/2014/main" id="{A8F204B7-EB0C-BE08-B492-552F19E30CF2}"/>
              </a:ext>
            </a:extLst>
          </p:cNvPr>
          <p:cNvSpPr>
            <a:spLocks noChangeArrowheads="1"/>
          </p:cNvSpPr>
          <p:nvPr/>
        </p:nvSpPr>
        <p:spPr bwMode="auto">
          <a:xfrm>
            <a:off x="479502" y="25389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5">
            <a:extLst>
              <a:ext uri="{FF2B5EF4-FFF2-40B4-BE49-F238E27FC236}">
                <a16:creationId xmlns:a16="http://schemas.microsoft.com/office/drawing/2014/main" id="{B015A307-1766-5D9C-B974-03845D5B3C95}"/>
              </a:ext>
            </a:extLst>
          </p:cNvPr>
          <p:cNvSpPr>
            <a:spLocks noChangeArrowheads="1"/>
          </p:cNvSpPr>
          <p:nvPr/>
        </p:nvSpPr>
        <p:spPr bwMode="auto">
          <a:xfrm>
            <a:off x="479502" y="27421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518838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D2CE-F32E-F37C-7D71-46E76F73140D}"/>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4AA697C5-0B02-D218-A76E-B1CF01E895DC}"/>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数组越界覆盖</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实验</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屏幕上有字&#10;&#10;AI 生成的内容可能不正确。">
            <a:extLst>
              <a:ext uri="{FF2B5EF4-FFF2-40B4-BE49-F238E27FC236}">
                <a16:creationId xmlns:a16="http://schemas.microsoft.com/office/drawing/2014/main" id="{91D8B068-338D-C9C1-51F1-6DE2935508EC}"/>
              </a:ext>
            </a:extLst>
          </p:cNvPr>
          <p:cNvPicPr>
            <a:picLocks noChangeAspect="1"/>
          </p:cNvPicPr>
          <p:nvPr/>
        </p:nvPicPr>
        <p:blipFill>
          <a:blip r:embed="rId2"/>
          <a:stretch>
            <a:fillRect/>
          </a:stretch>
        </p:blipFill>
        <p:spPr>
          <a:xfrm>
            <a:off x="215591" y="1054797"/>
            <a:ext cx="4016375" cy="2233295"/>
          </a:xfrm>
          <a:prstGeom prst="rect">
            <a:avLst/>
          </a:prstGeom>
        </p:spPr>
      </p:pic>
      <p:sp>
        <p:nvSpPr>
          <p:cNvPr id="5" name="文本框 4">
            <a:extLst>
              <a:ext uri="{FF2B5EF4-FFF2-40B4-BE49-F238E27FC236}">
                <a16:creationId xmlns:a16="http://schemas.microsoft.com/office/drawing/2014/main" id="{F097B6F3-4144-FC62-7F05-4C130F86E705}"/>
              </a:ext>
            </a:extLst>
          </p:cNvPr>
          <p:cNvSpPr txBox="1"/>
          <p:nvPr/>
        </p:nvSpPr>
        <p:spPr>
          <a:xfrm>
            <a:off x="215591" y="587682"/>
            <a:ext cx="7690624" cy="292709"/>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定义一个数组，对数组范围之外的元素进行赋值，运行可以看到心跳任务停止，系统跑飞，打印也混乱</a:t>
            </a:r>
          </a:p>
        </p:txBody>
      </p:sp>
      <p:pic>
        <p:nvPicPr>
          <p:cNvPr id="6" name="图片 5" descr="表格&#10;&#10;AI 生成的内容可能不正确。">
            <a:extLst>
              <a:ext uri="{FF2B5EF4-FFF2-40B4-BE49-F238E27FC236}">
                <a16:creationId xmlns:a16="http://schemas.microsoft.com/office/drawing/2014/main" id="{880F5615-1802-209F-7CE3-4EC3788179C2}"/>
              </a:ext>
            </a:extLst>
          </p:cNvPr>
          <p:cNvPicPr>
            <a:picLocks noChangeAspect="1"/>
          </p:cNvPicPr>
          <p:nvPr/>
        </p:nvPicPr>
        <p:blipFill>
          <a:blip r:embed="rId3"/>
          <a:stretch>
            <a:fillRect/>
          </a:stretch>
        </p:blipFill>
        <p:spPr>
          <a:xfrm>
            <a:off x="215591" y="3401686"/>
            <a:ext cx="5274310" cy="804545"/>
          </a:xfrm>
          <a:prstGeom prst="rect">
            <a:avLst/>
          </a:prstGeom>
        </p:spPr>
      </p:pic>
    </p:spTree>
    <p:extLst>
      <p:ext uri="{BB962C8B-B14F-4D97-AF65-F5344CB8AC3E}">
        <p14:creationId xmlns:p14="http://schemas.microsoft.com/office/powerpoint/2010/main" val="278363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8C18-4CFE-ADA1-0564-9FA867431A1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ADE95DAA-A222-55F1-A5DC-1C9974C51879}"/>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数组越界覆盖</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分析</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图形用户界面, 文本&#10;&#10;AI 生成的内容可能不正确。">
            <a:extLst>
              <a:ext uri="{FF2B5EF4-FFF2-40B4-BE49-F238E27FC236}">
                <a16:creationId xmlns:a16="http://schemas.microsoft.com/office/drawing/2014/main" id="{EA08E427-A43A-2B09-E0F0-C7F52AA31EF7}"/>
              </a:ext>
            </a:extLst>
          </p:cNvPr>
          <p:cNvPicPr>
            <a:picLocks/>
          </p:cNvPicPr>
          <p:nvPr/>
        </p:nvPicPr>
        <p:blipFill>
          <a:blip r:embed="rId2"/>
          <a:srcRect r="46138"/>
          <a:stretch>
            <a:fillRect/>
          </a:stretch>
        </p:blipFill>
        <p:spPr>
          <a:xfrm>
            <a:off x="215591" y="1521460"/>
            <a:ext cx="2565880" cy="2459355"/>
          </a:xfrm>
          <a:prstGeom prst="rect">
            <a:avLst/>
          </a:prstGeom>
        </p:spPr>
      </p:pic>
      <p:pic>
        <p:nvPicPr>
          <p:cNvPr id="3" name="图片 2" descr="表格&#10;&#10;AI 生成的内容可能不正确。">
            <a:extLst>
              <a:ext uri="{FF2B5EF4-FFF2-40B4-BE49-F238E27FC236}">
                <a16:creationId xmlns:a16="http://schemas.microsoft.com/office/drawing/2014/main" id="{0BEF18E7-F22A-C4F4-0FEF-DF3B50069B1D}"/>
              </a:ext>
            </a:extLst>
          </p:cNvPr>
          <p:cNvPicPr>
            <a:picLocks noChangeAspect="1"/>
          </p:cNvPicPr>
          <p:nvPr/>
        </p:nvPicPr>
        <p:blipFill>
          <a:blip r:embed="rId3"/>
          <a:stretch>
            <a:fillRect/>
          </a:stretch>
        </p:blipFill>
        <p:spPr>
          <a:xfrm>
            <a:off x="2781471" y="1521460"/>
            <a:ext cx="4498975" cy="2100580"/>
          </a:xfrm>
          <a:prstGeom prst="rect">
            <a:avLst/>
          </a:prstGeom>
        </p:spPr>
      </p:pic>
      <p:sp>
        <p:nvSpPr>
          <p:cNvPr id="6" name="文本框 5">
            <a:extLst>
              <a:ext uri="{FF2B5EF4-FFF2-40B4-BE49-F238E27FC236}">
                <a16:creationId xmlns:a16="http://schemas.microsoft.com/office/drawing/2014/main" id="{7E4C6840-D7EA-4A6A-FC61-409743EDCB4F}"/>
              </a:ext>
            </a:extLst>
          </p:cNvPr>
          <p:cNvSpPr txBox="1"/>
          <p:nvPr/>
        </p:nvSpPr>
        <p:spPr>
          <a:xfrm>
            <a:off x="215591" y="644554"/>
            <a:ext cx="8745530" cy="820033"/>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进入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debug</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，运行一段时间终止后发现程序停在</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nop</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（即</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delay</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），通过</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call stack</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窗口发现调用链：</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ArrayOutOfBounds_Test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 Delay_ms_48MHz → Delay_us_48MHz</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p>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所以问题在</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ArrayOutOfBounds_Test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函数中</a:t>
            </a:r>
          </a:p>
        </p:txBody>
      </p:sp>
    </p:spTree>
    <p:extLst>
      <p:ext uri="{BB962C8B-B14F-4D97-AF65-F5344CB8AC3E}">
        <p14:creationId xmlns:p14="http://schemas.microsoft.com/office/powerpoint/2010/main" val="136302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E069D-746E-D399-C119-616F26133E3F}"/>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57459531-6E48-1C31-868E-E97AE51D045E}"/>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非法代码地址跳转</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实验</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文本&#10;&#10;AI 生成的内容可能不正确。">
            <a:extLst>
              <a:ext uri="{FF2B5EF4-FFF2-40B4-BE49-F238E27FC236}">
                <a16:creationId xmlns:a16="http://schemas.microsoft.com/office/drawing/2014/main" id="{E4813C7A-7F24-B5A7-A0E3-B0B74D0B6229}"/>
              </a:ext>
            </a:extLst>
          </p:cNvPr>
          <p:cNvPicPr>
            <a:picLocks noChangeAspect="1"/>
          </p:cNvPicPr>
          <p:nvPr/>
        </p:nvPicPr>
        <p:blipFill>
          <a:blip r:embed="rId2"/>
          <a:stretch>
            <a:fillRect/>
          </a:stretch>
        </p:blipFill>
        <p:spPr>
          <a:xfrm>
            <a:off x="215591" y="1670087"/>
            <a:ext cx="4953635" cy="1457325"/>
          </a:xfrm>
          <a:prstGeom prst="rect">
            <a:avLst/>
          </a:prstGeom>
        </p:spPr>
      </p:pic>
      <p:pic>
        <p:nvPicPr>
          <p:cNvPr id="3" name="图片 2" descr="文本&#10;&#10;AI 生成的内容可能不正确。">
            <a:extLst>
              <a:ext uri="{FF2B5EF4-FFF2-40B4-BE49-F238E27FC236}">
                <a16:creationId xmlns:a16="http://schemas.microsoft.com/office/drawing/2014/main" id="{9F3AA627-B899-5A29-EAB8-FE3BE8568215}"/>
              </a:ext>
            </a:extLst>
          </p:cNvPr>
          <p:cNvPicPr>
            <a:picLocks noChangeAspect="1"/>
          </p:cNvPicPr>
          <p:nvPr/>
        </p:nvPicPr>
        <p:blipFill>
          <a:blip r:embed="rId3"/>
          <a:stretch>
            <a:fillRect/>
          </a:stretch>
        </p:blipFill>
        <p:spPr>
          <a:xfrm>
            <a:off x="215591" y="3458062"/>
            <a:ext cx="5274310" cy="702945"/>
          </a:xfrm>
          <a:prstGeom prst="rect">
            <a:avLst/>
          </a:prstGeom>
        </p:spPr>
      </p:pic>
      <p:sp>
        <p:nvSpPr>
          <p:cNvPr id="6" name="文本框 5">
            <a:extLst>
              <a:ext uri="{FF2B5EF4-FFF2-40B4-BE49-F238E27FC236}">
                <a16:creationId xmlns:a16="http://schemas.microsoft.com/office/drawing/2014/main" id="{1CF4FC88-63DE-6A6C-2A49-D1903075DD1C}"/>
              </a:ext>
            </a:extLst>
          </p:cNvPr>
          <p:cNvSpPr txBox="1"/>
          <p:nvPr/>
        </p:nvSpPr>
        <p:spPr>
          <a:xfrm>
            <a:off x="215591" y="1046728"/>
            <a:ext cx="4572000" cy="292709"/>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将函数指针定义为无效地址，通过打印可以看到程序已经跑飞了</a:t>
            </a:r>
          </a:p>
        </p:txBody>
      </p:sp>
    </p:spTree>
    <p:extLst>
      <p:ext uri="{BB962C8B-B14F-4D97-AF65-F5344CB8AC3E}">
        <p14:creationId xmlns:p14="http://schemas.microsoft.com/office/powerpoint/2010/main" val="1260263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7A01-08FA-5FB8-8316-8B8D0F7990A3}"/>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40BFF0EE-1443-1FE2-05DF-9A192A0ECA6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非法代码地址跳转</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分析</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手机屏幕截图&#10;&#10;AI 生成的内容可能不正确。">
            <a:extLst>
              <a:ext uri="{FF2B5EF4-FFF2-40B4-BE49-F238E27FC236}">
                <a16:creationId xmlns:a16="http://schemas.microsoft.com/office/drawing/2014/main" id="{BD968555-8792-F045-EAA0-44266AA51D1D}"/>
              </a:ext>
            </a:extLst>
          </p:cNvPr>
          <p:cNvPicPr>
            <a:picLocks noChangeAspect="1"/>
          </p:cNvPicPr>
          <p:nvPr/>
        </p:nvPicPr>
        <p:blipFill>
          <a:blip r:embed="rId2"/>
          <a:stretch>
            <a:fillRect/>
          </a:stretch>
        </p:blipFill>
        <p:spPr>
          <a:xfrm>
            <a:off x="215591" y="1984840"/>
            <a:ext cx="1909445" cy="1838960"/>
          </a:xfrm>
          <a:prstGeom prst="rect">
            <a:avLst/>
          </a:prstGeom>
        </p:spPr>
      </p:pic>
      <p:pic>
        <p:nvPicPr>
          <p:cNvPr id="3" name="图片 2" descr="图形用户界面, 表格&#10;&#10;AI 生成的内容可能不正确。">
            <a:extLst>
              <a:ext uri="{FF2B5EF4-FFF2-40B4-BE49-F238E27FC236}">
                <a16:creationId xmlns:a16="http://schemas.microsoft.com/office/drawing/2014/main" id="{3EA8135F-E0F0-AE21-51B5-D80255BC9BFF}"/>
              </a:ext>
            </a:extLst>
          </p:cNvPr>
          <p:cNvPicPr>
            <a:picLocks noChangeAspect="1"/>
          </p:cNvPicPr>
          <p:nvPr/>
        </p:nvPicPr>
        <p:blipFill>
          <a:blip r:embed="rId3"/>
          <a:stretch>
            <a:fillRect/>
          </a:stretch>
        </p:blipFill>
        <p:spPr>
          <a:xfrm>
            <a:off x="2853504" y="2762715"/>
            <a:ext cx="3147060" cy="740410"/>
          </a:xfrm>
          <a:prstGeom prst="rect">
            <a:avLst/>
          </a:prstGeom>
        </p:spPr>
      </p:pic>
      <p:sp>
        <p:nvSpPr>
          <p:cNvPr id="6" name="文本框 5">
            <a:extLst>
              <a:ext uri="{FF2B5EF4-FFF2-40B4-BE49-F238E27FC236}">
                <a16:creationId xmlns:a16="http://schemas.microsoft.com/office/drawing/2014/main" id="{CE708224-934B-B312-FF78-A9F1ECE6B5F5}"/>
              </a:ext>
            </a:extLst>
          </p:cNvPr>
          <p:cNvSpPr txBox="1"/>
          <p:nvPr/>
        </p:nvSpPr>
        <p:spPr>
          <a:xfrm>
            <a:off x="215591" y="1063129"/>
            <a:ext cx="7421136" cy="505075"/>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进入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debug</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通过</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LR</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判断触发了</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hardfault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，打开</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call stack</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查看调用链发现是</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IllegalCodeAddress_Test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（）函数触发了</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hardfault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，所以问题出在该函数中</a:t>
            </a:r>
          </a:p>
        </p:txBody>
      </p:sp>
    </p:spTree>
    <p:extLst>
      <p:ext uri="{BB962C8B-B14F-4D97-AF65-F5344CB8AC3E}">
        <p14:creationId xmlns:p14="http://schemas.microsoft.com/office/powerpoint/2010/main" val="180816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93DED-A660-5626-62A3-89436478B4A1}"/>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88D213D6-4C61-9FC2-8843-FA1F539C7071}"/>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未定义指令</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实验</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文本&#10;&#10;AI 生成的内容可能不正确。">
            <a:extLst>
              <a:ext uri="{FF2B5EF4-FFF2-40B4-BE49-F238E27FC236}">
                <a16:creationId xmlns:a16="http://schemas.microsoft.com/office/drawing/2014/main" id="{B294C002-7FA5-4FBB-5A37-EEA6A2295EDD}"/>
              </a:ext>
            </a:extLst>
          </p:cNvPr>
          <p:cNvPicPr>
            <a:picLocks noChangeAspect="1"/>
          </p:cNvPicPr>
          <p:nvPr/>
        </p:nvPicPr>
        <p:blipFill>
          <a:blip r:embed="rId2"/>
          <a:stretch>
            <a:fillRect/>
          </a:stretch>
        </p:blipFill>
        <p:spPr>
          <a:xfrm>
            <a:off x="215591" y="1290157"/>
            <a:ext cx="4704715" cy="2195195"/>
          </a:xfrm>
          <a:prstGeom prst="rect">
            <a:avLst/>
          </a:prstGeom>
        </p:spPr>
      </p:pic>
      <p:pic>
        <p:nvPicPr>
          <p:cNvPr id="3" name="图片 2" descr="图形用户界面, 文本, 应用程序&#10;&#10;AI 生成的内容可能不正确。">
            <a:extLst>
              <a:ext uri="{FF2B5EF4-FFF2-40B4-BE49-F238E27FC236}">
                <a16:creationId xmlns:a16="http://schemas.microsoft.com/office/drawing/2014/main" id="{F871B3F3-DAB7-5D30-2EA8-A440AD71B63F}"/>
              </a:ext>
            </a:extLst>
          </p:cNvPr>
          <p:cNvPicPr>
            <a:picLocks noChangeAspect="1"/>
          </p:cNvPicPr>
          <p:nvPr/>
        </p:nvPicPr>
        <p:blipFill rotWithShape="1">
          <a:blip r:embed="rId3"/>
          <a:srcRect l="-1" r="-199" b="46220"/>
          <a:stretch>
            <a:fillRect/>
          </a:stretch>
        </p:blipFill>
        <p:spPr bwMode="auto">
          <a:xfrm>
            <a:off x="215591" y="3754122"/>
            <a:ext cx="4166870" cy="433705"/>
          </a:xfrm>
          <a:prstGeom prst="rect">
            <a:avLst/>
          </a:prstGeom>
          <a:ln>
            <a:noFill/>
          </a:ln>
          <a:extLst>
            <a:ext uri="{53640926-AAD7-44D8-BBD7-CCE9431645EC}">
              <a14:shadowObscured xmlns:a14="http://schemas.microsoft.com/office/drawing/2010/main"/>
            </a:ext>
          </a:extLst>
        </p:spPr>
      </p:pic>
      <p:sp>
        <p:nvSpPr>
          <p:cNvPr id="6" name="文本框 5">
            <a:extLst>
              <a:ext uri="{FF2B5EF4-FFF2-40B4-BE49-F238E27FC236}">
                <a16:creationId xmlns:a16="http://schemas.microsoft.com/office/drawing/2014/main" id="{D1A25371-B39F-DBE0-FF11-D873D9855EE6}"/>
              </a:ext>
            </a:extLst>
          </p:cNvPr>
          <p:cNvSpPr txBox="1"/>
          <p:nvPr/>
        </p:nvSpPr>
        <p:spPr>
          <a:xfrm>
            <a:off x="215591" y="800933"/>
            <a:ext cx="5192750" cy="292709"/>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创建一个函数去执行</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cpu</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不支持的指令，执行到那里之后程序立马就异常了</a:t>
            </a:r>
          </a:p>
        </p:txBody>
      </p:sp>
    </p:spTree>
    <p:extLst>
      <p:ext uri="{BB962C8B-B14F-4D97-AF65-F5344CB8AC3E}">
        <p14:creationId xmlns:p14="http://schemas.microsoft.com/office/powerpoint/2010/main" val="3075938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78387-AA1C-A86B-7461-A3056BF07EA0}"/>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D7858739-640C-CAF2-8501-EF78D4421B10}"/>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未定义指令</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分析</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2" name="图片 1" descr="图形用户界面, 文本, 应用程序&#10;&#10;AI 生成的内容可能不正确。">
            <a:extLst>
              <a:ext uri="{FF2B5EF4-FFF2-40B4-BE49-F238E27FC236}">
                <a16:creationId xmlns:a16="http://schemas.microsoft.com/office/drawing/2014/main" id="{7345A76D-6388-BE43-A48B-B34E0101BC96}"/>
              </a:ext>
            </a:extLst>
          </p:cNvPr>
          <p:cNvPicPr>
            <a:picLocks noChangeAspect="1"/>
          </p:cNvPicPr>
          <p:nvPr/>
        </p:nvPicPr>
        <p:blipFill>
          <a:blip r:embed="rId2"/>
          <a:stretch>
            <a:fillRect/>
          </a:stretch>
        </p:blipFill>
        <p:spPr>
          <a:xfrm>
            <a:off x="215591" y="2376534"/>
            <a:ext cx="5274310" cy="1148715"/>
          </a:xfrm>
          <a:prstGeom prst="rect">
            <a:avLst/>
          </a:prstGeom>
        </p:spPr>
      </p:pic>
      <p:sp>
        <p:nvSpPr>
          <p:cNvPr id="5" name="文本框 4">
            <a:extLst>
              <a:ext uri="{FF2B5EF4-FFF2-40B4-BE49-F238E27FC236}">
                <a16:creationId xmlns:a16="http://schemas.microsoft.com/office/drawing/2014/main" id="{3E5DAE51-E48E-AA5E-ED51-A2F030CDB3FA}"/>
              </a:ext>
            </a:extLst>
          </p:cNvPr>
          <p:cNvSpPr txBox="1"/>
          <p:nvPr/>
        </p:nvSpPr>
        <p:spPr>
          <a:xfrm>
            <a:off x="215591" y="1246787"/>
            <a:ext cx="5884126" cy="505075"/>
          </a:xfrm>
          <a:prstGeom prst="rect">
            <a:avLst/>
          </a:prstGeom>
          <a:noFill/>
        </p:spPr>
        <p:txBody>
          <a:bodyPr wrap="square">
            <a:spAutoFit/>
          </a:bodyPr>
          <a:lstStyle/>
          <a:p>
            <a:pPr>
              <a:lnSpc>
                <a:spcPct val="115000"/>
              </a:lnSpc>
              <a:spcAft>
                <a:spcPts val="8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进入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debug</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，通过</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LR</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call stack</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得知是</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UndefinedInstruction_Test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函数触发了</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hardfault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异常</a:t>
            </a:r>
          </a:p>
        </p:txBody>
      </p:sp>
    </p:spTree>
    <p:extLst>
      <p:ext uri="{BB962C8B-B14F-4D97-AF65-F5344CB8AC3E}">
        <p14:creationId xmlns:p14="http://schemas.microsoft.com/office/powerpoint/2010/main" val="769156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3C01B-A835-CFA0-0ED0-9625DD99A90A}"/>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D4842698-26A0-91A0-D52D-D6FE8BE29184}"/>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E0A1645D-F3AD-2DCD-F983-07AEE7BA7E6B}"/>
              </a:ext>
            </a:extLst>
          </p:cNvPr>
          <p:cNvSpPr txBox="1"/>
          <p:nvPr/>
        </p:nvSpPr>
        <p:spPr>
          <a:xfrm>
            <a:off x="6543907" y="3652026"/>
            <a:ext cx="2180993" cy="584775"/>
          </a:xfrm>
          <a:prstGeom prst="rect">
            <a:avLst/>
          </a:prstGeom>
          <a:noFill/>
        </p:spPr>
        <p:txBody>
          <a:bodyPr wrap="square" rtlCol="0">
            <a:spAutoFit/>
          </a:bodyPr>
          <a:lstStyle/>
          <a:p>
            <a:r>
              <a:rPr lang="en-US" altLang="zh-CN" sz="3200" dirty="0">
                <a:solidFill>
                  <a:schemeClr val="accent1"/>
                </a:solidFill>
                <a:latin typeface="+mn-ea"/>
              </a:rPr>
              <a:t>I2S</a:t>
            </a:r>
            <a:r>
              <a:rPr lang="zh-CN" altLang="en-US" sz="3200" dirty="0">
                <a:solidFill>
                  <a:schemeClr val="accent1"/>
                </a:solidFill>
                <a:latin typeface="+mn-ea"/>
              </a:rPr>
              <a:t>详解</a:t>
            </a:r>
          </a:p>
        </p:txBody>
      </p:sp>
    </p:spTree>
    <p:extLst>
      <p:ext uri="{BB962C8B-B14F-4D97-AF65-F5344CB8AC3E}">
        <p14:creationId xmlns:p14="http://schemas.microsoft.com/office/powerpoint/2010/main" val="266367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4C9C-B3C5-5D54-4C0A-9E8677A0E517}"/>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0860989D-2FBC-97AC-B6C0-CA425560532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a:t>
            </a:r>
            <a:r>
              <a:rPr lang="zh-CN" altLang="en-US" sz="2400" b="1" spc="-38" dirty="0">
                <a:solidFill>
                  <a:srgbClr val="DFC27B"/>
                </a:solidFill>
                <a:latin typeface="Calibri" panose="020F0502020204030204" pitchFamily="34" charset="0"/>
                <a:cs typeface="Calibri" panose="020F0502020204030204" pitchFamily="34" charset="0"/>
              </a:rPr>
              <a:t>介绍</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9D040515-4919-6023-BB26-79930DCCE786}"/>
              </a:ext>
            </a:extLst>
          </p:cNvPr>
          <p:cNvSpPr txBox="1"/>
          <p:nvPr/>
        </p:nvSpPr>
        <p:spPr>
          <a:xfrm>
            <a:off x="215591" y="505275"/>
            <a:ext cx="8745530" cy="461665"/>
          </a:xfrm>
          <a:prstGeom prst="rect">
            <a:avLst/>
          </a:prstGeom>
          <a:noFill/>
        </p:spPr>
        <p:txBody>
          <a:bodyPr wrap="square">
            <a:spAutoFit/>
          </a:bodyPr>
          <a:lstStyle/>
          <a:p>
            <a:r>
              <a:rPr lang="en-US" altLang="zh-CN" sz="1200" dirty="0">
                <a:effectLst/>
                <a:latin typeface="等线" panose="02010600030101010101" pitchFamily="2" charset="-122"/>
                <a:cs typeface="Times New Roman" panose="02020603050405020304" pitchFamily="18" charset="0"/>
              </a:rPr>
              <a:t>I2S</a:t>
            </a:r>
            <a:r>
              <a:rPr lang="zh-CN" altLang="zh-CN" sz="1200" dirty="0">
                <a:effectLst/>
                <a:ea typeface="等线" panose="02010600030101010101" pitchFamily="2" charset="-122"/>
                <a:cs typeface="Times New Roman" panose="02020603050405020304" pitchFamily="18" charset="0"/>
              </a:rPr>
              <a:t>（</a:t>
            </a:r>
            <a:r>
              <a:rPr lang="en-US" altLang="zh-CN" sz="1200" dirty="0">
                <a:effectLst/>
                <a:ea typeface="等线" panose="02010600030101010101" pitchFamily="2" charset="-122"/>
                <a:cs typeface="Times New Roman" panose="02020603050405020304" pitchFamily="18" charset="0"/>
              </a:rPr>
              <a:t>Inter-IC Sound</a:t>
            </a:r>
            <a:r>
              <a:rPr lang="zh-CN" altLang="zh-CN" sz="1200" dirty="0">
                <a:effectLst/>
                <a:ea typeface="等线" panose="02010600030101010101" pitchFamily="2" charset="-122"/>
                <a:cs typeface="Times New Roman" panose="02020603050405020304" pitchFamily="18" charset="0"/>
              </a:rPr>
              <a:t>）模块是专为音频数据同步传输设计的外设，支持多种音频格式、灵活的时钟配置及无</a:t>
            </a:r>
            <a:r>
              <a:rPr lang="en-US" altLang="zh-CN" sz="1200" dirty="0">
                <a:effectLst/>
                <a:ea typeface="等线" panose="02010600030101010101" pitchFamily="2" charset="-122"/>
                <a:cs typeface="Times New Roman" panose="02020603050405020304" pitchFamily="18" charset="0"/>
              </a:rPr>
              <a:t> CPU </a:t>
            </a:r>
            <a:r>
              <a:rPr lang="zh-CN" altLang="zh-CN" sz="1200" dirty="0">
                <a:effectLst/>
                <a:ea typeface="等线" panose="02010600030101010101" pitchFamily="2" charset="-122"/>
                <a:cs typeface="Times New Roman" panose="02020603050405020304" pitchFamily="18" charset="0"/>
              </a:rPr>
              <a:t>干预的</a:t>
            </a:r>
            <a:r>
              <a:rPr lang="en-US" altLang="zh-CN" sz="1200" dirty="0">
                <a:effectLst/>
                <a:ea typeface="等线" panose="02010600030101010101" pitchFamily="2" charset="-122"/>
                <a:cs typeface="Times New Roman" panose="02020603050405020304" pitchFamily="18" charset="0"/>
              </a:rPr>
              <a:t> DMA </a:t>
            </a:r>
            <a:r>
              <a:rPr lang="zh-CN" altLang="zh-CN" sz="1200" dirty="0">
                <a:effectLst/>
                <a:ea typeface="等线" panose="02010600030101010101" pitchFamily="2" charset="-122"/>
                <a:cs typeface="Times New Roman" panose="02020603050405020304" pitchFamily="18" charset="0"/>
              </a:rPr>
              <a:t>数据传输，适用于嵌入式系统中的语音通话、音乐播放、录音等音频场景</a:t>
            </a:r>
            <a:r>
              <a:rPr lang="zh-CN" altLang="en-US" sz="1200" dirty="0">
                <a:effectLst/>
                <a:ea typeface="等线" panose="02010600030101010101" pitchFamily="2" charset="-122"/>
                <a:cs typeface="Times New Roman" panose="02020603050405020304" pitchFamily="18" charset="0"/>
              </a:rPr>
              <a:t>。</a:t>
            </a:r>
            <a:r>
              <a:rPr lang="zh-CN" altLang="en-US" sz="1200" dirty="0">
                <a:ea typeface="等线" panose="02010600030101010101" pitchFamily="2" charset="-122"/>
                <a:cs typeface="Times New Roman" panose="02020603050405020304" pitchFamily="18" charset="0"/>
              </a:rPr>
              <a:t>下面是</a:t>
            </a:r>
            <a:r>
              <a:rPr lang="en-US" altLang="zh-CN" sz="1200" dirty="0">
                <a:ea typeface="等线" panose="02010600030101010101" pitchFamily="2" charset="-122"/>
                <a:cs typeface="Times New Roman" panose="02020603050405020304" pitchFamily="18" charset="0"/>
              </a:rPr>
              <a:t>i2s</a:t>
            </a:r>
            <a:r>
              <a:rPr lang="zh-CN" altLang="en-US" sz="1200" dirty="0">
                <a:ea typeface="等线" panose="02010600030101010101" pitchFamily="2" charset="-122"/>
                <a:cs typeface="Times New Roman" panose="02020603050405020304" pitchFamily="18" charset="0"/>
              </a:rPr>
              <a:t>的信号线介绍</a:t>
            </a:r>
            <a:endParaRPr lang="zh-CN" altLang="en-US" sz="1200" dirty="0"/>
          </a:p>
        </p:txBody>
      </p:sp>
      <p:graphicFrame>
        <p:nvGraphicFramePr>
          <p:cNvPr id="5" name="表格 4">
            <a:extLst>
              <a:ext uri="{FF2B5EF4-FFF2-40B4-BE49-F238E27FC236}">
                <a16:creationId xmlns:a16="http://schemas.microsoft.com/office/drawing/2014/main" id="{2A851218-8971-7E7B-990A-D9EF82AE06C1}"/>
              </a:ext>
            </a:extLst>
          </p:cNvPr>
          <p:cNvGraphicFramePr>
            <a:graphicFrameLocks noGrp="1"/>
          </p:cNvGraphicFramePr>
          <p:nvPr>
            <p:extLst>
              <p:ext uri="{D42A27DB-BD31-4B8C-83A1-F6EECF244321}">
                <p14:modId xmlns:p14="http://schemas.microsoft.com/office/powerpoint/2010/main" val="2806544993"/>
              </p:ext>
            </p:extLst>
          </p:nvPr>
        </p:nvGraphicFramePr>
        <p:xfrm>
          <a:off x="215593" y="1009618"/>
          <a:ext cx="8745528" cy="3124264"/>
        </p:xfrm>
        <a:graphic>
          <a:graphicData uri="http://schemas.openxmlformats.org/drawingml/2006/table">
            <a:tbl>
              <a:tblPr firstRow="1" bandRow="1">
                <a:tableStyleId>{7DF18680-E054-41AD-8BC1-D1AEF772440D}</a:tableStyleId>
              </a:tblPr>
              <a:tblGrid>
                <a:gridCol w="1638612">
                  <a:extLst>
                    <a:ext uri="{9D8B030D-6E8A-4147-A177-3AD203B41FA5}">
                      <a16:colId xmlns:a16="http://schemas.microsoft.com/office/drawing/2014/main" val="131152188"/>
                    </a:ext>
                  </a:extLst>
                </a:gridCol>
                <a:gridCol w="2146300">
                  <a:extLst>
                    <a:ext uri="{9D8B030D-6E8A-4147-A177-3AD203B41FA5}">
                      <a16:colId xmlns:a16="http://schemas.microsoft.com/office/drawing/2014/main" val="1404073494"/>
                    </a:ext>
                  </a:extLst>
                </a:gridCol>
                <a:gridCol w="4960616">
                  <a:extLst>
                    <a:ext uri="{9D8B030D-6E8A-4147-A177-3AD203B41FA5}">
                      <a16:colId xmlns:a16="http://schemas.microsoft.com/office/drawing/2014/main" val="4269865027"/>
                    </a:ext>
                  </a:extLst>
                </a:gridCol>
              </a:tblGrid>
              <a:tr h="590550">
                <a:tc>
                  <a:txBody>
                    <a:bodyPr/>
                    <a:lstStyle/>
                    <a:p>
                      <a:pPr algn="ctr">
                        <a:lnSpc>
                          <a:spcPts val="1800"/>
                        </a:lnSpc>
                        <a:buNone/>
                      </a:pPr>
                      <a:r>
                        <a:rPr lang="zh-CN" altLang="en-US" b="1">
                          <a:solidFill>
                            <a:srgbClr val="000000"/>
                          </a:solidFill>
                          <a:effectLst/>
                          <a:latin typeface="ui-sans-serif"/>
                        </a:rPr>
                        <a:t>信号线</a:t>
                      </a:r>
                    </a:p>
                  </a:txBody>
                  <a:tcPr anchor="ctr"/>
                </a:tc>
                <a:tc>
                  <a:txBody>
                    <a:bodyPr/>
                    <a:lstStyle/>
                    <a:p>
                      <a:pPr algn="ctr">
                        <a:lnSpc>
                          <a:spcPts val="1800"/>
                        </a:lnSpc>
                        <a:buNone/>
                      </a:pPr>
                      <a:r>
                        <a:rPr lang="zh-CN" altLang="en-US" b="1" dirty="0">
                          <a:solidFill>
                            <a:srgbClr val="000000"/>
                          </a:solidFill>
                          <a:effectLst/>
                          <a:latin typeface="ui-sans-serif"/>
                        </a:rPr>
                        <a:t>名称</a:t>
                      </a:r>
                    </a:p>
                  </a:txBody>
                  <a:tcPr anchor="ctr"/>
                </a:tc>
                <a:tc>
                  <a:txBody>
                    <a:bodyPr/>
                    <a:lstStyle/>
                    <a:p>
                      <a:pPr algn="ctr">
                        <a:lnSpc>
                          <a:spcPts val="1800"/>
                        </a:lnSpc>
                        <a:buNone/>
                      </a:pPr>
                      <a:r>
                        <a:rPr lang="zh-CN" altLang="en-US" b="1" dirty="0">
                          <a:solidFill>
                            <a:srgbClr val="000000"/>
                          </a:solidFill>
                          <a:effectLst/>
                          <a:latin typeface="ui-sans-serif"/>
                        </a:rPr>
                        <a:t>功能说明</a:t>
                      </a:r>
                    </a:p>
                  </a:txBody>
                  <a:tcPr anchor="ctr"/>
                </a:tc>
                <a:extLst>
                  <a:ext uri="{0D108BD9-81ED-4DB2-BD59-A6C34878D82A}">
                    <a16:rowId xmlns:a16="http://schemas.microsoft.com/office/drawing/2014/main" val="4080265022"/>
                  </a:ext>
                </a:extLst>
              </a:tr>
              <a:tr h="590550">
                <a:tc>
                  <a:txBody>
                    <a:bodyPr/>
                    <a:lstStyle/>
                    <a:p>
                      <a:pPr algn="l">
                        <a:lnSpc>
                          <a:spcPts val="1800"/>
                        </a:lnSpc>
                        <a:buNone/>
                      </a:pPr>
                      <a:r>
                        <a:rPr lang="en-US" b="0">
                          <a:solidFill>
                            <a:srgbClr val="000000"/>
                          </a:solidFill>
                          <a:effectLst/>
                          <a:latin typeface="ui-sans-serif"/>
                        </a:rPr>
                        <a:t>SCK</a:t>
                      </a:r>
                    </a:p>
                  </a:txBody>
                  <a:tcPr anchor="ctr"/>
                </a:tc>
                <a:tc>
                  <a:txBody>
                    <a:bodyPr/>
                    <a:lstStyle/>
                    <a:p>
                      <a:pPr algn="l">
                        <a:lnSpc>
                          <a:spcPts val="1800"/>
                        </a:lnSpc>
                        <a:buNone/>
                      </a:pPr>
                      <a:r>
                        <a:rPr lang="zh-CN" altLang="en-US" b="0" dirty="0">
                          <a:solidFill>
                            <a:srgbClr val="000000"/>
                          </a:solidFill>
                          <a:effectLst/>
                          <a:latin typeface="ui-sans-serif"/>
                        </a:rPr>
                        <a:t>位时钟（也称</a:t>
                      </a:r>
                      <a:r>
                        <a:rPr lang="en-US" altLang="zh-CN" b="0" dirty="0">
                          <a:solidFill>
                            <a:srgbClr val="000000"/>
                          </a:solidFill>
                          <a:effectLst/>
                          <a:latin typeface="ui-sans-serif"/>
                        </a:rPr>
                        <a:t>BCK/BCLK</a:t>
                      </a:r>
                      <a:r>
                        <a:rPr lang="zh-CN" altLang="en-US" b="0" dirty="0">
                          <a:solidFill>
                            <a:srgbClr val="000000"/>
                          </a:solidFill>
                          <a:effectLst/>
                          <a:latin typeface="ui-sans-serif"/>
                        </a:rPr>
                        <a:t>）</a:t>
                      </a:r>
                    </a:p>
                  </a:txBody>
                  <a:tcPr anchor="ctr"/>
                </a:tc>
                <a:tc>
                  <a:txBody>
                    <a:bodyPr/>
                    <a:lstStyle/>
                    <a:p>
                      <a:pPr algn="l">
                        <a:lnSpc>
                          <a:spcPts val="1800"/>
                        </a:lnSpc>
                        <a:buNone/>
                      </a:pPr>
                      <a:r>
                        <a:rPr lang="zh-CN" altLang="en-US" b="0">
                          <a:solidFill>
                            <a:srgbClr val="000000"/>
                          </a:solidFill>
                          <a:effectLst/>
                          <a:latin typeface="ui-sans-serif"/>
                        </a:rPr>
                        <a:t>频率固定为 </a:t>
                      </a:r>
                      <a:r>
                        <a:rPr lang="en-US" altLang="zh-CN" b="0">
                          <a:solidFill>
                            <a:srgbClr val="000000"/>
                          </a:solidFill>
                          <a:effectLst/>
                          <a:latin typeface="ui-sans-serif"/>
                        </a:rPr>
                        <a:t>2× </a:t>
                      </a:r>
                      <a:r>
                        <a:rPr lang="zh-CN" altLang="en-US" b="0">
                          <a:solidFill>
                            <a:srgbClr val="000000"/>
                          </a:solidFill>
                          <a:effectLst/>
                          <a:latin typeface="ui-sans-serif"/>
                        </a:rPr>
                        <a:t>采样频率 </a:t>
                      </a:r>
                      <a:r>
                        <a:rPr lang="en-US" altLang="zh-CN" b="0">
                          <a:solidFill>
                            <a:srgbClr val="000000"/>
                          </a:solidFill>
                          <a:effectLst/>
                          <a:latin typeface="ui-sans-serif"/>
                        </a:rPr>
                        <a:t>× </a:t>
                      </a:r>
                      <a:r>
                        <a:rPr lang="zh-CN" altLang="en-US" b="0">
                          <a:solidFill>
                            <a:srgbClr val="000000"/>
                          </a:solidFill>
                          <a:effectLst/>
                          <a:latin typeface="ui-sans-serif"/>
                        </a:rPr>
                        <a:t>采样位数，比如 </a:t>
                      </a:r>
                      <a:r>
                        <a:rPr lang="en-US" altLang="zh-CN" b="0">
                          <a:solidFill>
                            <a:srgbClr val="000000"/>
                          </a:solidFill>
                          <a:effectLst/>
                          <a:latin typeface="ui-sans-serif"/>
                        </a:rPr>
                        <a:t>44.1kHz </a:t>
                      </a:r>
                      <a:r>
                        <a:rPr lang="zh-CN" altLang="en-US" b="0">
                          <a:solidFill>
                            <a:srgbClr val="000000"/>
                          </a:solidFill>
                          <a:effectLst/>
                          <a:latin typeface="ui-sans-serif"/>
                        </a:rPr>
                        <a:t>采样率、</a:t>
                      </a:r>
                      <a:r>
                        <a:rPr lang="en-US" altLang="zh-CN" b="0">
                          <a:solidFill>
                            <a:srgbClr val="000000"/>
                          </a:solidFill>
                          <a:effectLst/>
                          <a:latin typeface="ui-sans-serif"/>
                        </a:rPr>
                        <a:t>16 </a:t>
                      </a:r>
                      <a:r>
                        <a:rPr lang="zh-CN" altLang="en-US" b="0">
                          <a:solidFill>
                            <a:srgbClr val="000000"/>
                          </a:solidFill>
                          <a:effectLst/>
                          <a:latin typeface="ui-sans-serif"/>
                        </a:rPr>
                        <a:t>位立体声的音频，其 </a:t>
                      </a:r>
                      <a:r>
                        <a:rPr lang="en-US" altLang="zh-CN" b="0">
                          <a:solidFill>
                            <a:srgbClr val="000000"/>
                          </a:solidFill>
                          <a:effectLst/>
                          <a:latin typeface="ui-sans-serif"/>
                        </a:rPr>
                        <a:t>SCK </a:t>
                      </a:r>
                      <a:r>
                        <a:rPr lang="zh-CN" altLang="en-US" b="0">
                          <a:solidFill>
                            <a:srgbClr val="000000"/>
                          </a:solidFill>
                          <a:effectLst/>
                          <a:latin typeface="ui-sans-serif"/>
                        </a:rPr>
                        <a:t>频率为 </a:t>
                      </a:r>
                      <a:r>
                        <a:rPr lang="en-US" altLang="zh-CN" b="0">
                          <a:solidFill>
                            <a:srgbClr val="000000"/>
                          </a:solidFill>
                          <a:effectLst/>
                          <a:latin typeface="ui-sans-serif"/>
                        </a:rPr>
                        <a:t>1.4112MHz</a:t>
                      </a:r>
                      <a:r>
                        <a:rPr lang="zh-CN" altLang="en-US" b="0">
                          <a:solidFill>
                            <a:srgbClr val="000000"/>
                          </a:solidFill>
                          <a:effectLst/>
                          <a:latin typeface="ui-sans-serif"/>
                        </a:rPr>
                        <a:t>，用于同步每一位数据的传输节奏</a:t>
                      </a:r>
                    </a:p>
                  </a:txBody>
                  <a:tcPr anchor="ctr"/>
                </a:tc>
                <a:extLst>
                  <a:ext uri="{0D108BD9-81ED-4DB2-BD59-A6C34878D82A}">
                    <a16:rowId xmlns:a16="http://schemas.microsoft.com/office/drawing/2014/main" val="247627529"/>
                  </a:ext>
                </a:extLst>
              </a:tr>
              <a:tr h="590550">
                <a:tc>
                  <a:txBody>
                    <a:bodyPr/>
                    <a:lstStyle/>
                    <a:p>
                      <a:pPr algn="l">
                        <a:lnSpc>
                          <a:spcPts val="1800"/>
                        </a:lnSpc>
                        <a:buNone/>
                      </a:pPr>
                      <a:r>
                        <a:rPr lang="en-US" b="0">
                          <a:solidFill>
                            <a:srgbClr val="000000"/>
                          </a:solidFill>
                          <a:effectLst/>
                          <a:latin typeface="ui-sans-serif"/>
                        </a:rPr>
                        <a:t>WS</a:t>
                      </a:r>
                    </a:p>
                  </a:txBody>
                  <a:tcPr anchor="ctr"/>
                </a:tc>
                <a:tc>
                  <a:txBody>
                    <a:bodyPr/>
                    <a:lstStyle/>
                    <a:p>
                      <a:pPr algn="l">
                        <a:lnSpc>
                          <a:spcPts val="1800"/>
                        </a:lnSpc>
                        <a:buNone/>
                      </a:pPr>
                      <a:r>
                        <a:rPr lang="zh-CN" altLang="en-US" b="0" dirty="0">
                          <a:solidFill>
                            <a:srgbClr val="000000"/>
                          </a:solidFill>
                          <a:effectLst/>
                          <a:latin typeface="ui-sans-serif"/>
                        </a:rPr>
                        <a:t>声道选择线（也称 </a:t>
                      </a:r>
                      <a:r>
                        <a:rPr lang="en-US" altLang="zh-CN" b="0" dirty="0">
                          <a:solidFill>
                            <a:srgbClr val="000000"/>
                          </a:solidFill>
                          <a:effectLst/>
                          <a:latin typeface="ui-sans-serif"/>
                        </a:rPr>
                        <a:t>LRCK/WCK</a:t>
                      </a:r>
                      <a:r>
                        <a:rPr lang="zh-CN" altLang="en-US" b="0" dirty="0">
                          <a:solidFill>
                            <a:srgbClr val="000000"/>
                          </a:solidFill>
                          <a:effectLst/>
                          <a:latin typeface="ui-sans-serif"/>
                        </a:rPr>
                        <a:t>）</a:t>
                      </a:r>
                    </a:p>
                  </a:txBody>
                  <a:tcPr anchor="ctr"/>
                </a:tc>
                <a:tc>
                  <a:txBody>
                    <a:bodyPr/>
                    <a:lstStyle/>
                    <a:p>
                      <a:pPr algn="l">
                        <a:lnSpc>
                          <a:spcPts val="1800"/>
                        </a:lnSpc>
                        <a:buNone/>
                      </a:pPr>
                      <a:r>
                        <a:rPr lang="zh-CN" altLang="en-US" b="0" dirty="0">
                          <a:solidFill>
                            <a:srgbClr val="000000"/>
                          </a:solidFill>
                          <a:effectLst/>
                          <a:latin typeface="ui-sans-serif"/>
                        </a:rPr>
                        <a:t>频率与音频采样频率一致，低电平通常对应左声道，高电平对应右声道，实现左右声道数据的区分</a:t>
                      </a:r>
                    </a:p>
                  </a:txBody>
                  <a:tcPr anchor="ctr"/>
                </a:tc>
                <a:extLst>
                  <a:ext uri="{0D108BD9-81ED-4DB2-BD59-A6C34878D82A}">
                    <a16:rowId xmlns:a16="http://schemas.microsoft.com/office/drawing/2014/main" val="3331723049"/>
                  </a:ext>
                </a:extLst>
              </a:tr>
              <a:tr h="590550">
                <a:tc>
                  <a:txBody>
                    <a:bodyPr/>
                    <a:lstStyle/>
                    <a:p>
                      <a:pPr algn="l">
                        <a:lnSpc>
                          <a:spcPts val="1800"/>
                        </a:lnSpc>
                        <a:buNone/>
                      </a:pPr>
                      <a:r>
                        <a:rPr lang="en-US" b="0">
                          <a:solidFill>
                            <a:srgbClr val="000000"/>
                          </a:solidFill>
                          <a:effectLst/>
                          <a:latin typeface="ui-sans-serif"/>
                        </a:rPr>
                        <a:t>SD</a:t>
                      </a:r>
                    </a:p>
                  </a:txBody>
                  <a:tcPr anchor="ctr"/>
                </a:tc>
                <a:tc>
                  <a:txBody>
                    <a:bodyPr/>
                    <a:lstStyle/>
                    <a:p>
                      <a:pPr algn="l">
                        <a:lnSpc>
                          <a:spcPts val="1800"/>
                        </a:lnSpc>
                        <a:buNone/>
                      </a:pPr>
                      <a:r>
                        <a:rPr lang="zh-CN" altLang="en-US" b="0">
                          <a:solidFill>
                            <a:srgbClr val="000000"/>
                          </a:solidFill>
                          <a:effectLst/>
                          <a:latin typeface="ui-sans-serif"/>
                        </a:rPr>
                        <a:t>串行数据线</a:t>
                      </a:r>
                    </a:p>
                  </a:txBody>
                  <a:tcPr anchor="ctr"/>
                </a:tc>
                <a:tc>
                  <a:txBody>
                    <a:bodyPr/>
                    <a:lstStyle/>
                    <a:p>
                      <a:pPr algn="l">
                        <a:lnSpc>
                          <a:spcPts val="1800"/>
                        </a:lnSpc>
                        <a:buNone/>
                      </a:pPr>
                      <a:r>
                        <a:rPr lang="zh-CN" altLang="en-US" b="0" dirty="0">
                          <a:solidFill>
                            <a:srgbClr val="000000"/>
                          </a:solidFill>
                          <a:effectLst/>
                          <a:latin typeface="ui-sans-serif"/>
                        </a:rPr>
                        <a:t>以二进制补码格式传输 </a:t>
                      </a:r>
                      <a:r>
                        <a:rPr lang="en-US" altLang="zh-CN" b="0" dirty="0">
                          <a:solidFill>
                            <a:srgbClr val="000000"/>
                          </a:solidFill>
                          <a:effectLst/>
                          <a:latin typeface="ui-sans-serif"/>
                        </a:rPr>
                        <a:t>PCM </a:t>
                      </a:r>
                      <a:r>
                        <a:rPr lang="zh-CN" altLang="en-US" b="0" dirty="0">
                          <a:solidFill>
                            <a:srgbClr val="000000"/>
                          </a:solidFill>
                          <a:effectLst/>
                          <a:latin typeface="ui-sans-serif"/>
                        </a:rPr>
                        <a:t>音频数据，采用高位优先（</a:t>
                      </a:r>
                      <a:r>
                        <a:rPr lang="en-US" altLang="zh-CN" b="0" dirty="0">
                          <a:solidFill>
                            <a:srgbClr val="000000"/>
                          </a:solidFill>
                          <a:effectLst/>
                          <a:latin typeface="ui-sans-serif"/>
                        </a:rPr>
                        <a:t>MSB</a:t>
                      </a:r>
                      <a:r>
                        <a:rPr lang="zh-CN" altLang="en-US" b="0" dirty="0">
                          <a:solidFill>
                            <a:srgbClr val="000000"/>
                          </a:solidFill>
                          <a:effectLst/>
                          <a:latin typeface="ui-sans-serif"/>
                        </a:rPr>
                        <a:t>）的传输规则</a:t>
                      </a:r>
                    </a:p>
                  </a:txBody>
                  <a:tcPr anchor="ctr"/>
                </a:tc>
                <a:extLst>
                  <a:ext uri="{0D108BD9-81ED-4DB2-BD59-A6C34878D82A}">
                    <a16:rowId xmlns:a16="http://schemas.microsoft.com/office/drawing/2014/main" val="1963296733"/>
                  </a:ext>
                </a:extLst>
              </a:tr>
              <a:tr h="590550">
                <a:tc>
                  <a:txBody>
                    <a:bodyPr/>
                    <a:lstStyle/>
                    <a:p>
                      <a:pPr algn="l">
                        <a:lnSpc>
                          <a:spcPts val="1800"/>
                        </a:lnSpc>
                        <a:buNone/>
                      </a:pPr>
                      <a:r>
                        <a:rPr lang="en-US" b="0">
                          <a:solidFill>
                            <a:srgbClr val="000000"/>
                          </a:solidFill>
                          <a:effectLst/>
                          <a:latin typeface="ui-sans-serif"/>
                        </a:rPr>
                        <a:t>MCK</a:t>
                      </a:r>
                    </a:p>
                  </a:txBody>
                  <a:tcPr anchor="ctr"/>
                </a:tc>
                <a:tc>
                  <a:txBody>
                    <a:bodyPr/>
                    <a:lstStyle/>
                    <a:p>
                      <a:pPr algn="l">
                        <a:lnSpc>
                          <a:spcPts val="1800"/>
                        </a:lnSpc>
                        <a:buNone/>
                      </a:pPr>
                      <a:r>
                        <a:rPr lang="zh-CN" altLang="en-US" b="0" dirty="0">
                          <a:solidFill>
                            <a:srgbClr val="000000"/>
                          </a:solidFill>
                          <a:effectLst/>
                          <a:latin typeface="ui-sans-serif"/>
                        </a:rPr>
                        <a:t>主时钟（可选）</a:t>
                      </a:r>
                    </a:p>
                  </a:txBody>
                  <a:tcPr anchor="ctr"/>
                </a:tc>
                <a:tc>
                  <a:txBody>
                    <a:bodyPr/>
                    <a:lstStyle/>
                    <a:p>
                      <a:pPr algn="l">
                        <a:lnSpc>
                          <a:spcPts val="1800"/>
                        </a:lnSpc>
                        <a:buNone/>
                      </a:pPr>
                      <a:r>
                        <a:rPr lang="zh-CN" altLang="en-US" b="0" dirty="0">
                          <a:solidFill>
                            <a:srgbClr val="000000"/>
                          </a:solidFill>
                          <a:effectLst/>
                          <a:latin typeface="ui-sans-serif"/>
                        </a:rPr>
                        <a:t>一般为 </a:t>
                      </a:r>
                      <a:r>
                        <a:rPr lang="en-US" altLang="zh-CN" b="0" dirty="0">
                          <a:solidFill>
                            <a:srgbClr val="000000"/>
                          </a:solidFill>
                          <a:effectLst/>
                          <a:latin typeface="ui-sans-serif"/>
                        </a:rPr>
                        <a:t>256 </a:t>
                      </a:r>
                      <a:r>
                        <a:rPr lang="zh-CN" altLang="en-US" b="0" dirty="0">
                          <a:solidFill>
                            <a:srgbClr val="000000"/>
                          </a:solidFill>
                          <a:effectLst/>
                          <a:latin typeface="ui-sans-serif"/>
                        </a:rPr>
                        <a:t>倍或 </a:t>
                      </a:r>
                      <a:r>
                        <a:rPr lang="en-US" altLang="zh-CN" b="0" dirty="0">
                          <a:solidFill>
                            <a:srgbClr val="000000"/>
                          </a:solidFill>
                          <a:effectLst/>
                          <a:latin typeface="ui-sans-serif"/>
                        </a:rPr>
                        <a:t>384 </a:t>
                      </a:r>
                      <a:r>
                        <a:rPr lang="zh-CN" altLang="en-US" b="0" dirty="0">
                          <a:solidFill>
                            <a:srgbClr val="000000"/>
                          </a:solidFill>
                          <a:effectLst/>
                          <a:latin typeface="ui-sans-serif"/>
                        </a:rPr>
                        <a:t>倍采样频率，用于为音频芯片提供精准时钟参考，减少信号抖动，提升音质，常见频率如 </a:t>
                      </a:r>
                      <a:r>
                        <a:rPr lang="en-US" altLang="zh-CN" b="0" dirty="0">
                          <a:solidFill>
                            <a:srgbClr val="000000"/>
                          </a:solidFill>
                          <a:effectLst/>
                          <a:latin typeface="ui-sans-serif"/>
                        </a:rPr>
                        <a:t>11.2896MHz</a:t>
                      </a:r>
                    </a:p>
                  </a:txBody>
                  <a:tcPr anchor="ctr"/>
                </a:tc>
                <a:extLst>
                  <a:ext uri="{0D108BD9-81ED-4DB2-BD59-A6C34878D82A}">
                    <a16:rowId xmlns:a16="http://schemas.microsoft.com/office/drawing/2014/main" val="510627201"/>
                  </a:ext>
                </a:extLst>
              </a:tr>
            </a:tbl>
          </a:graphicData>
        </a:graphic>
      </p:graphicFrame>
      <p:sp>
        <p:nvSpPr>
          <p:cNvPr id="7" name="文本框 6">
            <a:extLst>
              <a:ext uri="{FF2B5EF4-FFF2-40B4-BE49-F238E27FC236}">
                <a16:creationId xmlns:a16="http://schemas.microsoft.com/office/drawing/2014/main" id="{5466E898-1468-721F-7047-0027BA822CAD}"/>
              </a:ext>
            </a:extLst>
          </p:cNvPr>
          <p:cNvSpPr txBox="1"/>
          <p:nvPr/>
        </p:nvSpPr>
        <p:spPr>
          <a:xfrm>
            <a:off x="215591" y="4306677"/>
            <a:ext cx="8745528" cy="276999"/>
          </a:xfrm>
          <a:prstGeom prst="rect">
            <a:avLst/>
          </a:prstGeom>
          <a:noFill/>
        </p:spPr>
        <p:txBody>
          <a:bodyPr wrap="square">
            <a:spAutoFit/>
          </a:bodyPr>
          <a:lstStyle/>
          <a:p>
            <a:r>
              <a:rPr lang="zh-CN" altLang="en-US" sz="1200" dirty="0">
                <a:ea typeface="等线" panose="02010600030101010101" pitchFamily="2" charset="-122"/>
                <a:cs typeface="Times New Roman" panose="02020603050405020304" pitchFamily="18" charset="0"/>
              </a:rPr>
              <a:t>后续</a:t>
            </a:r>
            <a:r>
              <a:rPr lang="zh-CN" altLang="zh-CN" sz="1200" dirty="0">
                <a:effectLst/>
                <a:ea typeface="等线" panose="02010600030101010101" pitchFamily="2" charset="-122"/>
                <a:cs typeface="Times New Roman" panose="02020603050405020304" pitchFamily="18" charset="0"/>
              </a:rPr>
              <a:t>从核心特性、时钟系统、数据格式、</a:t>
            </a:r>
            <a:r>
              <a:rPr lang="en-US" altLang="zh-CN" sz="1200" dirty="0">
                <a:effectLst/>
                <a:ea typeface="等线" panose="02010600030101010101" pitchFamily="2" charset="-122"/>
                <a:cs typeface="Times New Roman" panose="02020603050405020304" pitchFamily="18" charset="0"/>
              </a:rPr>
              <a:t>DMA </a:t>
            </a:r>
            <a:r>
              <a:rPr lang="zh-CN" altLang="zh-CN" sz="1200" dirty="0">
                <a:effectLst/>
                <a:ea typeface="等线" panose="02010600030101010101" pitchFamily="2" charset="-122"/>
                <a:cs typeface="Times New Roman" panose="02020603050405020304" pitchFamily="18" charset="0"/>
              </a:rPr>
              <a:t>控制</a:t>
            </a:r>
            <a:r>
              <a:rPr lang="zh-CN" altLang="en-US" sz="1200" dirty="0">
                <a:effectLst/>
                <a:ea typeface="等线" panose="02010600030101010101" pitchFamily="2" charset="-122"/>
                <a:cs typeface="Times New Roman" panose="02020603050405020304" pitchFamily="18" charset="0"/>
              </a:rPr>
              <a:t>四</a:t>
            </a:r>
            <a:r>
              <a:rPr lang="zh-CN" altLang="zh-CN" sz="1200" dirty="0">
                <a:effectLst/>
                <a:ea typeface="等线" panose="02010600030101010101" pitchFamily="2" charset="-122"/>
                <a:cs typeface="Times New Roman" panose="02020603050405020304" pitchFamily="18" charset="0"/>
              </a:rPr>
              <a:t>个维度进行全面总结</a:t>
            </a:r>
            <a:endParaRPr lang="zh-CN" altLang="en-US" sz="1200" dirty="0"/>
          </a:p>
        </p:txBody>
      </p:sp>
    </p:spTree>
    <p:extLst>
      <p:ext uri="{BB962C8B-B14F-4D97-AF65-F5344CB8AC3E}">
        <p14:creationId xmlns:p14="http://schemas.microsoft.com/office/powerpoint/2010/main" val="1922603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8B9A-AF69-0A49-A83C-1F1D9ED37995}"/>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F057C3A1-01DD-6538-C25D-D6CAE6D01234}"/>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a:t>
            </a:r>
            <a:r>
              <a:rPr lang="zh-CN" altLang="en-US" sz="2400" b="1" spc="-38" dirty="0">
                <a:solidFill>
                  <a:srgbClr val="DFC27B"/>
                </a:solidFill>
                <a:latin typeface="Calibri" panose="020F0502020204030204" pitchFamily="34" charset="0"/>
                <a:cs typeface="Calibri" panose="020F0502020204030204" pitchFamily="34" charset="0"/>
              </a:rPr>
              <a:t>核心特性</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AA1BA27F-A7FE-6E22-8880-A5BA380147EE}"/>
              </a:ext>
            </a:extLst>
          </p:cNvPr>
          <p:cNvSpPr txBox="1"/>
          <p:nvPr/>
        </p:nvSpPr>
        <p:spPr>
          <a:xfrm>
            <a:off x="215591" y="529864"/>
            <a:ext cx="8745530" cy="4221925"/>
          </a:xfrm>
          <a:prstGeom prst="rect">
            <a:avLst/>
          </a:prstGeom>
          <a:noFill/>
        </p:spPr>
        <p:txBody>
          <a:bodyPr wrap="square">
            <a:spAutoFit/>
          </a:bodyPr>
          <a:lstStyle/>
          <a:p>
            <a:pPr>
              <a:lnSpc>
                <a:spcPct val="115000"/>
              </a:lnSpc>
              <a:spcAft>
                <a:spcPts val="800"/>
              </a:spcAft>
              <a:buNone/>
            </a:pP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模块以</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高兼容性、低</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CPU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负载、灵活配置</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为设计核心，关键特性如下：</a:t>
            </a:r>
          </a:p>
          <a:p>
            <a:pPr marL="342900" lvl="0" indent="-342900">
              <a:lnSpc>
                <a:spcPct val="115000"/>
              </a:lnSpc>
              <a:spcAft>
                <a:spcPts val="800"/>
              </a:spcAft>
              <a:buFont typeface="+mj-lt"/>
              <a:buAutoNum type="arabicPeriod"/>
              <a:tabLst>
                <a:tab pos="4572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主模式专属设计</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：仅支持</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Master Mode</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（主模式），可独立配置为</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仅发送（</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Tx</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仅接收（</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Rx</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或</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收发双向（</a:t>
            </a:r>
            <a:r>
              <a:rPr lang="en-US" altLang="zh-CN" sz="1100" b="1" kern="100" dirty="0" err="1">
                <a:effectLst/>
                <a:latin typeface="等线" panose="02010600030101010101" pitchFamily="2" charset="-122"/>
                <a:ea typeface="等线" panose="02010600030101010101" pitchFamily="2" charset="-122"/>
                <a:cs typeface="Times New Roman" panose="02020603050405020304" pitchFamily="18" charset="0"/>
              </a:rPr>
              <a:t>Tx+Rx</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模式，满足单声道录音、立体声播放等不同场景需求。</a:t>
            </a:r>
          </a:p>
          <a:p>
            <a:pPr marL="342900" lvl="0" indent="-342900">
              <a:lnSpc>
                <a:spcPct val="115000"/>
              </a:lnSpc>
              <a:spcAft>
                <a:spcPts val="800"/>
              </a:spcAft>
              <a:buFont typeface="+mj-lt"/>
              <a:buAutoNum type="arabicPeriod"/>
              <a:tabLst>
                <a:tab pos="4572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多音频格式支持</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：覆盖三种主流</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I2S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音频格式，兼容多数外部音频设备（如</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Codec</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、麦克风、扬声器）：</a:t>
            </a:r>
          </a:p>
          <a:p>
            <a:pPr marL="742950" lvl="1" indent="-285750">
              <a:lnSpc>
                <a:spcPct val="115000"/>
              </a:lnSpc>
              <a:spcAft>
                <a:spcPts val="800"/>
              </a:spcAft>
              <a:buSzPts val="1000"/>
              <a:buFont typeface="Courier New" panose="02070309020205020404" pitchFamily="49" charset="0"/>
              <a:buChar char="o"/>
              <a:tabLst>
                <a:tab pos="914400" algn="l"/>
              </a:tabLst>
            </a:pP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I2S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模式</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：标准</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I2S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格式，数据在位时钟（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BCK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）的第二个边沿传输，左右声道数据与帧时钟（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W1C</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）边沿存在固定延迟（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个</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BCK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周期）。</a:t>
            </a:r>
          </a:p>
          <a:p>
            <a:pPr marL="742950" lvl="1" indent="-285750">
              <a:lnSpc>
                <a:spcPct val="115000"/>
              </a:lnSpc>
              <a:spcAft>
                <a:spcPts val="800"/>
              </a:spcAft>
              <a:buSzPts val="1000"/>
              <a:buFont typeface="Courier New" panose="02070309020205020404" pitchFamily="49" charset="0"/>
              <a:buChar char="o"/>
              <a:tabLst>
                <a:tab pos="9144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左对齐（</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LJ</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）模式</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：左声道数据与</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WCK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上升沿同步，右声道数据紧随左声道后传输，无延迟，适用于对同步精度要求高的场景。</a:t>
            </a:r>
          </a:p>
          <a:p>
            <a:pPr marL="742950" lvl="1" indent="-285750">
              <a:lnSpc>
                <a:spcPct val="115000"/>
              </a:lnSpc>
              <a:spcAft>
                <a:spcPts val="800"/>
              </a:spcAft>
              <a:buSzPts val="1000"/>
              <a:buFont typeface="Courier New" panose="02070309020205020404" pitchFamily="49" charset="0"/>
              <a:buChar char="o"/>
              <a:tabLst>
                <a:tab pos="9144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右对齐（</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RJ</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）模式</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：右声道数据与</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WCK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上升沿同步，左声道数据紧随右声道后传输，无延迟，兼容特定音频</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Codec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接口需求。</a:t>
            </a:r>
          </a:p>
          <a:p>
            <a:pPr marL="342900" lvl="0" indent="-342900">
              <a:lnSpc>
                <a:spcPct val="115000"/>
              </a:lnSpc>
              <a:spcAft>
                <a:spcPts val="800"/>
              </a:spcAft>
              <a:buFont typeface="+mj-lt"/>
              <a:buAutoNum type="arabicPeriod"/>
              <a:tabLst>
                <a:tab pos="4572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采样参数灵活可调</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采样宽度</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：支持</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16bit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（普通语音）、</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24bit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（高保真音乐）、</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32bit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（专业音频）三种精度，适配不同音质需求。</a:t>
            </a:r>
          </a:p>
          <a:p>
            <a:pPr marL="742950" lvl="1" indent="-285750">
              <a:lnSpc>
                <a:spcPct val="115000"/>
              </a:lnSpc>
              <a:spcAft>
                <a:spcPts val="800"/>
              </a:spcAft>
              <a:buSzPts val="1000"/>
              <a:buFont typeface="Courier New" panose="02070309020205020404" pitchFamily="49" charset="0"/>
              <a:buChar char="o"/>
              <a:tabLst>
                <a:tab pos="9144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采样率</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：支持</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8kHz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（语音通话）、</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16kHz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（语音识别）、</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32kHz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（高清语音）、</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48kHz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（音乐播放）四种标准采样率，覆盖主流音频场景。</a:t>
            </a:r>
          </a:p>
          <a:p>
            <a:pPr marL="342900" lvl="0" indent="-342900">
              <a:lnSpc>
                <a:spcPct val="115000"/>
              </a:lnSpc>
              <a:spcAft>
                <a:spcPts val="800"/>
              </a:spcAft>
              <a:buFont typeface="+mj-lt"/>
              <a:buAutoNum type="arabicPeriod"/>
              <a:tabLst>
                <a:tab pos="457200" algn="l"/>
              </a:tabLst>
            </a:pP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独立时钟生成</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：内置主时钟（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MCLK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）和位时钟（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BCK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）生成器，可基于外部</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PLL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32MHz/48MHz/64MHz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）分频生成，为外部音频设备提供稳定时钟源，无需额外外部晶振。</a:t>
            </a:r>
          </a:p>
          <a:p>
            <a:pPr marL="342900" lvl="0" indent="-342900">
              <a:lnSpc>
                <a:spcPct val="115000"/>
              </a:lnSpc>
              <a:spcAft>
                <a:spcPts val="800"/>
              </a:spcAft>
              <a:buFont typeface="+mj-lt"/>
              <a:buAutoNum type="arabicPeriod"/>
              <a:tabLst>
                <a:tab pos="457200" algn="l"/>
              </a:tabLst>
            </a:pPr>
            <a:r>
              <a:rPr lang="en-US" altLang="zh-CN" sz="1100" b="1" kern="100" dirty="0" err="1">
                <a:effectLst/>
                <a:latin typeface="等线" panose="02010600030101010101" pitchFamily="2" charset="-122"/>
                <a:ea typeface="等线" panose="02010600030101010101" pitchFamily="2" charset="-122"/>
                <a:cs typeface="Times New Roman" panose="02020603050405020304" pitchFamily="18" charset="0"/>
              </a:rPr>
              <a:t>xDMA</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无</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 CPU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干预传输</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：集成</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RDMA</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（读</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 DMA</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，内存</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→I2S</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WDMA</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（写</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 DMA</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I2S→</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内存）</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两个独立</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DMA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通道，支持单次</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连续传输模式，减少</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CPU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中断处理负载，避免音频卡顿。</a:t>
            </a:r>
          </a:p>
        </p:txBody>
      </p:sp>
    </p:spTree>
    <p:extLst>
      <p:ext uri="{BB962C8B-B14F-4D97-AF65-F5344CB8AC3E}">
        <p14:creationId xmlns:p14="http://schemas.microsoft.com/office/powerpoint/2010/main" val="3246602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DC46D-CE21-CA9A-D727-89DF5493AD4D}"/>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CBCFBF49-A944-956E-CD43-50059D7A6A98}"/>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a:t>
            </a:r>
            <a:r>
              <a:rPr lang="zh-CN" altLang="zh-CN" sz="2400" b="1" spc="-38" dirty="0">
                <a:solidFill>
                  <a:srgbClr val="DFC27B"/>
                </a:solidFill>
                <a:latin typeface="Calibri" panose="020F0502020204030204" pitchFamily="34" charset="0"/>
                <a:cs typeface="Calibri" panose="020F0502020204030204" pitchFamily="34" charset="0"/>
              </a:rPr>
              <a:t>时钟系统：</a:t>
            </a:r>
            <a:r>
              <a:rPr lang="en-US" altLang="zh-CN" sz="2400" b="1" spc="-38" dirty="0">
                <a:solidFill>
                  <a:srgbClr val="DFC27B"/>
                </a:solidFill>
                <a:latin typeface="Calibri" panose="020F0502020204030204" pitchFamily="34" charset="0"/>
                <a:cs typeface="Calibri" panose="020F0502020204030204" pitchFamily="34" charset="0"/>
              </a:rPr>
              <a:t>MCLK </a:t>
            </a:r>
            <a:r>
              <a:rPr lang="zh-CN" altLang="zh-CN" sz="2400" b="1" spc="-38" dirty="0">
                <a:solidFill>
                  <a:srgbClr val="DFC27B"/>
                </a:solidFill>
                <a:latin typeface="Calibri" panose="020F0502020204030204" pitchFamily="34" charset="0"/>
                <a:cs typeface="Calibri" panose="020F0502020204030204" pitchFamily="34" charset="0"/>
              </a:rPr>
              <a:t>与</a:t>
            </a:r>
            <a:r>
              <a:rPr lang="en-US" altLang="zh-CN" sz="2400" b="1" spc="-38" dirty="0">
                <a:solidFill>
                  <a:srgbClr val="DFC27B"/>
                </a:solidFill>
                <a:latin typeface="Calibri" panose="020F0502020204030204" pitchFamily="34" charset="0"/>
                <a:cs typeface="Calibri" panose="020F0502020204030204" pitchFamily="34" charset="0"/>
              </a:rPr>
              <a:t> BCK </a:t>
            </a:r>
            <a:r>
              <a:rPr lang="zh-CN" altLang="zh-CN" sz="2400" b="1" spc="-38" dirty="0">
                <a:solidFill>
                  <a:srgbClr val="DFC27B"/>
                </a:solidFill>
                <a:latin typeface="Calibri" panose="020F0502020204030204" pitchFamily="34" charset="0"/>
                <a:cs typeface="Calibri" panose="020F0502020204030204" pitchFamily="34" charset="0"/>
              </a:rPr>
              <a:t>的联动配置</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FB35E870-BE7A-E7FF-5CE9-A6179626578D}"/>
              </a:ext>
            </a:extLst>
          </p:cNvPr>
          <p:cNvSpPr txBox="1"/>
          <p:nvPr/>
        </p:nvSpPr>
        <p:spPr>
          <a:xfrm>
            <a:off x="215591" y="866194"/>
            <a:ext cx="8745530" cy="2346283"/>
          </a:xfrm>
          <a:prstGeom prst="rect">
            <a:avLst/>
          </a:prstGeom>
          <a:noFill/>
        </p:spPr>
        <p:txBody>
          <a:bodyPr wrap="square">
            <a:spAutoFit/>
          </a:bodyPr>
          <a:lstStyle/>
          <a:p>
            <a:pPr>
              <a:lnSpc>
                <a:spcPct val="115000"/>
              </a:lnSpc>
              <a:spcAft>
                <a:spcPts val="800"/>
              </a:spcAft>
              <a:buNone/>
            </a:pP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的时钟系统是音频同步的核心，需通过多寄存器协同配置，确保</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MCLK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（主时钟）、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BCK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（位时钟）、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WCK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（帧时钟）满足音频格式时序要求，核心逻辑如下：</a:t>
            </a:r>
          </a:p>
          <a:p>
            <a:pPr>
              <a:lnSpc>
                <a:spcPct val="115000"/>
              </a:lnSpc>
              <a:spcAft>
                <a:spcPts val="800"/>
              </a:spcAft>
              <a:buNone/>
            </a:pP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时钟生成公式</a:t>
            </a:r>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BCK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频率</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I2S_BCK = 2 × I2S_WCK ×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每声道</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BCK</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位数（注：</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每声道</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BCK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位数</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支持</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16bit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或</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32bit</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，由</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I2S_MS_SET0.cfg_bck_len</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配置）</a:t>
            </a:r>
          </a:p>
          <a:p>
            <a:pPr marL="342900" lvl="0" indent="-342900">
              <a:lnSpc>
                <a:spcPct val="115000"/>
              </a:lnSpc>
              <a:spcAft>
                <a:spcPts val="800"/>
              </a:spcAft>
              <a:buSzPts val="1000"/>
              <a:buFont typeface="Symbol" panose="05050102010706020507" pitchFamily="18" charset="2"/>
              <a:buChar char=""/>
              <a:tabLst>
                <a:tab pos="457200" algn="l"/>
              </a:tabLst>
            </a:pP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MCLK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频率</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I2S_MCLK = I2S_BCK ×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倍率（</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2/4/8</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内部</a:t>
            </a:r>
            <a:r>
              <a:rPr lang="en-US" altLang="zh-CN" sz="1100" kern="100" dirty="0" err="1">
                <a:effectLst/>
                <a:latin typeface="等线" panose="02010600030101010101" pitchFamily="2" charset="-122"/>
                <a:ea typeface="等线" panose="02010600030101010101" pitchFamily="2" charset="-122"/>
                <a:cs typeface="Times New Roman" panose="02020603050405020304" pitchFamily="18" charset="0"/>
              </a:rPr>
              <a:t>iMCLK</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分频系数（</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1/2/4/8/16/32</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）（注：倍率由</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I2S_MS_SET0.cfg_bck_osr</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配置，分频系数由</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I2S_MCLK_SET1.cfg_mck_div</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配置）</a:t>
            </a:r>
          </a:p>
          <a:p>
            <a:pPr>
              <a:lnSpc>
                <a:spcPct val="115000"/>
              </a:lnSpc>
              <a:spcAft>
                <a:spcPts val="800"/>
              </a:spcAft>
              <a:buNone/>
            </a:pPr>
            <a:r>
              <a:rPr lang="en-US" altLang="zh-CN" sz="1100" b="1" kern="100" dirty="0">
                <a:effectLst/>
                <a:latin typeface="等线" panose="02010600030101010101" pitchFamily="2" charset="-122"/>
                <a:ea typeface="等线" panose="02010600030101010101" pitchFamily="2" charset="-122"/>
                <a:cs typeface="Times New Roman" panose="02020603050405020304" pitchFamily="18" charset="0"/>
              </a:rPr>
              <a:t>2. </a:t>
            </a:r>
            <a:r>
              <a:rPr lang="zh-CN" altLang="zh-CN" sz="1100" b="1" kern="100" dirty="0">
                <a:effectLst/>
                <a:latin typeface="等线" panose="02010600030101010101" pitchFamily="2" charset="-122"/>
                <a:ea typeface="等线" panose="02010600030101010101" pitchFamily="2" charset="-122"/>
                <a:cs typeface="Times New Roman" panose="02020603050405020304" pitchFamily="18" charset="0"/>
              </a:rPr>
              <a:t>关键时钟参数配置</a:t>
            </a:r>
            <a:endPar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需根据外部</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PLL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时钟（</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32MHz/48MHz/64MHz</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）选择内部</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100" kern="100" dirty="0" err="1">
                <a:effectLst/>
                <a:latin typeface="等线" panose="02010600030101010101" pitchFamily="2" charset="-122"/>
                <a:ea typeface="等线" panose="02010600030101010101" pitchFamily="2" charset="-122"/>
                <a:cs typeface="Times New Roman" panose="02020603050405020304" pitchFamily="18" charset="0"/>
              </a:rPr>
              <a:t>iMCLK</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频率，并搭配分频系数与倍率，确保时钟精度。以下为典型场景配置示例（以</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 PLL=</a:t>
            </a:r>
            <a:r>
              <a:rPr lang="en-US" altLang="zh-CN" sz="1100" kern="100" dirty="0">
                <a:latin typeface="等线" panose="02010600030101010101" pitchFamily="2" charset="-122"/>
                <a:ea typeface="等线" panose="02010600030101010101" pitchFamily="2" charset="-122"/>
                <a:cs typeface="Times New Roman" panose="02020603050405020304" pitchFamily="18" charset="0"/>
              </a:rPr>
              <a:t>48</a:t>
            </a:r>
            <a:r>
              <a:rPr lang="en-US" altLang="zh-CN" sz="1100" kern="100" dirty="0">
                <a:effectLst/>
                <a:latin typeface="等线" panose="02010600030101010101" pitchFamily="2" charset="-122"/>
                <a:ea typeface="等线" panose="02010600030101010101" pitchFamily="2" charset="-122"/>
                <a:cs typeface="Times New Roman" panose="02020603050405020304" pitchFamily="18" charset="0"/>
              </a:rPr>
              <a:t>MHz </a:t>
            </a:r>
            <a:r>
              <a:rPr lang="zh-CN" altLang="zh-CN" sz="1100" kern="100" dirty="0">
                <a:effectLst/>
                <a:latin typeface="等线" panose="02010600030101010101" pitchFamily="2" charset="-122"/>
                <a:ea typeface="等线" panose="02010600030101010101" pitchFamily="2" charset="-122"/>
                <a:cs typeface="Times New Roman" panose="02020603050405020304" pitchFamily="18" charset="0"/>
              </a:rPr>
              <a:t>为例）：</a:t>
            </a:r>
          </a:p>
        </p:txBody>
      </p:sp>
      <p:graphicFrame>
        <p:nvGraphicFramePr>
          <p:cNvPr id="5" name="表格 4">
            <a:extLst>
              <a:ext uri="{FF2B5EF4-FFF2-40B4-BE49-F238E27FC236}">
                <a16:creationId xmlns:a16="http://schemas.microsoft.com/office/drawing/2014/main" id="{CDCFCC0E-E0E9-4045-9EE3-4E93C3A45039}"/>
              </a:ext>
            </a:extLst>
          </p:cNvPr>
          <p:cNvGraphicFramePr>
            <a:graphicFrameLocks noGrp="1"/>
          </p:cNvGraphicFramePr>
          <p:nvPr>
            <p:extLst>
              <p:ext uri="{D42A27DB-BD31-4B8C-83A1-F6EECF244321}">
                <p14:modId xmlns:p14="http://schemas.microsoft.com/office/powerpoint/2010/main" val="1802459383"/>
              </p:ext>
            </p:extLst>
          </p:nvPr>
        </p:nvGraphicFramePr>
        <p:xfrm>
          <a:off x="215591" y="3480065"/>
          <a:ext cx="7652030" cy="886755"/>
        </p:xfrm>
        <a:graphic>
          <a:graphicData uri="http://schemas.openxmlformats.org/drawingml/2006/table">
            <a:tbl>
              <a:tblPr firstRow="1" firstCol="1" bandRow="1">
                <a:tableStyleId>{5C22544A-7EE6-4342-B048-85BDC9FD1C3A}</a:tableStyleId>
              </a:tblPr>
              <a:tblGrid>
                <a:gridCol w="1092884">
                  <a:extLst>
                    <a:ext uri="{9D8B030D-6E8A-4147-A177-3AD203B41FA5}">
                      <a16:colId xmlns:a16="http://schemas.microsoft.com/office/drawing/2014/main" val="4016670774"/>
                    </a:ext>
                  </a:extLst>
                </a:gridCol>
                <a:gridCol w="1093191">
                  <a:extLst>
                    <a:ext uri="{9D8B030D-6E8A-4147-A177-3AD203B41FA5}">
                      <a16:colId xmlns:a16="http://schemas.microsoft.com/office/drawing/2014/main" val="4193508197"/>
                    </a:ext>
                  </a:extLst>
                </a:gridCol>
                <a:gridCol w="1093191">
                  <a:extLst>
                    <a:ext uri="{9D8B030D-6E8A-4147-A177-3AD203B41FA5}">
                      <a16:colId xmlns:a16="http://schemas.microsoft.com/office/drawing/2014/main" val="396904142"/>
                    </a:ext>
                  </a:extLst>
                </a:gridCol>
                <a:gridCol w="1093191">
                  <a:extLst>
                    <a:ext uri="{9D8B030D-6E8A-4147-A177-3AD203B41FA5}">
                      <a16:colId xmlns:a16="http://schemas.microsoft.com/office/drawing/2014/main" val="168983276"/>
                    </a:ext>
                  </a:extLst>
                </a:gridCol>
                <a:gridCol w="1093191">
                  <a:extLst>
                    <a:ext uri="{9D8B030D-6E8A-4147-A177-3AD203B41FA5}">
                      <a16:colId xmlns:a16="http://schemas.microsoft.com/office/drawing/2014/main" val="929190559"/>
                    </a:ext>
                  </a:extLst>
                </a:gridCol>
                <a:gridCol w="1093191">
                  <a:extLst>
                    <a:ext uri="{9D8B030D-6E8A-4147-A177-3AD203B41FA5}">
                      <a16:colId xmlns:a16="http://schemas.microsoft.com/office/drawing/2014/main" val="1195033707"/>
                    </a:ext>
                  </a:extLst>
                </a:gridCol>
                <a:gridCol w="1093191">
                  <a:extLst>
                    <a:ext uri="{9D8B030D-6E8A-4147-A177-3AD203B41FA5}">
                      <a16:colId xmlns:a16="http://schemas.microsoft.com/office/drawing/2014/main" val="1245089066"/>
                    </a:ext>
                  </a:extLst>
                </a:gridCol>
              </a:tblGrid>
              <a:tr h="202677">
                <a:tc>
                  <a:txBody>
                    <a:bodyPr/>
                    <a:lstStyle/>
                    <a:p>
                      <a:pPr>
                        <a:lnSpc>
                          <a:spcPct val="115000"/>
                        </a:lnSpc>
                        <a:spcAft>
                          <a:spcPts val="800"/>
                        </a:spcAft>
                        <a:buNone/>
                      </a:pPr>
                      <a:r>
                        <a:rPr lang="en-US" sz="800" kern="100" dirty="0">
                          <a:effectLst/>
                        </a:rPr>
                        <a:t>I2S_WCK</a:t>
                      </a:r>
                      <a:r>
                        <a:rPr lang="zh-CN" sz="800" kern="100" dirty="0">
                          <a:effectLst/>
                        </a:rPr>
                        <a:t>（采样率）</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zh-CN" sz="800" kern="100">
                          <a:effectLst/>
                        </a:rPr>
                        <a:t>每声道</a:t>
                      </a:r>
                      <a:r>
                        <a:rPr lang="en-US" sz="800" kern="100">
                          <a:effectLst/>
                        </a:rPr>
                        <a:t> BCK </a:t>
                      </a:r>
                      <a:r>
                        <a:rPr lang="zh-CN" sz="800" kern="100">
                          <a:effectLst/>
                        </a:rPr>
                        <a:t>位数</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dirty="0">
                          <a:effectLst/>
                        </a:rPr>
                        <a:t>I2S_BCK </a:t>
                      </a:r>
                      <a:r>
                        <a:rPr lang="zh-CN" sz="800" kern="100" dirty="0">
                          <a:effectLst/>
                        </a:rPr>
                        <a:t>频率</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a:effectLst/>
                        </a:rPr>
                        <a:t>MCLK/BCK </a:t>
                      </a:r>
                      <a:r>
                        <a:rPr lang="zh-CN" sz="800" kern="100">
                          <a:effectLst/>
                        </a:rPr>
                        <a:t>倍率</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a:effectLst/>
                        </a:rPr>
                        <a:t>I2S_MCLK </a:t>
                      </a:r>
                      <a:r>
                        <a:rPr lang="zh-CN" sz="800" kern="100">
                          <a:effectLst/>
                        </a:rPr>
                        <a:t>频率</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zh-CN" sz="800" kern="100">
                          <a:effectLst/>
                        </a:rPr>
                        <a:t>内部</a:t>
                      </a:r>
                      <a:r>
                        <a:rPr lang="en-US" sz="800" kern="100">
                          <a:effectLst/>
                        </a:rPr>
                        <a:t> iMCLK</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zh-CN" sz="800" kern="100">
                          <a:effectLst/>
                        </a:rPr>
                        <a:t>分频系数</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extLst>
                  <a:ext uri="{0D108BD9-81ED-4DB2-BD59-A6C34878D82A}">
                    <a16:rowId xmlns:a16="http://schemas.microsoft.com/office/drawing/2014/main" val="3515617422"/>
                  </a:ext>
                </a:extLst>
              </a:tr>
              <a:tr h="452484">
                <a:tc>
                  <a:txBody>
                    <a:bodyPr/>
                    <a:lstStyle/>
                    <a:p>
                      <a:pPr>
                        <a:lnSpc>
                          <a:spcPct val="115000"/>
                        </a:lnSpc>
                        <a:spcAft>
                          <a:spcPts val="800"/>
                        </a:spcAft>
                        <a:buNone/>
                      </a:pPr>
                      <a:r>
                        <a:rPr lang="en-US" sz="800" kern="100" dirty="0">
                          <a:effectLst/>
                        </a:rPr>
                        <a:t>16kHz</a:t>
                      </a:r>
                      <a:r>
                        <a:rPr lang="zh-CN" sz="800" kern="100" dirty="0">
                          <a:effectLst/>
                        </a:rPr>
                        <a:t>（语音通话）</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dirty="0">
                          <a:effectLst/>
                        </a:rPr>
                        <a:t>24bit</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dirty="0">
                          <a:effectLst/>
                        </a:rPr>
                        <a:t>1.024MHz</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altLang="zh-CN" sz="800" kern="100" dirty="0">
                          <a:effectLst/>
                          <a:latin typeface="等线" panose="02010600030101010101" pitchFamily="2" charset="-122"/>
                          <a:ea typeface="等线" panose="02010600030101010101" pitchFamily="2" charset="-122"/>
                          <a:cs typeface="Times New Roman" panose="02020603050405020304" pitchFamily="18" charset="0"/>
                        </a:rPr>
                        <a:t>4</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dirty="0">
                          <a:effectLst/>
                        </a:rPr>
                        <a:t>4.096MH</a:t>
                      </a:r>
                      <a:r>
                        <a:rPr lang="en-US" altLang="zh-CN" sz="800" kern="100" dirty="0">
                          <a:effectLst/>
                        </a:rPr>
                        <a:t>z</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sz="800" kern="100">
                          <a:effectLst/>
                        </a:rPr>
                        <a:t>8.192MHz</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tc>
                  <a:txBody>
                    <a:bodyPr/>
                    <a:lstStyle/>
                    <a:p>
                      <a:pPr>
                        <a:lnSpc>
                          <a:spcPct val="115000"/>
                        </a:lnSpc>
                        <a:spcAft>
                          <a:spcPts val="800"/>
                        </a:spcAft>
                        <a:buNone/>
                      </a:pPr>
                      <a:r>
                        <a:rPr lang="en-US" altLang="zh-CN" sz="800" kern="100" dirty="0">
                          <a:effectLst/>
                          <a:latin typeface="等线" panose="02010600030101010101" pitchFamily="2" charset="-122"/>
                          <a:ea typeface="等线" panose="02010600030101010101" pitchFamily="2" charset="-122"/>
                          <a:cs typeface="Times New Roman" panose="02020603050405020304" pitchFamily="18" charset="0"/>
                        </a:rPr>
                        <a:t>2</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22625" marR="122625" marT="81912" marB="81912" anchor="ctr"/>
                </a:tc>
                <a:extLst>
                  <a:ext uri="{0D108BD9-81ED-4DB2-BD59-A6C34878D82A}">
                    <a16:rowId xmlns:a16="http://schemas.microsoft.com/office/drawing/2014/main" val="469551384"/>
                  </a:ext>
                </a:extLst>
              </a:tr>
            </a:tbl>
          </a:graphicData>
        </a:graphic>
      </p:graphicFrame>
    </p:spTree>
    <p:extLst>
      <p:ext uri="{BB962C8B-B14F-4D97-AF65-F5344CB8AC3E}">
        <p14:creationId xmlns:p14="http://schemas.microsoft.com/office/powerpoint/2010/main" val="2004414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DF4CD-4DF4-7D4D-F838-97EF9B0653D9}"/>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D7BF5C0B-C8E3-2847-AD3C-50F6E4FB1370}"/>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I2S-</a:t>
            </a:r>
            <a:r>
              <a:rPr lang="zh-CN" altLang="zh-CN" sz="2400" b="1" spc="-38" dirty="0">
                <a:solidFill>
                  <a:srgbClr val="DFC27B"/>
                </a:solidFill>
                <a:latin typeface="Calibri" panose="020F0502020204030204" pitchFamily="34" charset="0"/>
                <a:cs typeface="Calibri" panose="020F0502020204030204" pitchFamily="34" charset="0"/>
              </a:rPr>
              <a:t>音频数据格式与内存存储</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60A4D6D1-2FC8-51DA-0ED7-89F29DDCC88C}"/>
              </a:ext>
            </a:extLst>
          </p:cNvPr>
          <p:cNvSpPr txBox="1"/>
          <p:nvPr/>
        </p:nvSpPr>
        <p:spPr>
          <a:xfrm>
            <a:off x="215591" y="576102"/>
            <a:ext cx="8745530" cy="4267835"/>
          </a:xfrm>
          <a:prstGeom prst="rect">
            <a:avLst/>
          </a:prstGeom>
          <a:noFill/>
        </p:spPr>
        <p:txBody>
          <a:bodyPr wrap="square">
            <a:spAutoFit/>
          </a:bodyPr>
          <a:lstStyle/>
          <a:p>
            <a:pPr>
              <a:spcAft>
                <a:spcPts val="400"/>
              </a:spcAft>
              <a:buNone/>
            </a:pP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I2S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模块支持立体声、单声道（左声道</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右声道）三种数据格式，且样本在内存中以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32bit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4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字节）对齐存储，需通过寄存器配置与内存布局严格匹配，避免数据错位。</a:t>
            </a:r>
          </a:p>
          <a:p>
            <a:pPr>
              <a:spcAft>
                <a:spcPts val="400"/>
              </a:spcAft>
              <a:buNone/>
            </a:pP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数据格式配置</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spcAft>
                <a:spcPts val="4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核心配置寄存器为</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I2S_MS_SET0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，通过以下关键位定义数据格式：</a:t>
            </a:r>
          </a:p>
          <a:p>
            <a:pPr marL="342900" lvl="0" indent="-342900">
              <a:spcAft>
                <a:spcPts val="400"/>
              </a:spcAft>
              <a:buSzPts val="1000"/>
              <a:buFont typeface="Symbol" panose="05050102010706020507" pitchFamily="18" charset="2"/>
              <a:buChar char=""/>
              <a:tabLst>
                <a:tab pos="457200" algn="l"/>
              </a:tabLst>
            </a:pP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样本宽度（</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cfg_txd_wid</a:t>
            </a: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cfg_rxd_wid</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[5:4]/[7:6]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位，</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0=16bit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1=24bit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2=32bit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，需与外部音频设备的采样精度一致。</a:t>
            </a:r>
          </a:p>
          <a:p>
            <a:pPr marL="342900" lvl="0" indent="-342900">
              <a:spcAft>
                <a:spcPts val="400"/>
              </a:spcAft>
              <a:buSzPts val="1000"/>
              <a:buFont typeface="Symbol" panose="05050102010706020507" pitchFamily="18" charset="2"/>
              <a:buChar char=""/>
              <a:tabLst>
                <a:tab pos="457200" algn="l"/>
              </a:tabLst>
            </a:pP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声道模式（</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cfg_txd_chn</a:t>
            </a: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cfg_rxd_chn</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[9:8]/[11:10]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位，</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 =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立体声，</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 =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单声道左，</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 =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单声道右，决定内存中声道数据的存储方式。</a:t>
            </a:r>
          </a:p>
          <a:p>
            <a:pPr>
              <a:spcAft>
                <a:spcPts val="400"/>
              </a:spcAft>
              <a:buNone/>
            </a:pP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2. </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内存存储布局</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spcAft>
                <a:spcPts val="400"/>
              </a:spcAft>
              <a:buNone/>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样本在内存中以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32bit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为单位存储，不同声道模式的布局差异如下（以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24</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bit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样本为例）：</a:t>
            </a:r>
          </a:p>
          <a:p>
            <a:pPr marL="342900" lvl="0" indent="-342900">
              <a:spcAft>
                <a:spcPts val="400"/>
              </a:spcAft>
              <a:buSzPts val="1000"/>
              <a:buFont typeface="Symbol" panose="05050102010706020507" pitchFamily="18" charset="2"/>
              <a:buChar char=""/>
              <a:tabLst>
                <a:tab pos="457200" algn="l"/>
              </a:tabLst>
            </a:pP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立体声（</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cfg_txd_chn</a:t>
            </a: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每个 </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64</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存储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个左声道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+ 1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个右声道样本，格式为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Stereo_R</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（高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24bit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，低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8bit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补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Stereo_L</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（低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24bit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，高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8bit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补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，需要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个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32bit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单元存储一对立体声样本，适配双声道音频传输</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spcAft>
                <a:spcPts val="400"/>
              </a:spcAft>
              <a:buSzPts val="1000"/>
              <a:buFont typeface="Symbol" panose="05050102010706020507" pitchFamily="18" charset="2"/>
              <a:buChar char=""/>
              <a:tabLst>
                <a:tab pos="457200" algn="l"/>
              </a:tabLst>
            </a:pP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单声道左（</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cfg_txd_chn</a:t>
            </a: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每个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32bit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仅存储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个左声道样本，未使用的高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8bit </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补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，格式为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（高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8bit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Mono_L</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（低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24bit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，适用于单声道录音（仅左声道输入）</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spcAft>
                <a:spcPts val="400"/>
              </a:spcAft>
              <a:buSzPts val="1000"/>
              <a:buFont typeface="Symbol" panose="05050102010706020507" pitchFamily="18" charset="2"/>
              <a:buChar char=""/>
              <a:tabLst>
                <a:tab pos="457200" algn="l"/>
              </a:tabLst>
            </a:pP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单声道右（</a:t>
            </a:r>
            <a:r>
              <a:rPr lang="en-US" altLang="zh-CN" sz="1200" b="1" kern="100" dirty="0" err="1">
                <a:effectLst/>
                <a:latin typeface="等线" panose="02010600030101010101" pitchFamily="2" charset="-122"/>
                <a:ea typeface="等线" panose="02010600030101010101" pitchFamily="2" charset="-122"/>
                <a:cs typeface="Times New Roman" panose="02020603050405020304" pitchFamily="18" charset="0"/>
              </a:rPr>
              <a:t>cfg_txd_chn</a:t>
            </a: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：每个</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32bit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仅存储</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1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个右声道样本，未使用的高</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8</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bit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，格式为</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8</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Mono_R</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24</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，适用于单声道录音（仅右声道输入）。</a:t>
            </a:r>
          </a:p>
          <a:p>
            <a:pPr>
              <a:spcAft>
                <a:spcPts val="400"/>
              </a:spcAft>
              <a:buNone/>
            </a:pPr>
            <a:r>
              <a:rPr lang="en-US" altLang="zh-CN" sz="1200" b="1" kern="100" dirty="0">
                <a:effectLst/>
                <a:latin typeface="等线" panose="02010600030101010101" pitchFamily="2" charset="-122"/>
                <a:ea typeface="等线" panose="02010600030101010101" pitchFamily="2" charset="-122"/>
                <a:cs typeface="Times New Roman" panose="02020603050405020304" pitchFamily="18" charset="0"/>
              </a:rPr>
              <a:t>3. </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样本宽度适配规则</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spcAft>
                <a:spcPts val="400"/>
              </a:spcAft>
              <a:buSzPts val="1000"/>
              <a:buFont typeface="Symbol" panose="05050102010706020507" pitchFamily="18" charset="2"/>
              <a:buChar char=""/>
              <a:tabLst>
                <a:tab pos="457200" algn="l"/>
              </a:tabLst>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若样本宽度（如</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16bit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&lt;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内存存储宽度（</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32bit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）：未使用的高位补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（无符号样本）或符号扩展（有符号样本）。</a:t>
            </a:r>
          </a:p>
          <a:p>
            <a:pPr marL="342900" lvl="0" indent="-342900">
              <a:spcAft>
                <a:spcPts val="400"/>
              </a:spcAft>
              <a:buSzPts val="1000"/>
              <a:buFont typeface="Symbol" panose="05050102010706020507" pitchFamily="18" charset="2"/>
              <a:buChar char=""/>
              <a:tabLst>
                <a:tab pos="457200" algn="l"/>
              </a:tabLst>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若样本宽度（如</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32bit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内存存储宽度：直接完整存储，无额外处理。</a:t>
            </a:r>
          </a:p>
          <a:p>
            <a:pPr marL="342900" lvl="0" indent="-342900">
              <a:spcAft>
                <a:spcPts val="400"/>
              </a:spcAft>
              <a:buSzPts val="1000"/>
              <a:buFont typeface="Symbol" panose="05050102010706020507" pitchFamily="18" charset="2"/>
              <a:buChar char=""/>
              <a:tabLst>
                <a:tab pos="457200" algn="l"/>
              </a:tabLst>
            </a:pP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若样本宽度（如</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24bit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）需扩展至</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32bit</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：高位补</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0</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（无符号）或符号扩展（有符号），确保数据精度不丢失。</a:t>
            </a:r>
          </a:p>
        </p:txBody>
      </p:sp>
    </p:spTree>
    <p:extLst>
      <p:ext uri="{BB962C8B-B14F-4D97-AF65-F5344CB8AC3E}">
        <p14:creationId xmlns:p14="http://schemas.microsoft.com/office/powerpoint/2010/main" val="4107764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CC7B7-5B0B-17EF-15A0-87D367642166}"/>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A29240F4-E74F-E33D-4973-004659AC65F2}"/>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a:t>
            </a:r>
            <a:r>
              <a:rPr lang="en-US" altLang="zh-CN" b="1" dirty="0"/>
              <a:t> </a:t>
            </a:r>
            <a:r>
              <a:rPr lang="en-US" altLang="zh-CN" sz="2400" b="1" spc="-38" dirty="0" err="1">
                <a:solidFill>
                  <a:srgbClr val="DFC27B"/>
                </a:solidFill>
                <a:latin typeface="Calibri" panose="020F0502020204030204" pitchFamily="34" charset="0"/>
                <a:cs typeface="Calibri" panose="020F0502020204030204" pitchFamily="34" charset="0"/>
              </a:rPr>
              <a:t>xDMA</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zh-CN" sz="2400" b="1" spc="-38" dirty="0">
                <a:solidFill>
                  <a:srgbClr val="DFC27B"/>
                </a:solidFill>
                <a:latin typeface="Calibri" panose="020F0502020204030204" pitchFamily="34" charset="0"/>
                <a:cs typeface="Calibri" panose="020F0502020204030204" pitchFamily="34" charset="0"/>
              </a:rPr>
              <a:t>控制：无</a:t>
            </a:r>
            <a:r>
              <a:rPr lang="en-US" altLang="zh-CN" sz="2400" b="1" spc="-38" dirty="0">
                <a:solidFill>
                  <a:srgbClr val="DFC27B"/>
                </a:solidFill>
                <a:latin typeface="Calibri" panose="020F0502020204030204" pitchFamily="34" charset="0"/>
                <a:cs typeface="Calibri" panose="020F0502020204030204" pitchFamily="34" charset="0"/>
              </a:rPr>
              <a:t> CPU </a:t>
            </a:r>
            <a:r>
              <a:rPr lang="zh-CN" altLang="zh-CN" sz="2400" b="1" spc="-38" dirty="0">
                <a:solidFill>
                  <a:srgbClr val="DFC27B"/>
                </a:solidFill>
                <a:latin typeface="Calibri" panose="020F0502020204030204" pitchFamily="34" charset="0"/>
                <a:cs typeface="Calibri" panose="020F0502020204030204" pitchFamily="34" charset="0"/>
              </a:rPr>
              <a:t>干预的音频传输</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A436B165-9AE7-89C9-4C85-258FFB2344C0}"/>
              </a:ext>
            </a:extLst>
          </p:cNvPr>
          <p:cNvSpPr>
            <a:spLocks noChangeArrowheads="1"/>
          </p:cNvSpPr>
          <p:nvPr/>
        </p:nvSpPr>
        <p:spPr bwMode="auto">
          <a:xfrm>
            <a:off x="215591" y="928977"/>
            <a:ext cx="8807639" cy="345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I2S </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模块集成 </a:t>
            </a:r>
            <a:r>
              <a:rPr kumimoji="0" lang="en-US" altLang="zh-CN"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RDMA</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（读 </a:t>
            </a:r>
            <a:r>
              <a:rPr kumimoji="0" lang="en-US" altLang="zh-CN"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DMA</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）和 </a:t>
            </a:r>
            <a:r>
              <a:rPr kumimoji="0" lang="en-US" altLang="zh-CN"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WDMA</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（写 </a:t>
            </a:r>
            <a:r>
              <a:rPr kumimoji="0" lang="en-US" altLang="zh-CN"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DMA</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）两个独立通道，支持</a:t>
            </a:r>
            <a:r>
              <a:rPr kumimoji="0" lang="zh-CN" altLang="en-US" sz="11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单次模式</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和</a:t>
            </a:r>
            <a:r>
              <a:rPr kumimoji="0" lang="zh-CN" altLang="en-US" sz="1100" b="1"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连续模式</a:t>
            </a:r>
            <a:r>
              <a:rPr kumimoji="0" lang="zh-CN" altLang="en-US" sz="11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，适配不同音频传输场景，核心逻辑如下：</a:t>
            </a:r>
            <a:endParaRPr kumimoji="0" lang="zh-CN" altLang="en-US" sz="400" b="0" i="0" u="none" strike="noStrike" cap="none" normalizeH="0" baseline="0" dirty="0">
              <a:ln>
                <a:noFill/>
              </a:ln>
              <a:solidFill>
                <a:schemeClr val="tx1"/>
              </a:solidFill>
              <a:effectLst/>
            </a:endParaRPr>
          </a:p>
          <a:p>
            <a:pPr marL="0" indent="0">
              <a:lnSpc>
                <a:spcPct val="115000"/>
              </a:lnSpc>
              <a:spcAft>
                <a:spcPts val="800"/>
              </a:spcAft>
              <a:buSzTx/>
              <a:buFontTx/>
              <a:buNone/>
              <a:tabLst/>
              <a:defRPr/>
            </a:pPr>
            <a:r>
              <a:rPr lang="en-US" altLang="zh-CN"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1. DMA </a:t>
            </a: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核心参数</a:t>
            </a:r>
          </a:p>
          <a:p>
            <a:pPr marL="171450" indent="-171450">
              <a:lnSpc>
                <a:spcPct val="115000"/>
              </a:lnSpc>
              <a:spcAft>
                <a:spcPts val="800"/>
              </a:spcAft>
              <a:buSzTx/>
              <a:buFont typeface="Arial" panose="020B0604020202020204" pitchFamily="34" charset="0"/>
              <a:buChar char="•"/>
              <a:tabLst/>
              <a:defRPr/>
            </a:pP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起始地址（</a:t>
            </a:r>
            <a:r>
              <a:rPr lang="en-US" altLang="zh-CN"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PTR_START</a:t>
            </a: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配置于</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I2S_RDMA_SET1/I2S_WDMA_SET1</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，需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4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字节对齐（因内存以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32bit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为单位访问），指向音频数据在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SRAM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中的起始位置。</a:t>
            </a:r>
          </a:p>
          <a:p>
            <a:pPr marL="171450" indent="-171450">
              <a:lnSpc>
                <a:spcPct val="115000"/>
              </a:lnSpc>
              <a:spcAft>
                <a:spcPts val="800"/>
              </a:spcAft>
              <a:buSzTx/>
              <a:buFont typeface="Arial" panose="020B0604020202020204" pitchFamily="34" charset="0"/>
              <a:buChar char="•"/>
              <a:tabLst/>
              <a:defRPr/>
            </a:pP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段大小（</a:t>
            </a:r>
            <a:r>
              <a:rPr lang="en-US" altLang="zh-CN"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SEG_N</a:t>
            </a: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配置于</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I2S_RDMA_SET0/I2S_WDMA_SET0</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（低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16bit</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），定义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DMA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传输的总数据量（单位：</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4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字节），如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SEG_N=1024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表示总传输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4096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字节（</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1024×4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字节）。</a:t>
            </a:r>
          </a:p>
          <a:p>
            <a:pPr marL="171450" indent="-171450">
              <a:lnSpc>
                <a:spcPct val="115000"/>
              </a:lnSpc>
              <a:spcAft>
                <a:spcPts val="800"/>
              </a:spcAft>
              <a:buSzTx/>
              <a:buFont typeface="Arial" panose="020B0604020202020204" pitchFamily="34" charset="0"/>
              <a:buChar char="•"/>
              <a:tabLst/>
              <a:defRPr/>
            </a:pP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块大小（</a:t>
            </a:r>
            <a:r>
              <a:rPr lang="en-US" altLang="zh-CN"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BLK_M</a:t>
            </a:r>
            <a:r>
              <a:rPr lang="zh-CN" altLang="en-US"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配置于</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I2S_RDMA_SET0/I2S_WDMA_SET0</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（高 </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16bit</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），定义单次中断触发的传输量（单位：</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4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字节），</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BLK_M=0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时为单次模式，</a:t>
            </a:r>
            <a:r>
              <a:rPr lang="en-US" altLang="zh-CN"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BLK_M≠0 </a:t>
            </a:r>
            <a:r>
              <a:rPr lang="zh-CN" altLang="en-US" sz="1100"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时为连续模式。</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400" b="0" i="0" u="none" strike="noStrike" cap="none" normalizeH="0" baseline="0" dirty="0">
              <a:ln>
                <a:noFill/>
              </a:ln>
              <a:solidFill>
                <a:schemeClr val="tx1"/>
              </a:solidFill>
              <a:effectLs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altLang="zh-CN" sz="1100" b="1" kern="100" dirty="0">
                <a:solidFill>
                  <a:prstClr val="black"/>
                </a:solidFill>
                <a:latin typeface="等线" panose="02010600030101010101" pitchFamily="2" charset="-122"/>
                <a:ea typeface="等线" panose="02010600030101010101" pitchFamily="2" charset="-122"/>
                <a:cs typeface="Times New Roman" panose="02020603050405020304" pitchFamily="18" charset="0"/>
              </a:rPr>
              <a:t>2</a:t>
            </a:r>
            <a:r>
              <a:rPr kumimoji="0" lang="en-US" altLang="zh-CN" sz="11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DMA </a:t>
            </a:r>
            <a:r>
              <a:rPr kumimoji="0" lang="zh-CN" altLang="zh-CN" sz="11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中断与同步</a:t>
            </a:r>
            <a:endPar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171450" marR="0" lvl="0"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457200" algn="l"/>
              </a:tabLst>
              <a:defRPr/>
            </a:pPr>
            <a:r>
              <a:rPr kumimoji="0" lang="zh-CN" altLang="zh-CN" sz="11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中断触发条件</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：单次模式下传输完成触发中断；连续模式下每完成</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BLK_M </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次传输触发一次中断，确保</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CPU </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可及时处理音频数据（如播放缓存填充、录音数据存储）。</a:t>
            </a:r>
          </a:p>
          <a:p>
            <a:pPr marL="171450" marR="0" lvl="0" indent="-171450" algn="l" defTabSz="914400" rtl="0" eaLnBrk="1" fontAlgn="auto" latinLnBrk="0" hangingPunct="1">
              <a:lnSpc>
                <a:spcPct val="115000"/>
              </a:lnSpc>
              <a:spcBef>
                <a:spcPts val="0"/>
              </a:spcBef>
              <a:spcAft>
                <a:spcPts val="800"/>
              </a:spcAft>
              <a:buClrTx/>
              <a:buSzPts val="1000"/>
              <a:buFont typeface="Arial" panose="020B0604020202020204" pitchFamily="34" charset="0"/>
              <a:buChar char="•"/>
              <a:tabLst>
                <a:tab pos="457200" algn="l"/>
              </a:tabLst>
              <a:defRPr/>
            </a:pPr>
            <a:r>
              <a:rPr kumimoji="0" lang="zh-CN" altLang="zh-CN" sz="11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中断控制</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：通过</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I2S_INT_MASK</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使能中断（如使能</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RDMA </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中断），</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I2S_INT_CLEAR</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清除中断状态（写</a:t>
            </a:r>
            <a:r>
              <a:rPr kumimoji="0" lang="en-US"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1 </a:t>
            </a:r>
            <a:r>
              <a:rPr kumimoji="0" lang="zh-CN" altLang="zh-CN" sz="11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清除），避免中断响应丢失。</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375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3964-7309-6506-2846-C034C7859147}"/>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96C04399-5FC8-7BAD-2D48-160D871F8AAC}"/>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FA7B564B-E816-1520-0B13-2FC83EA0BF4C}"/>
              </a:ext>
            </a:extLst>
          </p:cNvPr>
          <p:cNvSpPr txBox="1"/>
          <p:nvPr/>
        </p:nvSpPr>
        <p:spPr>
          <a:xfrm>
            <a:off x="3880625" y="3652026"/>
            <a:ext cx="4844276" cy="584775"/>
          </a:xfrm>
          <a:prstGeom prst="rect">
            <a:avLst/>
          </a:prstGeom>
          <a:noFill/>
        </p:spPr>
        <p:txBody>
          <a:bodyPr wrap="square" rtlCol="0">
            <a:spAutoFit/>
          </a:bodyPr>
          <a:lstStyle/>
          <a:p>
            <a:r>
              <a:rPr lang="en-US" altLang="zh-CN" sz="3200" dirty="0">
                <a:solidFill>
                  <a:schemeClr val="accent1"/>
                </a:solidFill>
                <a:latin typeface="+mn-ea"/>
              </a:rPr>
              <a:t>I2S</a:t>
            </a:r>
            <a:r>
              <a:rPr lang="zh-CN" altLang="en-US" sz="3200" dirty="0">
                <a:solidFill>
                  <a:schemeClr val="accent1"/>
                </a:solidFill>
                <a:latin typeface="+mn-ea"/>
              </a:rPr>
              <a:t>的实际应用（</a:t>
            </a:r>
            <a:r>
              <a:rPr lang="en-US" altLang="zh-CN" sz="3200" dirty="0">
                <a:solidFill>
                  <a:schemeClr val="accent1"/>
                </a:solidFill>
                <a:latin typeface="+mn-ea"/>
              </a:rPr>
              <a:t>INMP441</a:t>
            </a:r>
            <a:r>
              <a:rPr lang="zh-CN" altLang="en-US" sz="3200" dirty="0">
                <a:solidFill>
                  <a:schemeClr val="accent1"/>
                </a:solidFill>
                <a:latin typeface="+mn-ea"/>
              </a:rPr>
              <a:t>）</a:t>
            </a:r>
          </a:p>
        </p:txBody>
      </p:sp>
    </p:spTree>
    <p:extLst>
      <p:ext uri="{BB962C8B-B14F-4D97-AF65-F5344CB8AC3E}">
        <p14:creationId xmlns:p14="http://schemas.microsoft.com/office/powerpoint/2010/main" val="1043500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0ADC5-3C72-790E-B6A6-A6CDA0938267}"/>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BEA6015E-1FD5-8FB5-EE2B-1E564B86D52B}"/>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INMP441</a:t>
            </a:r>
            <a:r>
              <a:rPr lang="zh-CN" altLang="en-US" sz="2400" b="1" spc="-38" dirty="0">
                <a:solidFill>
                  <a:srgbClr val="DFC27B"/>
                </a:solidFill>
                <a:latin typeface="Calibri" panose="020F0502020204030204" pitchFamily="34" charset="0"/>
                <a:cs typeface="Calibri" panose="020F0502020204030204" pitchFamily="34" charset="0"/>
              </a:rPr>
              <a:t>引脚配置</a:t>
            </a:r>
            <a:endParaRPr lang="en-US" altLang="zh-TW" sz="2400" b="1" spc="-38" dirty="0">
              <a:solidFill>
                <a:srgbClr val="DFC27B"/>
              </a:solidFill>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FC6BA6BD-C9FC-6E7E-9197-3253365DB20D}"/>
              </a:ext>
            </a:extLst>
          </p:cNvPr>
          <p:cNvGraphicFramePr>
            <a:graphicFrameLocks noGrp="1"/>
          </p:cNvGraphicFramePr>
          <p:nvPr>
            <p:extLst>
              <p:ext uri="{D42A27DB-BD31-4B8C-83A1-F6EECF244321}">
                <p14:modId xmlns:p14="http://schemas.microsoft.com/office/powerpoint/2010/main" val="2599775627"/>
              </p:ext>
            </p:extLst>
          </p:nvPr>
        </p:nvGraphicFramePr>
        <p:xfrm>
          <a:off x="215591" y="1686449"/>
          <a:ext cx="8745530" cy="1639091"/>
        </p:xfrm>
        <a:graphic>
          <a:graphicData uri="http://schemas.openxmlformats.org/drawingml/2006/table">
            <a:tbl>
              <a:tblPr/>
              <a:tblGrid>
                <a:gridCol w="1351155">
                  <a:extLst>
                    <a:ext uri="{9D8B030D-6E8A-4147-A177-3AD203B41FA5}">
                      <a16:colId xmlns:a16="http://schemas.microsoft.com/office/drawing/2014/main" val="1037226134"/>
                    </a:ext>
                  </a:extLst>
                </a:gridCol>
                <a:gridCol w="1555595">
                  <a:extLst>
                    <a:ext uri="{9D8B030D-6E8A-4147-A177-3AD203B41FA5}">
                      <a16:colId xmlns:a16="http://schemas.microsoft.com/office/drawing/2014/main" val="3889234735"/>
                    </a:ext>
                  </a:extLst>
                </a:gridCol>
                <a:gridCol w="5838780">
                  <a:extLst>
                    <a:ext uri="{9D8B030D-6E8A-4147-A177-3AD203B41FA5}">
                      <a16:colId xmlns:a16="http://schemas.microsoft.com/office/drawing/2014/main" val="396380763"/>
                    </a:ext>
                  </a:extLst>
                </a:gridCol>
              </a:tblGrid>
              <a:tr h="175955">
                <a:tc>
                  <a:txBody>
                    <a:bodyPr/>
                    <a:lstStyle/>
                    <a:p>
                      <a:pPr>
                        <a:lnSpc>
                          <a:spcPts val="1725"/>
                        </a:lnSpc>
                        <a:buNone/>
                      </a:pPr>
                      <a:r>
                        <a:rPr lang="en-US" sz="1300" b="1">
                          <a:solidFill>
                            <a:srgbClr val="000000"/>
                          </a:solidFill>
                          <a:effectLst/>
                        </a:rPr>
                        <a:t>INMP441 </a:t>
                      </a:r>
                      <a:r>
                        <a:rPr lang="zh-CN" altLang="en-US" sz="1300" b="1">
                          <a:solidFill>
                            <a:srgbClr val="000000"/>
                          </a:solidFill>
                          <a:effectLst/>
                        </a:rPr>
                        <a:t>引脚</a:t>
                      </a:r>
                    </a:p>
                  </a:txBody>
                  <a:tcPr marL="101711" marR="101711" marT="67808" marB="67808" anchor="ctr">
                    <a:lnL w="4229" cap="flat" cmpd="sng" algn="ctr">
                      <a:solidFill>
                        <a:srgbClr val="10657C"/>
                      </a:solidFill>
                      <a:prstDash val="solid"/>
                      <a:round/>
                      <a:headEnd type="none" w="med" len="med"/>
                      <a:tailEnd type="none" w="med" len="med"/>
                    </a:lnL>
                    <a:lnR w="4229" cap="flat" cmpd="sng" algn="ctr">
                      <a:solidFill>
                        <a:srgbClr val="506E7C"/>
                      </a:solidFill>
                      <a:prstDash val="solid"/>
                      <a:round/>
                      <a:headEnd type="none" w="med" len="med"/>
                      <a:tailEnd type="none" w="med" len="med"/>
                    </a:lnR>
                    <a:lnT w="4229" cap="flat" cmpd="sng" algn="ctr">
                      <a:solidFill>
                        <a:srgbClr val="10637C"/>
                      </a:solidFill>
                      <a:prstDash val="solid"/>
                      <a:round/>
                      <a:headEnd type="none" w="med" len="med"/>
                      <a:tailEnd type="none" w="med" len="med"/>
                    </a:lnT>
                    <a:lnB w="4229" cap="flat" cmpd="sng" algn="ctr">
                      <a:solidFill>
                        <a:srgbClr val="306D7C"/>
                      </a:solidFill>
                      <a:prstDash val="solid"/>
                      <a:round/>
                      <a:headEnd type="none" w="med" len="med"/>
                      <a:tailEnd type="none" w="med" len="med"/>
                    </a:lnB>
                    <a:solidFill>
                      <a:srgbClr val="F2F2F2"/>
                    </a:solidFill>
                  </a:tcPr>
                </a:tc>
                <a:tc>
                  <a:txBody>
                    <a:bodyPr/>
                    <a:lstStyle/>
                    <a:p>
                      <a:pPr>
                        <a:lnSpc>
                          <a:spcPts val="1725"/>
                        </a:lnSpc>
                        <a:buNone/>
                      </a:pPr>
                      <a:r>
                        <a:rPr lang="en-US" sz="1300" b="1" dirty="0">
                          <a:solidFill>
                            <a:srgbClr val="000000"/>
                          </a:solidFill>
                          <a:effectLst/>
                        </a:rPr>
                        <a:t>I2S </a:t>
                      </a:r>
                      <a:r>
                        <a:rPr lang="zh-CN" altLang="en-US" sz="1300" b="1" dirty="0">
                          <a:solidFill>
                            <a:srgbClr val="000000"/>
                          </a:solidFill>
                          <a:effectLst/>
                        </a:rPr>
                        <a:t>信号名称</a:t>
                      </a:r>
                    </a:p>
                  </a:txBody>
                  <a:tcPr marL="101711" marR="101711" marT="67808" marB="67808" anchor="ctr">
                    <a:lnL w="4229" cap="flat" cmpd="sng" algn="ctr">
                      <a:solidFill>
                        <a:srgbClr val="506E7C"/>
                      </a:solidFill>
                      <a:prstDash val="solid"/>
                      <a:round/>
                      <a:headEnd type="none" w="med" len="med"/>
                      <a:tailEnd type="none" w="med" len="med"/>
                    </a:lnL>
                    <a:lnR w="4229" cap="flat" cmpd="sng" algn="ctr">
                      <a:solidFill>
                        <a:srgbClr val="D0657C"/>
                      </a:solidFill>
                      <a:prstDash val="solid"/>
                      <a:round/>
                      <a:headEnd type="none" w="med" len="med"/>
                      <a:tailEnd type="none" w="med" len="med"/>
                    </a:lnR>
                    <a:lnT w="4229" cap="flat" cmpd="sng" algn="ctr">
                      <a:solidFill>
                        <a:srgbClr val="10667C"/>
                      </a:solidFill>
                      <a:prstDash val="solid"/>
                      <a:round/>
                      <a:headEnd type="none" w="med" len="med"/>
                      <a:tailEnd type="none" w="med" len="med"/>
                    </a:lnT>
                    <a:lnB w="4229" cap="flat" cmpd="sng" algn="ctr">
                      <a:solidFill>
                        <a:srgbClr val="B06E7C"/>
                      </a:solidFill>
                      <a:prstDash val="solid"/>
                      <a:round/>
                      <a:headEnd type="none" w="med" len="med"/>
                      <a:tailEnd type="none" w="med" len="med"/>
                    </a:lnB>
                    <a:solidFill>
                      <a:srgbClr val="F2F2F2"/>
                    </a:solidFill>
                  </a:tcPr>
                </a:tc>
                <a:tc>
                  <a:txBody>
                    <a:bodyPr/>
                    <a:lstStyle/>
                    <a:p>
                      <a:pPr>
                        <a:lnSpc>
                          <a:spcPts val="1725"/>
                        </a:lnSpc>
                        <a:buNone/>
                      </a:pPr>
                      <a:r>
                        <a:rPr lang="zh-CN" altLang="en-US" sz="1300" b="1">
                          <a:solidFill>
                            <a:srgbClr val="000000"/>
                          </a:solidFill>
                          <a:effectLst/>
                        </a:rPr>
                        <a:t>功能说明</a:t>
                      </a:r>
                    </a:p>
                  </a:txBody>
                  <a:tcPr marL="101711" marR="101711" marT="67808" marB="67808" anchor="ctr">
                    <a:lnL w="4229" cap="flat" cmpd="sng" algn="ctr">
                      <a:solidFill>
                        <a:srgbClr val="D0657C"/>
                      </a:solidFill>
                      <a:prstDash val="solid"/>
                      <a:round/>
                      <a:headEnd type="none" w="med" len="med"/>
                      <a:tailEnd type="none" w="med" len="med"/>
                    </a:lnL>
                    <a:lnR w="4229" cap="flat" cmpd="sng" algn="ctr">
                      <a:solidFill>
                        <a:srgbClr val="D0657C"/>
                      </a:solidFill>
                      <a:prstDash val="solid"/>
                      <a:round/>
                      <a:headEnd type="none" w="med" len="med"/>
                      <a:tailEnd type="none" w="med" len="med"/>
                    </a:lnR>
                    <a:lnT w="4229" cap="flat" cmpd="sng" algn="ctr">
                      <a:solidFill>
                        <a:srgbClr val="D0657C"/>
                      </a:solidFill>
                      <a:prstDash val="solid"/>
                      <a:round/>
                      <a:headEnd type="none" w="med" len="med"/>
                      <a:tailEnd type="none" w="med" len="med"/>
                    </a:lnT>
                    <a:lnB w="4229" cap="flat" cmpd="sng" algn="ctr">
                      <a:solidFill>
                        <a:srgbClr val="301680"/>
                      </a:solidFill>
                      <a:prstDash val="solid"/>
                      <a:round/>
                      <a:headEnd type="none" w="med" len="med"/>
                      <a:tailEnd type="none" w="med" len="med"/>
                    </a:lnB>
                    <a:solidFill>
                      <a:srgbClr val="F2F2F2"/>
                    </a:solidFill>
                  </a:tcPr>
                </a:tc>
                <a:extLst>
                  <a:ext uri="{0D108BD9-81ED-4DB2-BD59-A6C34878D82A}">
                    <a16:rowId xmlns:a16="http://schemas.microsoft.com/office/drawing/2014/main" val="2866049955"/>
                  </a:ext>
                </a:extLst>
              </a:tr>
              <a:tr h="204419">
                <a:tc>
                  <a:txBody>
                    <a:bodyPr/>
                    <a:lstStyle/>
                    <a:p>
                      <a:pPr>
                        <a:lnSpc>
                          <a:spcPts val="1725"/>
                        </a:lnSpc>
                        <a:buNone/>
                      </a:pPr>
                      <a:r>
                        <a:rPr lang="en-US" sz="1000" b="1">
                          <a:solidFill>
                            <a:srgbClr val="000000"/>
                          </a:solidFill>
                          <a:effectLst/>
                        </a:rPr>
                        <a:t>I2S_SCK</a:t>
                      </a:r>
                      <a:endParaRPr lang="en-US" sz="1000" b="0">
                        <a:effectLst/>
                      </a:endParaRPr>
                    </a:p>
                  </a:txBody>
                  <a:tcPr marL="101711" marR="101711" marT="67808" marB="67808" anchor="ctr">
                    <a:lnL w="4229" cap="flat" cmpd="sng" algn="ctr">
                      <a:solidFill>
                        <a:srgbClr val="90707C"/>
                      </a:solidFill>
                      <a:prstDash val="solid"/>
                      <a:round/>
                      <a:headEnd type="none" w="med" len="med"/>
                      <a:tailEnd type="none" w="med" len="med"/>
                    </a:lnL>
                    <a:lnR w="4229" cap="flat" cmpd="sng" algn="ctr">
                      <a:solidFill>
                        <a:srgbClr val="70777C"/>
                      </a:solidFill>
                      <a:prstDash val="solid"/>
                      <a:round/>
                      <a:headEnd type="none" w="med" len="med"/>
                      <a:tailEnd type="none" w="med" len="med"/>
                    </a:lnR>
                    <a:lnT w="4229" cap="flat" cmpd="sng" algn="ctr">
                      <a:solidFill>
                        <a:srgbClr val="306D7C"/>
                      </a:solidFill>
                      <a:prstDash val="solid"/>
                      <a:round/>
                      <a:headEnd type="none" w="med" len="med"/>
                      <a:tailEnd type="none" w="med" len="med"/>
                    </a:lnT>
                    <a:lnB w="4229" cap="flat" cmpd="sng" algn="ctr">
                      <a:solidFill>
                        <a:srgbClr val="30727C"/>
                      </a:solidFill>
                      <a:prstDash val="solid"/>
                      <a:round/>
                      <a:headEnd type="none" w="med" len="med"/>
                      <a:tailEnd type="none" w="med" len="med"/>
                    </a:lnB>
                    <a:solidFill>
                      <a:srgbClr val="FFFFFF"/>
                    </a:solidFill>
                  </a:tcPr>
                </a:tc>
                <a:tc>
                  <a:txBody>
                    <a:bodyPr/>
                    <a:lstStyle/>
                    <a:p>
                      <a:pPr>
                        <a:lnSpc>
                          <a:spcPts val="1725"/>
                        </a:lnSpc>
                        <a:buNone/>
                      </a:pPr>
                      <a:r>
                        <a:rPr lang="en-US" sz="1000" b="0">
                          <a:effectLst/>
                        </a:rPr>
                        <a:t>I2S_BCK（</a:t>
                      </a:r>
                      <a:r>
                        <a:rPr lang="zh-CN" altLang="en-US" sz="1000" b="0">
                          <a:effectLst/>
                        </a:rPr>
                        <a:t>位时钟）</a:t>
                      </a:r>
                    </a:p>
                  </a:txBody>
                  <a:tcPr marL="101711" marR="101711" marT="67808" marB="67808" anchor="ctr">
                    <a:lnL w="4229" cap="flat" cmpd="sng" algn="ctr">
                      <a:solidFill>
                        <a:srgbClr val="70777C"/>
                      </a:solidFill>
                      <a:prstDash val="solid"/>
                      <a:round/>
                      <a:headEnd type="none" w="med" len="med"/>
                      <a:tailEnd type="none" w="med" len="med"/>
                    </a:lnL>
                    <a:lnR w="4229" cap="flat" cmpd="sng" algn="ctr">
                      <a:solidFill>
                        <a:srgbClr val="10657C"/>
                      </a:solidFill>
                      <a:prstDash val="solid"/>
                      <a:round/>
                      <a:headEnd type="none" w="med" len="med"/>
                      <a:tailEnd type="none" w="med" len="med"/>
                    </a:lnR>
                    <a:lnT w="4229" cap="flat" cmpd="sng" algn="ctr">
                      <a:solidFill>
                        <a:srgbClr val="B06E7C"/>
                      </a:solidFill>
                      <a:prstDash val="solid"/>
                      <a:round/>
                      <a:headEnd type="none" w="med" len="med"/>
                      <a:tailEnd type="none" w="med" len="med"/>
                    </a:lnT>
                    <a:lnB w="4229" cap="flat" cmpd="sng" algn="ctr">
                      <a:solidFill>
                        <a:srgbClr val="D0807C"/>
                      </a:solidFill>
                      <a:prstDash val="solid"/>
                      <a:round/>
                      <a:headEnd type="none" w="med" len="med"/>
                      <a:tailEnd type="none" w="med" len="med"/>
                    </a:lnB>
                    <a:solidFill>
                      <a:srgbClr val="FFFFFF"/>
                    </a:solidFill>
                  </a:tcPr>
                </a:tc>
                <a:tc>
                  <a:txBody>
                    <a:bodyPr/>
                    <a:lstStyle/>
                    <a:p>
                      <a:pPr>
                        <a:lnSpc>
                          <a:spcPts val="1725"/>
                        </a:lnSpc>
                        <a:buNone/>
                      </a:pPr>
                      <a:r>
                        <a:rPr lang="zh-CN" altLang="en-US" sz="1000" b="0">
                          <a:effectLst/>
                        </a:rPr>
                        <a:t>接收主设备（如 </a:t>
                      </a:r>
                      <a:r>
                        <a:rPr lang="en-US" altLang="zh-CN" sz="1000" b="0">
                          <a:effectLst/>
                        </a:rPr>
                        <a:t>RT570</a:t>
                      </a:r>
                      <a:r>
                        <a:rPr lang="zh-CN" altLang="en-US" sz="1000" b="0">
                          <a:effectLst/>
                        </a:rPr>
                        <a:t>）的位时钟，用于同步数据传输</a:t>
                      </a:r>
                    </a:p>
                  </a:txBody>
                  <a:tcPr marL="101711" marR="101711" marT="67808" marB="67808" anchor="ctr">
                    <a:lnL w="4229" cap="flat" cmpd="sng" algn="ctr">
                      <a:solidFill>
                        <a:srgbClr val="10657C"/>
                      </a:solidFill>
                      <a:prstDash val="solid"/>
                      <a:round/>
                      <a:headEnd type="none" w="med" len="med"/>
                      <a:tailEnd type="none" w="med" len="med"/>
                    </a:lnL>
                    <a:lnR w="4229" cap="flat" cmpd="sng" algn="ctr">
                      <a:solidFill>
                        <a:srgbClr val="70667C"/>
                      </a:solidFill>
                      <a:prstDash val="solid"/>
                      <a:round/>
                      <a:headEnd type="none" w="med" len="med"/>
                      <a:tailEnd type="none" w="med" len="med"/>
                    </a:lnR>
                    <a:lnT w="4229" cap="flat" cmpd="sng" algn="ctr">
                      <a:solidFill>
                        <a:srgbClr val="301680"/>
                      </a:solidFill>
                      <a:prstDash val="solid"/>
                      <a:round/>
                      <a:headEnd type="none" w="med" len="med"/>
                      <a:tailEnd type="none" w="med" len="med"/>
                    </a:lnT>
                    <a:lnB w="4229" cap="flat" cmpd="sng" algn="ctr">
                      <a:solidFill>
                        <a:srgbClr val="001380"/>
                      </a:solidFill>
                      <a:prstDash val="solid"/>
                      <a:round/>
                      <a:headEnd type="none" w="med" len="med"/>
                      <a:tailEnd type="none" w="med" len="med"/>
                    </a:lnB>
                    <a:solidFill>
                      <a:srgbClr val="FFFFFF"/>
                    </a:solidFill>
                  </a:tcPr>
                </a:tc>
                <a:extLst>
                  <a:ext uri="{0D108BD9-81ED-4DB2-BD59-A6C34878D82A}">
                    <a16:rowId xmlns:a16="http://schemas.microsoft.com/office/drawing/2014/main" val="2129023590"/>
                  </a:ext>
                </a:extLst>
              </a:tr>
              <a:tr h="284771">
                <a:tc>
                  <a:txBody>
                    <a:bodyPr/>
                    <a:lstStyle/>
                    <a:p>
                      <a:pPr>
                        <a:lnSpc>
                          <a:spcPts val="1725"/>
                        </a:lnSpc>
                        <a:buNone/>
                      </a:pPr>
                      <a:r>
                        <a:rPr lang="en-US" sz="1000" b="1">
                          <a:solidFill>
                            <a:srgbClr val="000000"/>
                          </a:solidFill>
                          <a:effectLst/>
                        </a:rPr>
                        <a:t>I2S_WS</a:t>
                      </a:r>
                      <a:endParaRPr lang="en-US" sz="1000" b="0">
                        <a:effectLst/>
                      </a:endParaRPr>
                    </a:p>
                  </a:txBody>
                  <a:tcPr marL="101711" marR="101711" marT="67808" marB="67808" anchor="ctr">
                    <a:lnL w="4229" cap="flat" cmpd="sng" algn="ctr">
                      <a:solidFill>
                        <a:srgbClr val="70787C"/>
                      </a:solidFill>
                      <a:prstDash val="solid"/>
                      <a:round/>
                      <a:headEnd type="none" w="med" len="med"/>
                      <a:tailEnd type="none" w="med" len="med"/>
                    </a:lnL>
                    <a:lnR w="4229" cap="flat" cmpd="sng" algn="ctr">
                      <a:solidFill>
                        <a:srgbClr val="307E7C"/>
                      </a:solidFill>
                      <a:prstDash val="solid"/>
                      <a:round/>
                      <a:headEnd type="none" w="med" len="med"/>
                      <a:tailEnd type="none" w="med" len="med"/>
                    </a:lnR>
                    <a:lnT w="4229" cap="flat" cmpd="sng" algn="ctr">
                      <a:solidFill>
                        <a:srgbClr val="30727C"/>
                      </a:solidFill>
                      <a:prstDash val="solid"/>
                      <a:round/>
                      <a:headEnd type="none" w="med" len="med"/>
                      <a:tailEnd type="none" w="med" len="med"/>
                    </a:lnT>
                    <a:lnB w="4229" cap="flat" cmpd="sng" algn="ctr">
                      <a:solidFill>
                        <a:srgbClr val="307E7C"/>
                      </a:solidFill>
                      <a:prstDash val="solid"/>
                      <a:round/>
                      <a:headEnd type="none" w="med" len="med"/>
                      <a:tailEnd type="none" w="med" len="med"/>
                    </a:lnB>
                    <a:solidFill>
                      <a:srgbClr val="FFFFFF"/>
                    </a:solidFill>
                  </a:tcPr>
                </a:tc>
                <a:tc>
                  <a:txBody>
                    <a:bodyPr/>
                    <a:lstStyle/>
                    <a:p>
                      <a:pPr>
                        <a:lnSpc>
                          <a:spcPts val="1725"/>
                        </a:lnSpc>
                        <a:buNone/>
                      </a:pPr>
                      <a:r>
                        <a:rPr lang="en-US" sz="1000" b="0">
                          <a:effectLst/>
                        </a:rPr>
                        <a:t>I2S_WCK（</a:t>
                      </a:r>
                      <a:r>
                        <a:rPr lang="zh-CN" altLang="en-US" sz="1000" b="0">
                          <a:effectLst/>
                        </a:rPr>
                        <a:t>帧时钟）</a:t>
                      </a:r>
                    </a:p>
                  </a:txBody>
                  <a:tcPr marL="101711" marR="101711" marT="67808" marB="67808" anchor="ctr">
                    <a:lnL w="4229" cap="flat" cmpd="sng" algn="ctr">
                      <a:solidFill>
                        <a:srgbClr val="307E7C"/>
                      </a:solidFill>
                      <a:prstDash val="solid"/>
                      <a:round/>
                      <a:headEnd type="none" w="med" len="med"/>
                      <a:tailEnd type="none" w="med" len="med"/>
                    </a:lnL>
                    <a:lnR w="4229" cap="flat" cmpd="sng" algn="ctr">
                      <a:solidFill>
                        <a:srgbClr val="F0757C"/>
                      </a:solidFill>
                      <a:prstDash val="solid"/>
                      <a:round/>
                      <a:headEnd type="none" w="med" len="med"/>
                      <a:tailEnd type="none" w="med" len="med"/>
                    </a:lnR>
                    <a:lnT w="4229" cap="flat" cmpd="sng" algn="ctr">
                      <a:solidFill>
                        <a:srgbClr val="D0807C"/>
                      </a:solidFill>
                      <a:prstDash val="solid"/>
                      <a:round/>
                      <a:headEnd type="none" w="med" len="med"/>
                      <a:tailEnd type="none" w="med" len="med"/>
                    </a:lnT>
                    <a:lnB w="4229" cap="flat" cmpd="sng" algn="ctr">
                      <a:solidFill>
                        <a:srgbClr val="30877C"/>
                      </a:solidFill>
                      <a:prstDash val="solid"/>
                      <a:round/>
                      <a:headEnd type="none" w="med" len="med"/>
                      <a:tailEnd type="none" w="med" len="med"/>
                    </a:lnB>
                    <a:solidFill>
                      <a:srgbClr val="FFFFFF"/>
                    </a:solidFill>
                  </a:tcPr>
                </a:tc>
                <a:tc>
                  <a:txBody>
                    <a:bodyPr/>
                    <a:lstStyle/>
                    <a:p>
                      <a:pPr>
                        <a:lnSpc>
                          <a:spcPts val="1725"/>
                        </a:lnSpc>
                        <a:buNone/>
                      </a:pPr>
                      <a:r>
                        <a:rPr lang="zh-CN" altLang="en-US" sz="1000" b="0">
                          <a:effectLst/>
                        </a:rPr>
                        <a:t>接收主设备的帧时钟，区分左 </a:t>
                      </a:r>
                      <a:r>
                        <a:rPr lang="en-US" altLang="zh-CN" sz="1000" b="0">
                          <a:effectLst/>
                        </a:rPr>
                        <a:t>/ </a:t>
                      </a:r>
                      <a:r>
                        <a:rPr lang="zh-CN" altLang="en-US" sz="1000" b="0">
                          <a:effectLst/>
                        </a:rPr>
                        <a:t>右声道（</a:t>
                      </a:r>
                      <a:r>
                        <a:rPr lang="en-US" altLang="zh-CN" sz="1000" b="0">
                          <a:effectLst/>
                        </a:rPr>
                        <a:t>WS </a:t>
                      </a:r>
                      <a:r>
                        <a:rPr lang="zh-CN" altLang="en-US" sz="1000" b="0">
                          <a:effectLst/>
                        </a:rPr>
                        <a:t>电平决定 </a:t>
                      </a:r>
                      <a:r>
                        <a:rPr lang="en-US" altLang="zh-CN" sz="1000" b="0">
                          <a:effectLst/>
                        </a:rPr>
                        <a:t>INMP441 </a:t>
                      </a:r>
                      <a:r>
                        <a:rPr lang="zh-CN" altLang="en-US" sz="1000" b="0">
                          <a:effectLst/>
                        </a:rPr>
                        <a:t>输出的声道，接地 </a:t>
                      </a:r>
                      <a:r>
                        <a:rPr lang="en-US" altLang="zh-CN" sz="1000" b="0">
                          <a:effectLst/>
                        </a:rPr>
                        <a:t>= </a:t>
                      </a:r>
                      <a:r>
                        <a:rPr lang="zh-CN" altLang="en-US" sz="1000" b="0">
                          <a:effectLst/>
                        </a:rPr>
                        <a:t>左声道）</a:t>
                      </a:r>
                    </a:p>
                  </a:txBody>
                  <a:tcPr marL="101711" marR="101711" marT="67808" marB="67808" anchor="ctr">
                    <a:lnL w="4229" cap="flat" cmpd="sng" algn="ctr">
                      <a:solidFill>
                        <a:srgbClr val="F0757C"/>
                      </a:solidFill>
                      <a:prstDash val="solid"/>
                      <a:round/>
                      <a:headEnd type="none" w="med" len="med"/>
                      <a:tailEnd type="none" w="med" len="med"/>
                    </a:lnL>
                    <a:lnR w="4229" cap="flat" cmpd="sng" algn="ctr">
                      <a:solidFill>
                        <a:srgbClr val="D0617C"/>
                      </a:solidFill>
                      <a:prstDash val="solid"/>
                      <a:round/>
                      <a:headEnd type="none" w="med" len="med"/>
                      <a:tailEnd type="none" w="med" len="med"/>
                    </a:lnR>
                    <a:lnT w="4229" cap="flat" cmpd="sng" algn="ctr">
                      <a:solidFill>
                        <a:srgbClr val="001380"/>
                      </a:solidFill>
                      <a:prstDash val="solid"/>
                      <a:round/>
                      <a:headEnd type="none" w="med" len="med"/>
                      <a:tailEnd type="none" w="med" len="med"/>
                    </a:lnT>
                    <a:lnB w="4229" cap="flat" cmpd="sng" algn="ctr">
                      <a:solidFill>
                        <a:srgbClr val="301680"/>
                      </a:solidFill>
                      <a:prstDash val="solid"/>
                      <a:round/>
                      <a:headEnd type="none" w="med" len="med"/>
                      <a:tailEnd type="none" w="med" len="med"/>
                    </a:lnB>
                    <a:solidFill>
                      <a:srgbClr val="FFFFFF"/>
                    </a:solidFill>
                  </a:tcPr>
                </a:tc>
                <a:extLst>
                  <a:ext uri="{0D108BD9-81ED-4DB2-BD59-A6C34878D82A}">
                    <a16:rowId xmlns:a16="http://schemas.microsoft.com/office/drawing/2014/main" val="3219045989"/>
                  </a:ext>
                </a:extLst>
              </a:tr>
              <a:tr h="284771">
                <a:tc>
                  <a:txBody>
                    <a:bodyPr/>
                    <a:lstStyle/>
                    <a:p>
                      <a:pPr>
                        <a:lnSpc>
                          <a:spcPts val="1725"/>
                        </a:lnSpc>
                        <a:buNone/>
                      </a:pPr>
                      <a:r>
                        <a:rPr lang="en-US" sz="1000" b="1">
                          <a:solidFill>
                            <a:srgbClr val="000000"/>
                          </a:solidFill>
                          <a:effectLst/>
                        </a:rPr>
                        <a:t>I2S_SD</a:t>
                      </a:r>
                      <a:endParaRPr lang="en-US" sz="1000" b="0">
                        <a:effectLst/>
                      </a:endParaRPr>
                    </a:p>
                  </a:txBody>
                  <a:tcPr marL="101711" marR="101711" marT="67808" marB="67808" anchor="ctr">
                    <a:lnL w="4229" cap="flat" cmpd="sng" algn="ctr">
                      <a:solidFill>
                        <a:srgbClr val="107B7C"/>
                      </a:solidFill>
                      <a:prstDash val="solid"/>
                      <a:round/>
                      <a:headEnd type="none" w="med" len="med"/>
                      <a:tailEnd type="none" w="med" len="med"/>
                    </a:lnL>
                    <a:lnR w="4229" cap="flat" cmpd="sng" algn="ctr">
                      <a:solidFill>
                        <a:srgbClr val="D0817C"/>
                      </a:solidFill>
                      <a:prstDash val="solid"/>
                      <a:round/>
                      <a:headEnd type="none" w="med" len="med"/>
                      <a:tailEnd type="none" w="med" len="med"/>
                    </a:lnR>
                    <a:lnT w="4229" cap="flat" cmpd="sng" algn="ctr">
                      <a:solidFill>
                        <a:srgbClr val="307E7C"/>
                      </a:solidFill>
                      <a:prstDash val="solid"/>
                      <a:round/>
                      <a:headEnd type="none" w="med" len="med"/>
                      <a:tailEnd type="none" w="med" len="med"/>
                    </a:lnT>
                    <a:lnB w="4229" cap="flat" cmpd="sng" algn="ctr">
                      <a:solidFill>
                        <a:srgbClr val="90837C"/>
                      </a:solidFill>
                      <a:prstDash val="solid"/>
                      <a:round/>
                      <a:headEnd type="none" w="med" len="med"/>
                      <a:tailEnd type="none" w="med" len="med"/>
                    </a:lnB>
                    <a:solidFill>
                      <a:srgbClr val="FFFFFF"/>
                    </a:solidFill>
                  </a:tcPr>
                </a:tc>
                <a:tc>
                  <a:txBody>
                    <a:bodyPr/>
                    <a:lstStyle/>
                    <a:p>
                      <a:pPr>
                        <a:lnSpc>
                          <a:spcPts val="1725"/>
                        </a:lnSpc>
                        <a:buNone/>
                      </a:pPr>
                      <a:r>
                        <a:rPr lang="en-US" sz="1000" b="0">
                          <a:effectLst/>
                        </a:rPr>
                        <a:t>I2S_SD（</a:t>
                      </a:r>
                      <a:r>
                        <a:rPr lang="zh-CN" altLang="en-US" sz="1000" b="0">
                          <a:effectLst/>
                        </a:rPr>
                        <a:t>数据线）</a:t>
                      </a:r>
                    </a:p>
                  </a:txBody>
                  <a:tcPr marL="101711" marR="101711" marT="67808" marB="67808" anchor="ctr">
                    <a:lnL w="4229" cap="flat" cmpd="sng" algn="ctr">
                      <a:solidFill>
                        <a:srgbClr val="D0817C"/>
                      </a:solidFill>
                      <a:prstDash val="solid"/>
                      <a:round/>
                      <a:headEnd type="none" w="med" len="med"/>
                      <a:tailEnd type="none" w="med" len="med"/>
                    </a:lnL>
                    <a:lnR w="4229" cap="flat" cmpd="sng" algn="ctr">
                      <a:solidFill>
                        <a:srgbClr val="30757C"/>
                      </a:solidFill>
                      <a:prstDash val="solid"/>
                      <a:round/>
                      <a:headEnd type="none" w="med" len="med"/>
                      <a:tailEnd type="none" w="med" len="med"/>
                    </a:lnR>
                    <a:lnT w="4229" cap="flat" cmpd="sng" algn="ctr">
                      <a:solidFill>
                        <a:srgbClr val="30877C"/>
                      </a:solidFill>
                      <a:prstDash val="solid"/>
                      <a:round/>
                      <a:headEnd type="none" w="med" len="med"/>
                      <a:tailEnd type="none" w="med" len="med"/>
                    </a:lnT>
                    <a:lnB w="4229" cap="flat" cmpd="sng" algn="ctr">
                      <a:solidFill>
                        <a:srgbClr val="70907C"/>
                      </a:solidFill>
                      <a:prstDash val="solid"/>
                      <a:round/>
                      <a:headEnd type="none" w="med" len="med"/>
                      <a:tailEnd type="none" w="med" len="med"/>
                    </a:lnB>
                    <a:solidFill>
                      <a:srgbClr val="FFFFFF"/>
                    </a:solidFill>
                  </a:tcPr>
                </a:tc>
                <a:tc>
                  <a:txBody>
                    <a:bodyPr/>
                    <a:lstStyle/>
                    <a:p>
                      <a:pPr>
                        <a:lnSpc>
                          <a:spcPts val="1725"/>
                        </a:lnSpc>
                        <a:buNone/>
                      </a:pPr>
                      <a:r>
                        <a:rPr lang="zh-CN" altLang="en-US" sz="1000" b="0">
                          <a:effectLst/>
                        </a:rPr>
                        <a:t>向主设备输出 </a:t>
                      </a:r>
                      <a:r>
                        <a:rPr lang="en-US" altLang="zh-CN" sz="1000" b="0">
                          <a:effectLst/>
                        </a:rPr>
                        <a:t>I2S </a:t>
                      </a:r>
                      <a:r>
                        <a:rPr lang="zh-CN" altLang="en-US" sz="1000" b="0">
                          <a:effectLst/>
                        </a:rPr>
                        <a:t>音频数据（</a:t>
                      </a:r>
                      <a:r>
                        <a:rPr lang="en-US" altLang="zh-CN" sz="1000" b="0">
                          <a:effectLst/>
                        </a:rPr>
                        <a:t>INMP441 </a:t>
                      </a:r>
                      <a:r>
                        <a:rPr lang="zh-CN" altLang="en-US" sz="1000" b="0">
                          <a:effectLst/>
                        </a:rPr>
                        <a:t>是输出端，对应主设备的 </a:t>
                      </a:r>
                      <a:r>
                        <a:rPr lang="en-US" altLang="zh-CN" sz="1000" b="0">
                          <a:effectLst/>
                        </a:rPr>
                        <a:t>I2S_Rx </a:t>
                      </a:r>
                      <a:r>
                        <a:rPr lang="zh-CN" altLang="en-US" sz="1000" b="0">
                          <a:effectLst/>
                        </a:rPr>
                        <a:t>数据线）</a:t>
                      </a:r>
                    </a:p>
                  </a:txBody>
                  <a:tcPr marL="101711" marR="101711" marT="67808" marB="67808" anchor="ctr">
                    <a:lnL w="4229" cap="flat" cmpd="sng" algn="ctr">
                      <a:solidFill>
                        <a:srgbClr val="30757C"/>
                      </a:solidFill>
                      <a:prstDash val="solid"/>
                      <a:round/>
                      <a:headEnd type="none" w="med" len="med"/>
                      <a:tailEnd type="none" w="med" len="med"/>
                    </a:lnL>
                    <a:lnR w="4229" cap="flat" cmpd="sng" algn="ctr">
                      <a:solidFill>
                        <a:srgbClr val="D0617C"/>
                      </a:solidFill>
                      <a:prstDash val="solid"/>
                      <a:round/>
                      <a:headEnd type="none" w="med" len="med"/>
                      <a:tailEnd type="none" w="med" len="med"/>
                    </a:lnR>
                    <a:lnT w="4229" cap="flat" cmpd="sng" algn="ctr">
                      <a:solidFill>
                        <a:srgbClr val="301680"/>
                      </a:solidFill>
                      <a:prstDash val="solid"/>
                      <a:round/>
                      <a:headEnd type="none" w="med" len="med"/>
                      <a:tailEnd type="none" w="med" len="med"/>
                    </a:lnT>
                    <a:lnB w="4229" cap="flat" cmpd="sng" algn="ctr">
                      <a:solidFill>
                        <a:srgbClr val="A01B80"/>
                      </a:solidFill>
                      <a:prstDash val="solid"/>
                      <a:round/>
                      <a:headEnd type="none" w="med" len="med"/>
                      <a:tailEnd type="none" w="med" len="med"/>
                    </a:lnB>
                    <a:solidFill>
                      <a:srgbClr val="FFFFFF"/>
                    </a:solidFill>
                  </a:tcPr>
                </a:tc>
                <a:extLst>
                  <a:ext uri="{0D108BD9-81ED-4DB2-BD59-A6C34878D82A}">
                    <a16:rowId xmlns:a16="http://schemas.microsoft.com/office/drawing/2014/main" val="2702551911"/>
                  </a:ext>
                </a:extLst>
              </a:tr>
              <a:tr h="284771">
                <a:tc>
                  <a:txBody>
                    <a:bodyPr/>
                    <a:lstStyle/>
                    <a:p>
                      <a:pPr>
                        <a:lnSpc>
                          <a:spcPts val="1725"/>
                        </a:lnSpc>
                        <a:buNone/>
                      </a:pPr>
                      <a:r>
                        <a:rPr lang="en-US" sz="1000" b="1">
                          <a:solidFill>
                            <a:srgbClr val="000000"/>
                          </a:solidFill>
                          <a:effectLst/>
                        </a:rPr>
                        <a:t>L/R</a:t>
                      </a:r>
                      <a:endParaRPr lang="en-US" sz="1000" b="0">
                        <a:effectLst/>
                      </a:endParaRPr>
                    </a:p>
                  </a:txBody>
                  <a:tcPr marL="101711" marR="101711" marT="67808" marB="67808" anchor="ctr">
                    <a:lnL w="4229" cap="flat" cmpd="sng" algn="ctr">
                      <a:solidFill>
                        <a:srgbClr val="30877C"/>
                      </a:solidFill>
                      <a:prstDash val="solid"/>
                      <a:round/>
                      <a:headEnd type="none" w="med" len="med"/>
                      <a:tailEnd type="none" w="med" len="med"/>
                    </a:lnL>
                    <a:lnR w="4229" cap="flat" cmpd="sng" algn="ctr">
                      <a:solidFill>
                        <a:srgbClr val="908A7C"/>
                      </a:solidFill>
                      <a:prstDash val="solid"/>
                      <a:round/>
                      <a:headEnd type="none" w="med" len="med"/>
                      <a:tailEnd type="none" w="med" len="med"/>
                    </a:lnR>
                    <a:lnT w="4229" cap="flat" cmpd="sng" algn="ctr">
                      <a:solidFill>
                        <a:srgbClr val="90837C"/>
                      </a:solidFill>
                      <a:prstDash val="solid"/>
                      <a:round/>
                      <a:headEnd type="none" w="med" len="med"/>
                      <a:tailEnd type="none" w="med" len="med"/>
                    </a:lnT>
                    <a:lnB w="4229" cap="flat" cmpd="sng" algn="ctr">
                      <a:solidFill>
                        <a:srgbClr val="B0837C"/>
                      </a:solidFill>
                      <a:prstDash val="solid"/>
                      <a:round/>
                      <a:headEnd type="none" w="med" len="med"/>
                      <a:tailEnd type="none" w="med" len="med"/>
                    </a:lnB>
                    <a:solidFill>
                      <a:srgbClr val="FFFFFF"/>
                    </a:solidFill>
                  </a:tcPr>
                </a:tc>
                <a:tc>
                  <a:txBody>
                    <a:bodyPr/>
                    <a:lstStyle/>
                    <a:p>
                      <a:pPr>
                        <a:lnSpc>
                          <a:spcPts val="1725"/>
                        </a:lnSpc>
                        <a:buNone/>
                      </a:pPr>
                      <a:r>
                        <a:rPr lang="zh-CN" altLang="en-US" sz="1000" b="0">
                          <a:effectLst/>
                        </a:rPr>
                        <a:t>（声道选择）</a:t>
                      </a:r>
                    </a:p>
                  </a:txBody>
                  <a:tcPr marL="101711" marR="101711" marT="67808" marB="67808" anchor="ctr">
                    <a:lnL w="4229" cap="flat" cmpd="sng" algn="ctr">
                      <a:solidFill>
                        <a:srgbClr val="908A7C"/>
                      </a:solidFill>
                      <a:prstDash val="solid"/>
                      <a:round/>
                      <a:headEnd type="none" w="med" len="med"/>
                      <a:tailEnd type="none" w="med" len="med"/>
                    </a:lnL>
                    <a:lnR w="4229" cap="flat" cmpd="sng" algn="ctr">
                      <a:solidFill>
                        <a:srgbClr val="B0747C"/>
                      </a:solidFill>
                      <a:prstDash val="solid"/>
                      <a:round/>
                      <a:headEnd type="none" w="med" len="med"/>
                      <a:tailEnd type="none" w="med" len="med"/>
                    </a:lnR>
                    <a:lnT w="4229" cap="flat" cmpd="sng" algn="ctr">
                      <a:solidFill>
                        <a:srgbClr val="70907C"/>
                      </a:solidFill>
                      <a:prstDash val="solid"/>
                      <a:round/>
                      <a:headEnd type="none" w="med" len="med"/>
                      <a:tailEnd type="none" w="med" len="med"/>
                    </a:lnT>
                    <a:lnB w="4229" cap="flat" cmpd="sng" algn="ctr">
                      <a:solidFill>
                        <a:srgbClr val="708A7C"/>
                      </a:solidFill>
                      <a:prstDash val="solid"/>
                      <a:round/>
                      <a:headEnd type="none" w="med" len="med"/>
                      <a:tailEnd type="none" w="med" len="med"/>
                    </a:lnB>
                    <a:solidFill>
                      <a:srgbClr val="FFFFFF"/>
                    </a:solidFill>
                  </a:tcPr>
                </a:tc>
                <a:tc>
                  <a:txBody>
                    <a:bodyPr/>
                    <a:lstStyle/>
                    <a:p>
                      <a:pPr>
                        <a:lnSpc>
                          <a:spcPts val="1725"/>
                        </a:lnSpc>
                        <a:buNone/>
                      </a:pPr>
                      <a:r>
                        <a:rPr lang="zh-CN" altLang="en-US" sz="1000" b="0" dirty="0">
                          <a:effectLst/>
                        </a:rPr>
                        <a:t>非 </a:t>
                      </a:r>
                      <a:r>
                        <a:rPr lang="en-US" altLang="zh-CN" sz="1000" b="0" dirty="0">
                          <a:effectLst/>
                        </a:rPr>
                        <a:t>I2S </a:t>
                      </a:r>
                      <a:r>
                        <a:rPr lang="zh-CN" altLang="en-US" sz="1000" b="0" dirty="0">
                          <a:effectLst/>
                        </a:rPr>
                        <a:t>标准信号，用于选择 </a:t>
                      </a:r>
                      <a:r>
                        <a:rPr lang="en-US" altLang="zh-CN" sz="1000" b="0" dirty="0">
                          <a:effectLst/>
                        </a:rPr>
                        <a:t>INMP441 </a:t>
                      </a:r>
                      <a:r>
                        <a:rPr lang="zh-CN" altLang="en-US" sz="1000" b="0" dirty="0">
                          <a:effectLst/>
                        </a:rPr>
                        <a:t>输出的声道（接地 </a:t>
                      </a:r>
                      <a:r>
                        <a:rPr lang="en-US" altLang="zh-CN" sz="1000" b="0" dirty="0">
                          <a:effectLst/>
                        </a:rPr>
                        <a:t>= </a:t>
                      </a:r>
                      <a:r>
                        <a:rPr lang="zh-CN" altLang="en-US" sz="1000" b="0" dirty="0">
                          <a:effectLst/>
                        </a:rPr>
                        <a:t>左声道，接 </a:t>
                      </a:r>
                      <a:r>
                        <a:rPr lang="en-US" altLang="zh-CN" sz="1000" b="0" dirty="0">
                          <a:effectLst/>
                        </a:rPr>
                        <a:t>VCC = </a:t>
                      </a:r>
                      <a:r>
                        <a:rPr lang="zh-CN" altLang="en-US" sz="1000" b="0" dirty="0">
                          <a:effectLst/>
                        </a:rPr>
                        <a:t>右声道）</a:t>
                      </a:r>
                    </a:p>
                  </a:txBody>
                  <a:tcPr marL="101711" marR="101711" marT="67808" marB="67808" anchor="ctr">
                    <a:lnL w="4229" cap="flat" cmpd="sng" algn="ctr">
                      <a:solidFill>
                        <a:srgbClr val="B0747C"/>
                      </a:solidFill>
                      <a:prstDash val="solid"/>
                      <a:round/>
                      <a:headEnd type="none" w="med" len="med"/>
                      <a:tailEnd type="none" w="med" len="med"/>
                    </a:lnL>
                    <a:lnR w="4229" cap="flat" cmpd="sng" algn="ctr">
                      <a:solidFill>
                        <a:srgbClr val="D0617C"/>
                      </a:solidFill>
                      <a:prstDash val="solid"/>
                      <a:round/>
                      <a:headEnd type="none" w="med" len="med"/>
                      <a:tailEnd type="none" w="med" len="med"/>
                    </a:lnR>
                    <a:lnT w="4229" cap="flat" cmpd="sng" algn="ctr">
                      <a:solidFill>
                        <a:srgbClr val="A01B80"/>
                      </a:solidFill>
                      <a:prstDash val="solid"/>
                      <a:round/>
                      <a:headEnd type="none" w="med" len="med"/>
                      <a:tailEnd type="none" w="med" len="med"/>
                    </a:lnT>
                    <a:lnB w="4229" cap="flat" cmpd="sng" algn="ctr">
                      <a:solidFill>
                        <a:srgbClr val="10657C"/>
                      </a:solidFill>
                      <a:prstDash val="solid"/>
                      <a:round/>
                      <a:headEnd type="none" w="med" len="med"/>
                      <a:tailEnd type="none" w="med" len="med"/>
                    </a:lnB>
                    <a:solidFill>
                      <a:srgbClr val="FFFFFF"/>
                    </a:solidFill>
                  </a:tcPr>
                </a:tc>
                <a:extLst>
                  <a:ext uri="{0D108BD9-81ED-4DB2-BD59-A6C34878D82A}">
                    <a16:rowId xmlns:a16="http://schemas.microsoft.com/office/drawing/2014/main" val="671621556"/>
                  </a:ext>
                </a:extLst>
              </a:tr>
            </a:tbl>
          </a:graphicData>
        </a:graphic>
      </p:graphicFrame>
      <p:sp>
        <p:nvSpPr>
          <p:cNvPr id="7" name="文本框 6">
            <a:extLst>
              <a:ext uri="{FF2B5EF4-FFF2-40B4-BE49-F238E27FC236}">
                <a16:creationId xmlns:a16="http://schemas.microsoft.com/office/drawing/2014/main" id="{9341E4CA-6CC6-8F2F-7BED-C4EF3B1FADCA}"/>
              </a:ext>
            </a:extLst>
          </p:cNvPr>
          <p:cNvSpPr txBox="1"/>
          <p:nvPr/>
        </p:nvSpPr>
        <p:spPr>
          <a:xfrm>
            <a:off x="215591" y="856468"/>
            <a:ext cx="8745530" cy="533929"/>
          </a:xfrm>
          <a:prstGeom prst="rect">
            <a:avLst/>
          </a:prstGeom>
          <a:noFill/>
        </p:spPr>
        <p:txBody>
          <a:bodyPr wrap="square">
            <a:spAutoFit/>
          </a:bodyPr>
          <a:lstStyle/>
          <a:p>
            <a:pPr algn="l">
              <a:lnSpc>
                <a:spcPts val="1800"/>
              </a:lnSpc>
              <a:spcBef>
                <a:spcPts val="900"/>
              </a:spcBef>
              <a:buNone/>
            </a:pPr>
            <a:r>
              <a:rPr lang="en-US" altLang="zh-CN" sz="1200" b="1" i="0" dirty="0">
                <a:solidFill>
                  <a:srgbClr val="000000"/>
                </a:solidFill>
                <a:effectLst/>
                <a:latin typeface="Inter"/>
              </a:rPr>
              <a:t>INMP441 </a:t>
            </a:r>
            <a:r>
              <a:rPr lang="zh-CN" altLang="en-US" sz="1200" b="1" i="0" dirty="0">
                <a:solidFill>
                  <a:srgbClr val="000000"/>
                </a:solidFill>
                <a:effectLst/>
                <a:latin typeface="Inter"/>
              </a:rPr>
              <a:t>引脚与 </a:t>
            </a:r>
            <a:r>
              <a:rPr lang="en-US" altLang="zh-CN" sz="1200" b="1" i="0" dirty="0">
                <a:solidFill>
                  <a:srgbClr val="000000"/>
                </a:solidFill>
                <a:effectLst/>
                <a:latin typeface="Inter"/>
              </a:rPr>
              <a:t>I2S </a:t>
            </a:r>
            <a:r>
              <a:rPr lang="zh-CN" altLang="en-US" sz="1200" b="1" i="0" dirty="0">
                <a:solidFill>
                  <a:srgbClr val="000000"/>
                </a:solidFill>
                <a:effectLst/>
                <a:latin typeface="Inter"/>
              </a:rPr>
              <a:t>信号的对应关系</a:t>
            </a:r>
          </a:p>
          <a:p>
            <a:pPr algn="l">
              <a:lnSpc>
                <a:spcPts val="1800"/>
              </a:lnSpc>
              <a:buNone/>
            </a:pPr>
            <a:r>
              <a:rPr lang="en-US" altLang="zh-CN" sz="1200" b="0" i="0" dirty="0">
                <a:solidFill>
                  <a:srgbClr val="000000"/>
                </a:solidFill>
                <a:effectLst/>
                <a:latin typeface="Inter"/>
              </a:rPr>
              <a:t>INMP441 </a:t>
            </a:r>
            <a:r>
              <a:rPr lang="zh-CN" altLang="en-US" sz="1200" b="0" i="0" dirty="0">
                <a:solidFill>
                  <a:srgbClr val="000000"/>
                </a:solidFill>
                <a:effectLst/>
                <a:latin typeface="Inter"/>
              </a:rPr>
              <a:t>是从设备（</a:t>
            </a:r>
            <a:r>
              <a:rPr lang="en-US" altLang="zh-CN" sz="1200" b="0" i="0" dirty="0">
                <a:solidFill>
                  <a:srgbClr val="000000"/>
                </a:solidFill>
                <a:effectLst/>
                <a:latin typeface="Inter"/>
              </a:rPr>
              <a:t>Slave</a:t>
            </a:r>
            <a:r>
              <a:rPr lang="zh-CN" altLang="en-US" sz="1200" b="0" i="0" dirty="0">
                <a:solidFill>
                  <a:srgbClr val="000000"/>
                </a:solidFill>
                <a:effectLst/>
                <a:latin typeface="Inter"/>
              </a:rPr>
              <a:t>），仅需接收 </a:t>
            </a:r>
            <a:r>
              <a:rPr lang="en-US" altLang="zh-CN" sz="1200" b="0" i="0" dirty="0">
                <a:solidFill>
                  <a:srgbClr val="000000"/>
                </a:solidFill>
                <a:effectLst/>
                <a:latin typeface="Inter"/>
              </a:rPr>
              <a:t>I2S </a:t>
            </a:r>
            <a:r>
              <a:rPr lang="zh-CN" altLang="en-US" sz="1200" b="0" i="0" dirty="0">
                <a:solidFill>
                  <a:srgbClr val="000000"/>
                </a:solidFill>
                <a:effectLst/>
                <a:latin typeface="Inter"/>
              </a:rPr>
              <a:t>时钟并输出数据，引脚与 </a:t>
            </a:r>
            <a:r>
              <a:rPr lang="en-US" altLang="zh-CN" sz="1200" b="0" i="0" dirty="0">
                <a:solidFill>
                  <a:srgbClr val="000000"/>
                </a:solidFill>
                <a:effectLst/>
                <a:latin typeface="Inter"/>
              </a:rPr>
              <a:t>I2S </a:t>
            </a:r>
            <a:r>
              <a:rPr lang="zh-CN" altLang="en-US" sz="1200" b="0" i="0" dirty="0">
                <a:solidFill>
                  <a:srgbClr val="000000"/>
                </a:solidFill>
                <a:effectLst/>
                <a:latin typeface="Inter"/>
              </a:rPr>
              <a:t>信号的对应是固定的：</a:t>
            </a:r>
          </a:p>
        </p:txBody>
      </p:sp>
      <p:sp>
        <p:nvSpPr>
          <p:cNvPr id="9" name="文本框 8">
            <a:extLst>
              <a:ext uri="{FF2B5EF4-FFF2-40B4-BE49-F238E27FC236}">
                <a16:creationId xmlns:a16="http://schemas.microsoft.com/office/drawing/2014/main" id="{B04D79E4-56FA-1E84-4A0F-E723277729C7}"/>
              </a:ext>
            </a:extLst>
          </p:cNvPr>
          <p:cNvSpPr txBox="1"/>
          <p:nvPr/>
        </p:nvSpPr>
        <p:spPr>
          <a:xfrm>
            <a:off x="254620" y="3621592"/>
            <a:ext cx="8745530" cy="995594"/>
          </a:xfrm>
          <a:prstGeom prst="rect">
            <a:avLst/>
          </a:prstGeom>
          <a:noFill/>
        </p:spPr>
        <p:txBody>
          <a:bodyPr wrap="square">
            <a:spAutoFit/>
          </a:bodyPr>
          <a:lstStyle/>
          <a:p>
            <a:pPr algn="l">
              <a:lnSpc>
                <a:spcPts val="1800"/>
              </a:lnSpc>
            </a:pPr>
            <a:r>
              <a:rPr lang="zh-CN" altLang="en-US" sz="1200" b="0" i="0" dirty="0">
                <a:solidFill>
                  <a:srgbClr val="000000"/>
                </a:solidFill>
                <a:effectLst/>
                <a:latin typeface="Inter"/>
              </a:rPr>
              <a:t>注意事项</a:t>
            </a:r>
            <a:endParaRPr lang="en-US" altLang="zh-CN" sz="1200" b="0" i="0" dirty="0">
              <a:solidFill>
                <a:srgbClr val="000000"/>
              </a:solidFill>
              <a:effectLst/>
              <a:latin typeface="Inter"/>
            </a:endParaRPr>
          </a:p>
          <a:p>
            <a:pPr algn="l">
              <a:lnSpc>
                <a:spcPts val="1800"/>
              </a:lnSpc>
              <a:buFont typeface="+mj-lt"/>
              <a:buAutoNum type="arabicPeriod"/>
            </a:pPr>
            <a:r>
              <a:rPr lang="en-US" altLang="zh-CN" sz="1200" b="0" i="0" dirty="0">
                <a:solidFill>
                  <a:srgbClr val="000000"/>
                </a:solidFill>
                <a:effectLst/>
                <a:latin typeface="Inter"/>
              </a:rPr>
              <a:t>INMP441 </a:t>
            </a:r>
            <a:r>
              <a:rPr lang="zh-CN" altLang="en-US" sz="1200" b="0" i="0" dirty="0">
                <a:solidFill>
                  <a:srgbClr val="000000"/>
                </a:solidFill>
                <a:effectLst/>
                <a:latin typeface="Inter"/>
              </a:rPr>
              <a:t>是</a:t>
            </a:r>
            <a:r>
              <a:rPr lang="en-US" altLang="zh-CN" sz="1200" b="1" i="0" dirty="0">
                <a:solidFill>
                  <a:srgbClr val="000000"/>
                </a:solidFill>
                <a:effectLst/>
                <a:latin typeface="Inter"/>
              </a:rPr>
              <a:t>I2S </a:t>
            </a:r>
            <a:r>
              <a:rPr lang="zh-CN" altLang="en-US" sz="1200" b="1" i="0" dirty="0">
                <a:solidFill>
                  <a:srgbClr val="000000"/>
                </a:solidFill>
                <a:effectLst/>
                <a:latin typeface="Inter"/>
              </a:rPr>
              <a:t>从设备</a:t>
            </a:r>
            <a:r>
              <a:rPr lang="zh-CN" altLang="en-US" sz="1200" b="0" i="0" dirty="0">
                <a:solidFill>
                  <a:srgbClr val="000000"/>
                </a:solidFill>
                <a:effectLst/>
                <a:latin typeface="Inter"/>
              </a:rPr>
              <a:t>，无需主时钟（</a:t>
            </a:r>
            <a:r>
              <a:rPr lang="en-US" altLang="zh-CN" sz="1200" b="0" i="0" dirty="0">
                <a:solidFill>
                  <a:srgbClr val="000000"/>
                </a:solidFill>
                <a:effectLst/>
                <a:latin typeface="Inter"/>
              </a:rPr>
              <a:t>MCLK</a:t>
            </a:r>
            <a:r>
              <a:rPr lang="zh-CN" altLang="en-US" sz="1200" b="0" i="0" dirty="0">
                <a:solidFill>
                  <a:srgbClr val="000000"/>
                </a:solidFill>
                <a:effectLst/>
                <a:latin typeface="Inter"/>
              </a:rPr>
              <a:t>），仅需 </a:t>
            </a:r>
            <a:r>
              <a:rPr lang="en-US" altLang="zh-CN" sz="1200" b="0" i="0" dirty="0">
                <a:solidFill>
                  <a:srgbClr val="000000"/>
                </a:solidFill>
                <a:effectLst/>
                <a:latin typeface="Inter"/>
              </a:rPr>
              <a:t>BCK </a:t>
            </a:r>
            <a:r>
              <a:rPr lang="zh-CN" altLang="en-US" sz="1200" b="0" i="0" dirty="0">
                <a:solidFill>
                  <a:srgbClr val="000000"/>
                </a:solidFill>
                <a:effectLst/>
                <a:latin typeface="Inter"/>
              </a:rPr>
              <a:t>和 </a:t>
            </a:r>
            <a:r>
              <a:rPr lang="en-US" altLang="zh-CN" sz="1200" b="0" i="0" dirty="0">
                <a:solidFill>
                  <a:srgbClr val="000000"/>
                </a:solidFill>
                <a:effectLst/>
                <a:latin typeface="Inter"/>
              </a:rPr>
              <a:t>WCK </a:t>
            </a:r>
            <a:r>
              <a:rPr lang="zh-CN" altLang="en-US" sz="1200" b="0" i="0" dirty="0">
                <a:solidFill>
                  <a:srgbClr val="000000"/>
                </a:solidFill>
                <a:effectLst/>
                <a:latin typeface="Inter"/>
              </a:rPr>
              <a:t>即可工作；</a:t>
            </a:r>
          </a:p>
          <a:p>
            <a:pPr algn="l">
              <a:lnSpc>
                <a:spcPts val="1800"/>
              </a:lnSpc>
              <a:buFont typeface="+mj-lt"/>
              <a:buAutoNum type="arabicPeriod"/>
            </a:pPr>
            <a:r>
              <a:rPr lang="zh-CN" altLang="en-US" sz="1200" b="0" i="0" dirty="0">
                <a:solidFill>
                  <a:srgbClr val="000000"/>
                </a:solidFill>
                <a:effectLst/>
                <a:latin typeface="Inter"/>
              </a:rPr>
              <a:t>数据格式为 </a:t>
            </a:r>
            <a:r>
              <a:rPr lang="en-US" altLang="zh-CN" sz="1200" b="0" i="0" dirty="0">
                <a:solidFill>
                  <a:srgbClr val="000000"/>
                </a:solidFill>
                <a:effectLst/>
                <a:latin typeface="Inter"/>
              </a:rPr>
              <a:t>24bit I2S </a:t>
            </a:r>
            <a:r>
              <a:rPr lang="zh-CN" altLang="en-US" sz="1200" b="0" i="0" dirty="0">
                <a:solidFill>
                  <a:srgbClr val="000000"/>
                </a:solidFill>
                <a:effectLst/>
                <a:latin typeface="Inter"/>
              </a:rPr>
              <a:t>标准格式，需在主设备（如 </a:t>
            </a:r>
            <a:r>
              <a:rPr lang="en-US" altLang="zh-CN" sz="1200" b="0" i="0" dirty="0">
                <a:solidFill>
                  <a:srgbClr val="000000"/>
                </a:solidFill>
                <a:effectLst/>
                <a:latin typeface="Inter"/>
              </a:rPr>
              <a:t>RT570</a:t>
            </a:r>
            <a:r>
              <a:rPr lang="zh-CN" altLang="en-US" sz="1200" b="0" i="0" dirty="0">
                <a:solidFill>
                  <a:srgbClr val="000000"/>
                </a:solidFill>
                <a:effectLst/>
                <a:latin typeface="Inter"/>
              </a:rPr>
              <a:t>）中配置对应的数据宽度和格式；</a:t>
            </a:r>
          </a:p>
          <a:p>
            <a:pPr algn="l">
              <a:lnSpc>
                <a:spcPts val="1800"/>
              </a:lnSpc>
              <a:buFont typeface="+mj-lt"/>
              <a:buAutoNum type="arabicPeriod"/>
            </a:pPr>
            <a:r>
              <a:rPr lang="en-US" altLang="zh-CN" sz="1200" b="0" i="0" dirty="0">
                <a:solidFill>
                  <a:srgbClr val="000000"/>
                </a:solidFill>
                <a:effectLst/>
                <a:latin typeface="Inter"/>
              </a:rPr>
              <a:t>L/R </a:t>
            </a:r>
            <a:r>
              <a:rPr lang="zh-CN" altLang="en-US" sz="1200" b="0" i="0" dirty="0">
                <a:solidFill>
                  <a:srgbClr val="000000"/>
                </a:solidFill>
                <a:effectLst/>
                <a:latin typeface="Inter"/>
              </a:rPr>
              <a:t>引脚需根据需求接 </a:t>
            </a:r>
            <a:r>
              <a:rPr lang="en-US" altLang="zh-CN" sz="1200" b="0" i="0" dirty="0">
                <a:solidFill>
                  <a:srgbClr val="000000"/>
                </a:solidFill>
                <a:effectLst/>
                <a:latin typeface="Inter"/>
              </a:rPr>
              <a:t>GND </a:t>
            </a:r>
            <a:r>
              <a:rPr lang="zh-CN" altLang="en-US" sz="1200" b="0" i="0" dirty="0">
                <a:solidFill>
                  <a:srgbClr val="000000"/>
                </a:solidFill>
                <a:effectLst/>
                <a:latin typeface="Inter"/>
              </a:rPr>
              <a:t>或 </a:t>
            </a:r>
            <a:r>
              <a:rPr lang="en-US" altLang="zh-CN" sz="1200" b="0" i="0" dirty="0">
                <a:solidFill>
                  <a:srgbClr val="000000"/>
                </a:solidFill>
                <a:effectLst/>
                <a:latin typeface="Inter"/>
              </a:rPr>
              <a:t>VCC</a:t>
            </a:r>
            <a:r>
              <a:rPr lang="zh-CN" altLang="en-US" sz="1200" b="0" i="0" dirty="0">
                <a:solidFill>
                  <a:srgbClr val="000000"/>
                </a:solidFill>
                <a:effectLst/>
                <a:latin typeface="Inter"/>
              </a:rPr>
              <a:t>，确定输出声道。</a:t>
            </a:r>
          </a:p>
        </p:txBody>
      </p:sp>
    </p:spTree>
    <p:extLst>
      <p:ext uri="{BB962C8B-B14F-4D97-AF65-F5344CB8AC3E}">
        <p14:creationId xmlns:p14="http://schemas.microsoft.com/office/powerpoint/2010/main" val="24304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CA8F5-39C1-3521-61EE-86AE1A49C491}"/>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58CC95FF-920A-A9E6-E127-ED34CDA8B749}"/>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a:t>
            </a:r>
            <a:r>
              <a:rPr lang="zh-CN" altLang="en-US" sz="2400" b="1" spc="-38" dirty="0">
                <a:solidFill>
                  <a:srgbClr val="DFC27B"/>
                </a:solidFill>
                <a:latin typeface="Calibri" panose="020F0502020204030204" pitchFamily="34" charset="0"/>
                <a:cs typeface="Calibri" panose="020F0502020204030204" pitchFamily="34" charset="0"/>
              </a:rPr>
              <a:t>初始化参数配置</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3" name="图片 2" descr="文本&#10;&#10;AI 生成的内容可能不正确。">
            <a:extLst>
              <a:ext uri="{FF2B5EF4-FFF2-40B4-BE49-F238E27FC236}">
                <a16:creationId xmlns:a16="http://schemas.microsoft.com/office/drawing/2014/main" id="{0215120E-26CE-26A7-5724-10DBDCCB5156}"/>
              </a:ext>
            </a:extLst>
          </p:cNvPr>
          <p:cNvPicPr>
            <a:picLocks noChangeAspect="1"/>
          </p:cNvPicPr>
          <p:nvPr/>
        </p:nvPicPr>
        <p:blipFill>
          <a:blip r:embed="rId2"/>
          <a:stretch>
            <a:fillRect/>
          </a:stretch>
        </p:blipFill>
        <p:spPr>
          <a:xfrm>
            <a:off x="215591" y="626568"/>
            <a:ext cx="5129561" cy="2197169"/>
          </a:xfrm>
          <a:prstGeom prst="rect">
            <a:avLst/>
          </a:prstGeom>
        </p:spPr>
      </p:pic>
      <p:sp>
        <p:nvSpPr>
          <p:cNvPr id="6" name="文本框 5">
            <a:extLst>
              <a:ext uri="{FF2B5EF4-FFF2-40B4-BE49-F238E27FC236}">
                <a16:creationId xmlns:a16="http://schemas.microsoft.com/office/drawing/2014/main" id="{D2349C5F-4633-E192-CD36-E23446911801}"/>
              </a:ext>
            </a:extLst>
          </p:cNvPr>
          <p:cNvSpPr txBox="1"/>
          <p:nvPr/>
        </p:nvSpPr>
        <p:spPr>
          <a:xfrm>
            <a:off x="5345152" y="787309"/>
            <a:ext cx="3798848" cy="1938992"/>
          </a:xfrm>
          <a:prstGeom prst="rect">
            <a:avLst/>
          </a:prstGeom>
          <a:noFill/>
        </p:spPr>
        <p:txBody>
          <a:bodyPr wrap="square">
            <a:spAutoFit/>
          </a:bodyPr>
          <a:lstStyle/>
          <a:p>
            <a:r>
              <a:rPr lang="en-US" altLang="zh-CN" sz="1200" dirty="0"/>
              <a:t>I2S</a:t>
            </a:r>
            <a:r>
              <a:rPr lang="zh-CN" altLang="en-US" sz="1200" dirty="0"/>
              <a:t>参数配置</a:t>
            </a:r>
          </a:p>
          <a:p>
            <a:endParaRPr lang="zh-CN" altLang="en-US" sz="1200" dirty="0"/>
          </a:p>
          <a:p>
            <a:r>
              <a:rPr lang="zh-CN" altLang="en-US" sz="1200" dirty="0"/>
              <a:t>采样率：</a:t>
            </a:r>
            <a:r>
              <a:rPr lang="en-US" altLang="zh-CN" sz="1200" dirty="0"/>
              <a:t>16kHz</a:t>
            </a:r>
          </a:p>
          <a:p>
            <a:r>
              <a:rPr lang="zh-CN" altLang="en-US" sz="1200" dirty="0"/>
              <a:t>位宽：</a:t>
            </a:r>
            <a:r>
              <a:rPr lang="en-US" altLang="zh-CN" sz="1200" dirty="0"/>
              <a:t>24bit</a:t>
            </a:r>
          </a:p>
          <a:p>
            <a:r>
              <a:rPr lang="zh-CN" altLang="en-US" sz="1200" dirty="0"/>
              <a:t>通道：单声道（左声道）</a:t>
            </a:r>
          </a:p>
          <a:p>
            <a:r>
              <a:rPr lang="zh-CN" altLang="en-US" sz="1200" dirty="0"/>
              <a:t>模式：</a:t>
            </a:r>
            <a:r>
              <a:rPr lang="en-US" altLang="zh-CN" sz="1200" dirty="0"/>
              <a:t>I2S</a:t>
            </a:r>
            <a:r>
              <a:rPr lang="zh-CN" altLang="en-US" sz="1200" dirty="0"/>
              <a:t>标准格式，仅接收（</a:t>
            </a:r>
            <a:r>
              <a:rPr lang="en-US" altLang="zh-CN" sz="1200" dirty="0"/>
              <a:t>RX</a:t>
            </a:r>
            <a:r>
              <a:rPr lang="zh-CN" altLang="en-US" sz="1200" dirty="0"/>
              <a:t>）</a:t>
            </a:r>
          </a:p>
          <a:p>
            <a:r>
              <a:rPr lang="zh-CN" altLang="en-US" sz="1200" dirty="0"/>
              <a:t>时钟：</a:t>
            </a:r>
            <a:r>
              <a:rPr lang="en-US" altLang="zh-CN" sz="1200" dirty="0" err="1"/>
              <a:t>iMCLK</a:t>
            </a:r>
            <a:r>
              <a:rPr lang="en-US" altLang="zh-CN" sz="1200" dirty="0"/>
              <a:t>=8.192MHz</a:t>
            </a:r>
            <a:r>
              <a:rPr lang="zh-CN" altLang="en-US" sz="1200" dirty="0"/>
              <a:t>，</a:t>
            </a:r>
            <a:r>
              <a:rPr lang="en-US" altLang="zh-CN" sz="1200" dirty="0"/>
              <a:t>MCLK=4.096MHz</a:t>
            </a:r>
            <a:r>
              <a:rPr lang="zh-CN" altLang="en-US" sz="1200" dirty="0"/>
              <a:t>，</a:t>
            </a:r>
            <a:r>
              <a:rPr lang="en-US" altLang="zh-CN" sz="1200" dirty="0"/>
              <a:t>BCK ratio=64</a:t>
            </a:r>
          </a:p>
          <a:p>
            <a:r>
              <a:rPr lang="en-US" altLang="zh-CN" sz="1200" dirty="0"/>
              <a:t>DMA</a:t>
            </a:r>
            <a:r>
              <a:rPr lang="zh-CN" altLang="en-US" sz="1200" dirty="0"/>
              <a:t>缓冲区：起始地址</a:t>
            </a:r>
            <a:r>
              <a:rPr lang="en-US" altLang="zh-CN" sz="1200" dirty="0"/>
              <a:t>0x20003000</a:t>
            </a:r>
            <a:r>
              <a:rPr lang="zh-CN" altLang="en-US" sz="1200" dirty="0"/>
              <a:t>，块大小</a:t>
            </a:r>
            <a:r>
              <a:rPr lang="en-US" altLang="zh-CN" sz="1200" dirty="0"/>
              <a:t>256</a:t>
            </a:r>
            <a:r>
              <a:rPr lang="zh-CN" altLang="en-US" sz="1200" dirty="0"/>
              <a:t>，环形缓冲区比例</a:t>
            </a:r>
            <a:r>
              <a:rPr lang="en-US" altLang="zh-CN" sz="1200" dirty="0"/>
              <a:t>16</a:t>
            </a:r>
            <a:endParaRPr lang="zh-CN" altLang="en-US" sz="1200" dirty="0"/>
          </a:p>
        </p:txBody>
      </p:sp>
      <p:pic>
        <p:nvPicPr>
          <p:cNvPr id="8" name="图片 7" descr="图表, 箱线图&#10;&#10;AI 生成的内容可能不正确。">
            <a:extLst>
              <a:ext uri="{FF2B5EF4-FFF2-40B4-BE49-F238E27FC236}">
                <a16:creationId xmlns:a16="http://schemas.microsoft.com/office/drawing/2014/main" id="{D212A8FD-551F-6B0F-C50C-B427744153FA}"/>
              </a:ext>
            </a:extLst>
          </p:cNvPr>
          <p:cNvPicPr>
            <a:picLocks noChangeAspect="1"/>
          </p:cNvPicPr>
          <p:nvPr/>
        </p:nvPicPr>
        <p:blipFill>
          <a:blip r:embed="rId3"/>
          <a:stretch>
            <a:fillRect/>
          </a:stretch>
        </p:blipFill>
        <p:spPr>
          <a:xfrm>
            <a:off x="672859" y="2823737"/>
            <a:ext cx="7648755" cy="1236279"/>
          </a:xfrm>
          <a:prstGeom prst="rect">
            <a:avLst/>
          </a:prstGeom>
        </p:spPr>
      </p:pic>
      <p:sp>
        <p:nvSpPr>
          <p:cNvPr id="9" name="文本框 8">
            <a:extLst>
              <a:ext uri="{FF2B5EF4-FFF2-40B4-BE49-F238E27FC236}">
                <a16:creationId xmlns:a16="http://schemas.microsoft.com/office/drawing/2014/main" id="{DCE01891-5328-1C73-628B-936C6F9284A2}"/>
              </a:ext>
            </a:extLst>
          </p:cNvPr>
          <p:cNvSpPr txBox="1"/>
          <p:nvPr/>
        </p:nvSpPr>
        <p:spPr>
          <a:xfrm>
            <a:off x="215591" y="4193766"/>
            <a:ext cx="6449201" cy="276999"/>
          </a:xfrm>
          <a:prstGeom prst="rect">
            <a:avLst/>
          </a:prstGeom>
          <a:noFill/>
        </p:spPr>
        <p:txBody>
          <a:bodyPr wrap="none" rtlCol="0">
            <a:spAutoFit/>
          </a:bodyPr>
          <a:lstStyle/>
          <a:p>
            <a:r>
              <a:rPr lang="zh-CN" altLang="en-US" sz="1200" dirty="0"/>
              <a:t>从</a:t>
            </a:r>
            <a:r>
              <a:rPr lang="en-US" altLang="zh-CN" sz="1200" dirty="0"/>
              <a:t>INMP441</a:t>
            </a:r>
            <a:r>
              <a:rPr lang="zh-CN" altLang="en-US" sz="1200" dirty="0"/>
              <a:t>的左声道输出格式得知一个完整数据帧（</a:t>
            </a:r>
            <a:r>
              <a:rPr lang="en-US" altLang="zh-CN" sz="1200" dirty="0" err="1"/>
              <a:t>ws</a:t>
            </a:r>
            <a:r>
              <a:rPr lang="zh-CN" altLang="en-US" sz="1200" dirty="0"/>
              <a:t>）需要</a:t>
            </a:r>
            <a:r>
              <a:rPr lang="en-US" altLang="zh-CN" sz="1200" dirty="0"/>
              <a:t>64</a:t>
            </a:r>
            <a:r>
              <a:rPr lang="zh-CN" altLang="en-US" sz="1200" dirty="0"/>
              <a:t>个</a:t>
            </a:r>
            <a:r>
              <a:rPr lang="en-US" altLang="zh-CN" sz="1200" dirty="0" err="1"/>
              <a:t>sck</a:t>
            </a:r>
            <a:r>
              <a:rPr lang="zh-CN" altLang="en-US" sz="1200" dirty="0"/>
              <a:t>，所以</a:t>
            </a:r>
            <a:r>
              <a:rPr lang="en-US" altLang="zh-CN" sz="1200" dirty="0" err="1"/>
              <a:t>bck_ratio</a:t>
            </a:r>
            <a:r>
              <a:rPr lang="en-US" altLang="zh-CN" sz="1200" dirty="0"/>
              <a:t>=64</a:t>
            </a:r>
            <a:r>
              <a:rPr lang="zh-CN" altLang="en-US" sz="1200" dirty="0"/>
              <a:t>；</a:t>
            </a:r>
            <a:endParaRPr lang="en-US" altLang="zh-CN" sz="1200" dirty="0"/>
          </a:p>
        </p:txBody>
      </p:sp>
    </p:spTree>
    <p:extLst>
      <p:ext uri="{BB962C8B-B14F-4D97-AF65-F5344CB8AC3E}">
        <p14:creationId xmlns:p14="http://schemas.microsoft.com/office/powerpoint/2010/main" val="2222304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E563B-2534-F4CC-B17F-ACFB68EDFD86}"/>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1764FF2F-8E90-22EB-D081-A2FF2263E229}"/>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I2S-INMP441</a:t>
            </a:r>
            <a:r>
              <a:rPr lang="zh-CN" altLang="en-US" sz="2400" b="1" spc="-38" dirty="0">
                <a:solidFill>
                  <a:srgbClr val="DFC27B"/>
                </a:solidFill>
                <a:latin typeface="Calibri" panose="020F0502020204030204" pitchFamily="34" charset="0"/>
                <a:cs typeface="Calibri" panose="020F0502020204030204" pitchFamily="34" charset="0"/>
              </a:rPr>
              <a:t>流程说明</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58900505-C20C-DF92-58EA-F7EB37E20B6A}"/>
              </a:ext>
            </a:extLst>
          </p:cNvPr>
          <p:cNvSpPr txBox="1"/>
          <p:nvPr/>
        </p:nvSpPr>
        <p:spPr>
          <a:xfrm>
            <a:off x="2224143" y="618879"/>
            <a:ext cx="3687828" cy="461665"/>
          </a:xfrm>
          <a:prstGeom prst="rect">
            <a:avLst/>
          </a:prstGeom>
          <a:noFill/>
        </p:spPr>
        <p:txBody>
          <a:bodyPr wrap="square">
            <a:spAutoFit/>
          </a:bodyPr>
          <a:lstStyle/>
          <a:p>
            <a:r>
              <a:rPr lang="en-US" altLang="zh-CN" sz="1200" dirty="0"/>
              <a:t>i2s_Register_Int_Callback();//</a:t>
            </a:r>
            <a:r>
              <a:rPr lang="zh-CN" altLang="en-US" sz="1200" dirty="0"/>
              <a:t>注册中断回调函数</a:t>
            </a:r>
            <a:endParaRPr lang="en-US" altLang="zh-CN" sz="1200" dirty="0"/>
          </a:p>
          <a:p>
            <a:r>
              <a:rPr lang="pt-BR" altLang="zh-CN" sz="1200" dirty="0"/>
              <a:t>I2s_Init();//</a:t>
            </a:r>
            <a:r>
              <a:rPr lang="zh-CN" altLang="en-US" sz="1200" dirty="0"/>
              <a:t>初始化</a:t>
            </a:r>
            <a:r>
              <a:rPr lang="en-US" altLang="zh-CN" sz="1200" dirty="0"/>
              <a:t>i2s</a:t>
            </a:r>
            <a:r>
              <a:rPr lang="zh-CN" altLang="en-US" sz="1200" dirty="0"/>
              <a:t>参数</a:t>
            </a:r>
          </a:p>
        </p:txBody>
      </p:sp>
      <p:sp>
        <p:nvSpPr>
          <p:cNvPr id="10" name="箭头: 下 9">
            <a:extLst>
              <a:ext uri="{FF2B5EF4-FFF2-40B4-BE49-F238E27FC236}">
                <a16:creationId xmlns:a16="http://schemas.microsoft.com/office/drawing/2014/main" id="{FC4BDE6E-E317-A9FE-BD9B-7FCF56059A61}"/>
              </a:ext>
            </a:extLst>
          </p:cNvPr>
          <p:cNvSpPr/>
          <p:nvPr/>
        </p:nvSpPr>
        <p:spPr>
          <a:xfrm>
            <a:off x="3720860" y="1155940"/>
            <a:ext cx="126521" cy="2070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0136E95-B069-3F71-8FF8-0CAFF0DA8452}"/>
              </a:ext>
            </a:extLst>
          </p:cNvPr>
          <p:cNvSpPr txBox="1"/>
          <p:nvPr/>
        </p:nvSpPr>
        <p:spPr>
          <a:xfrm>
            <a:off x="2477202" y="1388651"/>
            <a:ext cx="3181709" cy="276999"/>
          </a:xfrm>
          <a:prstGeom prst="rect">
            <a:avLst/>
          </a:prstGeom>
          <a:noFill/>
        </p:spPr>
        <p:txBody>
          <a:bodyPr wrap="square">
            <a:spAutoFit/>
          </a:bodyPr>
          <a:lstStyle/>
          <a:p>
            <a:r>
              <a:rPr lang="en-US" altLang="zh-CN" sz="1200" dirty="0"/>
              <a:t>I2s_Start();//</a:t>
            </a:r>
            <a:r>
              <a:rPr lang="zh-CN" altLang="en-US" sz="1200" dirty="0"/>
              <a:t>使能</a:t>
            </a:r>
            <a:r>
              <a:rPr lang="en-US" altLang="zh-CN" sz="1200" dirty="0" err="1"/>
              <a:t>wdma</a:t>
            </a:r>
            <a:r>
              <a:rPr lang="en-US" altLang="zh-CN" sz="1200" dirty="0"/>
              <a:t>/</a:t>
            </a:r>
            <a:r>
              <a:rPr lang="en-US" altLang="zh-CN" sz="1200" dirty="0" err="1"/>
              <a:t>rdma</a:t>
            </a:r>
            <a:r>
              <a:rPr lang="en-US" altLang="zh-CN" sz="1200" dirty="0"/>
              <a:t> </a:t>
            </a:r>
            <a:r>
              <a:rPr lang="zh-CN" altLang="en-US" sz="1200" dirty="0"/>
              <a:t>和</a:t>
            </a:r>
            <a:r>
              <a:rPr lang="en-US" altLang="zh-CN" sz="1200" dirty="0"/>
              <a:t>i2s</a:t>
            </a:r>
            <a:r>
              <a:rPr lang="zh-CN" altLang="en-US" sz="1200" dirty="0"/>
              <a:t>寄存器</a:t>
            </a:r>
          </a:p>
        </p:txBody>
      </p:sp>
      <p:sp>
        <p:nvSpPr>
          <p:cNvPr id="13" name="箭头: 下 12">
            <a:extLst>
              <a:ext uri="{FF2B5EF4-FFF2-40B4-BE49-F238E27FC236}">
                <a16:creationId xmlns:a16="http://schemas.microsoft.com/office/drawing/2014/main" id="{FD3AA4BA-F283-407A-A0B9-CD5289C9D7F2}"/>
              </a:ext>
            </a:extLst>
          </p:cNvPr>
          <p:cNvSpPr/>
          <p:nvPr/>
        </p:nvSpPr>
        <p:spPr>
          <a:xfrm>
            <a:off x="3720859" y="1639973"/>
            <a:ext cx="126521" cy="2070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B3451F9-9F03-5293-CD71-24C7831A1BDE}"/>
              </a:ext>
            </a:extLst>
          </p:cNvPr>
          <p:cNvSpPr txBox="1"/>
          <p:nvPr/>
        </p:nvSpPr>
        <p:spPr>
          <a:xfrm>
            <a:off x="2751098" y="1865214"/>
            <a:ext cx="2480111" cy="276999"/>
          </a:xfrm>
          <a:prstGeom prst="rect">
            <a:avLst/>
          </a:prstGeom>
          <a:noFill/>
        </p:spPr>
        <p:txBody>
          <a:bodyPr wrap="square">
            <a:spAutoFit/>
          </a:bodyPr>
          <a:lstStyle/>
          <a:p>
            <a:r>
              <a:rPr lang="en-US" altLang="zh-CN" sz="1200" dirty="0"/>
              <a:t>I2s_Stop();//</a:t>
            </a:r>
            <a:r>
              <a:rPr lang="zh-CN" altLang="en-US" sz="1200" dirty="0"/>
              <a:t>清空寄存器</a:t>
            </a:r>
          </a:p>
        </p:txBody>
      </p:sp>
      <p:sp>
        <p:nvSpPr>
          <p:cNvPr id="15" name="文本框 14">
            <a:extLst>
              <a:ext uri="{FF2B5EF4-FFF2-40B4-BE49-F238E27FC236}">
                <a16:creationId xmlns:a16="http://schemas.microsoft.com/office/drawing/2014/main" id="{D78593E1-E5F3-F3FC-AFE3-D407433DC88E}"/>
              </a:ext>
            </a:extLst>
          </p:cNvPr>
          <p:cNvSpPr txBox="1"/>
          <p:nvPr/>
        </p:nvSpPr>
        <p:spPr>
          <a:xfrm>
            <a:off x="215592" y="2571750"/>
            <a:ext cx="8745530" cy="1666290"/>
          </a:xfrm>
          <a:prstGeom prst="rect">
            <a:avLst/>
          </a:prstGeom>
          <a:noFill/>
        </p:spPr>
        <p:txBody>
          <a:bodyPr wrap="square" rtlCol="0">
            <a:spAutoFit/>
          </a:bodyPr>
          <a:lstStyle/>
          <a:p>
            <a:pPr>
              <a:lnSpc>
                <a:spcPct val="150000"/>
              </a:lnSpc>
            </a:pPr>
            <a:r>
              <a:rPr lang="zh-CN" altLang="en-US" sz="1400" dirty="0"/>
              <a:t>        每当</a:t>
            </a:r>
            <a:r>
              <a:rPr lang="en-US" altLang="zh-CN" sz="1400" dirty="0" err="1"/>
              <a:t>dma</a:t>
            </a:r>
            <a:r>
              <a:rPr lang="zh-CN" altLang="en-US" sz="1400" dirty="0"/>
              <a:t>写满</a:t>
            </a:r>
            <a:r>
              <a:rPr lang="en-US" altLang="zh-CN" sz="1400" dirty="0"/>
              <a:t>/</a:t>
            </a:r>
            <a:r>
              <a:rPr lang="zh-CN" altLang="en-US" sz="1400" dirty="0"/>
              <a:t>读完 一个块会触发中断，触发中断回调函数，在该函数中将</a:t>
            </a:r>
            <a:r>
              <a:rPr lang="en-US" altLang="zh-CN" sz="1400" dirty="0" err="1"/>
              <a:t>dma</a:t>
            </a:r>
            <a:r>
              <a:rPr lang="zh-CN" altLang="en-US" sz="1400" dirty="0"/>
              <a:t>的数据写入</a:t>
            </a:r>
            <a:r>
              <a:rPr lang="en-US" altLang="zh-CN" sz="1400" dirty="0"/>
              <a:t>/</a:t>
            </a:r>
            <a:r>
              <a:rPr lang="zh-CN" altLang="en-US" sz="1400" dirty="0"/>
              <a:t>读出来；但若</a:t>
            </a:r>
            <a:r>
              <a:rPr lang="en-US" altLang="zh-CN" sz="1400" dirty="0"/>
              <a:t>i2s</a:t>
            </a:r>
            <a:r>
              <a:rPr lang="zh-CN" altLang="en-US" sz="1400" dirty="0"/>
              <a:t>停止时</a:t>
            </a:r>
            <a:r>
              <a:rPr lang="en-US" altLang="zh-CN" sz="1400" dirty="0" err="1"/>
              <a:t>dma</a:t>
            </a:r>
            <a:r>
              <a:rPr lang="zh-CN" altLang="en-US" sz="1400" dirty="0"/>
              <a:t>块数据没有写满无法触发中断就会导致该块数据丢失，所以在想要调用</a:t>
            </a:r>
            <a:r>
              <a:rPr lang="en-US" altLang="zh-CN" sz="1400" dirty="0"/>
              <a:t>i2s_stop</a:t>
            </a:r>
            <a:r>
              <a:rPr lang="zh-CN" altLang="en-US" sz="1400" dirty="0"/>
              <a:t>时不直接调用，而且设一个标志位将其置</a:t>
            </a:r>
            <a:r>
              <a:rPr lang="en-US" altLang="zh-CN" sz="1400" dirty="0"/>
              <a:t>1</a:t>
            </a:r>
            <a:r>
              <a:rPr lang="zh-CN" altLang="en-US" sz="1400" dirty="0"/>
              <a:t>，在中断回调中若发现标志位置</a:t>
            </a:r>
            <a:r>
              <a:rPr lang="en-US" altLang="zh-CN" sz="1400" dirty="0"/>
              <a:t>1</a:t>
            </a:r>
            <a:r>
              <a:rPr lang="zh-CN" altLang="en-US" sz="1400" dirty="0"/>
              <a:t>则调用</a:t>
            </a:r>
            <a:r>
              <a:rPr lang="en-US" altLang="zh-CN" sz="1400" dirty="0"/>
              <a:t>i2s_stop;</a:t>
            </a:r>
            <a:br>
              <a:rPr lang="en-US" altLang="zh-CN" sz="1400" dirty="0"/>
            </a:br>
            <a:r>
              <a:rPr lang="en-US" altLang="zh-CN" sz="1400" dirty="0"/>
              <a:t>        </a:t>
            </a:r>
            <a:r>
              <a:rPr lang="zh-CN" altLang="en-US" sz="1400" dirty="0"/>
              <a:t>在</a:t>
            </a:r>
            <a:r>
              <a:rPr lang="en-US" altLang="zh-CN" sz="1400" dirty="0"/>
              <a:t>stm32</a:t>
            </a:r>
            <a:r>
              <a:rPr lang="zh-CN" altLang="en-US" sz="1400" dirty="0"/>
              <a:t>的</a:t>
            </a:r>
            <a:r>
              <a:rPr lang="en-US" altLang="zh-CN" sz="1400" dirty="0"/>
              <a:t>DMA</a:t>
            </a:r>
            <a:r>
              <a:rPr lang="zh-CN" altLang="en-US" sz="1400" dirty="0"/>
              <a:t>配置中，有一个</a:t>
            </a:r>
            <a:r>
              <a:rPr lang="en-US" altLang="zh-CN" sz="1400" dirty="0"/>
              <a:t>NDTR</a:t>
            </a:r>
            <a:r>
              <a:rPr lang="zh-CN" altLang="en-US" sz="1400" dirty="0"/>
              <a:t>寄存器，其初始值是块大小，每接收一个数据就会</a:t>
            </a:r>
            <a:r>
              <a:rPr lang="en-US" altLang="zh-CN" sz="1400" dirty="0"/>
              <a:t>NDTR--,</a:t>
            </a:r>
            <a:r>
              <a:rPr lang="zh-CN" altLang="en-US" sz="1400" dirty="0"/>
              <a:t>减到</a:t>
            </a:r>
            <a:r>
              <a:rPr lang="en-US" altLang="zh-CN" sz="1400" dirty="0"/>
              <a:t>0</a:t>
            </a:r>
            <a:r>
              <a:rPr lang="zh-CN" altLang="en-US" sz="1400" dirty="0"/>
              <a:t>即触发中断，且有对应函数接口可以查询</a:t>
            </a:r>
            <a:r>
              <a:rPr lang="en-US" altLang="zh-CN" sz="1400" dirty="0"/>
              <a:t>NDTR</a:t>
            </a:r>
            <a:r>
              <a:rPr lang="zh-CN" altLang="en-US" sz="1400" dirty="0"/>
              <a:t>的值来判断写入了多少数据用来提取未满块的数据</a:t>
            </a:r>
          </a:p>
        </p:txBody>
      </p:sp>
    </p:spTree>
    <p:extLst>
      <p:ext uri="{BB962C8B-B14F-4D97-AF65-F5344CB8AC3E}">
        <p14:creationId xmlns:p14="http://schemas.microsoft.com/office/powerpoint/2010/main" val="2865564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FF27-0EA8-398B-4881-0971A4BFCF71}"/>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6589804B-E6BC-9BB0-6766-740B2A2F8E08}"/>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3AB19AC1-343F-8E89-E6E1-BC2B9376C4B4}"/>
              </a:ext>
            </a:extLst>
          </p:cNvPr>
          <p:cNvSpPr txBox="1"/>
          <p:nvPr/>
        </p:nvSpPr>
        <p:spPr>
          <a:xfrm>
            <a:off x="6869151" y="3652026"/>
            <a:ext cx="1855750" cy="584775"/>
          </a:xfrm>
          <a:prstGeom prst="rect">
            <a:avLst/>
          </a:prstGeom>
          <a:noFill/>
        </p:spPr>
        <p:txBody>
          <a:bodyPr wrap="square" rtlCol="0">
            <a:spAutoFit/>
          </a:bodyPr>
          <a:lstStyle/>
          <a:p>
            <a:r>
              <a:rPr lang="en-US" altLang="zh-CN" sz="3200" dirty="0">
                <a:solidFill>
                  <a:schemeClr val="accent1"/>
                </a:solidFill>
                <a:latin typeface="+mn-ea"/>
              </a:rPr>
              <a:t>BLE_GAP</a:t>
            </a:r>
            <a:endParaRPr lang="zh-CN" altLang="en-US" sz="3200" dirty="0">
              <a:solidFill>
                <a:schemeClr val="accent1"/>
              </a:solidFill>
              <a:latin typeface="+mn-ea"/>
            </a:endParaRPr>
          </a:p>
        </p:txBody>
      </p:sp>
    </p:spTree>
    <p:extLst>
      <p:ext uri="{BB962C8B-B14F-4D97-AF65-F5344CB8AC3E}">
        <p14:creationId xmlns:p14="http://schemas.microsoft.com/office/powerpoint/2010/main" val="3138058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F7E27-86FC-9B67-25CF-445AB587D1D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8B04DC01-3070-FE0D-29CA-BD688B4CAB00}"/>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的核心定位与作用</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8CBB32A9-16FC-AF5C-A7FD-28F67D9249E6}"/>
              </a:ext>
            </a:extLst>
          </p:cNvPr>
          <p:cNvSpPr txBox="1"/>
          <p:nvPr/>
        </p:nvSpPr>
        <p:spPr>
          <a:xfrm>
            <a:off x="215591" y="1419681"/>
            <a:ext cx="8745530" cy="1999715"/>
          </a:xfrm>
          <a:prstGeom prst="rect">
            <a:avLst/>
          </a:prstGeom>
          <a:noFill/>
        </p:spPr>
        <p:txBody>
          <a:bodyPr wrap="square">
            <a:spAutoFit/>
          </a:bodyPr>
          <a:lstStyle/>
          <a:p>
            <a:pPr algn="l">
              <a:lnSpc>
                <a:spcPct val="150000"/>
              </a:lnSpc>
              <a:buNone/>
            </a:pPr>
            <a:r>
              <a:rPr lang="en-US" altLang="zh-CN" sz="1200" b="0" dirty="0">
                <a:solidFill>
                  <a:srgbClr val="000000"/>
                </a:solidFill>
                <a:effectLst/>
                <a:latin typeface="ui-sans-serif"/>
              </a:rPr>
              <a:t>GAP </a:t>
            </a:r>
            <a:r>
              <a:rPr lang="zh-CN" altLang="en-US" sz="1200" b="0" dirty="0">
                <a:solidFill>
                  <a:srgbClr val="000000"/>
                </a:solidFill>
                <a:effectLst/>
                <a:latin typeface="ui-sans-serif"/>
              </a:rPr>
              <a:t>是蓝牙协议栈的 “顶层公共接口”，其核心目标是</a:t>
            </a:r>
            <a:r>
              <a:rPr lang="zh-CN" altLang="en-US" sz="1200" b="1" dirty="0">
                <a:solidFill>
                  <a:srgbClr val="000000"/>
                </a:solidFill>
                <a:effectLst/>
                <a:latin typeface="ui-sans-serif"/>
              </a:rPr>
              <a:t>实现不同蓝牙设备间的基础互联互通</a:t>
            </a:r>
            <a:r>
              <a:rPr lang="zh-CN" altLang="en-US" sz="1200" b="0" dirty="0">
                <a:solidFill>
                  <a:srgbClr val="000000"/>
                </a:solidFill>
                <a:effectLst/>
                <a:latin typeface="ui-sans-serif"/>
              </a:rPr>
              <a:t>，具体作用包括：</a:t>
            </a:r>
          </a:p>
          <a:p>
            <a:pPr marL="228600" indent="-228600" algn="l">
              <a:lnSpc>
                <a:spcPct val="150000"/>
              </a:lnSpc>
              <a:buFont typeface="+mj-lt"/>
              <a:buAutoNum type="arabicPeriod"/>
            </a:pPr>
            <a:r>
              <a:rPr lang="zh-CN" altLang="en-US" sz="1200" b="1" dirty="0">
                <a:solidFill>
                  <a:srgbClr val="000000"/>
                </a:solidFill>
                <a:effectLst/>
                <a:latin typeface="ui-sans-serif"/>
              </a:rPr>
              <a:t>统一设备交互范式</a:t>
            </a:r>
            <a:r>
              <a:rPr lang="zh-CN" altLang="en-US" sz="1200" b="0" dirty="0">
                <a:solidFill>
                  <a:srgbClr val="000000"/>
                </a:solidFill>
                <a:effectLst/>
                <a:latin typeface="ui-sans-serif"/>
              </a:rPr>
              <a:t>：定义设备的基础角色（如 </a:t>
            </a:r>
            <a:r>
              <a:rPr lang="en-US" altLang="zh-CN" sz="1200" b="0" dirty="0">
                <a:solidFill>
                  <a:srgbClr val="000000"/>
                </a:solidFill>
                <a:effectLst/>
                <a:latin typeface="ui-sans-serif"/>
              </a:rPr>
              <a:t>Central/Peripheral</a:t>
            </a:r>
            <a:r>
              <a:rPr lang="zh-CN" altLang="en-US" sz="1200" b="0" dirty="0">
                <a:solidFill>
                  <a:srgbClr val="000000"/>
                </a:solidFill>
                <a:effectLst/>
                <a:latin typeface="ui-sans-serif"/>
              </a:rPr>
              <a:t>、</a:t>
            </a:r>
            <a:r>
              <a:rPr lang="en-US" altLang="zh-CN" sz="1200" b="0" dirty="0">
                <a:solidFill>
                  <a:srgbClr val="000000"/>
                </a:solidFill>
                <a:effectLst/>
                <a:latin typeface="ui-sans-serif"/>
              </a:rPr>
              <a:t>Broadcaster/Observer</a:t>
            </a:r>
            <a:r>
              <a:rPr lang="zh-CN" altLang="en-US" sz="1200" b="0" dirty="0">
                <a:solidFill>
                  <a:srgbClr val="000000"/>
                </a:solidFill>
                <a:effectLst/>
                <a:latin typeface="ui-sans-serif"/>
              </a:rPr>
              <a:t>）、工作模式（如可发现 </a:t>
            </a:r>
            <a:r>
              <a:rPr lang="en-US" altLang="zh-CN" sz="1200" b="0" dirty="0">
                <a:solidFill>
                  <a:srgbClr val="000000"/>
                </a:solidFill>
                <a:effectLst/>
                <a:latin typeface="ui-sans-serif"/>
              </a:rPr>
              <a:t>/ </a:t>
            </a:r>
            <a:r>
              <a:rPr lang="zh-CN" altLang="en-US" sz="1200" b="0" dirty="0">
                <a:solidFill>
                  <a:srgbClr val="000000"/>
                </a:solidFill>
                <a:effectLst/>
                <a:latin typeface="ui-sans-serif"/>
              </a:rPr>
              <a:t>可连接模式），确保不同厂商设备遵循相同的 “沟通语言”。</a:t>
            </a:r>
          </a:p>
          <a:p>
            <a:pPr marL="228600" indent="-228600" algn="l">
              <a:lnSpc>
                <a:spcPct val="150000"/>
              </a:lnSpc>
              <a:buFont typeface="+mj-lt"/>
              <a:buAutoNum type="arabicPeriod"/>
            </a:pPr>
            <a:r>
              <a:rPr lang="zh-CN" altLang="en-US" sz="1200" b="1" dirty="0">
                <a:solidFill>
                  <a:srgbClr val="000000"/>
                </a:solidFill>
                <a:effectLst/>
                <a:latin typeface="ui-sans-serif"/>
              </a:rPr>
              <a:t>衔接底层协议与上层应用</a:t>
            </a:r>
            <a:r>
              <a:rPr lang="zh-CN" altLang="en-US" sz="1200" b="0" dirty="0">
                <a:solidFill>
                  <a:srgbClr val="000000"/>
                </a:solidFill>
                <a:effectLst/>
                <a:latin typeface="ui-sans-serif"/>
              </a:rPr>
              <a:t>：向下对接 </a:t>
            </a:r>
            <a:r>
              <a:rPr lang="en-US" altLang="zh-CN" sz="1200" b="0" dirty="0">
                <a:solidFill>
                  <a:srgbClr val="000000"/>
                </a:solidFill>
                <a:effectLst/>
                <a:latin typeface="ui-sans-serif"/>
              </a:rPr>
              <a:t>Link Layer</a:t>
            </a:r>
            <a:r>
              <a:rPr lang="zh-CN" altLang="en-US" sz="1200" b="0" dirty="0">
                <a:solidFill>
                  <a:srgbClr val="000000"/>
                </a:solidFill>
                <a:effectLst/>
                <a:latin typeface="ui-sans-serif"/>
              </a:rPr>
              <a:t>（</a:t>
            </a:r>
            <a:r>
              <a:rPr lang="en-US" altLang="zh-CN" sz="1200" b="0" dirty="0">
                <a:solidFill>
                  <a:srgbClr val="000000"/>
                </a:solidFill>
                <a:effectLst/>
                <a:latin typeface="ui-sans-serif"/>
              </a:rPr>
              <a:t>LE</a:t>
            </a:r>
            <a:r>
              <a:rPr lang="zh-CN" altLang="en-US" sz="1200" b="0" dirty="0">
                <a:solidFill>
                  <a:srgbClr val="000000"/>
                </a:solidFill>
                <a:effectLst/>
                <a:latin typeface="ui-sans-serif"/>
              </a:rPr>
              <a:t>）、</a:t>
            </a:r>
            <a:r>
              <a:rPr lang="en-US" altLang="zh-CN" sz="1200" b="0" dirty="0">
                <a:solidFill>
                  <a:srgbClr val="000000"/>
                </a:solidFill>
                <a:effectLst/>
                <a:latin typeface="ui-sans-serif"/>
              </a:rPr>
              <a:t>Baseband</a:t>
            </a:r>
            <a:r>
              <a:rPr lang="zh-CN" altLang="en-US" sz="1200" b="0" dirty="0">
                <a:solidFill>
                  <a:srgbClr val="000000"/>
                </a:solidFill>
                <a:effectLst/>
                <a:latin typeface="ui-sans-serif"/>
              </a:rPr>
              <a:t>（</a:t>
            </a:r>
            <a:r>
              <a:rPr lang="en-US" altLang="zh-CN" sz="1200" b="0" dirty="0">
                <a:solidFill>
                  <a:srgbClr val="000000"/>
                </a:solidFill>
                <a:effectLst/>
                <a:latin typeface="ui-sans-serif"/>
              </a:rPr>
              <a:t>BR/EDR</a:t>
            </a:r>
            <a:r>
              <a:rPr lang="zh-CN" altLang="en-US" sz="1200" b="0" dirty="0">
                <a:solidFill>
                  <a:srgbClr val="000000"/>
                </a:solidFill>
                <a:effectLst/>
                <a:latin typeface="ui-sans-serif"/>
              </a:rPr>
              <a:t>）等底层协议，向上为 </a:t>
            </a:r>
            <a:r>
              <a:rPr lang="en-US" altLang="zh-CN" sz="1200" b="0" dirty="0">
                <a:solidFill>
                  <a:srgbClr val="000000"/>
                </a:solidFill>
                <a:effectLst/>
                <a:latin typeface="ui-sans-serif"/>
              </a:rPr>
              <a:t>GATT</a:t>
            </a:r>
            <a:r>
              <a:rPr lang="zh-CN" altLang="en-US" sz="1200" b="0" dirty="0">
                <a:solidFill>
                  <a:srgbClr val="000000"/>
                </a:solidFill>
                <a:effectLst/>
                <a:latin typeface="ui-sans-serif"/>
              </a:rPr>
              <a:t>（通用属性配置文件）、</a:t>
            </a:r>
            <a:r>
              <a:rPr lang="en-US" altLang="zh-CN" sz="1200" b="0" dirty="0">
                <a:solidFill>
                  <a:srgbClr val="000000"/>
                </a:solidFill>
                <a:effectLst/>
                <a:latin typeface="ui-sans-serif"/>
              </a:rPr>
              <a:t>SDP</a:t>
            </a:r>
            <a:r>
              <a:rPr lang="zh-CN" altLang="en-US" sz="1200" b="0" dirty="0">
                <a:solidFill>
                  <a:srgbClr val="000000"/>
                </a:solidFill>
                <a:effectLst/>
                <a:latin typeface="ui-sans-serif"/>
              </a:rPr>
              <a:t>（服务发现协议）等提供设备访问能力，是上层应用调用蓝牙基础功能的 “桥梁”。</a:t>
            </a:r>
          </a:p>
          <a:p>
            <a:pPr marL="228600" indent="-228600" algn="l">
              <a:lnSpc>
                <a:spcPct val="150000"/>
              </a:lnSpc>
              <a:buFont typeface="+mj-lt"/>
              <a:buAutoNum type="arabicPeriod"/>
            </a:pPr>
            <a:r>
              <a:rPr lang="zh-CN" altLang="en-US" sz="1200" b="1" dirty="0">
                <a:solidFill>
                  <a:srgbClr val="000000"/>
                </a:solidFill>
                <a:effectLst/>
                <a:latin typeface="ui-sans-serif"/>
              </a:rPr>
              <a:t>保障基础安全性</a:t>
            </a:r>
            <a:r>
              <a:rPr lang="zh-CN" altLang="en-US" sz="1200" b="0" dirty="0">
                <a:solidFill>
                  <a:srgbClr val="000000"/>
                </a:solidFill>
                <a:effectLst/>
                <a:latin typeface="ui-sans-serif"/>
              </a:rPr>
              <a:t>：定义设备认证、加密、隐私保护（如随机地址）的基础流程，为后续安全增强（如 </a:t>
            </a:r>
            <a:r>
              <a:rPr lang="en-US" altLang="zh-CN" sz="1200" b="0" dirty="0">
                <a:solidFill>
                  <a:srgbClr val="000000"/>
                </a:solidFill>
                <a:effectLst/>
                <a:latin typeface="ui-sans-serif"/>
              </a:rPr>
              <a:t>LE Secure Connections</a:t>
            </a:r>
            <a:r>
              <a:rPr lang="zh-CN" altLang="en-US" sz="1200" b="0" dirty="0">
                <a:solidFill>
                  <a:srgbClr val="000000"/>
                </a:solidFill>
                <a:effectLst/>
                <a:latin typeface="ui-sans-serif"/>
              </a:rPr>
              <a:t>）提供底层支持。</a:t>
            </a:r>
          </a:p>
        </p:txBody>
      </p:sp>
    </p:spTree>
    <p:extLst>
      <p:ext uri="{BB962C8B-B14F-4D97-AF65-F5344CB8AC3E}">
        <p14:creationId xmlns:p14="http://schemas.microsoft.com/office/powerpoint/2010/main" val="1972873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370E-8FE7-3D65-7A5A-7B9FAF6252F1}"/>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EA4D71D1-2C65-B9D1-EF28-DC38933B7974}"/>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通用基础定义</a:t>
            </a:r>
            <a:endParaRPr lang="en-US" altLang="zh-TW" sz="2400" b="1" spc="-38" dirty="0">
              <a:solidFill>
                <a:srgbClr val="DFC27B"/>
              </a:solidFill>
              <a:latin typeface="Calibri" panose="020F0502020204030204" pitchFamily="34" charset="0"/>
              <a:cs typeface="Calibri" panose="020F0502020204030204" pitchFamily="34" charset="0"/>
            </a:endParaRPr>
          </a:p>
        </p:txBody>
      </p:sp>
      <p:graphicFrame>
        <p:nvGraphicFramePr>
          <p:cNvPr id="7" name="表格 6">
            <a:extLst>
              <a:ext uri="{FF2B5EF4-FFF2-40B4-BE49-F238E27FC236}">
                <a16:creationId xmlns:a16="http://schemas.microsoft.com/office/drawing/2014/main" id="{36C33349-BDD7-BEEE-7863-AB4A0570D4F5}"/>
              </a:ext>
            </a:extLst>
          </p:cNvPr>
          <p:cNvGraphicFramePr>
            <a:graphicFrameLocks noGrp="1"/>
          </p:cNvGraphicFramePr>
          <p:nvPr>
            <p:extLst>
              <p:ext uri="{D42A27DB-BD31-4B8C-83A1-F6EECF244321}">
                <p14:modId xmlns:p14="http://schemas.microsoft.com/office/powerpoint/2010/main" val="598255841"/>
              </p:ext>
            </p:extLst>
          </p:nvPr>
        </p:nvGraphicFramePr>
        <p:xfrm>
          <a:off x="170988" y="996141"/>
          <a:ext cx="8665238" cy="2005463"/>
        </p:xfrm>
        <a:graphic>
          <a:graphicData uri="http://schemas.openxmlformats.org/drawingml/2006/table">
            <a:tbl>
              <a:tblPr/>
              <a:tblGrid>
                <a:gridCol w="1010600">
                  <a:extLst>
                    <a:ext uri="{9D8B030D-6E8A-4147-A177-3AD203B41FA5}">
                      <a16:colId xmlns:a16="http://schemas.microsoft.com/office/drawing/2014/main" val="2599233031"/>
                    </a:ext>
                  </a:extLst>
                </a:gridCol>
                <a:gridCol w="1838527">
                  <a:extLst>
                    <a:ext uri="{9D8B030D-6E8A-4147-A177-3AD203B41FA5}">
                      <a16:colId xmlns:a16="http://schemas.microsoft.com/office/drawing/2014/main" val="2218863343"/>
                    </a:ext>
                  </a:extLst>
                </a:gridCol>
                <a:gridCol w="5816111">
                  <a:extLst>
                    <a:ext uri="{9D8B030D-6E8A-4147-A177-3AD203B41FA5}">
                      <a16:colId xmlns:a16="http://schemas.microsoft.com/office/drawing/2014/main" val="4153660569"/>
                    </a:ext>
                  </a:extLst>
                </a:gridCol>
              </a:tblGrid>
              <a:tr h="208829">
                <a:tc>
                  <a:txBody>
                    <a:bodyPr/>
                    <a:lstStyle/>
                    <a:p>
                      <a:pPr algn="l">
                        <a:lnSpc>
                          <a:spcPts val="1800"/>
                        </a:lnSpc>
                        <a:buNone/>
                      </a:pPr>
                      <a:r>
                        <a:rPr lang="zh-CN" altLang="en-US" sz="1200" b="1" dirty="0">
                          <a:solidFill>
                            <a:srgbClr val="000000"/>
                          </a:solidFill>
                          <a:effectLst/>
                          <a:latin typeface="ui-sans-serif"/>
                        </a:rPr>
                        <a:t>技术类型</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1">
                          <a:solidFill>
                            <a:srgbClr val="000000"/>
                          </a:solidFill>
                          <a:effectLst/>
                          <a:latin typeface="ui-sans-serif"/>
                        </a:rPr>
                        <a:t>核心角色</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1">
                          <a:solidFill>
                            <a:srgbClr val="000000"/>
                          </a:solidFill>
                          <a:effectLst/>
                          <a:latin typeface="ui-sans-serif"/>
                        </a:rPr>
                        <a:t>功能描述</a:t>
                      </a:r>
                    </a:p>
                  </a:txBody>
                  <a:tcPr marL="75213" marR="75213" marT="37606" marB="37606" anchor="ctr">
                    <a:lnL>
                      <a:noFill/>
                    </a:lnL>
                    <a:lnR>
                      <a:noFill/>
                    </a:lnR>
                    <a:lnT>
                      <a:noFill/>
                    </a:lnT>
                    <a:lnB>
                      <a:noFill/>
                    </a:lnB>
                    <a:noFill/>
                  </a:tcPr>
                </a:tc>
                <a:extLst>
                  <a:ext uri="{0D108BD9-81ED-4DB2-BD59-A6C34878D82A}">
                    <a16:rowId xmlns:a16="http://schemas.microsoft.com/office/drawing/2014/main" val="3202419392"/>
                  </a:ext>
                </a:extLst>
              </a:tr>
              <a:tr h="211023">
                <a:tc>
                  <a:txBody>
                    <a:bodyPr/>
                    <a:lstStyle/>
                    <a:p>
                      <a:pPr algn="l">
                        <a:lnSpc>
                          <a:spcPts val="1800"/>
                        </a:lnSpc>
                        <a:buNone/>
                      </a:pPr>
                      <a:r>
                        <a:rPr lang="en-US" sz="1200" b="0">
                          <a:solidFill>
                            <a:srgbClr val="000000"/>
                          </a:solidFill>
                          <a:effectLst/>
                          <a:latin typeface="ui-sans-serif"/>
                        </a:rPr>
                        <a:t>BR/EDR</a:t>
                      </a:r>
                    </a:p>
                  </a:txBody>
                  <a:tcPr marL="75213" marR="75213" marT="37606" marB="37606"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Central（</a:t>
                      </a:r>
                      <a:r>
                        <a:rPr lang="zh-CN" altLang="en-US" sz="1200" b="0">
                          <a:solidFill>
                            <a:srgbClr val="000000"/>
                          </a:solidFill>
                          <a:effectLst/>
                          <a:latin typeface="ui-sans-serif"/>
                        </a:rPr>
                        <a:t>中心设备）</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主导 </a:t>
                      </a:r>
                      <a:r>
                        <a:rPr lang="en-US" sz="1200" b="0">
                          <a:solidFill>
                            <a:srgbClr val="000000"/>
                          </a:solidFill>
                          <a:effectLst/>
                          <a:latin typeface="ui-sans-serif"/>
                        </a:rPr>
                        <a:t>piconet（</a:t>
                      </a:r>
                      <a:r>
                        <a:rPr lang="zh-CN" altLang="en-US" sz="1200" b="0">
                          <a:solidFill>
                            <a:srgbClr val="000000"/>
                          </a:solidFill>
                          <a:effectLst/>
                          <a:latin typeface="ui-sans-serif"/>
                        </a:rPr>
                        <a:t>微微网）创建，控制时钟与跳频序列，可连接多个 </a:t>
                      </a:r>
                      <a:r>
                        <a:rPr lang="en-US" sz="1200" b="0">
                          <a:solidFill>
                            <a:srgbClr val="000000"/>
                          </a:solidFill>
                          <a:effectLst/>
                          <a:latin typeface="ui-sans-serif"/>
                        </a:rPr>
                        <a:t>Peripheral</a:t>
                      </a:r>
                    </a:p>
                  </a:txBody>
                  <a:tcPr marL="75213" marR="75213" marT="37606" marB="37606" anchor="ctr">
                    <a:lnL>
                      <a:noFill/>
                    </a:lnL>
                    <a:lnR>
                      <a:noFill/>
                    </a:lnR>
                    <a:lnT>
                      <a:noFill/>
                    </a:lnT>
                    <a:lnB>
                      <a:noFill/>
                    </a:lnB>
                    <a:noFill/>
                  </a:tcPr>
                </a:tc>
                <a:extLst>
                  <a:ext uri="{0D108BD9-81ED-4DB2-BD59-A6C34878D82A}">
                    <a16:rowId xmlns:a16="http://schemas.microsoft.com/office/drawing/2014/main" val="649081027"/>
                  </a:ext>
                </a:extLst>
              </a:tr>
              <a:tr h="211023">
                <a:tc>
                  <a:txBody>
                    <a:bodyPr/>
                    <a:lstStyle/>
                    <a:p>
                      <a:pPr algn="l">
                        <a:lnSpc>
                          <a:spcPts val="1800"/>
                        </a:lnSpc>
                        <a:buNone/>
                      </a:pPr>
                      <a:r>
                        <a:rPr lang="en-US" sz="1200" b="0">
                          <a:solidFill>
                            <a:srgbClr val="000000"/>
                          </a:solidFill>
                          <a:effectLst/>
                          <a:latin typeface="ui-sans-serif"/>
                        </a:rPr>
                        <a:t>BR/EDR</a:t>
                      </a:r>
                    </a:p>
                  </a:txBody>
                  <a:tcPr marL="75213" marR="75213" marT="37606" marB="37606"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Peripheral（</a:t>
                      </a:r>
                      <a:r>
                        <a:rPr lang="zh-CN" altLang="en-US" sz="1200" b="0">
                          <a:solidFill>
                            <a:srgbClr val="000000"/>
                          </a:solidFill>
                          <a:effectLst/>
                          <a:latin typeface="ui-sans-serif"/>
                        </a:rPr>
                        <a:t>从设备）</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加入 </a:t>
                      </a:r>
                      <a:r>
                        <a:rPr lang="en-US" sz="1200" b="0">
                          <a:solidFill>
                            <a:srgbClr val="000000"/>
                          </a:solidFill>
                          <a:effectLst/>
                          <a:latin typeface="ui-sans-serif"/>
                        </a:rPr>
                        <a:t>Central </a:t>
                      </a:r>
                      <a:r>
                        <a:rPr lang="zh-CN" altLang="en-US" sz="1200" b="0">
                          <a:solidFill>
                            <a:srgbClr val="000000"/>
                          </a:solidFill>
                          <a:effectLst/>
                          <a:latin typeface="ui-sans-serif"/>
                        </a:rPr>
                        <a:t>主导的 </a:t>
                      </a:r>
                      <a:r>
                        <a:rPr lang="en-US" sz="1200" b="0">
                          <a:solidFill>
                            <a:srgbClr val="000000"/>
                          </a:solidFill>
                          <a:effectLst/>
                          <a:latin typeface="ui-sans-serif"/>
                        </a:rPr>
                        <a:t>piconet，</a:t>
                      </a:r>
                      <a:r>
                        <a:rPr lang="zh-CN" altLang="en-US" sz="1200" b="0">
                          <a:solidFill>
                            <a:srgbClr val="000000"/>
                          </a:solidFill>
                          <a:effectLst/>
                          <a:latin typeface="ui-sans-serif"/>
                        </a:rPr>
                        <a:t>仅与一个 </a:t>
                      </a:r>
                      <a:r>
                        <a:rPr lang="en-US" sz="1200" b="0">
                          <a:solidFill>
                            <a:srgbClr val="000000"/>
                          </a:solidFill>
                          <a:effectLst/>
                          <a:latin typeface="ui-sans-serif"/>
                        </a:rPr>
                        <a:t>Central </a:t>
                      </a:r>
                      <a:r>
                        <a:rPr lang="zh-CN" altLang="en-US" sz="1200" b="0">
                          <a:solidFill>
                            <a:srgbClr val="000000"/>
                          </a:solidFill>
                          <a:effectLst/>
                          <a:latin typeface="ui-sans-serif"/>
                        </a:rPr>
                        <a:t>通信</a:t>
                      </a:r>
                    </a:p>
                  </a:txBody>
                  <a:tcPr marL="75213" marR="75213" marT="37606" marB="37606" anchor="ctr">
                    <a:lnL>
                      <a:noFill/>
                    </a:lnL>
                    <a:lnR>
                      <a:noFill/>
                    </a:lnR>
                    <a:lnT>
                      <a:noFill/>
                    </a:lnT>
                    <a:lnB>
                      <a:noFill/>
                    </a:lnB>
                    <a:noFill/>
                  </a:tcPr>
                </a:tc>
                <a:extLst>
                  <a:ext uri="{0D108BD9-81ED-4DB2-BD59-A6C34878D82A}">
                    <a16:rowId xmlns:a16="http://schemas.microsoft.com/office/drawing/2014/main" val="439143998"/>
                  </a:ext>
                </a:extLst>
              </a:tr>
              <a:tr h="211023">
                <a:tc>
                  <a:txBody>
                    <a:bodyPr/>
                    <a:lstStyle/>
                    <a:p>
                      <a:pPr algn="l">
                        <a:lnSpc>
                          <a:spcPts val="1800"/>
                        </a:lnSpc>
                        <a:buNone/>
                      </a:pPr>
                      <a:r>
                        <a:rPr lang="en-US" sz="1200" b="0">
                          <a:solidFill>
                            <a:srgbClr val="000000"/>
                          </a:solidFill>
                          <a:effectLst/>
                          <a:latin typeface="ui-sans-serif"/>
                        </a:rPr>
                        <a:t>LE</a:t>
                      </a:r>
                    </a:p>
                  </a:txBody>
                  <a:tcPr marL="75213" marR="75213" marT="37606" marB="37606"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Central</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发起 </a:t>
                      </a:r>
                      <a:r>
                        <a:rPr lang="en-US" altLang="zh-CN" sz="1200" b="0">
                          <a:solidFill>
                            <a:srgbClr val="000000"/>
                          </a:solidFill>
                          <a:effectLst/>
                          <a:latin typeface="ui-sans-serif"/>
                        </a:rPr>
                        <a:t>LE </a:t>
                      </a:r>
                      <a:r>
                        <a:rPr lang="zh-CN" altLang="en-US" sz="1200" b="0">
                          <a:solidFill>
                            <a:srgbClr val="000000"/>
                          </a:solidFill>
                          <a:effectLst/>
                          <a:latin typeface="ui-sans-serif"/>
                        </a:rPr>
                        <a:t>连接，控制连接参数（如连接间隔），可管理多个 </a:t>
                      </a:r>
                      <a:r>
                        <a:rPr lang="en-US" altLang="zh-CN" sz="1200" b="0">
                          <a:solidFill>
                            <a:srgbClr val="000000"/>
                          </a:solidFill>
                          <a:effectLst/>
                          <a:latin typeface="ui-sans-serif"/>
                        </a:rPr>
                        <a:t>Peripheral</a:t>
                      </a:r>
                    </a:p>
                  </a:txBody>
                  <a:tcPr marL="75213" marR="75213" marT="37606" marB="37606" anchor="ctr">
                    <a:lnL>
                      <a:noFill/>
                    </a:lnL>
                    <a:lnR>
                      <a:noFill/>
                    </a:lnR>
                    <a:lnT>
                      <a:noFill/>
                    </a:lnT>
                    <a:lnB>
                      <a:noFill/>
                    </a:lnB>
                    <a:noFill/>
                  </a:tcPr>
                </a:tc>
                <a:extLst>
                  <a:ext uri="{0D108BD9-81ED-4DB2-BD59-A6C34878D82A}">
                    <a16:rowId xmlns:a16="http://schemas.microsoft.com/office/drawing/2014/main" val="2323078308"/>
                  </a:ext>
                </a:extLst>
              </a:tr>
              <a:tr h="211023">
                <a:tc>
                  <a:txBody>
                    <a:bodyPr/>
                    <a:lstStyle/>
                    <a:p>
                      <a:pPr algn="l">
                        <a:lnSpc>
                          <a:spcPts val="1800"/>
                        </a:lnSpc>
                        <a:buNone/>
                      </a:pPr>
                      <a:r>
                        <a:rPr lang="en-US" sz="1200" b="0">
                          <a:solidFill>
                            <a:srgbClr val="000000"/>
                          </a:solidFill>
                          <a:effectLst/>
                          <a:latin typeface="ui-sans-serif"/>
                        </a:rPr>
                        <a:t>LE</a:t>
                      </a:r>
                    </a:p>
                  </a:txBody>
                  <a:tcPr marL="75213" marR="75213" marT="37606" marB="37606"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Peripheral</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广播可连接信号，响应 </a:t>
                      </a:r>
                      <a:r>
                        <a:rPr lang="en-US" altLang="zh-CN" sz="1200" b="0">
                          <a:solidFill>
                            <a:srgbClr val="000000"/>
                          </a:solidFill>
                          <a:effectLst/>
                          <a:latin typeface="ui-sans-serif"/>
                        </a:rPr>
                        <a:t>Central </a:t>
                      </a:r>
                      <a:r>
                        <a:rPr lang="zh-CN" altLang="en-US" sz="1200" b="0">
                          <a:solidFill>
                            <a:srgbClr val="000000"/>
                          </a:solidFill>
                          <a:effectLst/>
                          <a:latin typeface="ui-sans-serif"/>
                        </a:rPr>
                        <a:t>的连接请求</a:t>
                      </a:r>
                    </a:p>
                  </a:txBody>
                  <a:tcPr marL="75213" marR="75213" marT="37606" marB="37606" anchor="ctr">
                    <a:lnL>
                      <a:noFill/>
                    </a:lnL>
                    <a:lnR>
                      <a:noFill/>
                    </a:lnR>
                    <a:lnT>
                      <a:noFill/>
                    </a:lnT>
                    <a:lnB>
                      <a:noFill/>
                    </a:lnB>
                    <a:noFill/>
                  </a:tcPr>
                </a:tc>
                <a:extLst>
                  <a:ext uri="{0D108BD9-81ED-4DB2-BD59-A6C34878D82A}">
                    <a16:rowId xmlns:a16="http://schemas.microsoft.com/office/drawing/2014/main" val="3030136172"/>
                  </a:ext>
                </a:extLst>
              </a:tr>
              <a:tr h="211023">
                <a:tc>
                  <a:txBody>
                    <a:bodyPr/>
                    <a:lstStyle/>
                    <a:p>
                      <a:pPr algn="l">
                        <a:lnSpc>
                          <a:spcPts val="1800"/>
                        </a:lnSpc>
                        <a:buNone/>
                      </a:pPr>
                      <a:r>
                        <a:rPr lang="en-US" sz="1200" b="0">
                          <a:solidFill>
                            <a:srgbClr val="000000"/>
                          </a:solidFill>
                          <a:effectLst/>
                          <a:latin typeface="ui-sans-serif"/>
                        </a:rPr>
                        <a:t>LE</a:t>
                      </a:r>
                    </a:p>
                  </a:txBody>
                  <a:tcPr marL="75213" marR="75213" marT="37606" marB="37606" anchor="ctr">
                    <a:lnL>
                      <a:noFill/>
                    </a:lnL>
                    <a:lnR>
                      <a:noFill/>
                    </a:lnR>
                    <a:lnT>
                      <a:noFill/>
                    </a:lnT>
                    <a:lnB>
                      <a:noFill/>
                    </a:lnB>
                    <a:noFill/>
                  </a:tcPr>
                </a:tc>
                <a:tc>
                  <a:txBody>
                    <a:bodyPr/>
                    <a:lstStyle/>
                    <a:p>
                      <a:pPr algn="l">
                        <a:lnSpc>
                          <a:spcPts val="1800"/>
                        </a:lnSpc>
                        <a:buNone/>
                      </a:pPr>
                      <a:r>
                        <a:rPr lang="en-US" sz="1200" b="0" dirty="0">
                          <a:solidFill>
                            <a:srgbClr val="000000"/>
                          </a:solidFill>
                          <a:effectLst/>
                          <a:latin typeface="ui-sans-serif"/>
                        </a:rPr>
                        <a:t>Broadcaster</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dirty="0">
                          <a:solidFill>
                            <a:srgbClr val="000000"/>
                          </a:solidFill>
                          <a:effectLst/>
                          <a:latin typeface="ui-sans-serif"/>
                        </a:rPr>
                        <a:t>仅广播非连接型广告数据（如 </a:t>
                      </a:r>
                      <a:r>
                        <a:rPr lang="en-US" altLang="zh-CN" sz="1200" b="0" dirty="0">
                          <a:solidFill>
                            <a:srgbClr val="000000"/>
                          </a:solidFill>
                          <a:effectLst/>
                          <a:latin typeface="ui-sans-serif"/>
                        </a:rPr>
                        <a:t>Beacon </a:t>
                      </a:r>
                      <a:r>
                        <a:rPr lang="zh-CN" altLang="en-US" sz="1200" b="0" dirty="0">
                          <a:solidFill>
                            <a:srgbClr val="000000"/>
                          </a:solidFill>
                          <a:effectLst/>
                          <a:latin typeface="ui-sans-serif"/>
                        </a:rPr>
                        <a:t>设备），不接受连接</a:t>
                      </a:r>
                    </a:p>
                  </a:txBody>
                  <a:tcPr marL="75213" marR="75213" marT="37606" marB="37606" anchor="ctr">
                    <a:lnL>
                      <a:noFill/>
                    </a:lnL>
                    <a:lnR>
                      <a:noFill/>
                    </a:lnR>
                    <a:lnT>
                      <a:noFill/>
                    </a:lnT>
                    <a:lnB>
                      <a:noFill/>
                    </a:lnB>
                    <a:noFill/>
                  </a:tcPr>
                </a:tc>
                <a:extLst>
                  <a:ext uri="{0D108BD9-81ED-4DB2-BD59-A6C34878D82A}">
                    <a16:rowId xmlns:a16="http://schemas.microsoft.com/office/drawing/2014/main" val="659051772"/>
                  </a:ext>
                </a:extLst>
              </a:tr>
              <a:tr h="211023">
                <a:tc>
                  <a:txBody>
                    <a:bodyPr/>
                    <a:lstStyle/>
                    <a:p>
                      <a:pPr algn="l">
                        <a:lnSpc>
                          <a:spcPts val="1800"/>
                        </a:lnSpc>
                        <a:buNone/>
                      </a:pPr>
                      <a:r>
                        <a:rPr lang="en-US" sz="1200" b="0">
                          <a:solidFill>
                            <a:srgbClr val="000000"/>
                          </a:solidFill>
                          <a:effectLst/>
                          <a:latin typeface="ui-sans-serif"/>
                        </a:rPr>
                        <a:t>LE</a:t>
                      </a:r>
                    </a:p>
                  </a:txBody>
                  <a:tcPr marL="75213" marR="75213" marT="37606" marB="37606"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Observer</a:t>
                      </a:r>
                    </a:p>
                  </a:txBody>
                  <a:tcPr marL="75213" marR="75213" marT="37606" marB="37606" anchor="ctr">
                    <a:lnL>
                      <a:noFill/>
                    </a:lnL>
                    <a:lnR>
                      <a:noFill/>
                    </a:lnR>
                    <a:lnT>
                      <a:noFill/>
                    </a:lnT>
                    <a:lnB>
                      <a:noFill/>
                    </a:lnB>
                    <a:noFill/>
                  </a:tcPr>
                </a:tc>
                <a:tc>
                  <a:txBody>
                    <a:bodyPr/>
                    <a:lstStyle/>
                    <a:p>
                      <a:pPr algn="l">
                        <a:lnSpc>
                          <a:spcPts val="1800"/>
                        </a:lnSpc>
                        <a:buNone/>
                      </a:pPr>
                      <a:r>
                        <a:rPr lang="zh-CN" altLang="en-US" sz="1200" b="0" dirty="0">
                          <a:solidFill>
                            <a:srgbClr val="000000"/>
                          </a:solidFill>
                          <a:effectLst/>
                          <a:latin typeface="ui-sans-serif"/>
                        </a:rPr>
                        <a:t>仅扫描并接收广播数据，不发起连接</a:t>
                      </a:r>
                    </a:p>
                  </a:txBody>
                  <a:tcPr marL="75213" marR="75213" marT="37606" marB="37606" anchor="ctr">
                    <a:lnL>
                      <a:noFill/>
                    </a:lnL>
                    <a:lnR>
                      <a:noFill/>
                    </a:lnR>
                    <a:lnT>
                      <a:noFill/>
                    </a:lnT>
                    <a:lnB>
                      <a:noFill/>
                    </a:lnB>
                    <a:noFill/>
                  </a:tcPr>
                </a:tc>
                <a:extLst>
                  <a:ext uri="{0D108BD9-81ED-4DB2-BD59-A6C34878D82A}">
                    <a16:rowId xmlns:a16="http://schemas.microsoft.com/office/drawing/2014/main" val="215599170"/>
                  </a:ext>
                </a:extLst>
              </a:tr>
            </a:tbl>
          </a:graphicData>
        </a:graphic>
      </p:graphicFrame>
      <p:sp>
        <p:nvSpPr>
          <p:cNvPr id="8" name="Rectangle 2">
            <a:extLst>
              <a:ext uri="{FF2B5EF4-FFF2-40B4-BE49-F238E27FC236}">
                <a16:creationId xmlns:a16="http://schemas.microsoft.com/office/drawing/2014/main" id="{F8AC38BD-3635-0EAA-C02D-32377E0F0A0C}"/>
              </a:ext>
            </a:extLst>
          </p:cNvPr>
          <p:cNvSpPr>
            <a:spLocks noChangeArrowheads="1"/>
          </p:cNvSpPr>
          <p:nvPr/>
        </p:nvSpPr>
        <p:spPr bwMode="auto">
          <a:xfrm rot="10800000" flipV="1">
            <a:off x="251276" y="581351"/>
            <a:ext cx="68453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200" b="1" i="0" u="none" strike="noStrike" cap="none" normalizeH="0" baseline="0" dirty="0">
                <a:ln>
                  <a:noFill/>
                </a:ln>
                <a:solidFill>
                  <a:srgbClr val="000000"/>
                </a:solidFill>
                <a:effectLst/>
                <a:latin typeface="Arial" panose="020B0604020202020204" pitchFamily="34" charset="0"/>
                <a:ea typeface="ui-sans-serif"/>
              </a:rPr>
              <a:t>角色定义</a:t>
            </a:r>
            <a:endParaRPr kumimoji="0" lang="zh-CN" altLang="zh-CN" sz="12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panose="020B0604020202020204" pitchFamily="34" charset="0"/>
                <a:ea typeface="ui-sans-serif"/>
              </a:rPr>
              <a:t>GAP 为不同蓝牙技术（BR/EDR、LE）定义了标准化角色，设备需至少支持一种角色以实现交互：</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文本框 9">
            <a:extLst>
              <a:ext uri="{FF2B5EF4-FFF2-40B4-BE49-F238E27FC236}">
                <a16:creationId xmlns:a16="http://schemas.microsoft.com/office/drawing/2014/main" id="{17E04EEA-A2B3-2714-CC2B-1767208F48C5}"/>
              </a:ext>
            </a:extLst>
          </p:cNvPr>
          <p:cNvSpPr txBox="1"/>
          <p:nvPr/>
        </p:nvSpPr>
        <p:spPr>
          <a:xfrm>
            <a:off x="170988" y="3057581"/>
            <a:ext cx="8709845" cy="1688091"/>
          </a:xfrm>
          <a:prstGeom prst="rect">
            <a:avLst/>
          </a:prstGeom>
          <a:noFill/>
        </p:spPr>
        <p:txBody>
          <a:bodyPr wrap="square">
            <a:spAutoFit/>
          </a:bodyPr>
          <a:lstStyle/>
          <a:p>
            <a:pPr marL="171450" indent="-171450" algn="l">
              <a:lnSpc>
                <a:spcPts val="1800"/>
              </a:lnSpc>
              <a:buFont typeface="Arial" panose="020B0604020202020204" pitchFamily="34" charset="0"/>
              <a:buChar char="•"/>
            </a:pPr>
            <a:r>
              <a:rPr lang="zh-CN" altLang="en-US" sz="1200" b="1" dirty="0">
                <a:solidFill>
                  <a:srgbClr val="000000"/>
                </a:solidFill>
                <a:effectLst/>
                <a:latin typeface="ui-sans-serif"/>
              </a:rPr>
              <a:t>用户接口（</a:t>
            </a:r>
            <a:r>
              <a:rPr lang="en-US" altLang="zh-CN" sz="1200" b="1" dirty="0">
                <a:solidFill>
                  <a:srgbClr val="000000"/>
                </a:solidFill>
                <a:effectLst/>
                <a:latin typeface="ui-sans-serif"/>
              </a:rPr>
              <a:t>UI</a:t>
            </a:r>
            <a:r>
              <a:rPr lang="zh-CN" altLang="en-US" sz="1200" b="1" dirty="0">
                <a:solidFill>
                  <a:srgbClr val="000000"/>
                </a:solidFill>
                <a:effectLst/>
                <a:latin typeface="ui-sans-serif"/>
              </a:rPr>
              <a:t>）规范</a:t>
            </a:r>
            <a:endParaRPr lang="zh-CN" altLang="en-US" sz="1200" b="0" dirty="0">
              <a:solidFill>
                <a:srgbClr val="000000"/>
              </a:solidFill>
              <a:effectLst/>
              <a:latin typeface="ui-sans-serif"/>
            </a:endParaRPr>
          </a:p>
          <a:p>
            <a:pPr algn="l">
              <a:lnSpc>
                <a:spcPts val="1800"/>
              </a:lnSpc>
              <a:buNone/>
            </a:pPr>
            <a:r>
              <a:rPr lang="zh-CN" altLang="en-US" sz="1200" b="0" dirty="0">
                <a:solidFill>
                  <a:srgbClr val="000000"/>
                </a:solidFill>
                <a:effectLst/>
                <a:latin typeface="ui-sans-serif"/>
              </a:rPr>
              <a:t>定义蓝牙设备在用户层面的参数表示，确保用户操作一致性：</a:t>
            </a:r>
          </a:p>
          <a:p>
            <a:pPr algn="l">
              <a:lnSpc>
                <a:spcPts val="1800"/>
              </a:lnSpc>
              <a:buFont typeface="Arial" panose="020B0604020202020204" pitchFamily="34" charset="0"/>
              <a:buChar char="•"/>
            </a:pPr>
            <a:r>
              <a:rPr lang="zh-CN" altLang="en-US" sz="1200" b="1" dirty="0">
                <a:solidFill>
                  <a:srgbClr val="000000"/>
                </a:solidFill>
                <a:effectLst/>
                <a:latin typeface="ui-sans-serif"/>
              </a:rPr>
              <a:t>蓝牙设备地址（</a:t>
            </a:r>
            <a:r>
              <a:rPr lang="en-US" altLang="zh-CN" sz="1200" b="1" dirty="0">
                <a:solidFill>
                  <a:srgbClr val="000000"/>
                </a:solidFill>
                <a:effectLst/>
                <a:latin typeface="ui-sans-serif"/>
              </a:rPr>
              <a:t>BD_ADDR</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r>
              <a:rPr lang="en-US" altLang="zh-CN" sz="1200" b="0" dirty="0">
                <a:solidFill>
                  <a:srgbClr val="000000"/>
                </a:solidFill>
                <a:effectLst/>
                <a:latin typeface="ui-sans-serif"/>
              </a:rPr>
              <a:t>48 </a:t>
            </a:r>
            <a:r>
              <a:rPr lang="zh-CN" altLang="en-US" sz="1200" b="0" dirty="0">
                <a:solidFill>
                  <a:srgbClr val="000000"/>
                </a:solidFill>
                <a:effectLst/>
                <a:latin typeface="ui-sans-serif"/>
              </a:rPr>
              <a:t>位唯一标识符，分为公共地址（厂商分配）和随机地址（隐私保护用）；</a:t>
            </a:r>
          </a:p>
          <a:p>
            <a:pPr algn="l">
              <a:lnSpc>
                <a:spcPts val="1800"/>
              </a:lnSpc>
              <a:buFont typeface="Arial" panose="020B0604020202020204" pitchFamily="34" charset="0"/>
              <a:buChar char="•"/>
            </a:pPr>
            <a:r>
              <a:rPr lang="zh-CN" altLang="en-US" sz="1200" b="1" dirty="0">
                <a:solidFill>
                  <a:srgbClr val="000000"/>
                </a:solidFill>
                <a:effectLst/>
                <a:latin typeface="ui-sans-serif"/>
              </a:rPr>
              <a:t>设备名称（</a:t>
            </a:r>
            <a:r>
              <a:rPr lang="en-US" altLang="zh-CN" sz="1200" b="1" dirty="0">
                <a:solidFill>
                  <a:srgbClr val="000000"/>
                </a:solidFill>
                <a:effectLst/>
                <a:latin typeface="ui-sans-serif"/>
              </a:rPr>
              <a:t>Bluetooth Device Name</a:t>
            </a:r>
            <a:r>
              <a:rPr lang="zh-CN" altLang="en-US" sz="1200" b="1" dirty="0">
                <a:solidFill>
                  <a:srgbClr val="000000"/>
                </a:solidFill>
                <a:effectLst/>
                <a:latin typeface="ui-sans-serif"/>
              </a:rPr>
              <a:t>）</a:t>
            </a:r>
            <a:r>
              <a:rPr lang="zh-CN" altLang="en-US" sz="1200" b="0" dirty="0">
                <a:solidFill>
                  <a:srgbClr val="000000"/>
                </a:solidFill>
                <a:effectLst/>
                <a:latin typeface="ui-sans-serif"/>
              </a:rPr>
              <a:t>：用户可识别的字符串（如 “我的耳机”），最长 </a:t>
            </a:r>
            <a:r>
              <a:rPr lang="en-US" altLang="zh-CN" sz="1200" b="0" dirty="0">
                <a:solidFill>
                  <a:srgbClr val="000000"/>
                </a:solidFill>
                <a:effectLst/>
                <a:latin typeface="ui-sans-serif"/>
              </a:rPr>
              <a:t>248 </a:t>
            </a:r>
            <a:r>
              <a:rPr lang="zh-CN" altLang="en-US" sz="1200" b="0" dirty="0">
                <a:solidFill>
                  <a:srgbClr val="000000"/>
                </a:solidFill>
                <a:effectLst/>
                <a:latin typeface="ui-sans-serif"/>
              </a:rPr>
              <a:t>字节；</a:t>
            </a:r>
          </a:p>
          <a:p>
            <a:pPr algn="l">
              <a:lnSpc>
                <a:spcPts val="1800"/>
              </a:lnSpc>
              <a:buFont typeface="Arial" panose="020B0604020202020204" pitchFamily="34" charset="0"/>
              <a:buChar char="•"/>
            </a:pPr>
            <a:r>
              <a:rPr lang="zh-CN" altLang="en-US" sz="1200" b="1" dirty="0">
                <a:solidFill>
                  <a:srgbClr val="000000"/>
                </a:solidFill>
                <a:effectLst/>
                <a:latin typeface="ui-sans-serif"/>
              </a:rPr>
              <a:t>配对码（</a:t>
            </a:r>
            <a:r>
              <a:rPr lang="en-US" altLang="zh-CN" sz="1200" b="1" dirty="0">
                <a:solidFill>
                  <a:srgbClr val="000000"/>
                </a:solidFill>
                <a:effectLst/>
                <a:latin typeface="ui-sans-serif"/>
              </a:rPr>
              <a:t>Passkey</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r>
              <a:rPr lang="en-US" altLang="zh-CN" sz="1200" b="0" dirty="0">
                <a:solidFill>
                  <a:srgbClr val="000000"/>
                </a:solidFill>
                <a:effectLst/>
                <a:latin typeface="ui-sans-serif"/>
              </a:rPr>
              <a:t>6 </a:t>
            </a:r>
            <a:r>
              <a:rPr lang="zh-CN" altLang="en-US" sz="1200" b="0" dirty="0">
                <a:solidFill>
                  <a:srgbClr val="000000"/>
                </a:solidFill>
                <a:effectLst/>
                <a:latin typeface="ui-sans-serif"/>
              </a:rPr>
              <a:t>位数字（</a:t>
            </a:r>
            <a:r>
              <a:rPr lang="en-US" altLang="zh-CN" sz="1200" b="0" dirty="0">
                <a:solidFill>
                  <a:srgbClr val="000000"/>
                </a:solidFill>
                <a:effectLst/>
                <a:latin typeface="ui-sans-serif"/>
              </a:rPr>
              <a:t>Secure Simple Pairing </a:t>
            </a:r>
            <a:r>
              <a:rPr lang="zh-CN" altLang="en-US" sz="1200" b="0" dirty="0">
                <a:solidFill>
                  <a:srgbClr val="000000"/>
                </a:solidFill>
                <a:effectLst/>
                <a:latin typeface="ui-sans-serif"/>
              </a:rPr>
              <a:t>用），替代传统 </a:t>
            </a:r>
            <a:r>
              <a:rPr lang="en-US" altLang="zh-CN" sz="1200" b="0" dirty="0">
                <a:solidFill>
                  <a:srgbClr val="000000"/>
                </a:solidFill>
                <a:effectLst/>
                <a:latin typeface="ui-sans-serif"/>
              </a:rPr>
              <a:t>PIN </a:t>
            </a:r>
            <a:r>
              <a:rPr lang="zh-CN" altLang="en-US" sz="1200" b="0" dirty="0">
                <a:solidFill>
                  <a:srgbClr val="000000"/>
                </a:solidFill>
                <a:effectLst/>
                <a:latin typeface="ui-sans-serif"/>
              </a:rPr>
              <a:t>码，提升安全性；</a:t>
            </a:r>
          </a:p>
          <a:p>
            <a:pPr algn="l">
              <a:lnSpc>
                <a:spcPts val="1800"/>
              </a:lnSpc>
              <a:buFont typeface="Arial" panose="020B0604020202020204" pitchFamily="34" charset="0"/>
              <a:buChar char="•"/>
            </a:pPr>
            <a:r>
              <a:rPr lang="zh-CN" altLang="en-US" sz="1200" b="1" dirty="0">
                <a:solidFill>
                  <a:srgbClr val="000000"/>
                </a:solidFill>
                <a:effectLst/>
                <a:latin typeface="ui-sans-serif"/>
              </a:rPr>
              <a:t>设备类别（</a:t>
            </a:r>
            <a:r>
              <a:rPr lang="en-US" altLang="zh-CN" sz="1200" b="1" dirty="0">
                <a:solidFill>
                  <a:srgbClr val="000000"/>
                </a:solidFill>
                <a:effectLst/>
                <a:latin typeface="ui-sans-serif"/>
              </a:rPr>
              <a:t>Class of Device</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r>
              <a:rPr lang="en-US" altLang="zh-CN" sz="1200" b="0" dirty="0">
                <a:solidFill>
                  <a:srgbClr val="000000"/>
                </a:solidFill>
                <a:effectLst/>
                <a:latin typeface="ui-sans-serif"/>
              </a:rPr>
              <a:t>3 </a:t>
            </a:r>
            <a:r>
              <a:rPr lang="zh-CN" altLang="en-US" sz="1200" b="0" dirty="0">
                <a:solidFill>
                  <a:srgbClr val="000000"/>
                </a:solidFill>
                <a:effectLst/>
                <a:latin typeface="ui-sans-serif"/>
              </a:rPr>
              <a:t>字节编码，标识设备类型（如 “音频设备”“打印机”），用于快速筛选设备；</a:t>
            </a:r>
          </a:p>
          <a:p>
            <a:pPr algn="l">
              <a:lnSpc>
                <a:spcPts val="1800"/>
              </a:lnSpc>
              <a:buFont typeface="Arial" panose="020B0604020202020204" pitchFamily="34" charset="0"/>
              <a:buChar char="•"/>
            </a:pPr>
            <a:r>
              <a:rPr lang="zh-CN" altLang="en-US" sz="1200" b="1" dirty="0">
                <a:solidFill>
                  <a:srgbClr val="000000"/>
                </a:solidFill>
                <a:effectLst/>
                <a:latin typeface="ui-sans-serif"/>
              </a:rPr>
              <a:t>外观特征（</a:t>
            </a:r>
            <a:r>
              <a:rPr lang="en-US" altLang="zh-CN" sz="1200" b="1" dirty="0">
                <a:solidFill>
                  <a:srgbClr val="000000"/>
                </a:solidFill>
                <a:effectLst/>
                <a:latin typeface="ui-sans-serif"/>
              </a:rPr>
              <a:t>Appearance</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r>
              <a:rPr lang="en-US" altLang="zh-CN" sz="1200" b="0" dirty="0">
                <a:solidFill>
                  <a:srgbClr val="000000"/>
                </a:solidFill>
                <a:effectLst/>
                <a:latin typeface="ui-sans-serif"/>
              </a:rPr>
              <a:t>2 </a:t>
            </a:r>
            <a:r>
              <a:rPr lang="zh-CN" altLang="en-US" sz="1200" b="0" dirty="0">
                <a:solidFill>
                  <a:srgbClr val="000000"/>
                </a:solidFill>
                <a:effectLst/>
                <a:latin typeface="ui-sans-serif"/>
              </a:rPr>
              <a:t>字节编码，描述设备物理形态（如 “入耳式耳机”“智能手表”），可在设备列表中显示图标。</a:t>
            </a:r>
          </a:p>
        </p:txBody>
      </p:sp>
    </p:spTree>
    <p:extLst>
      <p:ext uri="{BB962C8B-B14F-4D97-AF65-F5344CB8AC3E}">
        <p14:creationId xmlns:p14="http://schemas.microsoft.com/office/powerpoint/2010/main" val="3763797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8A852-0AE5-DF65-2460-BEBAD1F77BCE}"/>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2FA0454-6EE9-719C-4752-569B7FC0C322}"/>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en-US" altLang="zh-CN" sz="2400" dirty="0"/>
              <a:t> </a:t>
            </a:r>
            <a:r>
              <a:rPr lang="en-US" altLang="zh-CN" sz="2400" b="1" spc="-38" dirty="0">
                <a:solidFill>
                  <a:srgbClr val="DFC27B"/>
                </a:solidFill>
                <a:latin typeface="Calibri" panose="020F0502020204030204" pitchFamily="34" charset="0"/>
                <a:cs typeface="Calibri" panose="020F0502020204030204" pitchFamily="34" charset="0"/>
              </a:rPr>
              <a:t>LE </a:t>
            </a:r>
            <a:r>
              <a:rPr lang="zh-CN" altLang="en-US" sz="2400" b="1" spc="-38" dirty="0">
                <a:solidFill>
                  <a:srgbClr val="DFC27B"/>
                </a:solidFill>
                <a:latin typeface="Calibri" panose="020F0502020204030204" pitchFamily="34" charset="0"/>
                <a:cs typeface="Calibri" panose="020F0502020204030204" pitchFamily="34" charset="0"/>
              </a:rPr>
              <a:t>物理传输的 </a:t>
            </a:r>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功能</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11A4950B-37A1-B773-9A9C-A2A34C356343}"/>
              </a:ext>
            </a:extLst>
          </p:cNvPr>
          <p:cNvSpPr txBox="1"/>
          <p:nvPr/>
        </p:nvSpPr>
        <p:spPr>
          <a:xfrm>
            <a:off x="113991" y="583192"/>
            <a:ext cx="8745530" cy="4227247"/>
          </a:xfrm>
          <a:prstGeom prst="rect">
            <a:avLst/>
          </a:prstGeom>
          <a:noFill/>
        </p:spPr>
        <p:txBody>
          <a:bodyPr wrap="square">
            <a:spAutoFit/>
          </a:bodyPr>
          <a:lstStyle/>
          <a:p>
            <a:pPr algn="l">
              <a:lnSpc>
                <a:spcPts val="1800"/>
              </a:lnSpc>
              <a:buNone/>
            </a:pPr>
            <a:r>
              <a:rPr lang="zh-CN" altLang="en-US" sz="1200" b="0" dirty="0">
                <a:solidFill>
                  <a:srgbClr val="000000"/>
                </a:solidFill>
                <a:effectLst/>
                <a:latin typeface="ui-sans-serif"/>
              </a:rPr>
              <a:t>针对低功耗蓝牙</a:t>
            </a:r>
            <a:r>
              <a:rPr lang="en-US" altLang="zh-CN" sz="1200" b="0" dirty="0">
                <a:solidFill>
                  <a:srgbClr val="000000"/>
                </a:solidFill>
                <a:effectLst/>
                <a:latin typeface="ui-sans-serif"/>
              </a:rPr>
              <a:t>GAP </a:t>
            </a:r>
            <a:r>
              <a:rPr lang="zh-CN" altLang="en-US" sz="1200" b="0" dirty="0">
                <a:solidFill>
                  <a:srgbClr val="000000"/>
                </a:solidFill>
                <a:effectLst/>
                <a:latin typeface="ui-sans-serif"/>
              </a:rPr>
              <a:t>适配其低功耗、低复杂度特性，重新设计了</a:t>
            </a:r>
            <a:r>
              <a:rPr lang="zh-CN" altLang="en-US" sz="1200" b="1" dirty="0">
                <a:solidFill>
                  <a:srgbClr val="000000"/>
                </a:solidFill>
                <a:effectLst/>
                <a:latin typeface="ui-sans-serif"/>
              </a:rPr>
              <a:t>广播 </a:t>
            </a:r>
            <a:r>
              <a:rPr lang="en-US" altLang="zh-CN" sz="1200" b="1" dirty="0">
                <a:solidFill>
                  <a:srgbClr val="000000"/>
                </a:solidFill>
                <a:effectLst/>
                <a:latin typeface="ui-sans-serif"/>
              </a:rPr>
              <a:t>- </a:t>
            </a:r>
            <a:r>
              <a:rPr lang="zh-CN" altLang="en-US" sz="1200" b="1" dirty="0">
                <a:solidFill>
                  <a:srgbClr val="000000"/>
                </a:solidFill>
                <a:effectLst/>
                <a:latin typeface="ui-sans-serif"/>
              </a:rPr>
              <a:t>扫描机制、连接参数、周期性广播、同步管理</a:t>
            </a:r>
            <a:r>
              <a:rPr lang="zh-CN" altLang="en-US" sz="1200" b="0" dirty="0">
                <a:solidFill>
                  <a:srgbClr val="000000"/>
                </a:solidFill>
                <a:effectLst/>
                <a:latin typeface="ui-sans-serif"/>
              </a:rPr>
              <a:t>等功能：</a:t>
            </a:r>
          </a:p>
          <a:p>
            <a:pPr algn="l">
              <a:lnSpc>
                <a:spcPts val="1800"/>
              </a:lnSpc>
              <a:buNone/>
            </a:pPr>
            <a:r>
              <a:rPr lang="en-US" altLang="zh-CN" sz="1200" b="0" dirty="0">
                <a:solidFill>
                  <a:srgbClr val="000000"/>
                </a:solidFill>
                <a:effectLst/>
                <a:latin typeface="ui-sans-serif"/>
              </a:rPr>
              <a:t>1. </a:t>
            </a:r>
            <a:r>
              <a:rPr lang="zh-CN" altLang="en-US" sz="1200" b="0" dirty="0">
                <a:solidFill>
                  <a:srgbClr val="000000"/>
                </a:solidFill>
                <a:effectLst/>
                <a:latin typeface="ui-sans-serif"/>
              </a:rPr>
              <a:t>广播与扫描机制（非连接型交互）</a:t>
            </a:r>
          </a:p>
          <a:p>
            <a:pPr algn="l">
              <a:lnSpc>
                <a:spcPts val="1800"/>
              </a:lnSpc>
              <a:buFont typeface="Arial" panose="020B0604020202020204" pitchFamily="34" charset="0"/>
              <a:buChar char="•"/>
            </a:pPr>
            <a:r>
              <a:rPr lang="zh-CN" altLang="en-US" sz="1200" b="1" dirty="0">
                <a:solidFill>
                  <a:srgbClr val="000000"/>
                </a:solidFill>
                <a:effectLst/>
                <a:latin typeface="ui-sans-serif"/>
              </a:rPr>
              <a:t>广播模式（</a:t>
            </a:r>
            <a:r>
              <a:rPr lang="en-US" altLang="zh-CN" sz="1200" b="1" dirty="0">
                <a:solidFill>
                  <a:srgbClr val="000000"/>
                </a:solidFill>
                <a:effectLst/>
                <a:latin typeface="ui-sans-serif"/>
              </a:rPr>
              <a:t>Advertising Mode</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algn="l">
              <a:lnSpc>
                <a:spcPts val="1800"/>
              </a:lnSpc>
            </a:pPr>
            <a:r>
              <a:rPr lang="zh-CN" altLang="en-US" sz="1200" b="0" dirty="0">
                <a:solidFill>
                  <a:srgbClr val="000000"/>
                </a:solidFill>
                <a:effectLst/>
                <a:latin typeface="ui-sans-serif"/>
              </a:rPr>
              <a:t>广告设备（</a:t>
            </a:r>
            <a:r>
              <a:rPr lang="en-US" altLang="zh-CN" sz="1200" b="0" dirty="0">
                <a:solidFill>
                  <a:srgbClr val="000000"/>
                </a:solidFill>
                <a:effectLst/>
                <a:latin typeface="ui-sans-serif"/>
              </a:rPr>
              <a:t>Advertiser</a:t>
            </a:r>
            <a:r>
              <a:rPr lang="zh-CN" altLang="en-US" sz="1200" b="0" dirty="0">
                <a:solidFill>
                  <a:srgbClr val="000000"/>
                </a:solidFill>
                <a:effectLst/>
                <a:latin typeface="ui-sans-serif"/>
              </a:rPr>
              <a:t>）在 </a:t>
            </a:r>
            <a:r>
              <a:rPr lang="en-US" altLang="zh-CN" sz="1200" b="0" dirty="0">
                <a:solidFill>
                  <a:srgbClr val="000000"/>
                </a:solidFill>
                <a:effectLst/>
                <a:latin typeface="ui-sans-serif"/>
              </a:rPr>
              <a:t>3 </a:t>
            </a:r>
            <a:r>
              <a:rPr lang="zh-CN" altLang="en-US" sz="1200" b="0" dirty="0">
                <a:solidFill>
                  <a:srgbClr val="000000"/>
                </a:solidFill>
                <a:effectLst/>
                <a:latin typeface="ui-sans-serif"/>
              </a:rPr>
              <a:t>个主广告频道（</a:t>
            </a:r>
            <a:r>
              <a:rPr lang="en-US" altLang="zh-CN" sz="1200" b="0" dirty="0">
                <a:solidFill>
                  <a:srgbClr val="000000"/>
                </a:solidFill>
                <a:effectLst/>
                <a:latin typeface="ui-sans-serif"/>
              </a:rPr>
              <a:t>37</a:t>
            </a:r>
            <a:r>
              <a:rPr lang="zh-CN" altLang="en-US" sz="1200" b="0" dirty="0">
                <a:solidFill>
                  <a:srgbClr val="000000"/>
                </a:solidFill>
                <a:effectLst/>
                <a:latin typeface="ui-sans-serif"/>
              </a:rPr>
              <a:t>、</a:t>
            </a:r>
            <a:r>
              <a:rPr lang="en-US" altLang="zh-CN" sz="1200" b="0" dirty="0">
                <a:solidFill>
                  <a:srgbClr val="000000"/>
                </a:solidFill>
                <a:effectLst/>
                <a:latin typeface="ui-sans-serif"/>
              </a:rPr>
              <a:t>38</a:t>
            </a:r>
            <a:r>
              <a:rPr lang="zh-CN" altLang="en-US" sz="1200" b="0" dirty="0">
                <a:solidFill>
                  <a:srgbClr val="000000"/>
                </a:solidFill>
                <a:effectLst/>
                <a:latin typeface="ui-sans-serif"/>
              </a:rPr>
              <a:t>、</a:t>
            </a:r>
            <a:r>
              <a:rPr lang="en-US" altLang="zh-CN" sz="1200" b="0" dirty="0">
                <a:solidFill>
                  <a:srgbClr val="000000"/>
                </a:solidFill>
                <a:effectLst/>
                <a:latin typeface="ui-sans-serif"/>
              </a:rPr>
              <a:t>39 </a:t>
            </a:r>
            <a:r>
              <a:rPr lang="zh-CN" altLang="en-US" sz="1200" b="0" dirty="0">
                <a:solidFill>
                  <a:srgbClr val="000000"/>
                </a:solidFill>
                <a:effectLst/>
                <a:latin typeface="ui-sans-serif"/>
              </a:rPr>
              <a:t>频道）发送广告包，支持 </a:t>
            </a:r>
            <a:r>
              <a:rPr lang="en-US" altLang="zh-CN" sz="1200" b="0" dirty="0">
                <a:solidFill>
                  <a:srgbClr val="000000"/>
                </a:solidFill>
                <a:effectLst/>
                <a:latin typeface="ui-sans-serif"/>
              </a:rPr>
              <a:t>7 </a:t>
            </a:r>
            <a:r>
              <a:rPr lang="zh-CN" altLang="en-US" sz="1200" b="0" dirty="0">
                <a:solidFill>
                  <a:srgbClr val="000000"/>
                </a:solidFill>
                <a:effectLst/>
                <a:latin typeface="ui-sans-serif"/>
              </a:rPr>
              <a:t>种广告类型：</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可连接无定向广告（</a:t>
            </a:r>
            <a:r>
              <a:rPr lang="en-US" altLang="zh-CN" sz="1200" b="0" dirty="0">
                <a:solidFill>
                  <a:srgbClr val="000000"/>
                </a:solidFill>
                <a:effectLst/>
                <a:latin typeface="ui-sans-serif"/>
              </a:rPr>
              <a:t>ADV_IND</a:t>
            </a:r>
            <a:r>
              <a:rPr lang="zh-CN" altLang="en-US" sz="1200" b="0" dirty="0">
                <a:solidFill>
                  <a:srgbClr val="000000"/>
                </a:solidFill>
                <a:effectLst/>
                <a:latin typeface="ui-sans-serif"/>
              </a:rPr>
              <a:t>）：允许 </a:t>
            </a:r>
            <a:r>
              <a:rPr lang="en-US" altLang="zh-CN" sz="1200" b="0" dirty="0">
                <a:solidFill>
                  <a:srgbClr val="000000"/>
                </a:solidFill>
                <a:effectLst/>
                <a:latin typeface="ui-sans-serif"/>
              </a:rPr>
              <a:t>Observer </a:t>
            </a:r>
            <a:r>
              <a:rPr lang="zh-CN" altLang="en-US" sz="1200" b="0" dirty="0">
                <a:solidFill>
                  <a:srgbClr val="000000"/>
                </a:solidFill>
                <a:effectLst/>
                <a:latin typeface="ui-sans-serif"/>
              </a:rPr>
              <a:t>发起连接，适合常规设备（如智能手环）；</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不可连接无定向广告（</a:t>
            </a:r>
            <a:r>
              <a:rPr lang="en-US" altLang="zh-CN" sz="1200" b="0" dirty="0">
                <a:solidFill>
                  <a:srgbClr val="000000"/>
                </a:solidFill>
                <a:effectLst/>
                <a:latin typeface="ui-sans-serif"/>
              </a:rPr>
              <a:t>ADV_NONCONN_IND</a:t>
            </a:r>
            <a:r>
              <a:rPr lang="zh-CN" altLang="en-US" sz="1200" b="0" dirty="0">
                <a:solidFill>
                  <a:srgbClr val="000000"/>
                </a:solidFill>
                <a:effectLst/>
                <a:latin typeface="ui-sans-serif"/>
              </a:rPr>
              <a:t>）：仅广播数据（如 </a:t>
            </a:r>
            <a:r>
              <a:rPr lang="en-US" altLang="zh-CN" sz="1200" b="0" dirty="0">
                <a:solidFill>
                  <a:srgbClr val="000000"/>
                </a:solidFill>
                <a:effectLst/>
                <a:latin typeface="ui-sans-serif"/>
              </a:rPr>
              <a:t>Beacon </a:t>
            </a:r>
            <a:r>
              <a:rPr lang="zh-CN" altLang="en-US" sz="1200" b="0" dirty="0">
                <a:solidFill>
                  <a:srgbClr val="000000"/>
                </a:solidFill>
                <a:effectLst/>
                <a:latin typeface="ui-sans-serif"/>
              </a:rPr>
              <a:t>广播温度数据），不接受连接；</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定向连接广告（</a:t>
            </a:r>
            <a:r>
              <a:rPr lang="en-US" altLang="zh-CN" sz="1200" b="0" dirty="0">
                <a:solidFill>
                  <a:srgbClr val="000000"/>
                </a:solidFill>
                <a:effectLst/>
                <a:latin typeface="ui-sans-serif"/>
              </a:rPr>
              <a:t>ADV_DIRECT_IND</a:t>
            </a:r>
            <a:r>
              <a:rPr lang="zh-CN" altLang="en-US" sz="1200" b="0" dirty="0">
                <a:solidFill>
                  <a:srgbClr val="000000"/>
                </a:solidFill>
                <a:effectLst/>
                <a:latin typeface="ui-sans-serif"/>
              </a:rPr>
              <a:t>）：仅向特定设备发起连接（如手机唤醒耳机），速度快；</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扩展广告（</a:t>
            </a:r>
            <a:r>
              <a:rPr lang="en-US" altLang="zh-CN" sz="1200" b="0" dirty="0">
                <a:solidFill>
                  <a:srgbClr val="000000"/>
                </a:solidFill>
                <a:effectLst/>
                <a:latin typeface="ui-sans-serif"/>
              </a:rPr>
              <a:t>ADV_EXT_IND</a:t>
            </a:r>
            <a:r>
              <a:rPr lang="zh-CN" altLang="en-US" sz="1200" b="0" dirty="0">
                <a:solidFill>
                  <a:srgbClr val="000000"/>
                </a:solidFill>
                <a:effectLst/>
                <a:latin typeface="ui-sans-serif"/>
              </a:rPr>
              <a:t>）：支持更长广告数据（</a:t>
            </a:r>
            <a:r>
              <a:rPr lang="en-US" altLang="zh-CN" sz="1200" b="0" dirty="0">
                <a:solidFill>
                  <a:srgbClr val="000000"/>
                </a:solidFill>
                <a:effectLst/>
                <a:latin typeface="ui-sans-serif"/>
              </a:rPr>
              <a:t>255 </a:t>
            </a:r>
            <a:r>
              <a:rPr lang="zh-CN" altLang="en-US" sz="1200" b="0" dirty="0">
                <a:solidFill>
                  <a:srgbClr val="000000"/>
                </a:solidFill>
                <a:effectLst/>
                <a:latin typeface="ui-sans-serif"/>
              </a:rPr>
              <a:t>字节），可跳转至副广告频道（</a:t>
            </a:r>
            <a:r>
              <a:rPr lang="en-US" altLang="zh-CN" sz="1200" b="0" dirty="0">
                <a:solidFill>
                  <a:srgbClr val="000000"/>
                </a:solidFill>
                <a:effectLst/>
                <a:latin typeface="ui-sans-serif"/>
              </a:rPr>
              <a:t>37 </a:t>
            </a:r>
            <a:r>
              <a:rPr lang="zh-CN" altLang="en-US" sz="1200" b="0" dirty="0">
                <a:solidFill>
                  <a:srgbClr val="000000"/>
                </a:solidFill>
                <a:effectLst/>
                <a:latin typeface="ui-sans-serif"/>
              </a:rPr>
              <a:t>个通用频道），适合大数据广播。</a:t>
            </a:r>
          </a:p>
          <a:p>
            <a:pPr algn="l">
              <a:lnSpc>
                <a:spcPts val="1800"/>
              </a:lnSpc>
              <a:buFont typeface="Arial" panose="020B0604020202020204" pitchFamily="34" charset="0"/>
              <a:buChar char="•"/>
            </a:pPr>
            <a:r>
              <a:rPr lang="zh-CN" altLang="en-US" sz="1200" b="1" dirty="0">
                <a:solidFill>
                  <a:srgbClr val="000000"/>
                </a:solidFill>
                <a:effectLst/>
                <a:latin typeface="ui-sans-serif"/>
              </a:rPr>
              <a:t>扫描模式（</a:t>
            </a:r>
            <a:r>
              <a:rPr lang="en-US" altLang="zh-CN" sz="1200" b="1" dirty="0">
                <a:solidFill>
                  <a:srgbClr val="000000"/>
                </a:solidFill>
                <a:effectLst/>
                <a:latin typeface="ui-sans-serif"/>
              </a:rPr>
              <a:t>Scanning Mode</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algn="l">
              <a:lnSpc>
                <a:spcPts val="1800"/>
              </a:lnSpc>
            </a:pPr>
            <a:r>
              <a:rPr lang="zh-CN" altLang="en-US" sz="1200" b="0" dirty="0">
                <a:solidFill>
                  <a:srgbClr val="000000"/>
                </a:solidFill>
                <a:effectLst/>
                <a:latin typeface="ui-sans-serif"/>
              </a:rPr>
              <a:t>扫描设备（</a:t>
            </a:r>
            <a:r>
              <a:rPr lang="en-US" altLang="zh-CN" sz="1200" b="0" dirty="0">
                <a:solidFill>
                  <a:srgbClr val="000000"/>
                </a:solidFill>
                <a:effectLst/>
                <a:latin typeface="ui-sans-serif"/>
              </a:rPr>
              <a:t>Scanner</a:t>
            </a:r>
            <a:r>
              <a:rPr lang="zh-CN" altLang="en-US" sz="1200" b="0" dirty="0">
                <a:solidFill>
                  <a:srgbClr val="000000"/>
                </a:solidFill>
                <a:effectLst/>
                <a:latin typeface="ui-sans-serif"/>
              </a:rPr>
              <a:t>）监听广告频道，支持两种扫描类型：</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被动扫描（</a:t>
            </a:r>
            <a:r>
              <a:rPr lang="en-US" altLang="zh-CN" sz="1200" b="0" dirty="0">
                <a:solidFill>
                  <a:srgbClr val="000000"/>
                </a:solidFill>
                <a:effectLst/>
                <a:latin typeface="ui-sans-serif"/>
              </a:rPr>
              <a:t>Passive Scanning</a:t>
            </a:r>
            <a:r>
              <a:rPr lang="zh-CN" altLang="en-US" sz="1200" b="0" dirty="0">
                <a:solidFill>
                  <a:srgbClr val="000000"/>
                </a:solidFill>
                <a:effectLst/>
                <a:latin typeface="ui-sans-serif"/>
              </a:rPr>
              <a:t>）：仅接收广告包，不发送请求，功耗最低（如传感器网关）；</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主动扫描（</a:t>
            </a:r>
            <a:r>
              <a:rPr lang="en-US" altLang="zh-CN" sz="1200" b="0" dirty="0">
                <a:solidFill>
                  <a:srgbClr val="000000"/>
                </a:solidFill>
                <a:effectLst/>
                <a:latin typeface="ui-sans-serif"/>
              </a:rPr>
              <a:t>Active Scanning</a:t>
            </a:r>
            <a:r>
              <a:rPr lang="zh-CN" altLang="en-US" sz="1200" b="0" dirty="0">
                <a:solidFill>
                  <a:srgbClr val="000000"/>
                </a:solidFill>
                <a:effectLst/>
                <a:latin typeface="ui-sans-serif"/>
              </a:rPr>
              <a:t>）：接收广告包后发送 </a:t>
            </a:r>
            <a:r>
              <a:rPr lang="en-US" altLang="zh-CN" sz="1200" b="0" dirty="0">
                <a:solidFill>
                  <a:srgbClr val="000000"/>
                </a:solidFill>
                <a:effectLst/>
                <a:latin typeface="ui-sans-serif"/>
              </a:rPr>
              <a:t>Scan Request</a:t>
            </a:r>
            <a:r>
              <a:rPr lang="zh-CN" altLang="en-US" sz="1200" b="0" dirty="0">
                <a:solidFill>
                  <a:srgbClr val="000000"/>
                </a:solidFill>
                <a:effectLst/>
                <a:latin typeface="ui-sans-serif"/>
              </a:rPr>
              <a:t>，获取更多设备信息（如设备名称），适合需要筛选的场景）。</a:t>
            </a:r>
          </a:p>
          <a:p>
            <a:pPr algn="l">
              <a:lnSpc>
                <a:spcPts val="1800"/>
              </a:lnSpc>
              <a:buNone/>
            </a:pPr>
            <a:r>
              <a:rPr lang="en-US" altLang="zh-CN" sz="1200" b="0" dirty="0">
                <a:solidFill>
                  <a:srgbClr val="000000"/>
                </a:solidFill>
                <a:effectLst/>
                <a:latin typeface="ui-sans-serif"/>
              </a:rPr>
              <a:t>2. LE </a:t>
            </a:r>
            <a:r>
              <a:rPr lang="zh-CN" altLang="en-US" sz="1200" b="0" dirty="0">
                <a:solidFill>
                  <a:srgbClr val="000000"/>
                </a:solidFill>
                <a:effectLst/>
                <a:latin typeface="ui-sans-serif"/>
              </a:rPr>
              <a:t>连接管理</a:t>
            </a:r>
          </a:p>
          <a:p>
            <a:pPr algn="l">
              <a:lnSpc>
                <a:spcPts val="1800"/>
              </a:lnSpc>
              <a:buFont typeface="Arial" panose="020B0604020202020204" pitchFamily="34" charset="0"/>
              <a:buChar char="•"/>
            </a:pPr>
            <a:r>
              <a:rPr lang="zh-CN" altLang="en-US" sz="1200" b="1" dirty="0">
                <a:solidFill>
                  <a:srgbClr val="000000"/>
                </a:solidFill>
                <a:effectLst/>
                <a:latin typeface="ui-sans-serif"/>
              </a:rPr>
              <a:t>连接建立流程</a:t>
            </a:r>
            <a:r>
              <a:rPr lang="zh-CN" altLang="en-US" sz="1200" b="0" dirty="0">
                <a:solidFill>
                  <a:srgbClr val="000000"/>
                </a:solidFill>
                <a:effectLst/>
                <a:latin typeface="ui-sans-serif"/>
              </a:rPr>
              <a:t>：</a:t>
            </a:r>
          </a:p>
          <a:p>
            <a:pPr algn="l">
              <a:lnSpc>
                <a:spcPts val="1800"/>
              </a:lnSpc>
            </a:pPr>
            <a:r>
              <a:rPr lang="zh-CN" altLang="en-US" sz="1200" b="0" dirty="0">
                <a:solidFill>
                  <a:srgbClr val="000000"/>
                </a:solidFill>
                <a:effectLst/>
                <a:latin typeface="ui-sans-serif"/>
              </a:rPr>
              <a:t>发起方（</a:t>
            </a:r>
            <a:r>
              <a:rPr lang="en-US" altLang="zh-CN" sz="1200" b="0" dirty="0">
                <a:solidFill>
                  <a:srgbClr val="000000"/>
                </a:solidFill>
                <a:effectLst/>
                <a:latin typeface="ui-sans-serif"/>
              </a:rPr>
              <a:t>Initiator</a:t>
            </a:r>
            <a:r>
              <a:rPr lang="zh-CN" altLang="en-US" sz="1200" b="0" dirty="0">
                <a:solidFill>
                  <a:srgbClr val="000000"/>
                </a:solidFill>
                <a:effectLst/>
                <a:latin typeface="ui-sans-serif"/>
              </a:rPr>
              <a:t>）接收 </a:t>
            </a:r>
            <a:r>
              <a:rPr lang="en-US" altLang="zh-CN" sz="1200" b="0" dirty="0">
                <a:solidFill>
                  <a:srgbClr val="000000"/>
                </a:solidFill>
                <a:effectLst/>
                <a:latin typeface="ui-sans-serif"/>
              </a:rPr>
              <a:t>ADV_IND </a:t>
            </a:r>
            <a:r>
              <a:rPr lang="zh-CN" altLang="en-US" sz="1200" b="0" dirty="0">
                <a:solidFill>
                  <a:srgbClr val="000000"/>
                </a:solidFill>
                <a:effectLst/>
                <a:latin typeface="ui-sans-serif"/>
              </a:rPr>
              <a:t>后，在同一广告频道发送 </a:t>
            </a:r>
            <a:r>
              <a:rPr lang="en-US" altLang="zh-CN" sz="1200" b="0" dirty="0">
                <a:solidFill>
                  <a:srgbClr val="000000"/>
                </a:solidFill>
                <a:effectLst/>
                <a:latin typeface="ui-sans-serif"/>
              </a:rPr>
              <a:t>Connection Request</a:t>
            </a:r>
            <a:r>
              <a:rPr lang="zh-CN" altLang="en-US" sz="1200" b="0" dirty="0">
                <a:solidFill>
                  <a:srgbClr val="000000"/>
                </a:solidFill>
                <a:effectLst/>
                <a:latin typeface="ui-sans-serif"/>
              </a:rPr>
              <a:t>，协商连接参数：</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连接间隔（</a:t>
            </a:r>
            <a:r>
              <a:rPr lang="en-US" altLang="zh-CN" sz="1200" b="0" dirty="0">
                <a:solidFill>
                  <a:srgbClr val="000000"/>
                </a:solidFill>
                <a:effectLst/>
                <a:latin typeface="ui-sans-serif"/>
              </a:rPr>
              <a:t>Connection Interval</a:t>
            </a:r>
            <a:r>
              <a:rPr lang="zh-CN" altLang="en-US" sz="1200" b="0" dirty="0">
                <a:solidFill>
                  <a:srgbClr val="000000"/>
                </a:solidFill>
                <a:effectLst/>
                <a:latin typeface="ui-sans-serif"/>
              </a:rPr>
              <a:t>）：</a:t>
            </a:r>
            <a:r>
              <a:rPr lang="en-US" altLang="zh-CN" sz="1200" b="0" dirty="0">
                <a:solidFill>
                  <a:srgbClr val="000000"/>
                </a:solidFill>
                <a:effectLst/>
                <a:latin typeface="ui-sans-serif"/>
              </a:rPr>
              <a:t>1.25ms~4000ms</a:t>
            </a:r>
            <a:r>
              <a:rPr lang="zh-CN" altLang="en-US" sz="1200" b="0" dirty="0">
                <a:solidFill>
                  <a:srgbClr val="000000"/>
                </a:solidFill>
                <a:effectLst/>
                <a:latin typeface="ui-sans-serif"/>
              </a:rPr>
              <a:t>，间隔越小，响应越快（如游戏手柄需 </a:t>
            </a:r>
            <a:r>
              <a:rPr lang="en-US" altLang="zh-CN" sz="1200" b="0" dirty="0">
                <a:solidFill>
                  <a:srgbClr val="000000"/>
                </a:solidFill>
                <a:effectLst/>
                <a:latin typeface="ui-sans-serif"/>
              </a:rPr>
              <a:t>10ms </a:t>
            </a:r>
            <a:r>
              <a:rPr lang="zh-CN" altLang="en-US" sz="1200" b="0" dirty="0">
                <a:solidFill>
                  <a:srgbClr val="000000"/>
                </a:solidFill>
                <a:effectLst/>
                <a:latin typeface="ui-sans-serif"/>
              </a:rPr>
              <a:t>间隔）；</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从设备延迟（</a:t>
            </a:r>
            <a:r>
              <a:rPr lang="en-US" altLang="zh-CN" sz="1200" b="0" dirty="0">
                <a:solidFill>
                  <a:srgbClr val="000000"/>
                </a:solidFill>
                <a:effectLst/>
                <a:latin typeface="ui-sans-serif"/>
              </a:rPr>
              <a:t>Slave Latency</a:t>
            </a:r>
            <a:r>
              <a:rPr lang="zh-CN" altLang="en-US" sz="1200" b="0" dirty="0">
                <a:solidFill>
                  <a:srgbClr val="000000"/>
                </a:solidFill>
                <a:effectLst/>
                <a:latin typeface="ui-sans-serif"/>
              </a:rPr>
              <a:t>）：</a:t>
            </a:r>
            <a:r>
              <a:rPr lang="en-US" altLang="zh-CN" sz="1200" b="0" dirty="0">
                <a:solidFill>
                  <a:srgbClr val="000000"/>
                </a:solidFill>
                <a:effectLst/>
                <a:latin typeface="ui-sans-serif"/>
              </a:rPr>
              <a:t>Peripheral </a:t>
            </a:r>
            <a:r>
              <a:rPr lang="zh-CN" altLang="en-US" sz="1200" b="0" dirty="0">
                <a:solidFill>
                  <a:srgbClr val="000000"/>
                </a:solidFill>
                <a:effectLst/>
                <a:latin typeface="ui-sans-serif"/>
              </a:rPr>
              <a:t>可跳过的连接事件数（如传感器可跳过 </a:t>
            </a:r>
            <a:r>
              <a:rPr lang="en-US" altLang="zh-CN" sz="1200" b="0" dirty="0">
                <a:solidFill>
                  <a:srgbClr val="000000"/>
                </a:solidFill>
                <a:effectLst/>
                <a:latin typeface="ui-sans-serif"/>
              </a:rPr>
              <a:t>10 </a:t>
            </a:r>
            <a:r>
              <a:rPr lang="zh-CN" altLang="en-US" sz="1200" b="0" dirty="0">
                <a:solidFill>
                  <a:srgbClr val="000000"/>
                </a:solidFill>
                <a:effectLst/>
                <a:latin typeface="ui-sans-serif"/>
              </a:rPr>
              <a:t>次，降低功耗）；</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监督超时（</a:t>
            </a:r>
            <a:r>
              <a:rPr lang="en-US" altLang="zh-CN" sz="1200" b="0" dirty="0">
                <a:solidFill>
                  <a:srgbClr val="000000"/>
                </a:solidFill>
                <a:effectLst/>
                <a:latin typeface="ui-sans-serif"/>
              </a:rPr>
              <a:t>Supervision Timeout</a:t>
            </a:r>
            <a:r>
              <a:rPr lang="zh-CN" altLang="en-US" sz="1200" b="0" dirty="0">
                <a:solidFill>
                  <a:srgbClr val="000000"/>
                </a:solidFill>
                <a:effectLst/>
                <a:latin typeface="ui-sans-serif"/>
              </a:rPr>
              <a:t>）：超过该时间无交互则断开连接（如 </a:t>
            </a:r>
            <a:r>
              <a:rPr lang="en-US" altLang="zh-CN" sz="1200" b="0" dirty="0">
                <a:solidFill>
                  <a:srgbClr val="000000"/>
                </a:solidFill>
                <a:effectLst/>
                <a:latin typeface="ui-sans-serif"/>
              </a:rPr>
              <a:t>4000ms</a:t>
            </a:r>
            <a:r>
              <a:rPr lang="zh-CN" altLang="en-US" sz="1200" b="0" dirty="0">
                <a:solidFill>
                  <a:srgbClr val="000000"/>
                </a:solidFill>
                <a:effectLst/>
                <a:latin typeface="ui-sans-serif"/>
              </a:rPr>
              <a:t>，避免无效连接占用资源）。</a:t>
            </a:r>
          </a:p>
        </p:txBody>
      </p:sp>
    </p:spTree>
    <p:extLst>
      <p:ext uri="{BB962C8B-B14F-4D97-AF65-F5344CB8AC3E}">
        <p14:creationId xmlns:p14="http://schemas.microsoft.com/office/powerpoint/2010/main" val="3325178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719920-D1D2-8A02-F83D-4D60C4F1FE97}"/>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的连接建立流程</a:t>
            </a:r>
            <a:endParaRPr lang="en-US" altLang="zh-TW" sz="2400" b="1" spc="-38" dirty="0">
              <a:solidFill>
                <a:srgbClr val="DFC27B"/>
              </a:solidFill>
              <a:latin typeface="Calibri" panose="020F0502020204030204" pitchFamily="34" charset="0"/>
              <a:cs typeface="Calibri" panose="020F0502020204030204" pitchFamily="34" charset="0"/>
            </a:endParaRPr>
          </a:p>
        </p:txBody>
      </p:sp>
      <p:pic>
        <p:nvPicPr>
          <p:cNvPr id="4" name="图片 3" descr="图表, 箱线图&#10;&#10;AI 生成的内容可能不正确。">
            <a:extLst>
              <a:ext uri="{FF2B5EF4-FFF2-40B4-BE49-F238E27FC236}">
                <a16:creationId xmlns:a16="http://schemas.microsoft.com/office/drawing/2014/main" id="{652AC148-E593-8427-0CDE-9C6CDBE7FE76}"/>
              </a:ext>
            </a:extLst>
          </p:cNvPr>
          <p:cNvPicPr>
            <a:picLocks noChangeAspect="1"/>
          </p:cNvPicPr>
          <p:nvPr/>
        </p:nvPicPr>
        <p:blipFill>
          <a:blip r:embed="rId2"/>
          <a:stretch>
            <a:fillRect/>
          </a:stretch>
        </p:blipFill>
        <p:spPr>
          <a:xfrm>
            <a:off x="175835" y="2520709"/>
            <a:ext cx="3940132" cy="2169217"/>
          </a:xfrm>
          <a:prstGeom prst="rect">
            <a:avLst/>
          </a:prstGeom>
        </p:spPr>
      </p:pic>
      <p:sp>
        <p:nvSpPr>
          <p:cNvPr id="7" name="文本框 6">
            <a:extLst>
              <a:ext uri="{FF2B5EF4-FFF2-40B4-BE49-F238E27FC236}">
                <a16:creationId xmlns:a16="http://schemas.microsoft.com/office/drawing/2014/main" id="{A45016B9-7214-E376-66D9-F8F36FA398B9}"/>
              </a:ext>
            </a:extLst>
          </p:cNvPr>
          <p:cNvSpPr txBox="1"/>
          <p:nvPr/>
        </p:nvSpPr>
        <p:spPr>
          <a:xfrm>
            <a:off x="215591" y="578213"/>
            <a:ext cx="8745530" cy="461665"/>
          </a:xfrm>
          <a:prstGeom prst="rect">
            <a:avLst/>
          </a:prstGeom>
          <a:noFill/>
        </p:spPr>
        <p:txBody>
          <a:bodyPr wrap="square">
            <a:spAutoFit/>
          </a:bodyPr>
          <a:lstStyle/>
          <a:p>
            <a:r>
              <a:rPr lang="zh-CN" altLang="en-US" sz="1200" dirty="0"/>
              <a:t>连接事件的时序由以下参数决定：连接间隔（</a:t>
            </a:r>
            <a:r>
              <a:rPr lang="en-US" altLang="zh-CN" sz="1200" dirty="0" err="1"/>
              <a:t>connInterval</a:t>
            </a:r>
            <a:r>
              <a:rPr lang="zh-CN" altLang="en-US" sz="1200" dirty="0"/>
              <a:t>）、子速率基准事件（</a:t>
            </a:r>
            <a:r>
              <a:rPr lang="en-US" altLang="zh-CN" sz="1200" dirty="0" err="1"/>
              <a:t>connSubrateBaseEvent</a:t>
            </a:r>
            <a:r>
              <a:rPr lang="zh-CN" altLang="en-US" sz="1200" dirty="0"/>
              <a:t>）、子速率因子（</a:t>
            </a:r>
            <a:r>
              <a:rPr lang="en-US" altLang="zh-CN" sz="1200" dirty="0" err="1"/>
              <a:t>connSubrateFactor</a:t>
            </a:r>
            <a:r>
              <a:rPr lang="zh-CN" altLang="en-US" sz="1200" dirty="0"/>
              <a:t>）、续传次数（</a:t>
            </a:r>
            <a:r>
              <a:rPr lang="en-US" altLang="zh-CN" sz="1200" dirty="0" err="1"/>
              <a:t>connContinuationNumber</a:t>
            </a:r>
            <a:r>
              <a:rPr lang="zh-CN" altLang="en-US" sz="1200" dirty="0"/>
              <a:t>），以及外围设备延迟（</a:t>
            </a:r>
            <a:r>
              <a:rPr lang="en-US" altLang="zh-CN" sz="1200" dirty="0" err="1"/>
              <a:t>connPeripheralLatency</a:t>
            </a:r>
            <a:r>
              <a:rPr lang="zh-CN" altLang="en-US" sz="1200" dirty="0"/>
              <a:t>）。</a:t>
            </a:r>
          </a:p>
        </p:txBody>
      </p:sp>
      <p:sp>
        <p:nvSpPr>
          <p:cNvPr id="9" name="文本框 8">
            <a:extLst>
              <a:ext uri="{FF2B5EF4-FFF2-40B4-BE49-F238E27FC236}">
                <a16:creationId xmlns:a16="http://schemas.microsoft.com/office/drawing/2014/main" id="{59E80AC8-EF98-0B53-A679-43220EA44412}"/>
              </a:ext>
            </a:extLst>
          </p:cNvPr>
          <p:cNvSpPr txBox="1"/>
          <p:nvPr/>
        </p:nvSpPr>
        <p:spPr>
          <a:xfrm>
            <a:off x="215591" y="1180129"/>
            <a:ext cx="8745530" cy="1384995"/>
          </a:xfrm>
          <a:prstGeom prst="rect">
            <a:avLst/>
          </a:prstGeom>
          <a:noFill/>
        </p:spPr>
        <p:txBody>
          <a:bodyPr wrap="square">
            <a:spAutoFit/>
          </a:bodyPr>
          <a:lstStyle/>
          <a:p>
            <a:r>
              <a:rPr lang="zh-CN" altLang="en-US" sz="1200" dirty="0"/>
              <a:t>图 </a:t>
            </a:r>
            <a:r>
              <a:rPr lang="en-US" altLang="zh-CN" sz="1200" dirty="0"/>
              <a:t>4.40 </a:t>
            </a:r>
            <a:r>
              <a:rPr lang="zh-CN" altLang="en-US" sz="1200" dirty="0"/>
              <a:t>和图 </a:t>
            </a:r>
            <a:r>
              <a:rPr lang="en-US" altLang="zh-CN" sz="1200" dirty="0"/>
              <a:t>4.41 </a:t>
            </a:r>
            <a:r>
              <a:rPr lang="zh-CN" altLang="en-US" sz="1200" dirty="0"/>
              <a:t>展示了子速率基准事件如何影响哪些事件是子速率连接事件，图 </a:t>
            </a:r>
            <a:r>
              <a:rPr lang="en-US" altLang="zh-CN" sz="1200" dirty="0"/>
              <a:t>4.42 </a:t>
            </a:r>
            <a:r>
              <a:rPr lang="zh-CN" altLang="en-US" sz="1200" dirty="0"/>
              <a:t>至图 </a:t>
            </a:r>
            <a:r>
              <a:rPr lang="en-US" altLang="zh-CN" sz="1200" dirty="0"/>
              <a:t>4.44 </a:t>
            </a:r>
            <a:r>
              <a:rPr lang="zh-CN" altLang="en-US" sz="1200" dirty="0"/>
              <a:t>展示了不同</a:t>
            </a:r>
            <a:r>
              <a:rPr lang="en-US" altLang="zh-CN" sz="1200" dirty="0" err="1"/>
              <a:t>connSubrateFactor</a:t>
            </a:r>
            <a:r>
              <a:rPr lang="zh-CN" altLang="en-US" sz="1200" dirty="0"/>
              <a:t>、</a:t>
            </a:r>
            <a:r>
              <a:rPr lang="en-US" altLang="zh-CN" sz="1200" dirty="0" err="1"/>
              <a:t>connPeripheralLatency</a:t>
            </a:r>
            <a:r>
              <a:rPr lang="en-US" altLang="zh-CN" sz="1200" dirty="0"/>
              <a:t> </a:t>
            </a:r>
            <a:r>
              <a:rPr lang="zh-CN" altLang="en-US" sz="1200" dirty="0"/>
              <a:t>和 </a:t>
            </a:r>
            <a:r>
              <a:rPr lang="en-US" altLang="zh-CN" sz="1200" dirty="0" err="1"/>
              <a:t>connContinuationNumber</a:t>
            </a:r>
            <a:r>
              <a:rPr lang="en-US" altLang="zh-CN" sz="1200" dirty="0"/>
              <a:t> </a:t>
            </a:r>
            <a:r>
              <a:rPr lang="zh-CN" altLang="en-US" sz="1200" dirty="0"/>
              <a:t>值对应的连接事件使用方式。图中，</a:t>
            </a:r>
            <a:r>
              <a:rPr lang="en-US" altLang="zh-CN" sz="1200" dirty="0"/>
              <a:t>S </a:t>
            </a:r>
            <a:r>
              <a:rPr lang="zh-CN" altLang="en-US" sz="1200" dirty="0"/>
              <a:t>表示子速率事件，</a:t>
            </a:r>
            <a:r>
              <a:rPr lang="en-US" altLang="zh-CN" sz="1200" dirty="0"/>
              <a:t>C </a:t>
            </a:r>
            <a:r>
              <a:rPr lang="zh-CN" altLang="en-US" sz="1200" dirty="0"/>
              <a:t>表示续传事件，</a:t>
            </a:r>
            <a:r>
              <a:rPr lang="en-US" altLang="zh-CN" sz="1200" dirty="0"/>
              <a:t>L </a:t>
            </a:r>
            <a:r>
              <a:rPr lang="zh-CN" altLang="en-US" sz="1200" dirty="0"/>
              <a:t>表示应用了外围设备延迟的子速率事件。在图 </a:t>
            </a:r>
            <a:r>
              <a:rPr lang="en-US" altLang="zh-CN" sz="1200" dirty="0"/>
              <a:t>4.43 </a:t>
            </a:r>
            <a:r>
              <a:rPr lang="zh-CN" altLang="en-US" sz="1200" dirty="0"/>
              <a:t>中，数据由外围设备而非中央设备传输</a:t>
            </a:r>
            <a:endParaRPr lang="en-US" altLang="zh-CN" sz="1200" dirty="0"/>
          </a:p>
          <a:p>
            <a:endParaRPr lang="en-US" altLang="zh-CN" sz="1200" dirty="0"/>
          </a:p>
          <a:p>
            <a:r>
              <a:rPr lang="zh-CN" altLang="en-US" sz="1200" dirty="0"/>
              <a:t>外围设备延迟也允许外围设备减少连接事件的数量，若 </a:t>
            </a:r>
            <a:r>
              <a:rPr lang="en-US" altLang="zh-CN" sz="1200" dirty="0" err="1"/>
              <a:t>connSubrateFactor</a:t>
            </a:r>
            <a:r>
              <a:rPr lang="en-US" altLang="zh-CN" sz="1200" dirty="0"/>
              <a:t> </a:t>
            </a:r>
            <a:r>
              <a:rPr lang="zh-CN" altLang="en-US" sz="1200" dirty="0"/>
              <a:t>为 </a:t>
            </a:r>
            <a:r>
              <a:rPr lang="en-US" altLang="zh-CN" sz="1200" dirty="0"/>
              <a:t>3</a:t>
            </a:r>
            <a:r>
              <a:rPr lang="zh-CN" altLang="en-US" sz="1200" dirty="0"/>
              <a:t>、</a:t>
            </a:r>
            <a:r>
              <a:rPr lang="en-US" altLang="zh-CN" sz="1200" dirty="0" err="1"/>
              <a:t>connContinuationNumber</a:t>
            </a:r>
            <a:r>
              <a:rPr lang="en-US" altLang="zh-CN" sz="1200" dirty="0"/>
              <a:t> </a:t>
            </a:r>
            <a:r>
              <a:rPr lang="zh-CN" altLang="en-US" sz="1200" dirty="0"/>
              <a:t>为 </a:t>
            </a:r>
            <a:r>
              <a:rPr lang="en-US" altLang="zh-CN" sz="1200" dirty="0"/>
              <a:t>0</a:t>
            </a:r>
            <a:r>
              <a:rPr lang="zh-CN" altLang="en-US" sz="1200" dirty="0"/>
              <a:t>、</a:t>
            </a:r>
            <a:r>
              <a:rPr lang="en-US" altLang="zh-CN" sz="1200" dirty="0" err="1"/>
              <a:t>connPeripheralLatency</a:t>
            </a:r>
            <a:r>
              <a:rPr lang="en-US" altLang="zh-CN" sz="1200" dirty="0"/>
              <a:t> </a:t>
            </a:r>
            <a:r>
              <a:rPr lang="zh-CN" altLang="en-US" sz="1200" dirty="0"/>
              <a:t>为 </a:t>
            </a:r>
            <a:r>
              <a:rPr lang="en-US" altLang="zh-CN" sz="1200" dirty="0"/>
              <a:t>6</a:t>
            </a:r>
            <a:r>
              <a:rPr lang="zh-CN" altLang="en-US" sz="1200" dirty="0"/>
              <a:t>，则外围设备的实现可选择仅监听每第 </a:t>
            </a:r>
            <a:r>
              <a:rPr lang="en-US" altLang="zh-CN" sz="1200" dirty="0"/>
              <a:t>21 </a:t>
            </a:r>
            <a:r>
              <a:rPr lang="zh-CN" altLang="en-US" sz="1200" dirty="0"/>
              <a:t>个连接事件（即每第 </a:t>
            </a:r>
            <a:r>
              <a:rPr lang="en-US" altLang="zh-CN" sz="1200" dirty="0"/>
              <a:t>7 </a:t>
            </a:r>
            <a:r>
              <a:rPr lang="zh-CN" altLang="en-US" sz="1200" dirty="0"/>
              <a:t>个子速率连接事件），所以子速率因子数 </a:t>
            </a:r>
            <a:r>
              <a:rPr lang="en-US" altLang="zh-CN" sz="1200" dirty="0"/>
              <a:t>x </a:t>
            </a:r>
            <a:r>
              <a:rPr lang="zh-CN" altLang="en-US" sz="1200" dirty="0"/>
              <a:t>（外围设备延迟</a:t>
            </a:r>
            <a:r>
              <a:rPr lang="en-US" altLang="zh-CN" sz="1200" dirty="0"/>
              <a:t>+1</a:t>
            </a:r>
            <a:r>
              <a:rPr lang="zh-CN" altLang="en-US" sz="1200" dirty="0"/>
              <a:t>）就是外围设备每次连接跳过的事件数</a:t>
            </a:r>
          </a:p>
        </p:txBody>
      </p:sp>
      <p:pic>
        <p:nvPicPr>
          <p:cNvPr id="11" name="图片 10" descr="图示&#10;&#10;AI 生成的内容可能不正确。">
            <a:extLst>
              <a:ext uri="{FF2B5EF4-FFF2-40B4-BE49-F238E27FC236}">
                <a16:creationId xmlns:a16="http://schemas.microsoft.com/office/drawing/2014/main" id="{165972E0-B430-4F71-E2E9-1D710078DC8D}"/>
              </a:ext>
            </a:extLst>
          </p:cNvPr>
          <p:cNvPicPr>
            <a:picLocks noChangeAspect="1"/>
          </p:cNvPicPr>
          <p:nvPr/>
        </p:nvPicPr>
        <p:blipFill>
          <a:blip r:embed="rId3"/>
          <a:stretch>
            <a:fillRect/>
          </a:stretch>
        </p:blipFill>
        <p:spPr>
          <a:xfrm>
            <a:off x="4572000" y="2520709"/>
            <a:ext cx="3958857" cy="2335696"/>
          </a:xfrm>
          <a:prstGeom prst="rect">
            <a:avLst/>
          </a:prstGeom>
        </p:spPr>
      </p:pic>
    </p:spTree>
    <p:extLst>
      <p:ext uri="{BB962C8B-B14F-4D97-AF65-F5344CB8AC3E}">
        <p14:creationId xmlns:p14="http://schemas.microsoft.com/office/powerpoint/2010/main" val="369142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8D7FD-5CC3-C8F4-9672-42BD59C06D9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3DD864A4-8EA0-CFE0-6722-E1A46BA63DAA}"/>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en-US" altLang="zh-CN" sz="2400" dirty="0"/>
              <a:t> </a:t>
            </a:r>
            <a:r>
              <a:rPr lang="en-US" altLang="zh-CN" sz="2400" b="1" spc="-38" dirty="0">
                <a:solidFill>
                  <a:srgbClr val="DFC27B"/>
                </a:solidFill>
                <a:latin typeface="Calibri" panose="020F0502020204030204" pitchFamily="34" charset="0"/>
                <a:cs typeface="Calibri" panose="020F0502020204030204" pitchFamily="34" charset="0"/>
              </a:rPr>
              <a:t>LE </a:t>
            </a:r>
            <a:r>
              <a:rPr lang="zh-CN" altLang="en-US" sz="2400" b="1" spc="-38" dirty="0">
                <a:solidFill>
                  <a:srgbClr val="DFC27B"/>
                </a:solidFill>
                <a:latin typeface="Calibri" panose="020F0502020204030204" pitchFamily="34" charset="0"/>
                <a:cs typeface="Calibri" panose="020F0502020204030204" pitchFamily="34" charset="0"/>
              </a:rPr>
              <a:t>物理传输的 </a:t>
            </a:r>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功能</a:t>
            </a:r>
            <a:endParaRPr lang="en-US" altLang="zh-TW" sz="2400" b="1" spc="-38" dirty="0">
              <a:solidFill>
                <a:srgbClr val="DFC27B"/>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031FDBFE-7825-13BC-440B-B05431D865AD}"/>
              </a:ext>
            </a:extLst>
          </p:cNvPr>
          <p:cNvSpPr txBox="1"/>
          <p:nvPr/>
        </p:nvSpPr>
        <p:spPr>
          <a:xfrm>
            <a:off x="215591" y="915065"/>
            <a:ext cx="8712818" cy="3534750"/>
          </a:xfrm>
          <a:prstGeom prst="rect">
            <a:avLst/>
          </a:prstGeom>
          <a:noFill/>
        </p:spPr>
        <p:txBody>
          <a:bodyPr wrap="square">
            <a:spAutoFit/>
          </a:bodyPr>
          <a:lstStyle/>
          <a:p>
            <a:pPr algn="l">
              <a:lnSpc>
                <a:spcPts val="1800"/>
              </a:lnSpc>
              <a:buNone/>
            </a:pPr>
            <a:r>
              <a:rPr lang="en-US" altLang="zh-CN" sz="1200" b="0" dirty="0">
                <a:solidFill>
                  <a:srgbClr val="000000"/>
                </a:solidFill>
                <a:effectLst/>
                <a:latin typeface="ui-sans-serif"/>
              </a:rPr>
              <a:t>3. </a:t>
            </a:r>
            <a:r>
              <a:rPr lang="zh-CN" altLang="en-US" sz="1200" b="0" dirty="0">
                <a:solidFill>
                  <a:srgbClr val="000000"/>
                </a:solidFill>
                <a:effectLst/>
                <a:latin typeface="ui-sans-serif"/>
              </a:rPr>
              <a:t>周期性广播（</a:t>
            </a:r>
            <a:r>
              <a:rPr lang="en-US" altLang="zh-CN" sz="1200" b="0" dirty="0">
                <a:solidFill>
                  <a:srgbClr val="000000"/>
                </a:solidFill>
                <a:effectLst/>
                <a:latin typeface="ui-sans-serif"/>
              </a:rPr>
              <a:t>Periodic Advertising</a:t>
            </a:r>
            <a:r>
              <a:rPr lang="zh-CN" altLang="en-US" sz="1200" b="0" dirty="0">
                <a:solidFill>
                  <a:srgbClr val="000000"/>
                </a:solidFill>
                <a:effectLst/>
                <a:latin typeface="ui-sans-serif"/>
              </a:rPr>
              <a:t>）</a:t>
            </a:r>
          </a:p>
          <a:p>
            <a:pPr algn="l">
              <a:lnSpc>
                <a:spcPts val="1800"/>
              </a:lnSpc>
              <a:buNone/>
            </a:pPr>
            <a:r>
              <a:rPr lang="en-US" altLang="zh-CN" sz="1200" b="0" dirty="0">
                <a:solidFill>
                  <a:srgbClr val="000000"/>
                </a:solidFill>
                <a:effectLst/>
                <a:latin typeface="ui-sans-serif"/>
              </a:rPr>
              <a:t>Bluetooth 5.0+ </a:t>
            </a:r>
            <a:r>
              <a:rPr lang="zh-CN" altLang="en-US" sz="1200" b="0" dirty="0">
                <a:solidFill>
                  <a:srgbClr val="000000"/>
                </a:solidFill>
                <a:effectLst/>
                <a:latin typeface="ui-sans-serif"/>
              </a:rPr>
              <a:t>新增功能，</a:t>
            </a:r>
            <a:r>
              <a:rPr lang="en-US" altLang="zh-CN" sz="1200" b="0" dirty="0">
                <a:solidFill>
                  <a:srgbClr val="000000"/>
                </a:solidFill>
                <a:effectLst/>
                <a:latin typeface="ui-sans-serif"/>
              </a:rPr>
              <a:t>GAP </a:t>
            </a:r>
            <a:r>
              <a:rPr lang="zh-CN" altLang="en-US" sz="1200" b="0" dirty="0">
                <a:solidFill>
                  <a:srgbClr val="000000"/>
                </a:solidFill>
                <a:effectLst/>
                <a:latin typeface="ui-sans-serif"/>
              </a:rPr>
              <a:t>在 </a:t>
            </a:r>
            <a:r>
              <a:rPr lang="en-US" altLang="zh-CN" sz="1200" b="0" dirty="0">
                <a:solidFill>
                  <a:srgbClr val="000000"/>
                </a:solidFill>
                <a:effectLst/>
                <a:latin typeface="ui-sans-serif"/>
              </a:rPr>
              <a:t>v5.4 </a:t>
            </a:r>
            <a:r>
              <a:rPr lang="zh-CN" altLang="en-US" sz="1200" b="0" dirty="0">
                <a:solidFill>
                  <a:srgbClr val="000000"/>
                </a:solidFill>
                <a:effectLst/>
                <a:latin typeface="ui-sans-serif"/>
              </a:rPr>
              <a:t>中进一步优化，适合低功耗、周期性数据传输（如心率监测）：</a:t>
            </a:r>
          </a:p>
          <a:p>
            <a:pPr algn="l">
              <a:lnSpc>
                <a:spcPts val="1800"/>
              </a:lnSpc>
            </a:pPr>
            <a:r>
              <a:rPr lang="zh-CN" altLang="en-US" sz="1200" b="1" dirty="0">
                <a:solidFill>
                  <a:srgbClr val="000000"/>
                </a:solidFill>
                <a:effectLst/>
                <a:latin typeface="ui-sans-serif"/>
              </a:rPr>
              <a:t>周期性广播模式</a:t>
            </a:r>
            <a:r>
              <a:rPr lang="zh-CN" altLang="en-US" sz="1200" b="0" dirty="0">
                <a:solidFill>
                  <a:srgbClr val="000000"/>
                </a:solidFill>
                <a:effectLst/>
                <a:latin typeface="ui-sans-serif"/>
              </a:rPr>
              <a:t>：</a:t>
            </a:r>
          </a:p>
          <a:p>
            <a:pPr marL="171450" indent="-171450" algn="l">
              <a:lnSpc>
                <a:spcPts val="1800"/>
              </a:lnSpc>
              <a:buFont typeface="Arial" panose="020B0604020202020204" pitchFamily="34" charset="0"/>
              <a:buChar char="•"/>
            </a:pPr>
            <a:r>
              <a:rPr lang="en-US" altLang="zh-CN" sz="1200" b="0" dirty="0">
                <a:solidFill>
                  <a:srgbClr val="000000"/>
                </a:solidFill>
                <a:effectLst/>
                <a:latin typeface="ui-sans-serif"/>
              </a:rPr>
              <a:t>Advertiser </a:t>
            </a:r>
            <a:r>
              <a:rPr lang="zh-CN" altLang="en-US" sz="1200" b="0" dirty="0">
                <a:solidFill>
                  <a:srgbClr val="000000"/>
                </a:solidFill>
                <a:effectLst/>
                <a:latin typeface="ui-sans-serif"/>
              </a:rPr>
              <a:t>发送周期性广告同步信息（如间隔 </a:t>
            </a:r>
            <a:r>
              <a:rPr lang="en-US" altLang="zh-CN" sz="1200" b="0" dirty="0">
                <a:solidFill>
                  <a:srgbClr val="000000"/>
                </a:solidFill>
                <a:effectLst/>
                <a:latin typeface="ui-sans-serif"/>
              </a:rPr>
              <a:t>100ms</a:t>
            </a:r>
            <a:r>
              <a:rPr lang="zh-CN" altLang="en-US" sz="1200" b="0" dirty="0">
                <a:solidFill>
                  <a:srgbClr val="000000"/>
                </a:solidFill>
                <a:effectLst/>
                <a:latin typeface="ui-sans-serif"/>
              </a:rPr>
              <a:t>），</a:t>
            </a:r>
            <a:r>
              <a:rPr lang="en-US" altLang="zh-CN" sz="1200" b="0" dirty="0">
                <a:solidFill>
                  <a:srgbClr val="000000"/>
                </a:solidFill>
                <a:effectLst/>
                <a:latin typeface="ui-sans-serif"/>
              </a:rPr>
              <a:t>Scanner </a:t>
            </a:r>
            <a:r>
              <a:rPr lang="zh-CN" altLang="en-US" sz="1200" b="0" dirty="0">
                <a:solidFill>
                  <a:srgbClr val="000000"/>
                </a:solidFill>
                <a:effectLst/>
                <a:latin typeface="ui-sans-serif"/>
              </a:rPr>
              <a:t>同步后仅在预设时间接收数据，无需持续扫描；</a:t>
            </a:r>
          </a:p>
          <a:p>
            <a:pPr algn="l">
              <a:lnSpc>
                <a:spcPts val="1800"/>
              </a:lnSpc>
            </a:pPr>
            <a:r>
              <a:rPr lang="zh-CN" altLang="en-US" sz="1200" b="1" dirty="0">
                <a:solidFill>
                  <a:srgbClr val="000000"/>
                </a:solidFill>
                <a:effectLst/>
                <a:latin typeface="ui-sans-serif"/>
              </a:rPr>
              <a:t>同步转移（</a:t>
            </a:r>
            <a:r>
              <a:rPr lang="en-US" altLang="zh-CN" sz="1200" b="1" dirty="0">
                <a:solidFill>
                  <a:srgbClr val="000000"/>
                </a:solidFill>
                <a:effectLst/>
                <a:latin typeface="ui-sans-serif"/>
              </a:rPr>
              <a:t>Periodic Advertising Sync Transfer</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已同步的 </a:t>
            </a:r>
            <a:r>
              <a:rPr lang="en-US" altLang="zh-CN" sz="1200" b="0" dirty="0">
                <a:solidFill>
                  <a:srgbClr val="000000"/>
                </a:solidFill>
                <a:effectLst/>
                <a:latin typeface="ui-sans-serif"/>
              </a:rPr>
              <a:t>Scanner </a:t>
            </a:r>
            <a:r>
              <a:rPr lang="zh-CN" altLang="en-US" sz="1200" b="0" dirty="0">
                <a:solidFill>
                  <a:srgbClr val="000000"/>
                </a:solidFill>
                <a:effectLst/>
                <a:latin typeface="ui-sans-serif"/>
              </a:rPr>
              <a:t>可将同步信息传递给其他设备（如手机将耳机的周期性广播同步信息传递给平板），支持多设备无缝切换；</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主设备或从设备的链路层均可发起本流程，发起时需发送</a:t>
            </a:r>
            <a:r>
              <a:rPr lang="en-US" altLang="zh-CN" sz="1200" b="0" dirty="0">
                <a:solidFill>
                  <a:srgbClr val="000000"/>
                </a:solidFill>
                <a:effectLst/>
                <a:latin typeface="ui-sans-serif"/>
              </a:rPr>
              <a:t>LL_PERIODIC_SYNC_IND</a:t>
            </a:r>
            <a:r>
              <a:rPr lang="zh-CN" altLang="en-US" sz="1200" b="0" dirty="0">
                <a:solidFill>
                  <a:srgbClr val="000000"/>
                </a:solidFill>
                <a:effectLst/>
                <a:latin typeface="ui-sans-serif"/>
              </a:rPr>
              <a:t>协议数据单元（</a:t>
            </a:r>
            <a:r>
              <a:rPr lang="en-US" altLang="zh-CN" sz="1200" b="0" dirty="0">
                <a:solidFill>
                  <a:srgbClr val="000000"/>
                </a:solidFill>
                <a:effectLst/>
                <a:latin typeface="ui-sans-serif"/>
              </a:rPr>
              <a:t>PDU</a:t>
            </a:r>
            <a:r>
              <a:rPr lang="zh-CN" altLang="en-US" sz="1200" b="0" dirty="0">
                <a:solidFill>
                  <a:srgbClr val="000000"/>
                </a:solidFill>
                <a:effectLst/>
                <a:latin typeface="ui-sans-serif"/>
              </a:rPr>
              <a:t>）或</a:t>
            </a:r>
            <a:r>
              <a:rPr lang="en-US" altLang="zh-CN" sz="1200" b="0" dirty="0">
                <a:solidFill>
                  <a:srgbClr val="000000"/>
                </a:solidFill>
                <a:effectLst/>
                <a:latin typeface="ui-sans-serif"/>
              </a:rPr>
              <a:t>LL_PERIODIC_SYNC_WR_IND</a:t>
            </a:r>
            <a:r>
              <a:rPr lang="zh-CN" altLang="en-US" sz="1200" b="0" dirty="0">
                <a:solidFill>
                  <a:srgbClr val="000000"/>
                </a:solidFill>
                <a:effectLst/>
                <a:latin typeface="ui-sans-serif"/>
              </a:rPr>
              <a:t>协议数据单元（</a:t>
            </a:r>
            <a:r>
              <a:rPr lang="en-US" altLang="zh-CN" sz="1200" b="0" dirty="0">
                <a:solidFill>
                  <a:srgbClr val="000000"/>
                </a:solidFill>
                <a:effectLst/>
                <a:latin typeface="ui-sans-serif"/>
              </a:rPr>
              <a:t>PDU</a:t>
            </a:r>
            <a:r>
              <a:rPr lang="zh-CN" altLang="en-US" sz="1200" b="0" dirty="0">
                <a:solidFill>
                  <a:srgbClr val="000000"/>
                </a:solidFill>
                <a:effectLst/>
                <a:latin typeface="ui-sans-serif"/>
              </a:rPr>
              <a:t>）；</a:t>
            </a:r>
          </a:p>
          <a:p>
            <a:pPr algn="l">
              <a:lnSpc>
                <a:spcPts val="1800"/>
              </a:lnSpc>
            </a:pPr>
            <a:r>
              <a:rPr lang="zh-CN" altLang="en-US" sz="1200" b="1" dirty="0">
                <a:solidFill>
                  <a:srgbClr val="000000"/>
                </a:solidFill>
                <a:effectLst/>
                <a:latin typeface="ui-sans-serif"/>
              </a:rPr>
              <a:t>带响应的周期性广播（</a:t>
            </a:r>
            <a:r>
              <a:rPr lang="en-US" altLang="zh-CN" sz="1200" b="1" dirty="0">
                <a:solidFill>
                  <a:srgbClr val="000000"/>
                </a:solidFill>
                <a:effectLst/>
                <a:latin typeface="ui-sans-serif"/>
              </a:rPr>
              <a:t>Periodic Advertising with Responses</a:t>
            </a:r>
            <a:r>
              <a:rPr lang="zh-CN" altLang="en-US" sz="1200" b="1" dirty="0">
                <a:solidFill>
                  <a:srgbClr val="000000"/>
                </a:solidFill>
                <a:effectLst/>
                <a:latin typeface="ui-sans-serif"/>
              </a:rPr>
              <a:t>，</a:t>
            </a:r>
            <a:r>
              <a:rPr lang="en-US" altLang="zh-CN" sz="1200" b="1" dirty="0" err="1">
                <a:solidFill>
                  <a:srgbClr val="000000"/>
                </a:solidFill>
                <a:effectLst/>
                <a:latin typeface="ui-sans-serif"/>
              </a:rPr>
              <a:t>PAwR</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允许 </a:t>
            </a:r>
            <a:r>
              <a:rPr lang="en-US" altLang="zh-CN" sz="1200" b="0" dirty="0">
                <a:solidFill>
                  <a:srgbClr val="000000"/>
                </a:solidFill>
                <a:effectLst/>
                <a:latin typeface="ui-sans-serif"/>
              </a:rPr>
              <a:t>Scanner </a:t>
            </a:r>
            <a:r>
              <a:rPr lang="zh-CN" altLang="en-US" sz="1200" b="0" dirty="0">
                <a:solidFill>
                  <a:srgbClr val="000000"/>
                </a:solidFill>
                <a:effectLst/>
                <a:latin typeface="ui-sans-serif"/>
              </a:rPr>
              <a:t>在周期性广播中发送响应（如 “请求更新心率采样率”），实现双向低功耗交互，无需建立 </a:t>
            </a:r>
            <a:r>
              <a:rPr lang="en-US" altLang="zh-CN" sz="1200" b="0" dirty="0">
                <a:solidFill>
                  <a:srgbClr val="000000"/>
                </a:solidFill>
                <a:effectLst/>
                <a:latin typeface="ui-sans-serif"/>
              </a:rPr>
              <a:t>ACL </a:t>
            </a:r>
            <a:r>
              <a:rPr lang="zh-CN" altLang="en-US" sz="1200" b="0" dirty="0">
                <a:solidFill>
                  <a:srgbClr val="000000"/>
                </a:solidFill>
                <a:effectLst/>
                <a:latin typeface="ui-sans-serif"/>
              </a:rPr>
              <a:t>连接。</a:t>
            </a:r>
            <a:endParaRPr lang="en-US" altLang="zh-CN" sz="1200" b="0" dirty="0">
              <a:solidFill>
                <a:srgbClr val="000000"/>
              </a:solidFill>
              <a:effectLst/>
              <a:latin typeface="ui-sans-serif"/>
            </a:endParaRPr>
          </a:p>
          <a:p>
            <a:pPr marL="171450" indent="-171450" algn="l">
              <a:lnSpc>
                <a:spcPts val="1800"/>
              </a:lnSpc>
              <a:buFont typeface="Arial" panose="020B0604020202020204" pitchFamily="34" charset="0"/>
              <a:buChar char="•"/>
            </a:pPr>
            <a:r>
              <a:rPr lang="zh-CN" altLang="en-US" sz="1200" b="0" dirty="0">
                <a:solidFill>
                  <a:srgbClr val="000000"/>
                </a:solidFill>
                <a:effectLst/>
                <a:latin typeface="ui-sans-serif"/>
              </a:rPr>
              <a:t>低功耗带响应周期性广播（</a:t>
            </a:r>
            <a:r>
              <a:rPr lang="en-US" altLang="zh-CN" sz="1200" b="0" dirty="0" err="1">
                <a:solidFill>
                  <a:srgbClr val="000000"/>
                </a:solidFill>
                <a:effectLst/>
                <a:latin typeface="ui-sans-serif"/>
              </a:rPr>
              <a:t>PAwR</a:t>
            </a:r>
            <a:r>
              <a:rPr lang="zh-CN" altLang="en-US" sz="1200" b="0" dirty="0">
                <a:solidFill>
                  <a:srgbClr val="000000"/>
                </a:solidFill>
                <a:effectLst/>
                <a:latin typeface="ui-sans-serif"/>
              </a:rPr>
              <a:t>）逻辑传输，依托低功耗周期性物理链路，向指定区域扫描设备传输周期广播控制与用户数据；其将广播划分为多子事件，各子事件可承载定向信息，同步设备仅需低频次监听自身定向信息，适配广播设备向大量设备发数的需求，广播数据可固定或高频更新。</a:t>
            </a:r>
            <a:r>
              <a:rPr lang="en-US" altLang="zh-CN" sz="1200" b="0" dirty="0" err="1">
                <a:solidFill>
                  <a:srgbClr val="000000"/>
                </a:solidFill>
                <a:effectLst/>
                <a:latin typeface="ui-sans-serif"/>
              </a:rPr>
              <a:t>PAwR</a:t>
            </a:r>
            <a:r>
              <a:rPr lang="en-US" altLang="zh-CN" sz="1200" b="0" dirty="0">
                <a:solidFill>
                  <a:srgbClr val="000000"/>
                </a:solidFill>
                <a:effectLst/>
                <a:latin typeface="ui-sans-serif"/>
              </a:rPr>
              <a:t> </a:t>
            </a:r>
            <a:r>
              <a:rPr lang="zh-CN" altLang="en-US" sz="1200" b="0" dirty="0">
                <a:solidFill>
                  <a:srgbClr val="000000"/>
                </a:solidFill>
                <a:effectLst/>
                <a:latin typeface="ui-sans-serif"/>
              </a:rPr>
              <a:t>还设响应时隙，被寻址设备可依高层规范的响应规则回传数据，虽自身无可靠性，但高层可借助响应时隙的确认机制实现数据可靠传输。广播设备启动启用子事件与响应功能的周期广播时即创建该传输，且其由广播设备蓝牙地址、时序参数及广播集唯一标识</a:t>
            </a:r>
            <a:endParaRPr lang="en-US" altLang="zh-CN" sz="1200" b="0" dirty="0">
              <a:solidFill>
                <a:srgbClr val="000000"/>
              </a:solidFill>
              <a:effectLst/>
              <a:latin typeface="ui-sans-serif"/>
            </a:endParaRPr>
          </a:p>
        </p:txBody>
      </p:sp>
    </p:spTree>
    <p:extLst>
      <p:ext uri="{BB962C8B-B14F-4D97-AF65-F5344CB8AC3E}">
        <p14:creationId xmlns:p14="http://schemas.microsoft.com/office/powerpoint/2010/main" val="50369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D5CBB-43DF-F4F9-2CAE-B4D3BFC2859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8172EF6E-B833-2EC0-3D71-94ACF0DB414E}"/>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en-US" altLang="zh-CN" sz="2400" dirty="0"/>
              <a:t> </a:t>
            </a:r>
            <a:r>
              <a:rPr lang="en-US" altLang="zh-CN" sz="2400" b="1" spc="-38" dirty="0">
                <a:solidFill>
                  <a:srgbClr val="DFC27B"/>
                </a:solidFill>
                <a:latin typeface="Calibri" panose="020F0502020204030204" pitchFamily="34" charset="0"/>
                <a:cs typeface="Calibri" panose="020F0502020204030204" pitchFamily="34" charset="0"/>
              </a:rPr>
              <a:t>GAP</a:t>
            </a:r>
            <a:r>
              <a:rPr lang="zh-CN" altLang="en-US" sz="2400" b="1" spc="-38" dirty="0">
                <a:solidFill>
                  <a:srgbClr val="DFC27B"/>
                </a:solidFill>
                <a:latin typeface="Calibri" panose="020F0502020204030204" pitchFamily="34" charset="0"/>
                <a:cs typeface="Calibri" panose="020F0502020204030204" pitchFamily="34" charset="0"/>
              </a:rPr>
              <a:t>广播过程</a:t>
            </a:r>
            <a:endParaRPr lang="en-US" altLang="zh-TW" sz="2400" b="1" spc="-38" dirty="0">
              <a:solidFill>
                <a:srgbClr val="DFC27B"/>
              </a:solidFill>
              <a:latin typeface="Calibri" panose="020F0502020204030204" pitchFamily="34" charset="0"/>
              <a:cs typeface="Calibri" panose="020F0502020204030204" pitchFamily="34" charset="0"/>
            </a:endParaRPr>
          </a:p>
        </p:txBody>
      </p:sp>
      <p:pic>
        <p:nvPicPr>
          <p:cNvPr id="5" name="图片 4" descr="图示, 日程表&#10;&#10;AI 生成的内容可能不正确。">
            <a:extLst>
              <a:ext uri="{FF2B5EF4-FFF2-40B4-BE49-F238E27FC236}">
                <a16:creationId xmlns:a16="http://schemas.microsoft.com/office/drawing/2014/main" id="{0B02D9BE-33BE-926B-213B-27063EA96D13}"/>
              </a:ext>
            </a:extLst>
          </p:cNvPr>
          <p:cNvPicPr>
            <a:picLocks noChangeAspect="1"/>
          </p:cNvPicPr>
          <p:nvPr/>
        </p:nvPicPr>
        <p:blipFill>
          <a:blip r:embed="rId2"/>
          <a:stretch>
            <a:fillRect/>
          </a:stretch>
        </p:blipFill>
        <p:spPr>
          <a:xfrm>
            <a:off x="0" y="1727117"/>
            <a:ext cx="4891758" cy="2949268"/>
          </a:xfrm>
          <a:prstGeom prst="rect">
            <a:avLst/>
          </a:prstGeom>
        </p:spPr>
      </p:pic>
      <p:pic>
        <p:nvPicPr>
          <p:cNvPr id="7" name="图片 6" descr="日程表&#10;&#10;AI 生成的内容可能不正确。">
            <a:extLst>
              <a:ext uri="{FF2B5EF4-FFF2-40B4-BE49-F238E27FC236}">
                <a16:creationId xmlns:a16="http://schemas.microsoft.com/office/drawing/2014/main" id="{00577DC2-3DF2-1194-DC98-F5B9071737C9}"/>
              </a:ext>
            </a:extLst>
          </p:cNvPr>
          <p:cNvPicPr>
            <a:picLocks noChangeAspect="1"/>
          </p:cNvPicPr>
          <p:nvPr/>
        </p:nvPicPr>
        <p:blipFill>
          <a:blip r:embed="rId3"/>
          <a:stretch>
            <a:fillRect/>
          </a:stretch>
        </p:blipFill>
        <p:spPr>
          <a:xfrm>
            <a:off x="4398065" y="1727117"/>
            <a:ext cx="4709314" cy="3058908"/>
          </a:xfrm>
          <a:prstGeom prst="rect">
            <a:avLst/>
          </a:prstGeom>
        </p:spPr>
      </p:pic>
      <p:sp>
        <p:nvSpPr>
          <p:cNvPr id="8" name="文本框 7">
            <a:extLst>
              <a:ext uri="{FF2B5EF4-FFF2-40B4-BE49-F238E27FC236}">
                <a16:creationId xmlns:a16="http://schemas.microsoft.com/office/drawing/2014/main" id="{50914E90-58F5-7452-AD18-AE64E195FB6B}"/>
              </a:ext>
            </a:extLst>
          </p:cNvPr>
          <p:cNvSpPr txBox="1"/>
          <p:nvPr/>
        </p:nvSpPr>
        <p:spPr>
          <a:xfrm>
            <a:off x="215591" y="920786"/>
            <a:ext cx="8092280" cy="646331"/>
          </a:xfrm>
          <a:prstGeom prst="rect">
            <a:avLst/>
          </a:prstGeom>
          <a:noFill/>
        </p:spPr>
        <p:txBody>
          <a:bodyPr wrap="none" rtlCol="0">
            <a:spAutoFit/>
          </a:bodyPr>
          <a:lstStyle/>
          <a:p>
            <a:r>
              <a:rPr lang="zh-CN" altLang="en-US" sz="1200" dirty="0"/>
              <a:t>图</a:t>
            </a:r>
            <a:r>
              <a:rPr lang="en-US" altLang="zh-CN" sz="1200" dirty="0"/>
              <a:t>9.1</a:t>
            </a:r>
            <a:r>
              <a:rPr lang="zh-CN" altLang="en-US" sz="1200" dirty="0"/>
              <a:t>和</a:t>
            </a:r>
            <a:r>
              <a:rPr lang="en-US" altLang="zh-CN" sz="1200" dirty="0"/>
              <a:t>9.2</a:t>
            </a:r>
            <a:r>
              <a:rPr lang="zh-CN" altLang="en-US" sz="1200" dirty="0"/>
              <a:t>分别是中心设备处于有限发现模式和普遍发现模式</a:t>
            </a:r>
            <a:endParaRPr lang="en-US" altLang="zh-CN" sz="1200" dirty="0"/>
          </a:p>
          <a:p>
            <a:r>
              <a:rPr lang="en-US" altLang="zh-CN" sz="1200" dirty="0"/>
              <a:t>9.1</a:t>
            </a:r>
            <a:r>
              <a:rPr lang="zh-CN" altLang="en-US" sz="1200" dirty="0"/>
              <a:t>中执行有限发现流程的设备仅能接收处于有限可发现模式的设备发送的设备地址、广告数据和扫描响应数据</a:t>
            </a:r>
            <a:endParaRPr lang="en-US" altLang="zh-CN" sz="1200" dirty="0"/>
          </a:p>
          <a:p>
            <a:r>
              <a:rPr lang="en-US" altLang="zh-CN" sz="1200" dirty="0"/>
              <a:t>9.2</a:t>
            </a:r>
            <a:r>
              <a:rPr lang="zh-CN" altLang="en-US" sz="1200" dirty="0"/>
              <a:t>执行常规发现流程的设备会接收来自受限可发现模式或常规可发现模式设备的设备地址、广告数据及扫描响应数据</a:t>
            </a:r>
          </a:p>
        </p:txBody>
      </p:sp>
    </p:spTree>
    <p:extLst>
      <p:ext uri="{BB962C8B-B14F-4D97-AF65-F5344CB8AC3E}">
        <p14:creationId xmlns:p14="http://schemas.microsoft.com/office/powerpoint/2010/main" val="468585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FEE98-4B03-83F6-FE7D-8DD0A50FE13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E7EE5AC3-7423-1184-8F26-3FAEF20F31C0}"/>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的安全机制</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B08375A1-9606-E6EE-A665-4EB9E6A6EFC9}"/>
              </a:ext>
            </a:extLst>
          </p:cNvPr>
          <p:cNvSpPr txBox="1"/>
          <p:nvPr/>
        </p:nvSpPr>
        <p:spPr>
          <a:xfrm>
            <a:off x="215591" y="1035207"/>
            <a:ext cx="8778242" cy="3303918"/>
          </a:xfrm>
          <a:prstGeom prst="rect">
            <a:avLst/>
          </a:prstGeom>
          <a:noFill/>
        </p:spPr>
        <p:txBody>
          <a:bodyPr wrap="square">
            <a:spAutoFit/>
          </a:bodyPr>
          <a:lstStyle/>
          <a:p>
            <a:pPr algn="l">
              <a:lnSpc>
                <a:spcPts val="1800"/>
              </a:lnSpc>
              <a:buNone/>
            </a:pPr>
            <a:r>
              <a:rPr lang="en-US" altLang="zh-CN" sz="1200" b="0" dirty="0">
                <a:solidFill>
                  <a:srgbClr val="000000"/>
                </a:solidFill>
                <a:effectLst/>
                <a:latin typeface="ui-sans-serif"/>
              </a:rPr>
              <a:t>GAP </a:t>
            </a:r>
            <a:r>
              <a:rPr lang="zh-CN" altLang="en-US" sz="1200" b="0" dirty="0">
                <a:solidFill>
                  <a:srgbClr val="000000"/>
                </a:solidFill>
                <a:effectLst/>
                <a:latin typeface="ui-sans-serif"/>
              </a:rPr>
              <a:t>是蓝牙安全的 “基础框架”，定义</a:t>
            </a:r>
            <a:r>
              <a:rPr lang="zh-CN" altLang="en-US" sz="1200" b="1" dirty="0">
                <a:solidFill>
                  <a:srgbClr val="000000"/>
                </a:solidFill>
                <a:effectLst/>
                <a:latin typeface="ui-sans-serif"/>
              </a:rPr>
              <a:t>认证、加密、隐私保护</a:t>
            </a:r>
            <a:r>
              <a:rPr lang="zh-CN" altLang="en-US" sz="1200" b="0" dirty="0">
                <a:solidFill>
                  <a:srgbClr val="000000"/>
                </a:solidFill>
                <a:effectLst/>
                <a:latin typeface="ui-sans-serif"/>
              </a:rPr>
              <a:t>三大核心安全能力，后续安全增强（如 </a:t>
            </a:r>
            <a:r>
              <a:rPr lang="en-US" altLang="zh-CN" sz="1200" b="0" dirty="0">
                <a:solidFill>
                  <a:srgbClr val="000000"/>
                </a:solidFill>
                <a:effectLst/>
                <a:latin typeface="ui-sans-serif"/>
              </a:rPr>
              <a:t>SMP</a:t>
            </a:r>
            <a:r>
              <a:rPr lang="zh-CN" altLang="en-US" sz="1200" b="0" dirty="0">
                <a:solidFill>
                  <a:srgbClr val="000000"/>
                </a:solidFill>
                <a:effectLst/>
                <a:latin typeface="ui-sans-serif"/>
              </a:rPr>
              <a:t>、</a:t>
            </a:r>
            <a:r>
              <a:rPr lang="en-US" altLang="zh-CN" sz="1200" b="0" dirty="0">
                <a:solidFill>
                  <a:srgbClr val="000000"/>
                </a:solidFill>
                <a:effectLst/>
                <a:latin typeface="ui-sans-serif"/>
              </a:rPr>
              <a:t>LE Secure Connections</a:t>
            </a:r>
            <a:r>
              <a:rPr lang="zh-CN" altLang="en-US" sz="1200" b="0" dirty="0">
                <a:solidFill>
                  <a:srgbClr val="000000"/>
                </a:solidFill>
                <a:effectLst/>
                <a:latin typeface="ui-sans-serif"/>
              </a:rPr>
              <a:t>）均基于此扩展：</a:t>
            </a:r>
            <a:endParaRPr lang="en-US" altLang="zh-CN" sz="1200" b="0" dirty="0">
              <a:solidFill>
                <a:srgbClr val="000000"/>
              </a:solidFill>
              <a:effectLst/>
              <a:latin typeface="ui-sans-serif"/>
            </a:endParaRPr>
          </a:p>
          <a:p>
            <a:pPr algn="l">
              <a:lnSpc>
                <a:spcPts val="1800"/>
              </a:lnSpc>
              <a:buNone/>
            </a:pPr>
            <a:endParaRPr lang="zh-CN" altLang="en-US" sz="1200" b="0" dirty="0">
              <a:solidFill>
                <a:srgbClr val="000000"/>
              </a:solidFill>
              <a:effectLst/>
              <a:latin typeface="ui-sans-serif"/>
            </a:endParaRPr>
          </a:p>
          <a:p>
            <a:pPr algn="l">
              <a:lnSpc>
                <a:spcPts val="1800"/>
              </a:lnSpc>
              <a:buFont typeface="+mj-lt"/>
              <a:buAutoNum type="arabicPeriod"/>
            </a:pPr>
            <a:r>
              <a:rPr lang="zh-CN" altLang="en-US" sz="1200" b="1" dirty="0">
                <a:solidFill>
                  <a:srgbClr val="000000"/>
                </a:solidFill>
                <a:effectLst/>
                <a:latin typeface="ui-sans-serif"/>
              </a:rPr>
              <a:t>认证（</a:t>
            </a:r>
            <a:r>
              <a:rPr lang="en-US" altLang="zh-CN" sz="1200" b="1" dirty="0">
                <a:solidFill>
                  <a:srgbClr val="000000"/>
                </a:solidFill>
                <a:effectLst/>
                <a:latin typeface="ui-sans-serif"/>
              </a:rPr>
              <a:t>Authentication</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marL="742950" lvl="1" indent="-285750" algn="l">
              <a:lnSpc>
                <a:spcPts val="1800"/>
              </a:lnSpc>
              <a:buFont typeface="+mj-lt"/>
              <a:buAutoNum type="arabicPeriod"/>
            </a:pPr>
            <a:r>
              <a:rPr lang="zh-CN" altLang="en-US" sz="1200" b="0" dirty="0">
                <a:solidFill>
                  <a:srgbClr val="000000"/>
                </a:solidFill>
                <a:effectLst/>
                <a:latin typeface="ui-sans-serif"/>
              </a:rPr>
              <a:t>基于链路密钥（</a:t>
            </a:r>
            <a:r>
              <a:rPr lang="en-US" altLang="zh-CN" sz="1200" b="0" dirty="0">
                <a:solidFill>
                  <a:srgbClr val="000000"/>
                </a:solidFill>
                <a:effectLst/>
                <a:latin typeface="ui-sans-serif"/>
              </a:rPr>
              <a:t>Link Key</a:t>
            </a:r>
            <a:r>
              <a:rPr lang="zh-CN" altLang="en-US" sz="1200" b="0" dirty="0">
                <a:solidFill>
                  <a:srgbClr val="000000"/>
                </a:solidFill>
                <a:effectLst/>
                <a:latin typeface="ui-sans-serif"/>
              </a:rPr>
              <a:t>）验证设备身份，防止 “伪装设备” 接入；</a:t>
            </a:r>
          </a:p>
          <a:p>
            <a:pPr marL="742950" lvl="1" indent="-285750" algn="l">
              <a:lnSpc>
                <a:spcPts val="1800"/>
              </a:lnSpc>
              <a:buFont typeface="+mj-lt"/>
              <a:buAutoNum type="arabicPeriod"/>
            </a:pPr>
            <a:r>
              <a:rPr lang="en-US" altLang="zh-CN" sz="1200" b="0" dirty="0">
                <a:solidFill>
                  <a:srgbClr val="000000"/>
                </a:solidFill>
                <a:effectLst/>
                <a:latin typeface="ui-sans-serif"/>
              </a:rPr>
              <a:t>BR/EDR </a:t>
            </a:r>
            <a:r>
              <a:rPr lang="zh-CN" altLang="en-US" sz="1200" b="0" dirty="0">
                <a:solidFill>
                  <a:srgbClr val="000000"/>
                </a:solidFill>
                <a:effectLst/>
                <a:latin typeface="ui-sans-serif"/>
              </a:rPr>
              <a:t>支持 </a:t>
            </a:r>
            <a:r>
              <a:rPr lang="en-US" altLang="zh-CN" sz="1200" b="0" dirty="0">
                <a:solidFill>
                  <a:srgbClr val="000000"/>
                </a:solidFill>
                <a:effectLst/>
                <a:latin typeface="ui-sans-serif"/>
              </a:rPr>
              <a:t>Secure Simple Pairing</a:t>
            </a:r>
            <a:r>
              <a:rPr lang="zh-CN" altLang="en-US" sz="1200" b="0" dirty="0">
                <a:solidFill>
                  <a:srgbClr val="000000"/>
                </a:solidFill>
                <a:effectLst/>
                <a:latin typeface="ui-sans-serif"/>
              </a:rPr>
              <a:t>（</a:t>
            </a:r>
            <a:r>
              <a:rPr lang="en-US" altLang="zh-CN" sz="1200" b="0" dirty="0">
                <a:solidFill>
                  <a:srgbClr val="000000"/>
                </a:solidFill>
                <a:effectLst/>
                <a:latin typeface="ui-sans-serif"/>
              </a:rPr>
              <a:t>SSP</a:t>
            </a:r>
            <a:r>
              <a:rPr lang="zh-CN" altLang="en-US" sz="1200" b="0" dirty="0">
                <a:solidFill>
                  <a:srgbClr val="000000"/>
                </a:solidFill>
                <a:effectLst/>
                <a:latin typeface="ui-sans-serif"/>
              </a:rPr>
              <a:t>），</a:t>
            </a:r>
            <a:r>
              <a:rPr lang="en-US" altLang="zh-CN" sz="1200" b="0" dirty="0">
                <a:solidFill>
                  <a:srgbClr val="000000"/>
                </a:solidFill>
                <a:effectLst/>
                <a:latin typeface="ui-sans-serif"/>
              </a:rPr>
              <a:t>LE </a:t>
            </a:r>
            <a:r>
              <a:rPr lang="zh-CN" altLang="en-US" sz="1200" b="0" dirty="0">
                <a:solidFill>
                  <a:srgbClr val="000000"/>
                </a:solidFill>
                <a:effectLst/>
                <a:latin typeface="ui-sans-serif"/>
              </a:rPr>
              <a:t>支持 </a:t>
            </a:r>
            <a:r>
              <a:rPr lang="en-US" altLang="zh-CN" sz="1200" b="0" dirty="0">
                <a:solidFill>
                  <a:srgbClr val="000000"/>
                </a:solidFill>
                <a:effectLst/>
                <a:latin typeface="ui-sans-serif"/>
              </a:rPr>
              <a:t>LE Secure Connections</a:t>
            </a:r>
            <a:r>
              <a:rPr lang="zh-CN" altLang="en-US" sz="1200" b="0" dirty="0">
                <a:solidFill>
                  <a:srgbClr val="000000"/>
                </a:solidFill>
                <a:effectLst/>
                <a:latin typeface="ui-sans-serif"/>
              </a:rPr>
              <a:t>，均使用 </a:t>
            </a:r>
            <a:r>
              <a:rPr lang="en-US" altLang="zh-CN" sz="1200" b="0" dirty="0">
                <a:solidFill>
                  <a:srgbClr val="000000"/>
                </a:solidFill>
                <a:effectLst/>
                <a:latin typeface="ui-sans-serif"/>
              </a:rPr>
              <a:t>ECDH </a:t>
            </a:r>
            <a:r>
              <a:rPr lang="zh-CN" altLang="en-US" sz="1200" b="0" dirty="0">
                <a:solidFill>
                  <a:srgbClr val="000000"/>
                </a:solidFill>
                <a:effectLst/>
                <a:latin typeface="ui-sans-serif"/>
              </a:rPr>
              <a:t>公钥加密，避免密钥明文传输。</a:t>
            </a:r>
          </a:p>
          <a:p>
            <a:pPr algn="l">
              <a:lnSpc>
                <a:spcPts val="1800"/>
              </a:lnSpc>
              <a:buFont typeface="+mj-lt"/>
              <a:buAutoNum type="arabicPeriod"/>
            </a:pPr>
            <a:r>
              <a:rPr lang="zh-CN" altLang="en-US" sz="1200" b="1" dirty="0">
                <a:solidFill>
                  <a:srgbClr val="000000"/>
                </a:solidFill>
                <a:effectLst/>
                <a:latin typeface="ui-sans-serif"/>
              </a:rPr>
              <a:t>加密（</a:t>
            </a:r>
            <a:r>
              <a:rPr lang="en-US" altLang="zh-CN" sz="1200" b="1" dirty="0">
                <a:solidFill>
                  <a:srgbClr val="000000"/>
                </a:solidFill>
                <a:effectLst/>
                <a:latin typeface="ui-sans-serif"/>
              </a:rPr>
              <a:t>Encryption</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marL="742950" lvl="1" indent="-285750" algn="l">
              <a:lnSpc>
                <a:spcPts val="1800"/>
              </a:lnSpc>
              <a:buFont typeface="+mj-lt"/>
              <a:buAutoNum type="arabicPeriod"/>
            </a:pPr>
            <a:r>
              <a:rPr lang="en-US" altLang="zh-CN" sz="1200" b="0" dirty="0">
                <a:solidFill>
                  <a:srgbClr val="000000"/>
                </a:solidFill>
                <a:effectLst/>
                <a:latin typeface="ui-sans-serif"/>
              </a:rPr>
              <a:t>BR/EDR </a:t>
            </a:r>
            <a:r>
              <a:rPr lang="zh-CN" altLang="en-US" sz="1200" b="0" dirty="0">
                <a:solidFill>
                  <a:srgbClr val="000000"/>
                </a:solidFill>
                <a:effectLst/>
                <a:latin typeface="ui-sans-serif"/>
              </a:rPr>
              <a:t>支持 </a:t>
            </a:r>
            <a:r>
              <a:rPr lang="en-US" altLang="zh-CN" sz="1200" b="0" dirty="0">
                <a:solidFill>
                  <a:srgbClr val="000000"/>
                </a:solidFill>
                <a:effectLst/>
                <a:latin typeface="ui-sans-serif"/>
              </a:rPr>
              <a:t>E0 </a:t>
            </a:r>
            <a:r>
              <a:rPr lang="zh-CN" altLang="en-US" sz="1200" b="0" dirty="0">
                <a:solidFill>
                  <a:srgbClr val="000000"/>
                </a:solidFill>
                <a:effectLst/>
                <a:latin typeface="ui-sans-serif"/>
              </a:rPr>
              <a:t>流加密（</a:t>
            </a:r>
            <a:r>
              <a:rPr lang="en-US" altLang="zh-CN" sz="1200" b="0" dirty="0">
                <a:solidFill>
                  <a:srgbClr val="000000"/>
                </a:solidFill>
                <a:effectLst/>
                <a:latin typeface="ui-sans-serif"/>
              </a:rPr>
              <a:t>legacy</a:t>
            </a:r>
            <a:r>
              <a:rPr lang="zh-CN" altLang="en-US" sz="1200" b="0" dirty="0">
                <a:solidFill>
                  <a:srgbClr val="000000"/>
                </a:solidFill>
                <a:effectLst/>
                <a:latin typeface="ui-sans-serif"/>
              </a:rPr>
              <a:t>）和 </a:t>
            </a:r>
            <a:r>
              <a:rPr lang="en-US" altLang="zh-CN" sz="1200" b="0" dirty="0">
                <a:solidFill>
                  <a:srgbClr val="000000"/>
                </a:solidFill>
                <a:effectLst/>
                <a:latin typeface="ui-sans-serif"/>
              </a:rPr>
              <a:t>AES-CCM </a:t>
            </a:r>
            <a:r>
              <a:rPr lang="zh-CN" altLang="en-US" sz="1200" b="0" dirty="0">
                <a:solidFill>
                  <a:srgbClr val="000000"/>
                </a:solidFill>
                <a:effectLst/>
                <a:latin typeface="ui-sans-serif"/>
              </a:rPr>
              <a:t>加密（</a:t>
            </a:r>
            <a:r>
              <a:rPr lang="en-US" altLang="zh-CN" sz="1200" b="0" dirty="0">
                <a:solidFill>
                  <a:srgbClr val="000000"/>
                </a:solidFill>
                <a:effectLst/>
                <a:latin typeface="ui-sans-serif"/>
              </a:rPr>
              <a:t>Secure Connections</a:t>
            </a:r>
            <a:r>
              <a:rPr lang="zh-CN" altLang="en-US" sz="1200" b="0" dirty="0">
                <a:solidFill>
                  <a:srgbClr val="000000"/>
                </a:solidFill>
                <a:effectLst/>
                <a:latin typeface="ui-sans-serif"/>
              </a:rPr>
              <a:t>）；</a:t>
            </a:r>
          </a:p>
          <a:p>
            <a:pPr marL="742950" lvl="1" indent="-285750" algn="l">
              <a:lnSpc>
                <a:spcPts val="1800"/>
              </a:lnSpc>
              <a:buFont typeface="+mj-lt"/>
              <a:buAutoNum type="arabicPeriod"/>
            </a:pPr>
            <a:r>
              <a:rPr lang="en-US" altLang="zh-CN" sz="1200" b="0" dirty="0">
                <a:solidFill>
                  <a:srgbClr val="000000"/>
                </a:solidFill>
                <a:effectLst/>
                <a:latin typeface="ui-sans-serif"/>
              </a:rPr>
              <a:t>LE </a:t>
            </a:r>
            <a:r>
              <a:rPr lang="zh-CN" altLang="en-US" sz="1200" b="0" dirty="0">
                <a:solidFill>
                  <a:srgbClr val="000000"/>
                </a:solidFill>
                <a:effectLst/>
                <a:latin typeface="ui-sans-serif"/>
              </a:rPr>
              <a:t>仅支持 </a:t>
            </a:r>
            <a:r>
              <a:rPr lang="en-US" altLang="zh-CN" sz="1200" b="0" dirty="0">
                <a:solidFill>
                  <a:srgbClr val="000000"/>
                </a:solidFill>
                <a:effectLst/>
                <a:latin typeface="ui-sans-serif"/>
              </a:rPr>
              <a:t>AES-CCM </a:t>
            </a:r>
            <a:r>
              <a:rPr lang="zh-CN" altLang="en-US" sz="1200" b="0" dirty="0">
                <a:solidFill>
                  <a:srgbClr val="000000"/>
                </a:solidFill>
                <a:effectLst/>
                <a:latin typeface="ui-sans-serif"/>
              </a:rPr>
              <a:t>加密，密钥长度 </a:t>
            </a:r>
            <a:r>
              <a:rPr lang="en-US" altLang="zh-CN" sz="1200" b="0" dirty="0">
                <a:solidFill>
                  <a:srgbClr val="000000"/>
                </a:solidFill>
                <a:effectLst/>
                <a:latin typeface="ui-sans-serif"/>
              </a:rPr>
              <a:t>16 </a:t>
            </a:r>
            <a:r>
              <a:rPr lang="zh-CN" altLang="en-US" sz="1200" b="0" dirty="0">
                <a:solidFill>
                  <a:srgbClr val="000000"/>
                </a:solidFill>
                <a:effectLst/>
                <a:latin typeface="ui-sans-serif"/>
              </a:rPr>
              <a:t>字节，加密强度更高；</a:t>
            </a:r>
          </a:p>
          <a:p>
            <a:pPr marL="742950" lvl="1" indent="-285750" algn="l">
              <a:lnSpc>
                <a:spcPts val="1800"/>
              </a:lnSpc>
              <a:buFont typeface="+mj-lt"/>
              <a:buAutoNum type="arabicPeriod"/>
            </a:pPr>
            <a:r>
              <a:rPr lang="en-US" altLang="zh-CN" sz="1200" b="0" dirty="0">
                <a:solidFill>
                  <a:srgbClr val="000000"/>
                </a:solidFill>
                <a:effectLst/>
                <a:latin typeface="ui-sans-serif"/>
              </a:rPr>
              <a:t>GAP </a:t>
            </a:r>
            <a:r>
              <a:rPr lang="zh-CN" altLang="en-US" sz="1200" b="0" dirty="0">
                <a:solidFill>
                  <a:srgbClr val="000000"/>
                </a:solidFill>
                <a:effectLst/>
                <a:latin typeface="ui-sans-serif"/>
              </a:rPr>
              <a:t>定义 “加密广告数据”（</a:t>
            </a:r>
            <a:r>
              <a:rPr lang="en-US" altLang="zh-CN" sz="1200" b="0" dirty="0">
                <a:solidFill>
                  <a:srgbClr val="000000"/>
                </a:solidFill>
                <a:effectLst/>
                <a:latin typeface="ui-sans-serif"/>
              </a:rPr>
              <a:t>v5.4 </a:t>
            </a:r>
            <a:r>
              <a:rPr lang="zh-CN" altLang="en-US" sz="1200" b="0" dirty="0">
                <a:solidFill>
                  <a:srgbClr val="000000"/>
                </a:solidFill>
                <a:effectLst/>
                <a:latin typeface="ui-sans-serif"/>
              </a:rPr>
              <a:t>新增），扩展加密范围至非连接场景。</a:t>
            </a:r>
          </a:p>
          <a:p>
            <a:pPr algn="l">
              <a:lnSpc>
                <a:spcPts val="1800"/>
              </a:lnSpc>
              <a:buFont typeface="+mj-lt"/>
              <a:buAutoNum type="arabicPeriod"/>
            </a:pPr>
            <a:r>
              <a:rPr lang="zh-CN" altLang="en-US" sz="1200" b="1" dirty="0">
                <a:solidFill>
                  <a:srgbClr val="000000"/>
                </a:solidFill>
                <a:effectLst/>
                <a:latin typeface="ui-sans-serif"/>
              </a:rPr>
              <a:t>隐私保护（</a:t>
            </a:r>
            <a:r>
              <a:rPr lang="en-US" altLang="zh-CN" sz="1200" b="1" dirty="0">
                <a:solidFill>
                  <a:srgbClr val="000000"/>
                </a:solidFill>
                <a:effectLst/>
                <a:latin typeface="ui-sans-serif"/>
              </a:rPr>
              <a:t>Privacy</a:t>
            </a:r>
            <a:r>
              <a:rPr lang="zh-CN" altLang="en-US" sz="1200" b="1" dirty="0">
                <a:solidFill>
                  <a:srgbClr val="000000"/>
                </a:solidFill>
                <a:effectLst/>
                <a:latin typeface="ui-sans-serif"/>
              </a:rPr>
              <a:t>）</a:t>
            </a:r>
            <a:r>
              <a:rPr lang="zh-CN" altLang="en-US" sz="1200" b="0" dirty="0">
                <a:solidFill>
                  <a:srgbClr val="000000"/>
                </a:solidFill>
                <a:effectLst/>
                <a:latin typeface="ui-sans-serif"/>
              </a:rPr>
              <a:t>：</a:t>
            </a:r>
          </a:p>
          <a:p>
            <a:pPr marL="742950" lvl="1" indent="-285750" algn="l">
              <a:lnSpc>
                <a:spcPts val="1800"/>
              </a:lnSpc>
              <a:buFont typeface="+mj-lt"/>
              <a:buAutoNum type="arabicPeriod"/>
            </a:pPr>
            <a:r>
              <a:rPr lang="zh-CN" altLang="en-US" sz="1200" b="0" dirty="0">
                <a:solidFill>
                  <a:srgbClr val="000000"/>
                </a:solidFill>
                <a:effectLst/>
                <a:latin typeface="ui-sans-serif"/>
              </a:rPr>
              <a:t>支持 “可解析私有地址（</a:t>
            </a:r>
            <a:r>
              <a:rPr lang="en-US" altLang="zh-CN" sz="1200" b="0" dirty="0">
                <a:solidFill>
                  <a:srgbClr val="000000"/>
                </a:solidFill>
                <a:effectLst/>
                <a:latin typeface="ui-sans-serif"/>
              </a:rPr>
              <a:t>Resolvable Private Address</a:t>
            </a:r>
            <a:r>
              <a:rPr lang="zh-CN" altLang="en-US" sz="1200" b="0" dirty="0">
                <a:solidFill>
                  <a:srgbClr val="000000"/>
                </a:solidFill>
                <a:effectLst/>
                <a:latin typeface="ui-sans-serif"/>
              </a:rPr>
              <a:t>）”：定期更新（如 </a:t>
            </a:r>
            <a:r>
              <a:rPr lang="en-US" altLang="zh-CN" sz="1200" b="0" dirty="0">
                <a:solidFill>
                  <a:srgbClr val="000000"/>
                </a:solidFill>
                <a:effectLst/>
                <a:latin typeface="ui-sans-serif"/>
              </a:rPr>
              <a:t>15 </a:t>
            </a:r>
            <a:r>
              <a:rPr lang="zh-CN" altLang="en-US" sz="1200" b="0" dirty="0">
                <a:solidFill>
                  <a:srgbClr val="000000"/>
                </a:solidFill>
                <a:effectLst/>
                <a:latin typeface="ui-sans-serif"/>
              </a:rPr>
              <a:t>分钟），需通过 </a:t>
            </a:r>
            <a:r>
              <a:rPr lang="en-US" altLang="zh-CN" sz="1200" b="0" dirty="0">
                <a:solidFill>
                  <a:srgbClr val="000000"/>
                </a:solidFill>
                <a:effectLst/>
                <a:latin typeface="ui-sans-serif"/>
              </a:rPr>
              <a:t>IRK</a:t>
            </a:r>
            <a:r>
              <a:rPr lang="zh-CN" altLang="en-US" sz="1200" b="0" dirty="0">
                <a:solidFill>
                  <a:srgbClr val="000000"/>
                </a:solidFill>
                <a:effectLst/>
                <a:latin typeface="ui-sans-serif"/>
              </a:rPr>
              <a:t>（身份解析密钥）解析，防止设备被跟踪；</a:t>
            </a:r>
          </a:p>
          <a:p>
            <a:pPr marL="742950" lvl="1" indent="-285750" algn="l">
              <a:lnSpc>
                <a:spcPts val="1800"/>
              </a:lnSpc>
              <a:buFont typeface="+mj-lt"/>
              <a:buAutoNum type="arabicPeriod"/>
            </a:pPr>
            <a:r>
              <a:rPr lang="zh-CN" altLang="en-US" sz="1200" b="0" dirty="0">
                <a:solidFill>
                  <a:srgbClr val="000000"/>
                </a:solidFill>
                <a:effectLst/>
                <a:latin typeface="ui-sans-serif"/>
              </a:rPr>
              <a:t>地址解析列表（</a:t>
            </a:r>
            <a:r>
              <a:rPr lang="en-US" altLang="zh-CN" sz="1200" b="0" dirty="0">
                <a:solidFill>
                  <a:srgbClr val="000000"/>
                </a:solidFill>
                <a:effectLst/>
                <a:latin typeface="ui-sans-serif"/>
              </a:rPr>
              <a:t>Resolving List</a:t>
            </a:r>
            <a:r>
              <a:rPr lang="zh-CN" altLang="en-US" sz="1200" b="0" dirty="0">
                <a:solidFill>
                  <a:srgbClr val="000000"/>
                </a:solidFill>
                <a:effectLst/>
                <a:latin typeface="ui-sans-serif"/>
              </a:rPr>
              <a:t>）：存储设备的 </a:t>
            </a:r>
            <a:r>
              <a:rPr lang="en-US" altLang="zh-CN" sz="1200" b="0" dirty="0">
                <a:solidFill>
                  <a:srgbClr val="000000"/>
                </a:solidFill>
                <a:effectLst/>
                <a:latin typeface="ui-sans-serif"/>
              </a:rPr>
              <a:t>IRK </a:t>
            </a:r>
            <a:r>
              <a:rPr lang="zh-CN" altLang="en-US" sz="1200" b="0" dirty="0">
                <a:solidFill>
                  <a:srgbClr val="000000"/>
                </a:solidFill>
                <a:effectLst/>
                <a:latin typeface="ui-sans-serif"/>
              </a:rPr>
              <a:t>和身份地址，仅解析信任设备的私有地址，避免陌生设备干扰。</a:t>
            </a:r>
          </a:p>
        </p:txBody>
      </p:sp>
    </p:spTree>
    <p:extLst>
      <p:ext uri="{BB962C8B-B14F-4D97-AF65-F5344CB8AC3E}">
        <p14:creationId xmlns:p14="http://schemas.microsoft.com/office/powerpoint/2010/main" val="2466293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0E3C-CCAC-948C-B2D6-AD233F5F4DEA}"/>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89BC2B2-2C7D-FF1C-2D6A-2534FED738AA}"/>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GAP </a:t>
            </a:r>
            <a:r>
              <a:rPr lang="zh-CN" altLang="en-US" sz="2400" b="1" spc="-38" dirty="0">
                <a:solidFill>
                  <a:srgbClr val="DFC27B"/>
                </a:solidFill>
                <a:latin typeface="Calibri" panose="020F0502020204030204" pitchFamily="34" charset="0"/>
                <a:cs typeface="Calibri" panose="020F0502020204030204" pitchFamily="34" charset="0"/>
              </a:rPr>
              <a:t>服务与特性（</a:t>
            </a:r>
            <a:r>
              <a:rPr lang="en-US" altLang="zh-TW" sz="2400" b="1" spc="-38" dirty="0">
                <a:solidFill>
                  <a:srgbClr val="DFC27B"/>
                </a:solidFill>
                <a:latin typeface="Calibri" panose="020F0502020204030204" pitchFamily="34" charset="0"/>
                <a:cs typeface="Calibri" panose="020F0502020204030204" pitchFamily="34" charset="0"/>
              </a:rPr>
              <a:t>GATT Server </a:t>
            </a:r>
            <a:r>
              <a:rPr lang="zh-CN" altLang="en-US" sz="2400" b="1" spc="-38" dirty="0">
                <a:solidFill>
                  <a:srgbClr val="DFC27B"/>
                </a:solidFill>
                <a:latin typeface="Calibri" panose="020F0502020204030204" pitchFamily="34" charset="0"/>
                <a:cs typeface="Calibri" panose="020F0502020204030204" pitchFamily="34" charset="0"/>
              </a:rPr>
              <a:t>侧）</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2" name="表格 1">
            <a:extLst>
              <a:ext uri="{FF2B5EF4-FFF2-40B4-BE49-F238E27FC236}">
                <a16:creationId xmlns:a16="http://schemas.microsoft.com/office/drawing/2014/main" id="{241BF6B1-C762-AD3A-82E2-D88DE6EC430D}"/>
              </a:ext>
            </a:extLst>
          </p:cNvPr>
          <p:cNvGraphicFramePr>
            <a:graphicFrameLocks noGrp="1"/>
          </p:cNvGraphicFramePr>
          <p:nvPr>
            <p:extLst>
              <p:ext uri="{D42A27DB-BD31-4B8C-83A1-F6EECF244321}">
                <p14:modId xmlns:p14="http://schemas.microsoft.com/office/powerpoint/2010/main" val="358551081"/>
              </p:ext>
            </p:extLst>
          </p:nvPr>
        </p:nvGraphicFramePr>
        <p:xfrm>
          <a:off x="220647" y="1141202"/>
          <a:ext cx="8702708" cy="3498816"/>
        </p:xfrm>
        <a:graphic>
          <a:graphicData uri="http://schemas.openxmlformats.org/drawingml/2006/table">
            <a:tbl>
              <a:tblPr/>
              <a:tblGrid>
                <a:gridCol w="2175677">
                  <a:extLst>
                    <a:ext uri="{9D8B030D-6E8A-4147-A177-3AD203B41FA5}">
                      <a16:colId xmlns:a16="http://schemas.microsoft.com/office/drawing/2014/main" val="1056693484"/>
                    </a:ext>
                  </a:extLst>
                </a:gridCol>
                <a:gridCol w="2175677">
                  <a:extLst>
                    <a:ext uri="{9D8B030D-6E8A-4147-A177-3AD203B41FA5}">
                      <a16:colId xmlns:a16="http://schemas.microsoft.com/office/drawing/2014/main" val="1610067451"/>
                    </a:ext>
                  </a:extLst>
                </a:gridCol>
                <a:gridCol w="2175677">
                  <a:extLst>
                    <a:ext uri="{9D8B030D-6E8A-4147-A177-3AD203B41FA5}">
                      <a16:colId xmlns:a16="http://schemas.microsoft.com/office/drawing/2014/main" val="3994206219"/>
                    </a:ext>
                  </a:extLst>
                </a:gridCol>
                <a:gridCol w="2175677">
                  <a:extLst>
                    <a:ext uri="{9D8B030D-6E8A-4147-A177-3AD203B41FA5}">
                      <a16:colId xmlns:a16="http://schemas.microsoft.com/office/drawing/2014/main" val="3069267114"/>
                    </a:ext>
                  </a:extLst>
                </a:gridCol>
              </a:tblGrid>
              <a:tr h="233417">
                <a:tc>
                  <a:txBody>
                    <a:bodyPr/>
                    <a:lstStyle/>
                    <a:p>
                      <a:pPr algn="ctr">
                        <a:lnSpc>
                          <a:spcPts val="1800"/>
                        </a:lnSpc>
                        <a:buNone/>
                      </a:pPr>
                      <a:r>
                        <a:rPr lang="zh-CN" altLang="en-US" sz="1200" b="1">
                          <a:solidFill>
                            <a:srgbClr val="000000"/>
                          </a:solidFill>
                          <a:effectLst/>
                          <a:latin typeface="ui-sans-serif"/>
                        </a:rPr>
                        <a:t>特性 </a:t>
                      </a:r>
                      <a:r>
                        <a:rPr lang="en-US" sz="1200" b="1">
                          <a:solidFill>
                            <a:srgbClr val="000000"/>
                          </a:solidFill>
                          <a:effectLst/>
                          <a:latin typeface="ui-sans-serif"/>
                        </a:rPr>
                        <a:t>UUID</a:t>
                      </a:r>
                    </a:p>
                  </a:txBody>
                  <a:tcPr marL="69736" marR="69736" marT="34868" marB="34868" anchor="ctr">
                    <a:lnL>
                      <a:noFill/>
                    </a:lnL>
                    <a:lnR>
                      <a:noFill/>
                    </a:lnR>
                    <a:lnT>
                      <a:noFill/>
                    </a:lnT>
                    <a:lnB>
                      <a:noFill/>
                    </a:lnB>
                    <a:noFill/>
                  </a:tcPr>
                </a:tc>
                <a:tc>
                  <a:txBody>
                    <a:bodyPr/>
                    <a:lstStyle/>
                    <a:p>
                      <a:pPr algn="ctr">
                        <a:lnSpc>
                          <a:spcPts val="1800"/>
                        </a:lnSpc>
                        <a:buNone/>
                      </a:pPr>
                      <a:r>
                        <a:rPr lang="zh-CN" altLang="en-US" sz="1200" b="1">
                          <a:solidFill>
                            <a:srgbClr val="000000"/>
                          </a:solidFill>
                          <a:effectLst/>
                          <a:latin typeface="ui-sans-serif"/>
                        </a:rPr>
                        <a:t>特性名称</a:t>
                      </a:r>
                    </a:p>
                  </a:txBody>
                  <a:tcPr marL="69736" marR="69736" marT="34868" marB="34868" anchor="ctr">
                    <a:lnL>
                      <a:noFill/>
                    </a:lnL>
                    <a:lnR>
                      <a:noFill/>
                    </a:lnR>
                    <a:lnT>
                      <a:noFill/>
                    </a:lnT>
                    <a:lnB>
                      <a:noFill/>
                    </a:lnB>
                    <a:noFill/>
                  </a:tcPr>
                </a:tc>
                <a:tc>
                  <a:txBody>
                    <a:bodyPr/>
                    <a:lstStyle/>
                    <a:p>
                      <a:pPr algn="ctr">
                        <a:lnSpc>
                          <a:spcPts val="1800"/>
                        </a:lnSpc>
                        <a:buNone/>
                      </a:pPr>
                      <a:r>
                        <a:rPr lang="zh-CN" altLang="en-US" sz="1200" b="1">
                          <a:solidFill>
                            <a:srgbClr val="000000"/>
                          </a:solidFill>
                          <a:effectLst/>
                          <a:latin typeface="ui-sans-serif"/>
                        </a:rPr>
                        <a:t>功能描述</a:t>
                      </a:r>
                    </a:p>
                  </a:txBody>
                  <a:tcPr marL="69736" marR="69736" marT="34868" marB="34868" anchor="ctr">
                    <a:lnL>
                      <a:noFill/>
                    </a:lnL>
                    <a:lnR>
                      <a:noFill/>
                    </a:lnR>
                    <a:lnT>
                      <a:noFill/>
                    </a:lnT>
                    <a:lnB>
                      <a:noFill/>
                    </a:lnB>
                    <a:noFill/>
                  </a:tcPr>
                </a:tc>
                <a:tc>
                  <a:txBody>
                    <a:bodyPr/>
                    <a:lstStyle/>
                    <a:p>
                      <a:pPr algn="ctr">
                        <a:lnSpc>
                          <a:spcPts val="1800"/>
                        </a:lnSpc>
                        <a:buNone/>
                      </a:pPr>
                      <a:r>
                        <a:rPr lang="zh-CN" altLang="en-US" sz="1200" b="1">
                          <a:solidFill>
                            <a:srgbClr val="000000"/>
                          </a:solidFill>
                          <a:effectLst/>
                          <a:latin typeface="ui-sans-serif"/>
                        </a:rPr>
                        <a:t>读写权限</a:t>
                      </a:r>
                    </a:p>
                  </a:txBody>
                  <a:tcPr marL="69736" marR="69736" marT="34868" marB="34868" anchor="ctr">
                    <a:lnL>
                      <a:noFill/>
                    </a:lnL>
                    <a:lnR>
                      <a:noFill/>
                    </a:lnR>
                    <a:lnT>
                      <a:noFill/>
                    </a:lnT>
                    <a:lnB>
                      <a:noFill/>
                    </a:lnB>
                    <a:noFill/>
                  </a:tcPr>
                </a:tc>
                <a:extLst>
                  <a:ext uri="{0D108BD9-81ED-4DB2-BD59-A6C34878D82A}">
                    <a16:rowId xmlns:a16="http://schemas.microsoft.com/office/drawing/2014/main" val="963056486"/>
                  </a:ext>
                </a:extLst>
              </a:tr>
              <a:tr h="341033">
                <a:tc>
                  <a:txBody>
                    <a:bodyPr/>
                    <a:lstStyle/>
                    <a:p>
                      <a:pPr algn="l">
                        <a:lnSpc>
                          <a:spcPts val="1800"/>
                        </a:lnSpc>
                        <a:buNone/>
                      </a:pPr>
                      <a:r>
                        <a:rPr lang="en-US" sz="1200" b="0">
                          <a:solidFill>
                            <a:srgbClr val="000000"/>
                          </a:solidFill>
                          <a:effectLst/>
                          <a:latin typeface="ui-sans-serif"/>
                        </a:rPr>
                        <a:t>0x2A00</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Device Name</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设备名称（如 “我的耳机”）</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读（默认）、写（可选）</a:t>
                      </a:r>
                    </a:p>
                  </a:txBody>
                  <a:tcPr marL="69736" marR="69736" marT="34868" marB="34868" anchor="ctr">
                    <a:lnL>
                      <a:noFill/>
                    </a:lnL>
                    <a:lnR>
                      <a:noFill/>
                    </a:lnR>
                    <a:lnT>
                      <a:noFill/>
                    </a:lnT>
                    <a:lnB>
                      <a:noFill/>
                    </a:lnB>
                    <a:noFill/>
                  </a:tcPr>
                </a:tc>
                <a:extLst>
                  <a:ext uri="{0D108BD9-81ED-4DB2-BD59-A6C34878D82A}">
                    <a16:rowId xmlns:a16="http://schemas.microsoft.com/office/drawing/2014/main" val="4015890353"/>
                  </a:ext>
                </a:extLst>
              </a:tr>
              <a:tr h="341033">
                <a:tc>
                  <a:txBody>
                    <a:bodyPr/>
                    <a:lstStyle/>
                    <a:p>
                      <a:pPr algn="l">
                        <a:lnSpc>
                          <a:spcPts val="1800"/>
                        </a:lnSpc>
                        <a:buNone/>
                      </a:pPr>
                      <a:r>
                        <a:rPr lang="en-US" sz="1200" b="0">
                          <a:solidFill>
                            <a:srgbClr val="000000"/>
                          </a:solidFill>
                          <a:effectLst/>
                          <a:latin typeface="ui-sans-serif"/>
                        </a:rPr>
                        <a:t>0x2A01</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Appearance</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设备外观（如 “入耳式耳机”）</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dirty="0">
                          <a:solidFill>
                            <a:srgbClr val="000000"/>
                          </a:solidFill>
                          <a:effectLst/>
                          <a:latin typeface="ui-sans-serif"/>
                        </a:rPr>
                        <a:t>读（默认）</a:t>
                      </a:r>
                    </a:p>
                  </a:txBody>
                  <a:tcPr marL="69736" marR="69736" marT="34868" marB="34868" anchor="ctr">
                    <a:lnL>
                      <a:noFill/>
                    </a:lnL>
                    <a:lnR>
                      <a:noFill/>
                    </a:lnR>
                    <a:lnT>
                      <a:noFill/>
                    </a:lnT>
                    <a:lnB>
                      <a:noFill/>
                    </a:lnB>
                    <a:noFill/>
                  </a:tcPr>
                </a:tc>
                <a:extLst>
                  <a:ext uri="{0D108BD9-81ED-4DB2-BD59-A6C34878D82A}">
                    <a16:rowId xmlns:a16="http://schemas.microsoft.com/office/drawing/2014/main" val="3237931083"/>
                  </a:ext>
                </a:extLst>
              </a:tr>
              <a:tr h="487172">
                <a:tc>
                  <a:txBody>
                    <a:bodyPr/>
                    <a:lstStyle/>
                    <a:p>
                      <a:pPr algn="l">
                        <a:lnSpc>
                          <a:spcPts val="1800"/>
                        </a:lnSpc>
                        <a:buNone/>
                      </a:pPr>
                      <a:r>
                        <a:rPr lang="en-US" sz="1200" b="0">
                          <a:solidFill>
                            <a:srgbClr val="000000"/>
                          </a:solidFill>
                          <a:effectLst/>
                          <a:latin typeface="ui-sans-serif"/>
                        </a:rPr>
                        <a:t>0x2A04</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Peripheral Preferred Connection Parameters</a:t>
                      </a:r>
                    </a:p>
                  </a:txBody>
                  <a:tcPr marL="69736" marR="69736" marT="34868" marB="34868" anchor="ctr">
                    <a:lnL>
                      <a:noFill/>
                    </a:lnL>
                    <a:lnR>
                      <a:noFill/>
                    </a:lnR>
                    <a:lnT>
                      <a:noFill/>
                    </a:lnT>
                    <a:lnB>
                      <a:noFill/>
                    </a:lnB>
                    <a:noFill/>
                  </a:tcPr>
                </a:tc>
                <a:tc>
                  <a:txBody>
                    <a:bodyPr/>
                    <a:lstStyle/>
                    <a:p>
                      <a:pPr algn="l">
                        <a:lnSpc>
                          <a:spcPts val="1800"/>
                        </a:lnSpc>
                        <a:buNone/>
                      </a:pPr>
                      <a:r>
                        <a:rPr lang="en-US" altLang="zh-CN" sz="1200" b="0">
                          <a:solidFill>
                            <a:srgbClr val="000000"/>
                          </a:solidFill>
                          <a:effectLst/>
                          <a:latin typeface="ui-sans-serif"/>
                        </a:rPr>
                        <a:t>Peripheral </a:t>
                      </a:r>
                      <a:r>
                        <a:rPr lang="zh-CN" altLang="en-US" sz="1200" b="0">
                          <a:solidFill>
                            <a:srgbClr val="000000"/>
                          </a:solidFill>
                          <a:effectLst/>
                          <a:latin typeface="ui-sans-serif"/>
                        </a:rPr>
                        <a:t>推荐的连接参数（如 “最小连接间隔 </a:t>
                      </a:r>
                      <a:r>
                        <a:rPr lang="en-US" altLang="zh-CN" sz="1200" b="0">
                          <a:solidFill>
                            <a:srgbClr val="000000"/>
                          </a:solidFill>
                          <a:effectLst/>
                          <a:latin typeface="ui-sans-serif"/>
                        </a:rPr>
                        <a:t>10ms”</a:t>
                      </a:r>
                      <a:r>
                        <a:rPr lang="zh-CN" altLang="en-US" sz="1200" b="0">
                          <a:solidFill>
                            <a:srgbClr val="000000"/>
                          </a:solidFill>
                          <a:effectLst/>
                          <a:latin typeface="ui-sans-serif"/>
                        </a:rPr>
                        <a:t>）</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读（默认）</a:t>
                      </a:r>
                    </a:p>
                  </a:txBody>
                  <a:tcPr marL="69736" marR="69736" marT="34868" marB="34868" anchor="ctr">
                    <a:lnL>
                      <a:noFill/>
                    </a:lnL>
                    <a:lnR>
                      <a:noFill/>
                    </a:lnR>
                    <a:lnT>
                      <a:noFill/>
                    </a:lnT>
                    <a:lnB>
                      <a:noFill/>
                    </a:lnB>
                    <a:noFill/>
                  </a:tcPr>
                </a:tc>
                <a:extLst>
                  <a:ext uri="{0D108BD9-81ED-4DB2-BD59-A6C34878D82A}">
                    <a16:rowId xmlns:a16="http://schemas.microsoft.com/office/drawing/2014/main" val="4070395268"/>
                  </a:ext>
                </a:extLst>
              </a:tr>
              <a:tr h="425038">
                <a:tc>
                  <a:txBody>
                    <a:bodyPr/>
                    <a:lstStyle/>
                    <a:p>
                      <a:pPr algn="l">
                        <a:lnSpc>
                          <a:spcPts val="1800"/>
                        </a:lnSpc>
                        <a:buNone/>
                      </a:pPr>
                      <a:r>
                        <a:rPr lang="en-US" sz="1200" b="0">
                          <a:solidFill>
                            <a:srgbClr val="000000"/>
                          </a:solidFill>
                          <a:effectLst/>
                          <a:latin typeface="ui-sans-serif"/>
                        </a:rPr>
                        <a:t>0x2A06</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Central Address Resolution</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指示 </a:t>
                      </a:r>
                      <a:r>
                        <a:rPr lang="en-US" sz="1200" b="0">
                          <a:solidFill>
                            <a:srgbClr val="000000"/>
                          </a:solidFill>
                          <a:effectLst/>
                          <a:latin typeface="ui-sans-serif"/>
                        </a:rPr>
                        <a:t>Central </a:t>
                      </a:r>
                      <a:r>
                        <a:rPr lang="zh-CN" altLang="en-US" sz="1200" b="0">
                          <a:solidFill>
                            <a:srgbClr val="000000"/>
                          </a:solidFill>
                          <a:effectLst/>
                          <a:latin typeface="ui-sans-serif"/>
                        </a:rPr>
                        <a:t>是否支持地址解析（隐私保护用）</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读（默认）</a:t>
                      </a:r>
                    </a:p>
                  </a:txBody>
                  <a:tcPr marL="69736" marR="69736" marT="34868" marB="34868" anchor="ctr">
                    <a:lnL>
                      <a:noFill/>
                    </a:lnL>
                    <a:lnR>
                      <a:noFill/>
                    </a:lnR>
                    <a:lnT>
                      <a:noFill/>
                    </a:lnT>
                    <a:lnB>
                      <a:noFill/>
                    </a:lnB>
                    <a:noFill/>
                  </a:tcPr>
                </a:tc>
                <a:extLst>
                  <a:ext uri="{0D108BD9-81ED-4DB2-BD59-A6C34878D82A}">
                    <a16:rowId xmlns:a16="http://schemas.microsoft.com/office/drawing/2014/main" val="2426506667"/>
                  </a:ext>
                </a:extLst>
              </a:tr>
              <a:tr h="425038">
                <a:tc>
                  <a:txBody>
                    <a:bodyPr/>
                    <a:lstStyle/>
                    <a:p>
                      <a:pPr algn="l">
                        <a:lnSpc>
                          <a:spcPts val="1800"/>
                        </a:lnSpc>
                        <a:buNone/>
                      </a:pPr>
                      <a:r>
                        <a:rPr lang="en-US" sz="1200" b="0">
                          <a:solidFill>
                            <a:srgbClr val="000000"/>
                          </a:solidFill>
                          <a:effectLst/>
                          <a:latin typeface="ui-sans-serif"/>
                        </a:rPr>
                        <a:t>0x2A07</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Resolvable Private Address Only</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指示设备是否仅使用可解析私有地址</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读（默认）</a:t>
                      </a:r>
                    </a:p>
                  </a:txBody>
                  <a:tcPr marL="69736" marR="69736" marT="34868" marB="34868" anchor="ctr">
                    <a:lnL>
                      <a:noFill/>
                    </a:lnL>
                    <a:lnR>
                      <a:noFill/>
                    </a:lnR>
                    <a:lnT>
                      <a:noFill/>
                    </a:lnT>
                    <a:lnB>
                      <a:noFill/>
                    </a:lnB>
                    <a:noFill/>
                  </a:tcPr>
                </a:tc>
                <a:extLst>
                  <a:ext uri="{0D108BD9-81ED-4DB2-BD59-A6C34878D82A}">
                    <a16:rowId xmlns:a16="http://schemas.microsoft.com/office/drawing/2014/main" val="862453641"/>
                  </a:ext>
                </a:extLst>
              </a:tr>
              <a:tr h="425038">
                <a:tc>
                  <a:txBody>
                    <a:bodyPr/>
                    <a:lstStyle/>
                    <a:p>
                      <a:pPr algn="l">
                        <a:lnSpc>
                          <a:spcPts val="1800"/>
                        </a:lnSpc>
                        <a:buNone/>
                      </a:pPr>
                      <a:r>
                        <a:rPr lang="en-US" sz="1200" b="0">
                          <a:solidFill>
                            <a:srgbClr val="000000"/>
                          </a:solidFill>
                          <a:effectLst/>
                          <a:latin typeface="ui-sans-serif"/>
                        </a:rPr>
                        <a:t>0x2AAD</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Encrypted Data Key Material</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存储加密广告数据的密钥材料（</a:t>
                      </a:r>
                      <a:r>
                        <a:rPr lang="en-US" altLang="zh-CN" sz="1200" b="0">
                          <a:solidFill>
                            <a:srgbClr val="000000"/>
                          </a:solidFill>
                          <a:effectLst/>
                          <a:latin typeface="ui-sans-serif"/>
                        </a:rPr>
                        <a:t>v5.4 </a:t>
                      </a:r>
                      <a:r>
                        <a:rPr lang="zh-CN" altLang="en-US" sz="1200" b="0">
                          <a:solidFill>
                            <a:srgbClr val="000000"/>
                          </a:solidFill>
                          <a:effectLst/>
                          <a:latin typeface="ui-sans-serif"/>
                        </a:rPr>
                        <a:t>新增）</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dirty="0">
                          <a:solidFill>
                            <a:srgbClr val="000000"/>
                          </a:solidFill>
                          <a:effectLst/>
                          <a:latin typeface="ui-sans-serif"/>
                        </a:rPr>
                        <a:t>读（授权后）</a:t>
                      </a:r>
                    </a:p>
                  </a:txBody>
                  <a:tcPr marL="69736" marR="69736" marT="34868" marB="34868" anchor="ctr">
                    <a:lnL>
                      <a:noFill/>
                    </a:lnL>
                    <a:lnR>
                      <a:noFill/>
                    </a:lnR>
                    <a:lnT>
                      <a:noFill/>
                    </a:lnT>
                    <a:lnB>
                      <a:noFill/>
                    </a:lnB>
                    <a:noFill/>
                  </a:tcPr>
                </a:tc>
                <a:extLst>
                  <a:ext uri="{0D108BD9-81ED-4DB2-BD59-A6C34878D82A}">
                    <a16:rowId xmlns:a16="http://schemas.microsoft.com/office/drawing/2014/main" val="3040907161"/>
                  </a:ext>
                </a:extLst>
              </a:tr>
              <a:tr h="425038">
                <a:tc>
                  <a:txBody>
                    <a:bodyPr/>
                    <a:lstStyle/>
                    <a:p>
                      <a:pPr algn="l">
                        <a:lnSpc>
                          <a:spcPts val="1800"/>
                        </a:lnSpc>
                        <a:buNone/>
                      </a:pPr>
                      <a:r>
                        <a:rPr lang="en-US" sz="1200" b="0">
                          <a:solidFill>
                            <a:srgbClr val="000000"/>
                          </a:solidFill>
                          <a:effectLst/>
                          <a:latin typeface="ui-sans-serif"/>
                        </a:rPr>
                        <a:t>0x2B2B</a:t>
                      </a:r>
                    </a:p>
                  </a:txBody>
                  <a:tcPr marL="69736" marR="69736" marT="34868" marB="34868" anchor="ctr">
                    <a:lnL>
                      <a:noFill/>
                    </a:lnL>
                    <a:lnR>
                      <a:noFill/>
                    </a:lnR>
                    <a:lnT>
                      <a:noFill/>
                    </a:lnT>
                    <a:lnB>
                      <a:noFill/>
                    </a:lnB>
                    <a:noFill/>
                  </a:tcPr>
                </a:tc>
                <a:tc>
                  <a:txBody>
                    <a:bodyPr/>
                    <a:lstStyle/>
                    <a:p>
                      <a:pPr algn="l">
                        <a:lnSpc>
                          <a:spcPts val="1800"/>
                        </a:lnSpc>
                        <a:buNone/>
                      </a:pPr>
                      <a:r>
                        <a:rPr lang="en-US" sz="1200" b="0">
                          <a:solidFill>
                            <a:srgbClr val="000000"/>
                          </a:solidFill>
                          <a:effectLst/>
                          <a:latin typeface="ui-sans-serif"/>
                        </a:rPr>
                        <a:t>LE GATT Security Levels</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a:solidFill>
                            <a:srgbClr val="000000"/>
                          </a:solidFill>
                          <a:effectLst/>
                          <a:latin typeface="ui-sans-serif"/>
                        </a:rPr>
                        <a:t>指示 </a:t>
                      </a:r>
                      <a:r>
                        <a:rPr lang="en-US" altLang="zh-CN" sz="1200" b="0">
                          <a:solidFill>
                            <a:srgbClr val="000000"/>
                          </a:solidFill>
                          <a:effectLst/>
                          <a:latin typeface="ui-sans-serif"/>
                        </a:rPr>
                        <a:t>GATT </a:t>
                      </a:r>
                      <a:r>
                        <a:rPr lang="zh-CN" altLang="en-US" sz="1200" b="0">
                          <a:solidFill>
                            <a:srgbClr val="000000"/>
                          </a:solidFill>
                          <a:effectLst/>
                          <a:latin typeface="ui-sans-serif"/>
                        </a:rPr>
                        <a:t>服务的安全级别（</a:t>
                      </a:r>
                      <a:r>
                        <a:rPr lang="en-US" altLang="zh-CN" sz="1200" b="0">
                          <a:solidFill>
                            <a:srgbClr val="000000"/>
                          </a:solidFill>
                          <a:effectLst/>
                          <a:latin typeface="ui-sans-serif"/>
                        </a:rPr>
                        <a:t>v5.4 </a:t>
                      </a:r>
                      <a:r>
                        <a:rPr lang="zh-CN" altLang="en-US" sz="1200" b="0">
                          <a:solidFill>
                            <a:srgbClr val="000000"/>
                          </a:solidFill>
                          <a:effectLst/>
                          <a:latin typeface="ui-sans-serif"/>
                        </a:rPr>
                        <a:t>新增）</a:t>
                      </a:r>
                    </a:p>
                  </a:txBody>
                  <a:tcPr marL="69736" marR="69736" marT="34868" marB="34868" anchor="ctr">
                    <a:lnL>
                      <a:noFill/>
                    </a:lnL>
                    <a:lnR>
                      <a:noFill/>
                    </a:lnR>
                    <a:lnT>
                      <a:noFill/>
                    </a:lnT>
                    <a:lnB>
                      <a:noFill/>
                    </a:lnB>
                    <a:noFill/>
                  </a:tcPr>
                </a:tc>
                <a:tc>
                  <a:txBody>
                    <a:bodyPr/>
                    <a:lstStyle/>
                    <a:p>
                      <a:pPr algn="l">
                        <a:lnSpc>
                          <a:spcPts val="1800"/>
                        </a:lnSpc>
                        <a:buNone/>
                      </a:pPr>
                      <a:r>
                        <a:rPr lang="zh-CN" altLang="en-US" sz="1200" b="0" dirty="0">
                          <a:solidFill>
                            <a:srgbClr val="000000"/>
                          </a:solidFill>
                          <a:effectLst/>
                          <a:latin typeface="ui-sans-serif"/>
                        </a:rPr>
                        <a:t>读（默认）</a:t>
                      </a:r>
                    </a:p>
                  </a:txBody>
                  <a:tcPr marL="69736" marR="69736" marT="34868" marB="34868" anchor="ctr">
                    <a:lnL>
                      <a:noFill/>
                    </a:lnL>
                    <a:lnR>
                      <a:noFill/>
                    </a:lnR>
                    <a:lnT>
                      <a:noFill/>
                    </a:lnT>
                    <a:lnB>
                      <a:noFill/>
                    </a:lnB>
                    <a:noFill/>
                  </a:tcPr>
                </a:tc>
                <a:extLst>
                  <a:ext uri="{0D108BD9-81ED-4DB2-BD59-A6C34878D82A}">
                    <a16:rowId xmlns:a16="http://schemas.microsoft.com/office/drawing/2014/main" val="878686675"/>
                  </a:ext>
                </a:extLst>
              </a:tr>
            </a:tbl>
          </a:graphicData>
        </a:graphic>
      </p:graphicFrame>
      <p:sp>
        <p:nvSpPr>
          <p:cNvPr id="3" name="Rectangle 1">
            <a:extLst>
              <a:ext uri="{FF2B5EF4-FFF2-40B4-BE49-F238E27FC236}">
                <a16:creationId xmlns:a16="http://schemas.microsoft.com/office/drawing/2014/main" id="{81B7E80C-8DC7-6AC9-1F92-701E41A09831}"/>
              </a:ext>
            </a:extLst>
          </p:cNvPr>
          <p:cNvSpPr>
            <a:spLocks noChangeArrowheads="1"/>
          </p:cNvSpPr>
          <p:nvPr/>
        </p:nvSpPr>
        <p:spPr bwMode="auto">
          <a:xfrm>
            <a:off x="220647" y="703736"/>
            <a:ext cx="87404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panose="020B0604020202020204" pitchFamily="34" charset="0"/>
                <a:ea typeface="ui-sans-serif"/>
              </a:rPr>
              <a:t>GAP 作为 GATT 服务的一部分，在 GATT Server 中定义标准化特性（Characteristic），供 Client 读取 / 写入，实现设备信息交互（[Vol 3, Part C, 12]）：</a:t>
            </a:r>
            <a:endParaRPr kumimoji="0" lang="zh-CN" altLang="zh-CN"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310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4E60-FA67-37AA-21C8-6447B982E8C0}"/>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67088BC0-B03F-94A3-E440-5DCDF667490C}"/>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4EE928B1-70B4-8AA9-FF98-90AEE3729B14}"/>
              </a:ext>
            </a:extLst>
          </p:cNvPr>
          <p:cNvSpPr txBox="1"/>
          <p:nvPr/>
        </p:nvSpPr>
        <p:spPr>
          <a:xfrm>
            <a:off x="6869151" y="3652026"/>
            <a:ext cx="1855750" cy="584775"/>
          </a:xfrm>
          <a:prstGeom prst="rect">
            <a:avLst/>
          </a:prstGeom>
          <a:noFill/>
        </p:spPr>
        <p:txBody>
          <a:bodyPr wrap="square" rtlCol="0">
            <a:spAutoFit/>
          </a:bodyPr>
          <a:lstStyle/>
          <a:p>
            <a:r>
              <a:rPr lang="en-US" altLang="zh-CN" sz="3200" dirty="0">
                <a:solidFill>
                  <a:schemeClr val="accent1"/>
                </a:solidFill>
                <a:latin typeface="+mn-ea"/>
              </a:rPr>
              <a:t>BLE_GATT</a:t>
            </a:r>
            <a:endParaRPr lang="zh-CN" altLang="en-US" sz="3200" dirty="0">
              <a:solidFill>
                <a:schemeClr val="accent1"/>
              </a:solidFill>
              <a:latin typeface="+mn-ea"/>
            </a:endParaRPr>
          </a:p>
        </p:txBody>
      </p:sp>
    </p:spTree>
    <p:extLst>
      <p:ext uri="{BB962C8B-B14F-4D97-AF65-F5344CB8AC3E}">
        <p14:creationId xmlns:p14="http://schemas.microsoft.com/office/powerpoint/2010/main" val="1319329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1781-3B9D-F85E-585B-CA7A1EE1F460}"/>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356A089-F876-973C-A71F-2A19E13106F8}"/>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核心定位与作用</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999C17E5-EAEB-5C72-F9D1-B04878867F11}"/>
              </a:ext>
            </a:extLst>
          </p:cNvPr>
          <p:cNvSpPr txBox="1"/>
          <p:nvPr/>
        </p:nvSpPr>
        <p:spPr>
          <a:xfrm>
            <a:off x="215591" y="1202350"/>
            <a:ext cx="8745530" cy="2380588"/>
          </a:xfrm>
          <a:prstGeom prst="rect">
            <a:avLst/>
          </a:prstGeom>
          <a:noFill/>
        </p:spPr>
        <p:txBody>
          <a:bodyPr wrap="square">
            <a:spAutoFit/>
          </a:bodyPr>
          <a:lstStyle/>
          <a:p>
            <a:pPr algn="l">
              <a:lnSpc>
                <a:spcPts val="1800"/>
              </a:lnSpc>
              <a:buNone/>
            </a:pPr>
            <a:r>
              <a:rPr lang="en-US" altLang="zh-CN" sz="1200" b="0" dirty="0">
                <a:solidFill>
                  <a:srgbClr val="000000"/>
                </a:solidFill>
                <a:effectLst/>
                <a:latin typeface="ui-sans-serif"/>
              </a:rPr>
              <a:t>GATT </a:t>
            </a:r>
            <a:r>
              <a:rPr lang="zh-CN" altLang="en-US" sz="1200" b="0" dirty="0">
                <a:solidFill>
                  <a:srgbClr val="000000"/>
                </a:solidFill>
                <a:effectLst/>
                <a:latin typeface="ui-sans-serif"/>
              </a:rPr>
              <a:t>建立在 </a:t>
            </a:r>
            <a:r>
              <a:rPr lang="en-US" altLang="zh-CN" sz="1200" b="0" dirty="0">
                <a:solidFill>
                  <a:srgbClr val="000000"/>
                </a:solidFill>
                <a:effectLst/>
                <a:latin typeface="ui-sans-serif"/>
              </a:rPr>
              <a:t>GAP </a:t>
            </a:r>
            <a:r>
              <a:rPr lang="zh-CN" altLang="en-US" sz="1200" b="0" dirty="0">
                <a:solidFill>
                  <a:srgbClr val="000000"/>
                </a:solidFill>
                <a:effectLst/>
                <a:latin typeface="ui-sans-serif"/>
              </a:rPr>
              <a:t>连接基础上，核心目标是</a:t>
            </a:r>
            <a:r>
              <a:rPr lang="zh-CN" altLang="en-US" sz="1200" b="1" dirty="0">
                <a:solidFill>
                  <a:srgbClr val="000000"/>
                </a:solidFill>
                <a:effectLst/>
                <a:latin typeface="ui-sans-serif"/>
              </a:rPr>
              <a:t>定义设备间数据交互的结构化模型与协议</a:t>
            </a:r>
            <a:r>
              <a:rPr lang="zh-CN" altLang="en-US" sz="1200" b="0" dirty="0">
                <a:solidFill>
                  <a:srgbClr val="000000"/>
                </a:solidFill>
                <a:effectLst/>
                <a:latin typeface="ui-sans-serif"/>
              </a:rPr>
              <a:t>，通过 “服务（</a:t>
            </a:r>
            <a:r>
              <a:rPr lang="en-US" altLang="zh-CN" sz="1200" b="0" dirty="0">
                <a:solidFill>
                  <a:srgbClr val="000000"/>
                </a:solidFill>
                <a:effectLst/>
                <a:latin typeface="ui-sans-serif"/>
              </a:rPr>
              <a:t>Service</a:t>
            </a:r>
            <a:r>
              <a:rPr lang="zh-CN" altLang="en-US" sz="1200" b="0" dirty="0">
                <a:solidFill>
                  <a:srgbClr val="000000"/>
                </a:solidFill>
                <a:effectLst/>
                <a:latin typeface="ui-sans-serif"/>
              </a:rPr>
              <a:t>）</a:t>
            </a:r>
            <a:r>
              <a:rPr lang="en-US" altLang="zh-CN" sz="1200" b="0" dirty="0">
                <a:solidFill>
                  <a:srgbClr val="000000"/>
                </a:solidFill>
                <a:effectLst/>
                <a:latin typeface="ui-sans-serif"/>
              </a:rPr>
              <a:t>- </a:t>
            </a:r>
            <a:r>
              <a:rPr lang="zh-CN" altLang="en-US" sz="1200" b="0" dirty="0">
                <a:solidFill>
                  <a:srgbClr val="000000"/>
                </a:solidFill>
                <a:effectLst/>
                <a:latin typeface="ui-sans-serif"/>
              </a:rPr>
              <a:t>特征值（</a:t>
            </a:r>
            <a:r>
              <a:rPr lang="en-US" altLang="zh-CN" sz="1200" b="0" dirty="0">
                <a:solidFill>
                  <a:srgbClr val="000000"/>
                </a:solidFill>
                <a:effectLst/>
                <a:latin typeface="ui-sans-serif"/>
              </a:rPr>
              <a:t>Characteristic</a:t>
            </a:r>
            <a:r>
              <a:rPr lang="zh-CN" altLang="en-US" sz="1200" b="0" dirty="0">
                <a:solidFill>
                  <a:srgbClr val="000000"/>
                </a:solidFill>
                <a:effectLst/>
                <a:latin typeface="ui-sans-serif"/>
              </a:rPr>
              <a:t>）</a:t>
            </a:r>
            <a:r>
              <a:rPr lang="en-US" altLang="zh-CN" sz="1200" b="0" dirty="0">
                <a:solidFill>
                  <a:srgbClr val="000000"/>
                </a:solidFill>
                <a:effectLst/>
                <a:latin typeface="ui-sans-serif"/>
              </a:rPr>
              <a:t>- </a:t>
            </a:r>
            <a:r>
              <a:rPr lang="zh-CN" altLang="en-US" sz="1200" b="0" dirty="0">
                <a:solidFill>
                  <a:srgbClr val="000000"/>
                </a:solidFill>
                <a:effectLst/>
                <a:latin typeface="ui-sans-serif"/>
              </a:rPr>
              <a:t>描述符（</a:t>
            </a:r>
            <a:r>
              <a:rPr lang="en-US" altLang="zh-CN" sz="1200" b="0" dirty="0">
                <a:solidFill>
                  <a:srgbClr val="000000"/>
                </a:solidFill>
                <a:effectLst/>
                <a:latin typeface="ui-sans-serif"/>
              </a:rPr>
              <a:t>Descriptor</a:t>
            </a:r>
            <a:r>
              <a:rPr lang="zh-CN" altLang="en-US" sz="1200" b="0" dirty="0">
                <a:solidFill>
                  <a:srgbClr val="000000"/>
                </a:solidFill>
                <a:effectLst/>
                <a:latin typeface="ui-sans-serif"/>
              </a:rPr>
              <a:t>）” 的层级结构，实现数据的标准化读写、通知、指示等操作，是蓝牙低功耗设备（如智能手环、传感器）数据交互的核心。</a:t>
            </a:r>
            <a:endParaRPr lang="en-US" altLang="zh-CN" sz="1200" b="0" dirty="0">
              <a:solidFill>
                <a:srgbClr val="000000"/>
              </a:solidFill>
              <a:effectLst/>
              <a:latin typeface="ui-sans-serif"/>
            </a:endParaRPr>
          </a:p>
          <a:p>
            <a:pPr algn="l">
              <a:lnSpc>
                <a:spcPts val="1800"/>
              </a:lnSpc>
              <a:buNone/>
            </a:pPr>
            <a:endParaRPr lang="en-US" altLang="zh-CN" sz="1200" dirty="0">
              <a:solidFill>
                <a:srgbClr val="000000"/>
              </a:solidFill>
              <a:latin typeface="ui-sans-serif"/>
            </a:endParaRPr>
          </a:p>
          <a:p>
            <a:pPr algn="l">
              <a:lnSpc>
                <a:spcPts val="1800"/>
              </a:lnSpc>
            </a:pPr>
            <a:r>
              <a:rPr lang="zh-CN" altLang="en-US" sz="1200" b="1" dirty="0">
                <a:solidFill>
                  <a:srgbClr val="000000"/>
                </a:solidFill>
                <a:effectLst/>
                <a:latin typeface="ui-sans-serif"/>
              </a:rPr>
              <a:t>核心定位与作用</a:t>
            </a:r>
            <a:endParaRPr lang="en-US" altLang="zh-CN" sz="1200" b="1" dirty="0">
              <a:solidFill>
                <a:srgbClr val="000000"/>
              </a:solidFill>
              <a:effectLst/>
              <a:latin typeface="ui-sans-serif"/>
            </a:endParaRPr>
          </a:p>
          <a:p>
            <a:pPr marL="228600" indent="-228600" algn="l">
              <a:lnSpc>
                <a:spcPts val="1800"/>
              </a:lnSpc>
              <a:buAutoNum type="arabicPeriod"/>
            </a:pPr>
            <a:endParaRPr lang="zh-CN" altLang="en-US" sz="1200" b="0" dirty="0">
              <a:solidFill>
                <a:srgbClr val="000000"/>
              </a:solidFill>
              <a:effectLst/>
              <a:latin typeface="ui-sans-serif"/>
            </a:endParaRPr>
          </a:p>
          <a:p>
            <a:pPr algn="l">
              <a:lnSpc>
                <a:spcPts val="1800"/>
              </a:lnSpc>
              <a:buFont typeface="Arial" panose="020B0604020202020204" pitchFamily="34" charset="0"/>
              <a:buChar char="•"/>
            </a:pPr>
            <a:r>
              <a:rPr lang="zh-CN" altLang="en-US" sz="1200" b="1" dirty="0">
                <a:solidFill>
                  <a:srgbClr val="000000"/>
                </a:solidFill>
                <a:effectLst/>
                <a:latin typeface="ui-sans-serif"/>
              </a:rPr>
              <a:t>数据结构化</a:t>
            </a:r>
            <a:r>
              <a:rPr lang="zh-CN" altLang="en-US" sz="1200" b="0" dirty="0">
                <a:solidFill>
                  <a:srgbClr val="000000"/>
                </a:solidFill>
                <a:effectLst/>
                <a:latin typeface="ui-sans-serif"/>
              </a:rPr>
              <a:t>：将设备功能抽象为 “服务”（如 “心率监测服务”“电池服务”），每个服务包含多个 “特征值”（如 “心率测量值”“电池电量”），确保不同厂商设备可互认。</a:t>
            </a:r>
          </a:p>
          <a:p>
            <a:pPr algn="l">
              <a:lnSpc>
                <a:spcPts val="1800"/>
              </a:lnSpc>
              <a:buFont typeface="Arial" panose="020B0604020202020204" pitchFamily="34" charset="0"/>
              <a:buChar char="•"/>
            </a:pPr>
            <a:r>
              <a:rPr lang="zh-CN" altLang="en-US" sz="1200" b="1" dirty="0">
                <a:solidFill>
                  <a:srgbClr val="000000"/>
                </a:solidFill>
                <a:effectLst/>
                <a:latin typeface="ui-sans-serif"/>
              </a:rPr>
              <a:t>交互标准化</a:t>
            </a:r>
            <a:r>
              <a:rPr lang="zh-CN" altLang="en-US" sz="1200" b="0" dirty="0">
                <a:solidFill>
                  <a:srgbClr val="000000"/>
                </a:solidFill>
                <a:effectLst/>
                <a:latin typeface="ui-sans-serif"/>
              </a:rPr>
              <a:t>：定义 </a:t>
            </a:r>
            <a:r>
              <a:rPr lang="en-US" altLang="zh-CN" sz="1200" b="0" dirty="0">
                <a:solidFill>
                  <a:srgbClr val="000000"/>
                </a:solidFill>
                <a:effectLst/>
                <a:latin typeface="ui-sans-serif"/>
              </a:rPr>
              <a:t>6 </a:t>
            </a:r>
            <a:r>
              <a:rPr lang="zh-CN" altLang="en-US" sz="1200" b="0" dirty="0">
                <a:solidFill>
                  <a:srgbClr val="000000"/>
                </a:solidFill>
                <a:effectLst/>
                <a:latin typeface="ui-sans-serif"/>
              </a:rPr>
              <a:t>类核心操作（读 </a:t>
            </a:r>
            <a:r>
              <a:rPr lang="en-US" altLang="zh-CN" sz="1200" b="0" dirty="0">
                <a:solidFill>
                  <a:srgbClr val="000000"/>
                </a:solidFill>
                <a:effectLst/>
                <a:latin typeface="ui-sans-serif"/>
              </a:rPr>
              <a:t>/ </a:t>
            </a:r>
            <a:r>
              <a:rPr lang="zh-CN" altLang="en-US" sz="1200" b="0" dirty="0">
                <a:solidFill>
                  <a:srgbClr val="000000"/>
                </a:solidFill>
                <a:effectLst/>
                <a:latin typeface="ui-sans-serif"/>
              </a:rPr>
              <a:t>写 </a:t>
            </a:r>
            <a:r>
              <a:rPr lang="en-US" altLang="zh-CN" sz="1200" b="0" dirty="0">
                <a:solidFill>
                  <a:srgbClr val="000000"/>
                </a:solidFill>
                <a:effectLst/>
                <a:latin typeface="ui-sans-serif"/>
              </a:rPr>
              <a:t>/ </a:t>
            </a:r>
            <a:r>
              <a:rPr lang="zh-CN" altLang="en-US" sz="1200" b="0" dirty="0">
                <a:solidFill>
                  <a:srgbClr val="000000"/>
                </a:solidFill>
                <a:effectLst/>
                <a:latin typeface="ui-sans-serif"/>
              </a:rPr>
              <a:t>通知 </a:t>
            </a:r>
            <a:r>
              <a:rPr lang="en-US" altLang="zh-CN" sz="1200" b="0" dirty="0">
                <a:solidFill>
                  <a:srgbClr val="000000"/>
                </a:solidFill>
                <a:effectLst/>
                <a:latin typeface="ui-sans-serif"/>
              </a:rPr>
              <a:t>/ </a:t>
            </a:r>
            <a:r>
              <a:rPr lang="zh-CN" altLang="en-US" sz="1200" b="0" dirty="0">
                <a:solidFill>
                  <a:srgbClr val="000000"/>
                </a:solidFill>
                <a:effectLst/>
                <a:latin typeface="ui-sans-serif"/>
              </a:rPr>
              <a:t>指示 </a:t>
            </a:r>
            <a:r>
              <a:rPr lang="en-US" altLang="zh-CN" sz="1200" b="0" dirty="0">
                <a:solidFill>
                  <a:srgbClr val="000000"/>
                </a:solidFill>
                <a:effectLst/>
                <a:latin typeface="ui-sans-serif"/>
              </a:rPr>
              <a:t>/ </a:t>
            </a:r>
            <a:r>
              <a:rPr lang="zh-CN" altLang="en-US" sz="1200" b="0" dirty="0">
                <a:solidFill>
                  <a:srgbClr val="000000"/>
                </a:solidFill>
                <a:effectLst/>
                <a:latin typeface="ui-sans-serif"/>
              </a:rPr>
              <a:t>可靠写 </a:t>
            </a:r>
            <a:r>
              <a:rPr lang="en-US" altLang="zh-CN" sz="1200" b="0" dirty="0">
                <a:solidFill>
                  <a:srgbClr val="000000"/>
                </a:solidFill>
                <a:effectLst/>
                <a:latin typeface="ui-sans-serif"/>
              </a:rPr>
              <a:t>/ </a:t>
            </a:r>
            <a:r>
              <a:rPr lang="zh-CN" altLang="en-US" sz="1200" b="0" dirty="0">
                <a:solidFill>
                  <a:srgbClr val="000000"/>
                </a:solidFill>
                <a:effectLst/>
                <a:latin typeface="ui-sans-serif"/>
              </a:rPr>
              <a:t>队列写），明确请求 </a:t>
            </a:r>
            <a:r>
              <a:rPr lang="en-US" altLang="zh-CN" sz="1200" b="0" dirty="0">
                <a:solidFill>
                  <a:srgbClr val="000000"/>
                </a:solidFill>
                <a:effectLst/>
                <a:latin typeface="ui-sans-serif"/>
              </a:rPr>
              <a:t>/ </a:t>
            </a:r>
            <a:r>
              <a:rPr lang="zh-CN" altLang="en-US" sz="1200" b="0" dirty="0">
                <a:solidFill>
                  <a:srgbClr val="000000"/>
                </a:solidFill>
                <a:effectLst/>
                <a:latin typeface="ui-sans-serif"/>
              </a:rPr>
              <a:t>响应的 </a:t>
            </a:r>
            <a:r>
              <a:rPr lang="en-US" altLang="zh-CN" sz="1200" b="0" dirty="0">
                <a:solidFill>
                  <a:srgbClr val="000000"/>
                </a:solidFill>
                <a:effectLst/>
                <a:latin typeface="ui-sans-serif"/>
              </a:rPr>
              <a:t>PDU </a:t>
            </a:r>
            <a:r>
              <a:rPr lang="zh-CN" altLang="en-US" sz="1200" b="0" dirty="0">
                <a:solidFill>
                  <a:srgbClr val="000000"/>
                </a:solidFill>
                <a:effectLst/>
                <a:latin typeface="ui-sans-serif"/>
              </a:rPr>
              <a:t>格式，确保数据交互一致性。</a:t>
            </a:r>
          </a:p>
          <a:p>
            <a:pPr algn="l">
              <a:lnSpc>
                <a:spcPts val="1800"/>
              </a:lnSpc>
              <a:buFont typeface="Arial" panose="020B0604020202020204" pitchFamily="34" charset="0"/>
              <a:buChar char="•"/>
            </a:pPr>
            <a:r>
              <a:rPr lang="zh-CN" altLang="en-US" sz="1200" b="1" dirty="0">
                <a:solidFill>
                  <a:srgbClr val="000000"/>
                </a:solidFill>
                <a:effectLst/>
                <a:latin typeface="ui-sans-serif"/>
              </a:rPr>
              <a:t>跨层适配</a:t>
            </a:r>
            <a:r>
              <a:rPr lang="zh-CN" altLang="en-US" sz="1200" b="0" dirty="0">
                <a:solidFill>
                  <a:srgbClr val="000000"/>
                </a:solidFill>
                <a:effectLst/>
                <a:latin typeface="ui-sans-serif"/>
              </a:rPr>
              <a:t>：基于 </a:t>
            </a:r>
            <a:r>
              <a:rPr lang="en-US" altLang="zh-CN" sz="1200" b="0" dirty="0">
                <a:solidFill>
                  <a:srgbClr val="000000"/>
                </a:solidFill>
                <a:effectLst/>
                <a:latin typeface="ui-sans-serif"/>
              </a:rPr>
              <a:t>ATT</a:t>
            </a:r>
            <a:r>
              <a:rPr lang="zh-CN" altLang="en-US" sz="1200" b="0" dirty="0">
                <a:solidFill>
                  <a:srgbClr val="000000"/>
                </a:solidFill>
                <a:effectLst/>
                <a:latin typeface="ui-sans-serif"/>
              </a:rPr>
              <a:t>（</a:t>
            </a:r>
            <a:r>
              <a:rPr lang="en-US" altLang="zh-CN" sz="1200" b="0" dirty="0">
                <a:solidFill>
                  <a:srgbClr val="000000"/>
                </a:solidFill>
                <a:effectLst/>
                <a:latin typeface="ui-sans-serif"/>
              </a:rPr>
              <a:t>Attribute Protocol</a:t>
            </a:r>
            <a:r>
              <a:rPr lang="zh-CN" altLang="en-US" sz="1200" b="0" dirty="0">
                <a:solidFill>
                  <a:srgbClr val="000000"/>
                </a:solidFill>
                <a:effectLst/>
                <a:latin typeface="ui-sans-serif"/>
              </a:rPr>
              <a:t>，属性协议）实现，通过固定 </a:t>
            </a:r>
            <a:r>
              <a:rPr lang="en-US" altLang="zh-CN" sz="1200" b="0" dirty="0">
                <a:solidFill>
                  <a:srgbClr val="000000"/>
                </a:solidFill>
                <a:effectLst/>
                <a:latin typeface="ui-sans-serif"/>
              </a:rPr>
              <a:t>L2CAP </a:t>
            </a:r>
            <a:r>
              <a:rPr lang="zh-CN" altLang="en-US" sz="1200" b="0" dirty="0">
                <a:solidFill>
                  <a:srgbClr val="000000"/>
                </a:solidFill>
                <a:effectLst/>
                <a:latin typeface="ui-sans-serif"/>
              </a:rPr>
              <a:t>信道（信道号 </a:t>
            </a:r>
            <a:r>
              <a:rPr lang="en-US" altLang="zh-CN" sz="1200" b="0" dirty="0">
                <a:solidFill>
                  <a:srgbClr val="000000"/>
                </a:solidFill>
                <a:effectLst/>
                <a:latin typeface="ui-sans-serif"/>
              </a:rPr>
              <a:t>4</a:t>
            </a:r>
            <a:r>
              <a:rPr lang="zh-CN" altLang="en-US" sz="1200" b="0" dirty="0">
                <a:solidFill>
                  <a:srgbClr val="000000"/>
                </a:solidFill>
                <a:effectLst/>
                <a:latin typeface="ui-sans-serif"/>
              </a:rPr>
              <a:t>）传输数据，支持 </a:t>
            </a:r>
            <a:r>
              <a:rPr lang="en-US" altLang="zh-CN" sz="1200" b="0" dirty="0">
                <a:solidFill>
                  <a:srgbClr val="000000"/>
                </a:solidFill>
                <a:effectLst/>
                <a:latin typeface="ui-sans-serif"/>
              </a:rPr>
              <a:t>BR/EDR </a:t>
            </a:r>
            <a:r>
              <a:rPr lang="zh-CN" altLang="en-US" sz="1200" b="0" dirty="0">
                <a:solidFill>
                  <a:srgbClr val="000000"/>
                </a:solidFill>
                <a:effectLst/>
                <a:latin typeface="ui-sans-serif"/>
              </a:rPr>
              <a:t>与 </a:t>
            </a:r>
            <a:r>
              <a:rPr lang="en-US" altLang="zh-CN" sz="1200" b="0" dirty="0">
                <a:solidFill>
                  <a:srgbClr val="000000"/>
                </a:solidFill>
                <a:effectLst/>
                <a:latin typeface="ui-sans-serif"/>
              </a:rPr>
              <a:t>LE </a:t>
            </a:r>
            <a:r>
              <a:rPr lang="zh-CN" altLang="en-US" sz="1200" b="0" dirty="0">
                <a:solidFill>
                  <a:srgbClr val="000000"/>
                </a:solidFill>
                <a:effectLst/>
                <a:latin typeface="ui-sans-serif"/>
              </a:rPr>
              <a:t>场景。</a:t>
            </a:r>
          </a:p>
        </p:txBody>
      </p:sp>
    </p:spTree>
    <p:extLst>
      <p:ext uri="{BB962C8B-B14F-4D97-AF65-F5344CB8AC3E}">
        <p14:creationId xmlns:p14="http://schemas.microsoft.com/office/powerpoint/2010/main" val="2952971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F88CC-22CE-6A54-D5F1-897E1342688F}"/>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AE9F507C-1594-4593-AE8B-4CFEFC7DE2A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核心组件：服务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特征值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描述符层级模型</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C4568E88-9A18-32A7-17DB-8F8B0E44297B}"/>
              </a:ext>
            </a:extLst>
          </p:cNvPr>
          <p:cNvSpPr txBox="1"/>
          <p:nvPr/>
        </p:nvSpPr>
        <p:spPr>
          <a:xfrm>
            <a:off x="215591" y="680147"/>
            <a:ext cx="8745530" cy="461665"/>
          </a:xfrm>
          <a:prstGeom prst="rect">
            <a:avLst/>
          </a:prstGeom>
          <a:noFill/>
        </p:spPr>
        <p:txBody>
          <a:bodyPr wrap="square">
            <a:spAutoFit/>
          </a:bodyPr>
          <a:lstStyle/>
          <a:p>
            <a:r>
              <a:rPr lang="en-US" altLang="zh-CN" sz="1200" dirty="0"/>
              <a:t>GATT </a:t>
            </a:r>
            <a:r>
              <a:rPr lang="zh-CN" altLang="en-US" sz="1200" dirty="0"/>
              <a:t>采用严格的层级结构组织数据，所有组件通过 </a:t>
            </a:r>
            <a:r>
              <a:rPr lang="en-US" altLang="zh-CN" sz="1200" b="1" dirty="0">
                <a:solidFill>
                  <a:srgbClr val="000000"/>
                </a:solidFill>
                <a:effectLst/>
                <a:latin typeface="ui-sans-serif"/>
              </a:rPr>
              <a:t>UUID</a:t>
            </a:r>
            <a:r>
              <a:rPr lang="zh-CN" altLang="en-US" sz="1200" b="1" dirty="0">
                <a:solidFill>
                  <a:srgbClr val="000000"/>
                </a:solidFill>
                <a:effectLst/>
                <a:latin typeface="ui-sans-serif"/>
              </a:rPr>
              <a:t>（通用唯一标识符）</a:t>
            </a:r>
            <a:r>
              <a:rPr lang="zh-CN" altLang="en-US" sz="1200" dirty="0"/>
              <a:t> 标识，确保全球唯一性（如 </a:t>
            </a:r>
            <a:r>
              <a:rPr lang="en-US" altLang="zh-CN" sz="1200" dirty="0"/>
              <a:t>UUID </a:t>
            </a:r>
            <a:r>
              <a:rPr lang="en-US" altLang="zh-CN" sz="1200" b="0" dirty="0">
                <a:solidFill>
                  <a:srgbClr val="000000"/>
                </a:solidFill>
                <a:effectLst/>
                <a:latin typeface="ui-monospace"/>
              </a:rPr>
              <a:t>0x180D</a:t>
            </a:r>
            <a:r>
              <a:rPr lang="zh-CN" altLang="en-US" sz="1200" dirty="0"/>
              <a:t> 为 “心率服务”，</a:t>
            </a:r>
            <a:r>
              <a:rPr lang="en-US" altLang="zh-CN" sz="1200" b="0" dirty="0">
                <a:solidFill>
                  <a:srgbClr val="000000"/>
                </a:solidFill>
                <a:effectLst/>
                <a:latin typeface="ui-monospace"/>
              </a:rPr>
              <a:t>0x2A37</a:t>
            </a:r>
            <a:r>
              <a:rPr lang="zh-CN" altLang="en-US" sz="1200" dirty="0"/>
              <a:t> 为 “心率测量特征值”）：</a:t>
            </a:r>
          </a:p>
        </p:txBody>
      </p:sp>
      <p:sp>
        <p:nvSpPr>
          <p:cNvPr id="8" name="文本框 7">
            <a:extLst>
              <a:ext uri="{FF2B5EF4-FFF2-40B4-BE49-F238E27FC236}">
                <a16:creationId xmlns:a16="http://schemas.microsoft.com/office/drawing/2014/main" id="{6D168659-4081-6C84-7ECE-641EF383E8C3}"/>
              </a:ext>
            </a:extLst>
          </p:cNvPr>
          <p:cNvSpPr txBox="1"/>
          <p:nvPr/>
        </p:nvSpPr>
        <p:spPr>
          <a:xfrm>
            <a:off x="215591" y="1154814"/>
            <a:ext cx="8745530" cy="1918923"/>
          </a:xfrm>
          <a:prstGeom prst="rect">
            <a:avLst/>
          </a:prstGeom>
          <a:noFill/>
        </p:spPr>
        <p:txBody>
          <a:bodyPr wrap="square">
            <a:spAutoFit/>
          </a:bodyPr>
          <a:lstStyle/>
          <a:p>
            <a:pPr algn="l">
              <a:lnSpc>
                <a:spcPts val="1800"/>
              </a:lnSpc>
              <a:buNone/>
            </a:pPr>
            <a:r>
              <a:rPr lang="zh-CN" altLang="en-US" sz="1200" b="0" dirty="0">
                <a:solidFill>
                  <a:srgbClr val="000000"/>
                </a:solidFill>
                <a:effectLst/>
                <a:latin typeface="ui-sans-serif"/>
              </a:rPr>
              <a:t>（</a:t>
            </a:r>
            <a:r>
              <a:rPr lang="en-US" altLang="zh-CN" sz="1200" b="0" dirty="0">
                <a:solidFill>
                  <a:srgbClr val="000000"/>
                </a:solidFill>
                <a:effectLst/>
                <a:latin typeface="ui-sans-serif"/>
              </a:rPr>
              <a:t>1</a:t>
            </a:r>
            <a:r>
              <a:rPr lang="zh-CN" altLang="en-US" sz="1200" b="0" dirty="0">
                <a:solidFill>
                  <a:srgbClr val="000000"/>
                </a:solidFill>
                <a:effectLst/>
                <a:latin typeface="ui-sans-serif"/>
              </a:rPr>
              <a:t>）服务（</a:t>
            </a:r>
            <a:r>
              <a:rPr lang="en-US" altLang="zh-CN" sz="1200" b="0" dirty="0">
                <a:solidFill>
                  <a:srgbClr val="000000"/>
                </a:solidFill>
                <a:effectLst/>
                <a:latin typeface="ui-sans-serif"/>
              </a:rPr>
              <a:t>Service</a:t>
            </a:r>
            <a:r>
              <a:rPr lang="zh-CN" altLang="en-US" sz="1200" b="0" dirty="0">
                <a:solidFill>
                  <a:srgbClr val="000000"/>
                </a:solidFill>
                <a:effectLst/>
                <a:latin typeface="ui-sans-serif"/>
              </a:rPr>
              <a:t>）</a:t>
            </a:r>
          </a:p>
          <a:p>
            <a:pPr algn="l">
              <a:lnSpc>
                <a:spcPts val="1800"/>
              </a:lnSpc>
              <a:buFont typeface="Arial" panose="020B0604020202020204" pitchFamily="34" charset="0"/>
              <a:buChar char="•"/>
            </a:pPr>
            <a:r>
              <a:rPr lang="zh-CN" altLang="en-US" sz="1200" b="1" dirty="0">
                <a:solidFill>
                  <a:srgbClr val="000000"/>
                </a:solidFill>
                <a:effectLst/>
                <a:latin typeface="ui-sans-serif"/>
              </a:rPr>
              <a:t>定义</a:t>
            </a:r>
            <a:r>
              <a:rPr lang="zh-CN" altLang="en-US" sz="1200" b="0" dirty="0">
                <a:solidFill>
                  <a:srgbClr val="000000"/>
                </a:solidFill>
                <a:effectLst/>
                <a:latin typeface="ui-sans-serif"/>
              </a:rPr>
              <a:t>：一组相关功能的集合，对应设备的一个具体能力（如 “电池服务” 对应电池电量监测）。</a:t>
            </a:r>
          </a:p>
          <a:p>
            <a:pPr algn="l">
              <a:lnSpc>
                <a:spcPts val="1800"/>
              </a:lnSpc>
              <a:buFont typeface="Arial" panose="020B0604020202020204" pitchFamily="34" charset="0"/>
              <a:buChar char="•"/>
            </a:pPr>
            <a:r>
              <a:rPr lang="zh-CN" altLang="en-US" sz="1200" b="1" dirty="0">
                <a:solidFill>
                  <a:srgbClr val="000000"/>
                </a:solidFill>
                <a:effectLst/>
                <a:latin typeface="ui-sans-serif"/>
              </a:rPr>
              <a:t>分类</a:t>
            </a:r>
            <a:r>
              <a:rPr lang="zh-CN" altLang="en-US" sz="1200" b="0" dirty="0">
                <a:solidFill>
                  <a:srgbClr val="000000"/>
                </a:solidFill>
                <a:effectLst/>
                <a:latin typeface="ui-sans-serif"/>
              </a:rPr>
              <a:t>：</a:t>
            </a:r>
          </a:p>
          <a:p>
            <a:pPr marL="742950" lvl="1" indent="-285750" algn="l">
              <a:lnSpc>
                <a:spcPts val="1800"/>
              </a:lnSpc>
              <a:buFont typeface="Arial" panose="020B0604020202020204" pitchFamily="34" charset="0"/>
              <a:buChar char="•"/>
            </a:pPr>
            <a:r>
              <a:rPr lang="zh-CN" altLang="en-US" sz="1200" b="1" dirty="0">
                <a:solidFill>
                  <a:srgbClr val="000000"/>
                </a:solidFill>
                <a:effectLst/>
                <a:latin typeface="ui-sans-serif"/>
              </a:rPr>
              <a:t>主要服务（</a:t>
            </a:r>
            <a:r>
              <a:rPr lang="en-US" altLang="zh-CN" sz="1200" b="1" dirty="0">
                <a:solidFill>
                  <a:srgbClr val="000000"/>
                </a:solidFill>
                <a:effectLst/>
                <a:latin typeface="ui-sans-serif"/>
              </a:rPr>
              <a:t>Primary Service</a:t>
            </a:r>
            <a:r>
              <a:rPr lang="zh-CN" altLang="en-US" sz="1200" b="1" dirty="0">
                <a:solidFill>
                  <a:srgbClr val="000000"/>
                </a:solidFill>
                <a:effectLst/>
                <a:latin typeface="ui-sans-serif"/>
              </a:rPr>
              <a:t>）</a:t>
            </a:r>
            <a:r>
              <a:rPr lang="zh-CN" altLang="en-US" sz="1200" b="0" dirty="0">
                <a:solidFill>
                  <a:srgbClr val="000000"/>
                </a:solidFill>
                <a:effectLst/>
                <a:latin typeface="ui-sans-serif"/>
              </a:rPr>
              <a:t>：设备核心功能，如耳机的 “音频服务”；一个设备可包含多个主要服务。</a:t>
            </a:r>
          </a:p>
          <a:p>
            <a:pPr marL="742950" lvl="1" indent="-285750" algn="l">
              <a:lnSpc>
                <a:spcPts val="1800"/>
              </a:lnSpc>
              <a:buFont typeface="Arial" panose="020B0604020202020204" pitchFamily="34" charset="0"/>
              <a:buChar char="•"/>
            </a:pPr>
            <a:r>
              <a:rPr lang="zh-CN" altLang="en-US" sz="1200" b="1" dirty="0">
                <a:solidFill>
                  <a:srgbClr val="000000"/>
                </a:solidFill>
                <a:effectLst/>
                <a:latin typeface="ui-sans-serif"/>
              </a:rPr>
              <a:t>包含服务（</a:t>
            </a:r>
            <a:r>
              <a:rPr lang="en-US" altLang="zh-CN" sz="1200" b="1" dirty="0">
                <a:solidFill>
                  <a:srgbClr val="000000"/>
                </a:solidFill>
                <a:effectLst/>
                <a:latin typeface="ui-sans-serif"/>
              </a:rPr>
              <a:t>Included Service</a:t>
            </a:r>
            <a:r>
              <a:rPr lang="zh-CN" altLang="en-US" sz="1200" b="1" dirty="0">
                <a:solidFill>
                  <a:srgbClr val="000000"/>
                </a:solidFill>
                <a:effectLst/>
                <a:latin typeface="ui-sans-serif"/>
              </a:rPr>
              <a:t>）</a:t>
            </a:r>
            <a:r>
              <a:rPr lang="zh-CN" altLang="en-US" sz="1200" b="0" dirty="0">
                <a:solidFill>
                  <a:srgbClr val="000000"/>
                </a:solidFill>
                <a:effectLst/>
                <a:latin typeface="ui-sans-serif"/>
              </a:rPr>
              <a:t>：被其他服务引用的辅助服务，如 “心率服务” 包含 “设备信息服务”（获取厂商信息）。</a:t>
            </a:r>
          </a:p>
          <a:p>
            <a:pPr algn="l">
              <a:lnSpc>
                <a:spcPts val="1800"/>
              </a:lnSpc>
              <a:buFont typeface="Arial" panose="020B0604020202020204" pitchFamily="34" charset="0"/>
              <a:buChar char="•"/>
            </a:pPr>
            <a:r>
              <a:rPr lang="zh-CN" altLang="en-US" sz="1200" b="1" dirty="0">
                <a:solidFill>
                  <a:srgbClr val="000000"/>
                </a:solidFill>
                <a:effectLst/>
                <a:latin typeface="ui-sans-serif"/>
              </a:rPr>
              <a:t>结构</a:t>
            </a:r>
            <a:r>
              <a:rPr lang="zh-CN" altLang="en-US" sz="1200" b="0" dirty="0">
                <a:solidFill>
                  <a:srgbClr val="000000"/>
                </a:solidFill>
                <a:effectLst/>
                <a:latin typeface="ui-sans-serif"/>
              </a:rPr>
              <a:t>：每个服务由 “服务声明”（</a:t>
            </a:r>
            <a:r>
              <a:rPr lang="en-US" altLang="zh-CN" sz="1200" b="0" dirty="0">
                <a:solidFill>
                  <a:srgbClr val="000000"/>
                </a:solidFill>
                <a:effectLst/>
                <a:latin typeface="ui-sans-serif"/>
              </a:rPr>
              <a:t>Service Declaration</a:t>
            </a:r>
            <a:r>
              <a:rPr lang="zh-CN" altLang="en-US" sz="1200" b="0" dirty="0">
                <a:solidFill>
                  <a:srgbClr val="000000"/>
                </a:solidFill>
                <a:effectLst/>
                <a:latin typeface="ui-sans-serif"/>
              </a:rPr>
              <a:t>）和多个 “特征值” 组成，服务声明通过 </a:t>
            </a:r>
            <a:r>
              <a:rPr lang="en-US" altLang="zh-CN" sz="1200" b="0" dirty="0">
                <a:solidFill>
                  <a:srgbClr val="000000"/>
                </a:solidFill>
                <a:effectLst/>
                <a:latin typeface="ui-sans-serif"/>
              </a:rPr>
              <a:t>UUID </a:t>
            </a:r>
            <a:r>
              <a:rPr lang="zh-CN" altLang="en-US" sz="1200" b="0" dirty="0">
                <a:solidFill>
                  <a:srgbClr val="000000"/>
                </a:solidFill>
                <a:effectLst/>
                <a:latin typeface="ui-sans-serif"/>
              </a:rPr>
              <a:t>标识服务类型，通过句柄（</a:t>
            </a:r>
            <a:r>
              <a:rPr lang="en-US" altLang="zh-CN" sz="1200" b="0" dirty="0">
                <a:solidFill>
                  <a:srgbClr val="000000"/>
                </a:solidFill>
                <a:effectLst/>
                <a:latin typeface="ui-sans-serif"/>
              </a:rPr>
              <a:t>Handle</a:t>
            </a:r>
            <a:r>
              <a:rPr lang="zh-CN" altLang="en-US" sz="1200" b="0" dirty="0">
                <a:solidFill>
                  <a:srgbClr val="000000"/>
                </a:solidFill>
                <a:effectLst/>
                <a:latin typeface="ui-sans-serif"/>
              </a:rPr>
              <a:t>）标识在 </a:t>
            </a:r>
            <a:r>
              <a:rPr lang="en-US" altLang="zh-CN" sz="1200" b="0" dirty="0">
                <a:solidFill>
                  <a:srgbClr val="000000"/>
                </a:solidFill>
                <a:effectLst/>
                <a:latin typeface="ui-sans-serif"/>
              </a:rPr>
              <a:t>GATT </a:t>
            </a:r>
            <a:r>
              <a:rPr lang="zh-CN" altLang="en-US" sz="1200" b="0" dirty="0">
                <a:solidFill>
                  <a:srgbClr val="000000"/>
                </a:solidFill>
                <a:effectLst/>
                <a:latin typeface="ui-sans-serif"/>
              </a:rPr>
              <a:t>数据库中的位置。</a:t>
            </a:r>
          </a:p>
        </p:txBody>
      </p:sp>
      <p:sp>
        <p:nvSpPr>
          <p:cNvPr id="10" name="文本框 9">
            <a:extLst>
              <a:ext uri="{FF2B5EF4-FFF2-40B4-BE49-F238E27FC236}">
                <a16:creationId xmlns:a16="http://schemas.microsoft.com/office/drawing/2014/main" id="{515B7DE8-FC89-184C-3506-EFF8B6BC10EB}"/>
              </a:ext>
            </a:extLst>
          </p:cNvPr>
          <p:cNvSpPr txBox="1"/>
          <p:nvPr/>
        </p:nvSpPr>
        <p:spPr>
          <a:xfrm>
            <a:off x="215591" y="3086739"/>
            <a:ext cx="8745530" cy="995594"/>
          </a:xfrm>
          <a:prstGeom prst="rect">
            <a:avLst/>
          </a:prstGeom>
          <a:noFill/>
        </p:spPr>
        <p:txBody>
          <a:bodyPr wrap="square">
            <a:spAutoFit/>
          </a:bodyPr>
          <a:lstStyle/>
          <a:p>
            <a:pPr algn="l">
              <a:lnSpc>
                <a:spcPts val="1800"/>
              </a:lnSpc>
              <a:buNone/>
            </a:pPr>
            <a:r>
              <a:rPr lang="zh-CN" altLang="en-US" sz="1200" b="0" dirty="0">
                <a:solidFill>
                  <a:srgbClr val="000000"/>
                </a:solidFill>
                <a:effectLst/>
                <a:latin typeface="ui-sans-serif"/>
              </a:rPr>
              <a:t>（</a:t>
            </a:r>
            <a:r>
              <a:rPr lang="en-US" altLang="zh-CN" sz="1200" dirty="0">
                <a:solidFill>
                  <a:srgbClr val="000000"/>
                </a:solidFill>
                <a:latin typeface="ui-sans-serif"/>
              </a:rPr>
              <a:t>2</a:t>
            </a:r>
            <a:r>
              <a:rPr lang="zh-CN" altLang="en-US" sz="1200" b="0" dirty="0">
                <a:solidFill>
                  <a:srgbClr val="000000"/>
                </a:solidFill>
                <a:effectLst/>
                <a:latin typeface="ui-sans-serif"/>
              </a:rPr>
              <a:t>）</a:t>
            </a:r>
            <a:r>
              <a:rPr lang="en-US" altLang="zh-CN" sz="1200" b="0" dirty="0">
                <a:solidFill>
                  <a:srgbClr val="000000"/>
                </a:solidFill>
                <a:effectLst/>
                <a:latin typeface="ui-sans-serif"/>
              </a:rPr>
              <a:t>GATT </a:t>
            </a:r>
            <a:r>
              <a:rPr lang="zh-CN" altLang="en-US" sz="1200" b="0" dirty="0">
                <a:solidFill>
                  <a:srgbClr val="000000"/>
                </a:solidFill>
                <a:effectLst/>
                <a:latin typeface="ui-sans-serif"/>
              </a:rPr>
              <a:t>数据库（</a:t>
            </a:r>
            <a:r>
              <a:rPr lang="en-US" altLang="zh-CN" sz="1200" b="0" dirty="0">
                <a:solidFill>
                  <a:srgbClr val="000000"/>
                </a:solidFill>
                <a:effectLst/>
                <a:latin typeface="ui-sans-serif"/>
              </a:rPr>
              <a:t>GATT Database</a:t>
            </a:r>
            <a:r>
              <a:rPr lang="zh-CN" altLang="en-US" sz="1200" b="0" dirty="0">
                <a:solidFill>
                  <a:srgbClr val="000000"/>
                </a:solidFill>
                <a:effectLst/>
                <a:latin typeface="ui-sans-serif"/>
              </a:rPr>
              <a:t>）</a:t>
            </a:r>
          </a:p>
          <a:p>
            <a:pPr algn="l">
              <a:lnSpc>
                <a:spcPts val="1800"/>
              </a:lnSpc>
              <a:buFont typeface="Arial" panose="020B0604020202020204" pitchFamily="34" charset="0"/>
              <a:buChar char="•"/>
            </a:pPr>
            <a:r>
              <a:rPr lang="zh-CN" altLang="en-US" sz="1200" b="1" dirty="0">
                <a:solidFill>
                  <a:srgbClr val="000000"/>
                </a:solidFill>
                <a:effectLst/>
                <a:latin typeface="ui-sans-serif"/>
              </a:rPr>
              <a:t>定义</a:t>
            </a:r>
            <a:r>
              <a:rPr lang="zh-CN" altLang="en-US" sz="1200" b="0" dirty="0">
                <a:solidFill>
                  <a:srgbClr val="000000"/>
                </a:solidFill>
                <a:effectLst/>
                <a:latin typeface="ui-sans-serif"/>
              </a:rPr>
              <a:t>：</a:t>
            </a:r>
            <a:r>
              <a:rPr lang="en-US" altLang="zh-CN" sz="1200" b="0" dirty="0">
                <a:solidFill>
                  <a:srgbClr val="000000"/>
                </a:solidFill>
                <a:effectLst/>
                <a:latin typeface="ui-sans-serif"/>
              </a:rPr>
              <a:t>GATT Server </a:t>
            </a:r>
            <a:r>
              <a:rPr lang="zh-CN" altLang="en-US" sz="1200" b="0" dirty="0">
                <a:solidFill>
                  <a:srgbClr val="000000"/>
                </a:solidFill>
                <a:effectLst/>
                <a:latin typeface="ui-sans-serif"/>
              </a:rPr>
              <a:t>侧存储的 “服务 </a:t>
            </a:r>
            <a:r>
              <a:rPr lang="en-US" altLang="zh-CN" sz="1200" b="0" dirty="0">
                <a:solidFill>
                  <a:srgbClr val="000000"/>
                </a:solidFill>
                <a:effectLst/>
                <a:latin typeface="ui-sans-serif"/>
              </a:rPr>
              <a:t>- </a:t>
            </a:r>
            <a:r>
              <a:rPr lang="zh-CN" altLang="en-US" sz="1200" b="0" dirty="0">
                <a:solidFill>
                  <a:srgbClr val="000000"/>
                </a:solidFill>
                <a:effectLst/>
                <a:latin typeface="ui-sans-serif"/>
              </a:rPr>
              <a:t>特征值 </a:t>
            </a:r>
            <a:r>
              <a:rPr lang="en-US" altLang="zh-CN" sz="1200" b="0" dirty="0">
                <a:solidFill>
                  <a:srgbClr val="000000"/>
                </a:solidFill>
                <a:effectLst/>
                <a:latin typeface="ui-sans-serif"/>
              </a:rPr>
              <a:t>- </a:t>
            </a:r>
            <a:r>
              <a:rPr lang="zh-CN" altLang="en-US" sz="1200" b="0" dirty="0">
                <a:solidFill>
                  <a:srgbClr val="000000"/>
                </a:solidFill>
                <a:effectLst/>
                <a:latin typeface="ui-sans-serif"/>
              </a:rPr>
              <a:t>描述符” 集合，相当于设备的 “数据字典”，客户端通过 </a:t>
            </a:r>
            <a:r>
              <a:rPr lang="en-US" altLang="zh-CN" sz="1200" b="0" dirty="0">
                <a:solidFill>
                  <a:srgbClr val="000000"/>
                </a:solidFill>
                <a:effectLst/>
                <a:latin typeface="ui-sans-serif"/>
              </a:rPr>
              <a:t>ATT </a:t>
            </a:r>
            <a:r>
              <a:rPr lang="zh-CN" altLang="en-US" sz="1200" b="0" dirty="0">
                <a:solidFill>
                  <a:srgbClr val="000000"/>
                </a:solidFill>
                <a:effectLst/>
                <a:latin typeface="ui-sans-serif"/>
              </a:rPr>
              <a:t>协议访问。</a:t>
            </a:r>
          </a:p>
          <a:p>
            <a:pPr algn="l">
              <a:lnSpc>
                <a:spcPts val="1800"/>
              </a:lnSpc>
              <a:buFont typeface="Arial" panose="020B0604020202020204" pitchFamily="34" charset="0"/>
              <a:buChar char="•"/>
            </a:pPr>
            <a:r>
              <a:rPr lang="zh-CN" altLang="en-US" sz="1200" b="1" dirty="0">
                <a:solidFill>
                  <a:srgbClr val="000000"/>
                </a:solidFill>
                <a:effectLst/>
                <a:latin typeface="ui-sans-serif"/>
              </a:rPr>
              <a:t>组织方式</a:t>
            </a:r>
            <a:r>
              <a:rPr lang="zh-CN" altLang="en-US" sz="1200" b="0" dirty="0">
                <a:solidFill>
                  <a:srgbClr val="000000"/>
                </a:solidFill>
                <a:effectLst/>
                <a:latin typeface="ui-sans-serif"/>
              </a:rPr>
              <a:t>：按 “句柄（</a:t>
            </a:r>
            <a:r>
              <a:rPr lang="en-US" altLang="zh-CN" sz="1200" b="0" dirty="0">
                <a:solidFill>
                  <a:srgbClr val="000000"/>
                </a:solidFill>
                <a:effectLst/>
                <a:latin typeface="ui-sans-serif"/>
              </a:rPr>
              <a:t>Handle</a:t>
            </a:r>
            <a:r>
              <a:rPr lang="zh-CN" altLang="en-US" sz="1200" b="0" dirty="0">
                <a:solidFill>
                  <a:srgbClr val="000000"/>
                </a:solidFill>
                <a:effectLst/>
                <a:latin typeface="ui-sans-serif"/>
              </a:rPr>
              <a:t>）” 有序排列，句柄为 </a:t>
            </a:r>
            <a:r>
              <a:rPr lang="en-US" altLang="zh-CN" sz="1200" b="0" dirty="0">
                <a:solidFill>
                  <a:srgbClr val="000000"/>
                </a:solidFill>
                <a:effectLst/>
                <a:latin typeface="ui-sans-serif"/>
              </a:rPr>
              <a:t>16 </a:t>
            </a:r>
            <a:r>
              <a:rPr lang="zh-CN" altLang="en-US" sz="1200" b="0" dirty="0">
                <a:solidFill>
                  <a:srgbClr val="000000"/>
                </a:solidFill>
                <a:effectLst/>
                <a:latin typeface="ui-sans-serif"/>
              </a:rPr>
              <a:t>位整数（</a:t>
            </a:r>
            <a:r>
              <a:rPr lang="en-US" altLang="zh-CN" sz="1200" b="0" dirty="0">
                <a:solidFill>
                  <a:srgbClr val="000000"/>
                </a:solidFill>
                <a:effectLst/>
                <a:latin typeface="ui-sans-serif"/>
              </a:rPr>
              <a:t>1~0xFFFF</a:t>
            </a:r>
            <a:r>
              <a:rPr lang="zh-CN" altLang="en-US" sz="1200" b="0" dirty="0">
                <a:solidFill>
                  <a:srgbClr val="000000"/>
                </a:solidFill>
                <a:effectLst/>
                <a:latin typeface="ui-sans-serif"/>
              </a:rPr>
              <a:t>），客户端通过 “句柄范围” 或 “</a:t>
            </a:r>
            <a:r>
              <a:rPr lang="en-US" altLang="zh-CN" sz="1200" b="0" dirty="0">
                <a:solidFill>
                  <a:srgbClr val="000000"/>
                </a:solidFill>
                <a:effectLst/>
                <a:latin typeface="ui-sans-serif"/>
              </a:rPr>
              <a:t>UUID” </a:t>
            </a:r>
            <a:r>
              <a:rPr lang="zh-CN" altLang="en-US" sz="1200" b="0" dirty="0">
                <a:solidFill>
                  <a:srgbClr val="000000"/>
                </a:solidFill>
                <a:effectLst/>
                <a:latin typeface="ui-sans-serif"/>
              </a:rPr>
              <a:t>查询服务 </a:t>
            </a:r>
            <a:r>
              <a:rPr lang="en-US" altLang="zh-CN" sz="1200" b="0" dirty="0">
                <a:solidFill>
                  <a:srgbClr val="000000"/>
                </a:solidFill>
                <a:effectLst/>
                <a:latin typeface="ui-sans-serif"/>
              </a:rPr>
              <a:t>/ </a:t>
            </a:r>
            <a:r>
              <a:rPr lang="zh-CN" altLang="en-US" sz="1200" b="0" dirty="0">
                <a:solidFill>
                  <a:srgbClr val="000000"/>
                </a:solidFill>
                <a:effectLst/>
                <a:latin typeface="ui-sans-serif"/>
              </a:rPr>
              <a:t>特征值。</a:t>
            </a:r>
          </a:p>
        </p:txBody>
      </p:sp>
    </p:spTree>
    <p:extLst>
      <p:ext uri="{BB962C8B-B14F-4D97-AF65-F5344CB8AC3E}">
        <p14:creationId xmlns:p14="http://schemas.microsoft.com/office/powerpoint/2010/main" val="4258881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FA2FA-41C2-11A4-0F40-1EBDFFDDFCCD}"/>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A4F47AAA-35C1-BDC4-EC7D-41A9273023AA}"/>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核心组件：服务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特征值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描述符层级模型</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241CD588-B2EA-FDCC-18A0-C7BEA3869473}"/>
              </a:ext>
            </a:extLst>
          </p:cNvPr>
          <p:cNvSpPr txBox="1"/>
          <p:nvPr/>
        </p:nvSpPr>
        <p:spPr>
          <a:xfrm>
            <a:off x="215591" y="738346"/>
            <a:ext cx="8745530" cy="3303918"/>
          </a:xfrm>
          <a:prstGeom prst="rect">
            <a:avLst/>
          </a:prstGeom>
          <a:noFill/>
        </p:spPr>
        <p:txBody>
          <a:bodyPr wrap="square">
            <a:spAutoFit/>
          </a:bodyPr>
          <a:lstStyle/>
          <a:p>
            <a:pPr algn="l">
              <a:lnSpc>
                <a:spcPts val="1800"/>
              </a:lnSpc>
              <a:buNone/>
            </a:pPr>
            <a:r>
              <a:rPr lang="zh-CN" altLang="en-US" sz="1200" b="0" dirty="0">
                <a:solidFill>
                  <a:srgbClr val="000000"/>
                </a:solidFill>
                <a:effectLst/>
                <a:latin typeface="ui-sans-serif"/>
              </a:rPr>
              <a:t>（</a:t>
            </a:r>
            <a:r>
              <a:rPr lang="en-US" altLang="zh-CN" sz="1200" dirty="0">
                <a:solidFill>
                  <a:srgbClr val="000000"/>
                </a:solidFill>
                <a:latin typeface="ui-sans-serif"/>
              </a:rPr>
              <a:t>3</a:t>
            </a:r>
            <a:r>
              <a:rPr lang="zh-CN" altLang="en-US" sz="1200" b="0" dirty="0">
                <a:solidFill>
                  <a:srgbClr val="000000"/>
                </a:solidFill>
                <a:effectLst/>
                <a:latin typeface="ui-sans-serif"/>
              </a:rPr>
              <a:t>）特征值（</a:t>
            </a:r>
            <a:r>
              <a:rPr lang="en-US" altLang="zh-CN" sz="1200" b="0" dirty="0">
                <a:solidFill>
                  <a:srgbClr val="000000"/>
                </a:solidFill>
                <a:effectLst/>
                <a:latin typeface="ui-sans-serif"/>
              </a:rPr>
              <a:t>Characteristic</a:t>
            </a:r>
            <a:r>
              <a:rPr lang="zh-CN" altLang="en-US" sz="1200" b="0" dirty="0">
                <a:solidFill>
                  <a:srgbClr val="000000"/>
                </a:solidFill>
                <a:effectLst/>
                <a:latin typeface="ui-sans-serif"/>
              </a:rPr>
              <a:t>）</a:t>
            </a:r>
          </a:p>
          <a:p>
            <a:pPr algn="l">
              <a:lnSpc>
                <a:spcPts val="1800"/>
              </a:lnSpc>
              <a:buFont typeface="Arial" panose="020B0604020202020204" pitchFamily="34" charset="0"/>
              <a:buChar char="•"/>
            </a:pPr>
            <a:r>
              <a:rPr lang="zh-CN" altLang="en-US" sz="1200" b="1" dirty="0">
                <a:solidFill>
                  <a:srgbClr val="000000"/>
                </a:solidFill>
                <a:effectLst/>
                <a:latin typeface="ui-sans-serif"/>
              </a:rPr>
              <a:t>定义</a:t>
            </a:r>
            <a:r>
              <a:rPr lang="zh-CN" altLang="en-US" sz="1200" b="0" dirty="0">
                <a:solidFill>
                  <a:srgbClr val="000000"/>
                </a:solidFill>
                <a:effectLst/>
                <a:latin typeface="ui-sans-serif"/>
              </a:rPr>
              <a:t>：服务的最小功能单元，存储具体数据（如 “电池电量值”“温度值”），是 </a:t>
            </a:r>
            <a:r>
              <a:rPr lang="en-US" altLang="zh-CN" sz="1200" b="0" dirty="0">
                <a:solidFill>
                  <a:srgbClr val="000000"/>
                </a:solidFill>
                <a:effectLst/>
                <a:latin typeface="ui-sans-serif"/>
              </a:rPr>
              <a:t>GATT </a:t>
            </a:r>
            <a:r>
              <a:rPr lang="zh-CN" altLang="en-US" sz="1200" b="0" dirty="0">
                <a:solidFill>
                  <a:srgbClr val="000000"/>
                </a:solidFill>
                <a:effectLst/>
                <a:latin typeface="ui-sans-serif"/>
              </a:rPr>
              <a:t>交互的核心对象。</a:t>
            </a:r>
          </a:p>
          <a:p>
            <a:pPr algn="l">
              <a:lnSpc>
                <a:spcPts val="1800"/>
              </a:lnSpc>
              <a:buFont typeface="Arial" panose="020B0604020202020204" pitchFamily="34" charset="0"/>
              <a:buChar char="•"/>
            </a:pPr>
            <a:r>
              <a:rPr lang="zh-CN" altLang="en-US" sz="1200" b="1" dirty="0">
                <a:solidFill>
                  <a:srgbClr val="000000"/>
                </a:solidFill>
                <a:effectLst/>
                <a:latin typeface="ui-sans-serif"/>
              </a:rPr>
              <a:t>结构</a:t>
            </a:r>
            <a:r>
              <a:rPr lang="zh-CN" altLang="en-US" sz="1200" b="0" dirty="0">
                <a:solidFill>
                  <a:srgbClr val="000000"/>
                </a:solidFill>
                <a:effectLst/>
                <a:latin typeface="ui-sans-serif"/>
              </a:rPr>
              <a:t>：每个特征值包含 </a:t>
            </a:r>
            <a:r>
              <a:rPr lang="en-US" altLang="zh-CN" sz="1200" b="0" dirty="0">
                <a:solidFill>
                  <a:srgbClr val="000000"/>
                </a:solidFill>
                <a:effectLst/>
                <a:latin typeface="ui-sans-serif"/>
              </a:rPr>
              <a:t>3 </a:t>
            </a:r>
            <a:r>
              <a:rPr lang="zh-CN" altLang="en-US" sz="1200" b="0" dirty="0">
                <a:solidFill>
                  <a:srgbClr val="000000"/>
                </a:solidFill>
                <a:effectLst/>
                <a:latin typeface="ui-sans-serif"/>
              </a:rPr>
              <a:t>个关键部分：</a:t>
            </a:r>
          </a:p>
          <a:p>
            <a:pPr marL="742950" lvl="1" indent="-285750" algn="l">
              <a:lnSpc>
                <a:spcPts val="1800"/>
              </a:lnSpc>
              <a:buFont typeface="Arial" panose="020B0604020202020204" pitchFamily="34" charset="0"/>
              <a:buChar char="•"/>
            </a:pPr>
            <a:r>
              <a:rPr lang="zh-CN" altLang="en-US" sz="1200" b="1" dirty="0">
                <a:solidFill>
                  <a:srgbClr val="000000"/>
                </a:solidFill>
                <a:effectLst/>
                <a:latin typeface="ui-sans-serif"/>
              </a:rPr>
              <a:t>特征值声明（</a:t>
            </a:r>
            <a:r>
              <a:rPr lang="en-US" altLang="zh-CN" sz="1200" b="1" dirty="0">
                <a:solidFill>
                  <a:srgbClr val="000000"/>
                </a:solidFill>
                <a:effectLst/>
                <a:latin typeface="ui-sans-serif"/>
              </a:rPr>
              <a:t>Characteristic Declaration</a:t>
            </a:r>
            <a:r>
              <a:rPr lang="zh-CN" altLang="en-US" sz="1200" b="1" dirty="0">
                <a:solidFill>
                  <a:srgbClr val="000000"/>
                </a:solidFill>
                <a:effectLst/>
                <a:latin typeface="ui-sans-serif"/>
              </a:rPr>
              <a:t>）</a:t>
            </a:r>
            <a:r>
              <a:rPr lang="zh-CN" altLang="en-US" sz="1200" b="0" dirty="0">
                <a:solidFill>
                  <a:srgbClr val="000000"/>
                </a:solidFill>
                <a:effectLst/>
                <a:latin typeface="ui-sans-serif"/>
              </a:rPr>
              <a:t>：描述特征值的基本信息，包括：</a:t>
            </a:r>
          </a:p>
          <a:p>
            <a:pPr marL="1143000" lvl="2" indent="-228600" algn="l">
              <a:lnSpc>
                <a:spcPts val="1800"/>
              </a:lnSpc>
              <a:buFont typeface="Arial" panose="020B0604020202020204" pitchFamily="34" charset="0"/>
              <a:buChar char="•"/>
            </a:pPr>
            <a:r>
              <a:rPr lang="zh-CN" altLang="en-US" sz="1200" b="0" dirty="0">
                <a:solidFill>
                  <a:srgbClr val="000000"/>
                </a:solidFill>
                <a:effectLst/>
                <a:latin typeface="ui-sans-serif"/>
              </a:rPr>
              <a:t>特征值 </a:t>
            </a:r>
            <a:r>
              <a:rPr lang="en-US" altLang="zh-CN" sz="1200" b="0" dirty="0">
                <a:solidFill>
                  <a:srgbClr val="000000"/>
                </a:solidFill>
                <a:effectLst/>
                <a:latin typeface="ui-sans-serif"/>
              </a:rPr>
              <a:t>UUID</a:t>
            </a:r>
            <a:r>
              <a:rPr lang="zh-CN" altLang="en-US" sz="1200" b="0" dirty="0">
                <a:solidFill>
                  <a:srgbClr val="000000"/>
                </a:solidFill>
                <a:effectLst/>
                <a:latin typeface="ui-sans-serif"/>
              </a:rPr>
              <a:t>：标识数据类型（如 </a:t>
            </a:r>
            <a:r>
              <a:rPr lang="en-US" altLang="zh-CN" sz="1200" b="0" dirty="0">
                <a:solidFill>
                  <a:srgbClr val="000000"/>
                </a:solidFill>
                <a:effectLst/>
                <a:latin typeface="ui-monospace"/>
              </a:rPr>
              <a:t>0x2A19</a:t>
            </a:r>
            <a:r>
              <a:rPr lang="zh-CN" altLang="en-US" sz="1200" b="0" dirty="0">
                <a:solidFill>
                  <a:srgbClr val="000000"/>
                </a:solidFill>
                <a:effectLst/>
                <a:latin typeface="ui-sans-serif"/>
              </a:rPr>
              <a:t> 为 “电池电量”）。</a:t>
            </a:r>
          </a:p>
          <a:p>
            <a:pPr marL="1143000" lvl="2" indent="-228600" algn="l">
              <a:lnSpc>
                <a:spcPts val="1800"/>
              </a:lnSpc>
              <a:buFont typeface="Arial" panose="020B0604020202020204" pitchFamily="34" charset="0"/>
              <a:buChar char="•"/>
            </a:pPr>
            <a:r>
              <a:rPr lang="zh-CN" altLang="en-US" sz="1200" b="0" dirty="0">
                <a:solidFill>
                  <a:srgbClr val="000000"/>
                </a:solidFill>
                <a:effectLst/>
                <a:latin typeface="ui-sans-serif"/>
              </a:rPr>
              <a:t>属性权限（</a:t>
            </a:r>
            <a:r>
              <a:rPr lang="en-US" altLang="zh-CN" sz="1200" b="0" dirty="0">
                <a:solidFill>
                  <a:srgbClr val="000000"/>
                </a:solidFill>
                <a:effectLst/>
                <a:latin typeface="ui-sans-serif"/>
              </a:rPr>
              <a:t>Properties</a:t>
            </a:r>
            <a:r>
              <a:rPr lang="zh-CN" altLang="en-US" sz="1200" b="0" dirty="0">
                <a:solidFill>
                  <a:srgbClr val="000000"/>
                </a:solidFill>
                <a:effectLst/>
                <a:latin typeface="ui-sans-serif"/>
              </a:rPr>
              <a:t>）：定义该特征值支持的操作（如 </a:t>
            </a:r>
            <a:r>
              <a:rPr lang="en-US" altLang="zh-CN" sz="1200" b="0" dirty="0">
                <a:solidFill>
                  <a:srgbClr val="000000"/>
                </a:solidFill>
                <a:effectLst/>
                <a:latin typeface="ui-monospace"/>
              </a:rPr>
              <a:t>0x02</a:t>
            </a:r>
            <a:r>
              <a:rPr lang="zh-CN" altLang="en-US" sz="1200" b="0" dirty="0">
                <a:solidFill>
                  <a:srgbClr val="000000"/>
                </a:solidFill>
                <a:effectLst/>
                <a:latin typeface="ui-sans-serif"/>
              </a:rPr>
              <a:t> 表示 “可读”，</a:t>
            </a:r>
            <a:r>
              <a:rPr lang="en-US" altLang="zh-CN" sz="1200" b="0" dirty="0">
                <a:solidFill>
                  <a:srgbClr val="000000"/>
                </a:solidFill>
                <a:effectLst/>
                <a:latin typeface="ui-monospace"/>
              </a:rPr>
              <a:t>0x10</a:t>
            </a:r>
            <a:r>
              <a:rPr lang="zh-CN" altLang="en-US" sz="1200" b="0" dirty="0">
                <a:solidFill>
                  <a:srgbClr val="000000"/>
                </a:solidFill>
                <a:effectLst/>
                <a:latin typeface="ui-sans-serif"/>
              </a:rPr>
              <a:t> 表示 “通知”）。</a:t>
            </a:r>
          </a:p>
          <a:p>
            <a:pPr marL="1143000" lvl="2" indent="-228600" algn="l">
              <a:lnSpc>
                <a:spcPts val="1800"/>
              </a:lnSpc>
              <a:buFont typeface="Arial" panose="020B0604020202020204" pitchFamily="34" charset="0"/>
              <a:buChar char="•"/>
            </a:pPr>
            <a:r>
              <a:rPr lang="zh-CN" altLang="en-US" sz="1200" b="0" dirty="0">
                <a:solidFill>
                  <a:srgbClr val="000000"/>
                </a:solidFill>
                <a:effectLst/>
                <a:latin typeface="ui-sans-serif"/>
              </a:rPr>
              <a:t>特征值值句柄（</a:t>
            </a:r>
            <a:r>
              <a:rPr lang="en-US" altLang="zh-CN" sz="1200" b="0" dirty="0">
                <a:solidFill>
                  <a:srgbClr val="000000"/>
                </a:solidFill>
                <a:effectLst/>
                <a:latin typeface="ui-sans-serif"/>
              </a:rPr>
              <a:t>Value Handle</a:t>
            </a:r>
            <a:r>
              <a:rPr lang="zh-CN" altLang="en-US" sz="1200" b="0" dirty="0">
                <a:solidFill>
                  <a:srgbClr val="000000"/>
                </a:solidFill>
                <a:effectLst/>
                <a:latin typeface="ui-sans-serif"/>
              </a:rPr>
              <a:t>）：指向实际数据存储的句柄。</a:t>
            </a:r>
          </a:p>
          <a:p>
            <a:pPr marL="742950" lvl="1" indent="-285750" algn="l">
              <a:lnSpc>
                <a:spcPts val="1800"/>
              </a:lnSpc>
              <a:buFont typeface="Arial" panose="020B0604020202020204" pitchFamily="34" charset="0"/>
              <a:buChar char="•"/>
            </a:pPr>
            <a:r>
              <a:rPr lang="zh-CN" altLang="en-US" sz="1200" b="1" dirty="0">
                <a:solidFill>
                  <a:srgbClr val="000000"/>
                </a:solidFill>
                <a:effectLst/>
                <a:latin typeface="ui-sans-serif"/>
              </a:rPr>
              <a:t>特征值值（</a:t>
            </a:r>
            <a:r>
              <a:rPr lang="en-US" altLang="zh-CN" sz="1200" b="1" dirty="0">
                <a:solidFill>
                  <a:srgbClr val="000000"/>
                </a:solidFill>
                <a:effectLst/>
                <a:latin typeface="ui-sans-serif"/>
              </a:rPr>
              <a:t>Characteristic Value</a:t>
            </a:r>
            <a:r>
              <a:rPr lang="zh-CN" altLang="en-US" sz="1200" b="1" dirty="0">
                <a:solidFill>
                  <a:srgbClr val="000000"/>
                </a:solidFill>
                <a:effectLst/>
                <a:latin typeface="ui-sans-serif"/>
              </a:rPr>
              <a:t>）</a:t>
            </a:r>
            <a:r>
              <a:rPr lang="zh-CN" altLang="en-US" sz="1200" b="0" dirty="0">
                <a:solidFill>
                  <a:srgbClr val="000000"/>
                </a:solidFill>
                <a:effectLst/>
                <a:latin typeface="ui-sans-serif"/>
              </a:rPr>
              <a:t>：存储具体数据（如电池电量为 </a:t>
            </a:r>
            <a:r>
              <a:rPr lang="en-US" altLang="zh-CN" sz="1200" b="0" dirty="0">
                <a:solidFill>
                  <a:srgbClr val="000000"/>
                </a:solidFill>
                <a:effectLst/>
                <a:latin typeface="ui-monospace"/>
              </a:rPr>
              <a:t>0x64</a:t>
            </a:r>
            <a:r>
              <a:rPr lang="zh-CN" altLang="en-US" sz="1200" b="0" dirty="0">
                <a:solidFill>
                  <a:srgbClr val="000000"/>
                </a:solidFill>
                <a:effectLst/>
                <a:latin typeface="ui-sans-serif"/>
              </a:rPr>
              <a:t> 表示 </a:t>
            </a:r>
            <a:r>
              <a:rPr lang="en-US" altLang="zh-CN" sz="1200" b="0" dirty="0">
                <a:solidFill>
                  <a:srgbClr val="000000"/>
                </a:solidFill>
                <a:effectLst/>
                <a:latin typeface="ui-sans-serif"/>
              </a:rPr>
              <a:t>100%</a:t>
            </a:r>
            <a:r>
              <a:rPr lang="zh-CN" altLang="en-US" sz="1200" b="0" dirty="0">
                <a:solidFill>
                  <a:srgbClr val="000000"/>
                </a:solidFill>
                <a:effectLst/>
                <a:latin typeface="ui-sans-serif"/>
              </a:rPr>
              <a:t>），数据格式由 </a:t>
            </a:r>
            <a:r>
              <a:rPr lang="en-US" altLang="zh-CN" sz="1200" b="0" dirty="0">
                <a:solidFill>
                  <a:srgbClr val="000000"/>
                </a:solidFill>
                <a:effectLst/>
                <a:latin typeface="ui-sans-serif"/>
              </a:rPr>
              <a:t>UUID </a:t>
            </a:r>
            <a:r>
              <a:rPr lang="zh-CN" altLang="en-US" sz="1200" b="0" dirty="0">
                <a:solidFill>
                  <a:srgbClr val="000000"/>
                </a:solidFill>
                <a:effectLst/>
                <a:latin typeface="ui-sans-serif"/>
              </a:rPr>
              <a:t>定义（如 “电池电量” 为 </a:t>
            </a:r>
            <a:r>
              <a:rPr lang="en-US" altLang="zh-CN" sz="1200" b="0" dirty="0">
                <a:solidFill>
                  <a:srgbClr val="000000"/>
                </a:solidFill>
                <a:effectLst/>
                <a:latin typeface="ui-sans-serif"/>
              </a:rPr>
              <a:t>1 </a:t>
            </a:r>
            <a:r>
              <a:rPr lang="zh-CN" altLang="en-US" sz="1200" b="0" dirty="0">
                <a:solidFill>
                  <a:srgbClr val="000000"/>
                </a:solidFill>
                <a:effectLst/>
                <a:latin typeface="ui-sans-serif"/>
              </a:rPr>
              <a:t>字节无符号整数）。</a:t>
            </a:r>
          </a:p>
          <a:p>
            <a:pPr marL="742950" lvl="1" indent="-285750" algn="l">
              <a:lnSpc>
                <a:spcPts val="1800"/>
              </a:lnSpc>
              <a:buFont typeface="Arial" panose="020B0604020202020204" pitchFamily="34" charset="0"/>
              <a:buChar char="•"/>
            </a:pPr>
            <a:r>
              <a:rPr lang="zh-CN" altLang="en-US" sz="1200" b="1" dirty="0">
                <a:solidFill>
                  <a:srgbClr val="000000"/>
                </a:solidFill>
                <a:effectLst/>
                <a:latin typeface="ui-sans-serif"/>
              </a:rPr>
              <a:t>特征值描述符（</a:t>
            </a:r>
            <a:r>
              <a:rPr lang="en-US" altLang="zh-CN" sz="1200" b="1" dirty="0">
                <a:solidFill>
                  <a:srgbClr val="000000"/>
                </a:solidFill>
                <a:effectLst/>
                <a:latin typeface="ui-sans-serif"/>
              </a:rPr>
              <a:t>Characteristic Descriptor</a:t>
            </a:r>
            <a:r>
              <a:rPr lang="zh-CN" altLang="en-US" sz="1200" b="1" dirty="0">
                <a:solidFill>
                  <a:srgbClr val="000000"/>
                </a:solidFill>
                <a:effectLst/>
                <a:latin typeface="ui-sans-serif"/>
              </a:rPr>
              <a:t>）</a:t>
            </a:r>
            <a:r>
              <a:rPr lang="zh-CN" altLang="en-US" sz="1200" b="0" dirty="0">
                <a:solidFill>
                  <a:srgbClr val="000000"/>
                </a:solidFill>
                <a:effectLst/>
                <a:latin typeface="ui-sans-serif"/>
              </a:rPr>
              <a:t>：可选组件，补充特征值的元信息，常见类型：</a:t>
            </a:r>
          </a:p>
          <a:p>
            <a:pPr marL="1143000" lvl="2" indent="-228600" algn="l">
              <a:lnSpc>
                <a:spcPts val="1800"/>
              </a:lnSpc>
              <a:buFont typeface="Arial" panose="020B0604020202020204" pitchFamily="34" charset="0"/>
              <a:buChar char="•"/>
            </a:pPr>
            <a:r>
              <a:rPr lang="zh-CN" altLang="en-US" sz="1200" b="1" dirty="0">
                <a:solidFill>
                  <a:srgbClr val="000000"/>
                </a:solidFill>
                <a:effectLst/>
                <a:latin typeface="ui-sans-serif"/>
              </a:rPr>
              <a:t>客户端特征值配置描述符（</a:t>
            </a:r>
            <a:r>
              <a:rPr lang="en-US" altLang="zh-CN" sz="1200" b="1" dirty="0">
                <a:solidFill>
                  <a:srgbClr val="000000"/>
                </a:solidFill>
                <a:effectLst/>
                <a:latin typeface="ui-sans-serif"/>
              </a:rPr>
              <a:t>CCCD, 0x2902</a:t>
            </a:r>
            <a:r>
              <a:rPr lang="zh-CN" altLang="en-US" sz="1200" b="1" dirty="0">
                <a:solidFill>
                  <a:srgbClr val="000000"/>
                </a:solidFill>
                <a:effectLst/>
                <a:latin typeface="ui-sans-serif"/>
              </a:rPr>
              <a:t>）</a:t>
            </a:r>
            <a:r>
              <a:rPr lang="zh-CN" altLang="en-US" sz="1200" b="0" dirty="0">
                <a:solidFill>
                  <a:srgbClr val="000000"/>
                </a:solidFill>
                <a:effectLst/>
                <a:latin typeface="ui-sans-serif"/>
              </a:rPr>
              <a:t>：控制特征值的 “通知 </a:t>
            </a:r>
            <a:r>
              <a:rPr lang="en-US" altLang="zh-CN" sz="1200" b="0" dirty="0">
                <a:solidFill>
                  <a:srgbClr val="000000"/>
                </a:solidFill>
                <a:effectLst/>
                <a:latin typeface="ui-sans-serif"/>
              </a:rPr>
              <a:t>/ </a:t>
            </a:r>
            <a:r>
              <a:rPr lang="zh-CN" altLang="en-US" sz="1200" b="0" dirty="0">
                <a:solidFill>
                  <a:srgbClr val="000000"/>
                </a:solidFill>
                <a:effectLst/>
                <a:latin typeface="ui-sans-serif"/>
              </a:rPr>
              <a:t>指示” 功能（如客户端写入 </a:t>
            </a:r>
            <a:r>
              <a:rPr lang="en-US" altLang="zh-CN" sz="1200" b="0" dirty="0">
                <a:solidFill>
                  <a:srgbClr val="000000"/>
                </a:solidFill>
                <a:effectLst/>
                <a:latin typeface="ui-monospace"/>
              </a:rPr>
              <a:t>0x0001</a:t>
            </a:r>
            <a:r>
              <a:rPr lang="zh-CN" altLang="en-US" sz="1200" b="0" dirty="0">
                <a:solidFill>
                  <a:srgbClr val="000000"/>
                </a:solidFill>
                <a:effectLst/>
                <a:latin typeface="ui-sans-serif"/>
              </a:rPr>
              <a:t> 启用通知，设备数据更新时主动推送）。</a:t>
            </a:r>
          </a:p>
          <a:p>
            <a:pPr marL="1143000" lvl="2" indent="-228600" algn="l">
              <a:lnSpc>
                <a:spcPts val="1800"/>
              </a:lnSpc>
              <a:buFont typeface="Arial" panose="020B0604020202020204" pitchFamily="34" charset="0"/>
              <a:buChar char="•"/>
            </a:pPr>
            <a:r>
              <a:rPr lang="zh-CN" altLang="en-US" sz="1200" b="1" dirty="0">
                <a:solidFill>
                  <a:srgbClr val="000000"/>
                </a:solidFill>
                <a:effectLst/>
                <a:latin typeface="ui-sans-serif"/>
              </a:rPr>
              <a:t>用户描述符（</a:t>
            </a:r>
            <a:r>
              <a:rPr lang="en-US" altLang="zh-CN" sz="1200" b="1" dirty="0">
                <a:solidFill>
                  <a:srgbClr val="000000"/>
                </a:solidFill>
                <a:effectLst/>
                <a:latin typeface="ui-sans-serif"/>
              </a:rPr>
              <a:t>0x2901</a:t>
            </a:r>
            <a:r>
              <a:rPr lang="zh-CN" altLang="en-US" sz="1200" b="1" dirty="0">
                <a:solidFill>
                  <a:srgbClr val="000000"/>
                </a:solidFill>
                <a:effectLst/>
                <a:latin typeface="ui-sans-serif"/>
              </a:rPr>
              <a:t>）</a:t>
            </a:r>
            <a:r>
              <a:rPr lang="zh-CN" altLang="en-US" sz="1200" b="0" dirty="0">
                <a:solidFill>
                  <a:srgbClr val="000000"/>
                </a:solidFill>
                <a:effectLst/>
                <a:latin typeface="ui-sans-serif"/>
              </a:rPr>
              <a:t>：描述特征值的用途（如 “当前心率”），提升可读性。</a:t>
            </a:r>
          </a:p>
          <a:p>
            <a:pPr marL="1143000" lvl="2" indent="-228600" algn="l">
              <a:lnSpc>
                <a:spcPts val="1800"/>
              </a:lnSpc>
              <a:buFont typeface="Arial" panose="020B0604020202020204" pitchFamily="34" charset="0"/>
              <a:buChar char="•"/>
            </a:pPr>
            <a:r>
              <a:rPr lang="zh-CN" altLang="en-US" sz="1200" b="1" dirty="0">
                <a:solidFill>
                  <a:srgbClr val="000000"/>
                </a:solidFill>
                <a:effectLst/>
                <a:latin typeface="ui-sans-serif"/>
              </a:rPr>
              <a:t>格式描述符（</a:t>
            </a:r>
            <a:r>
              <a:rPr lang="en-US" altLang="zh-CN" sz="1200" b="1" dirty="0">
                <a:solidFill>
                  <a:srgbClr val="000000"/>
                </a:solidFill>
                <a:effectLst/>
                <a:latin typeface="ui-sans-serif"/>
              </a:rPr>
              <a:t>0x2904</a:t>
            </a:r>
            <a:r>
              <a:rPr lang="zh-CN" altLang="en-US" sz="1200" b="1" dirty="0">
                <a:solidFill>
                  <a:srgbClr val="000000"/>
                </a:solidFill>
                <a:effectLst/>
                <a:latin typeface="ui-sans-serif"/>
              </a:rPr>
              <a:t>）</a:t>
            </a:r>
            <a:r>
              <a:rPr lang="zh-CN" altLang="en-US" sz="1200" b="0" dirty="0">
                <a:solidFill>
                  <a:srgbClr val="000000"/>
                </a:solidFill>
                <a:effectLst/>
                <a:latin typeface="ui-sans-serif"/>
              </a:rPr>
              <a:t>：定义数据格式（如整数位数、单位）。</a:t>
            </a:r>
          </a:p>
        </p:txBody>
      </p:sp>
    </p:spTree>
    <p:extLst>
      <p:ext uri="{BB962C8B-B14F-4D97-AF65-F5344CB8AC3E}">
        <p14:creationId xmlns:p14="http://schemas.microsoft.com/office/powerpoint/2010/main" val="1458742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12E1-A487-4B09-7E71-807DDB68D5C9}"/>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77F4C9E4-A4B9-9312-A636-87C5BC3C1E4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主服务发现</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3" name="图片 2" descr="图片包含 表格&#10;&#10;AI 生成的内容可能不正确。">
            <a:extLst>
              <a:ext uri="{FF2B5EF4-FFF2-40B4-BE49-F238E27FC236}">
                <a16:creationId xmlns:a16="http://schemas.microsoft.com/office/drawing/2014/main" id="{C4ECB44E-AFD1-3521-7C57-283B9849608D}"/>
              </a:ext>
            </a:extLst>
          </p:cNvPr>
          <p:cNvPicPr>
            <a:picLocks noChangeAspect="1"/>
          </p:cNvPicPr>
          <p:nvPr/>
        </p:nvPicPr>
        <p:blipFill>
          <a:blip r:embed="rId2"/>
          <a:stretch>
            <a:fillRect/>
          </a:stretch>
        </p:blipFill>
        <p:spPr>
          <a:xfrm>
            <a:off x="215591" y="2108119"/>
            <a:ext cx="3690487" cy="2414208"/>
          </a:xfrm>
          <a:prstGeom prst="rect">
            <a:avLst/>
          </a:prstGeom>
        </p:spPr>
      </p:pic>
      <p:sp>
        <p:nvSpPr>
          <p:cNvPr id="2" name="Rectangle 1">
            <a:extLst>
              <a:ext uri="{FF2B5EF4-FFF2-40B4-BE49-F238E27FC236}">
                <a16:creationId xmlns:a16="http://schemas.microsoft.com/office/drawing/2014/main" id="{763ACB0D-224B-2853-5759-1EF8B1D562A6}"/>
              </a:ext>
            </a:extLst>
          </p:cNvPr>
          <p:cNvSpPr>
            <a:spLocks noChangeArrowheads="1"/>
          </p:cNvSpPr>
          <p:nvPr/>
        </p:nvSpPr>
        <p:spPr bwMode="auto">
          <a:xfrm>
            <a:off x="182879" y="582390"/>
            <a:ext cx="90297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Arial" panose="020B0604020202020204" pitchFamily="34" charset="0"/>
                <a:ea typeface="Inter"/>
              </a:rPr>
              <a:t>Figure4.2</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客户端发送 </a:t>
            </a:r>
            <a:r>
              <a:rPr kumimoji="0" lang="zh-CN" altLang="zh-CN" sz="1200" b="0" i="0" u="none" strike="noStrike" cap="none" normalizeH="0" baseline="0" dirty="0">
                <a:ln>
                  <a:noFill/>
                </a:ln>
                <a:solidFill>
                  <a:srgbClr val="000000"/>
                </a:solidFill>
                <a:effectLst/>
                <a:latin typeface="Arial Unicode MS"/>
                <a:ea typeface="ui-monospace"/>
              </a:rPr>
              <a:t>ATT_READ_BY_GROUP_TYPE_REQ</a:t>
            </a:r>
            <a:r>
              <a:rPr kumimoji="0" lang="zh-CN" altLang="zh-CN" sz="1200" b="0" i="0" u="none" strike="noStrike" cap="none" normalizeH="0" baseline="0" dirty="0">
                <a:ln>
                  <a:noFill/>
                </a:ln>
                <a:solidFill>
                  <a:srgbClr val="000000"/>
                </a:solidFill>
                <a:effectLst/>
                <a:ea typeface="Inter"/>
              </a:rPr>
              <a:t>，起始句柄 </a:t>
            </a:r>
            <a:r>
              <a:rPr kumimoji="0" lang="zh-CN" altLang="zh-CN" sz="1200" b="0" i="0" u="none" strike="noStrike" cap="none" normalizeH="0" baseline="0" dirty="0">
                <a:ln>
                  <a:noFill/>
                </a:ln>
                <a:solidFill>
                  <a:srgbClr val="000000"/>
                </a:solidFill>
                <a:effectLst/>
                <a:latin typeface="Arial Unicode MS"/>
                <a:ea typeface="ui-monospace"/>
              </a:rPr>
              <a:t>0x0001</a:t>
            </a:r>
            <a:r>
              <a:rPr kumimoji="0" lang="zh-CN" altLang="zh-CN" sz="1200" b="0" i="0" u="none" strike="noStrike" cap="none" normalizeH="0" baseline="0" dirty="0">
                <a:ln>
                  <a:noFill/>
                </a:ln>
                <a:solidFill>
                  <a:srgbClr val="000000"/>
                </a:solidFill>
                <a:effectLst/>
                <a:ea typeface="Inter"/>
              </a:rPr>
              <a:t>，结束句柄 </a:t>
            </a:r>
            <a:r>
              <a:rPr kumimoji="0" lang="zh-CN" altLang="zh-CN" sz="1200" b="0" i="0" u="none" strike="noStrike" cap="none" normalizeH="0" baseline="0" dirty="0">
                <a:ln>
                  <a:noFill/>
                </a:ln>
                <a:solidFill>
                  <a:srgbClr val="000000"/>
                </a:solidFill>
                <a:effectLst/>
                <a:latin typeface="Arial Unicode MS"/>
                <a:ea typeface="ui-monospace"/>
              </a:rPr>
              <a:t>0xFFFF</a:t>
            </a:r>
            <a:r>
              <a:rPr kumimoji="0" lang="zh-CN" altLang="zh-CN" sz="1200" b="0" i="0" u="none" strike="noStrike" cap="none" normalizeH="0" baseline="0" dirty="0">
                <a:ln>
                  <a:noFill/>
                </a:ln>
                <a:solidFill>
                  <a:srgbClr val="000000"/>
                </a:solidFill>
                <a:effectLst/>
                <a:ea typeface="Inter"/>
              </a:rPr>
              <a:t>，查询 主服务（Primary Service）类型</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服务器返回 </a:t>
            </a:r>
            <a:r>
              <a:rPr kumimoji="0" lang="zh-CN" altLang="zh-CN" sz="1200" b="0" i="0" u="none" strike="noStrike" cap="none" normalizeH="0" baseline="0" dirty="0">
                <a:ln>
                  <a:noFill/>
                </a:ln>
                <a:solidFill>
                  <a:srgbClr val="000000"/>
                </a:solidFill>
                <a:effectLst/>
                <a:latin typeface="Arial Unicode MS"/>
                <a:ea typeface="ui-monospace"/>
              </a:rPr>
              <a:t>ATT_READ_BY_GROUP_TYPE_RSP</a:t>
            </a:r>
            <a:r>
              <a:rPr kumimoji="0" lang="zh-CN" altLang="zh-CN" sz="1200" b="0" i="0" u="none" strike="noStrike" cap="none" normalizeH="0" baseline="0" dirty="0">
                <a:ln>
                  <a:noFill/>
                </a:ln>
                <a:solidFill>
                  <a:srgbClr val="000000"/>
                </a:solidFill>
                <a:effectLst/>
                <a:ea typeface="Inter"/>
              </a:rPr>
              <a:t>，包含在 </a:t>
            </a:r>
            <a:r>
              <a:rPr kumimoji="0" lang="zh-CN" altLang="zh-CN" sz="1200" b="0" i="0" u="none" strike="noStrike" cap="none" normalizeH="0" baseline="0" dirty="0">
                <a:ln>
                  <a:noFill/>
                </a:ln>
                <a:solidFill>
                  <a:srgbClr val="000000"/>
                </a:solidFill>
                <a:effectLst/>
                <a:latin typeface="Arial Unicode MS"/>
                <a:ea typeface="ui-monospace"/>
              </a:rPr>
              <a:t>0x0001–0x000F</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0x0010–0x0017</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0x0100–0x01FF</a:t>
            </a:r>
            <a:r>
              <a:rPr kumimoji="0" lang="zh-CN" altLang="zh-CN" sz="1200" b="0" i="0" u="none" strike="noStrike" cap="none" normalizeH="0" baseline="0" dirty="0">
                <a:ln>
                  <a:noFill/>
                </a:ln>
                <a:solidFill>
                  <a:srgbClr val="000000"/>
                </a:solidFill>
                <a:effectLst/>
                <a:ea typeface="Inter"/>
              </a:rPr>
              <a:t> 三个句柄范围内的 3 个主服务（</a:t>
            </a:r>
            <a:r>
              <a:rPr kumimoji="0" lang="zh-CN" altLang="zh-CN" sz="1200" b="0" i="0" u="none" strike="noStrike" cap="none" normalizeH="0" baseline="0" dirty="0">
                <a:ln>
                  <a:noFill/>
                </a:ln>
                <a:solidFill>
                  <a:srgbClr val="000000"/>
                </a:solidFill>
                <a:effectLst/>
                <a:latin typeface="Arial Unicode MS"/>
                <a:ea typeface="ui-monospace"/>
              </a:rPr>
              <a:t>UUID1</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UUID2</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UUID3</a:t>
            </a:r>
            <a:r>
              <a:rPr kumimoji="0" lang="zh-CN" altLang="zh-CN" sz="1200" b="0" i="0" u="none" strike="noStrike" cap="none" normalizeH="0" baseline="0" dirty="0">
                <a:ln>
                  <a:noFill/>
                </a:ln>
                <a:solidFill>
                  <a:srgbClr val="000000"/>
                </a:solidFill>
                <a:effectLst/>
                <a:ea typeface="Inter"/>
              </a:rPr>
              <a:t>）</a:t>
            </a:r>
            <a:endParaRPr kumimoji="0" lang="en-US" altLang="zh-CN" sz="1200" b="0" i="0" u="none" strike="noStrike" cap="none" normalizeH="0" baseline="0" dirty="0">
              <a:ln>
                <a:noFill/>
              </a:ln>
              <a:solidFill>
                <a:srgbClr val="000000"/>
              </a:solidFill>
              <a:effectLst/>
              <a:ea typeface="Inter"/>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200" b="0" i="0" u="none" strike="noStrike" cap="none" normalizeH="0" baseline="0" dirty="0">
                <a:ln>
                  <a:noFill/>
                </a:ln>
                <a:solidFill>
                  <a:schemeClr val="tx1"/>
                </a:solidFill>
                <a:effectLst/>
                <a:latin typeface="Arial" panose="020B0604020202020204" pitchFamily="34" charset="0"/>
              </a:rPr>
              <a:t> </a:t>
            </a:r>
            <a:r>
              <a:rPr kumimoji="0" lang="zh-CN" altLang="en-US" sz="1200" b="0" i="0" u="none" strike="noStrike" cap="none" normalizeH="0" baseline="0" dirty="0">
                <a:ln>
                  <a:noFill/>
                </a:ln>
                <a:solidFill>
                  <a:schemeClr val="tx1"/>
                </a:solidFill>
                <a:effectLst/>
                <a:latin typeface="Arial" panose="020B0604020202020204" pitchFamily="34" charset="0"/>
              </a:rPr>
              <a:t>客户端继上一个句柄</a:t>
            </a:r>
            <a:r>
              <a:rPr kumimoji="0" lang="en-US" altLang="zh-CN" sz="1200" b="0" i="0" u="none" strike="noStrike" cap="none" normalizeH="0" baseline="0" dirty="0">
                <a:ln>
                  <a:noFill/>
                </a:ln>
                <a:solidFill>
                  <a:schemeClr val="tx1"/>
                </a:solidFill>
                <a:effectLst/>
                <a:latin typeface="Arial" panose="020B0604020202020204" pitchFamily="34" charset="0"/>
              </a:rPr>
              <a:t>+1</a:t>
            </a:r>
            <a:r>
              <a:rPr kumimoji="0" lang="zh-CN" altLang="en-US" sz="1200" b="0" i="0" u="none" strike="noStrike" cap="none" normalizeH="0" baseline="0" dirty="0">
                <a:ln>
                  <a:noFill/>
                </a:ln>
                <a:solidFill>
                  <a:schemeClr val="tx1"/>
                </a:solidFill>
                <a:effectLst/>
                <a:latin typeface="Arial" panose="020B0604020202020204" pitchFamily="34" charset="0"/>
              </a:rPr>
              <a:t>作为新句柄地址再次查询，直到服务器返回</a:t>
            </a:r>
            <a:r>
              <a:rPr kumimoji="0" lang="en-US" altLang="zh-CN" sz="1200" b="0" i="0" u="none" strike="noStrike" cap="none" normalizeH="0" baseline="0" dirty="0">
                <a:ln>
                  <a:noFill/>
                </a:ln>
                <a:solidFill>
                  <a:schemeClr val="tx1"/>
                </a:solidFill>
                <a:effectLst/>
                <a:latin typeface="Arial" panose="020B0604020202020204" pitchFamily="34" charset="0"/>
              </a:rPr>
              <a:t>not found</a:t>
            </a:r>
            <a:r>
              <a:rPr kumimoji="0" lang="zh-CN" altLang="en-US" sz="1200" b="0" i="0" u="none" strike="noStrike" cap="none" normalizeH="0" baseline="0" dirty="0">
                <a:ln>
                  <a:noFill/>
                </a:ln>
                <a:solidFill>
                  <a:schemeClr val="tx1"/>
                </a:solidFill>
                <a:effectLst/>
                <a:latin typeface="Arial" panose="020B0604020202020204" pitchFamily="34" charset="0"/>
              </a:rPr>
              <a:t>所有主服务查询结束</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1200" b="0" i="0" u="none" strike="noStrike" cap="none" normalizeH="0" baseline="0" dirty="0">
                <a:ln>
                  <a:noFill/>
                </a:ln>
                <a:solidFill>
                  <a:schemeClr val="tx1"/>
                </a:solidFill>
                <a:effectLst/>
                <a:latin typeface="Arial" panose="020B0604020202020204" pitchFamily="34" charset="0"/>
              </a:rPr>
              <a:t>Figure4.3</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200" dirty="0">
                <a:latin typeface="Arial" panose="020B0604020202020204" pitchFamily="34" charset="0"/>
              </a:rPr>
              <a:t>客户端发送查询主服务命令并带有</a:t>
            </a:r>
            <a:r>
              <a:rPr lang="en-US" altLang="zh-CN" sz="1200" dirty="0">
                <a:latin typeface="Arial" panose="020B0604020202020204" pitchFamily="34" charset="0"/>
              </a:rPr>
              <a:t>uuid1</a:t>
            </a:r>
            <a:r>
              <a:rPr lang="zh-CN" altLang="en-US" sz="1200" dirty="0">
                <a:latin typeface="Arial" panose="020B0604020202020204" pitchFamily="34" charset="0"/>
              </a:rPr>
              <a:t>查询指定主服务，服务器返回指定主服务的起始和结束句柄</a:t>
            </a:r>
            <a:endParaRPr lang="en-US" altLang="zh-CN" sz="1200" dirty="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1200" b="0" i="0" u="none" strike="noStrike" cap="none" normalizeH="0" baseline="0" dirty="0">
                <a:ln>
                  <a:noFill/>
                </a:ln>
                <a:solidFill>
                  <a:schemeClr val="tx1"/>
                </a:solidFill>
                <a:effectLst/>
                <a:latin typeface="Arial" panose="020B0604020202020204" pitchFamily="34" charset="0"/>
              </a:rPr>
              <a:t>客户端在服务器返回句柄以外的句柄范围重新查询，返回空确定指定</a:t>
            </a:r>
            <a:r>
              <a:rPr kumimoji="0" lang="en-US" altLang="zh-CN" sz="1200" b="0" i="0" u="none" strike="noStrike" cap="none" normalizeH="0" baseline="0" dirty="0" err="1">
                <a:ln>
                  <a:noFill/>
                </a:ln>
                <a:solidFill>
                  <a:schemeClr val="tx1"/>
                </a:solidFill>
                <a:effectLst/>
                <a:latin typeface="Arial" panose="020B0604020202020204" pitchFamily="34" charset="0"/>
              </a:rPr>
              <a:t>uuid</a:t>
            </a:r>
            <a:r>
              <a:rPr kumimoji="0" lang="zh-CN" altLang="en-US" sz="1200" b="0" i="0" u="none" strike="noStrike" cap="none" normalizeH="0" baseline="0" dirty="0">
                <a:ln>
                  <a:noFill/>
                </a:ln>
                <a:solidFill>
                  <a:schemeClr val="tx1"/>
                </a:solidFill>
                <a:effectLst/>
                <a:latin typeface="Arial" panose="020B0604020202020204" pitchFamily="34" charset="0"/>
              </a:rPr>
              <a:t>没有别的句柄</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pic>
        <p:nvPicPr>
          <p:cNvPr id="8" name="图片 7" descr="表格&#10;&#10;AI 生成的内容可能不正确。">
            <a:extLst>
              <a:ext uri="{FF2B5EF4-FFF2-40B4-BE49-F238E27FC236}">
                <a16:creationId xmlns:a16="http://schemas.microsoft.com/office/drawing/2014/main" id="{B0356667-1C6F-E0C7-8F82-864FCB7E9592}"/>
              </a:ext>
            </a:extLst>
          </p:cNvPr>
          <p:cNvPicPr>
            <a:picLocks/>
          </p:cNvPicPr>
          <p:nvPr/>
        </p:nvPicPr>
        <p:blipFill>
          <a:blip r:embed="rId3"/>
          <a:srcRect l="6221" t="2410" r="7988"/>
          <a:stretch>
            <a:fillRect/>
          </a:stretch>
        </p:blipFill>
        <p:spPr>
          <a:xfrm>
            <a:off x="4572000" y="2266144"/>
            <a:ext cx="4248978" cy="2176670"/>
          </a:xfrm>
          <a:prstGeom prst="rect">
            <a:avLst/>
          </a:prstGeom>
        </p:spPr>
      </p:pic>
    </p:spTree>
    <p:extLst>
      <p:ext uri="{BB962C8B-B14F-4D97-AF65-F5344CB8AC3E}">
        <p14:creationId xmlns:p14="http://schemas.microsoft.com/office/powerpoint/2010/main" val="2123192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D865-9105-8538-E2CB-08490AF9D0E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BE5B5672-03A5-DCB8-349E-1982C9E4FE00}"/>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包含服务发现</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6" name="图片 5" descr="图片包含 图示&#10;&#10;AI 生成的内容可能不正确。">
            <a:extLst>
              <a:ext uri="{FF2B5EF4-FFF2-40B4-BE49-F238E27FC236}">
                <a16:creationId xmlns:a16="http://schemas.microsoft.com/office/drawing/2014/main" id="{EF753220-33F0-8A57-99FE-E827AACC07AA}"/>
              </a:ext>
            </a:extLst>
          </p:cNvPr>
          <p:cNvPicPr>
            <a:picLocks noChangeAspect="1"/>
          </p:cNvPicPr>
          <p:nvPr/>
        </p:nvPicPr>
        <p:blipFill>
          <a:blip r:embed="rId2"/>
          <a:stretch>
            <a:fillRect/>
          </a:stretch>
        </p:blipFill>
        <p:spPr>
          <a:xfrm>
            <a:off x="215591" y="2104557"/>
            <a:ext cx="4207418" cy="2666226"/>
          </a:xfrm>
          <a:prstGeom prst="rect">
            <a:avLst/>
          </a:prstGeom>
        </p:spPr>
      </p:pic>
      <p:sp>
        <p:nvSpPr>
          <p:cNvPr id="7" name="Rectangle 1">
            <a:extLst>
              <a:ext uri="{FF2B5EF4-FFF2-40B4-BE49-F238E27FC236}">
                <a16:creationId xmlns:a16="http://schemas.microsoft.com/office/drawing/2014/main" id="{60A87FCB-A9E2-E5D5-A1DE-828359D074CF}"/>
              </a:ext>
            </a:extLst>
          </p:cNvPr>
          <p:cNvSpPr>
            <a:spLocks noChangeArrowheads="1"/>
          </p:cNvSpPr>
          <p:nvPr/>
        </p:nvSpPr>
        <p:spPr bwMode="auto">
          <a:xfrm>
            <a:off x="215591" y="495350"/>
            <a:ext cx="8696739"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客户端发送 </a:t>
            </a:r>
            <a:r>
              <a:rPr kumimoji="0" lang="zh-CN" altLang="zh-CN" sz="1200" b="0" i="0" u="none" strike="noStrike" cap="none" normalizeH="0" baseline="0" dirty="0">
                <a:ln>
                  <a:noFill/>
                </a:ln>
                <a:solidFill>
                  <a:srgbClr val="000000"/>
                </a:solidFill>
                <a:effectLst/>
                <a:latin typeface="Arial Unicode MS"/>
                <a:ea typeface="ui-monospace"/>
              </a:rPr>
              <a:t>ATT_READ_BY_TYPE_REQ</a:t>
            </a:r>
            <a:r>
              <a:rPr kumimoji="0" lang="zh-CN" altLang="zh-CN" sz="1200" b="0" i="0" u="none" strike="noStrike" cap="none" normalizeH="0" baseline="0" dirty="0">
                <a:ln>
                  <a:noFill/>
                </a:ln>
                <a:solidFill>
                  <a:srgbClr val="000000"/>
                </a:solidFill>
                <a:effectLst/>
                <a:ea typeface="Inter"/>
              </a:rPr>
              <a:t>，指定句柄范围 </a:t>
            </a:r>
            <a:r>
              <a:rPr kumimoji="0" lang="zh-CN" altLang="zh-CN" sz="1200" b="0" i="0" u="none" strike="noStrike" cap="none" normalizeH="0" baseline="0" dirty="0">
                <a:ln>
                  <a:noFill/>
                </a:ln>
                <a:solidFill>
                  <a:srgbClr val="000000"/>
                </a:solidFill>
                <a:effectLst/>
                <a:latin typeface="Arial Unicode MS"/>
                <a:ea typeface="ui-monospace"/>
              </a:rPr>
              <a:t>0x0200–0x0214</a:t>
            </a:r>
            <a:r>
              <a:rPr kumimoji="0" lang="zh-CN" altLang="zh-CN" sz="1200" b="0" i="0" u="none" strike="noStrike" cap="none" normalizeH="0" baseline="0" dirty="0">
                <a:ln>
                  <a:noFill/>
                </a:ln>
                <a:solidFill>
                  <a:srgbClr val="000000"/>
                </a:solidFill>
                <a:effectLst/>
                <a:ea typeface="Inter"/>
              </a:rPr>
              <a:t>，查询类型为 “包含服务（Include）” 的属性。</a:t>
            </a:r>
            <a:r>
              <a:rPr kumimoji="0" lang="zh-CN" altLang="zh-CN" sz="1200" b="0" i="0" u="none" strike="noStrike" cap="none" normalizeH="0" baseline="0" dirty="0">
                <a:ln>
                  <a:noFill/>
                </a:ln>
                <a:solidFill>
                  <a:schemeClr val="tx1"/>
                </a:solidFill>
                <a:effectLst/>
                <a:latin typeface="Arial" panose="020B0604020202020204" pitchFamily="34" charset="0"/>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服务器返回 </a:t>
            </a:r>
            <a:r>
              <a:rPr kumimoji="0" lang="zh-CN" altLang="zh-CN" sz="1200" b="0" i="0" u="none" strike="noStrike" cap="none" normalizeH="0" baseline="0" dirty="0">
                <a:ln>
                  <a:noFill/>
                </a:ln>
                <a:solidFill>
                  <a:srgbClr val="000000"/>
                </a:solidFill>
                <a:effectLst/>
                <a:latin typeface="Arial Unicode MS"/>
                <a:ea typeface="ui-monospace"/>
              </a:rPr>
              <a:t>ATT_READ_BY_TYPE_RSP</a:t>
            </a:r>
            <a:r>
              <a:rPr kumimoji="0" lang="zh-CN" altLang="zh-CN" sz="1200" b="0" i="0" u="none" strike="noStrike" cap="none" normalizeH="0" baseline="0" dirty="0">
                <a:ln>
                  <a:noFill/>
                </a:ln>
                <a:solidFill>
                  <a:srgbClr val="000000"/>
                </a:solidFill>
                <a:effectLst/>
                <a:ea typeface="Inter"/>
              </a:rPr>
              <a:t>，返回包含服务的声明句柄（如 </a:t>
            </a:r>
            <a:r>
              <a:rPr kumimoji="0" lang="zh-CN" altLang="zh-CN" sz="1200" b="0" i="0" u="none" strike="noStrike" cap="none" normalizeH="0" baseline="0" dirty="0">
                <a:ln>
                  <a:noFill/>
                </a:ln>
                <a:solidFill>
                  <a:srgbClr val="000000"/>
                </a:solidFill>
                <a:effectLst/>
                <a:latin typeface="Arial Unicode MS"/>
                <a:ea typeface="ui-monospace"/>
              </a:rPr>
              <a:t>0x0201</a:t>
            </a:r>
            <a:r>
              <a:rPr kumimoji="0" lang="zh-CN" altLang="zh-CN" sz="1200" b="0" i="0" u="none" strike="noStrike" cap="none" normalizeH="0" baseline="0" dirty="0">
                <a:ln>
                  <a:noFill/>
                </a:ln>
                <a:solidFill>
                  <a:srgbClr val="000000"/>
                </a:solidFill>
                <a:effectLst/>
                <a:ea typeface="Inter"/>
              </a:rPr>
              <a:t>）和对应属性句柄（如 </a:t>
            </a:r>
            <a:r>
              <a:rPr kumimoji="0" lang="zh-CN" altLang="zh-CN" sz="1200" b="0" i="0" u="none" strike="noStrike" cap="none" normalizeH="0" baseline="0" dirty="0">
                <a:ln>
                  <a:noFill/>
                </a:ln>
                <a:solidFill>
                  <a:srgbClr val="000000"/>
                </a:solidFill>
                <a:effectLst/>
                <a:latin typeface="Arial Unicode MS"/>
                <a:ea typeface="ui-monospace"/>
              </a:rPr>
              <a:t>0x0500</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0x0518</a:t>
            </a:r>
            <a:r>
              <a:rPr kumimoji="0" lang="zh-CN" altLang="zh-CN" sz="1200" b="0" i="0" u="none" strike="noStrike" cap="none" normalizeH="0" baseline="0" dirty="0">
                <a:ln>
                  <a:noFill/>
                </a:ln>
                <a:solidFill>
                  <a:srgbClr val="000000"/>
                </a:solidFill>
                <a:effectLst/>
                <a:ea typeface="Inter"/>
              </a:rPr>
              <a:t>），并携带包含服务的 UUID（</a:t>
            </a:r>
            <a:r>
              <a:rPr kumimoji="0" lang="zh-CN" altLang="zh-CN" sz="1200" b="0" i="0" u="none" strike="noStrike" cap="none" normalizeH="0" baseline="0" dirty="0">
                <a:ln>
                  <a:noFill/>
                </a:ln>
                <a:solidFill>
                  <a:srgbClr val="000000"/>
                </a:solidFill>
                <a:effectLst/>
                <a:latin typeface="Arial Unicode MS"/>
                <a:ea typeface="ui-monospace"/>
              </a:rPr>
              <a:t>UUID1</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chemeClr val="tx1"/>
                </a:solidFill>
                <a:effectLst/>
                <a:latin typeface="Arial" panose="020B0604020202020204" pitchFamily="34" charset="0"/>
              </a:rPr>
              <a:t> </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客户端以上一轮返回的声明句柄 </a:t>
            </a:r>
            <a:r>
              <a:rPr lang="en-US" altLang="zh-CN" sz="1200" dirty="0">
                <a:latin typeface="Arial" panose="020B0604020202020204" pitchFamily="34" charset="0"/>
              </a:rPr>
              <a:t>0x0201 </a:t>
            </a:r>
            <a:r>
              <a:rPr lang="zh-CN" altLang="en-US" sz="1200" dirty="0">
                <a:latin typeface="Arial" panose="020B0604020202020204" pitchFamily="34" charset="0"/>
              </a:rPr>
              <a:t>加 </a:t>
            </a:r>
            <a:r>
              <a:rPr lang="en-US" altLang="zh-CN" sz="1200" dirty="0">
                <a:latin typeface="Arial" panose="020B0604020202020204" pitchFamily="34" charset="0"/>
              </a:rPr>
              <a:t>1</a:t>
            </a:r>
            <a:r>
              <a:rPr lang="zh-CN" altLang="en-US" sz="1200" dirty="0">
                <a:latin typeface="Arial" panose="020B0604020202020204" pitchFamily="34" charset="0"/>
              </a:rPr>
              <a:t>（</a:t>
            </a:r>
            <a:r>
              <a:rPr lang="en-US" altLang="zh-CN" sz="1200" dirty="0">
                <a:latin typeface="Arial" panose="020B0604020202020204" pitchFamily="34" charset="0"/>
              </a:rPr>
              <a:t>0x0202</a:t>
            </a:r>
            <a:r>
              <a:rPr lang="zh-CN" altLang="en-US" sz="1200" dirty="0">
                <a:latin typeface="Arial" panose="020B0604020202020204" pitchFamily="34" charset="0"/>
              </a:rPr>
              <a:t>）作为新起始句柄，再次发起查询。</a:t>
            </a:r>
            <a:endParaRPr lang="en-US" altLang="zh-CN"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服务器返回新的包含服务声明句柄 </a:t>
            </a:r>
            <a:r>
              <a:rPr lang="en-US" altLang="zh-CN" sz="1200" dirty="0">
                <a:latin typeface="Arial" panose="020B0604020202020204" pitchFamily="34" charset="0"/>
              </a:rPr>
              <a:t>0x0202 </a:t>
            </a:r>
            <a:r>
              <a:rPr lang="zh-CN" altLang="en-US" sz="1200" dirty="0">
                <a:latin typeface="Arial" panose="020B0604020202020204" pitchFamily="34" charset="0"/>
              </a:rPr>
              <a:t>和属性句柄 </a:t>
            </a:r>
            <a:r>
              <a:rPr lang="en-US" altLang="zh-CN" sz="1200" dirty="0">
                <a:latin typeface="Arial" panose="020B0604020202020204" pitchFamily="34" charset="0"/>
              </a:rPr>
              <a:t>0x0550</a:t>
            </a:r>
            <a:r>
              <a:rPr lang="zh-CN" altLang="en-US" sz="1200" dirty="0">
                <a:latin typeface="Arial" panose="020B0604020202020204" pitchFamily="34" charset="0"/>
              </a:rPr>
              <a:t>、</a:t>
            </a:r>
            <a:r>
              <a:rPr lang="en-US" altLang="zh-CN" sz="1200" dirty="0">
                <a:latin typeface="Arial" panose="020B0604020202020204" pitchFamily="34" charset="0"/>
              </a:rPr>
              <a:t>0x0568</a:t>
            </a:r>
            <a:r>
              <a:rPr lang="zh-CN" altLang="en-US" sz="1200" dirty="0">
                <a:latin typeface="Arial" panose="020B0604020202020204" pitchFamily="34" charset="0"/>
              </a:rPr>
              <a:t>。</a:t>
            </a:r>
            <a:endParaRPr lang="en-US" altLang="zh-CN"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客户端针对属性句柄 </a:t>
            </a:r>
            <a:r>
              <a:rPr lang="en-US" altLang="zh-CN" sz="1200" dirty="0">
                <a:latin typeface="Arial" panose="020B0604020202020204" pitchFamily="34" charset="0"/>
              </a:rPr>
              <a:t>0x0550 </a:t>
            </a:r>
            <a:r>
              <a:rPr lang="zh-CN" altLang="en-US" sz="1200" dirty="0">
                <a:latin typeface="Arial" panose="020B0604020202020204" pitchFamily="34" charset="0"/>
              </a:rPr>
              <a:t>发送 </a:t>
            </a:r>
            <a:r>
              <a:rPr lang="en-US" altLang="zh-CN" sz="1200" dirty="0">
                <a:latin typeface="Arial" panose="020B0604020202020204" pitchFamily="34" charset="0"/>
              </a:rPr>
              <a:t>ATT_READ_REQ</a:t>
            </a:r>
            <a:r>
              <a:rPr lang="zh-CN" altLang="en-US" sz="1200" dirty="0">
                <a:latin typeface="Arial" panose="020B0604020202020204" pitchFamily="34" charset="0"/>
              </a:rPr>
              <a:t>，读取该包含服务的完整 </a:t>
            </a:r>
            <a:r>
              <a:rPr lang="en-US" altLang="zh-CN" sz="1200" dirty="0">
                <a:latin typeface="Arial" panose="020B0604020202020204" pitchFamily="34" charset="0"/>
              </a:rPr>
              <a:t>UUID</a:t>
            </a:r>
            <a:r>
              <a:rPr lang="zh-CN" altLang="en-US" sz="1200" dirty="0">
                <a:latin typeface="Arial" panose="020B0604020202020204" pitchFamily="34" charset="0"/>
              </a:rPr>
              <a:t>。</a:t>
            </a:r>
            <a:endParaRPr lang="en-US" altLang="zh-CN"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服务器返回 </a:t>
            </a:r>
            <a:r>
              <a:rPr lang="en-US" altLang="zh-CN" sz="1200" dirty="0">
                <a:latin typeface="Arial" panose="020B0604020202020204" pitchFamily="34" charset="0"/>
              </a:rPr>
              <a:t>ATT_READ_RSP</a:t>
            </a:r>
            <a:r>
              <a:rPr lang="zh-CN" altLang="en-US" sz="1200" dirty="0">
                <a:latin typeface="Arial" panose="020B0604020202020204" pitchFamily="34" charset="0"/>
              </a:rPr>
              <a:t>，返回该包含服务的 </a:t>
            </a:r>
            <a:r>
              <a:rPr lang="en-US" altLang="zh-CN" sz="1200" dirty="0">
                <a:latin typeface="Arial" panose="020B0604020202020204" pitchFamily="34" charset="0"/>
              </a:rPr>
              <a:t>UUID</a:t>
            </a:r>
            <a:r>
              <a:rPr lang="zh-CN" altLang="en-US" sz="1200" dirty="0">
                <a:latin typeface="Arial" panose="020B0604020202020204" pitchFamily="34" charset="0"/>
              </a:rPr>
              <a:t>（</a:t>
            </a:r>
            <a:r>
              <a:rPr lang="en-US" altLang="zh-CN" sz="1200" dirty="0">
                <a:latin typeface="Arial" panose="020B0604020202020204" pitchFamily="34" charset="0"/>
              </a:rPr>
              <a:t>UUID2</a:t>
            </a:r>
            <a:r>
              <a:rPr lang="zh-CN" altLang="en-US" sz="1200" dirty="0">
                <a:latin typeface="Arial" panose="020B0604020202020204" pitchFamily="34" charset="0"/>
              </a:rPr>
              <a:t>）</a:t>
            </a:r>
            <a:endParaRPr lang="en-US" altLang="zh-CN"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客户端继续查询后续范围句柄，服务区返回空查询结束</a:t>
            </a:r>
            <a:endParaRPr lang="en-US" altLang="zh-CN" sz="1200" dirty="0">
              <a:latin typeface="Arial" panose="020B0604020202020204" pitchFamily="34" charset="0"/>
            </a:endParaRPr>
          </a:p>
        </p:txBody>
      </p:sp>
    </p:spTree>
    <p:extLst>
      <p:ext uri="{BB962C8B-B14F-4D97-AF65-F5344CB8AC3E}">
        <p14:creationId xmlns:p14="http://schemas.microsoft.com/office/powerpoint/2010/main" val="3645512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62C2-33EB-B07D-8CED-50B3A4DBFAF1}"/>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44C66D52-7579-86E5-C8F1-55D878434FC8}"/>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服务特征值发现</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3" name="图片 2" descr="文本&#10;&#10;AI 生成的内容可能不正确。">
            <a:extLst>
              <a:ext uri="{FF2B5EF4-FFF2-40B4-BE49-F238E27FC236}">
                <a16:creationId xmlns:a16="http://schemas.microsoft.com/office/drawing/2014/main" id="{F5E5D553-755F-5164-C764-6078EDB4BCA1}"/>
              </a:ext>
            </a:extLst>
          </p:cNvPr>
          <p:cNvPicPr>
            <a:picLocks noChangeAspect="1"/>
          </p:cNvPicPr>
          <p:nvPr/>
        </p:nvPicPr>
        <p:blipFill>
          <a:blip r:embed="rId2"/>
          <a:stretch>
            <a:fillRect/>
          </a:stretch>
        </p:blipFill>
        <p:spPr>
          <a:xfrm>
            <a:off x="0" y="2275910"/>
            <a:ext cx="5213074" cy="2405705"/>
          </a:xfrm>
          <a:prstGeom prst="rect">
            <a:avLst/>
          </a:prstGeom>
        </p:spPr>
      </p:pic>
      <p:sp>
        <p:nvSpPr>
          <p:cNvPr id="5" name="Rectangle 1">
            <a:extLst>
              <a:ext uri="{FF2B5EF4-FFF2-40B4-BE49-F238E27FC236}">
                <a16:creationId xmlns:a16="http://schemas.microsoft.com/office/drawing/2014/main" id="{DBE92144-438B-39E8-2601-61EFDE69DC3C}"/>
              </a:ext>
            </a:extLst>
          </p:cNvPr>
          <p:cNvSpPr>
            <a:spLocks noChangeArrowheads="1"/>
          </p:cNvSpPr>
          <p:nvPr/>
        </p:nvSpPr>
        <p:spPr bwMode="auto">
          <a:xfrm>
            <a:off x="215591" y="540425"/>
            <a:ext cx="874553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客户端发送 </a:t>
            </a:r>
            <a:r>
              <a:rPr kumimoji="0" lang="zh-CN" altLang="zh-CN" sz="1200" b="0" i="0" u="none" strike="noStrike" cap="none" normalizeH="0" baseline="0" dirty="0">
                <a:ln>
                  <a:noFill/>
                </a:ln>
                <a:solidFill>
                  <a:srgbClr val="000000"/>
                </a:solidFill>
                <a:effectLst/>
                <a:latin typeface="Arial Unicode MS"/>
                <a:ea typeface="ui-monospace"/>
              </a:rPr>
              <a:t>ATT_READ_BY_TYPE_REQ</a:t>
            </a:r>
            <a:r>
              <a:rPr kumimoji="0" lang="zh-CN" altLang="zh-CN" sz="1200" b="0" i="0" u="none" strike="noStrike" cap="none" normalizeH="0" baseline="0" dirty="0">
                <a:ln>
                  <a:noFill/>
                </a:ln>
                <a:solidFill>
                  <a:srgbClr val="000000"/>
                </a:solidFill>
                <a:effectLst/>
                <a:ea typeface="Inter"/>
              </a:rPr>
              <a:t>，指定目标服务的句柄范围 </a:t>
            </a:r>
            <a:r>
              <a:rPr kumimoji="0" lang="zh-CN" altLang="zh-CN" sz="1200" b="0" i="0" u="none" strike="noStrike" cap="none" normalizeH="0" baseline="0" dirty="0">
                <a:ln>
                  <a:noFill/>
                </a:ln>
                <a:solidFill>
                  <a:srgbClr val="000000"/>
                </a:solidFill>
                <a:effectLst/>
                <a:latin typeface="Arial Unicode MS"/>
                <a:ea typeface="ui-monospace"/>
              </a:rPr>
              <a:t>0x0200–0x0214</a:t>
            </a:r>
            <a:r>
              <a:rPr kumimoji="0" lang="zh-CN" altLang="zh-CN" sz="1200" b="0" i="0" u="none" strike="noStrike" cap="none" normalizeH="0" baseline="0" dirty="0">
                <a:ln>
                  <a:noFill/>
                </a:ln>
                <a:solidFill>
                  <a:srgbClr val="000000"/>
                </a:solidFill>
                <a:effectLst/>
                <a:ea typeface="Inter"/>
              </a:rPr>
              <a:t>，查询类型为 “特征（Characteristic）” 的属性。</a:t>
            </a:r>
            <a:r>
              <a:rPr kumimoji="0" lang="zh-CN" altLang="zh-CN" sz="1200" b="0" i="0" u="none" strike="noStrike" cap="none" normalizeH="0" baseline="0" dirty="0">
                <a:ln>
                  <a:noFill/>
                </a:ln>
                <a:solidFill>
                  <a:schemeClr val="tx1"/>
                </a:solidFill>
                <a:effectLst/>
                <a:latin typeface="Arial" panose="020B0604020202020204" pitchFamily="34" charset="0"/>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服务器返回 </a:t>
            </a:r>
            <a:r>
              <a:rPr kumimoji="0" lang="zh-CN" altLang="zh-CN" sz="1200" b="0" i="0" u="none" strike="noStrike" cap="none" normalizeH="0" baseline="0" dirty="0">
                <a:ln>
                  <a:noFill/>
                </a:ln>
                <a:solidFill>
                  <a:srgbClr val="000000"/>
                </a:solidFill>
                <a:effectLst/>
                <a:latin typeface="Arial Unicode MS"/>
                <a:ea typeface="ui-monospace"/>
              </a:rPr>
              <a:t>ATT_READ_BY_TYPE_RSP</a:t>
            </a:r>
            <a:r>
              <a:rPr kumimoji="0" lang="zh-CN" altLang="zh-CN" sz="1200" b="0" i="0" u="none" strike="noStrike" cap="none" normalizeH="0" baseline="0" dirty="0">
                <a:ln>
                  <a:noFill/>
                </a:ln>
                <a:solidFill>
                  <a:srgbClr val="000000"/>
                </a:solidFill>
                <a:effectLst/>
                <a:ea typeface="Inter"/>
              </a:rPr>
              <a:t>，包含两组特征信息：</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第一组：特征声明句柄 </a:t>
            </a:r>
            <a:r>
              <a:rPr kumimoji="0" lang="zh-CN" altLang="zh-CN" sz="1200" b="0" i="0" u="none" strike="noStrike" cap="none" normalizeH="0" baseline="0" dirty="0">
                <a:ln>
                  <a:noFill/>
                </a:ln>
                <a:solidFill>
                  <a:srgbClr val="000000"/>
                </a:solidFill>
                <a:effectLst/>
                <a:latin typeface="Arial Unicode MS"/>
                <a:ea typeface="ui-monospace"/>
              </a:rPr>
              <a:t>0x0203</a:t>
            </a:r>
            <a:r>
              <a:rPr kumimoji="0" lang="zh-CN" altLang="zh-CN" sz="1200" b="0" i="0" u="none" strike="noStrike" cap="none" normalizeH="0" baseline="0" dirty="0">
                <a:ln>
                  <a:noFill/>
                </a:ln>
                <a:solidFill>
                  <a:srgbClr val="000000"/>
                </a:solidFill>
                <a:effectLst/>
                <a:ea typeface="Inter"/>
              </a:rPr>
              <a:t>、</a:t>
            </a:r>
            <a:r>
              <a:rPr kumimoji="0" lang="zh-CN" altLang="en-US" sz="1200" b="0" i="0" u="none" strike="noStrike" cap="none" normalizeH="0" baseline="0" dirty="0">
                <a:ln>
                  <a:noFill/>
                </a:ln>
                <a:solidFill>
                  <a:srgbClr val="000000"/>
                </a:solidFill>
                <a:effectLst/>
                <a:ea typeface="Inter"/>
              </a:rPr>
              <a:t>特征属性</a:t>
            </a:r>
            <a:r>
              <a:rPr kumimoji="0" lang="en-US" altLang="zh-CN" sz="1200" b="0" i="0" u="none" strike="noStrike" cap="none" normalizeH="0" baseline="0" dirty="0">
                <a:ln>
                  <a:noFill/>
                </a:ln>
                <a:solidFill>
                  <a:srgbClr val="000000"/>
                </a:solidFill>
                <a:effectLst/>
                <a:ea typeface="Inter"/>
              </a:rPr>
              <a:t>0x02</a:t>
            </a:r>
            <a:r>
              <a:rPr kumimoji="0" lang="zh-CN" altLang="en-US"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ea typeface="Inter"/>
              </a:rPr>
              <a:t>属性句柄 </a:t>
            </a:r>
            <a:r>
              <a:rPr kumimoji="0" lang="zh-CN" altLang="zh-CN" sz="1200" b="0" i="0" u="none" strike="noStrike" cap="none" normalizeH="0" baseline="0" dirty="0">
                <a:ln>
                  <a:noFill/>
                </a:ln>
                <a:solidFill>
                  <a:srgbClr val="000000"/>
                </a:solidFill>
                <a:effectLst/>
                <a:latin typeface="Arial Unicode MS"/>
                <a:ea typeface="ui-monospace"/>
              </a:rPr>
              <a:t>0x0204</a:t>
            </a:r>
            <a:r>
              <a:rPr kumimoji="0" lang="zh-CN" altLang="zh-CN" sz="1200" b="0" i="0" u="none" strike="noStrike" cap="none" normalizeH="0" baseline="0" dirty="0">
                <a:ln>
                  <a:noFill/>
                </a:ln>
                <a:solidFill>
                  <a:srgbClr val="000000"/>
                </a:solidFill>
                <a:effectLst/>
                <a:ea typeface="Inter"/>
              </a:rPr>
              <a:t>，对应特征 UUID 为 </a:t>
            </a:r>
            <a:r>
              <a:rPr kumimoji="0" lang="zh-CN" altLang="zh-CN" sz="1200" b="0" i="0" u="none" strike="noStrike" cap="none" normalizeH="0" baseline="0" dirty="0">
                <a:ln>
                  <a:noFill/>
                </a:ln>
                <a:solidFill>
                  <a:srgbClr val="000000"/>
                </a:solidFill>
                <a:effectLst/>
                <a:latin typeface="Arial Unicode MS"/>
                <a:ea typeface="ui-monospace"/>
              </a:rPr>
              <a:t>&lt;&lt;UUID1&gt;&gt;</a:t>
            </a:r>
            <a:r>
              <a:rPr kumimoji="0" lang="zh-CN" altLang="zh-CN" sz="1200" b="0" i="0" u="none" strike="noStrike" cap="none" normalizeH="0" baseline="0" dirty="0">
                <a:ln>
                  <a:noFill/>
                </a:ln>
                <a:solidFill>
                  <a:srgbClr val="000000"/>
                </a:solidFill>
                <a:effectLst/>
                <a:ea typeface="Inter"/>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lvl="0" eaLnBrk="0" fontAlgn="base" hangingPunct="0">
              <a:spcBef>
                <a:spcPct val="0"/>
              </a:spcBef>
              <a:spcAft>
                <a:spcPct val="0"/>
              </a:spcAft>
              <a:buFontTx/>
              <a:buChar char="•"/>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第二组：特征声明句柄 </a:t>
            </a:r>
            <a:r>
              <a:rPr kumimoji="0" lang="zh-CN" altLang="zh-CN" sz="1200" b="0" i="0" u="none" strike="noStrike" cap="none" normalizeH="0" baseline="0" dirty="0">
                <a:ln>
                  <a:noFill/>
                </a:ln>
                <a:solidFill>
                  <a:srgbClr val="000000"/>
                </a:solidFill>
                <a:effectLst/>
                <a:latin typeface="Arial Unicode MS"/>
                <a:ea typeface="ui-monospace"/>
              </a:rPr>
              <a:t>0x0210</a:t>
            </a:r>
            <a:r>
              <a:rPr kumimoji="0" lang="zh-CN" altLang="zh-CN" sz="1200" b="0" i="0" u="none" strike="noStrike" cap="none" normalizeH="0" baseline="0" dirty="0">
                <a:ln>
                  <a:noFill/>
                </a:ln>
                <a:solidFill>
                  <a:srgbClr val="000000"/>
                </a:solidFill>
                <a:effectLst/>
                <a:ea typeface="Inter"/>
              </a:rPr>
              <a:t>、</a:t>
            </a:r>
            <a:r>
              <a:rPr lang="zh-CN" altLang="en-US" sz="1200" dirty="0">
                <a:solidFill>
                  <a:srgbClr val="000000"/>
                </a:solidFill>
                <a:ea typeface="Inter"/>
              </a:rPr>
              <a:t>特征属性</a:t>
            </a:r>
            <a:r>
              <a:rPr lang="en-US" altLang="zh-CN" sz="1200" dirty="0">
                <a:solidFill>
                  <a:srgbClr val="000000"/>
                </a:solidFill>
                <a:ea typeface="Inter"/>
              </a:rPr>
              <a:t>0x02</a:t>
            </a:r>
            <a:r>
              <a:rPr lang="zh-CN" altLang="en-US" sz="1200" dirty="0">
                <a:solidFill>
                  <a:srgbClr val="000000"/>
                </a:solidFill>
                <a:ea typeface="Inter"/>
              </a:rPr>
              <a:t>、</a:t>
            </a:r>
            <a:r>
              <a:rPr kumimoji="0" lang="zh-CN" altLang="zh-CN" sz="1200" b="0" i="0" u="none" strike="noStrike" cap="none" normalizeH="0" baseline="0" dirty="0">
                <a:ln>
                  <a:noFill/>
                </a:ln>
                <a:solidFill>
                  <a:srgbClr val="000000"/>
                </a:solidFill>
                <a:effectLst/>
                <a:ea typeface="Inter"/>
              </a:rPr>
              <a:t>属性句柄 </a:t>
            </a:r>
            <a:r>
              <a:rPr kumimoji="0" lang="zh-CN" altLang="zh-CN" sz="1200" b="0" i="0" u="none" strike="noStrike" cap="none" normalizeH="0" baseline="0" dirty="0">
                <a:ln>
                  <a:noFill/>
                </a:ln>
                <a:solidFill>
                  <a:srgbClr val="000000"/>
                </a:solidFill>
                <a:effectLst/>
                <a:latin typeface="Arial Unicode MS"/>
                <a:ea typeface="ui-monospace"/>
              </a:rPr>
              <a:t>0x0212</a:t>
            </a:r>
            <a:r>
              <a:rPr kumimoji="0" lang="zh-CN" altLang="zh-CN" sz="1200" b="0" i="0" u="none" strike="noStrike" cap="none" normalizeH="0" baseline="0" dirty="0">
                <a:ln>
                  <a:noFill/>
                </a:ln>
                <a:solidFill>
                  <a:srgbClr val="000000"/>
                </a:solidFill>
                <a:effectLst/>
                <a:ea typeface="Inter"/>
              </a:rPr>
              <a:t>，对应特征 UUID 为 </a:t>
            </a:r>
            <a:r>
              <a:rPr kumimoji="0" lang="zh-CN" altLang="zh-CN" sz="1200" b="0" i="0" u="none" strike="noStrike" cap="none" normalizeH="0" baseline="0" dirty="0">
                <a:ln>
                  <a:noFill/>
                </a:ln>
                <a:solidFill>
                  <a:srgbClr val="000000"/>
                </a:solidFill>
                <a:effectLst/>
                <a:latin typeface="Arial Unicode MS"/>
                <a:ea typeface="ui-monospace"/>
              </a:rPr>
              <a:t>&lt;&lt;UUID2&gt;&gt;</a:t>
            </a:r>
            <a:endParaRPr kumimoji="0" lang="en-US" altLang="zh-CN" sz="1200" b="0" i="0" u="none" strike="noStrike" cap="none" normalizeH="0" baseline="0" dirty="0">
              <a:ln>
                <a:noFill/>
              </a:ln>
              <a:solidFill>
                <a:srgbClr val="000000"/>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200" b="0" i="0" u="none" strike="noStrike" cap="none" normalizeH="0" baseline="0" dirty="0">
                <a:ln>
                  <a:noFill/>
                </a:ln>
                <a:solidFill>
                  <a:srgbClr val="000000"/>
                </a:solidFill>
                <a:effectLst/>
                <a:latin typeface="Arial Unicode MS"/>
                <a:ea typeface="ui-monospace"/>
              </a:rPr>
              <a:t>客户端以上一轮返回的最后一个特征声明句柄 </a:t>
            </a:r>
            <a:r>
              <a:rPr kumimoji="0" lang="en-US" altLang="zh-CN" sz="1200" b="0" i="0" u="none" strike="noStrike" cap="none" normalizeH="0" baseline="0" dirty="0">
                <a:ln>
                  <a:noFill/>
                </a:ln>
                <a:solidFill>
                  <a:srgbClr val="000000"/>
                </a:solidFill>
                <a:effectLst/>
                <a:latin typeface="Arial Unicode MS"/>
                <a:ea typeface="ui-monospace"/>
              </a:rPr>
              <a:t>0x0210 </a:t>
            </a:r>
            <a:r>
              <a:rPr kumimoji="0" lang="zh-CN" altLang="en-US" sz="1200" b="0" i="0" u="none" strike="noStrike" cap="none" normalizeH="0" baseline="0" dirty="0">
                <a:ln>
                  <a:noFill/>
                </a:ln>
                <a:solidFill>
                  <a:srgbClr val="000000"/>
                </a:solidFill>
                <a:effectLst/>
                <a:latin typeface="Arial Unicode MS"/>
                <a:ea typeface="ui-monospace"/>
              </a:rPr>
              <a:t>加 </a:t>
            </a:r>
            <a:r>
              <a:rPr kumimoji="0" lang="en-US" altLang="zh-CN" sz="1200" b="0" i="0" u="none" strike="noStrike" cap="none" normalizeH="0" baseline="0" dirty="0">
                <a:ln>
                  <a:noFill/>
                </a:ln>
                <a:solidFill>
                  <a:srgbClr val="000000"/>
                </a:solidFill>
                <a:effectLst/>
                <a:latin typeface="Arial Unicode MS"/>
                <a:ea typeface="ui-monospace"/>
              </a:rPr>
              <a:t>1</a:t>
            </a:r>
            <a:r>
              <a:rPr kumimoji="0" lang="zh-CN" altLang="en-US" sz="1200" b="0" i="0" u="none" strike="noStrike" cap="none" normalizeH="0" baseline="0" dirty="0">
                <a:ln>
                  <a:noFill/>
                </a:ln>
                <a:solidFill>
                  <a:srgbClr val="000000"/>
                </a:solidFill>
                <a:effectLst/>
                <a:latin typeface="Arial Unicode MS"/>
                <a:ea typeface="ui-monospace"/>
              </a:rPr>
              <a:t>继续查询，服务器返回</a:t>
            </a:r>
            <a:r>
              <a:rPr kumimoji="0" lang="en-US" altLang="zh-CN" sz="1200" b="0" i="0" u="none" strike="noStrike" cap="none" normalizeH="0" baseline="0" dirty="0">
                <a:ln>
                  <a:noFill/>
                </a:ln>
                <a:solidFill>
                  <a:srgbClr val="000000"/>
                </a:solidFill>
                <a:effectLst/>
                <a:latin typeface="Arial Unicode MS"/>
                <a:ea typeface="ui-monospace"/>
              </a:rPr>
              <a:t>not found</a:t>
            </a:r>
            <a:r>
              <a:rPr kumimoji="0" lang="zh-CN" altLang="en-US" sz="1200" b="0" i="0" u="none" strike="noStrike" cap="none" normalizeH="0" baseline="0" dirty="0">
                <a:ln>
                  <a:noFill/>
                </a:ln>
                <a:solidFill>
                  <a:srgbClr val="000000"/>
                </a:solidFill>
                <a:effectLst/>
                <a:latin typeface="Arial Unicode MS"/>
                <a:ea typeface="ui-monospace"/>
              </a:rPr>
              <a:t>查询结束</a:t>
            </a:r>
            <a:endParaRPr kumimoji="0" lang="en-US" altLang="zh-CN" sz="1200" b="0" i="0" u="none" strike="noStrike" cap="none" normalizeH="0" baseline="0" dirty="0">
              <a:ln>
                <a:noFill/>
              </a:ln>
              <a:solidFill>
                <a:srgbClr val="000000"/>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zh-CN" sz="1200" dirty="0">
              <a:solidFill>
                <a:srgbClr val="000000"/>
              </a:solidFill>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200" b="0" i="0" u="none" strike="noStrike" cap="none" normalizeH="0" baseline="0" dirty="0">
                <a:ln>
                  <a:noFill/>
                </a:ln>
                <a:solidFill>
                  <a:srgbClr val="000000"/>
                </a:solidFill>
                <a:effectLst/>
                <a:latin typeface="Arial Unicode MS"/>
                <a:ea typeface="ui-monospace"/>
              </a:rPr>
              <a:t>下面是常用特征属性的表格</a:t>
            </a:r>
            <a:endParaRPr kumimoji="0" lang="en-US" altLang="zh-CN" sz="1200" b="0" i="0" u="none" strike="noStrike" cap="none" normalizeH="0" baseline="0" dirty="0">
              <a:ln>
                <a:noFill/>
              </a:ln>
              <a:solidFill>
                <a:srgbClr val="000000"/>
              </a:solidFill>
              <a:effectLst/>
              <a:latin typeface="Arial Unicode MS"/>
              <a:ea typeface="ui-monospace"/>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1200" b="0" i="0" u="none" strike="noStrike" cap="none" normalizeH="0" baseline="0" dirty="0">
              <a:ln>
                <a:noFill/>
              </a:ln>
              <a:solidFill>
                <a:srgbClr val="000000"/>
              </a:solidFill>
              <a:effectLst/>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graphicFrame>
        <p:nvGraphicFramePr>
          <p:cNvPr id="8" name="表格 7">
            <a:extLst>
              <a:ext uri="{FF2B5EF4-FFF2-40B4-BE49-F238E27FC236}">
                <a16:creationId xmlns:a16="http://schemas.microsoft.com/office/drawing/2014/main" id="{25016973-E00E-82EE-469D-053B1580A321}"/>
              </a:ext>
            </a:extLst>
          </p:cNvPr>
          <p:cNvGraphicFramePr>
            <a:graphicFrameLocks noGrp="1"/>
          </p:cNvGraphicFramePr>
          <p:nvPr>
            <p:extLst>
              <p:ext uri="{D42A27DB-BD31-4B8C-83A1-F6EECF244321}">
                <p14:modId xmlns:p14="http://schemas.microsoft.com/office/powerpoint/2010/main" val="4017505303"/>
              </p:ext>
            </p:extLst>
          </p:nvPr>
        </p:nvGraphicFramePr>
        <p:xfrm>
          <a:off x="5213074" y="1951868"/>
          <a:ext cx="2816970" cy="2729747"/>
        </p:xfrm>
        <a:graphic>
          <a:graphicData uri="http://schemas.openxmlformats.org/drawingml/2006/table">
            <a:tbl>
              <a:tblPr/>
              <a:tblGrid>
                <a:gridCol w="755941">
                  <a:extLst>
                    <a:ext uri="{9D8B030D-6E8A-4147-A177-3AD203B41FA5}">
                      <a16:colId xmlns:a16="http://schemas.microsoft.com/office/drawing/2014/main" val="777588161"/>
                    </a:ext>
                  </a:extLst>
                </a:gridCol>
                <a:gridCol w="683235">
                  <a:extLst>
                    <a:ext uri="{9D8B030D-6E8A-4147-A177-3AD203B41FA5}">
                      <a16:colId xmlns:a16="http://schemas.microsoft.com/office/drawing/2014/main" val="2127862473"/>
                    </a:ext>
                  </a:extLst>
                </a:gridCol>
                <a:gridCol w="1377794">
                  <a:extLst>
                    <a:ext uri="{9D8B030D-6E8A-4147-A177-3AD203B41FA5}">
                      <a16:colId xmlns:a16="http://schemas.microsoft.com/office/drawing/2014/main" val="855817197"/>
                    </a:ext>
                  </a:extLst>
                </a:gridCol>
              </a:tblGrid>
              <a:tr h="127262">
                <a:tc>
                  <a:txBody>
                    <a:bodyPr/>
                    <a:lstStyle/>
                    <a:p>
                      <a:pPr algn="l">
                        <a:lnSpc>
                          <a:spcPts val="1350"/>
                        </a:lnSpc>
                        <a:buNone/>
                      </a:pPr>
                      <a:r>
                        <a:rPr lang="zh-CN" altLang="en-US" sz="1100" b="1">
                          <a:solidFill>
                            <a:srgbClr val="000000"/>
                          </a:solidFill>
                          <a:effectLst/>
                          <a:latin typeface="Inter"/>
                        </a:rPr>
                        <a:t>位序号（</a:t>
                      </a:r>
                      <a:r>
                        <a:rPr lang="en-US" sz="1100" b="1">
                          <a:solidFill>
                            <a:srgbClr val="000000"/>
                          </a:solidFill>
                          <a:effectLst/>
                          <a:latin typeface="Inter"/>
                        </a:rPr>
                        <a:t>Bit）</a:t>
                      </a:r>
                    </a:p>
                  </a:txBody>
                  <a:tcPr marL="74098" marR="74098" marT="37049" marB="37049" anchor="ctr">
                    <a:lnL>
                      <a:noFill/>
                    </a:lnL>
                    <a:lnR>
                      <a:noFill/>
                    </a:lnR>
                    <a:lnT>
                      <a:noFill/>
                    </a:lnT>
                    <a:lnB>
                      <a:noFill/>
                    </a:lnB>
                    <a:noFill/>
                  </a:tcPr>
                </a:tc>
                <a:tc>
                  <a:txBody>
                    <a:bodyPr/>
                    <a:lstStyle/>
                    <a:p>
                      <a:pPr algn="l">
                        <a:lnSpc>
                          <a:spcPts val="1350"/>
                        </a:lnSpc>
                        <a:buNone/>
                      </a:pPr>
                      <a:r>
                        <a:rPr lang="zh-CN" altLang="en-US" sz="1100" b="1" dirty="0">
                          <a:solidFill>
                            <a:srgbClr val="000000"/>
                          </a:solidFill>
                          <a:effectLst/>
                          <a:latin typeface="Inter"/>
                        </a:rPr>
                        <a:t>十六进制值</a:t>
                      </a:r>
                    </a:p>
                  </a:txBody>
                  <a:tcPr marL="74098" marR="74098" marT="37049" marB="37049" anchor="ctr">
                    <a:lnL>
                      <a:noFill/>
                    </a:lnL>
                    <a:lnR>
                      <a:noFill/>
                    </a:lnR>
                    <a:lnT>
                      <a:noFill/>
                    </a:lnT>
                    <a:lnB>
                      <a:noFill/>
                    </a:lnB>
                    <a:noFill/>
                  </a:tcPr>
                </a:tc>
                <a:tc>
                  <a:txBody>
                    <a:bodyPr/>
                    <a:lstStyle/>
                    <a:p>
                      <a:pPr algn="l">
                        <a:lnSpc>
                          <a:spcPts val="1350"/>
                        </a:lnSpc>
                        <a:buNone/>
                      </a:pPr>
                      <a:r>
                        <a:rPr lang="zh-CN" altLang="en-US" sz="1100" b="1">
                          <a:solidFill>
                            <a:srgbClr val="000000"/>
                          </a:solidFill>
                          <a:effectLst/>
                          <a:latin typeface="Inter"/>
                        </a:rPr>
                        <a:t>名称</a:t>
                      </a:r>
                    </a:p>
                  </a:txBody>
                  <a:tcPr marL="74098" marR="74098" marT="37049" marB="37049" anchor="ctr">
                    <a:lnL>
                      <a:noFill/>
                    </a:lnL>
                    <a:lnR>
                      <a:noFill/>
                    </a:lnR>
                    <a:lnT>
                      <a:noFill/>
                    </a:lnT>
                    <a:lnB>
                      <a:noFill/>
                    </a:lnB>
                    <a:noFill/>
                  </a:tcPr>
                </a:tc>
                <a:extLst>
                  <a:ext uri="{0D108BD9-81ED-4DB2-BD59-A6C34878D82A}">
                    <a16:rowId xmlns:a16="http://schemas.microsoft.com/office/drawing/2014/main" val="1769151937"/>
                  </a:ext>
                </a:extLst>
              </a:tr>
              <a:tr h="128701">
                <a:tc>
                  <a:txBody>
                    <a:bodyPr/>
                    <a:lstStyle/>
                    <a:p>
                      <a:pPr algn="l">
                        <a:lnSpc>
                          <a:spcPts val="1350"/>
                        </a:lnSpc>
                        <a:buNone/>
                      </a:pPr>
                      <a:r>
                        <a:rPr lang="en-US" altLang="zh-CN" sz="1100" b="0">
                          <a:solidFill>
                            <a:srgbClr val="000000"/>
                          </a:solidFill>
                          <a:effectLst/>
                          <a:latin typeface="Inter"/>
                        </a:rPr>
                        <a:t>0</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0x01</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Broadcast</a:t>
                      </a:r>
                    </a:p>
                  </a:txBody>
                  <a:tcPr marL="74098" marR="74098" marT="37049" marB="37049" anchor="ctr">
                    <a:lnL>
                      <a:noFill/>
                    </a:lnL>
                    <a:lnR>
                      <a:noFill/>
                    </a:lnR>
                    <a:lnT>
                      <a:noFill/>
                    </a:lnT>
                    <a:lnB>
                      <a:noFill/>
                    </a:lnB>
                    <a:noFill/>
                  </a:tcPr>
                </a:tc>
                <a:extLst>
                  <a:ext uri="{0D108BD9-81ED-4DB2-BD59-A6C34878D82A}">
                    <a16:rowId xmlns:a16="http://schemas.microsoft.com/office/drawing/2014/main" val="1863422860"/>
                  </a:ext>
                </a:extLst>
              </a:tr>
              <a:tr h="128701">
                <a:tc>
                  <a:txBody>
                    <a:bodyPr/>
                    <a:lstStyle/>
                    <a:p>
                      <a:pPr algn="l">
                        <a:lnSpc>
                          <a:spcPts val="1350"/>
                        </a:lnSpc>
                        <a:buNone/>
                      </a:pPr>
                      <a:r>
                        <a:rPr lang="en-US" altLang="zh-CN" sz="1100" b="0">
                          <a:solidFill>
                            <a:srgbClr val="000000"/>
                          </a:solidFill>
                          <a:effectLst/>
                          <a:latin typeface="Inter"/>
                        </a:rPr>
                        <a:t>1</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0x02</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Read</a:t>
                      </a:r>
                    </a:p>
                  </a:txBody>
                  <a:tcPr marL="74098" marR="74098" marT="37049" marB="37049" anchor="ctr">
                    <a:lnL>
                      <a:noFill/>
                    </a:lnL>
                    <a:lnR>
                      <a:noFill/>
                    </a:lnR>
                    <a:lnT>
                      <a:noFill/>
                    </a:lnT>
                    <a:lnB>
                      <a:noFill/>
                    </a:lnB>
                    <a:noFill/>
                  </a:tcPr>
                </a:tc>
                <a:extLst>
                  <a:ext uri="{0D108BD9-81ED-4DB2-BD59-A6C34878D82A}">
                    <a16:rowId xmlns:a16="http://schemas.microsoft.com/office/drawing/2014/main" val="989958336"/>
                  </a:ext>
                </a:extLst>
              </a:tr>
              <a:tr h="154677">
                <a:tc>
                  <a:txBody>
                    <a:bodyPr/>
                    <a:lstStyle/>
                    <a:p>
                      <a:pPr algn="l">
                        <a:lnSpc>
                          <a:spcPts val="1350"/>
                        </a:lnSpc>
                        <a:buNone/>
                      </a:pPr>
                      <a:r>
                        <a:rPr lang="en-US" altLang="zh-CN" sz="1100" b="0">
                          <a:solidFill>
                            <a:srgbClr val="000000"/>
                          </a:solidFill>
                          <a:effectLst/>
                          <a:latin typeface="Inter"/>
                        </a:rPr>
                        <a:t>2</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0x04</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Write Without Response</a:t>
                      </a:r>
                    </a:p>
                  </a:txBody>
                  <a:tcPr marL="74098" marR="74098" marT="37049" marB="37049" anchor="ctr">
                    <a:lnL>
                      <a:noFill/>
                    </a:lnL>
                    <a:lnR>
                      <a:noFill/>
                    </a:lnR>
                    <a:lnT>
                      <a:noFill/>
                    </a:lnT>
                    <a:lnB>
                      <a:noFill/>
                    </a:lnB>
                    <a:noFill/>
                  </a:tcPr>
                </a:tc>
                <a:extLst>
                  <a:ext uri="{0D108BD9-81ED-4DB2-BD59-A6C34878D82A}">
                    <a16:rowId xmlns:a16="http://schemas.microsoft.com/office/drawing/2014/main" val="1124841342"/>
                  </a:ext>
                </a:extLst>
              </a:tr>
              <a:tr h="154677">
                <a:tc>
                  <a:txBody>
                    <a:bodyPr/>
                    <a:lstStyle/>
                    <a:p>
                      <a:pPr algn="l">
                        <a:lnSpc>
                          <a:spcPts val="1350"/>
                        </a:lnSpc>
                        <a:buNone/>
                      </a:pPr>
                      <a:r>
                        <a:rPr lang="en-US" altLang="zh-CN" sz="1100" b="0">
                          <a:solidFill>
                            <a:srgbClr val="000000"/>
                          </a:solidFill>
                          <a:effectLst/>
                          <a:latin typeface="Inter"/>
                        </a:rPr>
                        <a:t>3</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0x08</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Write</a:t>
                      </a:r>
                    </a:p>
                  </a:txBody>
                  <a:tcPr marL="74098" marR="74098" marT="37049" marB="37049" anchor="ctr">
                    <a:lnL>
                      <a:noFill/>
                    </a:lnL>
                    <a:lnR>
                      <a:noFill/>
                    </a:lnR>
                    <a:lnT>
                      <a:noFill/>
                    </a:lnT>
                    <a:lnB>
                      <a:noFill/>
                    </a:lnB>
                    <a:noFill/>
                  </a:tcPr>
                </a:tc>
                <a:extLst>
                  <a:ext uri="{0D108BD9-81ED-4DB2-BD59-A6C34878D82A}">
                    <a16:rowId xmlns:a16="http://schemas.microsoft.com/office/drawing/2014/main" val="4022012958"/>
                  </a:ext>
                </a:extLst>
              </a:tr>
              <a:tr h="186734">
                <a:tc>
                  <a:txBody>
                    <a:bodyPr/>
                    <a:lstStyle/>
                    <a:p>
                      <a:pPr algn="l">
                        <a:lnSpc>
                          <a:spcPts val="1350"/>
                        </a:lnSpc>
                        <a:buNone/>
                      </a:pPr>
                      <a:r>
                        <a:rPr lang="en-US" altLang="zh-CN" sz="1100" b="0">
                          <a:solidFill>
                            <a:srgbClr val="000000"/>
                          </a:solidFill>
                          <a:effectLst/>
                          <a:latin typeface="Inter"/>
                        </a:rPr>
                        <a:t>4</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0x10</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dirty="0">
                          <a:solidFill>
                            <a:srgbClr val="000000"/>
                          </a:solidFill>
                          <a:effectLst/>
                          <a:latin typeface="Inter"/>
                        </a:rPr>
                        <a:t>Notify</a:t>
                      </a:r>
                    </a:p>
                  </a:txBody>
                  <a:tcPr marL="74098" marR="74098" marT="37049" marB="37049" anchor="ctr">
                    <a:lnL>
                      <a:noFill/>
                    </a:lnL>
                    <a:lnR>
                      <a:noFill/>
                    </a:lnR>
                    <a:lnT>
                      <a:noFill/>
                    </a:lnT>
                    <a:lnB>
                      <a:noFill/>
                    </a:lnB>
                    <a:noFill/>
                  </a:tcPr>
                </a:tc>
                <a:extLst>
                  <a:ext uri="{0D108BD9-81ED-4DB2-BD59-A6C34878D82A}">
                    <a16:rowId xmlns:a16="http://schemas.microsoft.com/office/drawing/2014/main" val="334448140"/>
                  </a:ext>
                </a:extLst>
              </a:tr>
              <a:tr h="186734">
                <a:tc>
                  <a:txBody>
                    <a:bodyPr/>
                    <a:lstStyle/>
                    <a:p>
                      <a:pPr algn="l">
                        <a:lnSpc>
                          <a:spcPts val="1350"/>
                        </a:lnSpc>
                        <a:buNone/>
                      </a:pPr>
                      <a:r>
                        <a:rPr lang="en-US" altLang="zh-CN" sz="1100" b="0">
                          <a:solidFill>
                            <a:srgbClr val="000000"/>
                          </a:solidFill>
                          <a:effectLst/>
                          <a:latin typeface="Inter"/>
                        </a:rPr>
                        <a:t>5</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0x20</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Indicate</a:t>
                      </a:r>
                    </a:p>
                  </a:txBody>
                  <a:tcPr marL="74098" marR="74098" marT="37049" marB="37049" anchor="ctr">
                    <a:lnL>
                      <a:noFill/>
                    </a:lnL>
                    <a:lnR>
                      <a:noFill/>
                    </a:lnR>
                    <a:lnT>
                      <a:noFill/>
                    </a:lnT>
                    <a:lnB>
                      <a:noFill/>
                    </a:lnB>
                    <a:noFill/>
                  </a:tcPr>
                </a:tc>
                <a:extLst>
                  <a:ext uri="{0D108BD9-81ED-4DB2-BD59-A6C34878D82A}">
                    <a16:rowId xmlns:a16="http://schemas.microsoft.com/office/drawing/2014/main" val="3562973375"/>
                  </a:ext>
                </a:extLst>
              </a:tr>
              <a:tr h="133845">
                <a:tc>
                  <a:txBody>
                    <a:bodyPr/>
                    <a:lstStyle/>
                    <a:p>
                      <a:pPr algn="l">
                        <a:lnSpc>
                          <a:spcPts val="1350"/>
                        </a:lnSpc>
                        <a:buNone/>
                      </a:pPr>
                      <a:r>
                        <a:rPr lang="en-US" altLang="zh-CN" sz="1100" b="0">
                          <a:solidFill>
                            <a:srgbClr val="000000"/>
                          </a:solidFill>
                          <a:effectLst/>
                          <a:latin typeface="Inter"/>
                        </a:rPr>
                        <a:t>6</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0x40</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Inter"/>
                        </a:rPr>
                        <a:t>Authenticated Signed Writes</a:t>
                      </a:r>
                    </a:p>
                  </a:txBody>
                  <a:tcPr marL="74098" marR="74098" marT="37049" marB="37049" anchor="ctr">
                    <a:lnL>
                      <a:noFill/>
                    </a:lnL>
                    <a:lnR>
                      <a:noFill/>
                    </a:lnR>
                    <a:lnT>
                      <a:noFill/>
                    </a:lnT>
                    <a:lnB>
                      <a:noFill/>
                    </a:lnB>
                    <a:noFill/>
                  </a:tcPr>
                </a:tc>
                <a:extLst>
                  <a:ext uri="{0D108BD9-81ED-4DB2-BD59-A6C34878D82A}">
                    <a16:rowId xmlns:a16="http://schemas.microsoft.com/office/drawing/2014/main" val="4244633472"/>
                  </a:ext>
                </a:extLst>
              </a:tr>
              <a:tr h="220249">
                <a:tc>
                  <a:txBody>
                    <a:bodyPr/>
                    <a:lstStyle/>
                    <a:p>
                      <a:pPr algn="l">
                        <a:lnSpc>
                          <a:spcPts val="1350"/>
                        </a:lnSpc>
                        <a:buNone/>
                      </a:pPr>
                      <a:r>
                        <a:rPr lang="en-US" altLang="zh-CN" sz="1100" b="0">
                          <a:solidFill>
                            <a:srgbClr val="000000"/>
                          </a:solidFill>
                          <a:effectLst/>
                          <a:latin typeface="Inter"/>
                        </a:rPr>
                        <a:t>7</a:t>
                      </a:r>
                    </a:p>
                  </a:txBody>
                  <a:tcPr marL="74098" marR="74098" marT="37049" marB="37049" anchor="ctr">
                    <a:lnL>
                      <a:noFill/>
                    </a:lnL>
                    <a:lnR>
                      <a:noFill/>
                    </a:lnR>
                    <a:lnT>
                      <a:noFill/>
                    </a:lnT>
                    <a:lnB>
                      <a:noFill/>
                    </a:lnB>
                    <a:noFill/>
                  </a:tcPr>
                </a:tc>
                <a:tc>
                  <a:txBody>
                    <a:bodyPr/>
                    <a:lstStyle/>
                    <a:p>
                      <a:pPr algn="l">
                        <a:lnSpc>
                          <a:spcPts val="1350"/>
                        </a:lnSpc>
                        <a:buNone/>
                      </a:pPr>
                      <a:r>
                        <a:rPr lang="en-US" sz="1100" b="0">
                          <a:solidFill>
                            <a:srgbClr val="000000"/>
                          </a:solidFill>
                          <a:effectLst/>
                          <a:latin typeface="ui-monospace"/>
                        </a:rPr>
                        <a:t>0x80</a:t>
                      </a:r>
                      <a:endParaRPr lang="en-US" sz="1100" b="0">
                        <a:solidFill>
                          <a:srgbClr val="000000"/>
                        </a:solidFill>
                        <a:effectLst/>
                        <a:latin typeface="Inter"/>
                      </a:endParaRPr>
                    </a:p>
                  </a:txBody>
                  <a:tcPr marL="74098" marR="74098" marT="37049" marB="37049" anchor="ctr">
                    <a:lnL>
                      <a:noFill/>
                    </a:lnL>
                    <a:lnR>
                      <a:noFill/>
                    </a:lnR>
                    <a:lnT>
                      <a:noFill/>
                    </a:lnT>
                    <a:lnB>
                      <a:noFill/>
                    </a:lnB>
                    <a:noFill/>
                  </a:tcPr>
                </a:tc>
                <a:tc>
                  <a:txBody>
                    <a:bodyPr/>
                    <a:lstStyle/>
                    <a:p>
                      <a:pPr algn="l">
                        <a:lnSpc>
                          <a:spcPts val="1350"/>
                        </a:lnSpc>
                        <a:buNone/>
                      </a:pPr>
                      <a:r>
                        <a:rPr lang="en-US" sz="1100" b="0" dirty="0">
                          <a:solidFill>
                            <a:srgbClr val="000000"/>
                          </a:solidFill>
                          <a:effectLst/>
                          <a:latin typeface="Inter"/>
                        </a:rPr>
                        <a:t>Extended Properties</a:t>
                      </a:r>
                    </a:p>
                  </a:txBody>
                  <a:tcPr marL="74098" marR="74098" marT="37049" marB="37049" anchor="ctr">
                    <a:lnL>
                      <a:noFill/>
                    </a:lnL>
                    <a:lnR>
                      <a:noFill/>
                    </a:lnR>
                    <a:lnT>
                      <a:noFill/>
                    </a:lnT>
                    <a:lnB>
                      <a:noFill/>
                    </a:lnB>
                    <a:noFill/>
                  </a:tcPr>
                </a:tc>
                <a:extLst>
                  <a:ext uri="{0D108BD9-81ED-4DB2-BD59-A6C34878D82A}">
                    <a16:rowId xmlns:a16="http://schemas.microsoft.com/office/drawing/2014/main" val="2826596473"/>
                  </a:ext>
                </a:extLst>
              </a:tr>
            </a:tbl>
          </a:graphicData>
        </a:graphic>
      </p:graphicFrame>
    </p:spTree>
    <p:extLst>
      <p:ext uri="{BB962C8B-B14F-4D97-AF65-F5344CB8AC3E}">
        <p14:creationId xmlns:p14="http://schemas.microsoft.com/office/powerpoint/2010/main" val="29284440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5CC2-55E4-C84F-9B9D-2C21DC895C3C}"/>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3A3DF1E9-D9E6-4EFB-DF1D-176C79DA9A53}"/>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特征描述符发现</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6" name="图片 5" descr="表格&#10;&#10;AI 生成的内容可能不正确。">
            <a:extLst>
              <a:ext uri="{FF2B5EF4-FFF2-40B4-BE49-F238E27FC236}">
                <a16:creationId xmlns:a16="http://schemas.microsoft.com/office/drawing/2014/main" id="{2B40D78F-FCAF-58D3-0C97-BD8CC91EBB83}"/>
              </a:ext>
            </a:extLst>
          </p:cNvPr>
          <p:cNvPicPr>
            <a:picLocks noChangeAspect="1"/>
          </p:cNvPicPr>
          <p:nvPr/>
        </p:nvPicPr>
        <p:blipFill>
          <a:blip r:embed="rId2"/>
          <a:stretch>
            <a:fillRect/>
          </a:stretch>
        </p:blipFill>
        <p:spPr>
          <a:xfrm>
            <a:off x="215591" y="2571750"/>
            <a:ext cx="4571999" cy="2288166"/>
          </a:xfrm>
          <a:prstGeom prst="rect">
            <a:avLst/>
          </a:prstGeom>
        </p:spPr>
      </p:pic>
      <p:sp>
        <p:nvSpPr>
          <p:cNvPr id="7" name="Rectangle 1">
            <a:extLst>
              <a:ext uri="{FF2B5EF4-FFF2-40B4-BE49-F238E27FC236}">
                <a16:creationId xmlns:a16="http://schemas.microsoft.com/office/drawing/2014/main" id="{AA470D1E-8B57-36D0-2E61-1FB2D06F4B43}"/>
              </a:ext>
            </a:extLst>
          </p:cNvPr>
          <p:cNvSpPr>
            <a:spLocks noChangeArrowheads="1"/>
          </p:cNvSpPr>
          <p:nvPr/>
        </p:nvSpPr>
        <p:spPr bwMode="auto">
          <a:xfrm>
            <a:off x="215591" y="587682"/>
            <a:ext cx="8928409"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rgbClr val="000000"/>
                </a:solidFill>
                <a:effectLst/>
                <a:latin typeface="Arial" panose="020B0604020202020204" pitchFamily="34" charset="0"/>
                <a:ea typeface="Inter"/>
              </a:rPr>
              <a:t>客户端发送 </a:t>
            </a:r>
            <a:r>
              <a:rPr kumimoji="0" lang="zh-CN" altLang="zh-CN" sz="1400" b="0" i="0" u="none" strike="noStrike" cap="none" normalizeH="0" baseline="0" dirty="0">
                <a:ln>
                  <a:noFill/>
                </a:ln>
                <a:solidFill>
                  <a:srgbClr val="000000"/>
                </a:solidFill>
                <a:effectLst/>
                <a:latin typeface="Arial Unicode MS"/>
                <a:ea typeface="ui-monospace"/>
              </a:rPr>
              <a:t>ATT_FIND_INFORMATION_REQ</a:t>
            </a:r>
            <a:r>
              <a:rPr kumimoji="0" lang="zh-CN" altLang="zh-CN" sz="1400" b="0" i="0" u="none" strike="noStrike" cap="none" normalizeH="0" baseline="0" dirty="0">
                <a:ln>
                  <a:noFill/>
                </a:ln>
                <a:solidFill>
                  <a:srgbClr val="000000"/>
                </a:solidFill>
                <a:effectLst/>
                <a:ea typeface="Inter"/>
              </a:rPr>
              <a:t>，指定特征的句柄范围 </a:t>
            </a:r>
            <a:r>
              <a:rPr kumimoji="0" lang="zh-CN" altLang="zh-CN" sz="1400" b="0" i="0" u="none" strike="noStrike" cap="none" normalizeH="0" baseline="0" dirty="0">
                <a:ln>
                  <a:noFill/>
                </a:ln>
                <a:solidFill>
                  <a:srgbClr val="000000"/>
                </a:solidFill>
                <a:effectLst/>
                <a:latin typeface="Arial Unicode MS"/>
                <a:ea typeface="ui-monospace"/>
              </a:rPr>
              <a:t>0x0205–0x020F</a:t>
            </a:r>
            <a:r>
              <a:rPr kumimoji="0" lang="zh-CN" altLang="zh-CN" sz="1400" b="0" i="0" u="none" strike="noStrike" cap="none" normalizeH="0" baseline="0" dirty="0">
                <a:ln>
                  <a:noFill/>
                </a:ln>
                <a:solidFill>
                  <a:srgbClr val="000000"/>
                </a:solidFill>
                <a:effectLst/>
                <a:ea typeface="Inter"/>
              </a:rPr>
              <a:t>，用于探索该特征下的所有描述符。</a:t>
            </a:r>
            <a:r>
              <a:rPr kumimoji="0" lang="zh-CN" altLang="zh-CN" sz="1400" b="0" i="0" u="none" strike="noStrike" cap="none" normalizeH="0" baseline="0" dirty="0">
                <a:ln>
                  <a:noFill/>
                </a:ln>
                <a:solidFill>
                  <a:schemeClr val="tx1"/>
                </a:solidFill>
                <a:effectLst/>
                <a:latin typeface="Arial" panose="020B0604020202020204" pitchFamily="34" charset="0"/>
              </a:rPr>
              <a:t> </a:t>
            </a:r>
            <a:endParaRPr kumimoji="0" lang="zh-CN" altLang="zh-CN" sz="14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rgbClr val="000000"/>
                </a:solidFill>
                <a:effectLst/>
                <a:latin typeface="Arial" panose="020B0604020202020204" pitchFamily="34" charset="0"/>
                <a:ea typeface="Inter"/>
              </a:rPr>
              <a:t>服务器返回 </a:t>
            </a:r>
            <a:r>
              <a:rPr kumimoji="0" lang="zh-CN" altLang="zh-CN" sz="1400" b="0" i="0" u="none" strike="noStrike" cap="none" normalizeH="0" baseline="0" dirty="0">
                <a:ln>
                  <a:noFill/>
                </a:ln>
                <a:solidFill>
                  <a:srgbClr val="000000"/>
                </a:solidFill>
                <a:effectLst/>
                <a:latin typeface="Arial Unicode MS"/>
                <a:ea typeface="ui-monospace"/>
              </a:rPr>
              <a:t>ATT_FIND_INFORMATION_RSP</a:t>
            </a:r>
            <a:r>
              <a:rPr kumimoji="0" lang="zh-CN" altLang="zh-CN" sz="1400" b="0" i="0" u="none" strike="noStrike" cap="none" normalizeH="0" baseline="0" dirty="0">
                <a:ln>
                  <a:noFill/>
                </a:ln>
                <a:solidFill>
                  <a:srgbClr val="000000"/>
                </a:solidFill>
                <a:effectLst/>
                <a:ea typeface="Inter"/>
              </a:rPr>
              <a:t>，包含两个描述符信息：</a:t>
            </a:r>
            <a:endParaRPr kumimoji="0" lang="zh-CN" altLang="zh-CN" sz="14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1400" b="0" i="0" u="none" strike="noStrike" cap="none" normalizeH="0" baseline="0" dirty="0">
                <a:ln>
                  <a:noFill/>
                </a:ln>
                <a:solidFill>
                  <a:srgbClr val="000000"/>
                </a:solidFill>
                <a:effectLst/>
                <a:latin typeface="Arial" panose="020B0604020202020204" pitchFamily="34" charset="0"/>
                <a:ea typeface="Inter"/>
              </a:rPr>
              <a:t>0x01</a:t>
            </a:r>
            <a:r>
              <a:rPr kumimoji="0" lang="zh-CN" altLang="en-US" sz="1400" b="0" i="0" u="none" strike="noStrike" cap="none" normalizeH="0" baseline="0" dirty="0">
                <a:ln>
                  <a:noFill/>
                </a:ln>
                <a:solidFill>
                  <a:srgbClr val="000000"/>
                </a:solidFill>
                <a:effectLst/>
                <a:latin typeface="Arial" panose="020B0604020202020204" pitchFamily="34" charset="0"/>
                <a:ea typeface="Inter"/>
              </a:rPr>
              <a:t>：表示后续 </a:t>
            </a:r>
            <a:r>
              <a:rPr kumimoji="0" lang="en-US" altLang="zh-CN" sz="1400" b="0" i="0" u="none" strike="noStrike" cap="none" normalizeH="0" baseline="0" dirty="0">
                <a:ln>
                  <a:noFill/>
                </a:ln>
                <a:solidFill>
                  <a:srgbClr val="000000"/>
                </a:solidFill>
                <a:effectLst/>
                <a:latin typeface="Arial" panose="020B0604020202020204" pitchFamily="34" charset="0"/>
                <a:ea typeface="Inter"/>
              </a:rPr>
              <a:t>UUID </a:t>
            </a:r>
            <a:r>
              <a:rPr kumimoji="0" lang="zh-CN" altLang="en-US" sz="1400" b="0" i="0" u="none" strike="noStrike" cap="none" normalizeH="0" baseline="0" dirty="0">
                <a:ln>
                  <a:noFill/>
                </a:ln>
                <a:solidFill>
                  <a:srgbClr val="000000"/>
                </a:solidFill>
                <a:effectLst/>
                <a:latin typeface="Arial" panose="020B0604020202020204" pitchFamily="34" charset="0"/>
                <a:ea typeface="Inter"/>
              </a:rPr>
              <a:t>为</a:t>
            </a:r>
            <a:r>
              <a:rPr kumimoji="0" lang="en-US" altLang="zh-CN" sz="1400" b="0" i="0" u="none" strike="noStrike" cap="none" normalizeH="0" baseline="0" dirty="0">
                <a:ln>
                  <a:noFill/>
                </a:ln>
                <a:solidFill>
                  <a:srgbClr val="000000"/>
                </a:solidFill>
                <a:effectLst/>
                <a:latin typeface="Arial" panose="020B0604020202020204" pitchFamily="34" charset="0"/>
                <a:ea typeface="Inter"/>
              </a:rPr>
              <a:t>16 </a:t>
            </a:r>
            <a:r>
              <a:rPr kumimoji="0" lang="zh-CN" altLang="en-US" sz="1400" b="0" i="0" u="none" strike="noStrike" cap="none" normalizeH="0" baseline="0" dirty="0">
                <a:ln>
                  <a:noFill/>
                </a:ln>
                <a:solidFill>
                  <a:srgbClr val="000000"/>
                </a:solidFill>
                <a:effectLst/>
                <a:latin typeface="Arial" panose="020B0604020202020204" pitchFamily="34" charset="0"/>
                <a:ea typeface="Inter"/>
              </a:rPr>
              <a:t>位 </a:t>
            </a:r>
            <a:r>
              <a:rPr kumimoji="0" lang="en-US" altLang="zh-CN" sz="1400" b="0" i="0" u="none" strike="noStrike" cap="none" normalizeH="0" baseline="0" dirty="0">
                <a:ln>
                  <a:noFill/>
                </a:ln>
                <a:solidFill>
                  <a:srgbClr val="000000"/>
                </a:solidFill>
                <a:effectLst/>
                <a:latin typeface="Arial" panose="020B0604020202020204" pitchFamily="34" charset="0"/>
                <a:ea typeface="Inter"/>
              </a:rPr>
              <a:t>UUID</a:t>
            </a:r>
            <a:r>
              <a:rPr kumimoji="0" lang="zh-CN" altLang="en-US" sz="1400" b="0" i="0" u="none" strike="noStrike" cap="none" normalizeH="0" baseline="0" dirty="0">
                <a:ln>
                  <a:noFill/>
                </a:ln>
                <a:solidFill>
                  <a:srgbClr val="000000"/>
                </a:solidFill>
                <a:effectLst/>
                <a:latin typeface="Arial" panose="020B0604020202020204" pitchFamily="34" charset="0"/>
                <a:ea typeface="Inter"/>
              </a:rPr>
              <a:t>，</a:t>
            </a:r>
            <a:r>
              <a:rPr kumimoji="0" lang="zh-CN" altLang="zh-CN" sz="1400" b="0" i="0" u="none" strike="noStrike" cap="none" normalizeH="0" baseline="0" dirty="0">
                <a:ln>
                  <a:noFill/>
                </a:ln>
                <a:solidFill>
                  <a:srgbClr val="000000"/>
                </a:solidFill>
                <a:effectLst/>
                <a:latin typeface="Arial" panose="020B0604020202020204" pitchFamily="34" charset="0"/>
                <a:ea typeface="Inter"/>
              </a:rPr>
              <a:t>句柄 </a:t>
            </a:r>
            <a:r>
              <a:rPr kumimoji="0" lang="zh-CN" altLang="zh-CN" sz="1400" b="0" i="0" u="none" strike="noStrike" cap="none" normalizeH="0" baseline="0" dirty="0">
                <a:ln>
                  <a:noFill/>
                </a:ln>
                <a:solidFill>
                  <a:srgbClr val="000000"/>
                </a:solidFill>
                <a:effectLst/>
                <a:latin typeface="Arial Unicode MS"/>
                <a:ea typeface="ui-monospace"/>
              </a:rPr>
              <a:t>0x0205</a:t>
            </a:r>
            <a:r>
              <a:rPr kumimoji="0" lang="zh-CN" altLang="zh-CN" sz="1400" b="0" i="0" u="none" strike="noStrike" cap="none" normalizeH="0" baseline="0" dirty="0">
                <a:ln>
                  <a:noFill/>
                </a:ln>
                <a:solidFill>
                  <a:srgbClr val="000000"/>
                </a:solidFill>
                <a:effectLst/>
                <a:ea typeface="Inter"/>
              </a:rPr>
              <a:t>，对应描述符 UUID 为 </a:t>
            </a:r>
            <a:r>
              <a:rPr kumimoji="0" lang="zh-CN" altLang="zh-CN" sz="1400" b="0" i="0" u="none" strike="noStrike" cap="none" normalizeH="0" baseline="0" dirty="0">
                <a:ln>
                  <a:noFill/>
                </a:ln>
                <a:solidFill>
                  <a:srgbClr val="000000"/>
                </a:solidFill>
                <a:effectLst/>
                <a:latin typeface="Arial Unicode MS"/>
                <a:ea typeface="ui-monospace"/>
              </a:rPr>
              <a:t>&lt;&lt;UUID1&gt;&gt;</a:t>
            </a:r>
            <a:r>
              <a:rPr kumimoji="0" lang="zh-CN" altLang="zh-CN" sz="1400" b="0" i="0" u="none" strike="noStrike" cap="none" normalizeH="0" baseline="0" dirty="0">
                <a:ln>
                  <a:noFill/>
                </a:ln>
                <a:solidFill>
                  <a:srgbClr val="000000"/>
                </a:solidFill>
                <a:effectLst/>
                <a:ea typeface="Inter"/>
              </a:rPr>
              <a:t> </a:t>
            </a:r>
            <a:endParaRPr kumimoji="0" lang="zh-CN" altLang="zh-CN" sz="14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rgbClr val="000000"/>
                </a:solidFill>
                <a:effectLst/>
                <a:latin typeface="Arial" panose="020B0604020202020204" pitchFamily="34" charset="0"/>
                <a:ea typeface="Inter"/>
              </a:rPr>
              <a:t>句柄 </a:t>
            </a:r>
            <a:r>
              <a:rPr kumimoji="0" lang="zh-CN" altLang="zh-CN" sz="1400" b="0" i="0" u="none" strike="noStrike" cap="none" normalizeH="0" baseline="0" dirty="0">
                <a:ln>
                  <a:noFill/>
                </a:ln>
                <a:solidFill>
                  <a:srgbClr val="000000"/>
                </a:solidFill>
                <a:effectLst/>
                <a:latin typeface="Arial Unicode MS"/>
                <a:ea typeface="ui-monospace"/>
              </a:rPr>
              <a:t>0x0206</a:t>
            </a:r>
            <a:r>
              <a:rPr kumimoji="0" lang="zh-CN" altLang="zh-CN" sz="1400" b="0" i="0" u="none" strike="noStrike" cap="none" normalizeH="0" baseline="0" dirty="0">
                <a:ln>
                  <a:noFill/>
                </a:ln>
                <a:solidFill>
                  <a:srgbClr val="000000"/>
                </a:solidFill>
                <a:effectLst/>
                <a:ea typeface="Inter"/>
              </a:rPr>
              <a:t>，对应描述符 UUID 为 </a:t>
            </a:r>
            <a:r>
              <a:rPr kumimoji="0" lang="zh-CN" altLang="zh-CN" sz="1400" b="0" i="0" u="none" strike="noStrike" cap="none" normalizeH="0" baseline="0" dirty="0">
                <a:ln>
                  <a:noFill/>
                </a:ln>
                <a:solidFill>
                  <a:srgbClr val="000000"/>
                </a:solidFill>
                <a:effectLst/>
                <a:latin typeface="Arial Unicode MS"/>
                <a:ea typeface="ui-monospace"/>
              </a:rPr>
              <a:t>&lt;&lt;UUID2&gt;&gt;</a:t>
            </a:r>
            <a:endParaRPr lang="en-US" altLang="zh-CN" sz="1400" dirty="0">
              <a:latin typeface="Arial" panose="020B0604020202020204" pitchFamily="34" charset="0"/>
              <a:ea typeface="ui-monospac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400" b="0" i="0" u="none" strike="noStrike" cap="none" normalizeH="0" baseline="0" dirty="0">
                <a:ln>
                  <a:noFill/>
                </a:ln>
                <a:solidFill>
                  <a:srgbClr val="000000"/>
                </a:solidFill>
                <a:effectLst/>
                <a:latin typeface="Arial" panose="020B0604020202020204" pitchFamily="34" charset="0"/>
                <a:ea typeface="Inter"/>
              </a:rPr>
              <a:t>客户端继续查询后续句柄，服务器返回</a:t>
            </a:r>
            <a:r>
              <a:rPr kumimoji="0" lang="en-US" altLang="zh-CN" sz="1400" b="0" i="0" u="none" strike="noStrike" cap="none" normalizeH="0" baseline="0" dirty="0">
                <a:ln>
                  <a:noFill/>
                </a:ln>
                <a:solidFill>
                  <a:srgbClr val="000000"/>
                </a:solidFill>
                <a:effectLst/>
                <a:latin typeface="Arial" panose="020B0604020202020204" pitchFamily="34" charset="0"/>
                <a:ea typeface="Inter"/>
              </a:rPr>
              <a:t>not found</a:t>
            </a:r>
            <a:r>
              <a:rPr kumimoji="0" lang="zh-CN" altLang="en-US" sz="1400" b="0" i="0" u="none" strike="noStrike" cap="none" normalizeH="0" baseline="0" dirty="0">
                <a:ln>
                  <a:noFill/>
                </a:ln>
                <a:solidFill>
                  <a:srgbClr val="000000"/>
                </a:solidFill>
                <a:effectLst/>
                <a:latin typeface="Arial" panose="020B0604020202020204" pitchFamily="34" charset="0"/>
                <a:ea typeface="Inter"/>
              </a:rPr>
              <a:t>查询结束</a:t>
            </a:r>
            <a:endParaRPr kumimoji="0" lang="zh-CN" altLang="zh-CN" sz="1400" b="0" i="0" u="none" strike="noStrike" cap="none" normalizeH="0" baseline="0" dirty="0">
              <a:ln>
                <a:noFill/>
              </a:ln>
              <a:solidFill>
                <a:srgbClr val="000000"/>
              </a:solidFill>
              <a:effectLst/>
              <a:ea typeface="Inter"/>
            </a:endParaRPr>
          </a:p>
        </p:txBody>
      </p:sp>
    </p:spTree>
    <p:extLst>
      <p:ext uri="{BB962C8B-B14F-4D97-AF65-F5344CB8AC3E}">
        <p14:creationId xmlns:p14="http://schemas.microsoft.com/office/powerpoint/2010/main" val="3325005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69A8-841A-3FB5-6DDB-F009A2C48C6A}"/>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566A6F35-BC86-4AD5-30DA-9BAC182B42AC}"/>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特征描读取和获取特定</a:t>
            </a:r>
            <a:r>
              <a:rPr lang="en-US" altLang="zh-CN" sz="2400" b="1" spc="-38" dirty="0" err="1">
                <a:solidFill>
                  <a:srgbClr val="DFC27B"/>
                </a:solidFill>
                <a:latin typeface="Calibri" panose="020F0502020204030204" pitchFamily="34" charset="0"/>
                <a:cs typeface="Calibri" panose="020F0502020204030204" pitchFamily="34" charset="0"/>
              </a:rPr>
              <a:t>uuid</a:t>
            </a:r>
            <a:r>
              <a:rPr lang="zh-CN" altLang="en-US" sz="2400" b="1" spc="-38" dirty="0">
                <a:solidFill>
                  <a:srgbClr val="DFC27B"/>
                </a:solidFill>
                <a:latin typeface="Calibri" panose="020F0502020204030204" pitchFamily="34" charset="0"/>
                <a:cs typeface="Calibri" panose="020F0502020204030204" pitchFamily="34" charset="0"/>
              </a:rPr>
              <a:t>特征</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3" name="图片 2" descr="表格&#10;&#10;AI 生成的内容可能不正确。">
            <a:extLst>
              <a:ext uri="{FF2B5EF4-FFF2-40B4-BE49-F238E27FC236}">
                <a16:creationId xmlns:a16="http://schemas.microsoft.com/office/drawing/2014/main" id="{CE36E634-D730-7336-D43A-899CF99CB27F}"/>
              </a:ext>
            </a:extLst>
          </p:cNvPr>
          <p:cNvPicPr>
            <a:picLocks noChangeAspect="1"/>
          </p:cNvPicPr>
          <p:nvPr/>
        </p:nvPicPr>
        <p:blipFill>
          <a:blip r:embed="rId2"/>
          <a:stretch>
            <a:fillRect/>
          </a:stretch>
        </p:blipFill>
        <p:spPr>
          <a:xfrm>
            <a:off x="215591" y="3194364"/>
            <a:ext cx="3920987" cy="1415310"/>
          </a:xfrm>
          <a:prstGeom prst="rect">
            <a:avLst/>
          </a:prstGeom>
        </p:spPr>
      </p:pic>
      <p:sp>
        <p:nvSpPr>
          <p:cNvPr id="5" name="Rectangle 1">
            <a:extLst>
              <a:ext uri="{FF2B5EF4-FFF2-40B4-BE49-F238E27FC236}">
                <a16:creationId xmlns:a16="http://schemas.microsoft.com/office/drawing/2014/main" id="{6EF0BF0B-A0CE-51AB-66C2-419712640134}"/>
              </a:ext>
            </a:extLst>
          </p:cNvPr>
          <p:cNvSpPr>
            <a:spLocks noChangeArrowheads="1"/>
          </p:cNvSpPr>
          <p:nvPr/>
        </p:nvSpPr>
        <p:spPr bwMode="auto">
          <a:xfrm>
            <a:off x="278296" y="587682"/>
            <a:ext cx="902473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Arial" panose="020B0604020202020204" pitchFamily="34" charset="0"/>
                <a:ea typeface="Inter"/>
              </a:rPr>
              <a:t>Figure4.8</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eaLnBrk="0" fontAlgn="base" hangingPunct="0">
              <a:spcBef>
                <a:spcPct val="0"/>
              </a:spcBef>
              <a:spcAft>
                <a:spcPct val="0"/>
              </a:spcAft>
              <a:buFontTx/>
              <a:buChar char="•"/>
            </a:pPr>
            <a:r>
              <a:rPr lang="zh-CN" altLang="zh-CN" sz="1200" dirty="0">
                <a:solidFill>
                  <a:srgbClr val="000000"/>
                </a:solidFill>
                <a:latin typeface="Arial" panose="020B0604020202020204" pitchFamily="34" charset="0"/>
              </a:rPr>
              <a:t>客户端发送 ATT_READ_REQ，携带目标特征的句柄 0x0002。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这个句柄通常是在 “发现特征” 流程中获取的，指向一个具体的特征值属性（例如设备名称特征</a:t>
            </a:r>
            <a:r>
              <a:rPr kumimoji="0" lang="zh-CN" altLang="en-US" sz="1200" b="0" i="0" u="none" strike="noStrike" cap="none" normalizeH="0" baseline="0" dirty="0">
                <a:ln>
                  <a:noFill/>
                </a:ln>
                <a:solidFill>
                  <a:srgbClr val="000000"/>
                </a:solidFill>
                <a:effectLst/>
                <a:latin typeface="Arial" panose="020B0604020202020204" pitchFamily="34" charset="0"/>
                <a:ea typeface="Inter"/>
              </a:rPr>
              <a:t>）</a:t>
            </a:r>
            <a:endParaRPr kumimoji="0" lang="en-US"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200" b="0" i="0" u="none" strike="noStrike" cap="none" normalizeH="0" baseline="0" dirty="0">
                <a:ln>
                  <a:noFill/>
                </a:ln>
                <a:solidFill>
                  <a:schemeClr val="tx1"/>
                </a:solidFill>
                <a:effectLst/>
                <a:latin typeface="Arial" panose="020B0604020202020204" pitchFamily="34" charset="0"/>
              </a:rPr>
              <a:t>服务器返回 </a:t>
            </a:r>
            <a:r>
              <a:rPr kumimoji="0" lang="en-US" altLang="zh-CN" sz="1200" b="0" i="0" u="none" strike="noStrike" cap="none" normalizeH="0" baseline="0" dirty="0">
                <a:ln>
                  <a:noFill/>
                </a:ln>
                <a:solidFill>
                  <a:schemeClr val="tx1"/>
                </a:solidFill>
                <a:effectLst/>
                <a:latin typeface="Arial" panose="020B0604020202020204" pitchFamily="34" charset="0"/>
              </a:rPr>
              <a:t>ATT_READ_RSP</a:t>
            </a:r>
            <a:r>
              <a:rPr kumimoji="0" lang="zh-CN" altLang="en-US" sz="1200" b="0" i="0" u="none" strike="noStrike" cap="none" normalizeH="0" baseline="0" dirty="0">
                <a:ln>
                  <a:noFill/>
                </a:ln>
                <a:solidFill>
                  <a:schemeClr val="tx1"/>
                </a:solidFill>
                <a:effectLst/>
                <a:latin typeface="Arial" panose="020B0604020202020204" pitchFamily="34" charset="0"/>
              </a:rPr>
              <a:t>，携带该特征的具体值 “</a:t>
            </a:r>
            <a:r>
              <a:rPr kumimoji="0" lang="en-US" altLang="zh-CN" sz="1200" b="0" i="0" u="none" strike="noStrike" cap="none" normalizeH="0" baseline="0" dirty="0">
                <a:ln>
                  <a:noFill/>
                </a:ln>
                <a:solidFill>
                  <a:schemeClr val="tx1"/>
                </a:solidFill>
                <a:effectLst/>
                <a:latin typeface="Arial" panose="020B0604020202020204" pitchFamily="34" charset="0"/>
              </a:rPr>
              <a:t>Example Device”</a:t>
            </a: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1200" dirty="0">
                <a:latin typeface="Arial" panose="020B0604020202020204" pitchFamily="34" charset="0"/>
              </a:rPr>
              <a:t>注意：读特定句柄时，带</a:t>
            </a:r>
            <a:r>
              <a:rPr lang="en-US" altLang="zh-CN" sz="1200" dirty="0">
                <a:latin typeface="Arial" panose="020B0604020202020204" pitchFamily="34" charset="0"/>
              </a:rPr>
              <a:t>《》</a:t>
            </a:r>
            <a:r>
              <a:rPr lang="zh-CN" altLang="en-US" sz="1200" dirty="0">
                <a:latin typeface="Arial" panose="020B0604020202020204" pitchFamily="34" charset="0"/>
              </a:rPr>
              <a:t>一般是读</a:t>
            </a:r>
            <a:r>
              <a:rPr lang="en-US" altLang="zh-CN" sz="1200" dirty="0" err="1">
                <a:latin typeface="Arial" panose="020B0604020202020204" pitchFamily="34" charset="0"/>
              </a:rPr>
              <a:t>uuid</a:t>
            </a:r>
            <a:r>
              <a:rPr lang="zh-CN" altLang="en-US" sz="1200" dirty="0">
                <a:latin typeface="Arial" panose="020B0604020202020204" pitchFamily="34" charset="0"/>
              </a:rPr>
              <a:t>等抽象指代，不带</a:t>
            </a:r>
            <a:r>
              <a:rPr lang="en-US" altLang="zh-CN" sz="1200" dirty="0">
                <a:latin typeface="Arial" panose="020B0604020202020204" pitchFamily="34" charset="0"/>
              </a:rPr>
              <a:t>《》</a:t>
            </a:r>
            <a:r>
              <a:rPr lang="zh-CN" altLang="en-US" sz="1200" dirty="0">
                <a:latin typeface="Arial" panose="020B0604020202020204" pitchFamily="34" charset="0"/>
              </a:rPr>
              <a:t>则是设备名这样的具体值</a:t>
            </a:r>
            <a:endParaRPr lang="en-US" altLang="zh-CN"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zh-CN" sz="1200" dirty="0">
                <a:latin typeface="Arial" panose="020B0604020202020204" pitchFamily="34" charset="0"/>
              </a:rPr>
              <a:t>Figure4.9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200" b="0" i="0" u="none" strike="noStrike" cap="none" normalizeH="0" baseline="0" dirty="0">
                <a:ln>
                  <a:noFill/>
                </a:ln>
                <a:solidFill>
                  <a:schemeClr val="tx1"/>
                </a:solidFill>
                <a:effectLst/>
                <a:latin typeface="Arial" panose="020B0604020202020204" pitchFamily="34" charset="0"/>
              </a:rPr>
              <a:t>客户端发送 </a:t>
            </a:r>
            <a:r>
              <a:rPr kumimoji="0" lang="en-US" altLang="zh-CN" sz="1200" b="0" i="0" u="none" strike="noStrike" cap="none" normalizeH="0" baseline="0" dirty="0">
                <a:ln>
                  <a:noFill/>
                </a:ln>
                <a:solidFill>
                  <a:schemeClr val="tx1"/>
                </a:solidFill>
                <a:effectLst/>
                <a:latin typeface="Arial" panose="020B0604020202020204" pitchFamily="34" charset="0"/>
              </a:rPr>
              <a:t>ATT_READ_BY_TYPE_REQ</a:t>
            </a:r>
            <a:r>
              <a:rPr kumimoji="0" lang="zh-CN" altLang="en-US" sz="1200" b="0" i="0" u="none" strike="noStrike" cap="none" normalizeH="0" baseline="0" dirty="0">
                <a:ln>
                  <a:noFill/>
                </a:ln>
                <a:solidFill>
                  <a:schemeClr val="tx1"/>
                </a:solidFill>
                <a:effectLst/>
                <a:latin typeface="Arial" panose="020B0604020202020204" pitchFamily="34" charset="0"/>
              </a:rPr>
              <a:t>，指定全局句柄范围 </a:t>
            </a:r>
            <a:r>
              <a:rPr kumimoji="0" lang="en-US" altLang="zh-CN" sz="1200" b="0" i="0" u="none" strike="noStrike" cap="none" normalizeH="0" baseline="0" dirty="0">
                <a:ln>
                  <a:noFill/>
                </a:ln>
                <a:solidFill>
                  <a:schemeClr val="tx1"/>
                </a:solidFill>
                <a:effectLst/>
                <a:latin typeface="Arial" panose="020B0604020202020204" pitchFamily="34" charset="0"/>
              </a:rPr>
              <a:t>0x0001–0xFFFF</a:t>
            </a:r>
            <a:r>
              <a:rPr kumimoji="0" lang="zh-CN" altLang="en-US" sz="1200" b="0" i="0" u="none" strike="noStrike" cap="none" normalizeH="0" baseline="0" dirty="0">
                <a:ln>
                  <a:noFill/>
                </a:ln>
                <a:solidFill>
                  <a:schemeClr val="tx1"/>
                </a:solidFill>
                <a:effectLst/>
                <a:latin typeface="Arial" panose="020B0604020202020204" pitchFamily="34" charset="0"/>
              </a:rPr>
              <a:t>，并携带目标特征的 </a:t>
            </a:r>
            <a:r>
              <a:rPr kumimoji="0" lang="en-US" altLang="zh-CN" sz="1200" b="0" i="0" u="none" strike="noStrike" cap="none" normalizeH="0" baseline="0" dirty="0">
                <a:ln>
                  <a:noFill/>
                </a:ln>
                <a:solidFill>
                  <a:schemeClr val="tx1"/>
                </a:solidFill>
                <a:effectLst/>
                <a:latin typeface="Arial" panose="020B0604020202020204" pitchFamily="34" charset="0"/>
              </a:rPr>
              <a:t>UUID &lt;&lt;UUID12&gt;&gt;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en-US" sz="1200" b="0" i="0" u="none" strike="noStrike" cap="none" normalizeH="0" baseline="0" dirty="0">
                <a:ln>
                  <a:noFill/>
                </a:ln>
                <a:solidFill>
                  <a:schemeClr val="tx1"/>
                </a:solidFill>
                <a:effectLst/>
                <a:latin typeface="Arial" panose="020B0604020202020204" pitchFamily="34" charset="0"/>
              </a:rPr>
              <a:t>服务器返回 </a:t>
            </a:r>
            <a:r>
              <a:rPr kumimoji="0" lang="en-US" altLang="zh-CN" sz="1200" b="0" i="0" u="none" strike="noStrike" cap="none" normalizeH="0" baseline="0" dirty="0">
                <a:ln>
                  <a:noFill/>
                </a:ln>
                <a:solidFill>
                  <a:schemeClr val="tx1"/>
                </a:solidFill>
                <a:effectLst/>
                <a:latin typeface="Arial" panose="020B0604020202020204" pitchFamily="34" charset="0"/>
              </a:rPr>
              <a:t>ATT_READ_BY_TYPE_RSP</a:t>
            </a:r>
            <a:r>
              <a:rPr kumimoji="0" lang="zh-CN" altLang="en-US" sz="1200" b="0" i="0" u="none" strike="noStrike" cap="none" normalizeH="0" baseline="0" dirty="0">
                <a:ln>
                  <a:noFill/>
                </a:ln>
                <a:solidFill>
                  <a:schemeClr val="tx1"/>
                </a:solidFill>
                <a:effectLst/>
                <a:latin typeface="Arial" panose="020B0604020202020204" pitchFamily="34" charset="0"/>
              </a:rPr>
              <a:t>，包含符合</a:t>
            </a:r>
            <a:r>
              <a:rPr kumimoji="0" lang="en-US" altLang="zh-CN" sz="1200" b="0" i="0" u="none" strike="noStrike" cap="none" normalizeH="0" baseline="0" dirty="0" err="1">
                <a:ln>
                  <a:noFill/>
                </a:ln>
                <a:solidFill>
                  <a:schemeClr val="tx1"/>
                </a:solidFill>
                <a:effectLst/>
                <a:latin typeface="Arial" panose="020B0604020202020204" pitchFamily="34" charset="0"/>
              </a:rPr>
              <a:t>uuid</a:t>
            </a:r>
            <a:r>
              <a:rPr kumimoji="0" lang="zh-CN" altLang="en-US" sz="1200" b="0" i="0" u="none" strike="noStrike" cap="none" normalizeH="0" baseline="0" dirty="0">
                <a:ln>
                  <a:noFill/>
                </a:ln>
                <a:solidFill>
                  <a:schemeClr val="tx1"/>
                </a:solidFill>
                <a:effectLst/>
                <a:latin typeface="Arial" panose="020B0604020202020204" pitchFamily="34" charset="0"/>
              </a:rPr>
              <a:t>特征值的数量</a:t>
            </a:r>
            <a:r>
              <a:rPr kumimoji="0" lang="en-US" altLang="zh-CN" sz="1200" b="0" i="0" u="none" strike="noStrike" cap="none" normalizeH="0" baseline="0" dirty="0">
                <a:ln>
                  <a:noFill/>
                </a:ln>
                <a:solidFill>
                  <a:schemeClr val="tx1"/>
                </a:solidFill>
                <a:effectLst/>
                <a:latin typeface="Arial" panose="020B0604020202020204" pitchFamily="34" charset="0"/>
              </a:rPr>
              <a:t>0x04,</a:t>
            </a:r>
            <a:r>
              <a:rPr kumimoji="0" lang="zh-CN" altLang="en-US" sz="1200" b="0" i="0" u="none" strike="noStrike" cap="none" normalizeH="0" baseline="0" dirty="0">
                <a:ln>
                  <a:noFill/>
                </a:ln>
                <a:solidFill>
                  <a:schemeClr val="tx1"/>
                </a:solidFill>
                <a:effectLst/>
                <a:latin typeface="Arial" panose="020B0604020202020204" pitchFamily="34" charset="0"/>
              </a:rPr>
              <a:t>匹配特征的句柄范围 </a:t>
            </a:r>
            <a:r>
              <a:rPr kumimoji="0" lang="en-US" altLang="zh-CN" sz="1200" b="0" i="0" u="none" strike="noStrike" cap="none" normalizeH="0" baseline="0" dirty="0">
                <a:ln>
                  <a:noFill/>
                </a:ln>
                <a:solidFill>
                  <a:schemeClr val="tx1"/>
                </a:solidFill>
                <a:effectLst/>
                <a:latin typeface="Arial" panose="020B0604020202020204" pitchFamily="34" charset="0"/>
              </a:rPr>
              <a:t>0x0380–0x08EC</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pic>
        <p:nvPicPr>
          <p:cNvPr id="9" name="图片 8" descr="图形用户界面, 文本, 应用程序, 电子邮件&#10;&#10;AI 生成的内容可能不正确。">
            <a:extLst>
              <a:ext uri="{FF2B5EF4-FFF2-40B4-BE49-F238E27FC236}">
                <a16:creationId xmlns:a16="http://schemas.microsoft.com/office/drawing/2014/main" id="{3A5CC310-952D-1968-9BB9-260C46E61E03}"/>
              </a:ext>
            </a:extLst>
          </p:cNvPr>
          <p:cNvPicPr>
            <a:picLocks noChangeAspect="1"/>
          </p:cNvPicPr>
          <p:nvPr/>
        </p:nvPicPr>
        <p:blipFill>
          <a:blip r:embed="rId3"/>
          <a:stretch>
            <a:fillRect/>
          </a:stretch>
        </p:blipFill>
        <p:spPr>
          <a:xfrm>
            <a:off x="4572000" y="3157331"/>
            <a:ext cx="4502425" cy="1554455"/>
          </a:xfrm>
          <a:prstGeom prst="rect">
            <a:avLst/>
          </a:prstGeom>
        </p:spPr>
      </p:pic>
    </p:spTree>
    <p:extLst>
      <p:ext uri="{BB962C8B-B14F-4D97-AF65-F5344CB8AC3E}">
        <p14:creationId xmlns:p14="http://schemas.microsoft.com/office/powerpoint/2010/main" val="1373748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06E92-CFC1-4AD5-D075-0A61D7C07188}"/>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83AAF7A2-7958-108C-98F9-B916E201579D}"/>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GATT</a:t>
            </a:r>
            <a:r>
              <a:rPr lang="zh-CN" altLang="en-US" sz="2400" b="1" spc="-38" dirty="0">
                <a:solidFill>
                  <a:srgbClr val="DFC27B"/>
                </a:solidFill>
                <a:latin typeface="Calibri" panose="020F0502020204030204" pitchFamily="34" charset="0"/>
                <a:cs typeface="Calibri" panose="020F0502020204030204" pitchFamily="34" charset="0"/>
              </a:rPr>
              <a:t>核心组件：</a:t>
            </a:r>
            <a:r>
              <a:rPr lang="en-US" altLang="zh-CN" sz="2400" b="1" spc="-38" dirty="0">
                <a:solidFill>
                  <a:srgbClr val="DFC27B"/>
                </a:solidFill>
                <a:latin typeface="Calibri" panose="020F0502020204030204" pitchFamily="34" charset="0"/>
                <a:cs typeface="Calibri" panose="020F0502020204030204" pitchFamily="34" charset="0"/>
              </a:rPr>
              <a:t>MSC</a:t>
            </a:r>
            <a:r>
              <a:rPr lang="zh-CN" altLang="en-US" sz="2400" b="1" spc="-38" dirty="0">
                <a:solidFill>
                  <a:srgbClr val="DFC27B"/>
                </a:solidFill>
                <a:latin typeface="Calibri" panose="020F0502020204030204" pitchFamily="34" charset="0"/>
                <a:cs typeface="Calibri" panose="020F0502020204030204" pitchFamily="34" charset="0"/>
              </a:rPr>
              <a:t> </a:t>
            </a:r>
            <a:r>
              <a:rPr lang="en-US" altLang="zh-CN" sz="2400" b="1" spc="-38" dirty="0">
                <a:solidFill>
                  <a:srgbClr val="DFC27B"/>
                </a:solidFill>
                <a:latin typeface="Calibri" panose="020F0502020204030204" pitchFamily="34" charset="0"/>
                <a:cs typeface="Calibri" panose="020F0502020204030204" pitchFamily="34" charset="0"/>
              </a:rPr>
              <a:t>– </a:t>
            </a:r>
            <a:r>
              <a:rPr lang="zh-CN" altLang="en-US" sz="2400" b="1" spc="-38" dirty="0">
                <a:solidFill>
                  <a:srgbClr val="DFC27B"/>
                </a:solidFill>
                <a:latin typeface="Calibri" panose="020F0502020204030204" pitchFamily="34" charset="0"/>
                <a:cs typeface="Calibri" panose="020F0502020204030204" pitchFamily="34" charset="0"/>
              </a:rPr>
              <a:t>常用流程及其核心命令</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2" name="表格 1">
            <a:extLst>
              <a:ext uri="{FF2B5EF4-FFF2-40B4-BE49-F238E27FC236}">
                <a16:creationId xmlns:a16="http://schemas.microsoft.com/office/drawing/2014/main" id="{587CEA77-3D17-59DF-EAF0-F54B175A9727}"/>
              </a:ext>
            </a:extLst>
          </p:cNvPr>
          <p:cNvGraphicFramePr>
            <a:graphicFrameLocks noGrp="1"/>
          </p:cNvGraphicFramePr>
          <p:nvPr>
            <p:extLst>
              <p:ext uri="{D42A27DB-BD31-4B8C-83A1-F6EECF244321}">
                <p14:modId xmlns:p14="http://schemas.microsoft.com/office/powerpoint/2010/main" val="2969093127"/>
              </p:ext>
            </p:extLst>
          </p:nvPr>
        </p:nvGraphicFramePr>
        <p:xfrm>
          <a:off x="215591" y="770674"/>
          <a:ext cx="8745531" cy="3931159"/>
        </p:xfrm>
        <a:graphic>
          <a:graphicData uri="http://schemas.openxmlformats.org/drawingml/2006/table">
            <a:tbl>
              <a:tblPr/>
              <a:tblGrid>
                <a:gridCol w="2915177">
                  <a:extLst>
                    <a:ext uri="{9D8B030D-6E8A-4147-A177-3AD203B41FA5}">
                      <a16:colId xmlns:a16="http://schemas.microsoft.com/office/drawing/2014/main" val="1357012558"/>
                    </a:ext>
                  </a:extLst>
                </a:gridCol>
                <a:gridCol w="2915177">
                  <a:extLst>
                    <a:ext uri="{9D8B030D-6E8A-4147-A177-3AD203B41FA5}">
                      <a16:colId xmlns:a16="http://schemas.microsoft.com/office/drawing/2014/main" val="4192904641"/>
                    </a:ext>
                  </a:extLst>
                </a:gridCol>
                <a:gridCol w="2915177">
                  <a:extLst>
                    <a:ext uri="{9D8B030D-6E8A-4147-A177-3AD203B41FA5}">
                      <a16:colId xmlns:a16="http://schemas.microsoft.com/office/drawing/2014/main" val="3469161023"/>
                    </a:ext>
                  </a:extLst>
                </a:gridCol>
              </a:tblGrid>
              <a:tr h="93666">
                <a:tc>
                  <a:txBody>
                    <a:bodyPr/>
                    <a:lstStyle/>
                    <a:p>
                      <a:pPr algn="l">
                        <a:lnSpc>
                          <a:spcPts val="1350"/>
                        </a:lnSpc>
                        <a:buNone/>
                      </a:pPr>
                      <a:r>
                        <a:rPr lang="zh-CN" altLang="en-US" sz="900" b="1">
                          <a:solidFill>
                            <a:srgbClr val="000000"/>
                          </a:solidFill>
                          <a:effectLst/>
                          <a:latin typeface="Inter"/>
                        </a:rPr>
                        <a:t>流程名称</a:t>
                      </a: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1">
                          <a:solidFill>
                            <a:srgbClr val="000000"/>
                          </a:solidFill>
                          <a:effectLst/>
                          <a:latin typeface="Inter"/>
                        </a:rPr>
                        <a:t>核心指令</a:t>
                      </a: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1">
                          <a:solidFill>
                            <a:srgbClr val="000000"/>
                          </a:solidFill>
                          <a:effectLst/>
                          <a:latin typeface="Inter"/>
                        </a:rPr>
                        <a:t>作用</a:t>
                      </a:r>
                    </a:p>
                  </a:txBody>
                  <a:tcPr marL="31811" marR="31811" marT="15906" marB="15906" anchor="ctr">
                    <a:lnL>
                      <a:noFill/>
                    </a:lnL>
                    <a:lnR>
                      <a:noFill/>
                    </a:lnR>
                    <a:lnT>
                      <a:noFill/>
                    </a:lnT>
                    <a:lnB>
                      <a:noFill/>
                    </a:lnB>
                    <a:noFill/>
                  </a:tcPr>
                </a:tc>
                <a:extLst>
                  <a:ext uri="{0D108BD9-81ED-4DB2-BD59-A6C34878D82A}">
                    <a16:rowId xmlns:a16="http://schemas.microsoft.com/office/drawing/2014/main" val="257168173"/>
                  </a:ext>
                </a:extLst>
              </a:tr>
              <a:tr h="279518">
                <a:tc>
                  <a:txBody>
                    <a:bodyPr/>
                    <a:lstStyle/>
                    <a:p>
                      <a:pPr algn="l">
                        <a:lnSpc>
                          <a:spcPts val="1350"/>
                        </a:lnSpc>
                        <a:buNone/>
                      </a:pPr>
                      <a:r>
                        <a:rPr lang="en-US" sz="900" b="0">
                          <a:solidFill>
                            <a:srgbClr val="000000"/>
                          </a:solidFill>
                          <a:effectLst/>
                          <a:latin typeface="Inter"/>
                        </a:rPr>
                        <a:t>Discover All Primary Services</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ATT_READ_BY_GROUP_TYPE_REQ</a:t>
                      </a:r>
                      <a:r>
                        <a:rPr lang="en-US" sz="900" b="0">
                          <a:solidFill>
                            <a:srgbClr val="000000"/>
                          </a:solidFill>
                          <a:effectLst/>
                          <a:latin typeface="Inter"/>
                        </a:rPr>
                        <a:t> / </a:t>
                      </a:r>
                      <a:r>
                        <a:rPr lang="en-US" sz="900" b="0">
                          <a:solidFill>
                            <a:srgbClr val="000000"/>
                          </a:solidFill>
                          <a:effectLst/>
                          <a:latin typeface="ui-monospace"/>
                        </a:rPr>
                        <a:t>ATT_READ_BY_GROUP_TYPE_RSP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遍历设备上所有主服务，获取服务句柄范围与 </a:t>
                      </a:r>
                      <a:r>
                        <a:rPr lang="en-US" altLang="zh-CN" sz="900" b="0">
                          <a:solidFill>
                            <a:srgbClr val="000000"/>
                          </a:solidFill>
                          <a:effectLst/>
                          <a:latin typeface="Inter"/>
                        </a:rPr>
                        <a:t>UUID</a:t>
                      </a:r>
                    </a:p>
                  </a:txBody>
                  <a:tcPr marL="31811" marR="31811" marT="15906" marB="15906" anchor="ctr">
                    <a:lnL>
                      <a:noFill/>
                    </a:lnL>
                    <a:lnR>
                      <a:noFill/>
                    </a:lnR>
                    <a:lnT>
                      <a:noFill/>
                    </a:lnT>
                    <a:lnB>
                      <a:noFill/>
                    </a:lnB>
                    <a:noFill/>
                  </a:tcPr>
                </a:tc>
                <a:extLst>
                  <a:ext uri="{0D108BD9-81ED-4DB2-BD59-A6C34878D82A}">
                    <a16:rowId xmlns:a16="http://schemas.microsoft.com/office/drawing/2014/main" val="3729997658"/>
                  </a:ext>
                </a:extLst>
              </a:tr>
              <a:tr h="279518">
                <a:tc>
                  <a:txBody>
                    <a:bodyPr/>
                    <a:lstStyle/>
                    <a:p>
                      <a:pPr algn="l">
                        <a:lnSpc>
                          <a:spcPts val="1350"/>
                        </a:lnSpc>
                        <a:buNone/>
                      </a:pPr>
                      <a:r>
                        <a:rPr lang="en-US" sz="900" b="0">
                          <a:solidFill>
                            <a:srgbClr val="000000"/>
                          </a:solidFill>
                          <a:effectLst/>
                          <a:latin typeface="Inter"/>
                        </a:rPr>
                        <a:t>Discover Primary Service by Service UUID</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ATT_FIND_BY_TYPE_VALUE_REQ</a:t>
                      </a:r>
                      <a:r>
                        <a:rPr lang="en-US" sz="900" b="0">
                          <a:solidFill>
                            <a:srgbClr val="000000"/>
                          </a:solidFill>
                          <a:effectLst/>
                          <a:latin typeface="Inter"/>
                        </a:rPr>
                        <a:t> / </a:t>
                      </a:r>
                      <a:r>
                        <a:rPr lang="en-US" sz="900" b="0">
                          <a:solidFill>
                            <a:srgbClr val="000000"/>
                          </a:solidFill>
                          <a:effectLst/>
                          <a:latin typeface="ui-monospace"/>
                        </a:rPr>
                        <a:t>ATT_FIND_BY_TYPE_VALUE_RSP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通过 </a:t>
                      </a:r>
                      <a:r>
                        <a:rPr lang="en-US" altLang="zh-CN" sz="900" b="0">
                          <a:solidFill>
                            <a:srgbClr val="000000"/>
                          </a:solidFill>
                          <a:effectLst/>
                          <a:latin typeface="Inter"/>
                        </a:rPr>
                        <a:t>UUID </a:t>
                      </a:r>
                      <a:r>
                        <a:rPr lang="zh-CN" altLang="en-US" sz="900" b="0">
                          <a:solidFill>
                            <a:srgbClr val="000000"/>
                          </a:solidFill>
                          <a:effectLst/>
                          <a:latin typeface="Inter"/>
                        </a:rPr>
                        <a:t>精准定位目标主服务，获取其句柄范围</a:t>
                      </a:r>
                    </a:p>
                  </a:txBody>
                  <a:tcPr marL="31811" marR="31811" marT="15906" marB="15906" anchor="ctr">
                    <a:lnL>
                      <a:noFill/>
                    </a:lnL>
                    <a:lnR>
                      <a:noFill/>
                    </a:lnR>
                    <a:lnT>
                      <a:noFill/>
                    </a:lnT>
                    <a:lnB>
                      <a:noFill/>
                    </a:lnB>
                    <a:noFill/>
                  </a:tcPr>
                </a:tc>
                <a:extLst>
                  <a:ext uri="{0D108BD9-81ED-4DB2-BD59-A6C34878D82A}">
                    <a16:rowId xmlns:a16="http://schemas.microsoft.com/office/drawing/2014/main" val="1815367816"/>
                  </a:ext>
                </a:extLst>
              </a:tr>
              <a:tr h="217663">
                <a:tc>
                  <a:txBody>
                    <a:bodyPr/>
                    <a:lstStyle/>
                    <a:p>
                      <a:pPr algn="l">
                        <a:lnSpc>
                          <a:spcPts val="1350"/>
                        </a:lnSpc>
                        <a:buNone/>
                      </a:pPr>
                      <a:r>
                        <a:rPr lang="en-US" sz="900" b="0">
                          <a:solidFill>
                            <a:srgbClr val="000000"/>
                          </a:solidFill>
                          <a:effectLst/>
                          <a:latin typeface="Inter"/>
                        </a:rPr>
                        <a:t>Find Included Services</a:t>
                      </a:r>
                    </a:p>
                  </a:txBody>
                  <a:tcPr marL="31811" marR="31811" marT="15906" marB="15906" anchor="ctr">
                    <a:lnL>
                      <a:noFill/>
                    </a:lnL>
                    <a:lnR>
                      <a:noFill/>
                    </a:lnR>
                    <a:lnT>
                      <a:noFill/>
                    </a:lnT>
                    <a:lnB>
                      <a:noFill/>
                    </a:lnB>
                    <a:noFill/>
                  </a:tcPr>
                </a:tc>
                <a:tc>
                  <a:txBody>
                    <a:bodyPr/>
                    <a:lstStyle/>
                    <a:p>
                      <a:pPr algn="l">
                        <a:lnSpc>
                          <a:spcPts val="1350"/>
                        </a:lnSpc>
                        <a:buNone/>
                      </a:pPr>
                      <a:r>
                        <a:rPr lang="en-US" sz="900" b="0" dirty="0">
                          <a:solidFill>
                            <a:srgbClr val="000000"/>
                          </a:solidFill>
                          <a:effectLst/>
                          <a:latin typeface="ui-monospace"/>
                        </a:rPr>
                        <a:t>ATT_READ_BY_TYPE_REQ</a:t>
                      </a:r>
                      <a:r>
                        <a:rPr lang="en-US" sz="900" b="0" dirty="0">
                          <a:solidFill>
                            <a:srgbClr val="000000"/>
                          </a:solidFill>
                          <a:effectLst/>
                          <a:latin typeface="Inter"/>
                        </a:rPr>
                        <a:t> / </a:t>
                      </a:r>
                      <a:r>
                        <a:rPr lang="en-US" sz="900" b="0" dirty="0">
                          <a:solidFill>
                            <a:srgbClr val="000000"/>
                          </a:solidFill>
                          <a:effectLst/>
                          <a:latin typeface="ui-monospace"/>
                        </a:rPr>
                        <a:t>ATT_READ_BY_TYPE_RSP</a:t>
                      </a:r>
                      <a:endParaRPr lang="en-US" sz="900" b="0" dirty="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探索主服务包含的子服务，构建服务层级关系</a:t>
                      </a:r>
                    </a:p>
                  </a:txBody>
                  <a:tcPr marL="31811" marR="31811" marT="15906" marB="15906" anchor="ctr">
                    <a:lnL>
                      <a:noFill/>
                    </a:lnL>
                    <a:lnR>
                      <a:noFill/>
                    </a:lnR>
                    <a:lnT>
                      <a:noFill/>
                    </a:lnT>
                    <a:lnB>
                      <a:noFill/>
                    </a:lnB>
                    <a:noFill/>
                  </a:tcPr>
                </a:tc>
                <a:extLst>
                  <a:ext uri="{0D108BD9-81ED-4DB2-BD59-A6C34878D82A}">
                    <a16:rowId xmlns:a16="http://schemas.microsoft.com/office/drawing/2014/main" val="389105378"/>
                  </a:ext>
                </a:extLst>
              </a:tr>
              <a:tr h="217663">
                <a:tc>
                  <a:txBody>
                    <a:bodyPr/>
                    <a:lstStyle/>
                    <a:p>
                      <a:pPr algn="l">
                        <a:lnSpc>
                          <a:spcPts val="1350"/>
                        </a:lnSpc>
                        <a:buNone/>
                      </a:pPr>
                      <a:r>
                        <a:rPr lang="en-US" sz="900" b="0">
                          <a:solidFill>
                            <a:srgbClr val="000000"/>
                          </a:solidFill>
                          <a:effectLst/>
                          <a:latin typeface="Inter"/>
                        </a:rPr>
                        <a:t>Discover All Characteristics of a Service</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ATT_READ_BY_TYPE_REQ</a:t>
                      </a:r>
                      <a:r>
                        <a:rPr lang="en-US" sz="900" b="0">
                          <a:solidFill>
                            <a:srgbClr val="000000"/>
                          </a:solidFill>
                          <a:effectLst/>
                          <a:latin typeface="Inter"/>
                        </a:rPr>
                        <a:t> / </a:t>
                      </a:r>
                      <a:r>
                        <a:rPr lang="en-US" sz="900" b="0">
                          <a:solidFill>
                            <a:srgbClr val="000000"/>
                          </a:solidFill>
                          <a:effectLst/>
                          <a:latin typeface="ui-monospace"/>
                        </a:rPr>
                        <a:t>ATT_READ_BY_TYPE_RSP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遍历指定服务下的所有特征，获取特征声明与句柄</a:t>
                      </a:r>
                    </a:p>
                  </a:txBody>
                  <a:tcPr marL="31811" marR="31811" marT="15906" marB="15906" anchor="ctr">
                    <a:lnL>
                      <a:noFill/>
                    </a:lnL>
                    <a:lnR>
                      <a:noFill/>
                    </a:lnR>
                    <a:lnT>
                      <a:noFill/>
                    </a:lnT>
                    <a:lnB>
                      <a:noFill/>
                    </a:lnB>
                    <a:noFill/>
                  </a:tcPr>
                </a:tc>
                <a:extLst>
                  <a:ext uri="{0D108BD9-81ED-4DB2-BD59-A6C34878D82A}">
                    <a16:rowId xmlns:a16="http://schemas.microsoft.com/office/drawing/2014/main" val="362568240"/>
                  </a:ext>
                </a:extLst>
              </a:tr>
              <a:tr h="279518">
                <a:tc>
                  <a:txBody>
                    <a:bodyPr/>
                    <a:lstStyle/>
                    <a:p>
                      <a:pPr algn="l">
                        <a:lnSpc>
                          <a:spcPts val="1350"/>
                        </a:lnSpc>
                        <a:buNone/>
                      </a:pPr>
                      <a:r>
                        <a:rPr lang="en-US" sz="900" b="0">
                          <a:solidFill>
                            <a:srgbClr val="000000"/>
                          </a:solidFill>
                          <a:effectLst/>
                          <a:latin typeface="Inter"/>
                        </a:rPr>
                        <a:t>Discover Characteristics by UUID</a:t>
                      </a:r>
                    </a:p>
                  </a:txBody>
                  <a:tcPr marL="31811" marR="31811" marT="15906" marB="15906" anchor="ctr">
                    <a:lnL>
                      <a:noFill/>
                    </a:lnL>
                    <a:lnR>
                      <a:noFill/>
                    </a:lnR>
                    <a:lnT>
                      <a:noFill/>
                    </a:lnT>
                    <a:lnB>
                      <a:noFill/>
                    </a:lnB>
                    <a:noFill/>
                  </a:tcPr>
                </a:tc>
                <a:tc>
                  <a:txBody>
                    <a:bodyPr/>
                    <a:lstStyle/>
                    <a:p>
                      <a:pPr algn="l">
                        <a:lnSpc>
                          <a:spcPts val="1350"/>
                        </a:lnSpc>
                        <a:buNone/>
                      </a:pPr>
                      <a:r>
                        <a:rPr lang="en-US" sz="900" b="0" dirty="0">
                          <a:solidFill>
                            <a:srgbClr val="000000"/>
                          </a:solidFill>
                          <a:effectLst/>
                          <a:latin typeface="ui-monospace"/>
                        </a:rPr>
                        <a:t>ATT_FIND_BY_TYPE_VALUE_REQ</a:t>
                      </a:r>
                      <a:r>
                        <a:rPr lang="en-US" sz="900" b="0" dirty="0">
                          <a:solidFill>
                            <a:srgbClr val="000000"/>
                          </a:solidFill>
                          <a:effectLst/>
                          <a:latin typeface="Inter"/>
                        </a:rPr>
                        <a:t> / </a:t>
                      </a:r>
                      <a:r>
                        <a:rPr lang="en-US" sz="900" b="0" dirty="0">
                          <a:solidFill>
                            <a:srgbClr val="000000"/>
                          </a:solidFill>
                          <a:effectLst/>
                          <a:latin typeface="ui-monospace"/>
                        </a:rPr>
                        <a:t>ATT_FIND_BY_TYPE_VALUE_RSP</a:t>
                      </a:r>
                      <a:endParaRPr lang="en-US" sz="900" b="0" dirty="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通过 </a:t>
                      </a:r>
                      <a:r>
                        <a:rPr lang="en-US" altLang="zh-CN" sz="900" b="0">
                          <a:solidFill>
                            <a:srgbClr val="000000"/>
                          </a:solidFill>
                          <a:effectLst/>
                          <a:latin typeface="Inter"/>
                        </a:rPr>
                        <a:t>UUID </a:t>
                      </a:r>
                      <a:r>
                        <a:rPr lang="zh-CN" altLang="en-US" sz="900" b="0">
                          <a:solidFill>
                            <a:srgbClr val="000000"/>
                          </a:solidFill>
                          <a:effectLst/>
                          <a:latin typeface="Inter"/>
                        </a:rPr>
                        <a:t>在服务范围内定位目标特征</a:t>
                      </a:r>
                    </a:p>
                  </a:txBody>
                  <a:tcPr marL="31811" marR="31811" marT="15906" marB="15906" anchor="ctr">
                    <a:lnL>
                      <a:noFill/>
                    </a:lnL>
                    <a:lnR>
                      <a:noFill/>
                    </a:lnR>
                    <a:lnT>
                      <a:noFill/>
                    </a:lnT>
                    <a:lnB>
                      <a:noFill/>
                    </a:lnB>
                    <a:noFill/>
                  </a:tcPr>
                </a:tc>
                <a:extLst>
                  <a:ext uri="{0D108BD9-81ED-4DB2-BD59-A6C34878D82A}">
                    <a16:rowId xmlns:a16="http://schemas.microsoft.com/office/drawing/2014/main" val="1888368234"/>
                  </a:ext>
                </a:extLst>
              </a:tr>
              <a:tr h="279518">
                <a:tc>
                  <a:txBody>
                    <a:bodyPr/>
                    <a:lstStyle/>
                    <a:p>
                      <a:pPr algn="l">
                        <a:lnSpc>
                          <a:spcPts val="1350"/>
                        </a:lnSpc>
                        <a:buNone/>
                      </a:pPr>
                      <a:r>
                        <a:rPr lang="en-US" sz="900" b="0">
                          <a:solidFill>
                            <a:srgbClr val="000000"/>
                          </a:solidFill>
                          <a:effectLst/>
                          <a:latin typeface="Inter"/>
                        </a:rPr>
                        <a:t>Discover All Characteristic Descriptors</a:t>
                      </a:r>
                    </a:p>
                  </a:txBody>
                  <a:tcPr marL="31811" marR="31811" marT="15906" marB="15906" anchor="ctr">
                    <a:lnL>
                      <a:noFill/>
                    </a:lnL>
                    <a:lnR>
                      <a:noFill/>
                    </a:lnR>
                    <a:lnT>
                      <a:noFill/>
                    </a:lnT>
                    <a:lnB>
                      <a:noFill/>
                    </a:lnB>
                    <a:noFill/>
                  </a:tcPr>
                </a:tc>
                <a:tc>
                  <a:txBody>
                    <a:bodyPr/>
                    <a:lstStyle/>
                    <a:p>
                      <a:pPr algn="l">
                        <a:lnSpc>
                          <a:spcPts val="1350"/>
                        </a:lnSpc>
                        <a:buNone/>
                      </a:pPr>
                      <a:r>
                        <a:rPr lang="sv-SE" sz="900" b="0">
                          <a:solidFill>
                            <a:srgbClr val="000000"/>
                          </a:solidFill>
                          <a:effectLst/>
                          <a:latin typeface="ui-monospace"/>
                        </a:rPr>
                        <a:t>ATT_FIND_INFORMATION_REQ</a:t>
                      </a:r>
                      <a:r>
                        <a:rPr lang="sv-SE" sz="900" b="0">
                          <a:solidFill>
                            <a:srgbClr val="000000"/>
                          </a:solidFill>
                          <a:effectLst/>
                          <a:latin typeface="Inter"/>
                        </a:rPr>
                        <a:t> / </a:t>
                      </a:r>
                      <a:r>
                        <a:rPr lang="sv-SE" sz="900" b="0">
                          <a:solidFill>
                            <a:srgbClr val="000000"/>
                          </a:solidFill>
                          <a:effectLst/>
                          <a:latin typeface="ui-monospace"/>
                        </a:rPr>
                        <a:t>ATT_FIND_INFORMATION_RSP</a:t>
                      </a:r>
                      <a:endParaRPr lang="sv-SE"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dirty="0">
                          <a:solidFill>
                            <a:srgbClr val="000000"/>
                          </a:solidFill>
                          <a:effectLst/>
                          <a:latin typeface="Inter"/>
                        </a:rPr>
                        <a:t>遍历特征下的所有描述符，获取描述符句柄与 </a:t>
                      </a:r>
                      <a:r>
                        <a:rPr lang="en-US" altLang="zh-CN" sz="900" b="0" dirty="0">
                          <a:solidFill>
                            <a:srgbClr val="000000"/>
                          </a:solidFill>
                          <a:effectLst/>
                          <a:latin typeface="Inter"/>
                        </a:rPr>
                        <a:t>UUID</a:t>
                      </a:r>
                    </a:p>
                  </a:txBody>
                  <a:tcPr marL="31811" marR="31811" marT="15906" marB="15906" anchor="ctr">
                    <a:lnL>
                      <a:noFill/>
                    </a:lnL>
                    <a:lnR>
                      <a:noFill/>
                    </a:lnR>
                    <a:lnT>
                      <a:noFill/>
                    </a:lnT>
                    <a:lnB>
                      <a:noFill/>
                    </a:lnB>
                    <a:noFill/>
                  </a:tcPr>
                </a:tc>
                <a:extLst>
                  <a:ext uri="{0D108BD9-81ED-4DB2-BD59-A6C34878D82A}">
                    <a16:rowId xmlns:a16="http://schemas.microsoft.com/office/drawing/2014/main" val="4182066497"/>
                  </a:ext>
                </a:extLst>
              </a:tr>
              <a:tr h="155808">
                <a:tc>
                  <a:txBody>
                    <a:bodyPr/>
                    <a:lstStyle/>
                    <a:p>
                      <a:pPr algn="l">
                        <a:lnSpc>
                          <a:spcPts val="1350"/>
                        </a:lnSpc>
                        <a:buNone/>
                      </a:pPr>
                      <a:r>
                        <a:rPr lang="en-US" sz="900" b="0">
                          <a:solidFill>
                            <a:srgbClr val="000000"/>
                          </a:solidFill>
                          <a:effectLst/>
                          <a:latin typeface="Inter"/>
                        </a:rPr>
                        <a:t>Read Characteristic Value</a:t>
                      </a:r>
                    </a:p>
                  </a:txBody>
                  <a:tcPr marL="31811" marR="31811" marT="15906" marB="15906" anchor="ctr">
                    <a:lnL>
                      <a:noFill/>
                    </a:lnL>
                    <a:lnR>
                      <a:noFill/>
                    </a:lnR>
                    <a:lnT>
                      <a:noFill/>
                    </a:lnT>
                    <a:lnB>
                      <a:noFill/>
                    </a:lnB>
                    <a:noFill/>
                  </a:tcPr>
                </a:tc>
                <a:tc>
                  <a:txBody>
                    <a:bodyPr/>
                    <a:lstStyle/>
                    <a:p>
                      <a:pPr algn="l">
                        <a:lnSpc>
                          <a:spcPts val="1350"/>
                        </a:lnSpc>
                        <a:buNone/>
                      </a:pPr>
                      <a:r>
                        <a:rPr lang="sv-SE" sz="900" b="0">
                          <a:solidFill>
                            <a:srgbClr val="000000"/>
                          </a:solidFill>
                          <a:effectLst/>
                          <a:latin typeface="ui-monospace"/>
                        </a:rPr>
                        <a:t>ATT_READ_REQ</a:t>
                      </a:r>
                      <a:r>
                        <a:rPr lang="sv-SE" sz="900" b="0">
                          <a:solidFill>
                            <a:srgbClr val="000000"/>
                          </a:solidFill>
                          <a:effectLst/>
                          <a:latin typeface="Inter"/>
                        </a:rPr>
                        <a:t> / </a:t>
                      </a:r>
                      <a:r>
                        <a:rPr lang="sv-SE" sz="900" b="0">
                          <a:solidFill>
                            <a:srgbClr val="000000"/>
                          </a:solidFill>
                          <a:effectLst/>
                          <a:latin typeface="ui-monospace"/>
                        </a:rPr>
                        <a:t>ATT_READ_RSP</a:t>
                      </a:r>
                      <a:endParaRPr lang="sv-SE"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dirty="0">
                          <a:solidFill>
                            <a:srgbClr val="000000"/>
                          </a:solidFill>
                          <a:effectLst/>
                          <a:latin typeface="Inter"/>
                        </a:rPr>
                        <a:t>通过特征句柄读取单包可容纳的特征值</a:t>
                      </a:r>
                    </a:p>
                  </a:txBody>
                  <a:tcPr marL="31811" marR="31811" marT="15906" marB="15906" anchor="ctr">
                    <a:lnL>
                      <a:noFill/>
                    </a:lnL>
                    <a:lnR>
                      <a:noFill/>
                    </a:lnR>
                    <a:lnT>
                      <a:noFill/>
                    </a:lnT>
                    <a:lnB>
                      <a:noFill/>
                    </a:lnB>
                    <a:noFill/>
                  </a:tcPr>
                </a:tc>
                <a:extLst>
                  <a:ext uri="{0D108BD9-81ED-4DB2-BD59-A6C34878D82A}">
                    <a16:rowId xmlns:a16="http://schemas.microsoft.com/office/drawing/2014/main" val="3512330003"/>
                  </a:ext>
                </a:extLst>
              </a:tr>
              <a:tr h="217663">
                <a:tc>
                  <a:txBody>
                    <a:bodyPr/>
                    <a:lstStyle/>
                    <a:p>
                      <a:pPr algn="l">
                        <a:lnSpc>
                          <a:spcPts val="1350"/>
                        </a:lnSpc>
                        <a:buNone/>
                      </a:pPr>
                      <a:r>
                        <a:rPr lang="en-US" sz="900" b="0">
                          <a:solidFill>
                            <a:srgbClr val="000000"/>
                          </a:solidFill>
                          <a:effectLst/>
                          <a:latin typeface="Inter"/>
                        </a:rPr>
                        <a:t>Read Using Characteristic UUID</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ATT_READ_BY_TYPE_REQ</a:t>
                      </a:r>
                      <a:r>
                        <a:rPr lang="en-US" sz="900" b="0">
                          <a:solidFill>
                            <a:srgbClr val="000000"/>
                          </a:solidFill>
                          <a:effectLst/>
                          <a:latin typeface="Inter"/>
                        </a:rPr>
                        <a:t> / </a:t>
                      </a:r>
                      <a:r>
                        <a:rPr lang="en-US" sz="900" b="0">
                          <a:solidFill>
                            <a:srgbClr val="000000"/>
                          </a:solidFill>
                          <a:effectLst/>
                          <a:latin typeface="ui-monospace"/>
                        </a:rPr>
                        <a:t>ATT_READ_BY_TYPE_RSP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通过 </a:t>
                      </a:r>
                      <a:r>
                        <a:rPr lang="en-US" altLang="zh-CN" sz="900" b="0">
                          <a:solidFill>
                            <a:srgbClr val="000000"/>
                          </a:solidFill>
                          <a:effectLst/>
                          <a:latin typeface="Inter"/>
                        </a:rPr>
                        <a:t>UUID </a:t>
                      </a:r>
                      <a:r>
                        <a:rPr lang="zh-CN" altLang="en-US" sz="900" b="0">
                          <a:solidFill>
                            <a:srgbClr val="000000"/>
                          </a:solidFill>
                          <a:effectLst/>
                          <a:latin typeface="Inter"/>
                        </a:rPr>
                        <a:t>全局搜索并定位目标特征的句柄</a:t>
                      </a:r>
                    </a:p>
                  </a:txBody>
                  <a:tcPr marL="31811" marR="31811" marT="15906" marB="15906" anchor="ctr">
                    <a:lnL>
                      <a:noFill/>
                    </a:lnL>
                    <a:lnR>
                      <a:noFill/>
                    </a:lnR>
                    <a:lnT>
                      <a:noFill/>
                    </a:lnT>
                    <a:lnB>
                      <a:noFill/>
                    </a:lnB>
                    <a:noFill/>
                  </a:tcPr>
                </a:tc>
                <a:extLst>
                  <a:ext uri="{0D108BD9-81ED-4DB2-BD59-A6C34878D82A}">
                    <a16:rowId xmlns:a16="http://schemas.microsoft.com/office/drawing/2014/main" val="1857355425"/>
                  </a:ext>
                </a:extLst>
              </a:tr>
              <a:tr h="217663">
                <a:tc>
                  <a:txBody>
                    <a:bodyPr/>
                    <a:lstStyle/>
                    <a:p>
                      <a:pPr algn="l">
                        <a:lnSpc>
                          <a:spcPts val="1350"/>
                        </a:lnSpc>
                        <a:buNone/>
                      </a:pPr>
                      <a:r>
                        <a:rPr lang="en-US" sz="900" b="0">
                          <a:solidFill>
                            <a:srgbClr val="000000"/>
                          </a:solidFill>
                          <a:effectLst/>
                          <a:latin typeface="Inter"/>
                        </a:rPr>
                        <a:t>Read Long Characteristic Value</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ATT_READ_REQ</a:t>
                      </a:r>
                      <a:r>
                        <a:rPr lang="en-US" sz="900" b="0">
                          <a:solidFill>
                            <a:srgbClr val="000000"/>
                          </a:solidFill>
                          <a:effectLst/>
                          <a:latin typeface="Inter"/>
                        </a:rPr>
                        <a:t> / </a:t>
                      </a:r>
                      <a:r>
                        <a:rPr lang="en-US" sz="900" b="0">
                          <a:solidFill>
                            <a:srgbClr val="000000"/>
                          </a:solidFill>
                          <a:effectLst/>
                          <a:latin typeface="ui-monospace"/>
                        </a:rPr>
                        <a:t>ATT_READ_BLOB_REQ</a:t>
                      </a:r>
                      <a:r>
                        <a:rPr lang="en-US" sz="900" b="0">
                          <a:solidFill>
                            <a:srgbClr val="000000"/>
                          </a:solidFill>
                          <a:effectLst/>
                          <a:latin typeface="Inter"/>
                        </a:rPr>
                        <a:t> / </a:t>
                      </a:r>
                      <a:r>
                        <a:rPr lang="en-US" sz="900" b="0">
                          <a:solidFill>
                            <a:srgbClr val="000000"/>
                          </a:solidFill>
                          <a:effectLst/>
                          <a:latin typeface="ui-monospace"/>
                        </a:rPr>
                        <a:t>ATT_READ_BLOB_RSP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分块读取长度超过 </a:t>
                      </a:r>
                      <a:r>
                        <a:rPr lang="en-US" altLang="zh-CN" sz="900" b="0">
                          <a:solidFill>
                            <a:srgbClr val="000000"/>
                          </a:solidFill>
                          <a:effectLst/>
                          <a:latin typeface="Inter"/>
                        </a:rPr>
                        <a:t>MTU </a:t>
                      </a:r>
                      <a:r>
                        <a:rPr lang="zh-CN" altLang="en-US" sz="900" b="0">
                          <a:solidFill>
                            <a:srgbClr val="000000"/>
                          </a:solidFill>
                          <a:effectLst/>
                          <a:latin typeface="Inter"/>
                        </a:rPr>
                        <a:t>的长特征值</a:t>
                      </a:r>
                    </a:p>
                  </a:txBody>
                  <a:tcPr marL="31811" marR="31811" marT="15906" marB="15906" anchor="ctr">
                    <a:lnL>
                      <a:noFill/>
                    </a:lnL>
                    <a:lnR>
                      <a:noFill/>
                    </a:lnR>
                    <a:lnT>
                      <a:noFill/>
                    </a:lnT>
                    <a:lnB>
                      <a:noFill/>
                    </a:lnB>
                    <a:noFill/>
                  </a:tcPr>
                </a:tc>
                <a:extLst>
                  <a:ext uri="{0D108BD9-81ED-4DB2-BD59-A6C34878D82A}">
                    <a16:rowId xmlns:a16="http://schemas.microsoft.com/office/drawing/2014/main" val="2454824627"/>
                  </a:ext>
                </a:extLst>
              </a:tr>
              <a:tr h="279518">
                <a:tc>
                  <a:txBody>
                    <a:bodyPr/>
                    <a:lstStyle/>
                    <a:p>
                      <a:pPr algn="l">
                        <a:lnSpc>
                          <a:spcPts val="1350"/>
                        </a:lnSpc>
                        <a:buNone/>
                      </a:pPr>
                      <a:r>
                        <a:rPr lang="en-US" sz="900" b="0">
                          <a:solidFill>
                            <a:srgbClr val="000000"/>
                          </a:solidFill>
                          <a:effectLst/>
                          <a:latin typeface="Inter"/>
                        </a:rPr>
                        <a:t>Read Multiple Characteristic Values</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ATT_READ_MULTIPLE_REQ</a:t>
                      </a:r>
                      <a:r>
                        <a:rPr lang="en-US" sz="900" b="0">
                          <a:solidFill>
                            <a:srgbClr val="000000"/>
                          </a:solidFill>
                          <a:effectLst/>
                          <a:latin typeface="Inter"/>
                        </a:rPr>
                        <a:t> / </a:t>
                      </a:r>
                      <a:r>
                        <a:rPr lang="en-US" sz="900" b="0">
                          <a:solidFill>
                            <a:srgbClr val="000000"/>
                          </a:solidFill>
                          <a:effectLst/>
                          <a:latin typeface="ui-monospace"/>
                        </a:rPr>
                        <a:t>ATT_READ_MULTIPLE_RSP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一次性读取多个特征值，减少交互次数</a:t>
                      </a:r>
                    </a:p>
                  </a:txBody>
                  <a:tcPr marL="31811" marR="31811" marT="15906" marB="15906" anchor="ctr">
                    <a:lnL>
                      <a:noFill/>
                    </a:lnL>
                    <a:lnR>
                      <a:noFill/>
                    </a:lnR>
                    <a:lnT>
                      <a:noFill/>
                    </a:lnT>
                    <a:lnB>
                      <a:noFill/>
                    </a:lnB>
                    <a:noFill/>
                  </a:tcPr>
                </a:tc>
                <a:extLst>
                  <a:ext uri="{0D108BD9-81ED-4DB2-BD59-A6C34878D82A}">
                    <a16:rowId xmlns:a16="http://schemas.microsoft.com/office/drawing/2014/main" val="2990931918"/>
                  </a:ext>
                </a:extLst>
              </a:tr>
              <a:tr h="217663">
                <a:tc>
                  <a:txBody>
                    <a:bodyPr/>
                    <a:lstStyle/>
                    <a:p>
                      <a:pPr algn="l">
                        <a:lnSpc>
                          <a:spcPts val="1350"/>
                        </a:lnSpc>
                        <a:buNone/>
                      </a:pPr>
                      <a:r>
                        <a:rPr lang="en-US" sz="900" b="0">
                          <a:solidFill>
                            <a:srgbClr val="000000"/>
                          </a:solidFill>
                          <a:effectLst/>
                          <a:latin typeface="Inter"/>
                        </a:rPr>
                        <a:t>Write Characteristic Value</a:t>
                      </a:r>
                    </a:p>
                  </a:txBody>
                  <a:tcPr marL="31811" marR="31811" marT="15906" marB="15906" anchor="ctr">
                    <a:lnL>
                      <a:noFill/>
                    </a:lnL>
                    <a:lnR>
                      <a:noFill/>
                    </a:lnR>
                    <a:lnT>
                      <a:noFill/>
                    </a:lnT>
                    <a:lnB>
                      <a:noFill/>
                    </a:lnB>
                    <a:noFill/>
                  </a:tcPr>
                </a:tc>
                <a:tc>
                  <a:txBody>
                    <a:bodyPr/>
                    <a:lstStyle/>
                    <a:p>
                      <a:pPr algn="l">
                        <a:lnSpc>
                          <a:spcPts val="1350"/>
                        </a:lnSpc>
                        <a:buNone/>
                      </a:pPr>
                      <a:r>
                        <a:rPr lang="sv-SE" sz="900" b="0">
                          <a:solidFill>
                            <a:srgbClr val="000000"/>
                          </a:solidFill>
                          <a:effectLst/>
                          <a:latin typeface="ui-monospace"/>
                        </a:rPr>
                        <a:t>ATT_WRITE_REQ</a:t>
                      </a:r>
                      <a:r>
                        <a:rPr lang="sv-SE" sz="900" b="0">
                          <a:solidFill>
                            <a:srgbClr val="000000"/>
                          </a:solidFill>
                          <a:effectLst/>
                          <a:latin typeface="Inter"/>
                        </a:rPr>
                        <a:t> / </a:t>
                      </a:r>
                      <a:r>
                        <a:rPr lang="sv-SE" sz="900" b="0">
                          <a:solidFill>
                            <a:srgbClr val="000000"/>
                          </a:solidFill>
                          <a:effectLst/>
                          <a:latin typeface="ui-monospace"/>
                        </a:rPr>
                        <a:t>ATT_WRITE_RSP</a:t>
                      </a:r>
                      <a:r>
                        <a:rPr lang="sv-SE" sz="900" b="0">
                          <a:solidFill>
                            <a:srgbClr val="000000"/>
                          </a:solidFill>
                          <a:effectLst/>
                          <a:latin typeface="Inter"/>
                        </a:rPr>
                        <a:t> / </a:t>
                      </a:r>
                      <a:r>
                        <a:rPr lang="sv-SE" sz="900" b="0">
                          <a:solidFill>
                            <a:srgbClr val="000000"/>
                          </a:solidFill>
                          <a:effectLst/>
                          <a:latin typeface="ui-monospace"/>
                        </a:rPr>
                        <a:t>ATT_WRITE_CMD</a:t>
                      </a:r>
                      <a:endParaRPr lang="sv-SE"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a:solidFill>
                            <a:srgbClr val="000000"/>
                          </a:solidFill>
                          <a:effectLst/>
                          <a:latin typeface="Inter"/>
                        </a:rPr>
                        <a:t>写入特征值（含确认式写入和无响应写入两种模式）</a:t>
                      </a:r>
                    </a:p>
                  </a:txBody>
                  <a:tcPr marL="31811" marR="31811" marT="15906" marB="15906" anchor="ctr">
                    <a:lnL>
                      <a:noFill/>
                    </a:lnL>
                    <a:lnR>
                      <a:noFill/>
                    </a:lnR>
                    <a:lnT>
                      <a:noFill/>
                    </a:lnT>
                    <a:lnB>
                      <a:noFill/>
                    </a:lnB>
                    <a:noFill/>
                  </a:tcPr>
                </a:tc>
                <a:extLst>
                  <a:ext uri="{0D108BD9-81ED-4DB2-BD59-A6C34878D82A}">
                    <a16:rowId xmlns:a16="http://schemas.microsoft.com/office/drawing/2014/main" val="3621370139"/>
                  </a:ext>
                </a:extLst>
              </a:tr>
              <a:tr h="526937">
                <a:tc>
                  <a:txBody>
                    <a:bodyPr/>
                    <a:lstStyle/>
                    <a:p>
                      <a:pPr algn="l">
                        <a:lnSpc>
                          <a:spcPts val="1350"/>
                        </a:lnSpc>
                        <a:buNone/>
                      </a:pPr>
                      <a:r>
                        <a:rPr lang="en-US" sz="900" b="0" dirty="0">
                          <a:solidFill>
                            <a:srgbClr val="000000"/>
                          </a:solidFill>
                          <a:effectLst/>
                          <a:latin typeface="Inter"/>
                        </a:rPr>
                        <a:t>Write Long Characteristic Values</a:t>
                      </a:r>
                    </a:p>
                  </a:txBody>
                  <a:tcPr marL="31811" marR="31811" marT="15906" marB="15906" anchor="ctr">
                    <a:lnL>
                      <a:noFill/>
                    </a:lnL>
                    <a:lnR>
                      <a:noFill/>
                    </a:lnR>
                    <a:lnT>
                      <a:noFill/>
                    </a:lnT>
                    <a:lnB>
                      <a:noFill/>
                    </a:lnB>
                    <a:noFill/>
                  </a:tcPr>
                </a:tc>
                <a:tc>
                  <a:txBody>
                    <a:bodyPr/>
                    <a:lstStyle/>
                    <a:p>
                      <a:pPr algn="l">
                        <a:lnSpc>
                          <a:spcPts val="1350"/>
                        </a:lnSpc>
                        <a:buNone/>
                      </a:pPr>
                      <a:r>
                        <a:rPr lang="en-US" sz="900" b="0">
                          <a:solidFill>
                            <a:srgbClr val="000000"/>
                          </a:solidFill>
                          <a:effectLst/>
                          <a:latin typeface="ui-monospace"/>
                        </a:rPr>
                        <a:t>ATT_PREPARE_WRITE_REQ</a:t>
                      </a:r>
                      <a:r>
                        <a:rPr lang="en-US" sz="900" b="0">
                          <a:solidFill>
                            <a:srgbClr val="000000"/>
                          </a:solidFill>
                          <a:effectLst/>
                          <a:latin typeface="Inter"/>
                        </a:rPr>
                        <a:t> / </a:t>
                      </a:r>
                      <a:r>
                        <a:rPr lang="en-US" sz="900" b="0">
                          <a:solidFill>
                            <a:srgbClr val="000000"/>
                          </a:solidFill>
                          <a:effectLst/>
                          <a:latin typeface="ui-monospace"/>
                        </a:rPr>
                        <a:t>ATT_PREPARE_WRITE_RSP</a:t>
                      </a:r>
                      <a:r>
                        <a:rPr lang="en-US" sz="900" b="0">
                          <a:solidFill>
                            <a:srgbClr val="000000"/>
                          </a:solidFill>
                          <a:effectLst/>
                          <a:latin typeface="Inter"/>
                        </a:rPr>
                        <a:t> / </a:t>
                      </a:r>
                      <a:r>
                        <a:rPr lang="en-US" sz="900" b="0">
                          <a:solidFill>
                            <a:srgbClr val="000000"/>
                          </a:solidFill>
                          <a:effectLst/>
                          <a:latin typeface="ui-monospace"/>
                        </a:rPr>
                        <a:t>ATT_EXECUTE_WRITE_REQ</a:t>
                      </a:r>
                      <a:r>
                        <a:rPr lang="en-US" sz="900" b="0">
                          <a:solidFill>
                            <a:srgbClr val="000000"/>
                          </a:solidFill>
                          <a:effectLst/>
                          <a:latin typeface="Inter"/>
                        </a:rPr>
                        <a:t> / </a:t>
                      </a:r>
                      <a:r>
                        <a:rPr lang="en-US" sz="900" b="0">
                          <a:solidFill>
                            <a:srgbClr val="000000"/>
                          </a:solidFill>
                          <a:effectLst/>
                          <a:latin typeface="ui-monospace"/>
                        </a:rPr>
                        <a:t>ATT_EXECUTE_WRITE_RSP</a:t>
                      </a:r>
                      <a:endParaRPr lang="en-US" sz="900" b="0">
                        <a:solidFill>
                          <a:srgbClr val="000000"/>
                        </a:solidFill>
                        <a:effectLst/>
                        <a:latin typeface="Inter"/>
                      </a:endParaRPr>
                    </a:p>
                  </a:txBody>
                  <a:tcPr marL="31811" marR="31811" marT="15906" marB="15906" anchor="ctr">
                    <a:lnL>
                      <a:noFill/>
                    </a:lnL>
                    <a:lnR>
                      <a:noFill/>
                    </a:lnR>
                    <a:lnT>
                      <a:noFill/>
                    </a:lnT>
                    <a:lnB>
                      <a:noFill/>
                    </a:lnB>
                    <a:noFill/>
                  </a:tcPr>
                </a:tc>
                <a:tc>
                  <a:txBody>
                    <a:bodyPr/>
                    <a:lstStyle/>
                    <a:p>
                      <a:pPr algn="l">
                        <a:lnSpc>
                          <a:spcPts val="1350"/>
                        </a:lnSpc>
                        <a:buNone/>
                      </a:pPr>
                      <a:r>
                        <a:rPr lang="zh-CN" altLang="en-US" sz="900" b="0" dirty="0">
                          <a:solidFill>
                            <a:srgbClr val="000000"/>
                          </a:solidFill>
                          <a:effectLst/>
                          <a:latin typeface="Inter"/>
                        </a:rPr>
                        <a:t>分块写入长特征值，先缓存再执行写入操作</a:t>
                      </a:r>
                    </a:p>
                  </a:txBody>
                  <a:tcPr marL="31811" marR="31811" marT="15906" marB="15906" anchor="ctr">
                    <a:lnL>
                      <a:noFill/>
                    </a:lnL>
                    <a:lnR>
                      <a:noFill/>
                    </a:lnR>
                    <a:lnT>
                      <a:noFill/>
                    </a:lnT>
                    <a:lnB>
                      <a:noFill/>
                    </a:lnB>
                    <a:noFill/>
                  </a:tcPr>
                </a:tc>
                <a:extLst>
                  <a:ext uri="{0D108BD9-81ED-4DB2-BD59-A6C34878D82A}">
                    <a16:rowId xmlns:a16="http://schemas.microsoft.com/office/drawing/2014/main" val="954883784"/>
                  </a:ext>
                </a:extLst>
              </a:tr>
            </a:tbl>
          </a:graphicData>
        </a:graphic>
      </p:graphicFrame>
    </p:spTree>
    <p:extLst>
      <p:ext uri="{BB962C8B-B14F-4D97-AF65-F5344CB8AC3E}">
        <p14:creationId xmlns:p14="http://schemas.microsoft.com/office/powerpoint/2010/main" val="18056262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B641-7C79-60E0-D763-E9FD6E500C82}"/>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688AACE0-4B4F-4722-8C57-AD93B6E11155}"/>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F8407900-AFF2-FDDE-7DAB-FF6DF71F19D3}"/>
              </a:ext>
            </a:extLst>
          </p:cNvPr>
          <p:cNvSpPr txBox="1"/>
          <p:nvPr/>
        </p:nvSpPr>
        <p:spPr>
          <a:xfrm>
            <a:off x="6869151" y="3652026"/>
            <a:ext cx="1855750" cy="584775"/>
          </a:xfrm>
          <a:prstGeom prst="rect">
            <a:avLst/>
          </a:prstGeom>
          <a:noFill/>
        </p:spPr>
        <p:txBody>
          <a:bodyPr wrap="square" rtlCol="0">
            <a:spAutoFit/>
          </a:bodyPr>
          <a:lstStyle/>
          <a:p>
            <a:r>
              <a:rPr lang="en-US" altLang="zh-CN" sz="3200" dirty="0">
                <a:solidFill>
                  <a:schemeClr val="accent1"/>
                </a:solidFill>
                <a:latin typeface="+mn-ea"/>
              </a:rPr>
              <a:t>BLE_SMP</a:t>
            </a:r>
            <a:endParaRPr lang="zh-CN" altLang="en-US" sz="3200" dirty="0">
              <a:solidFill>
                <a:schemeClr val="accent1"/>
              </a:solidFill>
              <a:latin typeface="+mn-ea"/>
            </a:endParaRPr>
          </a:p>
        </p:txBody>
      </p:sp>
    </p:spTree>
    <p:extLst>
      <p:ext uri="{BB962C8B-B14F-4D97-AF65-F5344CB8AC3E}">
        <p14:creationId xmlns:p14="http://schemas.microsoft.com/office/powerpoint/2010/main" val="2971090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9CAF6E-1F89-2643-C737-0C09D26C38B1}"/>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的核心定位与适用范围</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AAF98EDA-D782-42A2-3E40-0E219427FF89}"/>
              </a:ext>
            </a:extLst>
          </p:cNvPr>
          <p:cNvSpPr txBox="1"/>
          <p:nvPr/>
        </p:nvSpPr>
        <p:spPr>
          <a:xfrm>
            <a:off x="260318" y="1289707"/>
            <a:ext cx="8745530" cy="2188228"/>
          </a:xfrm>
          <a:prstGeom prst="rect">
            <a:avLst/>
          </a:prstGeom>
          <a:noFill/>
        </p:spPr>
        <p:txBody>
          <a:bodyPr wrap="square">
            <a:spAutoFit/>
          </a:bodyPr>
          <a:lstStyle/>
          <a:p>
            <a:pPr algn="l">
              <a:lnSpc>
                <a:spcPts val="1800"/>
              </a:lnSpc>
              <a:spcBef>
                <a:spcPts val="1500"/>
              </a:spcBef>
              <a:buNone/>
            </a:pPr>
            <a:r>
              <a:rPr lang="en-US" altLang="zh-CN" sz="1200" b="1" i="0" dirty="0">
                <a:solidFill>
                  <a:srgbClr val="000000"/>
                </a:solidFill>
                <a:effectLst/>
                <a:latin typeface="Inter"/>
              </a:rPr>
              <a:t>1. </a:t>
            </a:r>
            <a:r>
              <a:rPr lang="zh-CN" altLang="en-US" sz="1200" b="1" i="0" dirty="0">
                <a:solidFill>
                  <a:srgbClr val="000000"/>
                </a:solidFill>
                <a:effectLst/>
                <a:latin typeface="Inter"/>
              </a:rPr>
              <a:t>基本定义</a:t>
            </a:r>
          </a:p>
          <a:p>
            <a:pPr algn="l">
              <a:lnSpc>
                <a:spcPts val="1800"/>
              </a:lnSpc>
              <a:buNone/>
            </a:pPr>
            <a:r>
              <a:rPr lang="en-US" altLang="zh-CN" sz="1200" b="0" i="0" dirty="0">
                <a:solidFill>
                  <a:srgbClr val="000000"/>
                </a:solidFill>
                <a:effectLst/>
                <a:latin typeface="Inter"/>
              </a:rPr>
              <a:t>SMP </a:t>
            </a:r>
            <a:r>
              <a:rPr lang="zh-CN" altLang="en-US" sz="1200" b="0" i="0" dirty="0">
                <a:solidFill>
                  <a:srgbClr val="000000"/>
                </a:solidFill>
                <a:effectLst/>
                <a:latin typeface="Inter"/>
              </a:rPr>
              <a:t>是蓝牙 </a:t>
            </a:r>
            <a:r>
              <a:rPr lang="en-US" altLang="zh-CN" sz="1200" b="0" i="0" dirty="0">
                <a:solidFill>
                  <a:srgbClr val="000000"/>
                </a:solidFill>
                <a:effectLst/>
                <a:latin typeface="Inter"/>
              </a:rPr>
              <a:t>LE </a:t>
            </a:r>
            <a:r>
              <a:rPr lang="zh-CN" altLang="en-US" sz="1200" b="0" i="0" dirty="0">
                <a:solidFill>
                  <a:srgbClr val="000000"/>
                </a:solidFill>
                <a:effectLst/>
                <a:latin typeface="Inter"/>
              </a:rPr>
              <a:t>系统中负责</a:t>
            </a:r>
            <a:r>
              <a:rPr lang="zh-CN" altLang="en-US" sz="1200" b="1" i="0" dirty="0">
                <a:solidFill>
                  <a:srgbClr val="000000"/>
                </a:solidFill>
                <a:effectLst/>
                <a:latin typeface="Inter"/>
              </a:rPr>
              <a:t>安全参数协商、密钥生成与分发、加密与认证控制</a:t>
            </a:r>
            <a:r>
              <a:rPr lang="zh-CN" altLang="en-US" sz="1200" b="0" i="0" dirty="0">
                <a:solidFill>
                  <a:srgbClr val="000000"/>
                </a:solidFill>
                <a:effectLst/>
                <a:latin typeface="Inter"/>
              </a:rPr>
              <a:t>的端到端协议，运行在 </a:t>
            </a:r>
            <a:r>
              <a:rPr lang="en-US" altLang="zh-CN" sz="1200" b="0" i="0" dirty="0">
                <a:solidFill>
                  <a:srgbClr val="000000"/>
                </a:solidFill>
                <a:effectLst/>
                <a:latin typeface="Inter"/>
              </a:rPr>
              <a:t>L2CAP</a:t>
            </a:r>
            <a:r>
              <a:rPr lang="zh-CN" altLang="en-US" sz="1200" b="0" i="0" dirty="0">
                <a:solidFill>
                  <a:srgbClr val="000000"/>
                </a:solidFill>
                <a:effectLst/>
                <a:latin typeface="Inter"/>
              </a:rPr>
              <a:t>（</a:t>
            </a:r>
            <a:r>
              <a:rPr lang="en-US" altLang="zh-CN" sz="1200" b="0" i="0" dirty="0">
                <a:solidFill>
                  <a:srgbClr val="000000"/>
                </a:solidFill>
                <a:effectLst/>
                <a:latin typeface="Inter"/>
              </a:rPr>
              <a:t>Logical Link Control and Adaptation Protocol</a:t>
            </a:r>
            <a:r>
              <a:rPr lang="zh-CN" altLang="en-US" sz="1200" b="0" i="0" dirty="0">
                <a:solidFill>
                  <a:srgbClr val="000000"/>
                </a:solidFill>
                <a:effectLst/>
                <a:latin typeface="Inter"/>
              </a:rPr>
              <a:t>）之上，使用固定的 </a:t>
            </a:r>
            <a:r>
              <a:rPr lang="en-US" altLang="zh-CN" sz="1200" b="0" i="0" dirty="0">
                <a:solidFill>
                  <a:srgbClr val="000000"/>
                </a:solidFill>
                <a:effectLst/>
                <a:latin typeface="Inter"/>
              </a:rPr>
              <a:t>L2CAP </a:t>
            </a:r>
            <a:r>
              <a:rPr lang="zh-CN" altLang="en-US" sz="1200" b="0" i="0" dirty="0">
                <a:solidFill>
                  <a:srgbClr val="000000"/>
                </a:solidFill>
                <a:effectLst/>
                <a:latin typeface="Inter"/>
              </a:rPr>
              <a:t>通道（通道 </a:t>
            </a:r>
            <a:r>
              <a:rPr lang="en-US" altLang="zh-CN" sz="1200" b="0" i="0" dirty="0">
                <a:solidFill>
                  <a:srgbClr val="000000"/>
                </a:solidFill>
                <a:effectLst/>
                <a:latin typeface="Inter"/>
              </a:rPr>
              <a:t>ID </a:t>
            </a:r>
            <a:r>
              <a:rPr lang="zh-CN" altLang="en-US" sz="1200" b="0" i="0" dirty="0">
                <a:solidFill>
                  <a:srgbClr val="000000"/>
                </a:solidFill>
                <a:effectLst/>
                <a:latin typeface="Inter"/>
              </a:rPr>
              <a:t>为 </a:t>
            </a:r>
            <a:r>
              <a:rPr lang="en-US" altLang="zh-CN" sz="1200" b="0" i="0" dirty="0">
                <a:solidFill>
                  <a:srgbClr val="000000"/>
                </a:solidFill>
                <a:effectLst/>
                <a:latin typeface="Inter"/>
              </a:rPr>
              <a:t>0x0006</a:t>
            </a:r>
            <a:r>
              <a:rPr lang="zh-CN" altLang="en-US" sz="1200" b="0" i="0" dirty="0">
                <a:solidFill>
                  <a:srgbClr val="000000"/>
                </a:solidFill>
                <a:effectLst/>
                <a:latin typeface="Inter"/>
              </a:rPr>
              <a:t>）实现设备间的安全交互。</a:t>
            </a:r>
          </a:p>
          <a:p>
            <a:pPr algn="l">
              <a:lnSpc>
                <a:spcPts val="1800"/>
              </a:lnSpc>
              <a:spcBef>
                <a:spcPts val="900"/>
              </a:spcBef>
              <a:buNone/>
            </a:pPr>
            <a:r>
              <a:rPr lang="en-US" altLang="zh-CN" sz="1200" b="1" i="0" dirty="0">
                <a:solidFill>
                  <a:srgbClr val="000000"/>
                </a:solidFill>
                <a:effectLst/>
                <a:latin typeface="Inter"/>
              </a:rPr>
              <a:t>2. </a:t>
            </a:r>
            <a:r>
              <a:rPr lang="zh-CN" altLang="en-US" sz="1200" b="1" i="0" dirty="0">
                <a:solidFill>
                  <a:srgbClr val="000000"/>
                </a:solidFill>
                <a:effectLst/>
                <a:latin typeface="Inter"/>
              </a:rPr>
              <a:t>适用场景</a:t>
            </a:r>
          </a:p>
          <a:p>
            <a:pPr algn="l">
              <a:lnSpc>
                <a:spcPts val="1800"/>
              </a:lnSpc>
              <a:spcBef>
                <a:spcPts val="600"/>
              </a:spcBef>
              <a:spcAft>
                <a:spcPts val="600"/>
              </a:spcAft>
              <a:buFont typeface="Arial" panose="020B0604020202020204" pitchFamily="34" charset="0"/>
              <a:buChar char="•"/>
            </a:pPr>
            <a:r>
              <a:rPr lang="zh-CN" altLang="en-US" sz="1200" b="0" i="0" dirty="0">
                <a:solidFill>
                  <a:srgbClr val="000000"/>
                </a:solidFill>
                <a:effectLst/>
                <a:latin typeface="Inter"/>
              </a:rPr>
              <a:t>仅用于 </a:t>
            </a:r>
            <a:r>
              <a:rPr lang="en-US" altLang="zh-CN" sz="1200" b="1" i="0" dirty="0">
                <a:solidFill>
                  <a:srgbClr val="000000"/>
                </a:solidFill>
                <a:effectLst/>
                <a:latin typeface="Inter"/>
              </a:rPr>
              <a:t>LE </a:t>
            </a:r>
            <a:r>
              <a:rPr lang="zh-CN" altLang="en-US" sz="1200" b="1" i="0" dirty="0">
                <a:solidFill>
                  <a:srgbClr val="000000"/>
                </a:solidFill>
                <a:effectLst/>
                <a:latin typeface="Inter"/>
              </a:rPr>
              <a:t>系统</a:t>
            </a:r>
            <a:r>
              <a:rPr lang="zh-CN" altLang="en-US" sz="1200" b="0" i="0" dirty="0">
                <a:solidFill>
                  <a:srgbClr val="000000"/>
                </a:solidFill>
                <a:effectLst/>
                <a:latin typeface="Inter"/>
              </a:rPr>
              <a:t>（</a:t>
            </a:r>
            <a:r>
              <a:rPr lang="en-US" altLang="zh-CN" sz="1200" b="0" i="0" dirty="0">
                <a:solidFill>
                  <a:srgbClr val="000000"/>
                </a:solidFill>
                <a:effectLst/>
                <a:latin typeface="Inter"/>
              </a:rPr>
              <a:t>BR/EDR </a:t>
            </a:r>
            <a:r>
              <a:rPr lang="zh-CN" altLang="en-US" sz="1200" b="0" i="0" dirty="0">
                <a:solidFill>
                  <a:srgbClr val="000000"/>
                </a:solidFill>
                <a:effectLst/>
                <a:latin typeface="Inter"/>
              </a:rPr>
              <a:t>系统的安全功能由 </a:t>
            </a:r>
            <a:r>
              <a:rPr lang="en-US" altLang="zh-CN" sz="1200" b="0" i="0" dirty="0">
                <a:solidFill>
                  <a:srgbClr val="000000"/>
                </a:solidFill>
                <a:effectLst/>
                <a:latin typeface="Inter"/>
              </a:rPr>
              <a:t>Link Manager </a:t>
            </a:r>
            <a:r>
              <a:rPr lang="zh-CN" altLang="en-US" sz="1200" b="0" i="0" dirty="0">
                <a:solidFill>
                  <a:srgbClr val="000000"/>
                </a:solidFill>
                <a:effectLst/>
                <a:latin typeface="Inter"/>
              </a:rPr>
              <a:t>模块实现，而非 </a:t>
            </a:r>
            <a:r>
              <a:rPr lang="en-US" altLang="zh-CN" sz="1200" b="0" i="0" dirty="0">
                <a:solidFill>
                  <a:srgbClr val="000000"/>
                </a:solidFill>
                <a:effectLst/>
                <a:latin typeface="Inter"/>
              </a:rPr>
              <a:t>SMP</a:t>
            </a:r>
            <a:r>
              <a:rPr lang="zh-CN" altLang="en-US" sz="1200" b="0" i="0" dirty="0">
                <a:solidFill>
                  <a:srgbClr val="000000"/>
                </a:solidFill>
                <a:effectLst/>
                <a:latin typeface="Inter"/>
              </a:rPr>
              <a:t>）；</a:t>
            </a:r>
          </a:p>
          <a:p>
            <a:pPr algn="l">
              <a:lnSpc>
                <a:spcPts val="1800"/>
              </a:lnSpc>
              <a:spcBef>
                <a:spcPts val="600"/>
              </a:spcBef>
              <a:spcAft>
                <a:spcPts val="600"/>
              </a:spcAft>
              <a:buFont typeface="Arial" panose="020B0604020202020204" pitchFamily="34" charset="0"/>
              <a:buChar char="•"/>
            </a:pPr>
            <a:r>
              <a:rPr lang="zh-CN" altLang="en-US" sz="1200" b="0" i="0" dirty="0">
                <a:solidFill>
                  <a:srgbClr val="000000"/>
                </a:solidFill>
                <a:effectLst/>
                <a:latin typeface="Inter"/>
              </a:rPr>
              <a:t>支持 </a:t>
            </a:r>
            <a:r>
              <a:rPr lang="en-US" altLang="zh-CN" sz="1200" b="0" i="0" dirty="0">
                <a:solidFill>
                  <a:srgbClr val="000000"/>
                </a:solidFill>
                <a:effectLst/>
                <a:latin typeface="Inter"/>
              </a:rPr>
              <a:t>LE </a:t>
            </a:r>
            <a:r>
              <a:rPr lang="zh-CN" altLang="en-US" sz="1200" b="0" i="0" dirty="0">
                <a:solidFill>
                  <a:srgbClr val="000000"/>
                </a:solidFill>
                <a:effectLst/>
                <a:latin typeface="Inter"/>
              </a:rPr>
              <a:t>设备间的配对（</a:t>
            </a:r>
            <a:r>
              <a:rPr lang="en-US" altLang="zh-CN" sz="1200" b="0" i="0" dirty="0">
                <a:solidFill>
                  <a:srgbClr val="000000"/>
                </a:solidFill>
                <a:effectLst/>
                <a:latin typeface="Inter"/>
              </a:rPr>
              <a:t>Pairing</a:t>
            </a:r>
            <a:r>
              <a:rPr lang="zh-CN" altLang="en-US" sz="1200" b="0" i="0" dirty="0">
                <a:solidFill>
                  <a:srgbClr val="000000"/>
                </a:solidFill>
                <a:effectLst/>
                <a:latin typeface="Inter"/>
              </a:rPr>
              <a:t>）、绑定（</a:t>
            </a:r>
            <a:r>
              <a:rPr lang="en-US" altLang="zh-CN" sz="1200" b="0" i="0" dirty="0">
                <a:solidFill>
                  <a:srgbClr val="000000"/>
                </a:solidFill>
                <a:effectLst/>
                <a:latin typeface="Inter"/>
              </a:rPr>
              <a:t>Bonding</a:t>
            </a:r>
            <a:r>
              <a:rPr lang="zh-CN" altLang="en-US" sz="1200" b="0" i="0" dirty="0">
                <a:solidFill>
                  <a:srgbClr val="000000"/>
                </a:solidFill>
                <a:effectLst/>
                <a:latin typeface="Inter"/>
              </a:rPr>
              <a:t>）、加密启用、数据签名等安全操作；</a:t>
            </a:r>
          </a:p>
          <a:p>
            <a:pPr algn="l">
              <a:lnSpc>
                <a:spcPts val="1800"/>
              </a:lnSpc>
              <a:spcBef>
                <a:spcPts val="600"/>
              </a:spcBef>
              <a:spcAft>
                <a:spcPts val="600"/>
              </a:spcAft>
              <a:buFont typeface="Arial" panose="020B0604020202020204" pitchFamily="34" charset="0"/>
              <a:buChar char="•"/>
            </a:pPr>
            <a:r>
              <a:rPr lang="zh-CN" altLang="en-US" sz="1200" b="0" i="0" dirty="0">
                <a:solidFill>
                  <a:srgbClr val="000000"/>
                </a:solidFill>
                <a:effectLst/>
                <a:latin typeface="Inter"/>
              </a:rPr>
              <a:t>需与 </a:t>
            </a:r>
            <a:r>
              <a:rPr lang="en-US" altLang="zh-CN" sz="1200" b="0" i="0" dirty="0">
                <a:solidFill>
                  <a:srgbClr val="000000"/>
                </a:solidFill>
                <a:effectLst/>
                <a:latin typeface="Inter"/>
              </a:rPr>
              <a:t>Link Layer</a:t>
            </a:r>
            <a:r>
              <a:rPr lang="zh-CN" altLang="en-US" sz="1200" b="0" i="0" dirty="0">
                <a:solidFill>
                  <a:srgbClr val="000000"/>
                </a:solidFill>
                <a:effectLst/>
                <a:latin typeface="Inter"/>
              </a:rPr>
              <a:t>（</a:t>
            </a:r>
            <a:r>
              <a:rPr lang="en-US" altLang="zh-CN" sz="1200" b="0" i="0" dirty="0">
                <a:solidFill>
                  <a:srgbClr val="000000"/>
                </a:solidFill>
                <a:effectLst/>
                <a:latin typeface="Inter"/>
              </a:rPr>
              <a:t>LL</a:t>
            </a:r>
            <a:r>
              <a:rPr lang="zh-CN" altLang="en-US" sz="1200" b="0" i="0" dirty="0">
                <a:solidFill>
                  <a:srgbClr val="000000"/>
                </a:solidFill>
                <a:effectLst/>
                <a:latin typeface="Inter"/>
              </a:rPr>
              <a:t>，链路层）协同工作，例如通过 </a:t>
            </a:r>
            <a:r>
              <a:rPr lang="en-US" altLang="zh-CN" sz="1200" b="0" i="0" dirty="0">
                <a:solidFill>
                  <a:srgbClr val="000000"/>
                </a:solidFill>
                <a:effectLst/>
                <a:latin typeface="Inter"/>
              </a:rPr>
              <a:t>LL </a:t>
            </a:r>
            <a:r>
              <a:rPr lang="zh-CN" altLang="en-US" sz="1200" b="0" i="0" dirty="0">
                <a:solidFill>
                  <a:srgbClr val="000000"/>
                </a:solidFill>
                <a:effectLst/>
                <a:latin typeface="Inter"/>
              </a:rPr>
              <a:t>协议实现加密会话的建立。</a:t>
            </a:r>
          </a:p>
        </p:txBody>
      </p:sp>
    </p:spTree>
    <p:extLst>
      <p:ext uri="{BB962C8B-B14F-4D97-AF65-F5344CB8AC3E}">
        <p14:creationId xmlns:p14="http://schemas.microsoft.com/office/powerpoint/2010/main" val="6051813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DFAB-36A8-ACD2-8280-D1293B2B433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F3B09CF-54CC-FE2E-182C-9ABD52C517CF}"/>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加密工具箱</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595DF899-1DFD-9DA7-0173-8D05A5DD218D}"/>
              </a:ext>
            </a:extLst>
          </p:cNvPr>
          <p:cNvGraphicFramePr>
            <a:graphicFrameLocks noGrp="1"/>
          </p:cNvGraphicFramePr>
          <p:nvPr>
            <p:extLst>
              <p:ext uri="{D42A27DB-BD31-4B8C-83A1-F6EECF244321}">
                <p14:modId xmlns:p14="http://schemas.microsoft.com/office/powerpoint/2010/main" val="94536948"/>
              </p:ext>
            </p:extLst>
          </p:nvPr>
        </p:nvGraphicFramePr>
        <p:xfrm>
          <a:off x="215593" y="1008026"/>
          <a:ext cx="8745528" cy="3614410"/>
        </p:xfrm>
        <a:graphic>
          <a:graphicData uri="http://schemas.openxmlformats.org/drawingml/2006/table">
            <a:tbl>
              <a:tblPr/>
              <a:tblGrid>
                <a:gridCol w="1704647">
                  <a:extLst>
                    <a:ext uri="{9D8B030D-6E8A-4147-A177-3AD203B41FA5}">
                      <a16:colId xmlns:a16="http://schemas.microsoft.com/office/drawing/2014/main" val="766598976"/>
                    </a:ext>
                  </a:extLst>
                </a:gridCol>
                <a:gridCol w="3688080">
                  <a:extLst>
                    <a:ext uri="{9D8B030D-6E8A-4147-A177-3AD203B41FA5}">
                      <a16:colId xmlns:a16="http://schemas.microsoft.com/office/drawing/2014/main" val="2257485122"/>
                    </a:ext>
                  </a:extLst>
                </a:gridCol>
                <a:gridCol w="3352801">
                  <a:extLst>
                    <a:ext uri="{9D8B030D-6E8A-4147-A177-3AD203B41FA5}">
                      <a16:colId xmlns:a16="http://schemas.microsoft.com/office/drawing/2014/main" val="2051710630"/>
                    </a:ext>
                  </a:extLst>
                </a:gridCol>
              </a:tblGrid>
              <a:tr h="202387">
                <a:tc>
                  <a:txBody>
                    <a:bodyPr/>
                    <a:lstStyle/>
                    <a:p>
                      <a:pPr>
                        <a:lnSpc>
                          <a:spcPts val="1725"/>
                        </a:lnSpc>
                        <a:buNone/>
                      </a:pPr>
                      <a:r>
                        <a:rPr lang="zh-CN" altLang="en-US" sz="1200" b="1">
                          <a:solidFill>
                            <a:srgbClr val="000000"/>
                          </a:solidFill>
                          <a:effectLst/>
                        </a:rPr>
                        <a:t>函数名称</a:t>
                      </a:r>
                    </a:p>
                  </a:txBody>
                  <a:tcPr marL="63422" marR="63422" marT="42281" marB="42281" anchor="ctr">
                    <a:lnL w="4229" cap="flat" cmpd="sng" algn="ctr">
                      <a:solidFill>
                        <a:srgbClr val="102C3D"/>
                      </a:solidFill>
                      <a:prstDash val="solid"/>
                      <a:round/>
                      <a:headEnd type="none" w="med" len="med"/>
                      <a:tailEnd type="none" w="med" len="med"/>
                    </a:lnL>
                    <a:lnR w="4229" cap="flat" cmpd="sng" algn="ctr">
                      <a:solidFill>
                        <a:srgbClr val="902F3D"/>
                      </a:solidFill>
                      <a:prstDash val="solid"/>
                      <a:round/>
                      <a:headEnd type="none" w="med" len="med"/>
                      <a:tailEnd type="none" w="med" len="med"/>
                    </a:lnR>
                    <a:lnT w="4229" cap="flat" cmpd="sng" algn="ctr">
                      <a:solidFill>
                        <a:srgbClr val="90263D"/>
                      </a:solidFill>
                      <a:prstDash val="solid"/>
                      <a:round/>
                      <a:headEnd type="none" w="med" len="med"/>
                      <a:tailEnd type="none" w="med" len="med"/>
                    </a:lnT>
                    <a:lnB w="4229" cap="flat" cmpd="sng" algn="ctr">
                      <a:solidFill>
                        <a:srgbClr val="903C3D"/>
                      </a:solidFill>
                      <a:prstDash val="solid"/>
                      <a:round/>
                      <a:headEnd type="none" w="med" len="med"/>
                      <a:tailEnd type="none" w="med" len="med"/>
                    </a:lnB>
                    <a:solidFill>
                      <a:srgbClr val="F2F2F2"/>
                    </a:solidFill>
                  </a:tcPr>
                </a:tc>
                <a:tc>
                  <a:txBody>
                    <a:bodyPr/>
                    <a:lstStyle/>
                    <a:p>
                      <a:pPr>
                        <a:lnSpc>
                          <a:spcPts val="1725"/>
                        </a:lnSpc>
                        <a:buNone/>
                      </a:pPr>
                      <a:r>
                        <a:rPr lang="zh-CN" altLang="en-US" sz="1200" b="1" dirty="0">
                          <a:solidFill>
                            <a:srgbClr val="000000"/>
                          </a:solidFill>
                          <a:effectLst/>
                        </a:rPr>
                        <a:t>功能描述</a:t>
                      </a:r>
                    </a:p>
                  </a:txBody>
                  <a:tcPr marL="63422" marR="63422" marT="42281" marB="42281" anchor="ctr">
                    <a:lnL w="4229" cap="flat" cmpd="sng" algn="ctr">
                      <a:solidFill>
                        <a:srgbClr val="902F3D"/>
                      </a:solidFill>
                      <a:prstDash val="solid"/>
                      <a:round/>
                      <a:headEnd type="none" w="med" len="med"/>
                      <a:tailEnd type="none" w="med" len="med"/>
                    </a:lnL>
                    <a:lnR w="4229" cap="flat" cmpd="sng" algn="ctr">
                      <a:solidFill>
                        <a:srgbClr val="90253D"/>
                      </a:solidFill>
                      <a:prstDash val="solid"/>
                      <a:round/>
                      <a:headEnd type="none" w="med" len="med"/>
                      <a:tailEnd type="none" w="med" len="med"/>
                    </a:lnR>
                    <a:lnT w="4229" cap="flat" cmpd="sng" algn="ctr">
                      <a:solidFill>
                        <a:srgbClr val="302A3D"/>
                      </a:solidFill>
                      <a:prstDash val="solid"/>
                      <a:round/>
                      <a:headEnd type="none" w="med" len="med"/>
                      <a:tailEnd type="none" w="med" len="med"/>
                    </a:lnT>
                    <a:lnB w="4229" cap="flat" cmpd="sng" algn="ctr">
                      <a:solidFill>
                        <a:srgbClr val="10393D"/>
                      </a:solidFill>
                      <a:prstDash val="solid"/>
                      <a:round/>
                      <a:headEnd type="none" w="med" len="med"/>
                      <a:tailEnd type="none" w="med" len="med"/>
                    </a:lnB>
                    <a:solidFill>
                      <a:srgbClr val="F2F2F2"/>
                    </a:solidFill>
                  </a:tcPr>
                </a:tc>
                <a:tc>
                  <a:txBody>
                    <a:bodyPr/>
                    <a:lstStyle/>
                    <a:p>
                      <a:pPr>
                        <a:lnSpc>
                          <a:spcPts val="1725"/>
                        </a:lnSpc>
                        <a:buNone/>
                      </a:pPr>
                      <a:r>
                        <a:rPr lang="zh-CN" altLang="en-US" sz="1200" b="1">
                          <a:solidFill>
                            <a:srgbClr val="000000"/>
                          </a:solidFill>
                          <a:effectLst/>
                        </a:rPr>
                        <a:t>应用场景</a:t>
                      </a:r>
                    </a:p>
                  </a:txBody>
                  <a:tcPr marL="63422" marR="63422" marT="42281" marB="42281" anchor="ctr">
                    <a:lnL w="4229" cap="flat" cmpd="sng" algn="ctr">
                      <a:solidFill>
                        <a:srgbClr val="90253D"/>
                      </a:solidFill>
                      <a:prstDash val="solid"/>
                      <a:round/>
                      <a:headEnd type="none" w="med" len="med"/>
                      <a:tailEnd type="none" w="med" len="med"/>
                    </a:lnL>
                    <a:lnR w="4229" cap="flat" cmpd="sng" algn="ctr">
                      <a:solidFill>
                        <a:srgbClr val="90253D"/>
                      </a:solidFill>
                      <a:prstDash val="solid"/>
                      <a:round/>
                      <a:headEnd type="none" w="med" len="med"/>
                      <a:tailEnd type="none" w="med" len="med"/>
                    </a:lnR>
                    <a:lnT w="4229" cap="flat" cmpd="sng" algn="ctr">
                      <a:solidFill>
                        <a:srgbClr val="90253D"/>
                      </a:solidFill>
                      <a:prstDash val="solid"/>
                      <a:round/>
                      <a:headEnd type="none" w="med" len="med"/>
                      <a:tailEnd type="none" w="med" len="med"/>
                    </a:lnT>
                    <a:lnB w="4229" cap="flat" cmpd="sng" algn="ctr">
                      <a:solidFill>
                        <a:srgbClr val="308734"/>
                      </a:solidFill>
                      <a:prstDash val="solid"/>
                      <a:round/>
                      <a:headEnd type="none" w="med" len="med"/>
                      <a:tailEnd type="none" w="med" len="med"/>
                    </a:lnB>
                    <a:solidFill>
                      <a:srgbClr val="F2F2F2"/>
                    </a:solidFill>
                  </a:tcPr>
                </a:tc>
                <a:extLst>
                  <a:ext uri="{0D108BD9-81ED-4DB2-BD59-A6C34878D82A}">
                    <a16:rowId xmlns:a16="http://schemas.microsoft.com/office/drawing/2014/main" val="1665052436"/>
                  </a:ext>
                </a:extLst>
              </a:tr>
              <a:tr h="330170">
                <a:tc>
                  <a:txBody>
                    <a:bodyPr/>
                    <a:lstStyle/>
                    <a:p>
                      <a:pPr>
                        <a:lnSpc>
                          <a:spcPts val="1725"/>
                        </a:lnSpc>
                        <a:buNone/>
                      </a:pPr>
                      <a:r>
                        <a:rPr lang="en-US" sz="1200" b="0">
                          <a:solidFill>
                            <a:srgbClr val="000000"/>
                          </a:solidFill>
                          <a:effectLst/>
                          <a:latin typeface="Menlo"/>
                        </a:rPr>
                        <a:t>e</a:t>
                      </a:r>
                      <a:endParaRPr lang="en-US" sz="1200" b="0">
                        <a:effectLst/>
                      </a:endParaRPr>
                    </a:p>
                  </a:txBody>
                  <a:tcPr marL="63422" marR="63422" marT="42281" marB="42281" anchor="ctr">
                    <a:lnL w="4229" cap="flat" cmpd="sng" algn="ctr">
                      <a:solidFill>
                        <a:srgbClr val="103C3D"/>
                      </a:solidFill>
                      <a:prstDash val="solid"/>
                      <a:round/>
                      <a:headEnd type="none" w="med" len="med"/>
                      <a:tailEnd type="none" w="med" len="med"/>
                    </a:lnL>
                    <a:lnR w="4229" cap="flat" cmpd="sng" algn="ctr">
                      <a:solidFill>
                        <a:srgbClr val="D0393D"/>
                      </a:solidFill>
                      <a:prstDash val="solid"/>
                      <a:round/>
                      <a:headEnd type="none" w="med" len="med"/>
                      <a:tailEnd type="none" w="med" len="med"/>
                    </a:lnR>
                    <a:lnT w="4229" cap="flat" cmpd="sng" algn="ctr">
                      <a:solidFill>
                        <a:srgbClr val="903C3D"/>
                      </a:solidFill>
                      <a:prstDash val="solid"/>
                      <a:round/>
                      <a:headEnd type="none" w="med" len="med"/>
                      <a:tailEnd type="none" w="med" len="med"/>
                    </a:lnT>
                    <a:lnB w="4229" cap="flat" cmpd="sng" algn="ctr">
                      <a:solidFill>
                        <a:srgbClr val="D0393D"/>
                      </a:solidFill>
                      <a:prstDash val="solid"/>
                      <a:round/>
                      <a:headEnd type="none" w="med" len="med"/>
                      <a:tailEnd type="none" w="med" len="med"/>
                    </a:lnB>
                    <a:noFill/>
                  </a:tcPr>
                </a:tc>
                <a:tc>
                  <a:txBody>
                    <a:bodyPr/>
                    <a:lstStyle/>
                    <a:p>
                      <a:pPr>
                        <a:lnSpc>
                          <a:spcPts val="1725"/>
                        </a:lnSpc>
                        <a:buNone/>
                      </a:pPr>
                      <a:r>
                        <a:rPr lang="zh-CN" altLang="en-US" sz="1200" b="0">
                          <a:effectLst/>
                        </a:rPr>
                        <a:t>安全哈希函数，用于生成临时密钥或验证值</a:t>
                      </a:r>
                    </a:p>
                  </a:txBody>
                  <a:tcPr marL="63422" marR="63422" marT="42281" marB="42281" anchor="ctr">
                    <a:lnL w="4229" cap="flat" cmpd="sng" algn="ctr">
                      <a:solidFill>
                        <a:srgbClr val="D0393D"/>
                      </a:solidFill>
                      <a:prstDash val="solid"/>
                      <a:round/>
                      <a:headEnd type="none" w="med" len="med"/>
                      <a:tailEnd type="none" w="med" len="med"/>
                    </a:lnL>
                    <a:lnR w="4229" cap="flat" cmpd="sng" algn="ctr">
                      <a:solidFill>
                        <a:srgbClr val="502C3D"/>
                      </a:solidFill>
                      <a:prstDash val="solid"/>
                      <a:round/>
                      <a:headEnd type="none" w="med" len="med"/>
                      <a:tailEnd type="none" w="med" len="med"/>
                    </a:lnR>
                    <a:lnT w="4229" cap="flat" cmpd="sng" algn="ctr">
                      <a:solidFill>
                        <a:srgbClr val="10393D"/>
                      </a:solidFill>
                      <a:prstDash val="solid"/>
                      <a:round/>
                      <a:headEnd type="none" w="med" len="med"/>
                      <a:tailEnd type="none" w="med" len="med"/>
                    </a:lnT>
                    <a:lnB w="4229" cap="flat" cmpd="sng" algn="ctr">
                      <a:solidFill>
                        <a:srgbClr val="D0393D"/>
                      </a:solidFill>
                      <a:prstDash val="solid"/>
                      <a:round/>
                      <a:headEnd type="none" w="med" len="med"/>
                      <a:tailEnd type="none" w="med" len="med"/>
                    </a:lnB>
                    <a:noFill/>
                  </a:tcPr>
                </a:tc>
                <a:tc>
                  <a:txBody>
                    <a:bodyPr/>
                    <a:lstStyle/>
                    <a:p>
                      <a:pPr>
                        <a:lnSpc>
                          <a:spcPts val="1725"/>
                        </a:lnSpc>
                        <a:buNone/>
                      </a:pPr>
                      <a:r>
                        <a:rPr lang="zh-CN" altLang="en-US" sz="1200" b="0">
                          <a:effectLst/>
                        </a:rPr>
                        <a:t>配对过程中的参数验证</a:t>
                      </a:r>
                    </a:p>
                  </a:txBody>
                  <a:tcPr marL="63422" marR="63422" marT="42281" marB="42281" anchor="ctr">
                    <a:lnL w="4229" cap="flat" cmpd="sng" algn="ctr">
                      <a:solidFill>
                        <a:srgbClr val="502C3D"/>
                      </a:solidFill>
                      <a:prstDash val="solid"/>
                      <a:round/>
                      <a:headEnd type="none" w="med" len="med"/>
                      <a:tailEnd type="none" w="med" len="med"/>
                    </a:lnL>
                    <a:lnR w="4229" cap="flat" cmpd="sng" algn="ctr">
                      <a:solidFill>
                        <a:srgbClr val="90223D"/>
                      </a:solidFill>
                      <a:prstDash val="solid"/>
                      <a:round/>
                      <a:headEnd type="none" w="med" len="med"/>
                      <a:tailEnd type="none" w="med" len="med"/>
                    </a:lnR>
                    <a:lnT w="4229" cap="flat" cmpd="sng" algn="ctr">
                      <a:solidFill>
                        <a:srgbClr val="308734"/>
                      </a:solidFill>
                      <a:prstDash val="solid"/>
                      <a:round/>
                      <a:headEnd type="none" w="med" len="med"/>
                      <a:tailEnd type="none" w="med" len="med"/>
                    </a:lnT>
                    <a:lnB w="4229" cap="flat" cmpd="sng" algn="ctr">
                      <a:solidFill>
                        <a:srgbClr val="308734"/>
                      </a:solidFill>
                      <a:prstDash val="solid"/>
                      <a:round/>
                      <a:headEnd type="none" w="med" len="med"/>
                      <a:tailEnd type="none" w="med" len="med"/>
                    </a:lnB>
                    <a:noFill/>
                  </a:tcPr>
                </a:tc>
                <a:extLst>
                  <a:ext uri="{0D108BD9-81ED-4DB2-BD59-A6C34878D82A}">
                    <a16:rowId xmlns:a16="http://schemas.microsoft.com/office/drawing/2014/main" val="519535548"/>
                  </a:ext>
                </a:extLst>
              </a:tr>
              <a:tr h="330170">
                <a:tc>
                  <a:txBody>
                    <a:bodyPr/>
                    <a:lstStyle/>
                    <a:p>
                      <a:pPr>
                        <a:lnSpc>
                          <a:spcPts val="1725"/>
                        </a:lnSpc>
                        <a:buNone/>
                      </a:pPr>
                      <a:r>
                        <a:rPr lang="en-US" sz="1200" b="0">
                          <a:solidFill>
                            <a:srgbClr val="000000"/>
                          </a:solidFill>
                          <a:effectLst/>
                          <a:latin typeface="Menlo"/>
                        </a:rPr>
                        <a:t>ah</a:t>
                      </a:r>
                      <a:endParaRPr lang="en-US" sz="1200" b="0">
                        <a:effectLst/>
                      </a:endParaRPr>
                    </a:p>
                  </a:txBody>
                  <a:tcPr marL="63422" marR="63422" marT="42281" marB="42281" anchor="ctr">
                    <a:lnL w="4229" cap="flat" cmpd="sng" algn="ctr">
                      <a:solidFill>
                        <a:srgbClr val="30443D"/>
                      </a:solidFill>
                      <a:prstDash val="solid"/>
                      <a:round/>
                      <a:headEnd type="none" w="med" len="med"/>
                      <a:tailEnd type="none" w="med" len="med"/>
                    </a:lnL>
                    <a:lnR w="4229" cap="flat" cmpd="sng" algn="ctr">
                      <a:solidFill>
                        <a:srgbClr val="70423D"/>
                      </a:solidFill>
                      <a:prstDash val="solid"/>
                      <a:round/>
                      <a:headEnd type="none" w="med" len="med"/>
                      <a:tailEnd type="none" w="med" len="med"/>
                    </a:lnR>
                    <a:lnT w="4229" cap="flat" cmpd="sng" algn="ctr">
                      <a:solidFill>
                        <a:srgbClr val="D0393D"/>
                      </a:solidFill>
                      <a:prstDash val="solid"/>
                      <a:round/>
                      <a:headEnd type="none" w="med" len="med"/>
                      <a:tailEnd type="none" w="med" len="med"/>
                    </a:lnT>
                    <a:lnB w="4229" cap="flat" cmpd="sng" algn="ctr">
                      <a:solidFill>
                        <a:srgbClr val="F04C3D"/>
                      </a:solidFill>
                      <a:prstDash val="solid"/>
                      <a:round/>
                      <a:headEnd type="none" w="med" len="med"/>
                      <a:tailEnd type="none" w="med" len="med"/>
                    </a:lnB>
                    <a:noFill/>
                  </a:tcPr>
                </a:tc>
                <a:tc>
                  <a:txBody>
                    <a:bodyPr/>
                    <a:lstStyle/>
                    <a:p>
                      <a:pPr>
                        <a:lnSpc>
                          <a:spcPts val="1725"/>
                        </a:lnSpc>
                        <a:buNone/>
                      </a:pPr>
                      <a:r>
                        <a:rPr lang="zh-CN" altLang="en-US" sz="1200" b="0">
                          <a:effectLst/>
                        </a:rPr>
                        <a:t>随机地址哈希函数，将设备身份与随机地址关联</a:t>
                      </a:r>
                    </a:p>
                  </a:txBody>
                  <a:tcPr marL="63422" marR="63422" marT="42281" marB="42281" anchor="ctr">
                    <a:lnL w="4229" cap="flat" cmpd="sng" algn="ctr">
                      <a:solidFill>
                        <a:srgbClr val="70423D"/>
                      </a:solidFill>
                      <a:prstDash val="solid"/>
                      <a:round/>
                      <a:headEnd type="none" w="med" len="med"/>
                      <a:tailEnd type="none" w="med" len="med"/>
                    </a:lnL>
                    <a:lnR w="4229" cap="flat" cmpd="sng" algn="ctr">
                      <a:solidFill>
                        <a:srgbClr val="502C3D"/>
                      </a:solidFill>
                      <a:prstDash val="solid"/>
                      <a:round/>
                      <a:headEnd type="none" w="med" len="med"/>
                      <a:tailEnd type="none" w="med" len="med"/>
                    </a:lnR>
                    <a:lnT w="4229" cap="flat" cmpd="sng" algn="ctr">
                      <a:solidFill>
                        <a:srgbClr val="D0393D"/>
                      </a:solidFill>
                      <a:prstDash val="solid"/>
                      <a:round/>
                      <a:headEnd type="none" w="med" len="med"/>
                      <a:tailEnd type="none" w="med" len="med"/>
                    </a:lnT>
                    <a:lnB w="4229" cap="flat" cmpd="sng" algn="ctr">
                      <a:solidFill>
                        <a:srgbClr val="70483D"/>
                      </a:solidFill>
                      <a:prstDash val="solid"/>
                      <a:round/>
                      <a:headEnd type="none" w="med" len="med"/>
                      <a:tailEnd type="none" w="med" len="med"/>
                    </a:lnB>
                    <a:noFill/>
                  </a:tcPr>
                </a:tc>
                <a:tc>
                  <a:txBody>
                    <a:bodyPr/>
                    <a:lstStyle/>
                    <a:p>
                      <a:pPr>
                        <a:lnSpc>
                          <a:spcPts val="1725"/>
                        </a:lnSpc>
                        <a:buNone/>
                      </a:pPr>
                      <a:r>
                        <a:rPr lang="zh-CN" altLang="en-US" sz="1200" b="0">
                          <a:effectLst/>
                        </a:rPr>
                        <a:t>隐私保护（如可解析私有地址生成）</a:t>
                      </a:r>
                    </a:p>
                  </a:txBody>
                  <a:tcPr marL="63422" marR="63422" marT="42281" marB="42281" anchor="ctr">
                    <a:lnL w="4229" cap="flat" cmpd="sng" algn="ctr">
                      <a:solidFill>
                        <a:srgbClr val="502C3D"/>
                      </a:solidFill>
                      <a:prstDash val="solid"/>
                      <a:round/>
                      <a:headEnd type="none" w="med" len="med"/>
                      <a:tailEnd type="none" w="med" len="med"/>
                    </a:lnL>
                    <a:lnR w="4229" cap="flat" cmpd="sng" algn="ctr">
                      <a:solidFill>
                        <a:srgbClr val="701E3D"/>
                      </a:solidFill>
                      <a:prstDash val="solid"/>
                      <a:round/>
                      <a:headEnd type="none" w="med" len="med"/>
                      <a:tailEnd type="none" w="med" len="med"/>
                    </a:lnR>
                    <a:lnT w="4229" cap="flat" cmpd="sng" algn="ctr">
                      <a:solidFill>
                        <a:srgbClr val="308734"/>
                      </a:solidFill>
                      <a:prstDash val="solid"/>
                      <a:round/>
                      <a:headEnd type="none" w="med" len="med"/>
                      <a:tailEnd type="none" w="med" len="med"/>
                    </a:lnT>
                    <a:lnB w="4229" cap="flat" cmpd="sng" algn="ctr">
                      <a:solidFill>
                        <a:srgbClr val="508E34"/>
                      </a:solidFill>
                      <a:prstDash val="solid"/>
                      <a:round/>
                      <a:headEnd type="none" w="med" len="med"/>
                      <a:tailEnd type="none" w="med" len="med"/>
                    </a:lnB>
                    <a:noFill/>
                  </a:tcPr>
                </a:tc>
                <a:extLst>
                  <a:ext uri="{0D108BD9-81ED-4DB2-BD59-A6C34878D82A}">
                    <a16:rowId xmlns:a16="http://schemas.microsoft.com/office/drawing/2014/main" val="4123247030"/>
                  </a:ext>
                </a:extLst>
              </a:tr>
              <a:tr h="331034">
                <a:tc>
                  <a:txBody>
                    <a:bodyPr/>
                    <a:lstStyle/>
                    <a:p>
                      <a:pPr>
                        <a:lnSpc>
                          <a:spcPts val="1725"/>
                        </a:lnSpc>
                        <a:buNone/>
                      </a:pPr>
                      <a:r>
                        <a:rPr lang="en-US" sz="1200" b="0">
                          <a:solidFill>
                            <a:srgbClr val="000000"/>
                          </a:solidFill>
                          <a:effectLst/>
                          <a:latin typeface="Menlo"/>
                        </a:rPr>
                        <a:t>c1</a:t>
                      </a:r>
                      <a:endParaRPr lang="en-US" sz="1200" b="0">
                        <a:effectLst/>
                      </a:endParaRPr>
                    </a:p>
                  </a:txBody>
                  <a:tcPr marL="63422" marR="63422" marT="42281" marB="42281" anchor="ctr">
                    <a:lnL w="4229" cap="flat" cmpd="sng" algn="ctr">
                      <a:solidFill>
                        <a:srgbClr val="704B3D"/>
                      </a:solidFill>
                      <a:prstDash val="solid"/>
                      <a:round/>
                      <a:headEnd type="none" w="med" len="med"/>
                      <a:tailEnd type="none" w="med" len="med"/>
                    </a:lnL>
                    <a:lnR w="4229" cap="flat" cmpd="sng" algn="ctr">
                      <a:solidFill>
                        <a:srgbClr val="704B3D"/>
                      </a:solidFill>
                      <a:prstDash val="solid"/>
                      <a:round/>
                      <a:headEnd type="none" w="med" len="med"/>
                      <a:tailEnd type="none" w="med" len="med"/>
                    </a:lnR>
                    <a:lnT w="4229" cap="flat" cmpd="sng" algn="ctr">
                      <a:solidFill>
                        <a:srgbClr val="F04C3D"/>
                      </a:solidFill>
                      <a:prstDash val="solid"/>
                      <a:round/>
                      <a:headEnd type="none" w="med" len="med"/>
                      <a:tailEnd type="none" w="med" len="med"/>
                    </a:lnT>
                    <a:lnB w="4229" cap="flat" cmpd="sng" algn="ctr">
                      <a:solidFill>
                        <a:srgbClr val="F04E3D"/>
                      </a:solidFill>
                      <a:prstDash val="solid"/>
                      <a:round/>
                      <a:headEnd type="none" w="med" len="med"/>
                      <a:tailEnd type="none" w="med" len="med"/>
                    </a:lnB>
                    <a:noFill/>
                  </a:tcPr>
                </a:tc>
                <a:tc>
                  <a:txBody>
                    <a:bodyPr/>
                    <a:lstStyle/>
                    <a:p>
                      <a:pPr>
                        <a:lnSpc>
                          <a:spcPts val="1725"/>
                        </a:lnSpc>
                        <a:buNone/>
                      </a:pPr>
                      <a:r>
                        <a:rPr lang="en-US" sz="1200" b="0">
                          <a:effectLst/>
                        </a:rPr>
                        <a:t>LE </a:t>
                      </a:r>
                      <a:r>
                        <a:rPr lang="zh-CN" altLang="en-US" sz="1200" b="0">
                          <a:effectLst/>
                        </a:rPr>
                        <a:t>传统配对（</a:t>
                      </a:r>
                      <a:r>
                        <a:rPr lang="en-US" sz="1200" b="0">
                          <a:effectLst/>
                        </a:rPr>
                        <a:t>Legacy Pairing）</a:t>
                      </a:r>
                      <a:r>
                        <a:rPr lang="zh-CN" altLang="en-US" sz="1200" b="0">
                          <a:effectLst/>
                        </a:rPr>
                        <a:t>的确认值生成函数</a:t>
                      </a:r>
                    </a:p>
                  </a:txBody>
                  <a:tcPr marL="63422" marR="63422" marT="42281" marB="42281" anchor="ctr">
                    <a:lnL w="4229" cap="flat" cmpd="sng" algn="ctr">
                      <a:solidFill>
                        <a:srgbClr val="704B3D"/>
                      </a:solidFill>
                      <a:prstDash val="solid"/>
                      <a:round/>
                      <a:headEnd type="none" w="med" len="med"/>
                      <a:tailEnd type="none" w="med" len="med"/>
                    </a:lnL>
                    <a:lnR w="4229" cap="flat" cmpd="sng" algn="ctr">
                      <a:solidFill>
                        <a:srgbClr val="502C3D"/>
                      </a:solidFill>
                      <a:prstDash val="solid"/>
                      <a:round/>
                      <a:headEnd type="none" w="med" len="med"/>
                      <a:tailEnd type="none" w="med" len="med"/>
                    </a:lnR>
                    <a:lnT w="4229" cap="flat" cmpd="sng" algn="ctr">
                      <a:solidFill>
                        <a:srgbClr val="70483D"/>
                      </a:solidFill>
                      <a:prstDash val="solid"/>
                      <a:round/>
                      <a:headEnd type="none" w="med" len="med"/>
                      <a:tailEnd type="none" w="med" len="med"/>
                    </a:lnT>
                    <a:lnB w="4229" cap="flat" cmpd="sng" algn="ctr">
                      <a:solidFill>
                        <a:srgbClr val="F04E3D"/>
                      </a:solidFill>
                      <a:prstDash val="solid"/>
                      <a:round/>
                      <a:headEnd type="none" w="med" len="med"/>
                      <a:tailEnd type="none" w="med" len="med"/>
                    </a:lnB>
                    <a:noFill/>
                  </a:tcPr>
                </a:tc>
                <a:tc>
                  <a:txBody>
                    <a:bodyPr/>
                    <a:lstStyle/>
                    <a:p>
                      <a:pPr>
                        <a:lnSpc>
                          <a:spcPts val="1725"/>
                        </a:lnSpc>
                        <a:buNone/>
                      </a:pPr>
                      <a:r>
                        <a:rPr lang="zh-CN" altLang="en-US" sz="1200" b="0">
                          <a:effectLst/>
                        </a:rPr>
                        <a:t>传统配对中的身份验证</a:t>
                      </a:r>
                    </a:p>
                  </a:txBody>
                  <a:tcPr marL="63422" marR="63422" marT="42281" marB="42281" anchor="ctr">
                    <a:lnL w="4229" cap="flat" cmpd="sng" algn="ctr">
                      <a:solidFill>
                        <a:srgbClr val="502C3D"/>
                      </a:solidFill>
                      <a:prstDash val="solid"/>
                      <a:round/>
                      <a:headEnd type="none" w="med" len="med"/>
                      <a:tailEnd type="none" w="med" len="med"/>
                    </a:lnL>
                    <a:lnR w="4229" cap="flat" cmpd="sng" algn="ctr">
                      <a:solidFill>
                        <a:srgbClr val="90223D"/>
                      </a:solidFill>
                      <a:prstDash val="solid"/>
                      <a:round/>
                      <a:headEnd type="none" w="med" len="med"/>
                      <a:tailEnd type="none" w="med" len="med"/>
                    </a:lnR>
                    <a:lnT w="4229" cap="flat" cmpd="sng" algn="ctr">
                      <a:solidFill>
                        <a:srgbClr val="508E34"/>
                      </a:solidFill>
                      <a:prstDash val="solid"/>
                      <a:round/>
                      <a:headEnd type="none" w="med" len="med"/>
                      <a:tailEnd type="none" w="med" len="med"/>
                    </a:lnT>
                    <a:lnB w="4229" cap="flat" cmpd="sng" algn="ctr">
                      <a:solidFill>
                        <a:srgbClr val="A09633"/>
                      </a:solidFill>
                      <a:prstDash val="solid"/>
                      <a:round/>
                      <a:headEnd type="none" w="med" len="med"/>
                      <a:tailEnd type="none" w="med" len="med"/>
                    </a:lnB>
                    <a:noFill/>
                  </a:tcPr>
                </a:tc>
                <a:extLst>
                  <a:ext uri="{0D108BD9-81ED-4DB2-BD59-A6C34878D82A}">
                    <a16:rowId xmlns:a16="http://schemas.microsoft.com/office/drawing/2014/main" val="2222228621"/>
                  </a:ext>
                </a:extLst>
              </a:tr>
              <a:tr h="330170">
                <a:tc>
                  <a:txBody>
                    <a:bodyPr/>
                    <a:lstStyle/>
                    <a:p>
                      <a:pPr>
                        <a:lnSpc>
                          <a:spcPts val="1725"/>
                        </a:lnSpc>
                        <a:buNone/>
                      </a:pPr>
                      <a:r>
                        <a:rPr lang="en-US" sz="1200" b="0">
                          <a:solidFill>
                            <a:srgbClr val="000000"/>
                          </a:solidFill>
                          <a:effectLst/>
                          <a:latin typeface="Menlo"/>
                        </a:rPr>
                        <a:t>s1</a:t>
                      </a:r>
                      <a:endParaRPr lang="en-US" sz="1200" b="0">
                        <a:effectLst/>
                      </a:endParaRPr>
                    </a:p>
                  </a:txBody>
                  <a:tcPr marL="63422" marR="63422" marT="42281" marB="42281" anchor="ctr">
                    <a:lnL w="4229" cap="flat" cmpd="sng" algn="ctr">
                      <a:solidFill>
                        <a:srgbClr val="105D3D"/>
                      </a:solidFill>
                      <a:prstDash val="solid"/>
                      <a:round/>
                      <a:headEnd type="none" w="med" len="med"/>
                      <a:tailEnd type="none" w="med" len="med"/>
                    </a:lnL>
                    <a:lnR w="4229" cap="flat" cmpd="sng" algn="ctr">
                      <a:solidFill>
                        <a:srgbClr val="70583D"/>
                      </a:solidFill>
                      <a:prstDash val="solid"/>
                      <a:round/>
                      <a:headEnd type="none" w="med" len="med"/>
                      <a:tailEnd type="none" w="med" len="med"/>
                    </a:lnR>
                    <a:lnT w="4229" cap="flat" cmpd="sng" algn="ctr">
                      <a:solidFill>
                        <a:srgbClr val="F04E3D"/>
                      </a:solidFill>
                      <a:prstDash val="solid"/>
                      <a:round/>
                      <a:headEnd type="none" w="med" len="med"/>
                      <a:tailEnd type="none" w="med" len="med"/>
                    </a:lnT>
                    <a:lnB w="4229" cap="flat" cmpd="sng" algn="ctr">
                      <a:solidFill>
                        <a:srgbClr val="50813D"/>
                      </a:solidFill>
                      <a:prstDash val="solid"/>
                      <a:round/>
                      <a:headEnd type="none" w="med" len="med"/>
                      <a:tailEnd type="none" w="med" len="med"/>
                    </a:lnB>
                    <a:noFill/>
                  </a:tcPr>
                </a:tc>
                <a:tc>
                  <a:txBody>
                    <a:bodyPr/>
                    <a:lstStyle/>
                    <a:p>
                      <a:pPr>
                        <a:lnSpc>
                          <a:spcPts val="1725"/>
                        </a:lnSpc>
                        <a:buNone/>
                      </a:pPr>
                      <a:r>
                        <a:rPr lang="en-US" altLang="zh-CN" sz="1200" b="0">
                          <a:effectLst/>
                        </a:rPr>
                        <a:t>LE </a:t>
                      </a:r>
                      <a:r>
                        <a:rPr lang="zh-CN" altLang="en-US" sz="1200" b="0">
                          <a:effectLst/>
                        </a:rPr>
                        <a:t>传统配对的密钥生成函数</a:t>
                      </a:r>
                    </a:p>
                  </a:txBody>
                  <a:tcPr marL="63422" marR="63422" marT="42281" marB="42281" anchor="ctr">
                    <a:lnL w="4229" cap="flat" cmpd="sng" algn="ctr">
                      <a:solidFill>
                        <a:srgbClr val="70583D"/>
                      </a:solidFill>
                      <a:prstDash val="solid"/>
                      <a:round/>
                      <a:headEnd type="none" w="med" len="med"/>
                      <a:tailEnd type="none" w="med" len="med"/>
                    </a:lnL>
                    <a:lnR w="4229" cap="flat" cmpd="sng" algn="ctr">
                      <a:solidFill>
                        <a:srgbClr val="502C3D"/>
                      </a:solidFill>
                      <a:prstDash val="solid"/>
                      <a:round/>
                      <a:headEnd type="none" w="med" len="med"/>
                      <a:tailEnd type="none" w="med" len="med"/>
                    </a:lnR>
                    <a:lnT w="4229" cap="flat" cmpd="sng" algn="ctr">
                      <a:solidFill>
                        <a:srgbClr val="F04E3D"/>
                      </a:solidFill>
                      <a:prstDash val="solid"/>
                      <a:round/>
                      <a:headEnd type="none" w="med" len="med"/>
                      <a:tailEnd type="none" w="med" len="med"/>
                    </a:lnT>
                    <a:lnB w="4229" cap="flat" cmpd="sng" algn="ctr">
                      <a:solidFill>
                        <a:srgbClr val="50813D"/>
                      </a:solidFill>
                      <a:prstDash val="solid"/>
                      <a:round/>
                      <a:headEnd type="none" w="med" len="med"/>
                      <a:tailEnd type="none" w="med" len="med"/>
                    </a:lnB>
                    <a:noFill/>
                  </a:tcPr>
                </a:tc>
                <a:tc>
                  <a:txBody>
                    <a:bodyPr/>
                    <a:lstStyle/>
                    <a:p>
                      <a:pPr>
                        <a:lnSpc>
                          <a:spcPts val="1725"/>
                        </a:lnSpc>
                        <a:buNone/>
                      </a:pPr>
                      <a:r>
                        <a:rPr lang="zh-CN" altLang="en-US" sz="1200" b="0">
                          <a:effectLst/>
                        </a:rPr>
                        <a:t>传统配对中的长期密钥（</a:t>
                      </a:r>
                      <a:r>
                        <a:rPr lang="en-US" altLang="zh-CN" sz="1200" b="0">
                          <a:effectLst/>
                        </a:rPr>
                        <a:t>LTK</a:t>
                      </a:r>
                      <a:r>
                        <a:rPr lang="zh-CN" altLang="en-US" sz="1200" b="0">
                          <a:effectLst/>
                        </a:rPr>
                        <a:t>）生成</a:t>
                      </a:r>
                    </a:p>
                  </a:txBody>
                  <a:tcPr marL="63422" marR="63422" marT="42281" marB="42281" anchor="ctr">
                    <a:lnL w="4229" cap="flat" cmpd="sng" algn="ctr">
                      <a:solidFill>
                        <a:srgbClr val="502C3D"/>
                      </a:solidFill>
                      <a:prstDash val="solid"/>
                      <a:round/>
                      <a:headEnd type="none" w="med" len="med"/>
                      <a:tailEnd type="none" w="med" len="med"/>
                    </a:lnL>
                    <a:lnR w="4229" cap="flat" cmpd="sng" algn="ctr">
                      <a:solidFill>
                        <a:srgbClr val="701E3D"/>
                      </a:solidFill>
                      <a:prstDash val="solid"/>
                      <a:round/>
                      <a:headEnd type="none" w="med" len="med"/>
                      <a:tailEnd type="none" w="med" len="med"/>
                    </a:lnR>
                    <a:lnT w="4229" cap="flat" cmpd="sng" algn="ctr">
                      <a:solidFill>
                        <a:srgbClr val="A09633"/>
                      </a:solidFill>
                      <a:prstDash val="solid"/>
                      <a:round/>
                      <a:headEnd type="none" w="med" len="med"/>
                      <a:tailEnd type="none" w="med" len="med"/>
                    </a:lnT>
                    <a:lnB w="4229" cap="flat" cmpd="sng" algn="ctr">
                      <a:solidFill>
                        <a:srgbClr val="B0A733"/>
                      </a:solidFill>
                      <a:prstDash val="solid"/>
                      <a:round/>
                      <a:headEnd type="none" w="med" len="med"/>
                      <a:tailEnd type="none" w="med" len="med"/>
                    </a:lnB>
                    <a:noFill/>
                  </a:tcPr>
                </a:tc>
                <a:extLst>
                  <a:ext uri="{0D108BD9-81ED-4DB2-BD59-A6C34878D82A}">
                    <a16:rowId xmlns:a16="http://schemas.microsoft.com/office/drawing/2014/main" val="3442788275"/>
                  </a:ext>
                </a:extLst>
              </a:tr>
              <a:tr h="330170">
                <a:tc>
                  <a:txBody>
                    <a:bodyPr/>
                    <a:lstStyle/>
                    <a:p>
                      <a:pPr>
                        <a:lnSpc>
                          <a:spcPts val="1725"/>
                        </a:lnSpc>
                        <a:buNone/>
                      </a:pPr>
                      <a:r>
                        <a:rPr lang="en-US" sz="1200" b="0" dirty="0">
                          <a:solidFill>
                            <a:srgbClr val="000000"/>
                          </a:solidFill>
                          <a:effectLst/>
                          <a:latin typeface="Menlo"/>
                        </a:rPr>
                        <a:t>AES-CMAC</a:t>
                      </a:r>
                      <a:endParaRPr lang="en-US" sz="1200" b="0" dirty="0">
                        <a:effectLst/>
                      </a:endParaRPr>
                    </a:p>
                  </a:txBody>
                  <a:tcPr marL="63422" marR="63422" marT="42281" marB="42281" anchor="ctr">
                    <a:lnL w="4229" cap="flat" cmpd="sng" algn="ctr">
                      <a:solidFill>
                        <a:srgbClr val="B0833D"/>
                      </a:solidFill>
                      <a:prstDash val="solid"/>
                      <a:round/>
                      <a:headEnd type="none" w="med" len="med"/>
                      <a:tailEnd type="none" w="med" len="med"/>
                    </a:lnL>
                    <a:lnR w="4229" cap="flat" cmpd="sng" algn="ctr">
                      <a:solidFill>
                        <a:srgbClr val="B0833D"/>
                      </a:solidFill>
                      <a:prstDash val="solid"/>
                      <a:round/>
                      <a:headEnd type="none" w="med" len="med"/>
                      <a:tailEnd type="none" w="med" len="med"/>
                    </a:lnR>
                    <a:lnT w="4229" cap="flat" cmpd="sng" algn="ctr">
                      <a:solidFill>
                        <a:srgbClr val="50813D"/>
                      </a:solidFill>
                      <a:prstDash val="solid"/>
                      <a:round/>
                      <a:headEnd type="none" w="med" len="med"/>
                      <a:tailEnd type="none" w="med" len="med"/>
                    </a:lnT>
                    <a:lnB w="4229" cap="flat" cmpd="sng" algn="ctr">
                      <a:solidFill>
                        <a:srgbClr val="001696"/>
                      </a:solidFill>
                      <a:prstDash val="solid"/>
                      <a:round/>
                      <a:headEnd type="none" w="med" len="med"/>
                      <a:tailEnd type="none" w="med" len="med"/>
                    </a:lnB>
                    <a:noFill/>
                  </a:tcPr>
                </a:tc>
                <a:tc>
                  <a:txBody>
                    <a:bodyPr/>
                    <a:lstStyle/>
                    <a:p>
                      <a:pPr>
                        <a:lnSpc>
                          <a:spcPts val="1725"/>
                        </a:lnSpc>
                        <a:buNone/>
                      </a:pPr>
                      <a:r>
                        <a:rPr lang="en-US" altLang="zh-CN" sz="1200" b="0">
                          <a:effectLst/>
                        </a:rPr>
                        <a:t>AES </a:t>
                      </a:r>
                      <a:r>
                        <a:rPr lang="zh-CN" altLang="en-US" sz="1200" b="0">
                          <a:effectLst/>
                        </a:rPr>
                        <a:t>基于密码的消息认证码算法</a:t>
                      </a:r>
                    </a:p>
                  </a:txBody>
                  <a:tcPr marL="63422" marR="63422" marT="42281" marB="42281" anchor="ctr">
                    <a:lnL w="4229" cap="flat" cmpd="sng" algn="ctr">
                      <a:solidFill>
                        <a:srgbClr val="B0833D"/>
                      </a:solidFill>
                      <a:prstDash val="solid"/>
                      <a:round/>
                      <a:headEnd type="none" w="med" len="med"/>
                      <a:tailEnd type="none" w="med" len="med"/>
                    </a:lnL>
                    <a:lnR w="4229" cap="flat" cmpd="sng" algn="ctr">
                      <a:solidFill>
                        <a:srgbClr val="502C3D"/>
                      </a:solidFill>
                      <a:prstDash val="solid"/>
                      <a:round/>
                      <a:headEnd type="none" w="med" len="med"/>
                      <a:tailEnd type="none" w="med" len="med"/>
                    </a:lnR>
                    <a:lnT w="4229" cap="flat" cmpd="sng" algn="ctr">
                      <a:solidFill>
                        <a:srgbClr val="50813D"/>
                      </a:solidFill>
                      <a:prstDash val="solid"/>
                      <a:round/>
                      <a:headEnd type="none" w="med" len="med"/>
                      <a:tailEnd type="none" w="med" len="med"/>
                    </a:lnT>
                    <a:lnB w="4229" cap="flat" cmpd="sng" algn="ctr">
                      <a:solidFill>
                        <a:srgbClr val="801396"/>
                      </a:solidFill>
                      <a:prstDash val="solid"/>
                      <a:round/>
                      <a:headEnd type="none" w="med" len="med"/>
                      <a:tailEnd type="none" w="med" len="med"/>
                    </a:lnB>
                    <a:noFill/>
                  </a:tcPr>
                </a:tc>
                <a:tc>
                  <a:txBody>
                    <a:bodyPr/>
                    <a:lstStyle/>
                    <a:p>
                      <a:pPr>
                        <a:lnSpc>
                          <a:spcPts val="1725"/>
                        </a:lnSpc>
                        <a:buNone/>
                      </a:pPr>
                      <a:r>
                        <a:rPr lang="zh-CN" altLang="en-US" sz="1200" b="0">
                          <a:effectLst/>
                        </a:rPr>
                        <a:t>数据完整性校验、密钥衍生</a:t>
                      </a:r>
                    </a:p>
                  </a:txBody>
                  <a:tcPr marL="63422" marR="63422" marT="42281" marB="42281" anchor="ctr">
                    <a:lnL w="4229" cap="flat" cmpd="sng" algn="ctr">
                      <a:solidFill>
                        <a:srgbClr val="502C3D"/>
                      </a:solidFill>
                      <a:prstDash val="solid"/>
                      <a:round/>
                      <a:headEnd type="none" w="med" len="med"/>
                      <a:tailEnd type="none" w="med" len="med"/>
                    </a:lnL>
                    <a:lnR w="4229" cap="flat" cmpd="sng" algn="ctr">
                      <a:solidFill>
                        <a:srgbClr val="10243D"/>
                      </a:solidFill>
                      <a:prstDash val="solid"/>
                      <a:round/>
                      <a:headEnd type="none" w="med" len="med"/>
                      <a:tailEnd type="none" w="med" len="med"/>
                    </a:lnR>
                    <a:lnT w="4229" cap="flat" cmpd="sng" algn="ctr">
                      <a:solidFill>
                        <a:srgbClr val="B0A733"/>
                      </a:solidFill>
                      <a:prstDash val="solid"/>
                      <a:round/>
                      <a:headEnd type="none" w="med" len="med"/>
                      <a:tailEnd type="none" w="med" len="med"/>
                    </a:lnT>
                    <a:lnB w="4229" cap="flat" cmpd="sng" algn="ctr">
                      <a:solidFill>
                        <a:srgbClr val="F0B533"/>
                      </a:solidFill>
                      <a:prstDash val="solid"/>
                      <a:round/>
                      <a:headEnd type="none" w="med" len="med"/>
                      <a:tailEnd type="none" w="med" len="med"/>
                    </a:lnB>
                    <a:noFill/>
                  </a:tcPr>
                </a:tc>
                <a:extLst>
                  <a:ext uri="{0D108BD9-81ED-4DB2-BD59-A6C34878D82A}">
                    <a16:rowId xmlns:a16="http://schemas.microsoft.com/office/drawing/2014/main" val="4156925586"/>
                  </a:ext>
                </a:extLst>
              </a:tr>
              <a:tr h="457953">
                <a:tc>
                  <a:txBody>
                    <a:bodyPr/>
                    <a:lstStyle/>
                    <a:p>
                      <a:pPr>
                        <a:lnSpc>
                          <a:spcPts val="1725"/>
                        </a:lnSpc>
                        <a:buNone/>
                      </a:pPr>
                      <a:r>
                        <a:rPr lang="en-US" sz="1200" b="0">
                          <a:solidFill>
                            <a:srgbClr val="000000"/>
                          </a:solidFill>
                          <a:effectLst/>
                          <a:latin typeface="Menlo"/>
                        </a:rPr>
                        <a:t>f4</a:t>
                      </a:r>
                      <a:endParaRPr lang="en-US" sz="1200" b="0">
                        <a:effectLst/>
                      </a:endParaRPr>
                    </a:p>
                  </a:txBody>
                  <a:tcPr marL="63422" marR="63422" marT="42281" marB="42281" anchor="ctr">
                    <a:lnL w="4229" cap="flat" cmpd="sng" algn="ctr">
                      <a:solidFill>
                        <a:srgbClr val="A01496"/>
                      </a:solidFill>
                      <a:prstDash val="solid"/>
                      <a:round/>
                      <a:headEnd type="none" w="med" len="med"/>
                      <a:tailEnd type="none" w="med" len="med"/>
                    </a:lnL>
                    <a:lnR w="4229" cap="flat" cmpd="sng" algn="ctr">
                      <a:solidFill>
                        <a:srgbClr val="001896"/>
                      </a:solidFill>
                      <a:prstDash val="solid"/>
                      <a:round/>
                      <a:headEnd type="none" w="med" len="med"/>
                      <a:tailEnd type="none" w="med" len="med"/>
                    </a:lnR>
                    <a:lnT w="4229" cap="flat" cmpd="sng" algn="ctr">
                      <a:solidFill>
                        <a:srgbClr val="001696"/>
                      </a:solidFill>
                      <a:prstDash val="solid"/>
                      <a:round/>
                      <a:headEnd type="none" w="med" len="med"/>
                      <a:tailEnd type="none" w="med" len="med"/>
                    </a:lnT>
                    <a:lnB w="4229" cap="flat" cmpd="sng" algn="ctr">
                      <a:solidFill>
                        <a:srgbClr val="A01E96"/>
                      </a:solidFill>
                      <a:prstDash val="solid"/>
                      <a:round/>
                      <a:headEnd type="none" w="med" len="med"/>
                      <a:tailEnd type="none" w="med" len="med"/>
                    </a:lnB>
                    <a:noFill/>
                  </a:tcPr>
                </a:tc>
                <a:tc>
                  <a:txBody>
                    <a:bodyPr/>
                    <a:lstStyle/>
                    <a:p>
                      <a:pPr>
                        <a:lnSpc>
                          <a:spcPts val="1725"/>
                        </a:lnSpc>
                        <a:buNone/>
                      </a:pPr>
                      <a:r>
                        <a:rPr lang="en-US" sz="1200" b="0">
                          <a:effectLst/>
                        </a:rPr>
                        <a:t>LE </a:t>
                      </a:r>
                      <a:r>
                        <a:rPr lang="zh-CN" altLang="en-US" sz="1200" b="0">
                          <a:effectLst/>
                        </a:rPr>
                        <a:t>安全连接（</a:t>
                      </a:r>
                      <a:r>
                        <a:rPr lang="en-US" sz="1200" b="0">
                          <a:effectLst/>
                        </a:rPr>
                        <a:t>Secure Connections）</a:t>
                      </a:r>
                      <a:r>
                        <a:rPr lang="zh-CN" altLang="en-US" sz="1200" b="0">
                          <a:effectLst/>
                        </a:rPr>
                        <a:t>的确认值生成函数</a:t>
                      </a:r>
                    </a:p>
                  </a:txBody>
                  <a:tcPr marL="63422" marR="63422" marT="42281" marB="42281" anchor="ctr">
                    <a:lnL w="4229" cap="flat" cmpd="sng" algn="ctr">
                      <a:solidFill>
                        <a:srgbClr val="001896"/>
                      </a:solidFill>
                      <a:prstDash val="solid"/>
                      <a:round/>
                      <a:headEnd type="none" w="med" len="med"/>
                      <a:tailEnd type="none" w="med" len="med"/>
                    </a:lnL>
                    <a:lnR w="4229" cap="flat" cmpd="sng" algn="ctr">
                      <a:solidFill>
                        <a:srgbClr val="E01596"/>
                      </a:solidFill>
                      <a:prstDash val="solid"/>
                      <a:round/>
                      <a:headEnd type="none" w="med" len="med"/>
                      <a:tailEnd type="none" w="med" len="med"/>
                    </a:lnR>
                    <a:lnT w="4229" cap="flat" cmpd="sng" algn="ctr">
                      <a:solidFill>
                        <a:srgbClr val="801396"/>
                      </a:solidFill>
                      <a:prstDash val="solid"/>
                      <a:round/>
                      <a:headEnd type="none" w="med" len="med"/>
                      <a:tailEnd type="none" w="med" len="med"/>
                    </a:lnT>
                    <a:lnB w="4229" cap="flat" cmpd="sng" algn="ctr">
                      <a:solidFill>
                        <a:srgbClr val="601C96"/>
                      </a:solidFill>
                      <a:prstDash val="solid"/>
                      <a:round/>
                      <a:headEnd type="none" w="med" len="med"/>
                      <a:tailEnd type="none" w="med" len="med"/>
                    </a:lnB>
                    <a:noFill/>
                  </a:tcPr>
                </a:tc>
                <a:tc>
                  <a:txBody>
                    <a:bodyPr/>
                    <a:lstStyle/>
                    <a:p>
                      <a:pPr>
                        <a:lnSpc>
                          <a:spcPts val="1725"/>
                        </a:lnSpc>
                        <a:buNone/>
                      </a:pPr>
                      <a:r>
                        <a:rPr lang="zh-CN" altLang="en-US" sz="1200" b="0">
                          <a:effectLst/>
                        </a:rPr>
                        <a:t>安全连接配对中的参数验证</a:t>
                      </a:r>
                    </a:p>
                  </a:txBody>
                  <a:tcPr marL="63422" marR="63422" marT="42281" marB="42281" anchor="ctr">
                    <a:lnL w="4229" cap="flat" cmpd="sng" algn="ctr">
                      <a:solidFill>
                        <a:srgbClr val="E01596"/>
                      </a:solidFill>
                      <a:prstDash val="solid"/>
                      <a:round/>
                      <a:headEnd type="none" w="med" len="med"/>
                      <a:tailEnd type="none" w="med" len="med"/>
                    </a:lnL>
                    <a:lnR w="4229" cap="flat" cmpd="sng" algn="ctr">
                      <a:solidFill>
                        <a:srgbClr val="A01496"/>
                      </a:solidFill>
                      <a:prstDash val="solid"/>
                      <a:round/>
                      <a:headEnd type="none" w="med" len="med"/>
                      <a:tailEnd type="none" w="med" len="med"/>
                    </a:lnR>
                    <a:lnT w="4229" cap="flat" cmpd="sng" algn="ctr">
                      <a:solidFill>
                        <a:srgbClr val="F0B533"/>
                      </a:solidFill>
                      <a:prstDash val="solid"/>
                      <a:round/>
                      <a:headEnd type="none" w="med" len="med"/>
                      <a:tailEnd type="none" w="med" len="med"/>
                    </a:lnT>
                    <a:lnB w="4229" cap="flat" cmpd="sng" algn="ctr">
                      <a:solidFill>
                        <a:srgbClr val="40BA33"/>
                      </a:solidFill>
                      <a:prstDash val="solid"/>
                      <a:round/>
                      <a:headEnd type="none" w="med" len="med"/>
                      <a:tailEnd type="none" w="med" len="med"/>
                    </a:lnB>
                    <a:noFill/>
                  </a:tcPr>
                </a:tc>
                <a:extLst>
                  <a:ext uri="{0D108BD9-81ED-4DB2-BD59-A6C34878D82A}">
                    <a16:rowId xmlns:a16="http://schemas.microsoft.com/office/drawing/2014/main" val="3702807905"/>
                  </a:ext>
                </a:extLst>
              </a:tr>
              <a:tr h="206408">
                <a:tc>
                  <a:txBody>
                    <a:bodyPr/>
                    <a:lstStyle/>
                    <a:p>
                      <a:pPr>
                        <a:lnSpc>
                          <a:spcPts val="1725"/>
                        </a:lnSpc>
                        <a:buNone/>
                      </a:pPr>
                      <a:r>
                        <a:rPr lang="en-US" sz="1200" b="0">
                          <a:solidFill>
                            <a:srgbClr val="000000"/>
                          </a:solidFill>
                          <a:effectLst/>
                          <a:latin typeface="Menlo"/>
                        </a:rPr>
                        <a:t>f5</a:t>
                      </a:r>
                      <a:endParaRPr lang="en-US" sz="1200" b="0">
                        <a:effectLst/>
                      </a:endParaRPr>
                    </a:p>
                  </a:txBody>
                  <a:tcPr marL="63422" marR="63422" marT="42281" marB="42281" anchor="ctr">
                    <a:lnL w="4229" cap="flat" cmpd="sng" algn="ctr">
                      <a:solidFill>
                        <a:srgbClr val="401F96"/>
                      </a:solidFill>
                      <a:prstDash val="solid"/>
                      <a:round/>
                      <a:headEnd type="none" w="med" len="med"/>
                      <a:tailEnd type="none" w="med" len="med"/>
                    </a:lnL>
                    <a:lnR w="4229" cap="flat" cmpd="sng" algn="ctr">
                      <a:solidFill>
                        <a:srgbClr val="001D96"/>
                      </a:solidFill>
                      <a:prstDash val="solid"/>
                      <a:round/>
                      <a:headEnd type="none" w="med" len="med"/>
                      <a:tailEnd type="none" w="med" len="med"/>
                    </a:lnR>
                    <a:lnT w="4229" cap="flat" cmpd="sng" algn="ctr">
                      <a:solidFill>
                        <a:srgbClr val="A01E96"/>
                      </a:solidFill>
                      <a:prstDash val="solid"/>
                      <a:round/>
                      <a:headEnd type="none" w="med" len="med"/>
                      <a:tailEnd type="none" w="med" len="med"/>
                    </a:lnT>
                    <a:lnB w="4229" cap="flat" cmpd="sng" algn="ctr">
                      <a:solidFill>
                        <a:srgbClr val="202296"/>
                      </a:solidFill>
                      <a:prstDash val="solid"/>
                      <a:round/>
                      <a:headEnd type="none" w="med" len="med"/>
                      <a:tailEnd type="none" w="med" len="med"/>
                    </a:lnB>
                    <a:noFill/>
                  </a:tcPr>
                </a:tc>
                <a:tc>
                  <a:txBody>
                    <a:bodyPr/>
                    <a:lstStyle/>
                    <a:p>
                      <a:pPr>
                        <a:lnSpc>
                          <a:spcPts val="1725"/>
                        </a:lnSpc>
                        <a:buNone/>
                      </a:pPr>
                      <a:r>
                        <a:rPr lang="en-US" sz="1200" b="0">
                          <a:effectLst/>
                        </a:rPr>
                        <a:t>LE </a:t>
                      </a:r>
                      <a:r>
                        <a:rPr lang="zh-CN" altLang="en-US" sz="1200" b="0">
                          <a:effectLst/>
                        </a:rPr>
                        <a:t>安全连接的密钥生成函数</a:t>
                      </a:r>
                    </a:p>
                  </a:txBody>
                  <a:tcPr marL="63422" marR="63422" marT="42281" marB="42281" anchor="ctr">
                    <a:lnL w="4229" cap="flat" cmpd="sng" algn="ctr">
                      <a:solidFill>
                        <a:srgbClr val="001D96"/>
                      </a:solidFill>
                      <a:prstDash val="solid"/>
                      <a:round/>
                      <a:headEnd type="none" w="med" len="med"/>
                      <a:tailEnd type="none" w="med" len="med"/>
                    </a:lnL>
                    <a:lnR w="4229" cap="flat" cmpd="sng" algn="ctr">
                      <a:solidFill>
                        <a:srgbClr val="E01596"/>
                      </a:solidFill>
                      <a:prstDash val="solid"/>
                      <a:round/>
                      <a:headEnd type="none" w="med" len="med"/>
                      <a:tailEnd type="none" w="med" len="med"/>
                    </a:lnR>
                    <a:lnT w="4229" cap="flat" cmpd="sng" algn="ctr">
                      <a:solidFill>
                        <a:srgbClr val="601C96"/>
                      </a:solidFill>
                      <a:prstDash val="solid"/>
                      <a:round/>
                      <a:headEnd type="none" w="med" len="med"/>
                      <a:tailEnd type="none" w="med" len="med"/>
                    </a:lnT>
                    <a:lnB w="4229" cap="flat" cmpd="sng" algn="ctr">
                      <a:solidFill>
                        <a:srgbClr val="602396"/>
                      </a:solidFill>
                      <a:prstDash val="solid"/>
                      <a:round/>
                      <a:headEnd type="none" w="med" len="med"/>
                      <a:tailEnd type="none" w="med" len="med"/>
                    </a:lnB>
                    <a:noFill/>
                  </a:tcPr>
                </a:tc>
                <a:tc>
                  <a:txBody>
                    <a:bodyPr/>
                    <a:lstStyle/>
                    <a:p>
                      <a:pPr>
                        <a:lnSpc>
                          <a:spcPts val="1725"/>
                        </a:lnSpc>
                        <a:buNone/>
                      </a:pPr>
                      <a:r>
                        <a:rPr lang="zh-CN" altLang="en-US" sz="1200" b="0">
                          <a:effectLst/>
                        </a:rPr>
                        <a:t>安全连接中的 </a:t>
                      </a:r>
                      <a:r>
                        <a:rPr lang="en-US" altLang="zh-CN" sz="1200" b="0">
                          <a:effectLst/>
                        </a:rPr>
                        <a:t>LTK </a:t>
                      </a:r>
                      <a:r>
                        <a:rPr lang="zh-CN" altLang="en-US" sz="1200" b="0">
                          <a:effectLst/>
                        </a:rPr>
                        <a:t>生成</a:t>
                      </a:r>
                    </a:p>
                  </a:txBody>
                  <a:tcPr marL="63422" marR="63422" marT="42281" marB="42281" anchor="ctr">
                    <a:lnL w="4229" cap="flat" cmpd="sng" algn="ctr">
                      <a:solidFill>
                        <a:srgbClr val="E01596"/>
                      </a:solidFill>
                      <a:prstDash val="solid"/>
                      <a:round/>
                      <a:headEnd type="none" w="med" len="med"/>
                      <a:tailEnd type="none" w="med" len="med"/>
                    </a:lnL>
                    <a:lnR w="4229" cap="flat" cmpd="sng" algn="ctr">
                      <a:solidFill>
                        <a:srgbClr val="201596"/>
                      </a:solidFill>
                      <a:prstDash val="solid"/>
                      <a:round/>
                      <a:headEnd type="none" w="med" len="med"/>
                      <a:tailEnd type="none" w="med" len="med"/>
                    </a:lnR>
                    <a:lnT w="4229" cap="flat" cmpd="sng" algn="ctr">
                      <a:solidFill>
                        <a:srgbClr val="40BA33"/>
                      </a:solidFill>
                      <a:prstDash val="solid"/>
                      <a:round/>
                      <a:headEnd type="none" w="med" len="med"/>
                      <a:tailEnd type="none" w="med" len="med"/>
                    </a:lnT>
                    <a:lnB w="4229" cap="flat" cmpd="sng" algn="ctr">
                      <a:solidFill>
                        <a:srgbClr val="10BD33"/>
                      </a:solidFill>
                      <a:prstDash val="solid"/>
                      <a:round/>
                      <a:headEnd type="none" w="med" len="med"/>
                      <a:tailEnd type="none" w="med" len="med"/>
                    </a:lnB>
                    <a:noFill/>
                  </a:tcPr>
                </a:tc>
                <a:extLst>
                  <a:ext uri="{0D108BD9-81ED-4DB2-BD59-A6C34878D82A}">
                    <a16:rowId xmlns:a16="http://schemas.microsoft.com/office/drawing/2014/main" val="1515084015"/>
                  </a:ext>
                </a:extLst>
              </a:tr>
              <a:tr h="206408">
                <a:tc>
                  <a:txBody>
                    <a:bodyPr/>
                    <a:lstStyle/>
                    <a:p>
                      <a:pPr>
                        <a:lnSpc>
                          <a:spcPts val="1725"/>
                        </a:lnSpc>
                        <a:buNone/>
                      </a:pPr>
                      <a:r>
                        <a:rPr lang="en-US" sz="1200" b="0">
                          <a:solidFill>
                            <a:srgbClr val="000000"/>
                          </a:solidFill>
                          <a:effectLst/>
                          <a:latin typeface="Menlo"/>
                        </a:rPr>
                        <a:t>f6</a:t>
                      </a:r>
                      <a:endParaRPr lang="en-US" sz="1200" b="0">
                        <a:effectLst/>
                      </a:endParaRPr>
                    </a:p>
                  </a:txBody>
                  <a:tcPr marL="63422" marR="63422" marT="42281" marB="42281" anchor="ctr">
                    <a:lnL w="4229" cap="flat" cmpd="sng" algn="ctr">
                      <a:solidFill>
                        <a:srgbClr val="A02396"/>
                      </a:solidFill>
                      <a:prstDash val="solid"/>
                      <a:round/>
                      <a:headEnd type="none" w="med" len="med"/>
                      <a:tailEnd type="none" w="med" len="med"/>
                    </a:lnL>
                    <a:lnR w="4229" cap="flat" cmpd="sng" algn="ctr">
                      <a:solidFill>
                        <a:srgbClr val="002496"/>
                      </a:solidFill>
                      <a:prstDash val="solid"/>
                      <a:round/>
                      <a:headEnd type="none" w="med" len="med"/>
                      <a:tailEnd type="none" w="med" len="med"/>
                    </a:lnR>
                    <a:lnT w="4229" cap="flat" cmpd="sng" algn="ctr">
                      <a:solidFill>
                        <a:srgbClr val="202296"/>
                      </a:solidFill>
                      <a:prstDash val="solid"/>
                      <a:round/>
                      <a:headEnd type="none" w="med" len="med"/>
                      <a:tailEnd type="none" w="med" len="med"/>
                    </a:lnT>
                    <a:lnB w="4229" cap="flat" cmpd="sng" algn="ctr">
                      <a:solidFill>
                        <a:srgbClr val="402E96"/>
                      </a:solidFill>
                      <a:prstDash val="solid"/>
                      <a:round/>
                      <a:headEnd type="none" w="med" len="med"/>
                      <a:tailEnd type="none" w="med" len="med"/>
                    </a:lnB>
                    <a:noFill/>
                  </a:tcPr>
                </a:tc>
                <a:tc>
                  <a:txBody>
                    <a:bodyPr/>
                    <a:lstStyle/>
                    <a:p>
                      <a:pPr>
                        <a:lnSpc>
                          <a:spcPts val="1725"/>
                        </a:lnSpc>
                        <a:buNone/>
                      </a:pPr>
                      <a:r>
                        <a:rPr lang="en-US" sz="1200" b="0">
                          <a:effectLst/>
                        </a:rPr>
                        <a:t>LE </a:t>
                      </a:r>
                      <a:r>
                        <a:rPr lang="zh-CN" altLang="en-US" sz="1200" b="0">
                          <a:effectLst/>
                        </a:rPr>
                        <a:t>安全连接的校验值生成函数</a:t>
                      </a:r>
                    </a:p>
                  </a:txBody>
                  <a:tcPr marL="63422" marR="63422" marT="42281" marB="42281" anchor="ctr">
                    <a:lnL w="4229" cap="flat" cmpd="sng" algn="ctr">
                      <a:solidFill>
                        <a:srgbClr val="002496"/>
                      </a:solidFill>
                      <a:prstDash val="solid"/>
                      <a:round/>
                      <a:headEnd type="none" w="med" len="med"/>
                      <a:tailEnd type="none" w="med" len="med"/>
                    </a:lnL>
                    <a:lnR w="4229" cap="flat" cmpd="sng" algn="ctr">
                      <a:solidFill>
                        <a:srgbClr val="001F96"/>
                      </a:solidFill>
                      <a:prstDash val="solid"/>
                      <a:round/>
                      <a:headEnd type="none" w="med" len="med"/>
                      <a:tailEnd type="none" w="med" len="med"/>
                    </a:lnR>
                    <a:lnT w="4229" cap="flat" cmpd="sng" algn="ctr">
                      <a:solidFill>
                        <a:srgbClr val="602396"/>
                      </a:solidFill>
                      <a:prstDash val="solid"/>
                      <a:round/>
                      <a:headEnd type="none" w="med" len="med"/>
                      <a:tailEnd type="none" w="med" len="med"/>
                    </a:lnT>
                    <a:lnB w="4229" cap="flat" cmpd="sng" algn="ctr">
                      <a:solidFill>
                        <a:srgbClr val="602D96"/>
                      </a:solidFill>
                      <a:prstDash val="solid"/>
                      <a:round/>
                      <a:headEnd type="none" w="med" len="med"/>
                      <a:tailEnd type="none" w="med" len="med"/>
                    </a:lnB>
                    <a:noFill/>
                  </a:tcPr>
                </a:tc>
                <a:tc>
                  <a:txBody>
                    <a:bodyPr/>
                    <a:lstStyle/>
                    <a:p>
                      <a:pPr>
                        <a:lnSpc>
                          <a:spcPts val="1725"/>
                        </a:lnSpc>
                        <a:buNone/>
                      </a:pPr>
                      <a:r>
                        <a:rPr lang="zh-CN" altLang="en-US" sz="1200" b="0">
                          <a:effectLst/>
                        </a:rPr>
                        <a:t>安全连接中的密钥校验</a:t>
                      </a:r>
                    </a:p>
                  </a:txBody>
                  <a:tcPr marL="63422" marR="63422" marT="42281" marB="42281" anchor="ctr">
                    <a:lnL w="4229" cap="flat" cmpd="sng" algn="ctr">
                      <a:solidFill>
                        <a:srgbClr val="001F96"/>
                      </a:solidFill>
                      <a:prstDash val="solid"/>
                      <a:round/>
                      <a:headEnd type="none" w="med" len="med"/>
                      <a:tailEnd type="none" w="med" len="med"/>
                    </a:lnL>
                    <a:lnR w="4229" cap="flat" cmpd="sng" algn="ctr">
                      <a:solidFill>
                        <a:srgbClr val="801996"/>
                      </a:solidFill>
                      <a:prstDash val="solid"/>
                      <a:round/>
                      <a:headEnd type="none" w="med" len="med"/>
                      <a:tailEnd type="none" w="med" len="med"/>
                    </a:lnR>
                    <a:lnT w="4229" cap="flat" cmpd="sng" algn="ctr">
                      <a:solidFill>
                        <a:srgbClr val="10BD33"/>
                      </a:solidFill>
                      <a:prstDash val="solid"/>
                      <a:round/>
                      <a:headEnd type="none" w="med" len="med"/>
                      <a:tailEnd type="none" w="med" len="med"/>
                    </a:lnT>
                    <a:lnB w="4229" cap="flat" cmpd="sng" algn="ctr">
                      <a:solidFill>
                        <a:srgbClr val="106834"/>
                      </a:solidFill>
                      <a:prstDash val="solid"/>
                      <a:round/>
                      <a:headEnd type="none" w="med" len="med"/>
                      <a:tailEnd type="none" w="med" len="med"/>
                    </a:lnB>
                    <a:noFill/>
                  </a:tcPr>
                </a:tc>
                <a:extLst>
                  <a:ext uri="{0D108BD9-81ED-4DB2-BD59-A6C34878D82A}">
                    <a16:rowId xmlns:a16="http://schemas.microsoft.com/office/drawing/2014/main" val="111435852"/>
                  </a:ext>
                </a:extLst>
              </a:tr>
              <a:tr h="331034">
                <a:tc>
                  <a:txBody>
                    <a:bodyPr/>
                    <a:lstStyle/>
                    <a:p>
                      <a:pPr>
                        <a:lnSpc>
                          <a:spcPts val="1725"/>
                        </a:lnSpc>
                        <a:buNone/>
                      </a:pPr>
                      <a:r>
                        <a:rPr lang="en-US" sz="1200" b="0">
                          <a:solidFill>
                            <a:srgbClr val="000000"/>
                          </a:solidFill>
                          <a:effectLst/>
                          <a:latin typeface="Menlo"/>
                        </a:rPr>
                        <a:t>g2</a:t>
                      </a:r>
                      <a:endParaRPr lang="en-US" sz="1200" b="0">
                        <a:effectLst/>
                      </a:endParaRPr>
                    </a:p>
                  </a:txBody>
                  <a:tcPr marL="63422" marR="63422" marT="42281" marB="42281" anchor="ctr">
                    <a:lnL w="4229" cap="flat" cmpd="sng" algn="ctr">
                      <a:solidFill>
                        <a:srgbClr val="A03196"/>
                      </a:solidFill>
                      <a:prstDash val="solid"/>
                      <a:round/>
                      <a:headEnd type="none" w="med" len="med"/>
                      <a:tailEnd type="none" w="med" len="med"/>
                    </a:lnL>
                    <a:lnR w="4229" cap="flat" cmpd="sng" algn="ctr">
                      <a:solidFill>
                        <a:srgbClr val="602B96"/>
                      </a:solidFill>
                      <a:prstDash val="solid"/>
                      <a:round/>
                      <a:headEnd type="none" w="med" len="med"/>
                      <a:tailEnd type="none" w="med" len="med"/>
                    </a:lnR>
                    <a:lnT w="4229" cap="flat" cmpd="sng" algn="ctr">
                      <a:solidFill>
                        <a:srgbClr val="402E96"/>
                      </a:solidFill>
                      <a:prstDash val="solid"/>
                      <a:round/>
                      <a:headEnd type="none" w="med" len="med"/>
                      <a:tailEnd type="none" w="med" len="med"/>
                    </a:lnT>
                    <a:lnB w="4229" cap="flat" cmpd="sng" algn="ctr">
                      <a:solidFill>
                        <a:srgbClr val="E03596"/>
                      </a:solidFill>
                      <a:prstDash val="solid"/>
                      <a:round/>
                      <a:headEnd type="none" w="med" len="med"/>
                      <a:tailEnd type="none" w="med" len="med"/>
                    </a:lnB>
                    <a:noFill/>
                  </a:tcPr>
                </a:tc>
                <a:tc>
                  <a:txBody>
                    <a:bodyPr/>
                    <a:lstStyle/>
                    <a:p>
                      <a:pPr>
                        <a:lnSpc>
                          <a:spcPts val="1725"/>
                        </a:lnSpc>
                        <a:buNone/>
                      </a:pPr>
                      <a:r>
                        <a:rPr lang="en-US" altLang="zh-CN" sz="1200" b="0">
                          <a:effectLst/>
                        </a:rPr>
                        <a:t>LE </a:t>
                      </a:r>
                      <a:r>
                        <a:rPr lang="zh-CN" altLang="en-US" sz="1200" b="0">
                          <a:effectLst/>
                        </a:rPr>
                        <a:t>安全连接的数值比较生成函数</a:t>
                      </a:r>
                    </a:p>
                  </a:txBody>
                  <a:tcPr marL="63422" marR="63422" marT="42281" marB="42281" anchor="ctr">
                    <a:lnL w="4229" cap="flat" cmpd="sng" algn="ctr">
                      <a:solidFill>
                        <a:srgbClr val="602B96"/>
                      </a:solidFill>
                      <a:prstDash val="solid"/>
                      <a:round/>
                      <a:headEnd type="none" w="med" len="med"/>
                      <a:tailEnd type="none" w="med" len="med"/>
                    </a:lnL>
                    <a:lnR w="4229" cap="flat" cmpd="sng" algn="ctr">
                      <a:solidFill>
                        <a:srgbClr val="001F96"/>
                      </a:solidFill>
                      <a:prstDash val="solid"/>
                      <a:round/>
                      <a:headEnd type="none" w="med" len="med"/>
                      <a:tailEnd type="none" w="med" len="med"/>
                    </a:lnR>
                    <a:lnT w="4229" cap="flat" cmpd="sng" algn="ctr">
                      <a:solidFill>
                        <a:srgbClr val="602D96"/>
                      </a:solidFill>
                      <a:prstDash val="solid"/>
                      <a:round/>
                      <a:headEnd type="none" w="med" len="med"/>
                      <a:tailEnd type="none" w="med" len="med"/>
                    </a:lnT>
                    <a:lnB w="4229" cap="flat" cmpd="sng" algn="ctr">
                      <a:solidFill>
                        <a:srgbClr val="A02196"/>
                      </a:solidFill>
                      <a:prstDash val="solid"/>
                      <a:round/>
                      <a:headEnd type="none" w="med" len="med"/>
                      <a:tailEnd type="none" w="med" len="med"/>
                    </a:lnB>
                    <a:noFill/>
                  </a:tcPr>
                </a:tc>
                <a:tc>
                  <a:txBody>
                    <a:bodyPr/>
                    <a:lstStyle/>
                    <a:p>
                      <a:pPr>
                        <a:lnSpc>
                          <a:spcPts val="1725"/>
                        </a:lnSpc>
                        <a:buNone/>
                      </a:pPr>
                      <a:r>
                        <a:rPr lang="zh-CN" altLang="en-US" sz="1200" b="0" dirty="0">
                          <a:effectLst/>
                        </a:rPr>
                        <a:t>数值比较配对（</a:t>
                      </a:r>
                      <a:r>
                        <a:rPr lang="en-US" sz="1200" b="0" dirty="0">
                          <a:effectLst/>
                        </a:rPr>
                        <a:t>Numeric Comparison）</a:t>
                      </a:r>
                      <a:r>
                        <a:rPr lang="zh-CN" altLang="en-US" sz="1200" b="0" dirty="0">
                          <a:effectLst/>
                        </a:rPr>
                        <a:t>模式</a:t>
                      </a:r>
                    </a:p>
                  </a:txBody>
                  <a:tcPr marL="63422" marR="63422" marT="42281" marB="42281" anchor="ctr">
                    <a:lnL w="4229" cap="flat" cmpd="sng" algn="ctr">
                      <a:solidFill>
                        <a:srgbClr val="001F96"/>
                      </a:solidFill>
                      <a:prstDash val="solid"/>
                      <a:round/>
                      <a:headEnd type="none" w="med" len="med"/>
                      <a:tailEnd type="none" w="med" len="med"/>
                    </a:lnL>
                    <a:lnR w="4229" cap="flat" cmpd="sng" algn="ctr">
                      <a:solidFill>
                        <a:srgbClr val="201596"/>
                      </a:solidFill>
                      <a:prstDash val="solid"/>
                      <a:round/>
                      <a:headEnd type="none" w="med" len="med"/>
                      <a:tailEnd type="none" w="med" len="med"/>
                    </a:lnR>
                    <a:lnT w="4229" cap="flat" cmpd="sng" algn="ctr">
                      <a:solidFill>
                        <a:srgbClr val="106834"/>
                      </a:solidFill>
                      <a:prstDash val="solid"/>
                      <a:round/>
                      <a:headEnd type="none" w="med" len="med"/>
                      <a:tailEnd type="none" w="med" len="med"/>
                    </a:lnT>
                    <a:lnB w="4229" cap="flat" cmpd="sng" algn="ctr">
                      <a:solidFill>
                        <a:srgbClr val="D0C933"/>
                      </a:solidFill>
                      <a:prstDash val="solid"/>
                      <a:round/>
                      <a:headEnd type="none" w="med" len="med"/>
                      <a:tailEnd type="none" w="med" len="med"/>
                    </a:lnB>
                    <a:noFill/>
                  </a:tcPr>
                </a:tc>
                <a:extLst>
                  <a:ext uri="{0D108BD9-81ED-4DB2-BD59-A6C34878D82A}">
                    <a16:rowId xmlns:a16="http://schemas.microsoft.com/office/drawing/2014/main" val="937227813"/>
                  </a:ext>
                </a:extLst>
              </a:tr>
              <a:tr h="206408">
                <a:tc>
                  <a:txBody>
                    <a:bodyPr/>
                    <a:lstStyle/>
                    <a:p>
                      <a:pPr>
                        <a:lnSpc>
                          <a:spcPts val="1725"/>
                        </a:lnSpc>
                        <a:buNone/>
                      </a:pPr>
                      <a:r>
                        <a:rPr lang="en-US" sz="1200" b="0">
                          <a:solidFill>
                            <a:srgbClr val="000000"/>
                          </a:solidFill>
                          <a:effectLst/>
                          <a:latin typeface="Menlo"/>
                        </a:rPr>
                        <a:t>h6/h7</a:t>
                      </a:r>
                      <a:endParaRPr lang="en-US" sz="1200" b="0">
                        <a:effectLst/>
                      </a:endParaRPr>
                    </a:p>
                  </a:txBody>
                  <a:tcPr marL="63422" marR="63422" marT="42281" marB="42281" anchor="ctr">
                    <a:lnL w="4229" cap="flat" cmpd="sng" algn="ctr">
                      <a:solidFill>
                        <a:srgbClr val="E03396"/>
                      </a:solidFill>
                      <a:prstDash val="solid"/>
                      <a:round/>
                      <a:headEnd type="none" w="med" len="med"/>
                      <a:tailEnd type="none" w="med" len="med"/>
                    </a:lnL>
                    <a:lnR w="4229" cap="flat" cmpd="sng" algn="ctr">
                      <a:solidFill>
                        <a:srgbClr val="C01796"/>
                      </a:solidFill>
                      <a:prstDash val="solid"/>
                      <a:round/>
                      <a:headEnd type="none" w="med" len="med"/>
                      <a:tailEnd type="none" w="med" len="med"/>
                    </a:lnR>
                    <a:lnT w="4229" cap="flat" cmpd="sng" algn="ctr">
                      <a:solidFill>
                        <a:srgbClr val="E03596"/>
                      </a:solidFill>
                      <a:prstDash val="solid"/>
                      <a:round/>
                      <a:headEnd type="none" w="med" len="med"/>
                      <a:tailEnd type="none" w="med" len="med"/>
                    </a:lnT>
                    <a:lnB w="4229" cap="flat" cmpd="sng" algn="ctr">
                      <a:solidFill>
                        <a:srgbClr val="403396"/>
                      </a:solidFill>
                      <a:prstDash val="solid"/>
                      <a:round/>
                      <a:headEnd type="none" w="med" len="med"/>
                      <a:tailEnd type="none" w="med" len="med"/>
                    </a:lnB>
                    <a:noFill/>
                  </a:tcPr>
                </a:tc>
                <a:tc>
                  <a:txBody>
                    <a:bodyPr/>
                    <a:lstStyle/>
                    <a:p>
                      <a:pPr>
                        <a:lnSpc>
                          <a:spcPts val="1725"/>
                        </a:lnSpc>
                        <a:buNone/>
                      </a:pPr>
                      <a:r>
                        <a:rPr lang="zh-CN" altLang="en-US" sz="1200" b="0">
                          <a:effectLst/>
                        </a:rPr>
                        <a:t>链路密钥转换函数</a:t>
                      </a:r>
                    </a:p>
                  </a:txBody>
                  <a:tcPr marL="63422" marR="63422" marT="42281" marB="42281" anchor="ctr">
                    <a:lnL w="4229" cap="flat" cmpd="sng" algn="ctr">
                      <a:solidFill>
                        <a:srgbClr val="C01796"/>
                      </a:solidFill>
                      <a:prstDash val="solid"/>
                      <a:round/>
                      <a:headEnd type="none" w="med" len="med"/>
                      <a:tailEnd type="none" w="med" len="med"/>
                    </a:lnL>
                    <a:lnR w="4229" cap="flat" cmpd="sng" algn="ctr">
                      <a:solidFill>
                        <a:srgbClr val="001F96"/>
                      </a:solidFill>
                      <a:prstDash val="solid"/>
                      <a:round/>
                      <a:headEnd type="none" w="med" len="med"/>
                      <a:tailEnd type="none" w="med" len="med"/>
                    </a:lnR>
                    <a:lnT w="4229" cap="flat" cmpd="sng" algn="ctr">
                      <a:solidFill>
                        <a:srgbClr val="A02196"/>
                      </a:solidFill>
                      <a:prstDash val="solid"/>
                      <a:round/>
                      <a:headEnd type="none" w="med" len="med"/>
                      <a:tailEnd type="none" w="med" len="med"/>
                    </a:lnT>
                    <a:lnB w="4229" cap="flat" cmpd="sng" algn="ctr">
                      <a:solidFill>
                        <a:srgbClr val="C01496"/>
                      </a:solidFill>
                      <a:prstDash val="solid"/>
                      <a:round/>
                      <a:headEnd type="none" w="med" len="med"/>
                      <a:tailEnd type="none" w="med" len="med"/>
                    </a:lnB>
                    <a:noFill/>
                  </a:tcPr>
                </a:tc>
                <a:tc>
                  <a:txBody>
                    <a:bodyPr/>
                    <a:lstStyle/>
                    <a:p>
                      <a:pPr>
                        <a:lnSpc>
                          <a:spcPts val="1725"/>
                        </a:lnSpc>
                        <a:buNone/>
                      </a:pPr>
                      <a:r>
                        <a:rPr lang="en-US" sz="1200" b="0" dirty="0">
                          <a:effectLst/>
                        </a:rPr>
                        <a:t>BR/EDR </a:t>
                      </a:r>
                      <a:r>
                        <a:rPr lang="zh-CN" altLang="en-US" sz="1200" b="0" dirty="0">
                          <a:effectLst/>
                        </a:rPr>
                        <a:t>与 </a:t>
                      </a:r>
                      <a:r>
                        <a:rPr lang="en-US" sz="1200" b="0" dirty="0">
                          <a:effectLst/>
                        </a:rPr>
                        <a:t>LE </a:t>
                      </a:r>
                      <a:r>
                        <a:rPr lang="zh-CN" altLang="en-US" sz="1200" b="0" dirty="0">
                          <a:effectLst/>
                        </a:rPr>
                        <a:t>密钥格式互转</a:t>
                      </a:r>
                    </a:p>
                  </a:txBody>
                  <a:tcPr marL="63422" marR="63422" marT="42281" marB="42281" anchor="ctr">
                    <a:lnL w="4229" cap="flat" cmpd="sng" algn="ctr">
                      <a:solidFill>
                        <a:srgbClr val="001F96"/>
                      </a:solidFill>
                      <a:prstDash val="solid"/>
                      <a:round/>
                      <a:headEnd type="none" w="med" len="med"/>
                      <a:tailEnd type="none" w="med" len="med"/>
                    </a:lnL>
                    <a:lnR w="4229" cap="flat" cmpd="sng" algn="ctr">
                      <a:solidFill>
                        <a:srgbClr val="E01596"/>
                      </a:solidFill>
                      <a:prstDash val="solid"/>
                      <a:round/>
                      <a:headEnd type="none" w="med" len="med"/>
                      <a:tailEnd type="none" w="med" len="med"/>
                    </a:lnR>
                    <a:lnT w="4229" cap="flat" cmpd="sng" algn="ctr">
                      <a:solidFill>
                        <a:srgbClr val="D0C933"/>
                      </a:solidFill>
                      <a:prstDash val="solid"/>
                      <a:round/>
                      <a:headEnd type="none" w="med" len="med"/>
                      <a:tailEnd type="none" w="med" len="med"/>
                    </a:lnT>
                    <a:lnB w="4229" cap="flat" cmpd="sng" algn="ctr">
                      <a:solidFill>
                        <a:srgbClr val="801996"/>
                      </a:solidFill>
                      <a:prstDash val="solid"/>
                      <a:round/>
                      <a:headEnd type="none" w="med" len="med"/>
                      <a:tailEnd type="none" w="med" len="med"/>
                    </a:lnB>
                    <a:noFill/>
                  </a:tcPr>
                </a:tc>
                <a:extLst>
                  <a:ext uri="{0D108BD9-81ED-4DB2-BD59-A6C34878D82A}">
                    <a16:rowId xmlns:a16="http://schemas.microsoft.com/office/drawing/2014/main" val="702493581"/>
                  </a:ext>
                </a:extLst>
              </a:tr>
            </a:tbl>
          </a:graphicData>
        </a:graphic>
      </p:graphicFrame>
      <p:sp>
        <p:nvSpPr>
          <p:cNvPr id="8" name="文本框 7">
            <a:extLst>
              <a:ext uri="{FF2B5EF4-FFF2-40B4-BE49-F238E27FC236}">
                <a16:creationId xmlns:a16="http://schemas.microsoft.com/office/drawing/2014/main" id="{D052D6DA-87CD-50A5-26B1-2A50DBEB02C3}"/>
              </a:ext>
            </a:extLst>
          </p:cNvPr>
          <p:cNvSpPr txBox="1"/>
          <p:nvPr/>
        </p:nvSpPr>
        <p:spPr>
          <a:xfrm>
            <a:off x="182878" y="602241"/>
            <a:ext cx="8745527" cy="276999"/>
          </a:xfrm>
          <a:prstGeom prst="rect">
            <a:avLst/>
          </a:prstGeom>
          <a:noFill/>
        </p:spPr>
        <p:txBody>
          <a:bodyPr wrap="square">
            <a:spAutoFit/>
          </a:bodyPr>
          <a:lstStyle/>
          <a:p>
            <a:r>
              <a:rPr lang="zh-CN" altLang="en-US" sz="1200" b="0" i="0" dirty="0">
                <a:effectLst/>
                <a:latin typeface="Inter"/>
              </a:rPr>
              <a:t>定义 </a:t>
            </a:r>
            <a:r>
              <a:rPr lang="en-US" altLang="zh-CN" sz="1200" b="0" i="0" dirty="0">
                <a:effectLst/>
                <a:latin typeface="Inter"/>
              </a:rPr>
              <a:t>SMP </a:t>
            </a:r>
            <a:r>
              <a:rPr lang="zh-CN" altLang="en-US" sz="1200" b="0" i="0" dirty="0">
                <a:effectLst/>
                <a:latin typeface="Inter"/>
              </a:rPr>
              <a:t>所需的加密算法与函数，确保安全操作的标准化，核心函数包括：</a:t>
            </a:r>
            <a:endParaRPr lang="zh-CN" altLang="en-US" sz="1200" dirty="0"/>
          </a:p>
        </p:txBody>
      </p:sp>
    </p:spTree>
    <p:extLst>
      <p:ext uri="{BB962C8B-B14F-4D97-AF65-F5344CB8AC3E}">
        <p14:creationId xmlns:p14="http://schemas.microsoft.com/office/powerpoint/2010/main" val="6296883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BB50C-DE70-F72F-0BB2-81BE19C6A83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A9FE9D6-7F7D-F624-13C5-8E18C819666D}"/>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配对方法及流程</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F642BB21-C30F-C0D3-3B64-6C766BBF4DB5}"/>
              </a:ext>
            </a:extLst>
          </p:cNvPr>
          <p:cNvSpPr txBox="1"/>
          <p:nvPr/>
        </p:nvSpPr>
        <p:spPr>
          <a:xfrm>
            <a:off x="215591" y="587682"/>
            <a:ext cx="8712818" cy="1384995"/>
          </a:xfrm>
          <a:prstGeom prst="rect">
            <a:avLst/>
          </a:prstGeom>
          <a:noFill/>
        </p:spPr>
        <p:txBody>
          <a:bodyPr wrap="square">
            <a:spAutoFit/>
          </a:bodyPr>
          <a:lstStyle/>
          <a:p>
            <a:pPr algn="l">
              <a:buNone/>
            </a:pPr>
            <a:r>
              <a:rPr lang="zh-CN" altLang="en-US" sz="1200" b="0" i="0" dirty="0">
                <a:solidFill>
                  <a:srgbClr val="000000"/>
                </a:solidFill>
                <a:effectLst/>
                <a:latin typeface="Inter"/>
              </a:rPr>
              <a:t>定义 </a:t>
            </a:r>
            <a:r>
              <a:rPr lang="en-US" altLang="zh-CN" sz="1200" b="0" i="0" dirty="0">
                <a:solidFill>
                  <a:srgbClr val="000000"/>
                </a:solidFill>
                <a:effectLst/>
                <a:latin typeface="Inter"/>
              </a:rPr>
              <a:t>LE </a:t>
            </a:r>
            <a:r>
              <a:rPr lang="zh-CN" altLang="en-US" sz="1200" b="0" i="0" dirty="0">
                <a:solidFill>
                  <a:srgbClr val="000000"/>
                </a:solidFill>
                <a:effectLst/>
                <a:latin typeface="Inter"/>
              </a:rPr>
              <a:t>设备间的配对流程与参数协商规则，核心内容包括：</a:t>
            </a:r>
          </a:p>
          <a:p>
            <a:pPr algn="l">
              <a:buFont typeface="Arial" panose="020B0604020202020204" pitchFamily="34" charset="0"/>
              <a:buChar char="•"/>
            </a:pPr>
            <a:r>
              <a:rPr lang="zh-CN" altLang="en-US" sz="1200" b="1" i="0" dirty="0">
                <a:solidFill>
                  <a:srgbClr val="000000"/>
                </a:solidFill>
                <a:effectLst/>
                <a:latin typeface="Inter"/>
              </a:rPr>
              <a:t>安全属性（</a:t>
            </a:r>
            <a:r>
              <a:rPr lang="en-US" altLang="zh-CN" sz="1200" b="1" i="0" dirty="0">
                <a:solidFill>
                  <a:srgbClr val="000000"/>
                </a:solidFill>
                <a:effectLst/>
                <a:latin typeface="Inter"/>
              </a:rPr>
              <a:t>Security Properties</a:t>
            </a:r>
            <a:r>
              <a:rPr lang="zh-CN" altLang="en-US" sz="1200" b="1" i="0" dirty="0">
                <a:solidFill>
                  <a:srgbClr val="000000"/>
                </a:solidFill>
                <a:effectLst/>
                <a:latin typeface="Inter"/>
              </a:rPr>
              <a:t>）</a:t>
            </a:r>
            <a:r>
              <a:rPr lang="zh-CN" altLang="en-US" sz="1200" b="0" i="0" dirty="0">
                <a:solidFill>
                  <a:srgbClr val="000000"/>
                </a:solidFill>
                <a:effectLst/>
                <a:latin typeface="Inter"/>
              </a:rPr>
              <a:t>：明确配对过程中需协商的安全参数，如加密密钥长度（</a:t>
            </a:r>
            <a:r>
              <a:rPr lang="en-US" altLang="zh-CN" sz="1200" b="0" i="0" dirty="0">
                <a:solidFill>
                  <a:srgbClr val="000000"/>
                </a:solidFill>
                <a:effectLst/>
                <a:latin typeface="Inter"/>
              </a:rPr>
              <a:t>16-128 </a:t>
            </a:r>
            <a:r>
              <a:rPr lang="zh-CN" altLang="en-US" sz="1200" b="0" i="0" dirty="0">
                <a:solidFill>
                  <a:srgbClr val="000000"/>
                </a:solidFill>
                <a:effectLst/>
                <a:latin typeface="Inter"/>
              </a:rPr>
              <a:t>位）、</a:t>
            </a:r>
            <a:r>
              <a:rPr lang="en-US" altLang="zh-CN" sz="1200" b="0" i="0" dirty="0">
                <a:solidFill>
                  <a:srgbClr val="000000"/>
                </a:solidFill>
                <a:effectLst/>
                <a:latin typeface="Inter"/>
              </a:rPr>
              <a:t>IO </a:t>
            </a:r>
            <a:r>
              <a:rPr lang="zh-CN" altLang="en-US" sz="1200" b="0" i="0" dirty="0">
                <a:solidFill>
                  <a:srgbClr val="000000"/>
                </a:solidFill>
                <a:effectLst/>
                <a:latin typeface="Inter"/>
              </a:rPr>
              <a:t>能力（输入输出能力，如 “仅显示”“仅输入”“无 </a:t>
            </a:r>
            <a:r>
              <a:rPr lang="en-US" altLang="zh-CN" sz="1200" b="0" i="0" dirty="0">
                <a:solidFill>
                  <a:srgbClr val="000000"/>
                </a:solidFill>
                <a:effectLst/>
                <a:latin typeface="Inter"/>
              </a:rPr>
              <a:t>IO”</a:t>
            </a:r>
            <a:r>
              <a:rPr lang="zh-CN" altLang="en-US" sz="1200" b="0" i="0" dirty="0">
                <a:solidFill>
                  <a:srgbClr val="000000"/>
                </a:solidFill>
                <a:effectLst/>
                <a:latin typeface="Inter"/>
              </a:rPr>
              <a:t>）、</a:t>
            </a:r>
            <a:r>
              <a:rPr lang="en-US" altLang="zh-CN" sz="1200" b="0" i="0" dirty="0">
                <a:solidFill>
                  <a:srgbClr val="000000"/>
                </a:solidFill>
                <a:effectLst/>
                <a:latin typeface="Inter"/>
              </a:rPr>
              <a:t>OOB </a:t>
            </a:r>
            <a:r>
              <a:rPr lang="zh-CN" altLang="en-US" sz="1200" b="0" i="0" dirty="0">
                <a:solidFill>
                  <a:srgbClr val="000000"/>
                </a:solidFill>
                <a:effectLst/>
                <a:latin typeface="Inter"/>
              </a:rPr>
              <a:t>数据（</a:t>
            </a:r>
            <a:r>
              <a:rPr lang="en-US" altLang="zh-CN" sz="1200" b="0" i="0" dirty="0">
                <a:solidFill>
                  <a:srgbClr val="000000"/>
                </a:solidFill>
                <a:effectLst/>
                <a:latin typeface="Inter"/>
              </a:rPr>
              <a:t>Out-of-Band</a:t>
            </a:r>
            <a:r>
              <a:rPr lang="zh-CN" altLang="en-US" sz="1200" b="0" i="0" dirty="0">
                <a:solidFill>
                  <a:srgbClr val="000000"/>
                </a:solidFill>
                <a:effectLst/>
                <a:latin typeface="Inter"/>
              </a:rPr>
              <a:t>，带外数据，如 </a:t>
            </a:r>
            <a:r>
              <a:rPr lang="en-US" altLang="zh-CN" sz="1200" b="0" i="0" dirty="0">
                <a:solidFill>
                  <a:srgbClr val="000000"/>
                </a:solidFill>
                <a:effectLst/>
                <a:latin typeface="Inter"/>
              </a:rPr>
              <a:t>NFC </a:t>
            </a:r>
            <a:r>
              <a:rPr lang="zh-CN" altLang="en-US" sz="1200" b="0" i="0" dirty="0">
                <a:solidFill>
                  <a:srgbClr val="000000"/>
                </a:solidFill>
                <a:effectLst/>
                <a:latin typeface="Inter"/>
              </a:rPr>
              <a:t>传输的配对信息）；</a:t>
            </a:r>
          </a:p>
          <a:p>
            <a:pPr algn="l">
              <a:buFont typeface="Arial" panose="020B0604020202020204" pitchFamily="34" charset="0"/>
              <a:buChar char="•"/>
            </a:pPr>
            <a:r>
              <a:rPr lang="zh-CN" altLang="en-US" sz="1200" b="1" i="0" dirty="0">
                <a:solidFill>
                  <a:srgbClr val="000000"/>
                </a:solidFill>
                <a:effectLst/>
                <a:latin typeface="Inter"/>
              </a:rPr>
              <a:t>配对算法（</a:t>
            </a:r>
            <a:r>
              <a:rPr lang="en-US" altLang="zh-CN" sz="1200" b="1" i="0" dirty="0">
                <a:solidFill>
                  <a:srgbClr val="000000"/>
                </a:solidFill>
                <a:effectLst/>
                <a:latin typeface="Inter"/>
              </a:rPr>
              <a:t>Pairing Algorithms</a:t>
            </a:r>
            <a:r>
              <a:rPr lang="zh-CN" altLang="en-US" sz="1200" b="1" i="0" dirty="0">
                <a:solidFill>
                  <a:srgbClr val="000000"/>
                </a:solidFill>
                <a:effectLst/>
                <a:latin typeface="Inter"/>
              </a:rPr>
              <a:t>）</a:t>
            </a:r>
            <a:r>
              <a:rPr lang="zh-CN" altLang="en-US" sz="1200" b="0" i="0" dirty="0">
                <a:solidFill>
                  <a:srgbClr val="000000"/>
                </a:solidFill>
                <a:effectLst/>
                <a:latin typeface="Inter"/>
              </a:rPr>
              <a:t>：支持两种算法：</a:t>
            </a:r>
          </a:p>
          <a:p>
            <a:pPr marL="742950" lvl="1" indent="-285750" algn="l">
              <a:buFont typeface="Arial" panose="020B0604020202020204" pitchFamily="34" charset="0"/>
              <a:buChar char="•"/>
            </a:pPr>
            <a:r>
              <a:rPr lang="zh-CN" altLang="en-US" sz="1200" b="1" i="0" dirty="0">
                <a:solidFill>
                  <a:srgbClr val="000000"/>
                </a:solidFill>
                <a:effectLst/>
                <a:latin typeface="Inter"/>
              </a:rPr>
              <a:t>算法 </a:t>
            </a:r>
            <a:r>
              <a:rPr lang="en-US" altLang="zh-CN" sz="1200" b="1" i="0" dirty="0">
                <a:solidFill>
                  <a:srgbClr val="000000"/>
                </a:solidFill>
                <a:effectLst/>
                <a:latin typeface="Inter"/>
              </a:rPr>
              <a:t>1</a:t>
            </a:r>
            <a:r>
              <a:rPr lang="zh-CN" altLang="en-US" sz="1200" b="1" i="0" dirty="0">
                <a:solidFill>
                  <a:srgbClr val="000000"/>
                </a:solidFill>
                <a:effectLst/>
                <a:latin typeface="Inter"/>
              </a:rPr>
              <a:t>（传统配对）</a:t>
            </a:r>
            <a:r>
              <a:rPr lang="zh-CN" altLang="en-US" sz="1200" b="0" i="0" dirty="0">
                <a:solidFill>
                  <a:srgbClr val="000000"/>
                </a:solidFill>
                <a:effectLst/>
                <a:latin typeface="Inter"/>
              </a:rPr>
              <a:t>：适用于低性能设备，安全性较低，使用 </a:t>
            </a:r>
            <a:r>
              <a:rPr lang="en-US" altLang="zh-CN" sz="1200" b="0" i="0" dirty="0">
                <a:solidFill>
                  <a:srgbClr val="000000"/>
                </a:solidFill>
                <a:effectLst/>
                <a:latin typeface="Inter"/>
              </a:rPr>
              <a:t>E0 </a:t>
            </a:r>
            <a:r>
              <a:rPr lang="zh-CN" altLang="en-US" sz="1200" b="0" i="0" dirty="0">
                <a:solidFill>
                  <a:srgbClr val="000000"/>
                </a:solidFill>
                <a:effectLst/>
                <a:latin typeface="Inter"/>
              </a:rPr>
              <a:t>加密算法；</a:t>
            </a:r>
          </a:p>
          <a:p>
            <a:pPr marL="742950" lvl="1" indent="-285750" algn="l">
              <a:buFont typeface="Arial" panose="020B0604020202020204" pitchFamily="34" charset="0"/>
              <a:buChar char="•"/>
            </a:pPr>
            <a:r>
              <a:rPr lang="zh-CN" altLang="en-US" sz="1200" b="1" i="0" dirty="0">
                <a:solidFill>
                  <a:srgbClr val="000000"/>
                </a:solidFill>
                <a:effectLst/>
                <a:latin typeface="Inter"/>
              </a:rPr>
              <a:t>算法 </a:t>
            </a:r>
            <a:r>
              <a:rPr lang="en-US" altLang="zh-CN" sz="1200" b="1" i="0" dirty="0">
                <a:solidFill>
                  <a:srgbClr val="000000"/>
                </a:solidFill>
                <a:effectLst/>
                <a:latin typeface="Inter"/>
              </a:rPr>
              <a:t>2</a:t>
            </a:r>
            <a:r>
              <a:rPr lang="zh-CN" altLang="en-US" sz="1200" b="1" i="0" dirty="0">
                <a:solidFill>
                  <a:srgbClr val="000000"/>
                </a:solidFill>
                <a:effectLst/>
                <a:latin typeface="Inter"/>
              </a:rPr>
              <a:t>（安全连接配对）</a:t>
            </a:r>
            <a:r>
              <a:rPr lang="zh-CN" altLang="en-US" sz="1200" b="0" i="0" dirty="0">
                <a:solidFill>
                  <a:srgbClr val="000000"/>
                </a:solidFill>
                <a:effectLst/>
                <a:latin typeface="Inter"/>
              </a:rPr>
              <a:t>：基于椭圆曲线加密（</a:t>
            </a:r>
            <a:r>
              <a:rPr lang="en-US" altLang="zh-CN" sz="1200" b="0" i="0" dirty="0">
                <a:solidFill>
                  <a:srgbClr val="000000"/>
                </a:solidFill>
                <a:effectLst/>
                <a:latin typeface="Inter"/>
              </a:rPr>
              <a:t>ECC</a:t>
            </a:r>
            <a:r>
              <a:rPr lang="zh-CN" altLang="en-US" sz="1200" b="0" i="0" dirty="0">
                <a:solidFill>
                  <a:srgbClr val="000000"/>
                </a:solidFill>
                <a:effectLst/>
                <a:latin typeface="Inter"/>
              </a:rPr>
              <a:t>），支持 </a:t>
            </a:r>
            <a:r>
              <a:rPr lang="en-US" altLang="zh-CN" sz="1200" b="0" i="0" dirty="0">
                <a:solidFill>
                  <a:srgbClr val="000000"/>
                </a:solidFill>
                <a:effectLst/>
                <a:latin typeface="Inter"/>
              </a:rPr>
              <a:t>AES-CCM </a:t>
            </a:r>
            <a:r>
              <a:rPr lang="zh-CN" altLang="en-US" sz="1200" b="0" i="0" dirty="0">
                <a:solidFill>
                  <a:srgbClr val="000000"/>
                </a:solidFill>
                <a:effectLst/>
                <a:latin typeface="Inter"/>
              </a:rPr>
              <a:t>加密，安全性更高，是 </a:t>
            </a:r>
            <a:r>
              <a:rPr lang="en-US" altLang="zh-CN" sz="1200" b="0" i="0" dirty="0">
                <a:solidFill>
                  <a:srgbClr val="000000"/>
                </a:solidFill>
                <a:effectLst/>
                <a:latin typeface="Inter"/>
              </a:rPr>
              <a:t>v5.4 </a:t>
            </a:r>
            <a:r>
              <a:rPr lang="zh-CN" altLang="en-US" sz="1200" b="0" i="0" dirty="0">
                <a:solidFill>
                  <a:srgbClr val="000000"/>
                </a:solidFill>
                <a:effectLst/>
                <a:latin typeface="Inter"/>
              </a:rPr>
              <a:t>推荐的配对方式；</a:t>
            </a:r>
          </a:p>
          <a:p>
            <a:pPr algn="l">
              <a:buFont typeface="Arial" panose="020B0604020202020204" pitchFamily="34" charset="0"/>
              <a:buChar char="•"/>
            </a:pPr>
            <a:r>
              <a:rPr lang="zh-CN" altLang="en-US" sz="1200" b="1" i="0" dirty="0">
                <a:solidFill>
                  <a:srgbClr val="000000"/>
                </a:solidFill>
                <a:effectLst/>
                <a:latin typeface="Inter"/>
              </a:rPr>
              <a:t>重复尝试限制（</a:t>
            </a:r>
            <a:r>
              <a:rPr lang="en-US" altLang="zh-CN" sz="1200" b="1" i="0" dirty="0">
                <a:solidFill>
                  <a:srgbClr val="000000"/>
                </a:solidFill>
                <a:effectLst/>
                <a:latin typeface="Inter"/>
              </a:rPr>
              <a:t>Repeated Attempts</a:t>
            </a:r>
            <a:r>
              <a:rPr lang="zh-CN" altLang="en-US" sz="1200" b="1" i="0" dirty="0">
                <a:solidFill>
                  <a:srgbClr val="000000"/>
                </a:solidFill>
                <a:effectLst/>
                <a:latin typeface="Inter"/>
              </a:rPr>
              <a:t>）</a:t>
            </a:r>
            <a:r>
              <a:rPr lang="zh-CN" altLang="en-US" sz="1200" b="0" i="0" dirty="0">
                <a:solidFill>
                  <a:srgbClr val="000000"/>
                </a:solidFill>
                <a:effectLst/>
                <a:latin typeface="Inter"/>
              </a:rPr>
              <a:t>：防止暴力破解，规定配对失败次数达到阈值后，设备需等待一定时间才能重新发起配对</a:t>
            </a:r>
          </a:p>
        </p:txBody>
      </p:sp>
      <p:pic>
        <p:nvPicPr>
          <p:cNvPr id="5" name="图片 4" descr="图示, 文本&#10;&#10;AI 生成的内容可能不正确。">
            <a:extLst>
              <a:ext uri="{FF2B5EF4-FFF2-40B4-BE49-F238E27FC236}">
                <a16:creationId xmlns:a16="http://schemas.microsoft.com/office/drawing/2014/main" id="{2C88CF64-C72C-DDA1-52D2-44DD78AF9BE6}"/>
              </a:ext>
            </a:extLst>
          </p:cNvPr>
          <p:cNvPicPr>
            <a:picLocks noChangeAspect="1"/>
          </p:cNvPicPr>
          <p:nvPr/>
        </p:nvPicPr>
        <p:blipFill>
          <a:blip r:embed="rId2"/>
          <a:stretch>
            <a:fillRect/>
          </a:stretch>
        </p:blipFill>
        <p:spPr>
          <a:xfrm>
            <a:off x="407504" y="2439792"/>
            <a:ext cx="4219161" cy="1957754"/>
          </a:xfrm>
          <a:prstGeom prst="rect">
            <a:avLst/>
          </a:prstGeom>
        </p:spPr>
      </p:pic>
      <p:sp>
        <p:nvSpPr>
          <p:cNvPr id="7" name="文本框 6">
            <a:extLst>
              <a:ext uri="{FF2B5EF4-FFF2-40B4-BE49-F238E27FC236}">
                <a16:creationId xmlns:a16="http://schemas.microsoft.com/office/drawing/2014/main" id="{8F7D6124-F0D2-3770-27CF-7FFC4AA7499D}"/>
              </a:ext>
            </a:extLst>
          </p:cNvPr>
          <p:cNvSpPr txBox="1"/>
          <p:nvPr/>
        </p:nvSpPr>
        <p:spPr>
          <a:xfrm>
            <a:off x="4626665" y="2439889"/>
            <a:ext cx="4301744" cy="1754326"/>
          </a:xfrm>
          <a:prstGeom prst="rect">
            <a:avLst/>
          </a:prstGeom>
          <a:noFill/>
        </p:spPr>
        <p:txBody>
          <a:bodyPr wrap="square">
            <a:spAutoFit/>
          </a:bodyPr>
          <a:lstStyle/>
          <a:p>
            <a:r>
              <a:rPr lang="zh-CN" altLang="en-US" sz="1200" dirty="0"/>
              <a:t>这是蓝牙 </a:t>
            </a:r>
            <a:r>
              <a:rPr lang="en-US" altLang="zh-CN" sz="1200" dirty="0"/>
              <a:t>SMP </a:t>
            </a:r>
            <a:r>
              <a:rPr lang="zh-CN" altLang="en-US" sz="1200" dirty="0"/>
              <a:t>配对的</a:t>
            </a:r>
            <a:r>
              <a:rPr lang="zh-CN" altLang="en-US" sz="1200" dirty="0">
                <a:solidFill>
                  <a:srgbClr val="000000"/>
                </a:solidFill>
                <a:effectLst/>
                <a:latin typeface="Inter"/>
              </a:rPr>
              <a:t>完整流程总览图</a:t>
            </a:r>
            <a:r>
              <a:rPr lang="zh-CN" altLang="en-US" sz="1200" dirty="0"/>
              <a:t>，划分了配对过程的四个核心阶段</a:t>
            </a:r>
            <a:endParaRPr lang="en-US" altLang="zh-CN" sz="1200" dirty="0"/>
          </a:p>
          <a:p>
            <a:pPr marL="171450" indent="-171450">
              <a:buFont typeface="Arial" panose="020B0604020202020204" pitchFamily="34" charset="0"/>
              <a:buChar char="•"/>
            </a:pPr>
            <a:r>
              <a:rPr lang="en-US" altLang="zh-CN" sz="1200" dirty="0"/>
              <a:t>Step 1: Pairing Feature Exchange</a:t>
            </a:r>
            <a:r>
              <a:rPr lang="zh-CN" altLang="en-US" sz="1200" dirty="0"/>
              <a:t>（配对特征交换）</a:t>
            </a:r>
            <a:endParaRPr lang="en-US" altLang="zh-CN" sz="1200" dirty="0"/>
          </a:p>
          <a:p>
            <a:pPr marL="171450" indent="-171450">
              <a:buFont typeface="Arial" panose="020B0604020202020204" pitchFamily="34" charset="0"/>
              <a:buChar char="•"/>
            </a:pPr>
            <a:r>
              <a:rPr lang="en-US" altLang="zh-CN" sz="1200" dirty="0"/>
              <a:t>Step 2: Optional Short Term Key (STK) Generation</a:t>
            </a:r>
            <a:r>
              <a:rPr lang="zh-CN" altLang="en-US" sz="1200" dirty="0"/>
              <a:t>（可选的短期密钥生成）</a:t>
            </a:r>
            <a:endParaRPr lang="en-US" altLang="zh-CN" sz="1200" dirty="0"/>
          </a:p>
          <a:p>
            <a:pPr marL="171450" indent="-171450">
              <a:buFont typeface="Arial" panose="020B0604020202020204" pitchFamily="34" charset="0"/>
              <a:buChar char="•"/>
            </a:pPr>
            <a:r>
              <a:rPr lang="en-US" altLang="zh-CN" sz="1200" dirty="0"/>
              <a:t>Step 3: Encrypt Link Using Generated STK</a:t>
            </a:r>
            <a:r>
              <a:rPr lang="zh-CN" altLang="en-US" sz="1200" dirty="0"/>
              <a:t>（使用 </a:t>
            </a:r>
            <a:r>
              <a:rPr lang="en-US" altLang="zh-CN" sz="1200" dirty="0"/>
              <a:t>STK </a:t>
            </a:r>
            <a:r>
              <a:rPr lang="zh-CN" altLang="en-US" sz="1200" dirty="0"/>
              <a:t>加密链路）</a:t>
            </a:r>
            <a:endParaRPr lang="en-US" altLang="zh-CN" sz="1200" dirty="0"/>
          </a:p>
          <a:p>
            <a:pPr marL="171450" indent="-171450">
              <a:buFont typeface="Arial" panose="020B0604020202020204" pitchFamily="34" charset="0"/>
              <a:buChar char="•"/>
            </a:pPr>
            <a:r>
              <a:rPr lang="en-US" altLang="zh-CN" sz="1200" dirty="0"/>
              <a:t>Step 4: Transport Specific Key Distribution</a:t>
            </a:r>
            <a:r>
              <a:rPr lang="zh-CN" altLang="en-US" sz="1200" dirty="0"/>
              <a:t>（传输层密钥分发）</a:t>
            </a:r>
          </a:p>
        </p:txBody>
      </p:sp>
    </p:spTree>
    <p:extLst>
      <p:ext uri="{BB962C8B-B14F-4D97-AF65-F5344CB8AC3E}">
        <p14:creationId xmlns:p14="http://schemas.microsoft.com/office/powerpoint/2010/main" val="18828524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C90A8-4221-4A1C-5A63-08C8FE9F644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65AE8B-7A56-F73A-C00D-6A52ED0E0CF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的核心功能模块</a:t>
            </a:r>
            <a:r>
              <a:rPr lang="en-US" altLang="zh-CN" sz="2400" b="1" spc="-38" dirty="0">
                <a:solidFill>
                  <a:srgbClr val="DFC27B"/>
                </a:solidFill>
                <a:latin typeface="Calibri" panose="020F0502020204030204" pitchFamily="34" charset="0"/>
                <a:cs typeface="Calibri" panose="020F0502020204030204" pitchFamily="34" charset="0"/>
              </a:rPr>
              <a:t>-LE</a:t>
            </a:r>
            <a:r>
              <a:rPr lang="zh-CN" altLang="en-US" sz="2400" b="1" spc="-38" dirty="0">
                <a:solidFill>
                  <a:srgbClr val="DFC27B"/>
                </a:solidFill>
                <a:latin typeface="Calibri" panose="020F0502020204030204" pitchFamily="34" charset="0"/>
                <a:cs typeface="Calibri" panose="020F0502020204030204" pitchFamily="34" charset="0"/>
              </a:rPr>
              <a:t>安全机制</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7FFB79BE-9833-D301-267D-DFA13C4D20A4}"/>
              </a:ext>
            </a:extLst>
          </p:cNvPr>
          <p:cNvSpPr txBox="1"/>
          <p:nvPr/>
        </p:nvSpPr>
        <p:spPr>
          <a:xfrm>
            <a:off x="215591" y="923776"/>
            <a:ext cx="8745530" cy="3150030"/>
          </a:xfrm>
          <a:prstGeom prst="rect">
            <a:avLst/>
          </a:prstGeom>
          <a:noFill/>
        </p:spPr>
        <p:txBody>
          <a:bodyPr wrap="square">
            <a:spAutoFit/>
          </a:bodyPr>
          <a:lstStyle/>
          <a:p>
            <a:pPr algn="l">
              <a:lnSpc>
                <a:spcPts val="1800"/>
              </a:lnSpc>
              <a:buNone/>
            </a:pPr>
            <a:r>
              <a:rPr lang="zh-CN" altLang="en-US" sz="1200" b="0" i="0" dirty="0">
                <a:solidFill>
                  <a:srgbClr val="000000"/>
                </a:solidFill>
                <a:effectLst/>
                <a:latin typeface="Inter"/>
              </a:rPr>
              <a:t>详细说明 </a:t>
            </a:r>
            <a:r>
              <a:rPr lang="en-US" altLang="zh-CN" sz="1200" b="0" i="0" dirty="0">
                <a:solidFill>
                  <a:srgbClr val="000000"/>
                </a:solidFill>
                <a:effectLst/>
                <a:latin typeface="Inter"/>
              </a:rPr>
              <a:t>LE </a:t>
            </a:r>
            <a:r>
              <a:rPr lang="zh-CN" altLang="en-US" sz="1200" b="0" i="0" dirty="0">
                <a:solidFill>
                  <a:srgbClr val="000000"/>
                </a:solidFill>
                <a:effectLst/>
                <a:latin typeface="Inter"/>
              </a:rPr>
              <a:t>系统的安全核心流程，包括：</a:t>
            </a:r>
          </a:p>
          <a:p>
            <a:pPr algn="l">
              <a:lnSpc>
                <a:spcPts val="1800"/>
              </a:lnSpc>
              <a:spcBef>
                <a:spcPts val="600"/>
              </a:spcBef>
              <a:spcAft>
                <a:spcPts val="600"/>
              </a:spcAft>
              <a:buFont typeface="Arial" panose="020B0604020202020204" pitchFamily="34" charset="0"/>
              <a:buChar char="•"/>
            </a:pPr>
            <a:r>
              <a:rPr lang="zh-CN" altLang="en-US" sz="1200" b="1" i="0" dirty="0">
                <a:solidFill>
                  <a:srgbClr val="000000"/>
                </a:solidFill>
                <a:effectLst/>
                <a:latin typeface="Inter"/>
              </a:rPr>
              <a:t>密钥定义与生成</a:t>
            </a:r>
            <a:r>
              <a:rPr lang="zh-CN" altLang="en-US" sz="1200" b="0" i="0" dirty="0">
                <a:solidFill>
                  <a:srgbClr val="000000"/>
                </a:solidFill>
                <a:effectLst/>
                <a:latin typeface="Inter"/>
              </a:rPr>
              <a:t>：</a:t>
            </a:r>
            <a:endParaRPr lang="en-US" altLang="zh-CN" sz="1200" b="0" i="0" dirty="0">
              <a:solidFill>
                <a:srgbClr val="000000"/>
              </a:solidFill>
              <a:effectLst/>
              <a:latin typeface="Inter"/>
            </a:endParaRPr>
          </a:p>
          <a:p>
            <a:pPr lvl="1">
              <a:lnSpc>
                <a:spcPts val="1800"/>
              </a:lnSpc>
              <a:spcBef>
                <a:spcPts val="600"/>
              </a:spcBef>
              <a:spcAft>
                <a:spcPts val="600"/>
              </a:spcAft>
              <a:buFont typeface="Arial" panose="020B0604020202020204" pitchFamily="34" charset="0"/>
              <a:buChar char="•"/>
            </a:pPr>
            <a:r>
              <a:rPr lang="zh-CN" altLang="en-US" sz="1200" b="0" i="0" dirty="0">
                <a:solidFill>
                  <a:srgbClr val="000000"/>
                </a:solidFill>
                <a:effectLst/>
                <a:latin typeface="Inter"/>
              </a:rPr>
              <a:t>定义 </a:t>
            </a:r>
            <a:r>
              <a:rPr lang="en-US" altLang="zh-CN" sz="1200" b="0" i="0" dirty="0">
                <a:solidFill>
                  <a:srgbClr val="000000"/>
                </a:solidFill>
                <a:effectLst/>
                <a:latin typeface="Inter"/>
              </a:rPr>
              <a:t>5 </a:t>
            </a:r>
            <a:r>
              <a:rPr lang="zh-CN" altLang="en-US" sz="1200" b="0" i="0" dirty="0">
                <a:solidFill>
                  <a:srgbClr val="000000"/>
                </a:solidFill>
                <a:effectLst/>
                <a:latin typeface="Inter"/>
              </a:rPr>
              <a:t>类核心密钥：临时密钥（</a:t>
            </a:r>
            <a:r>
              <a:rPr lang="en-US" altLang="zh-CN" sz="1200" b="0" i="0" dirty="0">
                <a:solidFill>
                  <a:srgbClr val="000000"/>
                </a:solidFill>
                <a:effectLst/>
                <a:latin typeface="Inter"/>
              </a:rPr>
              <a:t>TK</a:t>
            </a:r>
            <a:r>
              <a:rPr lang="zh-CN" altLang="en-US" sz="1200" b="0" i="0" dirty="0">
                <a:solidFill>
                  <a:srgbClr val="000000"/>
                </a:solidFill>
                <a:effectLst/>
                <a:latin typeface="Inter"/>
              </a:rPr>
              <a:t>）、长期密钥（</a:t>
            </a:r>
            <a:r>
              <a:rPr lang="en-US" altLang="zh-CN" sz="1200" b="0" i="0" dirty="0">
                <a:solidFill>
                  <a:srgbClr val="000000"/>
                </a:solidFill>
                <a:effectLst/>
                <a:latin typeface="Inter"/>
              </a:rPr>
              <a:t>LTK</a:t>
            </a:r>
            <a:r>
              <a:rPr lang="zh-CN" altLang="en-US" sz="1200" b="0" i="0" dirty="0">
                <a:solidFill>
                  <a:srgbClr val="000000"/>
                </a:solidFill>
                <a:effectLst/>
                <a:latin typeface="Inter"/>
              </a:rPr>
              <a:t>）、身份解析密钥（</a:t>
            </a:r>
            <a:r>
              <a:rPr lang="en-US" altLang="zh-CN" sz="1200" b="0" i="0" dirty="0">
                <a:solidFill>
                  <a:srgbClr val="000000"/>
                </a:solidFill>
                <a:effectLst/>
                <a:latin typeface="Inter"/>
              </a:rPr>
              <a:t>IRK</a:t>
            </a:r>
            <a:r>
              <a:rPr lang="zh-CN" altLang="en-US" sz="1200" b="0" i="0" dirty="0">
                <a:solidFill>
                  <a:srgbClr val="000000"/>
                </a:solidFill>
                <a:effectLst/>
                <a:latin typeface="Inter"/>
              </a:rPr>
              <a:t>）、连接签名密钥（</a:t>
            </a:r>
            <a:r>
              <a:rPr lang="en-US" altLang="zh-CN" sz="1200" b="0" i="0" dirty="0">
                <a:solidFill>
                  <a:srgbClr val="000000"/>
                </a:solidFill>
                <a:effectLst/>
                <a:latin typeface="Inter"/>
              </a:rPr>
              <a:t>CSRK</a:t>
            </a:r>
            <a:r>
              <a:rPr lang="zh-CN" altLang="en-US" sz="1200" b="0" i="0" dirty="0">
                <a:solidFill>
                  <a:srgbClr val="000000"/>
                </a:solidFill>
                <a:effectLst/>
                <a:latin typeface="Inter"/>
              </a:rPr>
              <a:t>）、设备身份密钥（</a:t>
            </a:r>
            <a:r>
              <a:rPr lang="en-US" altLang="zh-CN" sz="1200" b="0" i="0" dirty="0">
                <a:solidFill>
                  <a:srgbClr val="000000"/>
                </a:solidFill>
                <a:effectLst/>
                <a:latin typeface="Inter"/>
              </a:rPr>
              <a:t>DIK</a:t>
            </a:r>
            <a:r>
              <a:rPr lang="zh-CN" altLang="en-US" sz="1200" b="0" i="0" dirty="0">
                <a:solidFill>
                  <a:srgbClr val="000000"/>
                </a:solidFill>
                <a:effectLst/>
                <a:latin typeface="Inter"/>
              </a:rPr>
              <a:t>）；</a:t>
            </a:r>
            <a:endParaRPr lang="en-US" altLang="zh-CN" sz="1200" b="0" i="0" dirty="0">
              <a:solidFill>
                <a:srgbClr val="000000"/>
              </a:solidFill>
              <a:effectLst/>
              <a:latin typeface="Inter"/>
            </a:endParaRPr>
          </a:p>
          <a:p>
            <a:pPr lvl="1">
              <a:lnSpc>
                <a:spcPts val="1800"/>
              </a:lnSpc>
              <a:spcBef>
                <a:spcPts val="600"/>
              </a:spcBef>
              <a:spcAft>
                <a:spcPts val="600"/>
              </a:spcAft>
              <a:buFont typeface="Arial" panose="020B0604020202020204" pitchFamily="34" charset="0"/>
              <a:buChar char="•"/>
            </a:pPr>
            <a:r>
              <a:rPr lang="zh-CN" altLang="en-US" sz="1200" b="0" i="0" dirty="0">
                <a:solidFill>
                  <a:srgbClr val="000000"/>
                </a:solidFill>
                <a:effectLst/>
                <a:latin typeface="Inter"/>
              </a:rPr>
              <a:t>密钥生成逻辑：例如 </a:t>
            </a:r>
            <a:r>
              <a:rPr lang="en-US" altLang="zh-CN" sz="1200" b="0" i="0" dirty="0">
                <a:solidFill>
                  <a:srgbClr val="000000"/>
                </a:solidFill>
                <a:effectLst/>
                <a:latin typeface="Inter"/>
              </a:rPr>
              <a:t>LTK </a:t>
            </a:r>
            <a:r>
              <a:rPr lang="zh-CN" altLang="en-US" sz="1200" b="0" i="0" dirty="0">
                <a:solidFill>
                  <a:srgbClr val="000000"/>
                </a:solidFill>
                <a:effectLst/>
                <a:latin typeface="Inter"/>
              </a:rPr>
              <a:t>由配对双方通过 </a:t>
            </a:r>
            <a:r>
              <a:rPr lang="en-US" altLang="zh-CN" sz="1200" b="0" i="0" dirty="0">
                <a:solidFill>
                  <a:srgbClr val="000000"/>
                </a:solidFill>
                <a:effectLst/>
                <a:latin typeface="Inter"/>
              </a:rPr>
              <a:t>ECC </a:t>
            </a:r>
            <a:r>
              <a:rPr lang="zh-CN" altLang="en-US" sz="1200" b="0" i="0" dirty="0">
                <a:solidFill>
                  <a:srgbClr val="000000"/>
                </a:solidFill>
                <a:effectLst/>
                <a:latin typeface="Inter"/>
              </a:rPr>
              <a:t>密钥交换（安全连接）或预共享 </a:t>
            </a:r>
            <a:r>
              <a:rPr lang="en-US" altLang="zh-CN" sz="1200" b="0" i="0" dirty="0">
                <a:solidFill>
                  <a:srgbClr val="000000"/>
                </a:solidFill>
                <a:effectLst/>
                <a:latin typeface="Inter"/>
              </a:rPr>
              <a:t>TK</a:t>
            </a:r>
            <a:r>
              <a:rPr lang="zh-CN" altLang="en-US" sz="1200" b="0" i="0" dirty="0">
                <a:solidFill>
                  <a:srgbClr val="000000"/>
                </a:solidFill>
                <a:effectLst/>
                <a:latin typeface="Inter"/>
              </a:rPr>
              <a:t>（传统配对）衍生；</a:t>
            </a:r>
          </a:p>
          <a:p>
            <a:pPr algn="l">
              <a:lnSpc>
                <a:spcPts val="1800"/>
              </a:lnSpc>
              <a:spcBef>
                <a:spcPts val="600"/>
              </a:spcBef>
              <a:spcAft>
                <a:spcPts val="600"/>
              </a:spcAft>
              <a:buFont typeface="Arial" panose="020B0604020202020204" pitchFamily="34" charset="0"/>
              <a:buChar char="•"/>
            </a:pPr>
            <a:r>
              <a:rPr lang="zh-CN" altLang="en-US" sz="1200" b="1" i="0" dirty="0">
                <a:solidFill>
                  <a:srgbClr val="000000"/>
                </a:solidFill>
                <a:effectLst/>
                <a:latin typeface="Inter"/>
              </a:rPr>
              <a:t>密钥分发</a:t>
            </a:r>
            <a:r>
              <a:rPr lang="zh-CN" altLang="en-US" sz="1200" b="0" i="0" dirty="0">
                <a:solidFill>
                  <a:srgbClr val="000000"/>
                </a:solidFill>
                <a:effectLst/>
                <a:latin typeface="Inter"/>
              </a:rPr>
              <a:t>：通过 </a:t>
            </a:r>
            <a:r>
              <a:rPr lang="en-US" altLang="zh-CN" sz="1200" b="0" i="0" dirty="0">
                <a:solidFill>
                  <a:srgbClr val="000000"/>
                </a:solidFill>
                <a:effectLst/>
                <a:latin typeface="Inter"/>
              </a:rPr>
              <a:t>SMP </a:t>
            </a:r>
            <a:r>
              <a:rPr lang="zh-CN" altLang="en-US" sz="1200" b="0" i="0" dirty="0">
                <a:solidFill>
                  <a:srgbClr val="000000"/>
                </a:solidFill>
                <a:effectLst/>
                <a:latin typeface="Inter"/>
              </a:rPr>
              <a:t>协议将 </a:t>
            </a:r>
            <a:r>
              <a:rPr lang="en-US" altLang="zh-CN" sz="1200" b="0" i="0" dirty="0">
                <a:solidFill>
                  <a:srgbClr val="000000"/>
                </a:solidFill>
                <a:effectLst/>
                <a:latin typeface="Inter"/>
              </a:rPr>
              <a:t>LTK</a:t>
            </a:r>
            <a:r>
              <a:rPr lang="zh-CN" altLang="en-US" sz="1200" b="0" i="0" dirty="0">
                <a:solidFill>
                  <a:srgbClr val="000000"/>
                </a:solidFill>
                <a:effectLst/>
                <a:latin typeface="Inter"/>
              </a:rPr>
              <a:t>、</a:t>
            </a:r>
            <a:r>
              <a:rPr lang="en-US" altLang="zh-CN" sz="1200" b="0" i="0" dirty="0">
                <a:solidFill>
                  <a:srgbClr val="000000"/>
                </a:solidFill>
                <a:effectLst/>
                <a:latin typeface="Inter"/>
              </a:rPr>
              <a:t>IRK </a:t>
            </a:r>
            <a:r>
              <a:rPr lang="zh-CN" altLang="en-US" sz="1200" b="0" i="0" dirty="0">
                <a:solidFill>
                  <a:srgbClr val="000000"/>
                </a:solidFill>
                <a:effectLst/>
                <a:latin typeface="Inter"/>
              </a:rPr>
              <a:t>等密钥存储到设备的 “解析列表（</a:t>
            </a:r>
            <a:r>
              <a:rPr lang="en-US" altLang="zh-CN" sz="1200" b="0" i="0" dirty="0">
                <a:solidFill>
                  <a:srgbClr val="000000"/>
                </a:solidFill>
                <a:effectLst/>
                <a:latin typeface="Inter"/>
              </a:rPr>
              <a:t>Resolving List</a:t>
            </a:r>
            <a:r>
              <a:rPr lang="zh-CN" altLang="en-US" sz="1200" b="0" i="0" dirty="0">
                <a:solidFill>
                  <a:srgbClr val="000000"/>
                </a:solidFill>
                <a:effectLst/>
                <a:latin typeface="Inter"/>
              </a:rPr>
              <a:t>）”，用于后续连接的自动加密；</a:t>
            </a:r>
          </a:p>
          <a:p>
            <a:pPr algn="l">
              <a:lnSpc>
                <a:spcPts val="1800"/>
              </a:lnSpc>
              <a:spcBef>
                <a:spcPts val="600"/>
              </a:spcBef>
              <a:spcAft>
                <a:spcPts val="600"/>
              </a:spcAft>
              <a:buFont typeface="Arial" panose="020B0604020202020204" pitchFamily="34" charset="0"/>
              <a:buChar char="•"/>
            </a:pPr>
            <a:r>
              <a:rPr lang="zh-CN" altLang="en-US" sz="1200" b="1" i="0" dirty="0">
                <a:solidFill>
                  <a:srgbClr val="000000"/>
                </a:solidFill>
                <a:effectLst/>
                <a:latin typeface="Inter"/>
              </a:rPr>
              <a:t>加密会话建立</a:t>
            </a:r>
            <a:r>
              <a:rPr lang="zh-CN" altLang="en-US" sz="1200" b="0" i="0" dirty="0">
                <a:solidFill>
                  <a:srgbClr val="000000"/>
                </a:solidFill>
                <a:effectLst/>
                <a:latin typeface="Inter"/>
              </a:rPr>
              <a:t>：配对完成后，通过 </a:t>
            </a:r>
            <a:r>
              <a:rPr lang="en-US" altLang="zh-CN" sz="1200" b="0" i="0" dirty="0" err="1">
                <a:solidFill>
                  <a:srgbClr val="000000"/>
                </a:solidFill>
                <a:effectLst/>
                <a:latin typeface="Inter"/>
              </a:rPr>
              <a:t>LL_Encrypt_Enable</a:t>
            </a:r>
            <a:r>
              <a:rPr lang="en-US" altLang="zh-CN" sz="1200" b="0" i="0" dirty="0">
                <a:solidFill>
                  <a:srgbClr val="000000"/>
                </a:solidFill>
                <a:effectLst/>
                <a:latin typeface="Inter"/>
              </a:rPr>
              <a:t> </a:t>
            </a:r>
            <a:r>
              <a:rPr lang="zh-CN" altLang="en-US" sz="1200" b="0" i="0" dirty="0">
                <a:solidFill>
                  <a:srgbClr val="000000"/>
                </a:solidFill>
                <a:effectLst/>
                <a:latin typeface="Inter"/>
              </a:rPr>
              <a:t>命令启用加密，使用 </a:t>
            </a:r>
            <a:r>
              <a:rPr lang="en-US" altLang="zh-CN" sz="1200" b="0" i="0" dirty="0">
                <a:solidFill>
                  <a:srgbClr val="000000"/>
                </a:solidFill>
                <a:effectLst/>
                <a:latin typeface="Inter"/>
              </a:rPr>
              <a:t>LTK </a:t>
            </a:r>
            <a:r>
              <a:rPr lang="zh-CN" altLang="en-US" sz="1200" b="0" i="0" dirty="0">
                <a:solidFill>
                  <a:srgbClr val="000000"/>
                </a:solidFill>
                <a:effectLst/>
                <a:latin typeface="Inter"/>
              </a:rPr>
              <a:t>生成会话密钥（</a:t>
            </a:r>
            <a:r>
              <a:rPr lang="en-US" altLang="zh-CN" sz="1200" b="0" i="0" dirty="0" err="1">
                <a:solidFill>
                  <a:srgbClr val="000000"/>
                </a:solidFill>
                <a:effectLst/>
                <a:latin typeface="Inter"/>
              </a:rPr>
              <a:t>K_session</a:t>
            </a:r>
            <a:r>
              <a:rPr lang="zh-CN" altLang="en-US" sz="1200" b="0" i="0" dirty="0">
                <a:solidFill>
                  <a:srgbClr val="000000"/>
                </a:solidFill>
                <a:effectLst/>
                <a:latin typeface="Inter"/>
              </a:rPr>
              <a:t>）；</a:t>
            </a:r>
          </a:p>
          <a:p>
            <a:pPr algn="l">
              <a:lnSpc>
                <a:spcPts val="1800"/>
              </a:lnSpc>
              <a:spcBef>
                <a:spcPts val="600"/>
              </a:spcBef>
              <a:spcAft>
                <a:spcPts val="600"/>
              </a:spcAft>
              <a:buFont typeface="Arial" panose="020B0604020202020204" pitchFamily="34" charset="0"/>
              <a:buChar char="•"/>
            </a:pPr>
            <a:r>
              <a:rPr lang="zh-CN" altLang="en-US" sz="1200" b="1" i="0" dirty="0">
                <a:solidFill>
                  <a:srgbClr val="000000"/>
                </a:solidFill>
                <a:effectLst/>
                <a:latin typeface="Inter"/>
              </a:rPr>
              <a:t>数据签名</a:t>
            </a:r>
            <a:r>
              <a:rPr lang="zh-CN" altLang="en-US" sz="1200" b="0" i="0" dirty="0">
                <a:solidFill>
                  <a:srgbClr val="000000"/>
                </a:solidFill>
                <a:effectLst/>
                <a:latin typeface="Inter"/>
              </a:rPr>
              <a:t>：支持使用 </a:t>
            </a:r>
            <a:r>
              <a:rPr lang="en-US" altLang="zh-CN" sz="1200" b="0" i="0" dirty="0">
                <a:solidFill>
                  <a:srgbClr val="000000"/>
                </a:solidFill>
                <a:effectLst/>
                <a:latin typeface="Inter"/>
              </a:rPr>
              <a:t>CSRK </a:t>
            </a:r>
            <a:r>
              <a:rPr lang="zh-CN" altLang="en-US" sz="1200" b="0" i="0" dirty="0">
                <a:solidFill>
                  <a:srgbClr val="000000"/>
                </a:solidFill>
                <a:effectLst/>
                <a:latin typeface="Inter"/>
              </a:rPr>
              <a:t>对数据进行签名，防止数据篡改或伪造（如广播数据的完整性校验）；</a:t>
            </a:r>
          </a:p>
          <a:p>
            <a:pPr algn="l">
              <a:lnSpc>
                <a:spcPts val="1800"/>
              </a:lnSpc>
              <a:spcBef>
                <a:spcPts val="600"/>
              </a:spcBef>
              <a:spcAft>
                <a:spcPts val="600"/>
              </a:spcAft>
              <a:buFont typeface="Arial" panose="020B0604020202020204" pitchFamily="34" charset="0"/>
              <a:buChar char="•"/>
            </a:pPr>
            <a:r>
              <a:rPr lang="zh-CN" altLang="en-US" sz="1200" b="1" i="0" dirty="0">
                <a:solidFill>
                  <a:srgbClr val="000000"/>
                </a:solidFill>
                <a:effectLst/>
                <a:latin typeface="Inter"/>
              </a:rPr>
              <a:t>隐私特性</a:t>
            </a:r>
            <a:r>
              <a:rPr lang="zh-CN" altLang="en-US" sz="1200" b="0" i="0" dirty="0">
                <a:solidFill>
                  <a:srgbClr val="000000"/>
                </a:solidFill>
                <a:effectLst/>
                <a:latin typeface="Inter"/>
              </a:rPr>
              <a:t>：通过 </a:t>
            </a:r>
            <a:r>
              <a:rPr lang="en-US" altLang="zh-CN" sz="1200" b="0" i="0" dirty="0">
                <a:solidFill>
                  <a:srgbClr val="000000"/>
                </a:solidFill>
                <a:effectLst/>
                <a:latin typeface="Inter"/>
              </a:rPr>
              <a:t>IRK </a:t>
            </a:r>
            <a:r>
              <a:rPr lang="zh-CN" altLang="en-US" sz="1200" b="0" i="0" dirty="0">
                <a:solidFill>
                  <a:srgbClr val="000000"/>
                </a:solidFill>
                <a:effectLst/>
                <a:latin typeface="Inter"/>
              </a:rPr>
              <a:t>生成 “可解析私有地址（</a:t>
            </a:r>
            <a:r>
              <a:rPr lang="en-US" altLang="zh-CN" sz="1200" b="0" i="0" dirty="0">
                <a:solidFill>
                  <a:srgbClr val="000000"/>
                </a:solidFill>
                <a:effectLst/>
                <a:latin typeface="Inter"/>
              </a:rPr>
              <a:t>Resolvable Private Address</a:t>
            </a:r>
            <a:r>
              <a:rPr lang="zh-CN" altLang="en-US" sz="1200" b="0" i="0" dirty="0">
                <a:solidFill>
                  <a:srgbClr val="000000"/>
                </a:solidFill>
                <a:effectLst/>
                <a:latin typeface="Inter"/>
              </a:rPr>
              <a:t>）”，隐藏设备真实 </a:t>
            </a:r>
            <a:r>
              <a:rPr lang="en-US" altLang="zh-CN" sz="1200" b="0" i="0" dirty="0">
                <a:solidFill>
                  <a:srgbClr val="000000"/>
                </a:solidFill>
                <a:effectLst/>
                <a:latin typeface="Inter"/>
              </a:rPr>
              <a:t>BD_ADDR</a:t>
            </a:r>
            <a:r>
              <a:rPr lang="zh-CN" altLang="en-US" sz="1200" b="0" i="0" dirty="0">
                <a:solidFill>
                  <a:srgbClr val="000000"/>
                </a:solidFill>
                <a:effectLst/>
                <a:latin typeface="Inter"/>
              </a:rPr>
              <a:t>，防止跟踪。</a:t>
            </a:r>
          </a:p>
        </p:txBody>
      </p:sp>
    </p:spTree>
    <p:extLst>
      <p:ext uri="{BB962C8B-B14F-4D97-AF65-F5344CB8AC3E}">
        <p14:creationId xmlns:p14="http://schemas.microsoft.com/office/powerpoint/2010/main" val="959809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C90A8-4221-4A1C-5A63-08C8FE9F644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65AE8B-7A56-F73A-C00D-6A52ED0E0CF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协议命令与格式</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69C82E7C-67B3-9530-5746-9AF2EEBEFEEA}"/>
              </a:ext>
            </a:extLst>
          </p:cNvPr>
          <p:cNvGraphicFramePr>
            <a:graphicFrameLocks noGrp="1"/>
          </p:cNvGraphicFramePr>
          <p:nvPr>
            <p:extLst>
              <p:ext uri="{D42A27DB-BD31-4B8C-83A1-F6EECF244321}">
                <p14:modId xmlns:p14="http://schemas.microsoft.com/office/powerpoint/2010/main" val="1681620478"/>
              </p:ext>
            </p:extLst>
          </p:nvPr>
        </p:nvGraphicFramePr>
        <p:xfrm>
          <a:off x="215591" y="1860260"/>
          <a:ext cx="8613449" cy="2714637"/>
        </p:xfrm>
        <a:graphic>
          <a:graphicData uri="http://schemas.openxmlformats.org/drawingml/2006/table">
            <a:tbl>
              <a:tblPr/>
              <a:tblGrid>
                <a:gridCol w="2559068">
                  <a:extLst>
                    <a:ext uri="{9D8B030D-6E8A-4147-A177-3AD203B41FA5}">
                      <a16:colId xmlns:a16="http://schemas.microsoft.com/office/drawing/2014/main" val="316165935"/>
                    </a:ext>
                  </a:extLst>
                </a:gridCol>
                <a:gridCol w="6054381">
                  <a:extLst>
                    <a:ext uri="{9D8B030D-6E8A-4147-A177-3AD203B41FA5}">
                      <a16:colId xmlns:a16="http://schemas.microsoft.com/office/drawing/2014/main" val="3465539499"/>
                    </a:ext>
                  </a:extLst>
                </a:gridCol>
              </a:tblGrid>
              <a:tr h="238736">
                <a:tc>
                  <a:txBody>
                    <a:bodyPr/>
                    <a:lstStyle/>
                    <a:p>
                      <a:pPr>
                        <a:lnSpc>
                          <a:spcPts val="1725"/>
                        </a:lnSpc>
                        <a:buNone/>
                      </a:pPr>
                      <a:r>
                        <a:rPr lang="zh-CN" altLang="en-US" sz="1200" b="1" dirty="0">
                          <a:solidFill>
                            <a:srgbClr val="000000"/>
                          </a:solidFill>
                          <a:effectLst/>
                        </a:rPr>
                        <a:t>命令名称</a:t>
                      </a:r>
                    </a:p>
                  </a:txBody>
                  <a:tcPr marL="107156" marR="107156" marT="71438" marB="71438" anchor="ctr">
                    <a:lnL w="4229" cap="flat" cmpd="sng" algn="ctr">
                      <a:solidFill>
                        <a:srgbClr val="10B197"/>
                      </a:solidFill>
                      <a:prstDash val="solid"/>
                      <a:round/>
                      <a:headEnd type="none" w="med" len="med"/>
                      <a:tailEnd type="none" w="med" len="med"/>
                    </a:lnL>
                    <a:lnR w="4229" cap="flat" cmpd="sng" algn="ctr">
                      <a:solidFill>
                        <a:srgbClr val="B0AF97"/>
                      </a:solidFill>
                      <a:prstDash val="solid"/>
                      <a:round/>
                      <a:headEnd type="none" w="med" len="med"/>
                      <a:tailEnd type="none" w="med" len="med"/>
                    </a:lnR>
                    <a:lnT w="4229" cap="flat" cmpd="sng" algn="ctr">
                      <a:solidFill>
                        <a:srgbClr val="B0AA97"/>
                      </a:solidFill>
                      <a:prstDash val="solid"/>
                      <a:round/>
                      <a:headEnd type="none" w="med" len="med"/>
                      <a:tailEnd type="none" w="med" len="med"/>
                    </a:lnT>
                    <a:lnB w="4229" cap="flat" cmpd="sng" algn="ctr">
                      <a:solidFill>
                        <a:srgbClr val="B0B597"/>
                      </a:solidFill>
                      <a:prstDash val="solid"/>
                      <a:round/>
                      <a:headEnd type="none" w="med" len="med"/>
                      <a:tailEnd type="none" w="med" len="med"/>
                    </a:lnB>
                    <a:solidFill>
                      <a:srgbClr val="F2F2F2"/>
                    </a:solidFill>
                  </a:tcPr>
                </a:tc>
                <a:tc>
                  <a:txBody>
                    <a:bodyPr/>
                    <a:lstStyle/>
                    <a:p>
                      <a:pPr>
                        <a:lnSpc>
                          <a:spcPts val="1725"/>
                        </a:lnSpc>
                        <a:buNone/>
                      </a:pPr>
                      <a:r>
                        <a:rPr lang="zh-CN" altLang="en-US" sz="1200" b="1" dirty="0">
                          <a:solidFill>
                            <a:srgbClr val="000000"/>
                          </a:solidFill>
                          <a:effectLst/>
                        </a:rPr>
                        <a:t>功能</a:t>
                      </a:r>
                    </a:p>
                  </a:txBody>
                  <a:tcPr marL="107156" marR="107156" marT="71438" marB="71438" anchor="ctr">
                    <a:lnL w="4229" cap="flat" cmpd="sng" algn="ctr">
                      <a:solidFill>
                        <a:srgbClr val="B0AF97"/>
                      </a:solidFill>
                      <a:prstDash val="solid"/>
                      <a:round/>
                      <a:headEnd type="none" w="med" len="med"/>
                      <a:tailEnd type="none" w="med" len="med"/>
                    </a:lnL>
                    <a:lnR w="4229" cap="flat" cmpd="sng" algn="ctr">
                      <a:solidFill>
                        <a:srgbClr val="B0AF97"/>
                      </a:solidFill>
                      <a:prstDash val="solid"/>
                      <a:round/>
                      <a:headEnd type="none" w="med" len="med"/>
                      <a:tailEnd type="none" w="med" len="med"/>
                    </a:lnR>
                    <a:lnT w="4229" cap="flat" cmpd="sng" algn="ctr">
                      <a:solidFill>
                        <a:srgbClr val="B0AF97"/>
                      </a:solidFill>
                      <a:prstDash val="solid"/>
                      <a:round/>
                      <a:headEnd type="none" w="med" len="med"/>
                      <a:tailEnd type="none" w="med" len="med"/>
                    </a:lnT>
                    <a:lnB w="4229" cap="flat" cmpd="sng" algn="ctr">
                      <a:solidFill>
                        <a:srgbClr val="D0AE26"/>
                      </a:solidFill>
                      <a:prstDash val="solid"/>
                      <a:round/>
                      <a:headEnd type="none" w="med" len="med"/>
                      <a:tailEnd type="none" w="med" len="med"/>
                    </a:lnB>
                    <a:solidFill>
                      <a:srgbClr val="F2F2F2"/>
                    </a:solidFill>
                  </a:tcPr>
                </a:tc>
                <a:extLst>
                  <a:ext uri="{0D108BD9-81ED-4DB2-BD59-A6C34878D82A}">
                    <a16:rowId xmlns:a16="http://schemas.microsoft.com/office/drawing/2014/main" val="2835258102"/>
                  </a:ext>
                </a:extLst>
              </a:tr>
              <a:tr h="239903">
                <a:tc>
                  <a:txBody>
                    <a:bodyPr/>
                    <a:lstStyle/>
                    <a:p>
                      <a:pPr>
                        <a:lnSpc>
                          <a:spcPts val="1725"/>
                        </a:lnSpc>
                        <a:buNone/>
                      </a:pPr>
                      <a:r>
                        <a:rPr lang="en-US" sz="1200" b="0" dirty="0">
                          <a:effectLst/>
                        </a:rPr>
                        <a:t>Pairing Request</a:t>
                      </a:r>
                    </a:p>
                  </a:txBody>
                  <a:tcPr marL="107156" marR="107156" marT="71438" marB="71438" anchor="ctr">
                    <a:lnL w="4229" cap="flat" cmpd="sng" algn="ctr">
                      <a:solidFill>
                        <a:srgbClr val="10B497"/>
                      </a:solidFill>
                      <a:prstDash val="solid"/>
                      <a:round/>
                      <a:headEnd type="none" w="med" len="med"/>
                      <a:tailEnd type="none" w="med" len="med"/>
                    </a:lnL>
                    <a:lnR w="4229" cap="flat" cmpd="sng" algn="ctr">
                      <a:solidFill>
                        <a:srgbClr val="30B797"/>
                      </a:solidFill>
                      <a:prstDash val="solid"/>
                      <a:round/>
                      <a:headEnd type="none" w="med" len="med"/>
                      <a:tailEnd type="none" w="med" len="med"/>
                    </a:lnR>
                    <a:lnT w="4229" cap="flat" cmpd="sng" algn="ctr">
                      <a:solidFill>
                        <a:srgbClr val="B0B597"/>
                      </a:solidFill>
                      <a:prstDash val="solid"/>
                      <a:round/>
                      <a:headEnd type="none" w="med" len="med"/>
                      <a:tailEnd type="none" w="med" len="med"/>
                    </a:lnT>
                    <a:lnB w="4229" cap="flat" cmpd="sng" algn="ctr">
                      <a:solidFill>
                        <a:srgbClr val="D0B797"/>
                      </a:solidFill>
                      <a:prstDash val="solid"/>
                      <a:round/>
                      <a:headEnd type="none" w="med" len="med"/>
                      <a:tailEnd type="none" w="med" len="med"/>
                    </a:lnB>
                    <a:noFill/>
                  </a:tcPr>
                </a:tc>
                <a:tc>
                  <a:txBody>
                    <a:bodyPr/>
                    <a:lstStyle/>
                    <a:p>
                      <a:pPr>
                        <a:lnSpc>
                          <a:spcPts val="1725"/>
                        </a:lnSpc>
                        <a:buNone/>
                      </a:pPr>
                      <a:r>
                        <a:rPr lang="zh-CN" altLang="en-US" sz="1200" b="0">
                          <a:effectLst/>
                        </a:rPr>
                        <a:t>发起配对请求，携带设备 </a:t>
                      </a:r>
                      <a:r>
                        <a:rPr lang="en-US" altLang="zh-CN" sz="1200" b="0">
                          <a:effectLst/>
                        </a:rPr>
                        <a:t>IO </a:t>
                      </a:r>
                      <a:r>
                        <a:rPr lang="zh-CN" altLang="en-US" sz="1200" b="0">
                          <a:effectLst/>
                        </a:rPr>
                        <a:t>能力、加密密钥长度等参数</a:t>
                      </a:r>
                    </a:p>
                  </a:txBody>
                  <a:tcPr marL="107156" marR="107156" marT="71438" marB="71438" anchor="ctr">
                    <a:lnL w="4229" cap="flat" cmpd="sng" algn="ctr">
                      <a:solidFill>
                        <a:srgbClr val="30B7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D0AE26"/>
                      </a:solidFill>
                      <a:prstDash val="solid"/>
                      <a:round/>
                      <a:headEnd type="none" w="med" len="med"/>
                      <a:tailEnd type="none" w="med" len="med"/>
                    </a:lnT>
                    <a:lnB w="4229" cap="flat" cmpd="sng" algn="ctr">
                      <a:solidFill>
                        <a:srgbClr val="20AD26"/>
                      </a:solidFill>
                      <a:prstDash val="solid"/>
                      <a:round/>
                      <a:headEnd type="none" w="med" len="med"/>
                      <a:tailEnd type="none" w="med" len="med"/>
                    </a:lnB>
                    <a:noFill/>
                  </a:tcPr>
                </a:tc>
                <a:extLst>
                  <a:ext uri="{0D108BD9-81ED-4DB2-BD59-A6C34878D82A}">
                    <a16:rowId xmlns:a16="http://schemas.microsoft.com/office/drawing/2014/main" val="1607416107"/>
                  </a:ext>
                </a:extLst>
              </a:tr>
              <a:tr h="239903">
                <a:tc>
                  <a:txBody>
                    <a:bodyPr/>
                    <a:lstStyle/>
                    <a:p>
                      <a:pPr>
                        <a:lnSpc>
                          <a:spcPts val="1725"/>
                        </a:lnSpc>
                        <a:buNone/>
                      </a:pPr>
                      <a:r>
                        <a:rPr lang="en-US" sz="1200" b="0" dirty="0">
                          <a:effectLst/>
                        </a:rPr>
                        <a:t>Pairing Response</a:t>
                      </a:r>
                    </a:p>
                  </a:txBody>
                  <a:tcPr marL="107156" marR="107156" marT="71438" marB="71438" anchor="ctr">
                    <a:lnL w="4229" cap="flat" cmpd="sng" algn="ctr">
                      <a:solidFill>
                        <a:srgbClr val="90B997"/>
                      </a:solidFill>
                      <a:prstDash val="solid"/>
                      <a:round/>
                      <a:headEnd type="none" w="med" len="med"/>
                      <a:tailEnd type="none" w="med" len="med"/>
                    </a:lnL>
                    <a:lnR w="4229" cap="flat" cmpd="sng" algn="ctr">
                      <a:solidFill>
                        <a:srgbClr val="D0B797"/>
                      </a:solidFill>
                      <a:prstDash val="solid"/>
                      <a:round/>
                      <a:headEnd type="none" w="med" len="med"/>
                      <a:tailEnd type="none" w="med" len="med"/>
                    </a:lnR>
                    <a:lnT w="4229" cap="flat" cmpd="sng" algn="ctr">
                      <a:solidFill>
                        <a:srgbClr val="D0B797"/>
                      </a:solidFill>
                      <a:prstDash val="solid"/>
                      <a:round/>
                      <a:headEnd type="none" w="med" len="med"/>
                      <a:tailEnd type="none" w="med" len="med"/>
                    </a:lnT>
                    <a:lnB w="4229" cap="flat" cmpd="sng" algn="ctr">
                      <a:solidFill>
                        <a:srgbClr val="70BB97"/>
                      </a:solidFill>
                      <a:prstDash val="solid"/>
                      <a:round/>
                      <a:headEnd type="none" w="med" len="med"/>
                      <a:tailEnd type="none" w="med" len="med"/>
                    </a:lnB>
                    <a:noFill/>
                  </a:tcPr>
                </a:tc>
                <a:tc>
                  <a:txBody>
                    <a:bodyPr/>
                    <a:lstStyle/>
                    <a:p>
                      <a:pPr>
                        <a:lnSpc>
                          <a:spcPts val="1725"/>
                        </a:lnSpc>
                        <a:buNone/>
                      </a:pPr>
                      <a:r>
                        <a:rPr lang="zh-CN" altLang="en-US" sz="1200" b="0">
                          <a:effectLst/>
                        </a:rPr>
                        <a:t>响应配对请求，确认协商的安全参数</a:t>
                      </a:r>
                    </a:p>
                  </a:txBody>
                  <a:tcPr marL="107156" marR="107156" marT="71438" marB="71438" anchor="ctr">
                    <a:lnL w="4229" cap="flat" cmpd="sng" algn="ctr">
                      <a:solidFill>
                        <a:srgbClr val="D0B797"/>
                      </a:solidFill>
                      <a:prstDash val="solid"/>
                      <a:round/>
                      <a:headEnd type="none" w="med" len="med"/>
                      <a:tailEnd type="none" w="med" len="med"/>
                    </a:lnL>
                    <a:lnR w="4229" cap="flat" cmpd="sng" algn="ctr">
                      <a:solidFill>
                        <a:srgbClr val="D0A997"/>
                      </a:solidFill>
                      <a:prstDash val="solid"/>
                      <a:round/>
                      <a:headEnd type="none" w="med" len="med"/>
                      <a:tailEnd type="none" w="med" len="med"/>
                    </a:lnR>
                    <a:lnT w="4229" cap="flat" cmpd="sng" algn="ctr">
                      <a:solidFill>
                        <a:srgbClr val="20AD26"/>
                      </a:solidFill>
                      <a:prstDash val="solid"/>
                      <a:round/>
                      <a:headEnd type="none" w="med" len="med"/>
                      <a:tailEnd type="none" w="med" len="med"/>
                    </a:lnT>
                    <a:lnB w="4229" cap="flat" cmpd="sng" algn="ctr">
                      <a:solidFill>
                        <a:srgbClr val="D0AE26"/>
                      </a:solidFill>
                      <a:prstDash val="solid"/>
                      <a:round/>
                      <a:headEnd type="none" w="med" len="med"/>
                      <a:tailEnd type="none" w="med" len="med"/>
                    </a:lnB>
                    <a:noFill/>
                  </a:tcPr>
                </a:tc>
                <a:extLst>
                  <a:ext uri="{0D108BD9-81ED-4DB2-BD59-A6C34878D82A}">
                    <a16:rowId xmlns:a16="http://schemas.microsoft.com/office/drawing/2014/main" val="2390898283"/>
                  </a:ext>
                </a:extLst>
              </a:tr>
              <a:tr h="239903">
                <a:tc>
                  <a:txBody>
                    <a:bodyPr/>
                    <a:lstStyle/>
                    <a:p>
                      <a:pPr>
                        <a:lnSpc>
                          <a:spcPts val="1725"/>
                        </a:lnSpc>
                        <a:buNone/>
                      </a:pPr>
                      <a:r>
                        <a:rPr lang="en-US" sz="1200" b="0">
                          <a:effectLst/>
                        </a:rPr>
                        <a:t>Pairing Confirm</a:t>
                      </a:r>
                    </a:p>
                  </a:txBody>
                  <a:tcPr marL="107156" marR="107156" marT="71438" marB="71438" anchor="ctr">
                    <a:lnL w="4229" cap="flat" cmpd="sng" algn="ctr">
                      <a:solidFill>
                        <a:srgbClr val="90BD97"/>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70BB97"/>
                      </a:solidFill>
                      <a:prstDash val="solid"/>
                      <a:round/>
                      <a:headEnd type="none" w="med" len="med"/>
                      <a:tailEnd type="none" w="med" len="med"/>
                    </a:lnT>
                    <a:lnB w="4229" cap="flat" cmpd="sng" algn="ctr">
                      <a:solidFill>
                        <a:srgbClr val="D0B896"/>
                      </a:solidFill>
                      <a:prstDash val="solid"/>
                      <a:round/>
                      <a:headEnd type="none" w="med" len="med"/>
                      <a:tailEnd type="none" w="med" len="med"/>
                    </a:lnB>
                    <a:noFill/>
                  </a:tcPr>
                </a:tc>
                <a:tc>
                  <a:txBody>
                    <a:bodyPr/>
                    <a:lstStyle/>
                    <a:p>
                      <a:pPr>
                        <a:lnSpc>
                          <a:spcPts val="1725"/>
                        </a:lnSpc>
                        <a:buNone/>
                      </a:pPr>
                      <a:r>
                        <a:rPr lang="zh-CN" altLang="en-US" sz="1200" b="0" dirty="0">
                          <a:effectLst/>
                        </a:rPr>
                        <a:t>传输配对确认值，验证双方密钥一致性</a:t>
                      </a:r>
                    </a:p>
                  </a:txBody>
                  <a:tcPr marL="107156" marR="107156" marT="71438" marB="71438" anchor="ctr">
                    <a:lnL w="4229" cap="flat" cmpd="sng" algn="ctr">
                      <a:solidFill>
                        <a:srgbClr val="10B3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D0AE26"/>
                      </a:solidFill>
                      <a:prstDash val="solid"/>
                      <a:round/>
                      <a:headEnd type="none" w="med" len="med"/>
                      <a:tailEnd type="none" w="med" len="med"/>
                    </a:lnT>
                    <a:lnB w="4229" cap="flat" cmpd="sng" algn="ctr">
                      <a:solidFill>
                        <a:srgbClr val="50B326"/>
                      </a:solidFill>
                      <a:prstDash val="solid"/>
                      <a:round/>
                      <a:headEnd type="none" w="med" len="med"/>
                      <a:tailEnd type="none" w="med" len="med"/>
                    </a:lnB>
                    <a:noFill/>
                  </a:tcPr>
                </a:tc>
                <a:extLst>
                  <a:ext uri="{0D108BD9-81ED-4DB2-BD59-A6C34878D82A}">
                    <a16:rowId xmlns:a16="http://schemas.microsoft.com/office/drawing/2014/main" val="3219771631"/>
                  </a:ext>
                </a:extLst>
              </a:tr>
              <a:tr h="239903">
                <a:tc>
                  <a:txBody>
                    <a:bodyPr/>
                    <a:lstStyle/>
                    <a:p>
                      <a:pPr>
                        <a:lnSpc>
                          <a:spcPts val="1725"/>
                        </a:lnSpc>
                        <a:buNone/>
                      </a:pPr>
                      <a:r>
                        <a:rPr lang="en-US" sz="1200" b="0">
                          <a:effectLst/>
                        </a:rPr>
                        <a:t>Pairing Random</a:t>
                      </a:r>
                    </a:p>
                  </a:txBody>
                  <a:tcPr marL="107156" marR="107156" marT="71438" marB="71438" anchor="ctr">
                    <a:lnL w="4229" cap="flat" cmpd="sng" algn="ctr">
                      <a:solidFill>
                        <a:srgbClr val="F0B4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D0B896"/>
                      </a:solidFill>
                      <a:prstDash val="solid"/>
                      <a:round/>
                      <a:headEnd type="none" w="med" len="med"/>
                      <a:tailEnd type="none" w="med" len="med"/>
                    </a:lnT>
                    <a:lnB w="4229" cap="flat" cmpd="sng" algn="ctr">
                      <a:solidFill>
                        <a:srgbClr val="30B296"/>
                      </a:solidFill>
                      <a:prstDash val="solid"/>
                      <a:round/>
                      <a:headEnd type="none" w="med" len="med"/>
                      <a:tailEnd type="none" w="med" len="med"/>
                    </a:lnB>
                    <a:noFill/>
                  </a:tcPr>
                </a:tc>
                <a:tc>
                  <a:txBody>
                    <a:bodyPr/>
                    <a:lstStyle/>
                    <a:p>
                      <a:pPr>
                        <a:lnSpc>
                          <a:spcPts val="1725"/>
                        </a:lnSpc>
                        <a:buNone/>
                      </a:pPr>
                      <a:r>
                        <a:rPr lang="zh-CN" altLang="en-US" sz="1200" b="0" dirty="0">
                          <a:effectLst/>
                        </a:rPr>
                        <a:t>传输随机数，用于密钥生成</a:t>
                      </a:r>
                    </a:p>
                  </a:txBody>
                  <a:tcPr marL="107156" marR="107156" marT="71438" marB="71438" anchor="ctr">
                    <a:lnL w="4229" cap="flat" cmpd="sng" algn="ctr">
                      <a:solidFill>
                        <a:srgbClr val="10B3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50B326"/>
                      </a:solidFill>
                      <a:prstDash val="solid"/>
                      <a:round/>
                      <a:headEnd type="none" w="med" len="med"/>
                      <a:tailEnd type="none" w="med" len="med"/>
                    </a:lnT>
                    <a:lnB w="4229" cap="flat" cmpd="sng" algn="ctr">
                      <a:solidFill>
                        <a:srgbClr val="50B326"/>
                      </a:solidFill>
                      <a:prstDash val="solid"/>
                      <a:round/>
                      <a:headEnd type="none" w="med" len="med"/>
                      <a:tailEnd type="none" w="med" len="med"/>
                    </a:lnB>
                    <a:noFill/>
                  </a:tcPr>
                </a:tc>
                <a:extLst>
                  <a:ext uri="{0D108BD9-81ED-4DB2-BD59-A6C34878D82A}">
                    <a16:rowId xmlns:a16="http://schemas.microsoft.com/office/drawing/2014/main" val="435592070"/>
                  </a:ext>
                </a:extLst>
              </a:tr>
              <a:tr h="239903">
                <a:tc>
                  <a:txBody>
                    <a:bodyPr/>
                    <a:lstStyle/>
                    <a:p>
                      <a:pPr>
                        <a:lnSpc>
                          <a:spcPts val="1725"/>
                        </a:lnSpc>
                        <a:buNone/>
                      </a:pPr>
                      <a:r>
                        <a:rPr lang="en-US" sz="1200" b="0">
                          <a:effectLst/>
                        </a:rPr>
                        <a:t>Pairing Failed</a:t>
                      </a:r>
                    </a:p>
                  </a:txBody>
                  <a:tcPr marL="107156" marR="107156" marT="71438" marB="71438" anchor="ctr">
                    <a:lnL w="4229" cap="flat" cmpd="sng" algn="ctr">
                      <a:solidFill>
                        <a:srgbClr val="50B5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30B296"/>
                      </a:solidFill>
                      <a:prstDash val="solid"/>
                      <a:round/>
                      <a:headEnd type="none" w="med" len="med"/>
                      <a:tailEnd type="none" w="med" len="med"/>
                    </a:lnT>
                    <a:lnB w="4229" cap="flat" cmpd="sng" algn="ctr">
                      <a:solidFill>
                        <a:srgbClr val="10BD96"/>
                      </a:solidFill>
                      <a:prstDash val="solid"/>
                      <a:round/>
                      <a:headEnd type="none" w="med" len="med"/>
                      <a:tailEnd type="none" w="med" len="med"/>
                    </a:lnB>
                    <a:noFill/>
                  </a:tcPr>
                </a:tc>
                <a:tc>
                  <a:txBody>
                    <a:bodyPr/>
                    <a:lstStyle/>
                    <a:p>
                      <a:pPr>
                        <a:lnSpc>
                          <a:spcPts val="1725"/>
                        </a:lnSpc>
                        <a:buNone/>
                      </a:pPr>
                      <a:r>
                        <a:rPr lang="zh-CN" altLang="en-US" sz="1200" b="0" dirty="0">
                          <a:effectLst/>
                        </a:rPr>
                        <a:t>通知配对失败（如参数不兼容、密钥验证失败）</a:t>
                      </a:r>
                    </a:p>
                  </a:txBody>
                  <a:tcPr marL="107156" marR="107156" marT="71438" marB="71438" anchor="ctr">
                    <a:lnL w="4229" cap="flat" cmpd="sng" algn="ctr">
                      <a:solidFill>
                        <a:srgbClr val="10B397"/>
                      </a:solidFill>
                      <a:prstDash val="solid"/>
                      <a:round/>
                      <a:headEnd type="none" w="med" len="med"/>
                      <a:tailEnd type="none" w="med" len="med"/>
                    </a:lnL>
                    <a:lnR w="4229" cap="flat" cmpd="sng" algn="ctr">
                      <a:solidFill>
                        <a:srgbClr val="D0AD97"/>
                      </a:solidFill>
                      <a:prstDash val="solid"/>
                      <a:round/>
                      <a:headEnd type="none" w="med" len="med"/>
                      <a:tailEnd type="none" w="med" len="med"/>
                    </a:lnR>
                    <a:lnT w="4229" cap="flat" cmpd="sng" algn="ctr">
                      <a:solidFill>
                        <a:srgbClr val="50B326"/>
                      </a:solidFill>
                      <a:prstDash val="solid"/>
                      <a:round/>
                      <a:headEnd type="none" w="med" len="med"/>
                      <a:tailEnd type="none" w="med" len="med"/>
                    </a:lnT>
                    <a:lnB w="4229" cap="flat" cmpd="sng" algn="ctr">
                      <a:solidFill>
                        <a:srgbClr val="00BB26"/>
                      </a:solidFill>
                      <a:prstDash val="solid"/>
                      <a:round/>
                      <a:headEnd type="none" w="med" len="med"/>
                      <a:tailEnd type="none" w="med" len="med"/>
                    </a:lnB>
                    <a:noFill/>
                  </a:tcPr>
                </a:tc>
                <a:extLst>
                  <a:ext uri="{0D108BD9-81ED-4DB2-BD59-A6C34878D82A}">
                    <a16:rowId xmlns:a16="http://schemas.microsoft.com/office/drawing/2014/main" val="3647210764"/>
                  </a:ext>
                </a:extLst>
              </a:tr>
              <a:tr h="239903">
                <a:tc>
                  <a:txBody>
                    <a:bodyPr/>
                    <a:lstStyle/>
                    <a:p>
                      <a:pPr>
                        <a:lnSpc>
                          <a:spcPts val="1725"/>
                        </a:lnSpc>
                        <a:buNone/>
                      </a:pPr>
                      <a:r>
                        <a:rPr lang="en-US" sz="1200" b="0">
                          <a:effectLst/>
                        </a:rPr>
                        <a:t>Encryption Information</a:t>
                      </a:r>
                    </a:p>
                  </a:txBody>
                  <a:tcPr marL="107156" marR="107156" marT="71438" marB="71438" anchor="ctr">
                    <a:lnL w="4229" cap="flat" cmpd="sng" algn="ctr">
                      <a:solidFill>
                        <a:srgbClr val="30BF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10BD96"/>
                      </a:solidFill>
                      <a:prstDash val="solid"/>
                      <a:round/>
                      <a:headEnd type="none" w="med" len="med"/>
                      <a:tailEnd type="none" w="med" len="med"/>
                    </a:lnT>
                    <a:lnB w="4229" cap="flat" cmpd="sng" algn="ctr">
                      <a:solidFill>
                        <a:srgbClr val="D0C296"/>
                      </a:solidFill>
                      <a:prstDash val="solid"/>
                      <a:round/>
                      <a:headEnd type="none" w="med" len="med"/>
                      <a:tailEnd type="none" w="med" len="med"/>
                    </a:lnB>
                    <a:noFill/>
                  </a:tcPr>
                </a:tc>
                <a:tc>
                  <a:txBody>
                    <a:bodyPr/>
                    <a:lstStyle/>
                    <a:p>
                      <a:pPr>
                        <a:lnSpc>
                          <a:spcPts val="1725"/>
                        </a:lnSpc>
                        <a:buNone/>
                      </a:pPr>
                      <a:r>
                        <a:rPr lang="zh-CN" altLang="en-US" sz="1200" b="0" dirty="0">
                          <a:effectLst/>
                        </a:rPr>
                        <a:t>传输加密相关信息（如 </a:t>
                      </a:r>
                      <a:r>
                        <a:rPr lang="en-US" altLang="zh-CN" sz="1200" b="0" dirty="0">
                          <a:effectLst/>
                        </a:rPr>
                        <a:t>LTK </a:t>
                      </a:r>
                      <a:r>
                        <a:rPr lang="zh-CN" altLang="en-US" sz="1200" b="0" dirty="0">
                          <a:effectLst/>
                        </a:rPr>
                        <a:t>类型）</a:t>
                      </a:r>
                    </a:p>
                  </a:txBody>
                  <a:tcPr marL="107156" marR="107156" marT="71438" marB="71438" anchor="ctr">
                    <a:lnL w="4229" cap="flat" cmpd="sng" algn="ctr">
                      <a:solidFill>
                        <a:srgbClr val="10B397"/>
                      </a:solidFill>
                      <a:prstDash val="solid"/>
                      <a:round/>
                      <a:headEnd type="none" w="med" len="med"/>
                      <a:tailEnd type="none" w="med" len="med"/>
                    </a:lnL>
                    <a:lnR w="4229" cap="flat" cmpd="sng" algn="ctr">
                      <a:solidFill>
                        <a:srgbClr val="D0AD97"/>
                      </a:solidFill>
                      <a:prstDash val="solid"/>
                      <a:round/>
                      <a:headEnd type="none" w="med" len="med"/>
                      <a:tailEnd type="none" w="med" len="med"/>
                    </a:lnR>
                    <a:lnT w="4229" cap="flat" cmpd="sng" algn="ctr">
                      <a:solidFill>
                        <a:srgbClr val="00BB26"/>
                      </a:solidFill>
                      <a:prstDash val="solid"/>
                      <a:round/>
                      <a:headEnd type="none" w="med" len="med"/>
                      <a:tailEnd type="none" w="med" len="med"/>
                    </a:lnT>
                    <a:lnB w="4229" cap="flat" cmpd="sng" algn="ctr">
                      <a:solidFill>
                        <a:srgbClr val="80C526"/>
                      </a:solidFill>
                      <a:prstDash val="solid"/>
                      <a:round/>
                      <a:headEnd type="none" w="med" len="med"/>
                      <a:tailEnd type="none" w="med" len="med"/>
                    </a:lnB>
                    <a:noFill/>
                  </a:tcPr>
                </a:tc>
                <a:extLst>
                  <a:ext uri="{0D108BD9-81ED-4DB2-BD59-A6C34878D82A}">
                    <a16:rowId xmlns:a16="http://schemas.microsoft.com/office/drawing/2014/main" val="3708770504"/>
                  </a:ext>
                </a:extLst>
              </a:tr>
              <a:tr h="239903">
                <a:tc>
                  <a:txBody>
                    <a:bodyPr/>
                    <a:lstStyle/>
                    <a:p>
                      <a:pPr>
                        <a:lnSpc>
                          <a:spcPts val="1725"/>
                        </a:lnSpc>
                        <a:buNone/>
                      </a:pPr>
                      <a:r>
                        <a:rPr lang="en-US" sz="1200" b="0">
                          <a:effectLst/>
                        </a:rPr>
                        <a:t>Identity Information</a:t>
                      </a:r>
                    </a:p>
                  </a:txBody>
                  <a:tcPr marL="107156" marR="107156" marT="71438" marB="71438" anchor="ctr">
                    <a:lnL w="4229" cap="flat" cmpd="sng" algn="ctr">
                      <a:solidFill>
                        <a:srgbClr val="70C9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D0C296"/>
                      </a:solidFill>
                      <a:prstDash val="solid"/>
                      <a:round/>
                      <a:headEnd type="none" w="med" len="med"/>
                      <a:tailEnd type="none" w="med" len="med"/>
                    </a:lnT>
                    <a:lnB w="4229" cap="flat" cmpd="sng" algn="ctr">
                      <a:solidFill>
                        <a:srgbClr val="90C896"/>
                      </a:solidFill>
                      <a:prstDash val="solid"/>
                      <a:round/>
                      <a:headEnd type="none" w="med" len="med"/>
                      <a:tailEnd type="none" w="med" len="med"/>
                    </a:lnB>
                    <a:noFill/>
                  </a:tcPr>
                </a:tc>
                <a:tc>
                  <a:txBody>
                    <a:bodyPr/>
                    <a:lstStyle/>
                    <a:p>
                      <a:pPr>
                        <a:lnSpc>
                          <a:spcPts val="1725"/>
                        </a:lnSpc>
                        <a:buNone/>
                      </a:pPr>
                      <a:r>
                        <a:rPr lang="zh-CN" altLang="en-US" sz="1200" b="0" dirty="0">
                          <a:effectLst/>
                        </a:rPr>
                        <a:t>传输设备身份信息（如 </a:t>
                      </a:r>
                      <a:r>
                        <a:rPr lang="en-US" altLang="zh-CN" sz="1200" b="0" dirty="0">
                          <a:effectLst/>
                        </a:rPr>
                        <a:t>IRK</a:t>
                      </a:r>
                      <a:r>
                        <a:rPr lang="zh-CN" altLang="en-US" sz="1200" b="0" dirty="0">
                          <a:effectLst/>
                        </a:rPr>
                        <a:t>）</a:t>
                      </a:r>
                    </a:p>
                  </a:txBody>
                  <a:tcPr marL="107156" marR="107156" marT="71438" marB="71438" anchor="ctr">
                    <a:lnL w="4229" cap="flat" cmpd="sng" algn="ctr">
                      <a:solidFill>
                        <a:srgbClr val="10B3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80C526"/>
                      </a:solidFill>
                      <a:prstDash val="solid"/>
                      <a:round/>
                      <a:headEnd type="none" w="med" len="med"/>
                      <a:tailEnd type="none" w="med" len="med"/>
                    </a:lnT>
                    <a:lnB w="4229" cap="flat" cmpd="sng" algn="ctr">
                      <a:solidFill>
                        <a:srgbClr val="D0A997"/>
                      </a:solidFill>
                      <a:prstDash val="solid"/>
                      <a:round/>
                      <a:headEnd type="none" w="med" len="med"/>
                      <a:tailEnd type="none" w="med" len="med"/>
                    </a:lnB>
                    <a:noFill/>
                  </a:tcPr>
                </a:tc>
                <a:extLst>
                  <a:ext uri="{0D108BD9-81ED-4DB2-BD59-A6C34878D82A}">
                    <a16:rowId xmlns:a16="http://schemas.microsoft.com/office/drawing/2014/main" val="2354465982"/>
                  </a:ext>
                </a:extLst>
              </a:tr>
            </a:tbl>
          </a:graphicData>
        </a:graphic>
      </p:graphicFrame>
      <p:sp>
        <p:nvSpPr>
          <p:cNvPr id="8" name="文本框 7">
            <a:extLst>
              <a:ext uri="{FF2B5EF4-FFF2-40B4-BE49-F238E27FC236}">
                <a16:creationId xmlns:a16="http://schemas.microsoft.com/office/drawing/2014/main" id="{2571899A-E1DE-38AE-EA42-B3DD3605E94C}"/>
              </a:ext>
            </a:extLst>
          </p:cNvPr>
          <p:cNvSpPr txBox="1"/>
          <p:nvPr/>
        </p:nvSpPr>
        <p:spPr>
          <a:xfrm>
            <a:off x="215591" y="568603"/>
            <a:ext cx="8745530" cy="12464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buFontTx/>
              <a:buNone/>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定义 SMP 协议的命令结构、交互流程与超时机制：</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命令格式</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：每个 SMP 命令包含 “opcode（1 字节）+ 参数（可变长度）”，例如 “Pairing Request（0x01）”“Pairing Response（0x02）”；</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核心命令</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a:t>
            </a:r>
          </a:p>
          <a:p>
            <a:pPr marL="0" marR="0" lvl="0" indent="0" algn="l" defTabSz="914400" rtl="0" eaLnBrk="0" fontAlgn="base" latinLnBrk="0" hangingPunct="0">
              <a:lnSpc>
                <a:spcPct val="100000"/>
              </a:lnSpc>
              <a:spcBef>
                <a:spcPct val="0"/>
              </a:spcBef>
              <a:spcAft>
                <a:spcPts val="600"/>
              </a:spcAft>
              <a:buClrTx/>
              <a:buSzTx/>
              <a:buFontTx/>
              <a:buChar char="•"/>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超时机制（SMP timeout）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：规定命令响应超时时间（默认 30 秒），超时后视为配对失败。</a:t>
            </a:r>
          </a:p>
        </p:txBody>
      </p:sp>
    </p:spTree>
    <p:extLst>
      <p:ext uri="{BB962C8B-B14F-4D97-AF65-F5344CB8AC3E}">
        <p14:creationId xmlns:p14="http://schemas.microsoft.com/office/powerpoint/2010/main" val="169813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365B9-4F0D-3210-8588-C110657FCFE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27FF122-4E29-3899-D18C-00EF62F1D54C}"/>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密钥加密配对流程</a:t>
            </a:r>
            <a:r>
              <a:rPr lang="en-US" altLang="zh-CN" sz="2400" b="1" spc="-38" dirty="0">
                <a:solidFill>
                  <a:srgbClr val="DFC27B"/>
                </a:solidFill>
                <a:latin typeface="Calibri" panose="020F0502020204030204" pitchFamily="34" charset="0"/>
                <a:cs typeface="Calibri" panose="020F0502020204030204" pitchFamily="34" charset="0"/>
              </a:rPr>
              <a:t>-Just Works or Numeric Comparison</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4" name="图片 3" descr="图示&#10;&#10;AI 生成的内容可能不正确。">
            <a:extLst>
              <a:ext uri="{FF2B5EF4-FFF2-40B4-BE49-F238E27FC236}">
                <a16:creationId xmlns:a16="http://schemas.microsoft.com/office/drawing/2014/main" id="{A8B77B9F-25EA-F1D5-B730-D241A4B68276}"/>
              </a:ext>
            </a:extLst>
          </p:cNvPr>
          <p:cNvPicPr>
            <a:picLocks noChangeAspect="1"/>
          </p:cNvPicPr>
          <p:nvPr/>
        </p:nvPicPr>
        <p:blipFill>
          <a:blip r:embed="rId2"/>
          <a:stretch>
            <a:fillRect/>
          </a:stretch>
        </p:blipFill>
        <p:spPr>
          <a:xfrm>
            <a:off x="282521" y="700708"/>
            <a:ext cx="3875532" cy="3916017"/>
          </a:xfrm>
          <a:prstGeom prst="rect">
            <a:avLst/>
          </a:prstGeom>
        </p:spPr>
      </p:pic>
      <p:sp>
        <p:nvSpPr>
          <p:cNvPr id="6" name="Rectangle 1">
            <a:extLst>
              <a:ext uri="{FF2B5EF4-FFF2-40B4-BE49-F238E27FC236}">
                <a16:creationId xmlns:a16="http://schemas.microsoft.com/office/drawing/2014/main" id="{CF1B5B1E-1E45-A151-4BB7-1D8CD4B2B567}"/>
              </a:ext>
            </a:extLst>
          </p:cNvPr>
          <p:cNvSpPr>
            <a:spLocks noChangeArrowheads="1"/>
          </p:cNvSpPr>
          <p:nvPr/>
        </p:nvSpPr>
        <p:spPr bwMode="auto">
          <a:xfrm>
            <a:off x="4631634" y="725090"/>
            <a:ext cx="414461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随机数与参数初始化</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生成随机数 </a:t>
            </a:r>
            <a:r>
              <a:rPr kumimoji="0" lang="zh-CN" altLang="zh-CN" sz="1200" b="0" i="0" u="none" strike="noStrike" cap="none" normalizeH="0" baseline="0" dirty="0">
                <a:ln>
                  <a:noFill/>
                </a:ln>
                <a:solidFill>
                  <a:srgbClr val="000000"/>
                </a:solidFill>
                <a:effectLst/>
                <a:latin typeface="Arial Unicode MS"/>
                <a:ea typeface="ui-monospace"/>
              </a:rPr>
              <a:t>Na</a:t>
            </a:r>
            <a:r>
              <a:rPr kumimoji="0" lang="zh-CN" altLang="zh-CN" sz="1200" b="0" i="0" u="none" strike="noStrike" cap="none" normalizeH="0" baseline="0" dirty="0">
                <a:ln>
                  <a:noFill/>
                </a:ln>
                <a:solidFill>
                  <a:srgbClr val="000000"/>
                </a:solidFill>
                <a:effectLst/>
                <a:ea typeface="Inter"/>
              </a:rPr>
              <a:t>，并将 </a:t>
            </a:r>
            <a:r>
              <a:rPr kumimoji="0" lang="zh-CN" altLang="zh-CN" sz="1200" b="0" i="0" u="none" strike="noStrike" cap="none" normalizeH="0" baseline="0" dirty="0">
                <a:ln>
                  <a:noFill/>
                </a:ln>
                <a:solidFill>
                  <a:srgbClr val="000000"/>
                </a:solidFill>
                <a:effectLst/>
                <a:latin typeface="Arial Unicode MS"/>
                <a:ea typeface="ui-monospace"/>
              </a:rPr>
              <a:t>ra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rb</a:t>
            </a:r>
            <a:r>
              <a:rPr kumimoji="0" lang="zh-CN" altLang="zh-CN" sz="1200" b="0" i="0" u="none" strike="noStrike" cap="none" normalizeH="0" baseline="0" dirty="0">
                <a:ln>
                  <a:noFill/>
                </a:ln>
                <a:solidFill>
                  <a:srgbClr val="000000"/>
                </a:solidFill>
                <a:effectLst/>
                <a:ea typeface="Inter"/>
              </a:rPr>
              <a:t> 初始化为 0。</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生成随机数 </a:t>
            </a:r>
            <a:r>
              <a:rPr kumimoji="0" lang="zh-CN" altLang="zh-CN" sz="1200" b="0" i="0" u="none" strike="noStrike" cap="none" normalizeH="0" baseline="0" dirty="0">
                <a:ln>
                  <a:noFill/>
                </a:ln>
                <a:solidFill>
                  <a:srgbClr val="000000"/>
                </a:solidFill>
                <a:effectLst/>
                <a:latin typeface="Arial Unicode MS"/>
                <a:ea typeface="ui-monospace"/>
              </a:rPr>
              <a:t>Nb</a:t>
            </a:r>
            <a:r>
              <a:rPr kumimoji="0" lang="zh-CN" altLang="zh-CN" sz="1200" b="0" i="0" u="none" strike="noStrike" cap="none" normalizeH="0" baseline="0" dirty="0">
                <a:ln>
                  <a:noFill/>
                </a:ln>
                <a:solidFill>
                  <a:srgbClr val="000000"/>
                </a:solidFill>
                <a:effectLst/>
                <a:ea typeface="Inter"/>
              </a:rPr>
              <a:t>，并将 </a:t>
            </a:r>
            <a:r>
              <a:rPr kumimoji="0" lang="zh-CN" altLang="zh-CN" sz="1200" b="0" i="0" u="none" strike="noStrike" cap="none" normalizeH="0" baseline="0" dirty="0">
                <a:ln>
                  <a:noFill/>
                </a:ln>
                <a:solidFill>
                  <a:srgbClr val="000000"/>
                </a:solidFill>
                <a:effectLst/>
                <a:latin typeface="Arial Unicode MS"/>
                <a:ea typeface="ui-monospace"/>
              </a:rPr>
              <a:t>ra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rb</a:t>
            </a:r>
            <a:r>
              <a:rPr kumimoji="0" lang="zh-CN" altLang="zh-CN" sz="1200" b="0" i="0" u="none" strike="noStrike" cap="none" normalizeH="0" baseline="0" dirty="0">
                <a:ln>
                  <a:noFill/>
                </a:ln>
                <a:solidFill>
                  <a:srgbClr val="000000"/>
                </a:solidFill>
                <a:effectLst/>
                <a:ea typeface="Inter"/>
              </a:rPr>
              <a:t> 初始化为 0。</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生成并交换确认值</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使用函数 </a:t>
            </a:r>
            <a:r>
              <a:rPr kumimoji="0" lang="zh-CN" altLang="zh-CN" sz="1200" b="0" i="0" u="none" strike="noStrike" cap="none" normalizeH="0" baseline="0" dirty="0">
                <a:ln>
                  <a:noFill/>
                </a:ln>
                <a:solidFill>
                  <a:srgbClr val="000000"/>
                </a:solidFill>
                <a:effectLst/>
                <a:latin typeface="Arial Unicode MS"/>
                <a:ea typeface="ui-monospace"/>
              </a:rPr>
              <a:t>f4</a:t>
            </a:r>
            <a:r>
              <a:rPr kumimoji="0" lang="zh-CN" altLang="zh-CN" sz="1200" b="0" i="0" u="none" strike="noStrike" cap="none" normalizeH="0" baseline="0" dirty="0">
                <a:ln>
                  <a:noFill/>
                </a:ln>
                <a:solidFill>
                  <a:srgbClr val="000000"/>
                </a:solidFill>
                <a:effectLst/>
                <a:ea typeface="Inter"/>
              </a:rPr>
              <a:t> 计算确认值 </a:t>
            </a:r>
            <a:r>
              <a:rPr kumimoji="0" lang="zh-CN" altLang="zh-CN" sz="1200" b="0" i="0" u="none" strike="noStrike" cap="none" normalizeH="0" baseline="0" dirty="0">
                <a:ln>
                  <a:noFill/>
                </a:ln>
                <a:solidFill>
                  <a:srgbClr val="000000"/>
                </a:solidFill>
                <a:effectLst/>
                <a:latin typeface="Arial Unicode MS"/>
                <a:ea typeface="ui-monospace"/>
              </a:rPr>
              <a:t>Cb = f4(PKb, PKa, Nb, 0)</a:t>
            </a:r>
            <a:r>
              <a:rPr kumimoji="0" lang="zh-CN" altLang="zh-CN" sz="1200" b="0" i="0" u="none" strike="noStrike" cap="none" normalizeH="0" baseline="0" dirty="0">
                <a:ln>
                  <a:noFill/>
                </a:ln>
                <a:solidFill>
                  <a:srgbClr val="000000"/>
                </a:solidFill>
                <a:effectLst/>
                <a:ea typeface="Inter"/>
              </a:rPr>
              <a:t>，并发送给设备 A。</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发送随机数 </a:t>
            </a:r>
            <a:r>
              <a:rPr kumimoji="0" lang="zh-CN" altLang="zh-CN" sz="1200" b="0" i="0" u="none" strike="noStrike" cap="none" normalizeH="0" baseline="0" dirty="0">
                <a:ln>
                  <a:noFill/>
                </a:ln>
                <a:solidFill>
                  <a:srgbClr val="000000"/>
                </a:solidFill>
                <a:effectLst/>
                <a:latin typeface="Arial Unicode MS"/>
                <a:ea typeface="ui-monospace"/>
              </a:rPr>
              <a:t>Na</a:t>
            </a:r>
            <a:r>
              <a:rPr kumimoji="0" lang="zh-CN" altLang="zh-CN" sz="1200" b="0" i="0" u="none" strike="noStrike" cap="none" normalizeH="0" baseline="0" dirty="0">
                <a:ln>
                  <a:noFill/>
                </a:ln>
                <a:solidFill>
                  <a:srgbClr val="000000"/>
                </a:solidFill>
                <a:effectLst/>
                <a:ea typeface="Inter"/>
              </a:rPr>
              <a:t> 给设备 B，设备 B 发送随机数 </a:t>
            </a:r>
            <a:r>
              <a:rPr kumimoji="0" lang="zh-CN" altLang="zh-CN" sz="1200" b="0" i="0" u="none" strike="noStrike" cap="none" normalizeH="0" baseline="0" dirty="0">
                <a:ln>
                  <a:noFill/>
                </a:ln>
                <a:solidFill>
                  <a:srgbClr val="000000"/>
                </a:solidFill>
                <a:effectLst/>
                <a:latin typeface="Arial Unicode MS"/>
                <a:ea typeface="ui-monospace"/>
              </a:rPr>
              <a:t>Nb</a:t>
            </a:r>
            <a:r>
              <a:rPr kumimoji="0" lang="zh-CN" altLang="zh-CN" sz="1200" b="0" i="0" u="none" strike="noStrike" cap="none" normalizeH="0" baseline="0" dirty="0">
                <a:ln>
                  <a:noFill/>
                </a:ln>
                <a:solidFill>
                  <a:srgbClr val="000000"/>
                </a:solidFill>
                <a:effectLst/>
                <a:ea typeface="Inter"/>
              </a:rPr>
              <a:t> 给设备 A。</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本地计算 </a:t>
            </a:r>
            <a:r>
              <a:rPr kumimoji="0" lang="zh-CN" altLang="zh-CN" sz="1200" b="0" i="0" u="none" strike="noStrike" cap="none" normalizeH="0" baseline="0" dirty="0">
                <a:ln>
                  <a:noFill/>
                </a:ln>
                <a:solidFill>
                  <a:srgbClr val="000000"/>
                </a:solidFill>
                <a:effectLst/>
                <a:latin typeface="Arial Unicode MS"/>
                <a:ea typeface="ui-monospace"/>
              </a:rPr>
              <a:t>f4(PKb, PKa, Nb, 0)</a:t>
            </a:r>
            <a:r>
              <a:rPr kumimoji="0" lang="zh-CN" altLang="zh-CN" sz="1200" b="0" i="0" u="none" strike="noStrike" cap="none" normalizeH="0" baseline="0" dirty="0">
                <a:ln>
                  <a:noFill/>
                </a:ln>
                <a:solidFill>
                  <a:srgbClr val="000000"/>
                </a:solidFill>
                <a:effectLst/>
                <a:ea typeface="Inter"/>
              </a:rPr>
              <a:t>，并与收到的 </a:t>
            </a:r>
            <a:r>
              <a:rPr kumimoji="0" lang="zh-CN" altLang="zh-CN" sz="1200" b="0" i="0" u="none" strike="noStrike" cap="none" normalizeH="0" baseline="0" dirty="0">
                <a:ln>
                  <a:noFill/>
                </a:ln>
                <a:solidFill>
                  <a:srgbClr val="000000"/>
                </a:solidFill>
                <a:effectLst/>
                <a:latin typeface="Arial Unicode MS"/>
                <a:ea typeface="ui-monospace"/>
              </a:rPr>
              <a:t>Cb</a:t>
            </a:r>
            <a:r>
              <a:rPr kumimoji="0" lang="zh-CN" altLang="zh-CN" sz="1200" b="0" i="0" u="none" strike="noStrike" cap="none" normalizeH="0" baseline="0" dirty="0">
                <a:ln>
                  <a:noFill/>
                </a:ln>
                <a:solidFill>
                  <a:srgbClr val="000000"/>
                </a:solidFill>
                <a:effectLst/>
                <a:ea typeface="Inter"/>
              </a:rPr>
              <a:t> 比对，不一致则终止配对。</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生成并比对数字验证码</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双方使用函数 </a:t>
            </a:r>
            <a:r>
              <a:rPr kumimoji="0" lang="zh-CN" altLang="zh-CN" sz="1200" b="0" i="0" u="none" strike="noStrike" cap="none" normalizeH="0" baseline="0" dirty="0">
                <a:ln>
                  <a:noFill/>
                </a:ln>
                <a:solidFill>
                  <a:srgbClr val="000000"/>
                </a:solidFill>
                <a:effectLst/>
                <a:latin typeface="Arial Unicode MS"/>
                <a:ea typeface="ui-monospace"/>
              </a:rPr>
              <a:t>g2</a:t>
            </a:r>
            <a:r>
              <a:rPr kumimoji="0" lang="zh-CN" altLang="zh-CN" sz="1200" b="0" i="0" u="none" strike="noStrike" cap="none" normalizeH="0" baseline="0" dirty="0">
                <a:ln>
                  <a:noFill/>
                </a:ln>
                <a:solidFill>
                  <a:srgbClr val="000000"/>
                </a:solidFill>
                <a:effectLst/>
                <a:ea typeface="Inter"/>
              </a:rPr>
              <a:t> 生成 6 位数字验证码：</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a:t>
            </a:r>
            <a:r>
              <a:rPr kumimoji="0" lang="zh-CN" altLang="zh-CN" sz="1200" b="0" i="0" u="none" strike="noStrike" cap="none" normalizeH="0" baseline="0" dirty="0">
                <a:ln>
                  <a:noFill/>
                </a:ln>
                <a:solidFill>
                  <a:srgbClr val="000000"/>
                </a:solidFill>
                <a:effectLst/>
                <a:latin typeface="Arial Unicode MS"/>
                <a:ea typeface="ui-monospace"/>
              </a:rPr>
              <a:t>Va = g2(PKa, PKb, Na, Nb)</a:t>
            </a:r>
            <a:r>
              <a:rPr kumimoji="0" lang="zh-CN" altLang="zh-CN" sz="1200" b="0" i="0" u="none" strike="noStrike" cap="none" normalizeH="0" baseline="0" dirty="0">
                <a:ln>
                  <a:noFill/>
                </a:ln>
                <a:solidFill>
                  <a:srgbClr val="000000"/>
                </a:solidFill>
                <a:effectLst/>
                <a:ea typeface="Inter"/>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a:t>
            </a:r>
            <a:r>
              <a:rPr kumimoji="0" lang="zh-CN" altLang="zh-CN" sz="1200" b="0" i="0" u="none" strike="noStrike" cap="none" normalizeH="0" baseline="0" dirty="0">
                <a:ln>
                  <a:noFill/>
                </a:ln>
                <a:solidFill>
                  <a:srgbClr val="000000"/>
                </a:solidFill>
                <a:effectLst/>
                <a:latin typeface="Arial Unicode MS"/>
                <a:ea typeface="ui-monospace"/>
              </a:rPr>
              <a:t>Vb = g2(PKa, PKb, Na, Nb)</a:t>
            </a:r>
            <a:r>
              <a:rPr kumimoji="0" lang="zh-CN" altLang="zh-CN" sz="1200" b="0" i="0" u="none" strike="noStrike" cap="none" normalizeH="0" baseline="0" dirty="0">
                <a:ln>
                  <a:noFill/>
                </a:ln>
                <a:solidFill>
                  <a:srgbClr val="000000"/>
                </a:solidFill>
                <a:effectLst/>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设备分别显示 </a:t>
            </a:r>
            <a:r>
              <a:rPr kumimoji="0" lang="zh-CN" altLang="zh-CN" sz="1200" b="0" i="0" u="none" strike="noStrike" cap="none" normalizeH="0" baseline="0" dirty="0">
                <a:ln>
                  <a:noFill/>
                </a:ln>
                <a:solidFill>
                  <a:srgbClr val="000000"/>
                </a:solidFill>
                <a:effectLst/>
                <a:latin typeface="Arial Unicode MS"/>
                <a:ea typeface="ui-monospace"/>
              </a:rPr>
              <a:t>Va</a:t>
            </a:r>
            <a:r>
              <a:rPr kumimoji="0" lang="zh-CN" altLang="zh-CN" sz="1200" b="0" i="0" u="none" strike="noStrike" cap="none" normalizeH="0" baseline="0" dirty="0">
                <a:ln>
                  <a:noFill/>
                </a:ln>
                <a:solidFill>
                  <a:srgbClr val="000000"/>
                </a:solidFill>
                <a:effectLst/>
                <a:ea typeface="Inter"/>
              </a:rPr>
              <a:t> 和 </a:t>
            </a:r>
            <a:r>
              <a:rPr kumimoji="0" lang="zh-CN" altLang="zh-CN" sz="1200" b="0" i="0" u="none" strike="noStrike" cap="none" normalizeH="0" baseline="0" dirty="0">
                <a:ln>
                  <a:noFill/>
                </a:ln>
                <a:solidFill>
                  <a:srgbClr val="000000"/>
                </a:solidFill>
                <a:effectLst/>
                <a:latin typeface="Arial Unicode MS"/>
                <a:ea typeface="ui-monospace"/>
              </a:rPr>
              <a:t>Vb</a:t>
            </a:r>
            <a:r>
              <a:rPr kumimoji="0" lang="zh-CN" altLang="zh-CN" sz="1200" b="0" i="0" u="none" strike="noStrike" cap="none" normalizeH="0" baseline="0" dirty="0">
                <a:ln>
                  <a:noFill/>
                </a:ln>
                <a:solidFill>
                  <a:srgbClr val="000000"/>
                </a:solidFill>
                <a:effectLst/>
                <a:ea typeface="Inter"/>
              </a:rPr>
              <a:t>，由用户确认两者是否一致。</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用户确认与流程推进</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若用户确认数字一致，双方进入后续的 LTK 生成阶段；若不一致则终止配对。</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1200" dirty="0">
                <a:latin typeface="Arial" panose="020B0604020202020204" pitchFamily="34" charset="0"/>
              </a:rPr>
              <a:t>注：若是无显无输入则没有用户确认这一步</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49080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2EAE3-2F5C-8C4C-7F1D-474F59B8C7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D05C618-5360-5916-57CA-9B8F0AF381BD}"/>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密钥加密配对流程</a:t>
            </a:r>
            <a:r>
              <a:rPr lang="en-US" altLang="zh-CN" sz="2400" b="1" spc="-38" dirty="0">
                <a:solidFill>
                  <a:srgbClr val="DFC27B"/>
                </a:solidFill>
                <a:latin typeface="Calibri" panose="020F0502020204030204" pitchFamily="34" charset="0"/>
                <a:cs typeface="Calibri" panose="020F0502020204030204" pitchFamily="34" charset="0"/>
              </a:rPr>
              <a:t>-Passkey Entry</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5" name="图片 4" descr="图示&#10;&#10;AI 生成的内容可能不正确。">
            <a:extLst>
              <a:ext uri="{FF2B5EF4-FFF2-40B4-BE49-F238E27FC236}">
                <a16:creationId xmlns:a16="http://schemas.microsoft.com/office/drawing/2014/main" id="{A039F61F-9BAC-6B4F-26E6-284CA9D56F58}"/>
              </a:ext>
            </a:extLst>
          </p:cNvPr>
          <p:cNvPicPr>
            <a:picLocks noChangeAspect="1"/>
          </p:cNvPicPr>
          <p:nvPr/>
        </p:nvPicPr>
        <p:blipFill>
          <a:blip r:embed="rId2"/>
          <a:stretch>
            <a:fillRect/>
          </a:stretch>
        </p:blipFill>
        <p:spPr>
          <a:xfrm>
            <a:off x="367749" y="587682"/>
            <a:ext cx="3907735" cy="3939592"/>
          </a:xfrm>
          <a:prstGeom prst="rect">
            <a:avLst/>
          </a:prstGeom>
        </p:spPr>
      </p:pic>
      <p:sp>
        <p:nvSpPr>
          <p:cNvPr id="8" name="Rectangle 2">
            <a:extLst>
              <a:ext uri="{FF2B5EF4-FFF2-40B4-BE49-F238E27FC236}">
                <a16:creationId xmlns:a16="http://schemas.microsoft.com/office/drawing/2014/main" id="{053F5E7B-D166-F204-CDF1-2358ECC21B9F}"/>
              </a:ext>
            </a:extLst>
          </p:cNvPr>
          <p:cNvSpPr>
            <a:spLocks noChangeArrowheads="1"/>
          </p:cNvSpPr>
          <p:nvPr/>
        </p:nvSpPr>
        <p:spPr bwMode="auto">
          <a:xfrm>
            <a:off x="4482547" y="655881"/>
            <a:ext cx="4403035"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密钥注入与初始化</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注入用户输入的 6 位密钥 </a:t>
            </a:r>
            <a:r>
              <a:rPr kumimoji="0" lang="zh-CN" altLang="zh-CN" sz="1200" b="0" i="0" u="none" strike="noStrike" cap="none" normalizeH="0" baseline="0" dirty="0">
                <a:ln>
                  <a:noFill/>
                </a:ln>
                <a:solidFill>
                  <a:srgbClr val="000000"/>
                </a:solidFill>
                <a:effectLst/>
                <a:latin typeface="Arial Unicode MS"/>
                <a:ea typeface="ui-monospace"/>
              </a:rPr>
              <a:t>ra</a:t>
            </a:r>
            <a:r>
              <a:rPr kumimoji="0" lang="zh-CN" altLang="zh-CN" sz="1200" b="0" i="0" u="none" strike="noStrike" cap="none" normalizeH="0" baseline="0" dirty="0">
                <a:ln>
                  <a:noFill/>
                </a:ln>
                <a:solidFill>
                  <a:srgbClr val="000000"/>
                </a:solidFill>
                <a:effectLst/>
                <a:ea typeface="Inter"/>
              </a:rPr>
              <a:t>，并设置 </a:t>
            </a:r>
            <a:r>
              <a:rPr kumimoji="0" lang="zh-CN" altLang="zh-CN" sz="1200" b="0" i="0" u="none" strike="noStrike" cap="none" normalizeH="0" baseline="0" dirty="0">
                <a:ln>
                  <a:noFill/>
                </a:ln>
                <a:solidFill>
                  <a:srgbClr val="000000"/>
                </a:solidFill>
                <a:effectLst/>
                <a:latin typeface="Arial Unicode MS"/>
                <a:ea typeface="ui-monospace"/>
              </a:rPr>
              <a:t>rb = ra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注入相同的 6 位密钥 </a:t>
            </a:r>
            <a:r>
              <a:rPr kumimoji="0" lang="zh-CN" altLang="zh-CN" sz="1200" b="0" i="0" u="none" strike="noStrike" cap="none" normalizeH="0" baseline="0" dirty="0">
                <a:ln>
                  <a:noFill/>
                </a:ln>
                <a:solidFill>
                  <a:srgbClr val="000000"/>
                </a:solidFill>
                <a:effectLst/>
                <a:latin typeface="Arial Unicode MS"/>
                <a:ea typeface="ui-monospace"/>
              </a:rPr>
              <a:t>rb</a:t>
            </a:r>
            <a:r>
              <a:rPr kumimoji="0" lang="zh-CN" altLang="zh-CN" sz="1200" b="0" i="0" u="none" strike="noStrike" cap="none" normalizeH="0" baseline="0" dirty="0">
                <a:ln>
                  <a:noFill/>
                </a:ln>
                <a:solidFill>
                  <a:srgbClr val="000000"/>
                </a:solidFill>
                <a:effectLst/>
                <a:ea typeface="Inter"/>
              </a:rPr>
              <a:t>，并设置 </a:t>
            </a:r>
            <a:r>
              <a:rPr kumimoji="0" lang="zh-CN" altLang="zh-CN" sz="1200" b="0" i="0" u="none" strike="noStrike" cap="none" normalizeH="0" baseline="0" dirty="0">
                <a:ln>
                  <a:noFill/>
                </a:ln>
                <a:solidFill>
                  <a:srgbClr val="000000"/>
                </a:solidFill>
                <a:effectLst/>
                <a:latin typeface="Arial Unicode MS"/>
                <a:ea typeface="ui-monospace"/>
              </a:rPr>
              <a:t>ra = rb</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这个密钥会被拆分为 20 轮计算的输入（</a:t>
            </a:r>
            <a:r>
              <a:rPr kumimoji="0" lang="zh-CN" altLang="zh-CN" sz="1200" b="0" i="0" u="none" strike="noStrike" cap="none" normalizeH="0" baseline="0" dirty="0">
                <a:ln>
                  <a:noFill/>
                </a:ln>
                <a:solidFill>
                  <a:srgbClr val="000000"/>
                </a:solidFill>
                <a:effectLst/>
                <a:latin typeface="Arial Unicode MS"/>
                <a:ea typeface="ui-monospace"/>
              </a:rPr>
              <a:t>ra1~ra20</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rb1~rb20</a:t>
            </a:r>
            <a:r>
              <a:rPr kumimoji="0" lang="zh-CN" altLang="zh-CN" sz="1200" b="0" i="0" u="none" strike="noStrike" cap="none" normalizeH="0" baseline="0" dirty="0">
                <a:ln>
                  <a:noFill/>
                </a:ln>
                <a:solidFill>
                  <a:srgbClr val="000000"/>
                </a:solidFill>
                <a:effectLst/>
                <a:ea typeface="Inter"/>
              </a:rPr>
              <a:t>），每轮使用新的随机数。</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多轮随机数与确认值计算</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每轮流程</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（共执行 20 轮）：</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生成随机数 </a:t>
            </a:r>
            <a:r>
              <a:rPr kumimoji="0" lang="zh-CN" altLang="zh-CN" sz="1200" b="0" i="0" u="none" strike="noStrike" cap="none" normalizeH="0" baseline="0" dirty="0">
                <a:ln>
                  <a:noFill/>
                </a:ln>
                <a:solidFill>
                  <a:srgbClr val="000000"/>
                </a:solidFill>
                <a:effectLst/>
                <a:latin typeface="Arial Unicode MS"/>
                <a:ea typeface="ui-monospace"/>
              </a:rPr>
              <a:t>Nai</a:t>
            </a:r>
            <a:r>
              <a:rPr kumimoji="0" lang="zh-CN" altLang="zh-CN" sz="1200" b="0" i="0" u="none" strike="noStrike" cap="none" normalizeH="0" baseline="0" dirty="0">
                <a:ln>
                  <a:noFill/>
                </a:ln>
                <a:solidFill>
                  <a:srgbClr val="000000"/>
                </a:solidFill>
                <a:effectLst/>
                <a:ea typeface="Inter"/>
              </a:rPr>
              <a:t>，计算确认值 </a:t>
            </a:r>
            <a:r>
              <a:rPr kumimoji="0" lang="zh-CN" altLang="zh-CN" sz="1200" b="0" i="0" u="none" strike="noStrike" cap="none" normalizeH="0" baseline="0" dirty="0">
                <a:ln>
                  <a:noFill/>
                </a:ln>
                <a:solidFill>
                  <a:srgbClr val="000000"/>
                </a:solidFill>
                <a:effectLst/>
                <a:latin typeface="Arial Unicode MS"/>
                <a:ea typeface="ui-monospace"/>
              </a:rPr>
              <a:t>Cai = f4(PKa, PKb, Nai, rai)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生成随机数 </a:t>
            </a:r>
            <a:r>
              <a:rPr kumimoji="0" lang="zh-CN" altLang="zh-CN" sz="1200" b="0" i="0" u="none" strike="noStrike" cap="none" normalizeH="0" baseline="0" dirty="0">
                <a:ln>
                  <a:noFill/>
                </a:ln>
                <a:solidFill>
                  <a:srgbClr val="000000"/>
                </a:solidFill>
                <a:effectLst/>
                <a:latin typeface="Arial Unicode MS"/>
                <a:ea typeface="ui-monospace"/>
              </a:rPr>
              <a:t>Nbi</a:t>
            </a:r>
            <a:r>
              <a:rPr kumimoji="0" lang="zh-CN" altLang="zh-CN" sz="1200" b="0" i="0" u="none" strike="noStrike" cap="none" normalizeH="0" baseline="0" dirty="0">
                <a:ln>
                  <a:noFill/>
                </a:ln>
                <a:solidFill>
                  <a:srgbClr val="000000"/>
                </a:solidFill>
                <a:effectLst/>
                <a:ea typeface="Inter"/>
              </a:rPr>
              <a:t>，计算确认值 </a:t>
            </a:r>
            <a:r>
              <a:rPr kumimoji="0" lang="zh-CN" altLang="zh-CN" sz="1200" b="0" i="0" u="none" strike="noStrike" cap="none" normalizeH="0" baseline="0" dirty="0">
                <a:ln>
                  <a:noFill/>
                </a:ln>
                <a:solidFill>
                  <a:srgbClr val="000000"/>
                </a:solidFill>
                <a:effectLst/>
                <a:latin typeface="Arial Unicode MS"/>
                <a:ea typeface="ui-monospace"/>
              </a:rPr>
              <a:t>Cbi = f4(PKb, PKa, Nbi, rbi)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双方交换 </a:t>
            </a:r>
            <a:r>
              <a:rPr kumimoji="0" lang="zh-CN" altLang="zh-CN" sz="1200" b="0" i="0" u="none" strike="noStrike" cap="none" normalizeH="0" baseline="0" dirty="0">
                <a:ln>
                  <a:noFill/>
                </a:ln>
                <a:solidFill>
                  <a:srgbClr val="000000"/>
                </a:solidFill>
                <a:effectLst/>
                <a:latin typeface="Arial Unicode MS"/>
                <a:ea typeface="ui-monospace"/>
              </a:rPr>
              <a:t>Cai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Cbi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Nai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Nbi</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验证 </a:t>
            </a:r>
            <a:r>
              <a:rPr kumimoji="0" lang="zh-CN" altLang="zh-CN" sz="1200" b="0" i="0" u="none" strike="noStrike" cap="none" normalizeH="0" baseline="0" dirty="0">
                <a:ln>
                  <a:noFill/>
                </a:ln>
                <a:solidFill>
                  <a:srgbClr val="000000"/>
                </a:solidFill>
                <a:effectLst/>
                <a:latin typeface="Arial Unicode MS"/>
                <a:ea typeface="ui-monospace"/>
              </a:rPr>
              <a:t>Cai</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f4(PKa, PKb, Nai, rbi)</a:t>
            </a:r>
            <a:r>
              <a:rPr kumimoji="0" lang="zh-CN" altLang="zh-CN" sz="1200" b="0" i="0" u="none" strike="noStrike" cap="none" normalizeH="0" baseline="0" dirty="0">
                <a:ln>
                  <a:noFill/>
                </a:ln>
                <a:solidFill>
                  <a:srgbClr val="000000"/>
                </a:solidFill>
                <a:effectLst/>
                <a:ea typeface="Inter"/>
              </a:rPr>
              <a:t> 一致。</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验证 </a:t>
            </a:r>
            <a:r>
              <a:rPr kumimoji="0" lang="zh-CN" altLang="zh-CN" sz="1200" b="0" i="0" u="none" strike="noStrike" cap="none" normalizeH="0" baseline="0" dirty="0">
                <a:ln>
                  <a:noFill/>
                </a:ln>
                <a:solidFill>
                  <a:srgbClr val="000000"/>
                </a:solidFill>
                <a:effectLst/>
                <a:latin typeface="Arial Unicode MS"/>
                <a:ea typeface="ui-monospace"/>
              </a:rPr>
              <a:t>Cbi</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f4(PKb, PKa, Nbi, rai)</a:t>
            </a:r>
            <a:r>
              <a:rPr kumimoji="0" lang="zh-CN" altLang="zh-CN" sz="1200" b="0" i="0" u="none" strike="noStrike" cap="none" normalizeH="0" baseline="0" dirty="0">
                <a:ln>
                  <a:noFill/>
                </a:ln>
                <a:solidFill>
                  <a:srgbClr val="000000"/>
                </a:solidFill>
                <a:effectLst/>
                <a:ea typeface="Inter"/>
              </a:rPr>
              <a:t> 一致。</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6"/>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若任意一轮验证失败，配对立即终止。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验证通过后推进</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20 轮验证全部通过后，双方确认拥有相同的 6 位密钥，进入后续的 LTK 生成阶段。</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93251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E011-D287-19DA-F8AE-CEAEEA9B5A2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9A718F4-E917-3247-1F3C-13F164A8E249}"/>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密钥加密配对流程</a:t>
            </a:r>
            <a:r>
              <a:rPr lang="en-US" altLang="zh-CN" sz="2400" b="1" spc="-38" dirty="0">
                <a:solidFill>
                  <a:srgbClr val="DFC27B"/>
                </a:solidFill>
                <a:latin typeface="Calibri" panose="020F0502020204030204" pitchFamily="34" charset="0"/>
                <a:cs typeface="Calibri" panose="020F0502020204030204" pitchFamily="34" charset="0"/>
              </a:rPr>
              <a:t>-Out of Band</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4" name="图片 3" descr="图示&#10;&#10;AI 生成的内容可能不正确。">
            <a:extLst>
              <a:ext uri="{FF2B5EF4-FFF2-40B4-BE49-F238E27FC236}">
                <a16:creationId xmlns:a16="http://schemas.microsoft.com/office/drawing/2014/main" id="{26123CEA-6B29-D2AD-7A70-5B921565D510}"/>
              </a:ext>
            </a:extLst>
          </p:cNvPr>
          <p:cNvPicPr>
            <a:picLocks noChangeAspect="1"/>
          </p:cNvPicPr>
          <p:nvPr/>
        </p:nvPicPr>
        <p:blipFill>
          <a:blip r:embed="rId2"/>
          <a:stretch>
            <a:fillRect/>
          </a:stretch>
        </p:blipFill>
        <p:spPr>
          <a:xfrm>
            <a:off x="352838" y="587682"/>
            <a:ext cx="3770467" cy="4216917"/>
          </a:xfrm>
          <a:prstGeom prst="rect">
            <a:avLst/>
          </a:prstGeom>
        </p:spPr>
      </p:pic>
      <p:sp>
        <p:nvSpPr>
          <p:cNvPr id="6" name="Rectangle 1">
            <a:extLst>
              <a:ext uri="{FF2B5EF4-FFF2-40B4-BE49-F238E27FC236}">
                <a16:creationId xmlns:a16="http://schemas.microsoft.com/office/drawing/2014/main" id="{5EDDF128-13FE-24DC-53D8-AEB51083CF99}"/>
              </a:ext>
            </a:extLst>
          </p:cNvPr>
          <p:cNvSpPr>
            <a:spLocks noChangeArrowheads="1"/>
          </p:cNvSpPr>
          <p:nvPr/>
        </p:nvSpPr>
        <p:spPr bwMode="auto">
          <a:xfrm>
            <a:off x="3955553" y="725090"/>
            <a:ext cx="491412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本地参数初始化与确认值计算</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生成随机数 </a:t>
            </a:r>
            <a:r>
              <a:rPr kumimoji="0" lang="zh-CN" altLang="zh-CN" sz="1200" b="0" i="0" u="none" strike="noStrike" cap="none" normalizeH="0" baseline="0" dirty="0">
                <a:ln>
                  <a:noFill/>
                </a:ln>
                <a:solidFill>
                  <a:srgbClr val="000000"/>
                </a:solidFill>
                <a:effectLst/>
                <a:latin typeface="Arial Unicode MS"/>
                <a:ea typeface="ui-monospace"/>
              </a:rPr>
              <a:t>ra</a:t>
            </a:r>
            <a:r>
              <a:rPr kumimoji="0" lang="zh-CN" altLang="zh-CN" sz="1200" b="0" i="0" u="none" strike="noStrike" cap="none" normalizeH="0" baseline="0" dirty="0">
                <a:ln>
                  <a:noFill/>
                </a:ln>
                <a:solidFill>
                  <a:srgbClr val="000000"/>
                </a:solidFill>
                <a:effectLst/>
                <a:ea typeface="Inter"/>
              </a:rPr>
              <a:t>，设置 </a:t>
            </a:r>
            <a:r>
              <a:rPr kumimoji="0" lang="zh-CN" altLang="zh-CN" sz="1200" b="0" i="0" u="none" strike="noStrike" cap="none" normalizeH="0" baseline="0" dirty="0">
                <a:ln>
                  <a:noFill/>
                </a:ln>
                <a:solidFill>
                  <a:srgbClr val="000000"/>
                </a:solidFill>
                <a:effectLst/>
                <a:latin typeface="Arial Unicode MS"/>
                <a:ea typeface="ui-monospace"/>
              </a:rPr>
              <a:t>rb=0</a:t>
            </a:r>
            <a:r>
              <a:rPr kumimoji="0" lang="zh-CN" altLang="zh-CN" sz="1200" b="0" i="0" u="none" strike="noStrike" cap="none" normalizeH="0" baseline="0" dirty="0">
                <a:ln>
                  <a:noFill/>
                </a:ln>
                <a:solidFill>
                  <a:srgbClr val="000000"/>
                </a:solidFill>
                <a:effectLst/>
                <a:ea typeface="Inter"/>
              </a:rPr>
              <a:t>，并计算确认值 </a:t>
            </a:r>
            <a:r>
              <a:rPr kumimoji="0" lang="zh-CN" altLang="zh-CN" sz="1200" b="0" i="0" u="none" strike="noStrike" cap="none" normalizeH="0" baseline="0" dirty="0">
                <a:ln>
                  <a:noFill/>
                </a:ln>
                <a:solidFill>
                  <a:srgbClr val="000000"/>
                </a:solidFill>
                <a:effectLst/>
                <a:latin typeface="Arial Unicode MS"/>
                <a:ea typeface="ui-monospace"/>
              </a:rPr>
              <a:t>Ca = f4(PKa, PKa, ra, 0)</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生成随机数 </a:t>
            </a:r>
            <a:r>
              <a:rPr kumimoji="0" lang="zh-CN" altLang="zh-CN" sz="1200" b="0" i="0" u="none" strike="noStrike" cap="none" normalizeH="0" baseline="0" dirty="0">
                <a:ln>
                  <a:noFill/>
                </a:ln>
                <a:solidFill>
                  <a:srgbClr val="000000"/>
                </a:solidFill>
                <a:effectLst/>
                <a:latin typeface="Arial Unicode MS"/>
                <a:ea typeface="ui-monospace"/>
              </a:rPr>
              <a:t>rb</a:t>
            </a:r>
            <a:r>
              <a:rPr kumimoji="0" lang="zh-CN" altLang="zh-CN" sz="1200" b="0" i="0" u="none" strike="noStrike" cap="none" normalizeH="0" baseline="0" dirty="0">
                <a:ln>
                  <a:noFill/>
                </a:ln>
                <a:solidFill>
                  <a:srgbClr val="000000"/>
                </a:solidFill>
                <a:effectLst/>
                <a:ea typeface="Inter"/>
              </a:rPr>
              <a:t>，设置 </a:t>
            </a:r>
            <a:r>
              <a:rPr kumimoji="0" lang="zh-CN" altLang="zh-CN" sz="1200" b="0" i="0" u="none" strike="noStrike" cap="none" normalizeH="0" baseline="0" dirty="0">
                <a:ln>
                  <a:noFill/>
                </a:ln>
                <a:solidFill>
                  <a:srgbClr val="000000"/>
                </a:solidFill>
                <a:effectLst/>
                <a:latin typeface="Arial Unicode MS"/>
                <a:ea typeface="ui-monospace"/>
              </a:rPr>
              <a:t>ra=0</a:t>
            </a:r>
            <a:r>
              <a:rPr kumimoji="0" lang="zh-CN" altLang="zh-CN" sz="1200" b="0" i="0" u="none" strike="noStrike" cap="none" normalizeH="0" baseline="0" dirty="0">
                <a:ln>
                  <a:noFill/>
                </a:ln>
                <a:solidFill>
                  <a:srgbClr val="000000"/>
                </a:solidFill>
                <a:effectLst/>
                <a:ea typeface="Inter"/>
              </a:rPr>
              <a:t>，并计算确认值 </a:t>
            </a:r>
            <a:r>
              <a:rPr kumimoji="0" lang="zh-CN" altLang="zh-CN" sz="1200" b="0" i="0" u="none" strike="noStrike" cap="none" normalizeH="0" baseline="0" dirty="0">
                <a:ln>
                  <a:noFill/>
                </a:ln>
                <a:solidFill>
                  <a:srgbClr val="000000"/>
                </a:solidFill>
                <a:effectLst/>
                <a:latin typeface="Arial Unicode MS"/>
                <a:ea typeface="ui-monospace"/>
              </a:rPr>
              <a:t>Cb = f4(PKb, PKb, rb, 0)</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带外信道交换信息</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通过 OOB 信道（如 NFC），设备 A 将自身地址 </a:t>
            </a:r>
            <a:r>
              <a:rPr kumimoji="0" lang="zh-CN" altLang="zh-CN" sz="1200" b="0" i="0" u="none" strike="noStrike" cap="none" normalizeH="0" baseline="0" dirty="0">
                <a:ln>
                  <a:noFill/>
                </a:ln>
                <a:solidFill>
                  <a:srgbClr val="000000"/>
                </a:solidFill>
                <a:effectLst/>
                <a:latin typeface="Arial Unicode MS"/>
                <a:ea typeface="ui-monospace"/>
              </a:rPr>
              <a:t>A</a:t>
            </a:r>
            <a:r>
              <a:rPr kumimoji="0" lang="zh-CN" altLang="zh-CN" sz="1200" b="0" i="0" u="none" strike="noStrike" cap="none" normalizeH="0" baseline="0" dirty="0">
                <a:ln>
                  <a:noFill/>
                </a:ln>
                <a:solidFill>
                  <a:srgbClr val="000000"/>
                </a:solidFill>
                <a:effectLst/>
                <a:ea typeface="Inter"/>
              </a:rPr>
              <a:t>、随机数 </a:t>
            </a:r>
            <a:r>
              <a:rPr kumimoji="0" lang="zh-CN" altLang="zh-CN" sz="1200" b="0" i="0" u="none" strike="noStrike" cap="none" normalizeH="0" baseline="0" dirty="0">
                <a:ln>
                  <a:noFill/>
                </a:ln>
                <a:solidFill>
                  <a:srgbClr val="000000"/>
                </a:solidFill>
                <a:effectLst/>
                <a:latin typeface="Arial Unicode MS"/>
                <a:ea typeface="ui-monospace"/>
              </a:rPr>
              <a:t>ra</a:t>
            </a:r>
            <a:r>
              <a:rPr kumimoji="0" lang="zh-CN" altLang="zh-CN" sz="1200" b="0" i="0" u="none" strike="noStrike" cap="none" normalizeH="0" baseline="0" dirty="0">
                <a:ln>
                  <a:noFill/>
                </a:ln>
                <a:solidFill>
                  <a:srgbClr val="000000"/>
                </a:solidFill>
                <a:effectLst/>
                <a:ea typeface="Inter"/>
              </a:rPr>
              <a:t> 和确认值 </a:t>
            </a:r>
            <a:r>
              <a:rPr kumimoji="0" lang="zh-CN" altLang="zh-CN" sz="1200" b="0" i="0" u="none" strike="noStrike" cap="none" normalizeH="0" baseline="0" dirty="0">
                <a:ln>
                  <a:noFill/>
                </a:ln>
                <a:solidFill>
                  <a:srgbClr val="000000"/>
                </a:solidFill>
                <a:effectLst/>
                <a:latin typeface="Arial Unicode MS"/>
                <a:ea typeface="ui-monospace"/>
              </a:rPr>
              <a:t>Ca</a:t>
            </a:r>
            <a:r>
              <a:rPr kumimoji="0" lang="zh-CN" altLang="zh-CN" sz="1200" b="0" i="0" u="none" strike="noStrike" cap="none" normalizeH="0" baseline="0" dirty="0">
                <a:ln>
                  <a:noFill/>
                </a:ln>
                <a:solidFill>
                  <a:srgbClr val="000000"/>
                </a:solidFill>
                <a:effectLst/>
                <a:ea typeface="Inter"/>
              </a:rPr>
              <a:t> 发送给设备 B。</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将自身地址 </a:t>
            </a:r>
            <a:r>
              <a:rPr kumimoji="0" lang="zh-CN" altLang="zh-CN" sz="1200" b="0" i="0" u="none" strike="noStrike" cap="none" normalizeH="0" baseline="0" dirty="0">
                <a:ln>
                  <a:noFill/>
                </a:ln>
                <a:solidFill>
                  <a:srgbClr val="000000"/>
                </a:solidFill>
                <a:effectLst/>
                <a:latin typeface="Arial Unicode MS"/>
                <a:ea typeface="ui-monospace"/>
              </a:rPr>
              <a:t>B</a:t>
            </a:r>
            <a:r>
              <a:rPr kumimoji="0" lang="zh-CN" altLang="zh-CN" sz="1200" b="0" i="0" u="none" strike="noStrike" cap="none" normalizeH="0" baseline="0" dirty="0">
                <a:ln>
                  <a:noFill/>
                </a:ln>
                <a:solidFill>
                  <a:srgbClr val="000000"/>
                </a:solidFill>
                <a:effectLst/>
                <a:ea typeface="Inter"/>
              </a:rPr>
              <a:t>、随机数 </a:t>
            </a:r>
            <a:r>
              <a:rPr kumimoji="0" lang="zh-CN" altLang="zh-CN" sz="1200" b="0" i="0" u="none" strike="noStrike" cap="none" normalizeH="0" baseline="0" dirty="0">
                <a:ln>
                  <a:noFill/>
                </a:ln>
                <a:solidFill>
                  <a:srgbClr val="000000"/>
                </a:solidFill>
                <a:effectLst/>
                <a:latin typeface="Arial Unicode MS"/>
                <a:ea typeface="ui-monospace"/>
              </a:rPr>
              <a:t>rb</a:t>
            </a:r>
            <a:r>
              <a:rPr kumimoji="0" lang="zh-CN" altLang="zh-CN" sz="1200" b="0" i="0" u="none" strike="noStrike" cap="none" normalizeH="0" baseline="0" dirty="0">
                <a:ln>
                  <a:noFill/>
                </a:ln>
                <a:solidFill>
                  <a:srgbClr val="000000"/>
                </a:solidFill>
                <a:effectLst/>
                <a:ea typeface="Inter"/>
              </a:rPr>
              <a:t> 和确认值 </a:t>
            </a:r>
            <a:r>
              <a:rPr kumimoji="0" lang="zh-CN" altLang="zh-CN" sz="1200" b="0" i="0" u="none" strike="noStrike" cap="none" normalizeH="0" baseline="0" dirty="0">
                <a:ln>
                  <a:noFill/>
                </a:ln>
                <a:solidFill>
                  <a:srgbClr val="000000"/>
                </a:solidFill>
                <a:effectLst/>
                <a:latin typeface="Arial Unicode MS"/>
                <a:ea typeface="ui-monospace"/>
              </a:rPr>
              <a:t>Cb</a:t>
            </a:r>
            <a:r>
              <a:rPr kumimoji="0" lang="zh-CN" altLang="zh-CN" sz="1200" b="0" i="0" u="none" strike="noStrike" cap="none" normalizeH="0" baseline="0" dirty="0">
                <a:ln>
                  <a:noFill/>
                </a:ln>
                <a:solidFill>
                  <a:srgbClr val="000000"/>
                </a:solidFill>
                <a:effectLst/>
                <a:ea typeface="Inter"/>
              </a:rPr>
              <a:t> 发送给设备 A。</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验证带外数据</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验证 </a:t>
            </a:r>
            <a:r>
              <a:rPr kumimoji="0" lang="zh-CN" altLang="zh-CN" sz="1200" b="0" i="0" u="none" strike="noStrike" cap="none" normalizeH="0" baseline="0" dirty="0">
                <a:ln>
                  <a:noFill/>
                </a:ln>
                <a:solidFill>
                  <a:srgbClr val="000000"/>
                </a:solidFill>
                <a:effectLst/>
                <a:latin typeface="Arial Unicode MS"/>
                <a:ea typeface="ui-monospace"/>
              </a:rPr>
              <a:t>Ca</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f4(PKa, PKa, ra, 0)</a:t>
            </a:r>
            <a:r>
              <a:rPr kumimoji="0" lang="zh-CN" altLang="zh-CN" sz="1200" b="0" i="0" u="none" strike="noStrike" cap="none" normalizeH="0" baseline="0" dirty="0">
                <a:ln>
                  <a:noFill/>
                </a:ln>
                <a:solidFill>
                  <a:srgbClr val="000000"/>
                </a:solidFill>
                <a:effectLst/>
                <a:ea typeface="Inter"/>
              </a:rPr>
              <a:t> 一致，若不一致则终止配对。</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验证 </a:t>
            </a:r>
            <a:r>
              <a:rPr kumimoji="0" lang="zh-CN" altLang="zh-CN" sz="1200" b="0" i="0" u="none" strike="noStrike" cap="none" normalizeH="0" baseline="0" dirty="0">
                <a:ln>
                  <a:noFill/>
                </a:ln>
                <a:solidFill>
                  <a:srgbClr val="000000"/>
                </a:solidFill>
                <a:effectLst/>
                <a:latin typeface="Arial Unicode MS"/>
                <a:ea typeface="ui-monospace"/>
              </a:rPr>
              <a:t>Cb</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f4(PKb, PKb, rb, 0)</a:t>
            </a:r>
            <a:r>
              <a:rPr kumimoji="0" lang="zh-CN" altLang="zh-CN" sz="1200" b="0" i="0" u="none" strike="noStrike" cap="none" normalizeH="0" baseline="0" dirty="0">
                <a:ln>
                  <a:noFill/>
                </a:ln>
                <a:solidFill>
                  <a:srgbClr val="000000"/>
                </a:solidFill>
                <a:effectLst/>
                <a:ea typeface="Inter"/>
              </a:rPr>
              <a:t> 一致，若不一致则终止配对。</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若设备 IO 能力未声明支持 OOB，会自动将对方的随机数重置为 0，降级为 Just Works 模式。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进入 SMP 配对主流程</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双方生成新的随机数 </a:t>
            </a:r>
            <a:r>
              <a:rPr kumimoji="0" lang="zh-CN" altLang="zh-CN" sz="1200" b="0" i="0" u="none" strike="noStrike" cap="none" normalizeH="0" baseline="0" dirty="0">
                <a:ln>
                  <a:noFill/>
                </a:ln>
                <a:solidFill>
                  <a:srgbClr val="000000"/>
                </a:solidFill>
                <a:effectLst/>
                <a:latin typeface="Arial Unicode MS"/>
                <a:ea typeface="ui-monospace"/>
              </a:rPr>
              <a:t>Na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Nb</a:t>
            </a:r>
            <a:r>
              <a:rPr kumimoji="0" lang="zh-CN" altLang="zh-CN" sz="1200" b="0" i="0" u="none" strike="noStrike" cap="none" normalizeH="0" baseline="0" dirty="0">
                <a:ln>
                  <a:noFill/>
                </a:ln>
                <a:solidFill>
                  <a:srgbClr val="000000"/>
                </a:solidFill>
                <a:effectLst/>
                <a:ea typeface="Inter"/>
              </a:rPr>
              <a:t> 并交换，为后续生成长期密钥（LTK）做准备。</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7654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D065C-6053-720F-52F1-09856C09C72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35476B5-7773-922F-1B0F-38DAA6A473B5}"/>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SMP </a:t>
            </a:r>
            <a:r>
              <a:rPr lang="zh-CN" altLang="en-US" sz="2400" b="1" spc="-38" dirty="0">
                <a:solidFill>
                  <a:srgbClr val="DFC27B"/>
                </a:solidFill>
                <a:latin typeface="Calibri" panose="020F0502020204030204" pitchFamily="34" charset="0"/>
                <a:cs typeface="Calibri" panose="020F0502020204030204" pitchFamily="34" charset="0"/>
              </a:rPr>
              <a:t>密钥加密配对流程</a:t>
            </a:r>
            <a:r>
              <a:rPr lang="en-US" altLang="zh-CN" sz="2400" b="1" spc="-38" dirty="0">
                <a:solidFill>
                  <a:srgbClr val="DFC27B"/>
                </a:solidFill>
                <a:latin typeface="Calibri" panose="020F0502020204030204" pitchFamily="34" charset="0"/>
                <a:cs typeface="Calibri" panose="020F0502020204030204" pitchFamily="34" charset="0"/>
              </a:rPr>
              <a:t>-</a:t>
            </a:r>
            <a:r>
              <a:rPr lang="zh-CN" altLang="en-US" sz="2400" b="1" spc="-38" dirty="0">
                <a:solidFill>
                  <a:srgbClr val="DFC27B"/>
                </a:solidFill>
                <a:latin typeface="Calibri" panose="020F0502020204030204" pitchFamily="34" charset="0"/>
                <a:cs typeface="Calibri" panose="020F0502020204030204" pitchFamily="34" charset="0"/>
              </a:rPr>
              <a:t>长期密钥</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5" name="图片 4" descr="图示&#10;&#10;AI 生成的内容可能不正确。">
            <a:extLst>
              <a:ext uri="{FF2B5EF4-FFF2-40B4-BE49-F238E27FC236}">
                <a16:creationId xmlns:a16="http://schemas.microsoft.com/office/drawing/2014/main" id="{2BF94AD5-246E-BBE3-B126-873D003AFAD2}"/>
              </a:ext>
            </a:extLst>
          </p:cNvPr>
          <p:cNvPicPr>
            <a:picLocks noChangeAspect="1"/>
          </p:cNvPicPr>
          <p:nvPr/>
        </p:nvPicPr>
        <p:blipFill>
          <a:blip r:embed="rId2"/>
          <a:stretch>
            <a:fillRect/>
          </a:stretch>
        </p:blipFill>
        <p:spPr>
          <a:xfrm>
            <a:off x="215591" y="871717"/>
            <a:ext cx="3716329" cy="3400065"/>
          </a:xfrm>
          <a:prstGeom prst="rect">
            <a:avLst/>
          </a:prstGeom>
        </p:spPr>
      </p:pic>
      <p:sp>
        <p:nvSpPr>
          <p:cNvPr id="7" name="Rectangle 1">
            <a:extLst>
              <a:ext uri="{FF2B5EF4-FFF2-40B4-BE49-F238E27FC236}">
                <a16:creationId xmlns:a16="http://schemas.microsoft.com/office/drawing/2014/main" id="{8E8247AA-9D54-D092-A51E-63AD8D3C80A1}"/>
              </a:ext>
            </a:extLst>
          </p:cNvPr>
          <p:cNvSpPr>
            <a:spLocks noChangeArrowheads="1"/>
          </p:cNvSpPr>
          <p:nvPr/>
        </p:nvSpPr>
        <p:spPr bwMode="auto">
          <a:xfrm>
            <a:off x="3982800" y="716955"/>
            <a:ext cx="494560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输入参数准备</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Unicode MS"/>
                <a:ea typeface="ui-monospace"/>
              </a:rPr>
              <a:t>IOCapA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IOCapB</a:t>
            </a:r>
            <a:r>
              <a:rPr kumimoji="0" lang="zh-CN" altLang="zh-CN" sz="1200" b="0" i="0" u="none" strike="noStrike" cap="none" normalizeH="0" baseline="0" dirty="0">
                <a:ln>
                  <a:noFill/>
                </a:ln>
                <a:solidFill>
                  <a:srgbClr val="000000"/>
                </a:solidFill>
                <a:effectLst/>
                <a:ea typeface="Inter"/>
              </a:rPr>
              <a:t>：设备 A 和 B 在配对请求 / 响应中交换的 IO 能力（如仅显示、输入 + 显示等）。</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Unicode MS"/>
                <a:ea typeface="ui-monospace"/>
              </a:rPr>
              <a:t>Na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Nb</a:t>
            </a:r>
            <a:r>
              <a:rPr kumimoji="0" lang="zh-CN" altLang="zh-CN" sz="1200" b="0" i="0" u="none" strike="noStrike" cap="none" normalizeH="0" baseline="0" dirty="0">
                <a:ln>
                  <a:noFill/>
                </a:ln>
                <a:solidFill>
                  <a:srgbClr val="000000"/>
                </a:solidFill>
                <a:effectLst/>
                <a:ea typeface="Inter"/>
              </a:rPr>
              <a:t>：设备 A 和 B 生成的随机数。</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Unicode MS"/>
                <a:ea typeface="ui-monospace"/>
              </a:rPr>
              <a:t>DHKey</a:t>
            </a:r>
            <a:r>
              <a:rPr kumimoji="0" lang="zh-CN" altLang="zh-CN" sz="1200" b="0" i="0" u="none" strike="noStrike" cap="none" normalizeH="0" baseline="0" dirty="0">
                <a:ln>
                  <a:noFill/>
                </a:ln>
                <a:solidFill>
                  <a:srgbClr val="000000"/>
                </a:solidFill>
                <a:effectLst/>
                <a:ea typeface="Inter"/>
              </a:rPr>
              <a:t>：通过 ECDH 交换得到的共享密钥。</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Unicode MS"/>
                <a:ea typeface="ui-monospace"/>
              </a:rPr>
              <a:t>A</a:t>
            </a:r>
            <a:r>
              <a:rPr kumimoji="0" lang="zh-CN" altLang="zh-CN" sz="1200" b="0" i="0" u="none" strike="noStrike" cap="none" normalizeH="0" baseline="0" dirty="0">
                <a:ln>
                  <a:noFill/>
                </a:ln>
                <a:solidFill>
                  <a:srgbClr val="000000"/>
                </a:solidFill>
                <a:effectLst/>
                <a:ea typeface="Inter"/>
              </a:rPr>
              <a:t>/</a:t>
            </a:r>
            <a:r>
              <a:rPr kumimoji="0" lang="zh-CN" altLang="zh-CN" sz="1200" b="0" i="0" u="none" strike="noStrike" cap="none" normalizeH="0" baseline="0" dirty="0">
                <a:ln>
                  <a:noFill/>
                </a:ln>
                <a:solidFill>
                  <a:srgbClr val="000000"/>
                </a:solidFill>
                <a:effectLst/>
                <a:latin typeface="Arial Unicode MS"/>
                <a:ea typeface="ui-monospace"/>
              </a:rPr>
              <a:t>B</a:t>
            </a:r>
            <a:r>
              <a:rPr kumimoji="0" lang="zh-CN" altLang="zh-CN" sz="1200" b="0" i="0" u="none" strike="noStrike" cap="none" normalizeH="0" baseline="0" dirty="0">
                <a:ln>
                  <a:noFill/>
                </a:ln>
                <a:solidFill>
                  <a:srgbClr val="000000"/>
                </a:solidFill>
                <a:effectLst/>
                <a:ea typeface="Inter"/>
              </a:rPr>
              <a:t>：设备 A 和 B 的蓝牙设备地址。</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生成长期密钥与验证密钥</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双方使用哈希函数 </a:t>
            </a:r>
            <a:r>
              <a:rPr kumimoji="0" lang="zh-CN" altLang="zh-CN" sz="1200" b="0" i="0" u="none" strike="noStrike" cap="none" normalizeH="0" baseline="0" dirty="0">
                <a:ln>
                  <a:noFill/>
                </a:ln>
                <a:solidFill>
                  <a:srgbClr val="000000"/>
                </a:solidFill>
                <a:effectLst/>
                <a:latin typeface="Arial Unicode MS"/>
                <a:ea typeface="ui-monospace"/>
              </a:rPr>
              <a:t>f5</a:t>
            </a:r>
            <a:r>
              <a:rPr kumimoji="0" lang="zh-CN" altLang="zh-CN" sz="1200" b="0" i="0" u="none" strike="noStrike" cap="none" normalizeH="0" baseline="0" dirty="0">
                <a:ln>
                  <a:noFill/>
                </a:ln>
                <a:solidFill>
                  <a:srgbClr val="000000"/>
                </a:solidFill>
                <a:effectLst/>
                <a:ea typeface="Inter"/>
              </a:rPr>
              <a:t> 计算 </a:t>
            </a:r>
            <a:r>
              <a:rPr kumimoji="0" lang="zh-CN" altLang="zh-CN" sz="1200" b="0" i="0" u="none" strike="noStrike" cap="none" normalizeH="0" baseline="0" dirty="0">
                <a:ln>
                  <a:noFill/>
                </a:ln>
                <a:solidFill>
                  <a:srgbClr val="000000"/>
                </a:solidFill>
                <a:effectLst/>
                <a:latin typeface="Arial Unicode MS"/>
                <a:ea typeface="ui-monospace"/>
              </a:rPr>
              <a:t>MacKey</a:t>
            </a:r>
            <a:r>
              <a:rPr kumimoji="0" lang="zh-CN" altLang="zh-CN" sz="1200" b="0" i="0" u="none" strike="noStrike" cap="none" normalizeH="0" baseline="0" dirty="0">
                <a:ln>
                  <a:noFill/>
                </a:ln>
                <a:solidFill>
                  <a:srgbClr val="000000"/>
                </a:solidFill>
                <a:effectLst/>
                <a:ea typeface="Inter"/>
              </a:rPr>
              <a:t> 和 </a:t>
            </a:r>
            <a:r>
              <a:rPr kumimoji="0" lang="zh-CN" altLang="zh-CN" sz="1200" b="0" i="0" u="none" strike="noStrike" cap="none" normalizeH="0" baseline="0" dirty="0">
                <a:ln>
                  <a:noFill/>
                </a:ln>
                <a:solidFill>
                  <a:srgbClr val="000000"/>
                </a:solidFill>
                <a:effectLst/>
                <a:latin typeface="Arial Unicode MS"/>
                <a:ea typeface="ui-monospace"/>
              </a:rPr>
              <a:t>LTK</a:t>
            </a:r>
            <a:r>
              <a:rPr kumimoji="0" lang="zh-CN" altLang="zh-CN" sz="1200" b="0" i="0" u="none" strike="noStrike" cap="none" normalizeH="0" baseline="0" dirty="0">
                <a:ln>
                  <a:noFill/>
                </a:ln>
                <a:solidFill>
                  <a:srgbClr val="000000"/>
                </a:solidFill>
                <a:effectLst/>
                <a:ea typeface="Inter"/>
              </a:rPr>
              <a:t>：</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Unicode MS"/>
                <a:ea typeface="ui-monospace"/>
              </a:rPr>
              <a:t>MacKey || LTK = f5(DHKey, Na, Nb, A, B)</a:t>
            </a:r>
            <a:r>
              <a:rPr kumimoji="0" lang="zh-CN" altLang="zh-CN" sz="1200" b="0" i="0" u="none" strike="noStrike" cap="none" normalizeH="0" baseline="0" dirty="0">
                <a:ln>
                  <a:noFill/>
                </a:ln>
                <a:solidFill>
                  <a:srgbClr val="000000"/>
                </a:solidFill>
                <a:effectLst/>
                <a:ea typeface="Inter"/>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Unicode MS"/>
                <a:ea typeface="ui-monospace"/>
              </a:rPr>
              <a:t>LTK</a:t>
            </a:r>
            <a:r>
              <a:rPr kumimoji="0" lang="zh-CN" altLang="zh-CN" sz="1200" b="0" i="0" u="none" strike="noStrike" cap="none" normalizeH="0" baseline="0" dirty="0">
                <a:ln>
                  <a:noFill/>
                </a:ln>
                <a:solidFill>
                  <a:srgbClr val="000000"/>
                </a:solidFill>
                <a:effectLst/>
                <a:ea typeface="Inter"/>
              </a:rPr>
              <a:t> 是后续加密通信的长期密钥，</a:t>
            </a:r>
            <a:r>
              <a:rPr kumimoji="0" lang="zh-CN" altLang="zh-CN" sz="1200" b="0" i="0" u="none" strike="noStrike" cap="none" normalizeH="0" baseline="0" dirty="0">
                <a:ln>
                  <a:noFill/>
                </a:ln>
                <a:solidFill>
                  <a:srgbClr val="000000"/>
                </a:solidFill>
                <a:effectLst/>
                <a:latin typeface="Arial Unicode MS"/>
                <a:ea typeface="ui-monospace"/>
              </a:rPr>
              <a:t>MacKey</a:t>
            </a:r>
            <a:r>
              <a:rPr kumimoji="0" lang="zh-CN" altLang="zh-CN" sz="1200" b="0" i="0" u="none" strike="noStrike" cap="none" normalizeH="0" baseline="0" dirty="0">
                <a:ln>
                  <a:noFill/>
                </a:ln>
                <a:solidFill>
                  <a:srgbClr val="000000"/>
                </a:solidFill>
                <a:effectLst/>
                <a:ea typeface="Inter"/>
              </a:rPr>
              <a:t> 用于生成验证值。</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生成并交换验证值</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使用 </a:t>
            </a:r>
            <a:r>
              <a:rPr kumimoji="0" lang="zh-CN" altLang="zh-CN" sz="1200" b="0" i="0" u="none" strike="noStrike" cap="none" normalizeH="0" baseline="0" dirty="0">
                <a:ln>
                  <a:noFill/>
                </a:ln>
                <a:solidFill>
                  <a:srgbClr val="000000"/>
                </a:solidFill>
                <a:effectLst/>
                <a:latin typeface="Arial Unicode MS"/>
                <a:ea typeface="ui-monospace"/>
              </a:rPr>
              <a:t>f6</a:t>
            </a:r>
            <a:r>
              <a:rPr kumimoji="0" lang="zh-CN" altLang="zh-CN" sz="1200" b="0" i="0" u="none" strike="noStrike" cap="none" normalizeH="0" baseline="0" dirty="0">
                <a:ln>
                  <a:noFill/>
                </a:ln>
                <a:solidFill>
                  <a:srgbClr val="000000"/>
                </a:solidFill>
                <a:effectLst/>
                <a:ea typeface="Inter"/>
              </a:rPr>
              <a:t> 函数生成验证值 </a:t>
            </a:r>
            <a:r>
              <a:rPr kumimoji="0" lang="zh-CN" altLang="zh-CN" sz="1200" b="0" i="0" u="none" strike="noStrike" cap="none" normalizeH="0" baseline="0" dirty="0">
                <a:ln>
                  <a:noFill/>
                </a:ln>
                <a:solidFill>
                  <a:srgbClr val="000000"/>
                </a:solidFill>
                <a:effectLst/>
                <a:latin typeface="Arial Unicode MS"/>
                <a:ea typeface="ui-monospace"/>
              </a:rPr>
              <a:t>EA</a:t>
            </a:r>
            <a:r>
              <a:rPr kumimoji="0" lang="zh-CN" altLang="zh-CN" sz="1200" b="0" i="0" u="none" strike="noStrike" cap="none" normalizeH="0" baseline="0" dirty="0">
                <a:ln>
                  <a:noFill/>
                </a:ln>
                <a:solidFill>
                  <a:srgbClr val="000000"/>
                </a:solidFill>
                <a:effectLst/>
                <a:ea typeface="Inter"/>
              </a:rPr>
              <a:t>：</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Unicode MS"/>
                <a:ea typeface="ui-monospace"/>
              </a:rPr>
              <a:t>EA = f6(MacKey, Na, Nb, IOCapA, A, B)</a:t>
            </a:r>
            <a:r>
              <a:rPr kumimoji="0" lang="zh-CN" altLang="zh-CN" sz="1200" b="0" i="0" u="none" strike="noStrike" cap="none" normalizeH="0" baseline="0" dirty="0">
                <a:ln>
                  <a:noFill/>
                </a:ln>
                <a:solidFill>
                  <a:srgbClr val="000000"/>
                </a:solidFill>
                <a:effectLst/>
                <a:ea typeface="Inter"/>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使用 </a:t>
            </a:r>
            <a:r>
              <a:rPr kumimoji="0" lang="zh-CN" altLang="zh-CN" sz="1200" b="0" i="0" u="none" strike="noStrike" cap="none" normalizeH="0" baseline="0" dirty="0">
                <a:ln>
                  <a:noFill/>
                </a:ln>
                <a:solidFill>
                  <a:srgbClr val="000000"/>
                </a:solidFill>
                <a:effectLst/>
                <a:latin typeface="Arial Unicode MS"/>
                <a:ea typeface="ui-monospace"/>
              </a:rPr>
              <a:t>f6</a:t>
            </a:r>
            <a:r>
              <a:rPr kumimoji="0" lang="zh-CN" altLang="zh-CN" sz="1200" b="0" i="0" u="none" strike="noStrike" cap="none" normalizeH="0" baseline="0" dirty="0">
                <a:ln>
                  <a:noFill/>
                </a:ln>
                <a:solidFill>
                  <a:srgbClr val="000000"/>
                </a:solidFill>
                <a:effectLst/>
                <a:ea typeface="Inter"/>
              </a:rPr>
              <a:t> 函数生成验证值 </a:t>
            </a:r>
            <a:r>
              <a:rPr kumimoji="0" lang="zh-CN" altLang="zh-CN" sz="1200" b="0" i="0" u="none" strike="noStrike" cap="none" normalizeH="0" baseline="0" dirty="0">
                <a:ln>
                  <a:noFill/>
                </a:ln>
                <a:solidFill>
                  <a:srgbClr val="000000"/>
                </a:solidFill>
                <a:effectLst/>
                <a:latin typeface="Arial Unicode MS"/>
                <a:ea typeface="ui-monospace"/>
              </a:rPr>
              <a:t>EB</a:t>
            </a:r>
            <a:r>
              <a:rPr kumimoji="0" lang="zh-CN" altLang="zh-CN" sz="1200" b="0" i="0" u="none" strike="noStrike" cap="none" normalizeH="0" baseline="0" dirty="0">
                <a:ln>
                  <a:noFill/>
                </a:ln>
                <a:solidFill>
                  <a:srgbClr val="000000"/>
                </a:solidFill>
                <a:effectLst/>
                <a:ea typeface="Inter"/>
              </a:rPr>
              <a:t>：</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Unicode MS"/>
                <a:ea typeface="ui-monospace"/>
              </a:rPr>
              <a:t>EB = f6(MacKey, Nb, Na, IOCapB, B, A)</a:t>
            </a:r>
            <a:r>
              <a:rPr kumimoji="0" lang="zh-CN" altLang="zh-CN" sz="1200" b="0" i="0" u="none" strike="noStrike" cap="none" normalizeH="0" baseline="0" dirty="0">
                <a:ln>
                  <a:noFill/>
                </a:ln>
                <a:solidFill>
                  <a:srgbClr val="000000"/>
                </a:solidFill>
                <a:effectLst/>
                <a:ea typeface="Inter"/>
              </a:rPr>
              <a:t> </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发送 </a:t>
            </a:r>
            <a:r>
              <a:rPr kumimoji="0" lang="zh-CN" altLang="zh-CN" sz="1200" b="0" i="0" u="none" strike="noStrike" cap="none" normalizeH="0" baseline="0" dirty="0">
                <a:ln>
                  <a:noFill/>
                </a:ln>
                <a:solidFill>
                  <a:srgbClr val="000000"/>
                </a:solidFill>
                <a:effectLst/>
                <a:latin typeface="Arial Unicode MS"/>
                <a:ea typeface="ui-monospace"/>
              </a:rPr>
              <a:t>EA</a:t>
            </a:r>
            <a:r>
              <a:rPr kumimoji="0" lang="zh-CN" altLang="zh-CN" sz="1200" b="0" i="0" u="none" strike="noStrike" cap="none" normalizeH="0" baseline="0" dirty="0">
                <a:ln>
                  <a:noFill/>
                </a:ln>
                <a:solidFill>
                  <a:srgbClr val="000000"/>
                </a:solidFill>
                <a:effectLst/>
                <a:ea typeface="Inter"/>
              </a:rPr>
              <a:t> 给设备 B，设备 B 发送 </a:t>
            </a:r>
            <a:r>
              <a:rPr kumimoji="0" lang="zh-CN" altLang="zh-CN" sz="1200" b="0" i="0" u="none" strike="noStrike" cap="none" normalizeH="0" baseline="0" dirty="0">
                <a:ln>
                  <a:noFill/>
                </a:ln>
                <a:solidFill>
                  <a:srgbClr val="000000"/>
                </a:solidFill>
                <a:effectLst/>
                <a:latin typeface="Arial Unicode MS"/>
                <a:ea typeface="ui-monospace"/>
              </a:rPr>
              <a:t>EB</a:t>
            </a:r>
            <a:r>
              <a:rPr kumimoji="0" lang="zh-CN" altLang="zh-CN" sz="1200" b="0" i="0" u="none" strike="noStrike" cap="none" normalizeH="0" baseline="0" dirty="0">
                <a:ln>
                  <a:noFill/>
                </a:ln>
                <a:solidFill>
                  <a:srgbClr val="000000"/>
                </a:solidFill>
                <a:effectLst/>
                <a:ea typeface="Inter"/>
              </a:rPr>
              <a:t> 给设备 A。</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tabLst/>
            </a:pPr>
            <a:r>
              <a:rPr kumimoji="0" lang="zh-CN" altLang="zh-CN" sz="1200" b="1" i="0" u="none" strike="noStrike" cap="none" normalizeH="0" baseline="0" dirty="0">
                <a:ln>
                  <a:noFill/>
                </a:ln>
                <a:solidFill>
                  <a:srgbClr val="000000"/>
                </a:solidFill>
                <a:effectLst/>
                <a:latin typeface="Arial" panose="020B0604020202020204" pitchFamily="34" charset="0"/>
                <a:ea typeface="Inter"/>
              </a:rPr>
              <a:t>双向身份验证</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B 验证 </a:t>
            </a:r>
            <a:r>
              <a:rPr kumimoji="0" lang="zh-CN" altLang="zh-CN" sz="1200" b="0" i="0" u="none" strike="noStrike" cap="none" normalizeH="0" baseline="0" dirty="0">
                <a:ln>
                  <a:noFill/>
                </a:ln>
                <a:solidFill>
                  <a:srgbClr val="000000"/>
                </a:solidFill>
                <a:effectLst/>
                <a:latin typeface="Arial Unicode MS"/>
                <a:ea typeface="ui-monospace"/>
              </a:rPr>
              <a:t>EA</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f6(MacKey, Na, Nb, IOCapA, A, B)</a:t>
            </a:r>
            <a:r>
              <a:rPr kumimoji="0" lang="zh-CN" altLang="zh-CN" sz="1200" b="0" i="0" u="none" strike="noStrike" cap="none" normalizeH="0" baseline="0" dirty="0">
                <a:ln>
                  <a:noFill/>
                </a:ln>
                <a:solidFill>
                  <a:srgbClr val="000000"/>
                </a:solidFill>
                <a:effectLst/>
                <a:ea typeface="Inter"/>
              </a:rPr>
              <a:t> 一致，不一致则终止配对。</a:t>
            </a:r>
            <a:r>
              <a:rPr kumimoji="0" lang="zh-CN" altLang="zh-CN" sz="1200" b="0" i="0" u="none" strike="noStrike" cap="none" normalizeH="0" baseline="0" dirty="0">
                <a:ln>
                  <a:noFill/>
                </a:ln>
                <a:solidFill>
                  <a:srgbClr val="000000"/>
                </a:solidFill>
                <a:effectLst/>
                <a:latin typeface="Arial" panose="020B0604020202020204" pitchFamily="34" charset="0"/>
                <a:ea typeface="Inter"/>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000000"/>
                </a:solidFill>
                <a:effectLst/>
                <a:latin typeface="Arial" panose="020B0604020202020204" pitchFamily="34" charset="0"/>
                <a:ea typeface="Inter"/>
              </a:rPr>
              <a:t>设备 A 验证 </a:t>
            </a:r>
            <a:r>
              <a:rPr kumimoji="0" lang="zh-CN" altLang="zh-CN" sz="1200" b="0" i="0" u="none" strike="noStrike" cap="none" normalizeH="0" baseline="0" dirty="0">
                <a:ln>
                  <a:noFill/>
                </a:ln>
                <a:solidFill>
                  <a:srgbClr val="000000"/>
                </a:solidFill>
                <a:effectLst/>
                <a:latin typeface="Arial Unicode MS"/>
                <a:ea typeface="ui-monospace"/>
              </a:rPr>
              <a:t>EB</a:t>
            </a:r>
            <a:r>
              <a:rPr kumimoji="0" lang="zh-CN" altLang="zh-CN" sz="1200" b="0" i="0" u="none" strike="noStrike" cap="none" normalizeH="0" baseline="0" dirty="0">
                <a:ln>
                  <a:noFill/>
                </a:ln>
                <a:solidFill>
                  <a:srgbClr val="000000"/>
                </a:solidFill>
                <a:effectLst/>
                <a:ea typeface="Inter"/>
              </a:rPr>
              <a:t> 是否与本地计算的 </a:t>
            </a:r>
            <a:r>
              <a:rPr kumimoji="0" lang="zh-CN" altLang="zh-CN" sz="1200" b="0" i="0" u="none" strike="noStrike" cap="none" normalizeH="0" baseline="0" dirty="0">
                <a:ln>
                  <a:noFill/>
                </a:ln>
                <a:solidFill>
                  <a:srgbClr val="000000"/>
                </a:solidFill>
                <a:effectLst/>
                <a:latin typeface="Arial Unicode MS"/>
                <a:ea typeface="ui-monospace"/>
              </a:rPr>
              <a:t>f6(MacKey, Nb, Na, IOCapB, B, A)</a:t>
            </a:r>
            <a:r>
              <a:rPr kumimoji="0" lang="zh-CN" altLang="zh-CN" sz="1200" b="0" i="0" u="none" strike="noStrike" cap="none" normalizeH="0" baseline="0" dirty="0">
                <a:ln>
                  <a:noFill/>
                </a:ln>
                <a:solidFill>
                  <a:srgbClr val="000000"/>
                </a:solidFill>
                <a:effectLst/>
                <a:ea typeface="Inter"/>
              </a:rPr>
              <a:t> 一致，不一致则终止配对。</a:t>
            </a:r>
            <a:endParaRPr kumimoji="0" lang="zh-CN" altLang="zh-CN" sz="1200" b="0" i="0" u="none" strike="noStrike" cap="none" normalizeH="0" baseline="0" dirty="0">
              <a:ln>
                <a:noFill/>
              </a:ln>
              <a:solidFill>
                <a:srgbClr val="000000"/>
              </a:solidFill>
              <a:effectLst/>
              <a:latin typeface="Arial" panose="020B06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2630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44258-0BF3-979A-64A8-26981AD0E404}"/>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D79ACD33-D16E-246A-0FD5-3E637F10F3C8}"/>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A8E73936-33CF-0539-643F-E8974BE7B8FE}"/>
              </a:ext>
            </a:extLst>
          </p:cNvPr>
          <p:cNvSpPr txBox="1"/>
          <p:nvPr/>
        </p:nvSpPr>
        <p:spPr>
          <a:xfrm>
            <a:off x="6276561" y="3652026"/>
            <a:ext cx="2448340" cy="584775"/>
          </a:xfrm>
          <a:prstGeom prst="rect">
            <a:avLst/>
          </a:prstGeom>
          <a:noFill/>
        </p:spPr>
        <p:txBody>
          <a:bodyPr wrap="square" rtlCol="0">
            <a:spAutoFit/>
          </a:bodyPr>
          <a:lstStyle/>
          <a:p>
            <a:r>
              <a:rPr lang="en-US" altLang="zh-CN" sz="3200" dirty="0">
                <a:solidFill>
                  <a:schemeClr val="accent1"/>
                </a:solidFill>
                <a:latin typeface="+mn-ea"/>
              </a:rPr>
              <a:t>BLE_HID</a:t>
            </a:r>
            <a:r>
              <a:rPr lang="zh-CN" altLang="en-US" sz="3200" dirty="0">
                <a:solidFill>
                  <a:schemeClr val="accent1"/>
                </a:solidFill>
                <a:latin typeface="+mn-ea"/>
              </a:rPr>
              <a:t>实例</a:t>
            </a:r>
          </a:p>
        </p:txBody>
      </p:sp>
    </p:spTree>
    <p:extLst>
      <p:ext uri="{BB962C8B-B14F-4D97-AF65-F5344CB8AC3E}">
        <p14:creationId xmlns:p14="http://schemas.microsoft.com/office/powerpoint/2010/main" val="2422523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4776-CAB8-1845-0181-CF4AF459CE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D8B4D47-C0F5-F921-8B46-FC778D12BE6F}"/>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HID</a:t>
            </a:r>
            <a:r>
              <a:rPr lang="zh-CN" altLang="en-US" sz="2400" b="1" spc="-38" dirty="0">
                <a:solidFill>
                  <a:srgbClr val="DFC27B"/>
                </a:solidFill>
                <a:latin typeface="Calibri" panose="020F0502020204030204" pitchFamily="34" charset="0"/>
                <a:cs typeface="Calibri" panose="020F0502020204030204" pitchFamily="34" charset="0"/>
              </a:rPr>
              <a:t>流程阶段</a:t>
            </a:r>
            <a:endParaRPr lang="en-US" altLang="zh-TW" sz="2400" b="1" spc="-38" dirty="0">
              <a:solidFill>
                <a:srgbClr val="3D5663"/>
              </a:solidFill>
              <a:latin typeface="Calibri" panose="020F0502020204030204" pitchFamily="34" charset="0"/>
              <a:cs typeface="Calibri" panose="020F0502020204030204" pitchFamily="34" charset="0"/>
            </a:endParaRPr>
          </a:p>
        </p:txBody>
      </p:sp>
      <p:graphicFrame>
        <p:nvGraphicFramePr>
          <p:cNvPr id="11" name="表格 10">
            <a:extLst>
              <a:ext uri="{FF2B5EF4-FFF2-40B4-BE49-F238E27FC236}">
                <a16:creationId xmlns:a16="http://schemas.microsoft.com/office/drawing/2014/main" id="{222ABD6E-28C4-9F2C-6BCF-2B36F65F91D3}"/>
              </a:ext>
            </a:extLst>
          </p:cNvPr>
          <p:cNvGraphicFramePr>
            <a:graphicFrameLocks noGrp="1"/>
          </p:cNvGraphicFramePr>
          <p:nvPr>
            <p:extLst>
              <p:ext uri="{D42A27DB-BD31-4B8C-83A1-F6EECF244321}">
                <p14:modId xmlns:p14="http://schemas.microsoft.com/office/powerpoint/2010/main" val="2164588445"/>
              </p:ext>
            </p:extLst>
          </p:nvPr>
        </p:nvGraphicFramePr>
        <p:xfrm>
          <a:off x="215591" y="1790686"/>
          <a:ext cx="8613449" cy="2101155"/>
        </p:xfrm>
        <a:graphic>
          <a:graphicData uri="http://schemas.openxmlformats.org/drawingml/2006/table">
            <a:tbl>
              <a:tblPr/>
              <a:tblGrid>
                <a:gridCol w="2559068">
                  <a:extLst>
                    <a:ext uri="{9D8B030D-6E8A-4147-A177-3AD203B41FA5}">
                      <a16:colId xmlns:a16="http://schemas.microsoft.com/office/drawing/2014/main" val="316165935"/>
                    </a:ext>
                  </a:extLst>
                </a:gridCol>
                <a:gridCol w="6054381">
                  <a:extLst>
                    <a:ext uri="{9D8B030D-6E8A-4147-A177-3AD203B41FA5}">
                      <a16:colId xmlns:a16="http://schemas.microsoft.com/office/drawing/2014/main" val="3465539499"/>
                    </a:ext>
                  </a:extLst>
                </a:gridCol>
              </a:tblGrid>
              <a:tr h="238736">
                <a:tc>
                  <a:txBody>
                    <a:bodyPr/>
                    <a:lstStyle/>
                    <a:p>
                      <a:pPr algn="ctr">
                        <a:lnSpc>
                          <a:spcPts val="1800"/>
                        </a:lnSpc>
                        <a:buNone/>
                      </a:pPr>
                      <a:r>
                        <a:rPr lang="zh-CN" altLang="en-US" sz="1200" b="1">
                          <a:solidFill>
                            <a:srgbClr val="000000"/>
                          </a:solidFill>
                          <a:effectLst/>
                          <a:latin typeface="ui-sans-serif"/>
                        </a:rPr>
                        <a:t>阶段</a:t>
                      </a:r>
                    </a:p>
                  </a:txBody>
                  <a:tcPr anchor="ctr">
                    <a:lnL w="4229" cap="flat" cmpd="sng" algn="ctr">
                      <a:solidFill>
                        <a:srgbClr val="10B197"/>
                      </a:solidFill>
                      <a:prstDash val="solid"/>
                      <a:round/>
                      <a:headEnd type="none" w="med" len="med"/>
                      <a:tailEnd type="none" w="med" len="med"/>
                    </a:lnL>
                    <a:lnR w="4229" cap="flat" cmpd="sng" algn="ctr">
                      <a:solidFill>
                        <a:srgbClr val="B0AF97"/>
                      </a:solidFill>
                      <a:prstDash val="solid"/>
                      <a:round/>
                      <a:headEnd type="none" w="med" len="med"/>
                      <a:tailEnd type="none" w="med" len="med"/>
                    </a:lnR>
                    <a:lnT w="4229" cap="flat" cmpd="sng" algn="ctr">
                      <a:solidFill>
                        <a:srgbClr val="B0AA97"/>
                      </a:solidFill>
                      <a:prstDash val="solid"/>
                      <a:round/>
                      <a:headEnd type="none" w="med" len="med"/>
                      <a:tailEnd type="none" w="med" len="med"/>
                    </a:lnT>
                    <a:lnB w="4229" cap="flat" cmpd="sng" algn="ctr">
                      <a:solidFill>
                        <a:srgbClr val="B0B597"/>
                      </a:solidFill>
                      <a:prstDash val="solid"/>
                      <a:round/>
                      <a:headEnd type="none" w="med" len="med"/>
                      <a:tailEnd type="none" w="med" len="med"/>
                    </a:lnB>
                    <a:solidFill>
                      <a:srgbClr val="F2F2F2"/>
                    </a:solidFill>
                  </a:tcPr>
                </a:tc>
                <a:tc>
                  <a:txBody>
                    <a:bodyPr/>
                    <a:lstStyle/>
                    <a:p>
                      <a:pPr algn="ctr">
                        <a:lnSpc>
                          <a:spcPts val="1800"/>
                        </a:lnSpc>
                        <a:buNone/>
                      </a:pPr>
                      <a:r>
                        <a:rPr lang="zh-CN" altLang="en-US" sz="1200" b="1">
                          <a:solidFill>
                            <a:srgbClr val="000000"/>
                          </a:solidFill>
                          <a:effectLst/>
                          <a:latin typeface="ui-sans-serif"/>
                        </a:rPr>
                        <a:t>核心作用</a:t>
                      </a:r>
                    </a:p>
                  </a:txBody>
                  <a:tcPr anchor="ctr">
                    <a:lnL w="4229" cap="flat" cmpd="sng" algn="ctr">
                      <a:solidFill>
                        <a:srgbClr val="B0AF97"/>
                      </a:solidFill>
                      <a:prstDash val="solid"/>
                      <a:round/>
                      <a:headEnd type="none" w="med" len="med"/>
                      <a:tailEnd type="none" w="med" len="med"/>
                    </a:lnL>
                    <a:lnR w="4229" cap="flat" cmpd="sng" algn="ctr">
                      <a:solidFill>
                        <a:srgbClr val="B0AF97"/>
                      </a:solidFill>
                      <a:prstDash val="solid"/>
                      <a:round/>
                      <a:headEnd type="none" w="med" len="med"/>
                      <a:tailEnd type="none" w="med" len="med"/>
                    </a:lnR>
                    <a:lnT w="4229" cap="flat" cmpd="sng" algn="ctr">
                      <a:solidFill>
                        <a:srgbClr val="B0AF97"/>
                      </a:solidFill>
                      <a:prstDash val="solid"/>
                      <a:round/>
                      <a:headEnd type="none" w="med" len="med"/>
                      <a:tailEnd type="none" w="med" len="med"/>
                    </a:lnT>
                    <a:lnB w="4229" cap="flat" cmpd="sng" algn="ctr">
                      <a:solidFill>
                        <a:srgbClr val="D0AE26"/>
                      </a:solidFill>
                      <a:prstDash val="solid"/>
                      <a:round/>
                      <a:headEnd type="none" w="med" len="med"/>
                      <a:tailEnd type="none" w="med" len="med"/>
                    </a:lnB>
                    <a:solidFill>
                      <a:srgbClr val="F2F2F2"/>
                    </a:solidFill>
                  </a:tcPr>
                </a:tc>
                <a:extLst>
                  <a:ext uri="{0D108BD9-81ED-4DB2-BD59-A6C34878D82A}">
                    <a16:rowId xmlns:a16="http://schemas.microsoft.com/office/drawing/2014/main" val="2835258102"/>
                  </a:ext>
                </a:extLst>
              </a:tr>
              <a:tr h="239903">
                <a:tc>
                  <a:txBody>
                    <a:bodyPr/>
                    <a:lstStyle/>
                    <a:p>
                      <a:pPr algn="l">
                        <a:lnSpc>
                          <a:spcPts val="1800"/>
                        </a:lnSpc>
                        <a:buNone/>
                      </a:pPr>
                      <a:r>
                        <a:rPr lang="zh-CN" altLang="en-US" sz="1200" b="0">
                          <a:solidFill>
                            <a:srgbClr val="000000"/>
                          </a:solidFill>
                          <a:effectLst/>
                          <a:latin typeface="ui-sans-serif"/>
                        </a:rPr>
                        <a:t>系统初始化</a:t>
                      </a:r>
                    </a:p>
                  </a:txBody>
                  <a:tcPr anchor="ctr">
                    <a:lnL w="4229" cap="flat" cmpd="sng" algn="ctr">
                      <a:solidFill>
                        <a:srgbClr val="10B497"/>
                      </a:solidFill>
                      <a:prstDash val="solid"/>
                      <a:round/>
                      <a:headEnd type="none" w="med" len="med"/>
                      <a:tailEnd type="none" w="med" len="med"/>
                    </a:lnL>
                    <a:lnR w="4229" cap="flat" cmpd="sng" algn="ctr">
                      <a:solidFill>
                        <a:srgbClr val="30B797"/>
                      </a:solidFill>
                      <a:prstDash val="solid"/>
                      <a:round/>
                      <a:headEnd type="none" w="med" len="med"/>
                      <a:tailEnd type="none" w="med" len="med"/>
                    </a:lnR>
                    <a:lnT w="4229" cap="flat" cmpd="sng" algn="ctr">
                      <a:solidFill>
                        <a:srgbClr val="B0B597"/>
                      </a:solidFill>
                      <a:prstDash val="solid"/>
                      <a:round/>
                      <a:headEnd type="none" w="med" len="med"/>
                      <a:tailEnd type="none" w="med" len="med"/>
                    </a:lnT>
                    <a:lnB w="4229" cap="flat" cmpd="sng" algn="ctr">
                      <a:solidFill>
                        <a:srgbClr val="D0B797"/>
                      </a:solidFill>
                      <a:prstDash val="solid"/>
                      <a:round/>
                      <a:headEnd type="none" w="med" len="med"/>
                      <a:tailEnd type="none" w="med" len="med"/>
                    </a:lnB>
                    <a:noFill/>
                  </a:tcPr>
                </a:tc>
                <a:tc>
                  <a:txBody>
                    <a:bodyPr/>
                    <a:lstStyle/>
                    <a:p>
                      <a:pPr algn="l">
                        <a:lnSpc>
                          <a:spcPts val="1800"/>
                        </a:lnSpc>
                        <a:buNone/>
                      </a:pPr>
                      <a:r>
                        <a:rPr lang="zh-CN" altLang="en-US" sz="1200" b="0">
                          <a:solidFill>
                            <a:srgbClr val="000000"/>
                          </a:solidFill>
                          <a:effectLst/>
                          <a:latin typeface="ui-sans-serif"/>
                        </a:rPr>
                        <a:t>协议栈 </a:t>
                      </a:r>
                      <a:r>
                        <a:rPr lang="en-US" altLang="zh-CN" sz="1200" b="0">
                          <a:solidFill>
                            <a:srgbClr val="000000"/>
                          </a:solidFill>
                          <a:effectLst/>
                          <a:latin typeface="ui-sans-serif"/>
                        </a:rPr>
                        <a:t>/ </a:t>
                      </a:r>
                      <a:r>
                        <a:rPr lang="zh-CN" altLang="en-US" sz="1200" b="0">
                          <a:solidFill>
                            <a:srgbClr val="000000"/>
                          </a:solidFill>
                          <a:effectLst/>
                          <a:latin typeface="ui-sans-serif"/>
                        </a:rPr>
                        <a:t>服务 </a:t>
                      </a:r>
                      <a:r>
                        <a:rPr lang="en-US" altLang="zh-CN" sz="1200" b="0">
                          <a:solidFill>
                            <a:srgbClr val="000000"/>
                          </a:solidFill>
                          <a:effectLst/>
                          <a:latin typeface="ui-sans-serif"/>
                        </a:rPr>
                        <a:t>/ IO </a:t>
                      </a:r>
                      <a:r>
                        <a:rPr lang="zh-CN" altLang="en-US" sz="1200" b="0">
                          <a:solidFill>
                            <a:srgbClr val="000000"/>
                          </a:solidFill>
                          <a:effectLst/>
                          <a:latin typeface="ui-sans-serif"/>
                        </a:rPr>
                        <a:t>能力初始化</a:t>
                      </a:r>
                    </a:p>
                  </a:txBody>
                  <a:tcPr anchor="ctr">
                    <a:lnL w="4229" cap="flat" cmpd="sng" algn="ctr">
                      <a:solidFill>
                        <a:srgbClr val="30B7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D0AE26"/>
                      </a:solidFill>
                      <a:prstDash val="solid"/>
                      <a:round/>
                      <a:headEnd type="none" w="med" len="med"/>
                      <a:tailEnd type="none" w="med" len="med"/>
                    </a:lnT>
                    <a:lnB w="4229" cap="flat" cmpd="sng" algn="ctr">
                      <a:solidFill>
                        <a:srgbClr val="20AD26"/>
                      </a:solidFill>
                      <a:prstDash val="solid"/>
                      <a:round/>
                      <a:headEnd type="none" w="med" len="med"/>
                      <a:tailEnd type="none" w="med" len="med"/>
                    </a:lnB>
                    <a:noFill/>
                  </a:tcPr>
                </a:tc>
                <a:extLst>
                  <a:ext uri="{0D108BD9-81ED-4DB2-BD59-A6C34878D82A}">
                    <a16:rowId xmlns:a16="http://schemas.microsoft.com/office/drawing/2014/main" val="1607416107"/>
                  </a:ext>
                </a:extLst>
              </a:tr>
              <a:tr h="239903">
                <a:tc>
                  <a:txBody>
                    <a:bodyPr/>
                    <a:lstStyle/>
                    <a:p>
                      <a:pPr algn="l">
                        <a:lnSpc>
                          <a:spcPts val="1800"/>
                        </a:lnSpc>
                        <a:buNone/>
                      </a:pPr>
                      <a:r>
                        <a:rPr lang="en-US" sz="1200" b="0">
                          <a:solidFill>
                            <a:srgbClr val="000000"/>
                          </a:solidFill>
                          <a:effectLst/>
                          <a:latin typeface="ui-sans-serif"/>
                        </a:rPr>
                        <a:t>GAP - </a:t>
                      </a:r>
                      <a:r>
                        <a:rPr lang="zh-CN" altLang="en-US" sz="1200" b="0">
                          <a:solidFill>
                            <a:srgbClr val="000000"/>
                          </a:solidFill>
                          <a:effectLst/>
                          <a:latin typeface="ui-sans-serif"/>
                        </a:rPr>
                        <a:t>广播连接</a:t>
                      </a:r>
                    </a:p>
                  </a:txBody>
                  <a:tcPr anchor="ctr">
                    <a:lnL w="4229" cap="flat" cmpd="sng" algn="ctr">
                      <a:solidFill>
                        <a:srgbClr val="90B997"/>
                      </a:solidFill>
                      <a:prstDash val="solid"/>
                      <a:round/>
                      <a:headEnd type="none" w="med" len="med"/>
                      <a:tailEnd type="none" w="med" len="med"/>
                    </a:lnL>
                    <a:lnR w="4229" cap="flat" cmpd="sng" algn="ctr">
                      <a:solidFill>
                        <a:srgbClr val="D0B797"/>
                      </a:solidFill>
                      <a:prstDash val="solid"/>
                      <a:round/>
                      <a:headEnd type="none" w="med" len="med"/>
                      <a:tailEnd type="none" w="med" len="med"/>
                    </a:lnR>
                    <a:lnT w="4229" cap="flat" cmpd="sng" algn="ctr">
                      <a:solidFill>
                        <a:srgbClr val="D0B797"/>
                      </a:solidFill>
                      <a:prstDash val="solid"/>
                      <a:round/>
                      <a:headEnd type="none" w="med" len="med"/>
                      <a:tailEnd type="none" w="med" len="med"/>
                    </a:lnT>
                    <a:lnB w="4229" cap="flat" cmpd="sng" algn="ctr">
                      <a:solidFill>
                        <a:srgbClr val="70BB97"/>
                      </a:solidFill>
                      <a:prstDash val="solid"/>
                      <a:round/>
                      <a:headEnd type="none" w="med" len="med"/>
                      <a:tailEnd type="none" w="med" len="med"/>
                    </a:lnB>
                    <a:noFill/>
                  </a:tcPr>
                </a:tc>
                <a:tc>
                  <a:txBody>
                    <a:bodyPr/>
                    <a:lstStyle/>
                    <a:p>
                      <a:pPr algn="l">
                        <a:lnSpc>
                          <a:spcPts val="1800"/>
                        </a:lnSpc>
                        <a:buNone/>
                      </a:pPr>
                      <a:r>
                        <a:rPr lang="zh-CN" altLang="en-US" sz="1200" b="0">
                          <a:solidFill>
                            <a:srgbClr val="000000"/>
                          </a:solidFill>
                          <a:effectLst/>
                          <a:latin typeface="ui-sans-serif"/>
                        </a:rPr>
                        <a:t>设备广播、建立 </a:t>
                      </a:r>
                      <a:r>
                        <a:rPr lang="en-US" altLang="zh-CN" sz="1200" b="0">
                          <a:solidFill>
                            <a:srgbClr val="000000"/>
                          </a:solidFill>
                          <a:effectLst/>
                          <a:latin typeface="ui-sans-serif"/>
                        </a:rPr>
                        <a:t>BLE </a:t>
                      </a:r>
                      <a:r>
                        <a:rPr lang="zh-CN" altLang="en-US" sz="1200" b="0">
                          <a:solidFill>
                            <a:srgbClr val="000000"/>
                          </a:solidFill>
                          <a:effectLst/>
                          <a:latin typeface="ui-sans-serif"/>
                        </a:rPr>
                        <a:t>连接</a:t>
                      </a:r>
                    </a:p>
                  </a:txBody>
                  <a:tcPr anchor="ctr">
                    <a:lnL w="4229" cap="flat" cmpd="sng" algn="ctr">
                      <a:solidFill>
                        <a:srgbClr val="D0B797"/>
                      </a:solidFill>
                      <a:prstDash val="solid"/>
                      <a:round/>
                      <a:headEnd type="none" w="med" len="med"/>
                      <a:tailEnd type="none" w="med" len="med"/>
                    </a:lnL>
                    <a:lnR w="4229" cap="flat" cmpd="sng" algn="ctr">
                      <a:solidFill>
                        <a:srgbClr val="D0A997"/>
                      </a:solidFill>
                      <a:prstDash val="solid"/>
                      <a:round/>
                      <a:headEnd type="none" w="med" len="med"/>
                      <a:tailEnd type="none" w="med" len="med"/>
                    </a:lnR>
                    <a:lnT w="4229" cap="flat" cmpd="sng" algn="ctr">
                      <a:solidFill>
                        <a:srgbClr val="20AD26"/>
                      </a:solidFill>
                      <a:prstDash val="solid"/>
                      <a:round/>
                      <a:headEnd type="none" w="med" len="med"/>
                      <a:tailEnd type="none" w="med" len="med"/>
                    </a:lnT>
                    <a:lnB w="4229" cap="flat" cmpd="sng" algn="ctr">
                      <a:solidFill>
                        <a:srgbClr val="D0AE26"/>
                      </a:solidFill>
                      <a:prstDash val="solid"/>
                      <a:round/>
                      <a:headEnd type="none" w="med" len="med"/>
                      <a:tailEnd type="none" w="med" len="med"/>
                    </a:lnB>
                    <a:noFill/>
                  </a:tcPr>
                </a:tc>
                <a:extLst>
                  <a:ext uri="{0D108BD9-81ED-4DB2-BD59-A6C34878D82A}">
                    <a16:rowId xmlns:a16="http://schemas.microsoft.com/office/drawing/2014/main" val="2390898283"/>
                  </a:ext>
                </a:extLst>
              </a:tr>
              <a:tr h="239903">
                <a:tc>
                  <a:txBody>
                    <a:bodyPr/>
                    <a:lstStyle/>
                    <a:p>
                      <a:pPr algn="l">
                        <a:lnSpc>
                          <a:spcPts val="1800"/>
                        </a:lnSpc>
                        <a:buNone/>
                      </a:pPr>
                      <a:r>
                        <a:rPr lang="en-US" altLang="zh-CN" sz="1200" b="0">
                          <a:solidFill>
                            <a:srgbClr val="000000"/>
                          </a:solidFill>
                          <a:effectLst/>
                          <a:latin typeface="ui-sans-serif"/>
                        </a:rPr>
                        <a:t>SMP - </a:t>
                      </a:r>
                      <a:r>
                        <a:rPr lang="zh-CN" altLang="en-US" sz="1200" b="0">
                          <a:solidFill>
                            <a:srgbClr val="000000"/>
                          </a:solidFill>
                          <a:effectLst/>
                          <a:latin typeface="ui-sans-serif"/>
                        </a:rPr>
                        <a:t>配对加密（可选）</a:t>
                      </a:r>
                    </a:p>
                  </a:txBody>
                  <a:tcPr anchor="ctr">
                    <a:lnL w="4229" cap="flat" cmpd="sng" algn="ctr">
                      <a:solidFill>
                        <a:srgbClr val="90BD97"/>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70BB97"/>
                      </a:solidFill>
                      <a:prstDash val="solid"/>
                      <a:round/>
                      <a:headEnd type="none" w="med" len="med"/>
                      <a:tailEnd type="none" w="med" len="med"/>
                    </a:lnT>
                    <a:lnB w="4229" cap="flat" cmpd="sng" algn="ctr">
                      <a:solidFill>
                        <a:srgbClr val="D0B896"/>
                      </a:solidFill>
                      <a:prstDash val="solid"/>
                      <a:round/>
                      <a:headEnd type="none" w="med" len="med"/>
                      <a:tailEnd type="none" w="med" len="med"/>
                    </a:lnB>
                    <a:noFill/>
                  </a:tcPr>
                </a:tc>
                <a:tc>
                  <a:txBody>
                    <a:bodyPr/>
                    <a:lstStyle/>
                    <a:p>
                      <a:pPr algn="l">
                        <a:lnSpc>
                          <a:spcPts val="1800"/>
                        </a:lnSpc>
                        <a:buNone/>
                      </a:pPr>
                      <a:r>
                        <a:rPr lang="zh-CN" altLang="en-US" sz="1200" b="0">
                          <a:solidFill>
                            <a:srgbClr val="000000"/>
                          </a:solidFill>
                          <a:effectLst/>
                          <a:latin typeface="ui-sans-serif"/>
                        </a:rPr>
                        <a:t>设备配对、数据加密</a:t>
                      </a:r>
                    </a:p>
                  </a:txBody>
                  <a:tcPr anchor="ctr">
                    <a:lnL w="4229" cap="flat" cmpd="sng" algn="ctr">
                      <a:solidFill>
                        <a:srgbClr val="10B3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D0AE26"/>
                      </a:solidFill>
                      <a:prstDash val="solid"/>
                      <a:round/>
                      <a:headEnd type="none" w="med" len="med"/>
                      <a:tailEnd type="none" w="med" len="med"/>
                    </a:lnT>
                    <a:lnB w="4229" cap="flat" cmpd="sng" algn="ctr">
                      <a:solidFill>
                        <a:srgbClr val="50B326"/>
                      </a:solidFill>
                      <a:prstDash val="solid"/>
                      <a:round/>
                      <a:headEnd type="none" w="med" len="med"/>
                      <a:tailEnd type="none" w="med" len="med"/>
                    </a:lnB>
                    <a:noFill/>
                  </a:tcPr>
                </a:tc>
                <a:extLst>
                  <a:ext uri="{0D108BD9-81ED-4DB2-BD59-A6C34878D82A}">
                    <a16:rowId xmlns:a16="http://schemas.microsoft.com/office/drawing/2014/main" val="3219771631"/>
                  </a:ext>
                </a:extLst>
              </a:tr>
              <a:tr h="239903">
                <a:tc>
                  <a:txBody>
                    <a:bodyPr/>
                    <a:lstStyle/>
                    <a:p>
                      <a:pPr algn="l">
                        <a:lnSpc>
                          <a:spcPts val="1800"/>
                        </a:lnSpc>
                        <a:buNone/>
                      </a:pPr>
                      <a:r>
                        <a:rPr lang="en-US" sz="1200" b="0">
                          <a:solidFill>
                            <a:srgbClr val="000000"/>
                          </a:solidFill>
                          <a:effectLst/>
                          <a:latin typeface="ui-sans-serif"/>
                        </a:rPr>
                        <a:t>GATT - </a:t>
                      </a:r>
                      <a:r>
                        <a:rPr lang="zh-CN" altLang="en-US" sz="1200" b="0">
                          <a:solidFill>
                            <a:srgbClr val="000000"/>
                          </a:solidFill>
                          <a:effectLst/>
                          <a:latin typeface="ui-sans-serif"/>
                        </a:rPr>
                        <a:t>服务配置</a:t>
                      </a:r>
                    </a:p>
                  </a:txBody>
                  <a:tcPr anchor="ctr">
                    <a:lnL w="4229" cap="flat" cmpd="sng" algn="ctr">
                      <a:solidFill>
                        <a:srgbClr val="F0B4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D0B896"/>
                      </a:solidFill>
                      <a:prstDash val="solid"/>
                      <a:round/>
                      <a:headEnd type="none" w="med" len="med"/>
                      <a:tailEnd type="none" w="med" len="med"/>
                    </a:lnT>
                    <a:lnB w="4229" cap="flat" cmpd="sng" algn="ctr">
                      <a:solidFill>
                        <a:srgbClr val="30B296"/>
                      </a:solidFill>
                      <a:prstDash val="solid"/>
                      <a:round/>
                      <a:headEnd type="none" w="med" len="med"/>
                      <a:tailEnd type="none" w="med" len="med"/>
                    </a:lnB>
                    <a:noFill/>
                  </a:tcPr>
                </a:tc>
                <a:tc>
                  <a:txBody>
                    <a:bodyPr/>
                    <a:lstStyle/>
                    <a:p>
                      <a:pPr algn="l">
                        <a:lnSpc>
                          <a:spcPts val="1800"/>
                        </a:lnSpc>
                        <a:buNone/>
                      </a:pPr>
                      <a:r>
                        <a:rPr lang="zh-CN" altLang="en-US" sz="1200" b="0">
                          <a:solidFill>
                            <a:srgbClr val="000000"/>
                          </a:solidFill>
                          <a:effectLst/>
                          <a:latin typeface="ui-sans-serif"/>
                        </a:rPr>
                        <a:t>发现 </a:t>
                      </a:r>
                      <a:r>
                        <a:rPr lang="en-US" altLang="zh-CN" sz="1200" b="0">
                          <a:solidFill>
                            <a:srgbClr val="000000"/>
                          </a:solidFill>
                          <a:effectLst/>
                          <a:latin typeface="ui-sans-serif"/>
                        </a:rPr>
                        <a:t>HID </a:t>
                      </a:r>
                      <a:r>
                        <a:rPr lang="zh-CN" altLang="en-US" sz="1200" b="0">
                          <a:solidFill>
                            <a:srgbClr val="000000"/>
                          </a:solidFill>
                          <a:effectLst/>
                          <a:latin typeface="ui-sans-serif"/>
                        </a:rPr>
                        <a:t>服务、启用通知</a:t>
                      </a:r>
                    </a:p>
                  </a:txBody>
                  <a:tcPr anchor="ctr">
                    <a:lnL w="4229" cap="flat" cmpd="sng" algn="ctr">
                      <a:solidFill>
                        <a:srgbClr val="10B397"/>
                      </a:solidFill>
                      <a:prstDash val="solid"/>
                      <a:round/>
                      <a:headEnd type="none" w="med" len="med"/>
                      <a:tailEnd type="none" w="med" len="med"/>
                    </a:lnL>
                    <a:lnR w="4229" cap="flat" cmpd="sng" algn="ctr">
                      <a:solidFill>
                        <a:srgbClr val="F0AF97"/>
                      </a:solidFill>
                      <a:prstDash val="solid"/>
                      <a:round/>
                      <a:headEnd type="none" w="med" len="med"/>
                      <a:tailEnd type="none" w="med" len="med"/>
                    </a:lnR>
                    <a:lnT w="4229" cap="flat" cmpd="sng" algn="ctr">
                      <a:solidFill>
                        <a:srgbClr val="50B326"/>
                      </a:solidFill>
                      <a:prstDash val="solid"/>
                      <a:round/>
                      <a:headEnd type="none" w="med" len="med"/>
                      <a:tailEnd type="none" w="med" len="med"/>
                    </a:lnT>
                    <a:lnB w="4229" cap="flat" cmpd="sng" algn="ctr">
                      <a:solidFill>
                        <a:srgbClr val="50B326"/>
                      </a:solidFill>
                      <a:prstDash val="solid"/>
                      <a:round/>
                      <a:headEnd type="none" w="med" len="med"/>
                      <a:tailEnd type="none" w="med" len="med"/>
                    </a:lnB>
                    <a:noFill/>
                  </a:tcPr>
                </a:tc>
                <a:extLst>
                  <a:ext uri="{0D108BD9-81ED-4DB2-BD59-A6C34878D82A}">
                    <a16:rowId xmlns:a16="http://schemas.microsoft.com/office/drawing/2014/main" val="435592070"/>
                  </a:ext>
                </a:extLst>
              </a:tr>
              <a:tr h="239903">
                <a:tc>
                  <a:txBody>
                    <a:bodyPr/>
                    <a:lstStyle/>
                    <a:p>
                      <a:pPr algn="l">
                        <a:lnSpc>
                          <a:spcPts val="1800"/>
                        </a:lnSpc>
                        <a:buNone/>
                      </a:pPr>
                      <a:r>
                        <a:rPr lang="zh-CN" altLang="en-US" sz="1200" b="0">
                          <a:solidFill>
                            <a:srgbClr val="000000"/>
                          </a:solidFill>
                          <a:effectLst/>
                          <a:latin typeface="ui-sans-serif"/>
                        </a:rPr>
                        <a:t>正常工作</a:t>
                      </a:r>
                    </a:p>
                  </a:txBody>
                  <a:tcPr anchor="ctr">
                    <a:lnL w="4229" cap="flat" cmpd="sng" algn="ctr">
                      <a:solidFill>
                        <a:srgbClr val="50B5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30B296"/>
                      </a:solidFill>
                      <a:prstDash val="solid"/>
                      <a:round/>
                      <a:headEnd type="none" w="med" len="med"/>
                      <a:tailEnd type="none" w="med" len="med"/>
                    </a:lnT>
                    <a:lnB w="4229" cap="flat" cmpd="sng" algn="ctr">
                      <a:solidFill>
                        <a:srgbClr val="10BD96"/>
                      </a:solidFill>
                      <a:prstDash val="solid"/>
                      <a:round/>
                      <a:headEnd type="none" w="med" len="med"/>
                      <a:tailEnd type="none" w="med" len="med"/>
                    </a:lnB>
                    <a:noFill/>
                  </a:tcPr>
                </a:tc>
                <a:tc>
                  <a:txBody>
                    <a:bodyPr/>
                    <a:lstStyle/>
                    <a:p>
                      <a:pPr algn="l">
                        <a:lnSpc>
                          <a:spcPts val="1800"/>
                        </a:lnSpc>
                        <a:buNone/>
                      </a:pPr>
                      <a:r>
                        <a:rPr lang="zh-CN" altLang="en-US" sz="1200" b="0">
                          <a:solidFill>
                            <a:srgbClr val="000000"/>
                          </a:solidFill>
                          <a:effectLst/>
                          <a:latin typeface="ui-sans-serif"/>
                        </a:rPr>
                        <a:t>按键扫描→数据传输→手机输入</a:t>
                      </a:r>
                    </a:p>
                  </a:txBody>
                  <a:tcPr anchor="ctr">
                    <a:lnL w="4229" cap="flat" cmpd="sng" algn="ctr">
                      <a:solidFill>
                        <a:srgbClr val="10B397"/>
                      </a:solidFill>
                      <a:prstDash val="solid"/>
                      <a:round/>
                      <a:headEnd type="none" w="med" len="med"/>
                      <a:tailEnd type="none" w="med" len="med"/>
                    </a:lnL>
                    <a:lnR w="4229" cap="flat" cmpd="sng" algn="ctr">
                      <a:solidFill>
                        <a:srgbClr val="D0AD97"/>
                      </a:solidFill>
                      <a:prstDash val="solid"/>
                      <a:round/>
                      <a:headEnd type="none" w="med" len="med"/>
                      <a:tailEnd type="none" w="med" len="med"/>
                    </a:lnR>
                    <a:lnT w="4229" cap="flat" cmpd="sng" algn="ctr">
                      <a:solidFill>
                        <a:srgbClr val="50B326"/>
                      </a:solidFill>
                      <a:prstDash val="solid"/>
                      <a:round/>
                      <a:headEnd type="none" w="med" len="med"/>
                      <a:tailEnd type="none" w="med" len="med"/>
                    </a:lnT>
                    <a:lnB w="4229" cap="flat" cmpd="sng" algn="ctr">
                      <a:solidFill>
                        <a:srgbClr val="00BB26"/>
                      </a:solidFill>
                      <a:prstDash val="solid"/>
                      <a:round/>
                      <a:headEnd type="none" w="med" len="med"/>
                      <a:tailEnd type="none" w="med" len="med"/>
                    </a:lnB>
                    <a:noFill/>
                  </a:tcPr>
                </a:tc>
                <a:extLst>
                  <a:ext uri="{0D108BD9-81ED-4DB2-BD59-A6C34878D82A}">
                    <a16:rowId xmlns:a16="http://schemas.microsoft.com/office/drawing/2014/main" val="3647210764"/>
                  </a:ext>
                </a:extLst>
              </a:tr>
              <a:tr h="239903">
                <a:tc>
                  <a:txBody>
                    <a:bodyPr/>
                    <a:lstStyle/>
                    <a:p>
                      <a:pPr algn="l">
                        <a:lnSpc>
                          <a:spcPts val="1800"/>
                        </a:lnSpc>
                        <a:buNone/>
                      </a:pPr>
                      <a:r>
                        <a:rPr lang="zh-CN" altLang="en-US" sz="1200" b="0">
                          <a:solidFill>
                            <a:srgbClr val="000000"/>
                          </a:solidFill>
                          <a:effectLst/>
                          <a:latin typeface="ui-sans-serif"/>
                        </a:rPr>
                        <a:t>断开连接</a:t>
                      </a:r>
                    </a:p>
                  </a:txBody>
                  <a:tcPr anchor="ctr">
                    <a:lnL w="4229" cap="flat" cmpd="sng" algn="ctr">
                      <a:solidFill>
                        <a:srgbClr val="30BF96"/>
                      </a:solidFill>
                      <a:prstDash val="solid"/>
                      <a:round/>
                      <a:headEnd type="none" w="med" len="med"/>
                      <a:tailEnd type="none" w="med" len="med"/>
                    </a:lnL>
                    <a:lnR w="4229" cap="flat" cmpd="sng" algn="ctr">
                      <a:solidFill>
                        <a:srgbClr val="10B397"/>
                      </a:solidFill>
                      <a:prstDash val="solid"/>
                      <a:round/>
                      <a:headEnd type="none" w="med" len="med"/>
                      <a:tailEnd type="none" w="med" len="med"/>
                    </a:lnR>
                    <a:lnT w="4229" cap="flat" cmpd="sng" algn="ctr">
                      <a:solidFill>
                        <a:srgbClr val="10BD96"/>
                      </a:solidFill>
                      <a:prstDash val="solid"/>
                      <a:round/>
                      <a:headEnd type="none" w="med" len="med"/>
                      <a:tailEnd type="none" w="med" len="med"/>
                    </a:lnT>
                    <a:lnB w="4229" cap="flat" cmpd="sng" algn="ctr">
                      <a:solidFill>
                        <a:srgbClr val="D0C296"/>
                      </a:solidFill>
                      <a:prstDash val="solid"/>
                      <a:round/>
                      <a:headEnd type="none" w="med" len="med"/>
                      <a:tailEnd type="none" w="med" len="med"/>
                    </a:lnB>
                    <a:noFill/>
                  </a:tcPr>
                </a:tc>
                <a:tc>
                  <a:txBody>
                    <a:bodyPr/>
                    <a:lstStyle/>
                    <a:p>
                      <a:pPr algn="l">
                        <a:lnSpc>
                          <a:spcPts val="1800"/>
                        </a:lnSpc>
                        <a:buNone/>
                      </a:pPr>
                      <a:r>
                        <a:rPr lang="zh-CN" altLang="en-US" sz="1200" b="0" dirty="0">
                          <a:solidFill>
                            <a:srgbClr val="000000"/>
                          </a:solidFill>
                          <a:effectLst/>
                          <a:latin typeface="ui-sans-serif"/>
                        </a:rPr>
                        <a:t>重置状态、重新广播</a:t>
                      </a:r>
                    </a:p>
                  </a:txBody>
                  <a:tcPr anchor="ctr">
                    <a:lnL w="4229" cap="flat" cmpd="sng" algn="ctr">
                      <a:solidFill>
                        <a:srgbClr val="10B397"/>
                      </a:solidFill>
                      <a:prstDash val="solid"/>
                      <a:round/>
                      <a:headEnd type="none" w="med" len="med"/>
                      <a:tailEnd type="none" w="med" len="med"/>
                    </a:lnL>
                    <a:lnR w="4229" cap="flat" cmpd="sng" algn="ctr">
                      <a:solidFill>
                        <a:srgbClr val="D0AD97"/>
                      </a:solidFill>
                      <a:prstDash val="solid"/>
                      <a:round/>
                      <a:headEnd type="none" w="med" len="med"/>
                      <a:tailEnd type="none" w="med" len="med"/>
                    </a:lnR>
                    <a:lnT w="4229" cap="flat" cmpd="sng" algn="ctr">
                      <a:solidFill>
                        <a:srgbClr val="00BB26"/>
                      </a:solidFill>
                      <a:prstDash val="solid"/>
                      <a:round/>
                      <a:headEnd type="none" w="med" len="med"/>
                      <a:tailEnd type="none" w="med" len="med"/>
                    </a:lnT>
                    <a:lnB w="4229" cap="flat" cmpd="sng" algn="ctr">
                      <a:solidFill>
                        <a:srgbClr val="80C526"/>
                      </a:solidFill>
                      <a:prstDash val="solid"/>
                      <a:round/>
                      <a:headEnd type="none" w="med" len="med"/>
                      <a:tailEnd type="none" w="med" len="med"/>
                    </a:lnB>
                    <a:noFill/>
                  </a:tcPr>
                </a:tc>
                <a:extLst>
                  <a:ext uri="{0D108BD9-81ED-4DB2-BD59-A6C34878D82A}">
                    <a16:rowId xmlns:a16="http://schemas.microsoft.com/office/drawing/2014/main" val="3708770504"/>
                  </a:ext>
                </a:extLst>
              </a:tr>
            </a:tbl>
          </a:graphicData>
        </a:graphic>
      </p:graphicFrame>
      <p:sp>
        <p:nvSpPr>
          <p:cNvPr id="13" name="文本框 12">
            <a:extLst>
              <a:ext uri="{FF2B5EF4-FFF2-40B4-BE49-F238E27FC236}">
                <a16:creationId xmlns:a16="http://schemas.microsoft.com/office/drawing/2014/main" id="{7973F9DF-0D76-7629-1793-6648B005FA60}"/>
              </a:ext>
            </a:extLst>
          </p:cNvPr>
          <p:cNvSpPr txBox="1"/>
          <p:nvPr/>
        </p:nvSpPr>
        <p:spPr>
          <a:xfrm>
            <a:off x="215590" y="796769"/>
            <a:ext cx="8613449" cy="784830"/>
          </a:xfrm>
          <a:prstGeom prst="rect">
            <a:avLst/>
          </a:prstGeom>
          <a:noFill/>
        </p:spPr>
        <p:txBody>
          <a:bodyPr wrap="square">
            <a:spAutoFit/>
          </a:bodyPr>
          <a:lstStyle/>
          <a:p>
            <a:pPr algn="l">
              <a:lnSpc>
                <a:spcPts val="1800"/>
              </a:lnSpc>
              <a:buNone/>
            </a:pPr>
            <a:r>
              <a:rPr lang="en-US" altLang="zh-CN" sz="1200" b="0" dirty="0">
                <a:solidFill>
                  <a:srgbClr val="000000"/>
                </a:solidFill>
                <a:effectLst/>
                <a:latin typeface="ui-sans-serif"/>
              </a:rPr>
              <a:t>BLE HID</a:t>
            </a:r>
            <a:r>
              <a:rPr lang="zh-CN" altLang="en-US" sz="1200" b="0" dirty="0">
                <a:solidFill>
                  <a:srgbClr val="000000"/>
                </a:solidFill>
                <a:effectLst/>
                <a:latin typeface="ui-sans-serif"/>
              </a:rPr>
              <a:t>（键盘）外设工作全流程，主要包含：</a:t>
            </a:r>
          </a:p>
          <a:p>
            <a:pPr algn="l">
              <a:lnSpc>
                <a:spcPts val="1800"/>
              </a:lnSpc>
              <a:buFont typeface="Arial" panose="020B0604020202020204" pitchFamily="34" charset="0"/>
              <a:buChar char="•"/>
            </a:pPr>
            <a:r>
              <a:rPr lang="en-US" altLang="zh-CN" sz="1200" b="0" dirty="0">
                <a:solidFill>
                  <a:srgbClr val="000000"/>
                </a:solidFill>
                <a:effectLst/>
                <a:latin typeface="ui-sans-serif"/>
              </a:rPr>
              <a:t>GAP</a:t>
            </a:r>
            <a:r>
              <a:rPr lang="zh-CN" altLang="en-US" sz="1200" b="0" dirty="0">
                <a:solidFill>
                  <a:srgbClr val="000000"/>
                </a:solidFill>
                <a:effectLst/>
                <a:latin typeface="ui-sans-serif"/>
              </a:rPr>
              <a:t>（广播连接）、</a:t>
            </a:r>
            <a:r>
              <a:rPr lang="en-US" altLang="zh-CN" sz="1200" b="0" dirty="0">
                <a:solidFill>
                  <a:srgbClr val="000000"/>
                </a:solidFill>
                <a:effectLst/>
                <a:latin typeface="ui-sans-serif"/>
              </a:rPr>
              <a:t>GATT</a:t>
            </a:r>
            <a:r>
              <a:rPr lang="zh-CN" altLang="en-US" sz="1200" b="0" dirty="0">
                <a:solidFill>
                  <a:srgbClr val="000000"/>
                </a:solidFill>
                <a:effectLst/>
                <a:latin typeface="ui-sans-serif"/>
              </a:rPr>
              <a:t>（服务数据）、</a:t>
            </a:r>
            <a:r>
              <a:rPr lang="en-US" altLang="zh-CN" sz="1200" b="0" dirty="0">
                <a:solidFill>
                  <a:srgbClr val="000000"/>
                </a:solidFill>
                <a:effectLst/>
                <a:latin typeface="ui-sans-serif"/>
              </a:rPr>
              <a:t>SMP</a:t>
            </a:r>
            <a:r>
              <a:rPr lang="zh-CN" altLang="en-US" sz="1200" b="0" dirty="0">
                <a:solidFill>
                  <a:srgbClr val="000000"/>
                </a:solidFill>
                <a:effectLst/>
                <a:latin typeface="ui-sans-serif"/>
              </a:rPr>
              <a:t>（配对加密）三层协议作用</a:t>
            </a:r>
          </a:p>
          <a:p>
            <a:pPr algn="l">
              <a:lnSpc>
                <a:spcPts val="1800"/>
              </a:lnSpc>
              <a:buFont typeface="Arial" panose="020B0604020202020204" pitchFamily="34" charset="0"/>
              <a:buChar char="•"/>
            </a:pPr>
            <a:r>
              <a:rPr lang="zh-CN" altLang="en-US" sz="1200" b="0" dirty="0">
                <a:solidFill>
                  <a:srgbClr val="000000"/>
                </a:solidFill>
                <a:effectLst/>
                <a:latin typeface="ui-sans-serif"/>
              </a:rPr>
              <a:t>从按键扫描到手机输入的完整数据流</a:t>
            </a:r>
          </a:p>
        </p:txBody>
      </p:sp>
    </p:spTree>
    <p:extLst>
      <p:ext uri="{BB962C8B-B14F-4D97-AF65-F5344CB8AC3E}">
        <p14:creationId xmlns:p14="http://schemas.microsoft.com/office/powerpoint/2010/main" val="771671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2D562-EF18-5032-C767-4D7A7D7F0C8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A69CEED-DB25-41E3-9DCD-28C05A9BD2B6}"/>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HID</a:t>
            </a:r>
            <a:r>
              <a:rPr lang="zh-CN" altLang="en-US" sz="2400" b="1" spc="-38" dirty="0">
                <a:solidFill>
                  <a:srgbClr val="DFC27B"/>
                </a:solidFill>
                <a:latin typeface="Calibri" panose="020F0502020204030204" pitchFamily="34" charset="0"/>
                <a:cs typeface="Calibri" panose="020F0502020204030204" pitchFamily="34" charset="0"/>
              </a:rPr>
              <a:t>流程图</a:t>
            </a:r>
            <a:r>
              <a:rPr lang="en-US" altLang="zh-CN" sz="2400" b="1" spc="-38" dirty="0">
                <a:solidFill>
                  <a:srgbClr val="DFC27B"/>
                </a:solidFill>
                <a:latin typeface="Calibri" panose="020F0502020204030204" pitchFamily="34" charset="0"/>
                <a:cs typeface="Calibri" panose="020F0502020204030204" pitchFamily="34" charset="0"/>
              </a:rPr>
              <a:t> </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16" name="图片 15" descr="图表&#10;&#10;AI 生成的内容可能不正确。">
            <a:extLst>
              <a:ext uri="{FF2B5EF4-FFF2-40B4-BE49-F238E27FC236}">
                <a16:creationId xmlns:a16="http://schemas.microsoft.com/office/drawing/2014/main" id="{C649E465-3D8F-3A68-015C-9E5D7FB66AC7}"/>
              </a:ext>
            </a:extLst>
          </p:cNvPr>
          <p:cNvPicPr>
            <a:picLocks noChangeAspect="1"/>
          </p:cNvPicPr>
          <p:nvPr/>
        </p:nvPicPr>
        <p:blipFill>
          <a:blip r:embed="rId2"/>
          <a:stretch>
            <a:fillRect/>
          </a:stretch>
        </p:blipFill>
        <p:spPr>
          <a:xfrm>
            <a:off x="0" y="1039750"/>
            <a:ext cx="9144000" cy="3063999"/>
          </a:xfrm>
          <a:prstGeom prst="rect">
            <a:avLst/>
          </a:prstGeom>
        </p:spPr>
      </p:pic>
    </p:spTree>
    <p:extLst>
      <p:ext uri="{BB962C8B-B14F-4D97-AF65-F5344CB8AC3E}">
        <p14:creationId xmlns:p14="http://schemas.microsoft.com/office/powerpoint/2010/main" val="338754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F7BE1-DA40-1DCC-D982-19667E624A97}"/>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CN" sz="2400" b="1" spc="-38" dirty="0">
                <a:solidFill>
                  <a:srgbClr val="DFC27B"/>
                </a:solidFill>
                <a:latin typeface="Calibri" panose="020F0502020204030204" pitchFamily="34" charset="0"/>
                <a:cs typeface="Calibri" panose="020F0502020204030204" pitchFamily="34" charset="0"/>
              </a:rPr>
              <a:t>HID-</a:t>
            </a:r>
            <a:r>
              <a:rPr lang="en-US" altLang="zh-CN" sz="2400" b="1" spc="-38" dirty="0" err="1">
                <a:solidFill>
                  <a:srgbClr val="DFC27B"/>
                </a:solidFill>
                <a:latin typeface="Calibri" panose="020F0502020204030204" pitchFamily="34" charset="0"/>
                <a:cs typeface="Calibri" panose="020F0502020204030204" pitchFamily="34" charset="0"/>
              </a:rPr>
              <a:t>KeyBoard</a:t>
            </a:r>
            <a:r>
              <a:rPr lang="zh-CN" altLang="en-US" sz="2400" b="1" spc="-38" dirty="0">
                <a:solidFill>
                  <a:srgbClr val="DFC27B"/>
                </a:solidFill>
                <a:latin typeface="Calibri" panose="020F0502020204030204" pitchFamily="34" charset="0"/>
                <a:cs typeface="Calibri" panose="020F0502020204030204" pitchFamily="34" charset="0"/>
              </a:rPr>
              <a:t>效果演示</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0DB111BF-B5D5-C8A1-B32C-0C5124530C38}"/>
              </a:ext>
            </a:extLst>
          </p:cNvPr>
          <p:cNvSpPr txBox="1"/>
          <p:nvPr/>
        </p:nvSpPr>
        <p:spPr>
          <a:xfrm>
            <a:off x="4114800" y="2114550"/>
            <a:ext cx="3061252" cy="1477328"/>
          </a:xfrm>
          <a:prstGeom prst="rect">
            <a:avLst/>
          </a:prstGeom>
          <a:noFill/>
        </p:spPr>
        <p:txBody>
          <a:bodyPr wrap="square" rtlCol="0">
            <a:spAutoFit/>
          </a:bodyPr>
          <a:lstStyle/>
          <a:p>
            <a:r>
              <a:rPr lang="zh-CN" altLang="en-US" dirty="0"/>
              <a:t>该演示键盘做了</a:t>
            </a:r>
            <a:r>
              <a:rPr lang="en-US" altLang="zh-CN" dirty="0" err="1"/>
              <a:t>abc</a:t>
            </a:r>
            <a:r>
              <a:rPr lang="zh-CN" altLang="en-US" dirty="0"/>
              <a:t>三个按键码和左</a:t>
            </a:r>
            <a:r>
              <a:rPr lang="en-US" altLang="zh-CN" dirty="0"/>
              <a:t>shift</a:t>
            </a:r>
            <a:r>
              <a:rPr lang="zh-CN" altLang="en-US" dirty="0"/>
              <a:t>修饰键</a:t>
            </a:r>
            <a:r>
              <a:rPr lang="en-US" altLang="zh-CN" dirty="0"/>
              <a:t>,</a:t>
            </a:r>
            <a:r>
              <a:rPr lang="zh-CN" altLang="en-US" dirty="0"/>
              <a:t>通过按设备的</a:t>
            </a:r>
            <a:r>
              <a:rPr lang="en-US" altLang="zh-CN" dirty="0"/>
              <a:t>shift</a:t>
            </a:r>
            <a:r>
              <a:rPr lang="zh-CN" altLang="en-US" dirty="0"/>
              <a:t>切换了手机的中英文并在按下</a:t>
            </a:r>
            <a:r>
              <a:rPr lang="en-US" altLang="zh-CN" dirty="0"/>
              <a:t>shift</a:t>
            </a:r>
            <a:r>
              <a:rPr lang="zh-CN" altLang="en-US" dirty="0"/>
              <a:t>时输出了大写</a:t>
            </a:r>
          </a:p>
        </p:txBody>
      </p:sp>
      <p:pic>
        <p:nvPicPr>
          <p:cNvPr id="3" name="145950138">
            <a:hlinkClick r:id="" action="ppaction://media"/>
            <a:extLst>
              <a:ext uri="{FF2B5EF4-FFF2-40B4-BE49-F238E27FC236}">
                <a16:creationId xmlns:a16="http://schemas.microsoft.com/office/drawing/2014/main" id="{F2168AD9-31BD-141D-1B93-9ED31231055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69573" y="718040"/>
            <a:ext cx="1596749" cy="3548331"/>
          </a:xfrm>
          <a:prstGeom prst="rect">
            <a:avLst/>
          </a:prstGeom>
        </p:spPr>
      </p:pic>
    </p:spTree>
    <p:extLst>
      <p:ext uri="{BB962C8B-B14F-4D97-AF65-F5344CB8AC3E}">
        <p14:creationId xmlns:p14="http://schemas.microsoft.com/office/powerpoint/2010/main" val="42058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0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D31A727-7DFB-BEE8-C069-F2D72A1B15A0}"/>
              </a:ext>
            </a:extLst>
          </p:cNvPr>
          <p:cNvSpPr txBox="1"/>
          <p:nvPr/>
        </p:nvSpPr>
        <p:spPr>
          <a:xfrm>
            <a:off x="215591" y="770650"/>
            <a:ext cx="7531330" cy="461665"/>
          </a:xfrm>
          <a:prstGeom prst="rect">
            <a:avLst/>
          </a:prstGeom>
          <a:noFill/>
        </p:spPr>
        <p:txBody>
          <a:bodyPr wrap="square" rtlCol="0">
            <a:spAutoFit/>
          </a:bodyPr>
          <a:lstStyle/>
          <a:p>
            <a:r>
              <a:rPr lang="en-US" altLang="zh-CN" sz="1200" b="1" dirty="0"/>
              <a:t>Q&amp;A</a:t>
            </a:r>
          </a:p>
          <a:p>
            <a:r>
              <a:rPr lang="zh-CN" altLang="en-US" sz="1200" b="1" dirty="0"/>
              <a:t>键盘连接手机正常，连接电脑不行</a:t>
            </a:r>
            <a:endParaRPr lang="en-US" altLang="zh-CN" sz="1200" b="1" dirty="0"/>
          </a:p>
        </p:txBody>
      </p:sp>
      <p:sp>
        <p:nvSpPr>
          <p:cNvPr id="3" name="文本框 2">
            <a:extLst>
              <a:ext uri="{FF2B5EF4-FFF2-40B4-BE49-F238E27FC236}">
                <a16:creationId xmlns:a16="http://schemas.microsoft.com/office/drawing/2014/main" id="{117627C6-57C9-0CE2-D98A-2D54D1D545C3}"/>
              </a:ext>
            </a:extLst>
          </p:cNvPr>
          <p:cNvSpPr txBox="1"/>
          <p:nvPr/>
        </p:nvSpPr>
        <p:spPr>
          <a:xfrm>
            <a:off x="215591" y="3420003"/>
            <a:ext cx="8745530" cy="830997"/>
          </a:xfrm>
          <a:prstGeom prst="rect">
            <a:avLst/>
          </a:prstGeom>
          <a:noFill/>
        </p:spPr>
        <p:txBody>
          <a:bodyPr wrap="square" rtlCol="0">
            <a:spAutoFit/>
          </a:bodyPr>
          <a:lstStyle/>
          <a:p>
            <a:r>
              <a:rPr lang="zh-CN" altLang="en-US" sz="1200" b="1" dirty="0"/>
              <a:t>引用书籍</a:t>
            </a:r>
            <a:endParaRPr lang="en-US" altLang="zh-CN" sz="1200" b="1" dirty="0"/>
          </a:p>
          <a:p>
            <a:r>
              <a:rPr lang="en-US" altLang="zh-CN" sz="1200" dirty="0"/>
              <a:t>[1] Bluetooth Core Specification, Version 5.4 </a:t>
            </a:r>
          </a:p>
          <a:p>
            <a:r>
              <a:rPr lang="en-US" altLang="zh-CN" sz="1200" dirty="0"/>
              <a:t>[2] Qualification Program Reference Document</a:t>
            </a:r>
          </a:p>
          <a:p>
            <a:r>
              <a:rPr lang="en-US" altLang="zh-CN" sz="1200" dirty="0"/>
              <a:t>[3] ARM Cortex-M3</a:t>
            </a:r>
            <a:r>
              <a:rPr lang="zh-CN" altLang="en-US" sz="1200" dirty="0"/>
              <a:t>与</a:t>
            </a:r>
            <a:r>
              <a:rPr lang="en-US" altLang="zh-CN" sz="1200" dirty="0"/>
              <a:t>Cortex-M4</a:t>
            </a:r>
            <a:r>
              <a:rPr lang="zh-CN" altLang="en-US" sz="1200" dirty="0"/>
              <a:t>权威指南</a:t>
            </a:r>
          </a:p>
        </p:txBody>
      </p:sp>
      <p:sp>
        <p:nvSpPr>
          <p:cNvPr id="4" name="標題 1">
            <a:extLst>
              <a:ext uri="{FF2B5EF4-FFF2-40B4-BE49-F238E27FC236}">
                <a16:creationId xmlns:a16="http://schemas.microsoft.com/office/drawing/2014/main" id="{AD12E8B7-7A87-EDF3-B192-D245F573E4C1}"/>
              </a:ext>
            </a:extLst>
          </p:cNvPr>
          <p:cNvSpPr txBox="1">
            <a:spLocks/>
          </p:cNvSpPr>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zh-CN" altLang="en-US" sz="2400" b="1" spc="-38" dirty="0">
                <a:solidFill>
                  <a:srgbClr val="DFC27B"/>
                </a:solidFill>
                <a:latin typeface="Calibri" panose="020F0502020204030204" pitchFamily="34" charset="0"/>
                <a:cs typeface="Calibri" panose="020F0502020204030204" pitchFamily="34" charset="0"/>
              </a:rPr>
              <a:t>问题及资料引用</a:t>
            </a:r>
            <a:endParaRPr lang="en-US" altLang="zh-TW" sz="2400" b="1" spc="-38" dirty="0">
              <a:solidFill>
                <a:srgbClr val="3D5663"/>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19693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765909"/>
      </p:ext>
    </p:extLst>
  </p:cSld>
  <p:clrMapOvr>
    <a:masterClrMapping/>
  </p:clrMapOvr>
</p:sld>
</file>

<file path=ppt/theme/theme1.xml><?xml version="1.0" encoding="utf-8"?>
<a:theme xmlns:a="http://schemas.openxmlformats.org/drawingml/2006/main" name="Office 佈景主題">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31206</TotalTime>
  <Words>8711</Words>
  <Application>Microsoft Office PowerPoint</Application>
  <PresentationFormat>全屏显示(16:9)</PresentationFormat>
  <Paragraphs>607</Paragraphs>
  <Slides>58</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58</vt:i4>
      </vt:variant>
    </vt:vector>
  </HeadingPairs>
  <TitlesOfParts>
    <vt:vector size="70" baseType="lpstr">
      <vt:lpstr>Arial Unicode MS</vt:lpstr>
      <vt:lpstr>Inter</vt:lpstr>
      <vt:lpstr>Menlo</vt:lpstr>
      <vt:lpstr>ui-monospace</vt:lpstr>
      <vt:lpstr>ui-sans-serif</vt:lpstr>
      <vt:lpstr>ZapfDingbats</vt:lpstr>
      <vt:lpstr>等线</vt:lpstr>
      <vt:lpstr>Arial</vt:lpstr>
      <vt:lpstr>Calibri</vt:lpstr>
      <vt:lpstr>Courier New</vt:lpstr>
      <vt:lpstr>Symbol</vt:lpstr>
      <vt:lpstr>Office 佈景主題</vt:lpstr>
      <vt:lpstr>学习报告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公司新版政策語錄</dc:title>
  <dc:creator>KW31_陳柏廷(Point.Chen)</dc:creator>
  <cp:lastModifiedBy>梦 幽</cp:lastModifiedBy>
  <cp:revision>1219</cp:revision>
  <cp:lastPrinted>2023-11-14T06:51:44Z</cp:lastPrinted>
  <dcterms:created xsi:type="dcterms:W3CDTF">2021-05-06T16:03:29Z</dcterms:created>
  <dcterms:modified xsi:type="dcterms:W3CDTF">2026-02-05T07:14:52Z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1028-1.9.1.2994</vt:lpwstr>
  </property>
</Properties>
</file>