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6"/>
  </p:notesMasterIdLst>
  <p:handoutMasterIdLst>
    <p:handoutMasterId r:id="rId57"/>
  </p:handoutMasterIdLst>
  <p:sldIdLst>
    <p:sldId id="721" r:id="rId3"/>
    <p:sldId id="720" r:id="rId4"/>
    <p:sldId id="722" r:id="rId5"/>
    <p:sldId id="723" r:id="rId6"/>
    <p:sldId id="724" r:id="rId7"/>
    <p:sldId id="736" r:id="rId8"/>
    <p:sldId id="725" r:id="rId9"/>
    <p:sldId id="726" r:id="rId10"/>
    <p:sldId id="727" r:id="rId11"/>
    <p:sldId id="728" r:id="rId12"/>
    <p:sldId id="729" r:id="rId13"/>
    <p:sldId id="730" r:id="rId14"/>
    <p:sldId id="731" r:id="rId15"/>
    <p:sldId id="732" r:id="rId16"/>
    <p:sldId id="733" r:id="rId17"/>
    <p:sldId id="734" r:id="rId18"/>
    <p:sldId id="735" r:id="rId19"/>
    <p:sldId id="737" r:id="rId20"/>
    <p:sldId id="738" r:id="rId21"/>
    <p:sldId id="739" r:id="rId22"/>
    <p:sldId id="740" r:id="rId23"/>
    <p:sldId id="741" r:id="rId24"/>
    <p:sldId id="747" r:id="rId25"/>
    <p:sldId id="749" r:id="rId26"/>
    <p:sldId id="750" r:id="rId27"/>
    <p:sldId id="756" r:id="rId28"/>
    <p:sldId id="757" r:id="rId29"/>
    <p:sldId id="758" r:id="rId30"/>
    <p:sldId id="759" r:id="rId31"/>
    <p:sldId id="760" r:id="rId32"/>
    <p:sldId id="748" r:id="rId33"/>
    <p:sldId id="751" r:id="rId34"/>
    <p:sldId id="752" r:id="rId35"/>
    <p:sldId id="754" r:id="rId36"/>
    <p:sldId id="762" r:id="rId37"/>
    <p:sldId id="763" r:id="rId38"/>
    <p:sldId id="764" r:id="rId39"/>
    <p:sldId id="765" r:id="rId40"/>
    <p:sldId id="767" r:id="rId41"/>
    <p:sldId id="768" r:id="rId42"/>
    <p:sldId id="769" r:id="rId43"/>
    <p:sldId id="770" r:id="rId44"/>
    <p:sldId id="773" r:id="rId45"/>
    <p:sldId id="771" r:id="rId46"/>
    <p:sldId id="772" r:id="rId47"/>
    <p:sldId id="774" r:id="rId48"/>
    <p:sldId id="775" r:id="rId49"/>
    <p:sldId id="777" r:id="rId50"/>
    <p:sldId id="778" r:id="rId51"/>
    <p:sldId id="776" r:id="rId52"/>
    <p:sldId id="779" r:id="rId53"/>
    <p:sldId id="780" r:id="rId54"/>
    <p:sldId id="761" r:id="rId55"/>
  </p:sldIdLst>
  <p:sldSz cx="9144000" cy="5143500" type="screen16x9"/>
  <p:notesSz cx="6807200" cy="993902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0"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346E78"/>
    <a:srgbClr val="E7EEBA"/>
    <a:srgbClr val="96C9D2"/>
    <a:srgbClr val="C1E0E5"/>
    <a:srgbClr val="DCEDF0"/>
    <a:srgbClr val="C24E4E"/>
    <a:srgbClr val="99B323"/>
    <a:srgbClr val="E8B128"/>
    <a:srgbClr val="ABA7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56" autoAdjust="0"/>
    <p:restoredTop sz="93219" autoAdjust="0"/>
  </p:normalViewPr>
  <p:slideViewPr>
    <p:cSldViewPr snapToGrid="0" snapToObjects="1">
      <p:cViewPr varScale="1">
        <p:scale>
          <a:sx n="147" d="100"/>
          <a:sy n="147" d="100"/>
        </p:scale>
        <p:origin x="840" y="126"/>
      </p:cViewPr>
      <p:guideLst/>
    </p:cSldViewPr>
  </p:slideViewPr>
  <p:notesTextViewPr>
    <p:cViewPr>
      <p:scale>
        <a:sx n="1" d="1"/>
        <a:sy n="1" d="1"/>
      </p:scale>
      <p:origin x="0" y="0"/>
    </p:cViewPr>
  </p:notesTextViewPr>
  <p:sorterViewPr>
    <p:cViewPr>
      <p:scale>
        <a:sx n="120" d="100"/>
        <a:sy n="120" d="100"/>
      </p:scale>
      <p:origin x="0" y="0"/>
    </p:cViewPr>
  </p:sorterViewPr>
  <p:notesViewPr>
    <p:cSldViewPr snapToGrid="0" snapToObjects="1">
      <p:cViewPr varScale="1">
        <p:scale>
          <a:sx n="61" d="100"/>
          <a:sy n="61" d="100"/>
        </p:scale>
        <p:origin x="3168" y="3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1" Type="http://schemas.openxmlformats.org/officeDocument/2006/relationships/commentAuthors" Target="commentAuthors.xml"/><Relationship Id="rId60" Type="http://schemas.openxmlformats.org/officeDocument/2006/relationships/tableStyles" Target="tableStyles.xml"/><Relationship Id="rId6" Type="http://schemas.openxmlformats.org/officeDocument/2006/relationships/slide" Target="slides/slide4.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handoutMaster" Target="handoutMasters/handoutMaster1.xml"/><Relationship Id="rId56" Type="http://schemas.openxmlformats.org/officeDocument/2006/relationships/notesMaster" Target="notesMasters/notesMaster1.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55838" y="0"/>
            <a:ext cx="2949787" cy="498693"/>
          </a:xfrm>
          <a:prstGeom prst="rect">
            <a:avLst/>
          </a:prstGeom>
        </p:spPr>
        <p:txBody>
          <a:bodyPr vert="horz" lIns="91440" tIns="45720" rIns="91440" bIns="45720" rtlCol="0"/>
          <a:lstStyle>
            <a:lvl1pPr algn="r">
              <a:defRPr sz="1200"/>
            </a:lvl1pPr>
          </a:lstStyle>
          <a:p>
            <a:fld id="{25F83C5B-193A-4BF8-A82E-7EEB60FC9D06}" type="datetimeFigureOut">
              <a:rPr lang="zh-TW" altLang="en-US" smtClean="0"/>
            </a:fld>
            <a:endParaRPr lang="zh-TW" altLang="en-US"/>
          </a:p>
        </p:txBody>
      </p:sp>
      <p:sp>
        <p:nvSpPr>
          <p:cNvPr id="4" name="頁尾版面配置區 3"/>
          <p:cNvSpPr>
            <a:spLocks noGrp="1"/>
          </p:cNvSpPr>
          <p:nvPr>
            <p:ph type="ftr" sz="quarter" idx="2"/>
          </p:nvPr>
        </p:nvSpPr>
        <p:spPr>
          <a:xfrm>
            <a:off x="0" y="9440647"/>
            <a:ext cx="2949787" cy="498692"/>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838" y="9440647"/>
            <a:ext cx="2949787" cy="498692"/>
          </a:xfrm>
          <a:prstGeom prst="rect">
            <a:avLst/>
          </a:prstGeom>
        </p:spPr>
        <p:txBody>
          <a:bodyPr vert="horz" lIns="91440" tIns="45720" rIns="91440" bIns="45720" rtlCol="0" anchor="b"/>
          <a:lstStyle>
            <a:lvl1pPr algn="r">
              <a:defRPr sz="1200"/>
            </a:lvl1pPr>
          </a:lstStyle>
          <a:p>
            <a:fld id="{BAFA2EFD-17CF-42D6-A0C8-2B54CA1B5FB2}" type="slidenum">
              <a:rPr lang="zh-TW" altLang="en-US" smtClean="0"/>
            </a:fld>
            <a:endParaRPr lang="zh-TW"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CB36A0AF-27EE-2F44-8E2A-D118AC8FD312}" type="datetimeFigureOut">
              <a:rPr lang="en-US" smtClean="0"/>
            </a:fld>
            <a:endParaRPr lang="en-US"/>
          </a:p>
        </p:txBody>
      </p:sp>
      <p:sp>
        <p:nvSpPr>
          <p:cNvPr id="4" name="Slide Image Placeholder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C5FF2086-D505-2D44-8947-B67946DAFD0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圖片 3" descr="畫面剪輯"/>
          <p:cNvPicPr/>
          <p:nvPr userDrawn="1"/>
        </p:nvPicPr>
        <p:blipFill rotWithShape="1">
          <a:blip r:embed="rId2">
            <a:extLst>
              <a:ext uri="{28A0092B-C50C-407E-A947-70E740481C1C}">
                <a14:useLocalDpi xmlns:a14="http://schemas.microsoft.com/office/drawing/2010/main" val="0"/>
              </a:ext>
            </a:extLst>
          </a:blip>
          <a:srcRect l="245" t="648" r="542" b="24906"/>
          <a:stretch>
            <a:fillRect/>
          </a:stretch>
        </p:blipFill>
        <p:spPr>
          <a:xfrm>
            <a:off x="0" y="-2250"/>
            <a:ext cx="9144000" cy="5148000"/>
          </a:xfrm>
          <a:prstGeom prst="rect">
            <a:avLst/>
          </a:prstGeom>
        </p:spPr>
      </p:pic>
      <p:sp>
        <p:nvSpPr>
          <p:cNvPr id="11" name="矩形 10"/>
          <p:cNvSpPr/>
          <p:nvPr userDrawn="1"/>
        </p:nvSpPr>
        <p:spPr>
          <a:xfrm>
            <a:off x="0" y="-2250"/>
            <a:ext cx="9144000" cy="5148000"/>
          </a:xfrm>
          <a:prstGeom prst="rect">
            <a:avLst/>
          </a:prstGeom>
          <a:solidFill>
            <a:schemeClr val="tx1">
              <a:lumMod val="75000"/>
              <a:lumOff val="25000"/>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p:cNvSpPr/>
          <p:nvPr userDrawn="1"/>
        </p:nvSpPr>
        <p:spPr>
          <a:xfrm>
            <a:off x="4571964" y="2970854"/>
            <a:ext cx="3888134" cy="1550031"/>
          </a:xfrm>
          <a:prstGeom prst="rect">
            <a:avLst/>
          </a:prstGeom>
        </p:spPr>
        <p:txBody>
          <a:bodyPr wrap="square" lIns="36000" tIns="36000" rIns="36000" bIns="36000" anchor="ctr">
            <a:spAutoFit/>
          </a:bodyPr>
          <a:lstStyle/>
          <a:p>
            <a:pPr marL="0" indent="0" algn="just">
              <a:lnSpc>
                <a:spcPct val="120000"/>
              </a:lnSpc>
              <a:buFont typeface="Arial" panose="020B0604020202020204" pitchFamily="34" charset="0"/>
              <a:buNone/>
            </a:pPr>
            <a:r>
              <a:rPr lang="en-US" sz="1000" dirty="0" err="1">
                <a:solidFill>
                  <a:schemeClr val="bg2">
                    <a:lumMod val="75000"/>
                    <a:alpha val="50000"/>
                  </a:schemeClr>
                </a:solidFill>
                <a:latin typeface="Calibri" panose="020F0502020204030204" pitchFamily="34" charset="0"/>
                <a:cs typeface="Calibri" panose="020F0502020204030204" pitchFamily="34" charset="0"/>
              </a:rPr>
              <a:t>Michaelango</a:t>
            </a:r>
            <a:r>
              <a:rPr lang="en-US" sz="1000" dirty="0">
                <a:solidFill>
                  <a:schemeClr val="bg2">
                    <a:lumMod val="75000"/>
                    <a:alpha val="50000"/>
                  </a:schemeClr>
                </a:solidFill>
                <a:latin typeface="Calibri" panose="020F0502020204030204" pitchFamily="34" charset="0"/>
                <a:cs typeface="Calibri" panose="020F0502020204030204" pitchFamily="34" charset="0"/>
              </a:rPr>
              <a:t>, Leonardo da Vinci and Rafael (</a:t>
            </a:r>
            <a:r>
              <a:rPr lang="en-US" sz="1000" dirty="0" err="1">
                <a:solidFill>
                  <a:schemeClr val="bg2">
                    <a:lumMod val="75000"/>
                    <a:alpha val="50000"/>
                  </a:schemeClr>
                </a:solidFill>
                <a:latin typeface="Calibri" panose="020F0502020204030204" pitchFamily="34" charset="0"/>
                <a:cs typeface="Calibri" panose="020F0502020204030204" pitchFamily="34" charset="0"/>
              </a:rPr>
              <a:t>Raffaello</a:t>
            </a:r>
            <a:r>
              <a:rPr lang="en-US" sz="1000" dirty="0">
                <a:solidFill>
                  <a:schemeClr val="bg2">
                    <a:lumMod val="75000"/>
                    <a:alpha val="50000"/>
                  </a:schemeClr>
                </a:solidFill>
                <a:latin typeface="Calibri" panose="020F0502020204030204" pitchFamily="34" charset="0"/>
                <a:cs typeface="Calibri" panose="020F0502020204030204" pitchFamily="34" charset="0"/>
              </a:rPr>
              <a:t> </a:t>
            </a:r>
            <a:r>
              <a:rPr lang="en-US" sz="1000" dirty="0" err="1">
                <a:solidFill>
                  <a:schemeClr val="bg2">
                    <a:lumMod val="75000"/>
                    <a:alpha val="50000"/>
                  </a:schemeClr>
                </a:solidFill>
                <a:latin typeface="Calibri" panose="020F0502020204030204" pitchFamily="34" charset="0"/>
                <a:cs typeface="Calibri" panose="020F0502020204030204" pitchFamily="34" charset="0"/>
              </a:rPr>
              <a:t>Sanzio</a:t>
            </a:r>
            <a:r>
              <a:rPr lang="en-US" sz="1000" dirty="0">
                <a:solidFill>
                  <a:schemeClr val="bg2">
                    <a:lumMod val="75000"/>
                    <a:alpha val="50000"/>
                  </a:schemeClr>
                </a:solidFill>
                <a:latin typeface="Calibri" panose="020F0502020204030204" pitchFamily="34" charset="0"/>
                <a:cs typeface="Calibri" panose="020F0502020204030204" pitchFamily="34" charset="0"/>
              </a:rPr>
              <a:t> in Italian) are the famous three Masters of the Italian Renaissance.</a:t>
            </a:r>
            <a:endParaRPr lang="en-US" sz="1000" dirty="0">
              <a:solidFill>
                <a:schemeClr val="bg2">
                  <a:lumMod val="75000"/>
                  <a:alpha val="50000"/>
                </a:schemeClr>
              </a:solidFill>
              <a:latin typeface="Calibri" panose="020F0502020204030204" pitchFamily="34" charset="0"/>
              <a:cs typeface="Calibri" panose="020F0502020204030204" pitchFamily="34" charset="0"/>
            </a:endParaRPr>
          </a:p>
          <a:p>
            <a:pPr marL="0" indent="0" algn="just">
              <a:lnSpc>
                <a:spcPct val="120000"/>
              </a:lnSpc>
              <a:buFont typeface="Arial" panose="020B0604020202020204" pitchFamily="34" charset="0"/>
              <a:buNone/>
            </a:pPr>
            <a:endParaRPr lang="en-US" sz="1000" dirty="0">
              <a:solidFill>
                <a:schemeClr val="bg2">
                  <a:lumMod val="75000"/>
                  <a:alpha val="50000"/>
                </a:schemeClr>
              </a:solidFill>
              <a:latin typeface="Calibri" panose="020F0502020204030204" pitchFamily="34" charset="0"/>
              <a:cs typeface="Calibri" panose="020F0502020204030204" pitchFamily="34" charset="0"/>
            </a:endParaRPr>
          </a:p>
          <a:p>
            <a:pPr marL="0" indent="0" algn="just">
              <a:lnSpc>
                <a:spcPct val="120000"/>
              </a:lnSpc>
              <a:buFont typeface="Arial" panose="020B0604020202020204" pitchFamily="34" charset="0"/>
              <a:buNone/>
            </a:pPr>
            <a:r>
              <a:rPr lang="en-US" sz="1000" dirty="0">
                <a:solidFill>
                  <a:schemeClr val="bg2">
                    <a:lumMod val="75000"/>
                    <a:alpha val="50000"/>
                  </a:schemeClr>
                </a:solidFill>
                <a:latin typeface="Calibri" panose="020F0502020204030204" pitchFamily="34" charset="0"/>
                <a:cs typeface="Calibri" panose="020F0502020204030204" pitchFamily="34" charset="0"/>
              </a:rPr>
              <a:t>They creatively excelled in both science and art so their works influenced the future of Western culture.</a:t>
            </a:r>
            <a:endParaRPr lang="en-US" sz="1000" dirty="0">
              <a:solidFill>
                <a:schemeClr val="bg2">
                  <a:lumMod val="75000"/>
                  <a:alpha val="50000"/>
                </a:schemeClr>
              </a:solidFill>
              <a:latin typeface="Calibri" panose="020F0502020204030204" pitchFamily="34" charset="0"/>
              <a:cs typeface="Calibri" panose="020F0502020204030204" pitchFamily="34" charset="0"/>
            </a:endParaRPr>
          </a:p>
          <a:p>
            <a:pPr marL="0" indent="0" algn="just">
              <a:lnSpc>
                <a:spcPct val="120000"/>
              </a:lnSpc>
              <a:buFont typeface="Arial" panose="020B0604020202020204" pitchFamily="34" charset="0"/>
              <a:buNone/>
            </a:pPr>
            <a:endParaRPr lang="en-US" sz="1000" dirty="0">
              <a:solidFill>
                <a:schemeClr val="bg2">
                  <a:lumMod val="75000"/>
                  <a:alpha val="50000"/>
                </a:schemeClr>
              </a:solidFill>
              <a:latin typeface="Calibri" panose="020F0502020204030204" pitchFamily="34" charset="0"/>
              <a:cs typeface="Calibri" panose="020F0502020204030204" pitchFamily="34" charset="0"/>
            </a:endParaRPr>
          </a:p>
          <a:p>
            <a:pPr marL="0" indent="0" algn="just">
              <a:lnSpc>
                <a:spcPct val="120000"/>
              </a:lnSpc>
              <a:buFont typeface="Arial" panose="020B0604020202020204" pitchFamily="34" charset="0"/>
              <a:buNone/>
            </a:pPr>
            <a:r>
              <a:rPr lang="en-US" sz="1000" dirty="0">
                <a:solidFill>
                  <a:schemeClr val="bg2">
                    <a:lumMod val="75000"/>
                    <a:alpha val="50000"/>
                  </a:schemeClr>
                </a:solidFill>
                <a:latin typeface="Calibri" panose="020F0502020204030204" pitchFamily="34" charset="0"/>
                <a:cs typeface="Calibri" panose="020F0502020204030204" pitchFamily="34" charset="0"/>
              </a:rPr>
              <a:t>Radio frequency technology is commonly called RF thus we have adopted Rafael’s name for its R and F.</a:t>
            </a:r>
            <a:endParaRPr lang="en-US" sz="1000" dirty="0">
              <a:solidFill>
                <a:schemeClr val="bg2">
                  <a:lumMod val="75000"/>
                  <a:alpha val="50000"/>
                </a:schemeClr>
              </a:solidFill>
              <a:latin typeface="Calibri" panose="020F0502020204030204" pitchFamily="34" charset="0"/>
              <a:cs typeface="Calibri" panose="020F0502020204030204" pitchFamily="34" charset="0"/>
            </a:endParaRPr>
          </a:p>
        </p:txBody>
      </p:sp>
      <p:sp>
        <p:nvSpPr>
          <p:cNvPr id="14" name="標題 83"/>
          <p:cNvSpPr>
            <a:spLocks noGrp="1"/>
          </p:cNvSpPr>
          <p:nvPr>
            <p:ph type="title" hasCustomPrompt="1"/>
          </p:nvPr>
        </p:nvSpPr>
        <p:spPr>
          <a:xfrm>
            <a:off x="679939" y="1401972"/>
            <a:ext cx="7200000" cy="396000"/>
          </a:xfrm>
          <a:prstGeom prst="rect">
            <a:avLst/>
          </a:prstGeom>
        </p:spPr>
        <p:txBody>
          <a:bodyPr lIns="36000" tIns="36000" rIns="36000" bIns="36000" anchor="ctr"/>
          <a:lstStyle>
            <a:lvl1pPr>
              <a:defRPr sz="2400" b="1" i="0" baseline="0">
                <a:solidFill>
                  <a:schemeClr val="bg1"/>
                </a:solidFill>
                <a:latin typeface="Calibri" panose="020F0502020204030204" pitchFamily="34" charset="0"/>
                <a:ea typeface="PMingLiU" panose="02020500000000000000" pitchFamily="18" charset="-120"/>
                <a:cs typeface="Calibri" panose="020F0502020204030204" pitchFamily="34" charset="0"/>
              </a:defRPr>
            </a:lvl1pPr>
          </a:lstStyle>
          <a:p>
            <a:r>
              <a:rPr lang="en-US" altLang="zh-TW" dirty="0"/>
              <a:t>Edit Report Title</a:t>
            </a:r>
            <a:endParaRPr lang="zh-TW" altLang="en-US" dirty="0"/>
          </a:p>
        </p:txBody>
      </p:sp>
      <p:sp>
        <p:nvSpPr>
          <p:cNvPr id="15" name="文字版面配置區 31"/>
          <p:cNvSpPr>
            <a:spLocks noGrp="1"/>
          </p:cNvSpPr>
          <p:nvPr>
            <p:ph type="body" sz="quarter" idx="23" hasCustomPrompt="1"/>
          </p:nvPr>
        </p:nvSpPr>
        <p:spPr>
          <a:xfrm>
            <a:off x="1748253" y="4228170"/>
            <a:ext cx="1800000" cy="288000"/>
          </a:xfrm>
          <a:prstGeom prst="rect">
            <a:avLst/>
          </a:prstGeom>
        </p:spPr>
        <p:txBody>
          <a:bodyPr lIns="36000" tIns="36000" rIns="36000" bIns="36000" anchor="ctr"/>
          <a:lstStyle>
            <a:lvl1pPr marL="0" indent="0" algn="l">
              <a:buFontTx/>
              <a:buNone/>
              <a:defRPr lang="zh-TW" altLang="en-US" sz="1000" b="0" baseline="0" dirty="0">
                <a:solidFill>
                  <a:srgbClr val="E9CA7F"/>
                </a:solidFill>
                <a:latin typeface="Calibri" panose="020F0502020204030204" pitchFamily="34" charset="0"/>
                <a:ea typeface="PMingLiU" panose="02020500000000000000" pitchFamily="18" charset="-120"/>
                <a:cs typeface="Calibri" panose="020F0502020204030204" pitchFamily="34" charset="0"/>
              </a:defRPr>
            </a:lvl1pPr>
          </a:lstStyle>
          <a:p>
            <a:pPr lvl="0">
              <a:spcBef>
                <a:spcPct val="0"/>
              </a:spcBef>
              <a:buNone/>
            </a:pPr>
            <a:r>
              <a:rPr lang="en-US" altLang="zh-TW" dirty="0"/>
              <a:t>MMM-DD-YYYY</a:t>
            </a:r>
            <a:endParaRPr lang="zh-TW" altLang="en-US" dirty="0"/>
          </a:p>
        </p:txBody>
      </p:sp>
      <p:sp>
        <p:nvSpPr>
          <p:cNvPr id="20" name="文字版面配置區 31"/>
          <p:cNvSpPr>
            <a:spLocks noGrp="1"/>
          </p:cNvSpPr>
          <p:nvPr>
            <p:ph type="body" sz="quarter" idx="24" hasCustomPrompt="1"/>
          </p:nvPr>
        </p:nvSpPr>
        <p:spPr>
          <a:xfrm>
            <a:off x="1748253" y="3835302"/>
            <a:ext cx="1800000" cy="288000"/>
          </a:xfrm>
          <a:prstGeom prst="rect">
            <a:avLst/>
          </a:prstGeom>
        </p:spPr>
        <p:txBody>
          <a:bodyPr lIns="36000" tIns="36000" rIns="36000" bIns="36000" anchor="ctr"/>
          <a:lstStyle>
            <a:lvl1pPr marL="0" indent="0" algn="l">
              <a:buFontTx/>
              <a:buNone/>
              <a:defRPr lang="en-US" altLang="zh-TW" sz="1000" b="0" baseline="0" dirty="0">
                <a:solidFill>
                  <a:srgbClr val="E9CA7F"/>
                </a:solidFill>
                <a:latin typeface="Calibri" panose="020F0502020204030204" pitchFamily="34" charset="0"/>
                <a:ea typeface="PMingLiU" panose="02020500000000000000" pitchFamily="18" charset="-120"/>
                <a:cs typeface="Calibri" panose="020F0502020204030204" pitchFamily="34" charset="0"/>
              </a:defRPr>
            </a:lvl1pPr>
          </a:lstStyle>
          <a:p>
            <a:pPr lvl="0">
              <a:spcBef>
                <a:spcPct val="0"/>
              </a:spcBef>
              <a:buNone/>
            </a:pPr>
            <a:r>
              <a:rPr lang="en-US" altLang="zh-TW" dirty="0"/>
              <a:t>Name / Title</a:t>
            </a:r>
            <a:endParaRPr lang="en-US" altLang="zh-TW" dirty="0"/>
          </a:p>
        </p:txBody>
      </p:sp>
      <p:sp>
        <p:nvSpPr>
          <p:cNvPr id="21" name="文字版面配置區 31"/>
          <p:cNvSpPr>
            <a:spLocks noGrp="1"/>
          </p:cNvSpPr>
          <p:nvPr>
            <p:ph type="body" sz="quarter" idx="20" hasCustomPrompt="1"/>
          </p:nvPr>
        </p:nvSpPr>
        <p:spPr>
          <a:xfrm>
            <a:off x="1748253" y="3049564"/>
            <a:ext cx="1800000" cy="288000"/>
          </a:xfrm>
          <a:prstGeom prst="rect">
            <a:avLst/>
          </a:prstGeom>
        </p:spPr>
        <p:txBody>
          <a:bodyPr lIns="36000" tIns="36000" rIns="36000" bIns="36000" anchor="ctr"/>
          <a:lstStyle>
            <a:lvl1pPr marL="0" indent="0" algn="l">
              <a:buFontTx/>
              <a:buNone/>
              <a:defRPr lang="en-US" altLang="zh-TW" sz="1000" b="0" kern="1200" baseline="0" dirty="0">
                <a:solidFill>
                  <a:srgbClr val="E9CA7F"/>
                </a:solidFill>
                <a:latin typeface="Calibri" panose="020F0502020204030204" pitchFamily="34" charset="0"/>
                <a:ea typeface="PMingLiU" panose="02020500000000000000" pitchFamily="18" charset="-120"/>
                <a:cs typeface="Calibri" panose="020F0502020204030204" pitchFamily="34" charset="0"/>
              </a:defRPr>
            </a:lvl1pPr>
          </a:lstStyle>
          <a:p>
            <a:pPr lvl="0">
              <a:spcBef>
                <a:spcPct val="0"/>
              </a:spcBef>
              <a:buNone/>
            </a:pPr>
            <a:r>
              <a:rPr lang="en-US" altLang="zh-TW" dirty="0"/>
              <a:t>Name / Title</a:t>
            </a:r>
            <a:endParaRPr lang="en-US" altLang="zh-TW" dirty="0"/>
          </a:p>
        </p:txBody>
      </p:sp>
      <p:sp>
        <p:nvSpPr>
          <p:cNvPr id="22" name="文字版面配置區 31"/>
          <p:cNvSpPr>
            <a:spLocks noGrp="1"/>
          </p:cNvSpPr>
          <p:nvPr>
            <p:ph type="body" sz="quarter" idx="21" hasCustomPrompt="1"/>
          </p:nvPr>
        </p:nvSpPr>
        <p:spPr>
          <a:xfrm>
            <a:off x="1748253" y="3442433"/>
            <a:ext cx="1800000" cy="288000"/>
          </a:xfrm>
          <a:prstGeom prst="rect">
            <a:avLst/>
          </a:prstGeom>
        </p:spPr>
        <p:txBody>
          <a:bodyPr lIns="36000" tIns="36000" rIns="36000" bIns="36000" anchor="ctr"/>
          <a:lstStyle>
            <a:lvl1pPr marL="0" indent="0" algn="l">
              <a:buFontTx/>
              <a:buNone/>
              <a:defRPr lang="en-US" altLang="zh-TW" sz="1000" b="0" baseline="0" dirty="0">
                <a:solidFill>
                  <a:srgbClr val="E9CA7F"/>
                </a:solidFill>
                <a:latin typeface="Calibri" panose="020F0502020204030204" pitchFamily="34" charset="0"/>
                <a:ea typeface="PMingLiU" panose="02020500000000000000" pitchFamily="18" charset="-120"/>
                <a:cs typeface="Calibri" panose="020F0502020204030204" pitchFamily="34" charset="0"/>
              </a:defRPr>
            </a:lvl1pPr>
          </a:lstStyle>
          <a:p>
            <a:pPr lvl="0">
              <a:spcBef>
                <a:spcPct val="0"/>
              </a:spcBef>
              <a:buNone/>
            </a:pPr>
            <a:r>
              <a:rPr lang="en-US" altLang="zh-TW" dirty="0"/>
              <a:t>Name / Title</a:t>
            </a:r>
            <a:endParaRPr lang="en-US" altLang="zh-TW" dirty="0"/>
          </a:p>
        </p:txBody>
      </p:sp>
      <p:sp>
        <p:nvSpPr>
          <p:cNvPr id="24" name="Rectangle 15"/>
          <p:cNvSpPr/>
          <p:nvPr userDrawn="1"/>
        </p:nvSpPr>
        <p:spPr>
          <a:xfrm>
            <a:off x="679939" y="3070994"/>
            <a:ext cx="864587" cy="245058"/>
          </a:xfrm>
          <a:prstGeom prst="rect">
            <a:avLst/>
          </a:prstGeom>
        </p:spPr>
        <p:txBody>
          <a:bodyPr wrap="none" lIns="36000" tIns="36000" rIns="36000" bIns="36000" anchor="ctr">
            <a:spAutoFit/>
          </a:bodyPr>
          <a:lstStyle/>
          <a:p>
            <a:pPr marL="0" marR="0" indent="0" algn="l" defTabSz="685800" rtl="0" eaLnBrk="1" fontAlgn="auto" latinLnBrk="0" hangingPunct="1">
              <a:lnSpc>
                <a:spcPct val="120000"/>
              </a:lnSpc>
              <a:spcBef>
                <a:spcPts val="0"/>
              </a:spcBef>
              <a:spcAft>
                <a:spcPts val="0"/>
              </a:spcAft>
              <a:buClrTx/>
              <a:buSzTx/>
              <a:buFontTx/>
              <a:buNone/>
              <a:defRPr/>
            </a:pPr>
            <a:r>
              <a:rPr lang="en-US" altLang="zh-TW" sz="1000" b="1" kern="1200" dirty="0">
                <a:solidFill>
                  <a:srgbClr val="F3F3F3"/>
                </a:solidFill>
                <a:latin typeface="Calibri" panose="020F0502020204030204" pitchFamily="34" charset="0"/>
                <a:ea typeface="Microsoft JhengHei" panose="020B0604030504040204" pitchFamily="34" charset="-120"/>
                <a:cs typeface="Calibri" panose="020F0502020204030204" pitchFamily="34" charset="0"/>
              </a:rPr>
              <a:t>Presented by : </a:t>
            </a:r>
            <a:endParaRPr lang="en-US" altLang="zh-TW" sz="1000" b="1" kern="1200" dirty="0">
              <a:solidFill>
                <a:srgbClr val="F3F3F3"/>
              </a:solidFill>
              <a:latin typeface="Calibri" panose="020F0502020204030204" pitchFamily="34" charset="0"/>
              <a:ea typeface="Arial" panose="020B0604020202020204" pitchFamily="34" charset="0"/>
              <a:cs typeface="Calibri" panose="020F0502020204030204" pitchFamily="34" charset="0"/>
            </a:endParaRPr>
          </a:p>
        </p:txBody>
      </p:sp>
      <p:sp>
        <p:nvSpPr>
          <p:cNvPr id="25" name="Rectangle 15"/>
          <p:cNvSpPr/>
          <p:nvPr userDrawn="1"/>
        </p:nvSpPr>
        <p:spPr>
          <a:xfrm>
            <a:off x="679939" y="3450348"/>
            <a:ext cx="846954" cy="257369"/>
          </a:xfrm>
          <a:prstGeom prst="rect">
            <a:avLst/>
          </a:prstGeom>
        </p:spPr>
        <p:txBody>
          <a:bodyPr wrap="none" lIns="36000" tIns="36000" rIns="36000" bIns="36000" anchor="ctr">
            <a:spAutoFit/>
          </a:bodyPr>
          <a:lstStyle/>
          <a:p>
            <a:pPr marR="0" lvl="0" indent="0" algn="l" defTabSz="685800" fontAlgn="auto">
              <a:lnSpc>
                <a:spcPct val="120000"/>
              </a:lnSpc>
              <a:spcBef>
                <a:spcPts val="0"/>
              </a:spcBef>
              <a:spcAft>
                <a:spcPts val="0"/>
              </a:spcAft>
              <a:buClrTx/>
              <a:buSzTx/>
              <a:buFontTx/>
              <a:buNone/>
            </a:pPr>
            <a:r>
              <a:rPr lang="en-US" altLang="zh-TW" sz="1000" b="1" dirty="0">
                <a:solidFill>
                  <a:srgbClr val="F3F3F3"/>
                </a:solidFill>
                <a:latin typeface="Calibri" panose="020F0502020204030204" pitchFamily="34" charset="0"/>
                <a:ea typeface="Microsoft JhengHei" panose="020B0604030504040204" pitchFamily="34" charset="-120"/>
                <a:cs typeface="Calibri" panose="020F0502020204030204" pitchFamily="34" charset="0"/>
              </a:rPr>
              <a:t>Reviewed by :</a:t>
            </a:r>
            <a:r>
              <a:rPr lang="en-US" altLang="zh-TW" sz="1000" b="1" baseline="0" dirty="0">
                <a:solidFill>
                  <a:srgbClr val="F3F3F3"/>
                </a:solidFill>
                <a:latin typeface="Calibri" panose="020F0502020204030204" pitchFamily="34" charset="0"/>
                <a:ea typeface="Microsoft JhengHei" panose="020B0604030504040204" pitchFamily="34" charset="-120"/>
                <a:cs typeface="Calibri" panose="020F0502020204030204" pitchFamily="34" charset="0"/>
              </a:rPr>
              <a:t> </a:t>
            </a:r>
            <a:endParaRPr lang="en-US" altLang="zh-TW" sz="1000" b="1" dirty="0">
              <a:solidFill>
                <a:srgbClr val="F3F3F3"/>
              </a:solidFill>
              <a:latin typeface="Calibri" panose="020F0502020204030204" pitchFamily="34" charset="0"/>
              <a:ea typeface="Microsoft JhengHei" panose="020B0604030504040204" pitchFamily="34" charset="-120"/>
              <a:cs typeface="Calibri" panose="020F0502020204030204" pitchFamily="34" charset="0"/>
            </a:endParaRPr>
          </a:p>
        </p:txBody>
      </p:sp>
      <p:sp>
        <p:nvSpPr>
          <p:cNvPr id="26" name="Rectangle 17"/>
          <p:cNvSpPr/>
          <p:nvPr userDrawn="1"/>
        </p:nvSpPr>
        <p:spPr>
          <a:xfrm>
            <a:off x="679939" y="3843230"/>
            <a:ext cx="741156" cy="257369"/>
          </a:xfrm>
          <a:prstGeom prst="rect">
            <a:avLst/>
          </a:prstGeom>
        </p:spPr>
        <p:txBody>
          <a:bodyPr wrap="none" lIns="36000" tIns="36000" rIns="36000" bIns="36000" anchor="ctr">
            <a:spAutoFit/>
          </a:bodyPr>
          <a:lstStyle/>
          <a:p>
            <a:pPr marL="0" marR="0" lvl="0" indent="0" algn="l" defTabSz="685800" rtl="0" eaLnBrk="1" fontAlgn="auto" latinLnBrk="0" hangingPunct="1">
              <a:lnSpc>
                <a:spcPct val="120000"/>
              </a:lnSpc>
              <a:spcBef>
                <a:spcPts val="0"/>
              </a:spcBef>
              <a:spcAft>
                <a:spcPts val="0"/>
              </a:spcAft>
              <a:buClrTx/>
              <a:buSzTx/>
              <a:buFontTx/>
              <a:buNone/>
              <a:defRPr/>
            </a:pPr>
            <a:r>
              <a:rPr lang="en-US" altLang="zh-TW" sz="1000" b="1" kern="1200" dirty="0">
                <a:solidFill>
                  <a:srgbClr val="F3F3F3"/>
                </a:solidFill>
                <a:latin typeface="Calibri" panose="020F0502020204030204" pitchFamily="34" charset="0"/>
                <a:ea typeface="Microsoft JhengHei" panose="020B0604030504040204" pitchFamily="34" charset="-120"/>
                <a:cs typeface="Calibri" panose="020F0502020204030204" pitchFamily="34" charset="0"/>
              </a:rPr>
              <a:t>Created by : </a:t>
            </a:r>
            <a:endParaRPr lang="en-US" altLang="zh-TW" sz="1000" b="1" kern="1200" dirty="0">
              <a:solidFill>
                <a:srgbClr val="F3F3F3"/>
              </a:solidFill>
              <a:latin typeface="Calibri" panose="020F0502020204030204" pitchFamily="34" charset="0"/>
              <a:ea typeface="Microsoft JhengHei" panose="020B0604030504040204" pitchFamily="34" charset="-120"/>
              <a:cs typeface="Calibri" panose="020F0502020204030204" pitchFamily="34" charset="0"/>
            </a:endParaRPr>
          </a:p>
        </p:txBody>
      </p:sp>
      <p:sp>
        <p:nvSpPr>
          <p:cNvPr id="27" name="Rectangle 18"/>
          <p:cNvSpPr/>
          <p:nvPr userDrawn="1"/>
        </p:nvSpPr>
        <p:spPr>
          <a:xfrm>
            <a:off x="679939" y="4243485"/>
            <a:ext cx="1119465" cy="257369"/>
          </a:xfrm>
          <a:prstGeom prst="rect">
            <a:avLst/>
          </a:prstGeom>
        </p:spPr>
        <p:txBody>
          <a:bodyPr wrap="none" lIns="36000" tIns="36000" rIns="36000" bIns="36000" anchor="ctr">
            <a:spAutoFit/>
          </a:bodyPr>
          <a:lstStyle/>
          <a:p>
            <a:pPr marL="0" marR="0" lvl="0" indent="0" algn="l" defTabSz="685800" rtl="0" eaLnBrk="1" fontAlgn="auto" latinLnBrk="0" hangingPunct="1">
              <a:lnSpc>
                <a:spcPct val="120000"/>
              </a:lnSpc>
              <a:spcBef>
                <a:spcPts val="0"/>
              </a:spcBef>
              <a:spcAft>
                <a:spcPts val="0"/>
              </a:spcAft>
              <a:buClrTx/>
              <a:buSzTx/>
              <a:buFontTx/>
              <a:buNone/>
              <a:defRPr/>
            </a:pPr>
            <a:r>
              <a:rPr lang="en-US" altLang="zh-TW" sz="1000" b="1" kern="1200" dirty="0">
                <a:solidFill>
                  <a:srgbClr val="F3F3F3"/>
                </a:solidFill>
                <a:latin typeface="Calibri" panose="020F0502020204030204" pitchFamily="34" charset="0"/>
                <a:ea typeface="Microsoft JhengHei" panose="020B0604030504040204" pitchFamily="34" charset="-120"/>
                <a:cs typeface="Calibri" panose="020F0502020204030204" pitchFamily="34" charset="0"/>
              </a:rPr>
              <a:t>Presentation date : </a:t>
            </a:r>
            <a:endParaRPr lang="zh-TW" altLang="en-US" sz="1000" b="1" kern="1200" dirty="0">
              <a:solidFill>
                <a:srgbClr val="F3F3F3"/>
              </a:solidFill>
              <a:latin typeface="Calibri" panose="020F0502020204030204" pitchFamily="34" charset="0"/>
              <a:ea typeface="Microsoft JhengHei" panose="020B0604030504040204" pitchFamily="34" charset="-120"/>
              <a:cs typeface="Calibri" panose="020F0502020204030204" pitchFamily="34" charset="0"/>
            </a:endParaRPr>
          </a:p>
        </p:txBody>
      </p:sp>
      <p:pic>
        <p:nvPicPr>
          <p:cNvPr id="30" name="圖片 29" descr="畫面剪輯"/>
          <p:cNvPicPr>
            <a:picLocks noChangeAspect="1"/>
          </p:cNvPicPr>
          <p:nvPr userDrawn="1"/>
        </p:nvPicPr>
        <p:blipFill rotWithShape="1">
          <a:blip r:embed="rId3">
            <a:clrChange>
              <a:clrFrom>
                <a:srgbClr val="4C4C4C"/>
              </a:clrFrom>
              <a:clrTo>
                <a:srgbClr val="4C4C4C">
                  <a:alpha val="0"/>
                </a:srgbClr>
              </a:clrTo>
            </a:clrChange>
            <a:extLst>
              <a:ext uri="{28A0092B-C50C-407E-A947-70E740481C1C}">
                <a14:useLocalDpi xmlns:a14="http://schemas.microsoft.com/office/drawing/2010/main" val="0"/>
              </a:ext>
            </a:extLst>
          </a:blip>
          <a:srcRect l="-49" t="431" r="6450" b="312"/>
          <a:stretch>
            <a:fillRect/>
          </a:stretch>
        </p:blipFill>
        <p:spPr>
          <a:xfrm>
            <a:off x="679939" y="758664"/>
            <a:ext cx="1338182" cy="360000"/>
          </a:xfrm>
          <a:prstGeom prst="rect">
            <a:avLst/>
          </a:prstGeom>
        </p:spPr>
      </p:pic>
      <p:sp>
        <p:nvSpPr>
          <p:cNvPr id="31" name="框架 30"/>
          <p:cNvSpPr/>
          <p:nvPr userDrawn="1"/>
        </p:nvSpPr>
        <p:spPr>
          <a:xfrm>
            <a:off x="0" y="-2250"/>
            <a:ext cx="9144000" cy="5148000"/>
          </a:xfrm>
          <a:prstGeom prst="frame">
            <a:avLst>
              <a:gd name="adj1" fmla="val 582"/>
            </a:avLst>
          </a:prstGeom>
          <a:solidFill>
            <a:srgbClr val="DFC2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3" name="圖片 1"/>
          <p:cNvPicPr/>
          <p:nvPr userDrawn="1"/>
        </p:nvPicPr>
        <p:blipFill rotWithShape="1">
          <a:blip r:embed="rId2">
            <a:extLst>
              <a:ext uri="{28A0092B-C50C-407E-A947-70E740481C1C}">
                <a14:useLocalDpi xmlns:a14="http://schemas.microsoft.com/office/drawing/2010/main" val="0"/>
              </a:ext>
            </a:extLst>
          </a:blip>
          <a:srcRect l="1429" r="9250"/>
          <a:stretch>
            <a:fillRect/>
          </a:stretch>
        </p:blipFill>
        <p:spPr bwMode="auto">
          <a:xfrm>
            <a:off x="0" y="-2250"/>
            <a:ext cx="9144000" cy="51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userDrawn="1"/>
        </p:nvSpPr>
        <p:spPr>
          <a:xfrm>
            <a:off x="0" y="-2250"/>
            <a:ext cx="9144000" cy="5148000"/>
          </a:xfrm>
          <a:prstGeom prst="rect">
            <a:avLst/>
          </a:prstGeom>
          <a:solidFill>
            <a:schemeClr val="tx1">
              <a:lumMod val="75000"/>
              <a:lumOff val="25000"/>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框架 4"/>
          <p:cNvSpPr/>
          <p:nvPr userDrawn="1"/>
        </p:nvSpPr>
        <p:spPr>
          <a:xfrm>
            <a:off x="0" y="-2250"/>
            <a:ext cx="9144000" cy="5148000"/>
          </a:xfrm>
          <a:prstGeom prst="frame">
            <a:avLst>
              <a:gd name="adj1" fmla="val 582"/>
            </a:avLst>
          </a:prstGeom>
          <a:solidFill>
            <a:srgbClr val="DFC2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 name="圖片 6" descr="畫面剪輯"/>
          <p:cNvPicPr>
            <a:picLocks noChangeAspect="1"/>
          </p:cNvPicPr>
          <p:nvPr userDrawn="1"/>
        </p:nvPicPr>
        <p:blipFill rotWithShape="1">
          <a:blip r:embed="rId3">
            <a:clrChange>
              <a:clrFrom>
                <a:srgbClr val="4C4C4C"/>
              </a:clrFrom>
              <a:clrTo>
                <a:srgbClr val="4C4C4C">
                  <a:alpha val="0"/>
                </a:srgbClr>
              </a:clrTo>
            </a:clrChange>
            <a:extLst>
              <a:ext uri="{28A0092B-C50C-407E-A947-70E740481C1C}">
                <a14:useLocalDpi xmlns:a14="http://schemas.microsoft.com/office/drawing/2010/main" val="0"/>
              </a:ext>
            </a:extLst>
          </a:blip>
          <a:srcRect l="-49" t="431" r="6450" b="312"/>
          <a:stretch>
            <a:fillRect/>
          </a:stretch>
        </p:blipFill>
        <p:spPr>
          <a:xfrm>
            <a:off x="679939" y="758664"/>
            <a:ext cx="1338182" cy="360000"/>
          </a:xfrm>
          <a:prstGeom prst="rect">
            <a:avLst/>
          </a:prstGeom>
        </p:spPr>
      </p:pic>
      <p:sp>
        <p:nvSpPr>
          <p:cNvPr id="8" name="標題 9"/>
          <p:cNvSpPr txBox="1"/>
          <p:nvPr userDrawn="1"/>
        </p:nvSpPr>
        <p:spPr>
          <a:xfrm>
            <a:off x="2772000" y="2283750"/>
            <a:ext cx="3600000" cy="576000"/>
          </a:xfrm>
          <a:prstGeom prst="rect">
            <a:avLst/>
          </a:prstGeom>
        </p:spPr>
        <p:txBody>
          <a:bodyPr lIns="0" tIns="0" rIns="0" bIns="0" anchor="ctr"/>
          <a:lstStyle>
            <a:lvl1pPr algn="l" defTabSz="914400" rtl="0" eaLnBrk="1" latinLnBrk="0" hangingPunct="1">
              <a:lnSpc>
                <a:spcPct val="90000"/>
              </a:lnSpc>
              <a:spcBef>
                <a:spcPct val="0"/>
              </a:spcBef>
              <a:buNone/>
              <a:defRPr sz="2400" b="1" i="0" kern="1200" baseline="0">
                <a:solidFill>
                  <a:schemeClr val="tx1"/>
                </a:solidFill>
                <a:latin typeface="Calibri" panose="020F0502020204030204" pitchFamily="34" charset="0"/>
                <a:ea typeface="PMingLiU" panose="02020500000000000000" pitchFamily="18" charset="-120"/>
                <a:cs typeface="+mj-cs"/>
              </a:defRPr>
            </a:lvl1pPr>
          </a:lstStyle>
          <a:p>
            <a:pPr algn="ctr"/>
            <a:r>
              <a:rPr lang="en-US" altLang="zh-TW" sz="1800" b="1" dirty="0">
                <a:solidFill>
                  <a:schemeClr val="bg1"/>
                </a:solidFill>
                <a:effectLst/>
                <a:latin typeface="ZapfDingbats" pitchFamily="18"/>
              </a:rPr>
              <a:t>Thank You</a:t>
            </a:r>
            <a:endParaRPr lang="en-US" altLang="zh-TW" sz="1800" b="1" dirty="0">
              <a:solidFill>
                <a:schemeClr val="bg1"/>
              </a:solidFill>
              <a:effectLst/>
              <a:latin typeface="ZapfDingbats" pitchFamily="18"/>
            </a:endParaRPr>
          </a:p>
        </p:txBody>
      </p:sp>
      <p:sp>
        <p:nvSpPr>
          <p:cNvPr id="9" name="矩形 8"/>
          <p:cNvSpPr/>
          <p:nvPr userDrawn="1"/>
        </p:nvSpPr>
        <p:spPr>
          <a:xfrm>
            <a:off x="1162125" y="3375855"/>
            <a:ext cx="6819752" cy="215444"/>
          </a:xfrm>
          <a:prstGeom prst="rect">
            <a:avLst/>
          </a:prstGeom>
        </p:spPr>
        <p:txBody>
          <a:bodyPr wrap="none" lIns="0" tIns="0" rIns="0" bIns="0" anchor="ctr" anchorCtr="0">
            <a:spAutoFit/>
          </a:bodyPr>
          <a:lstStyle/>
          <a:p>
            <a:pPr lvl="0" algn="ctr"/>
            <a:r>
              <a:rPr lang="en-US" altLang="zh-TW" sz="1400" dirty="0">
                <a:solidFill>
                  <a:srgbClr val="E8B128"/>
                </a:solidFill>
                <a:latin typeface="Calibri" panose="020F0502020204030204" pitchFamily="34" charset="0"/>
                <a:cs typeface="Calibri" panose="020F0502020204030204" pitchFamily="34" charset="0"/>
              </a:rPr>
              <a:t>Rafael</a:t>
            </a:r>
            <a:r>
              <a:rPr lang="en-US" altLang="zh-TW" sz="1400" baseline="0" dirty="0">
                <a:solidFill>
                  <a:srgbClr val="E8B128"/>
                </a:solidFill>
                <a:latin typeface="Calibri" panose="020F0502020204030204" pitchFamily="34" charset="0"/>
                <a:cs typeface="Calibri" panose="020F0502020204030204" pitchFamily="34" charset="0"/>
              </a:rPr>
              <a:t> </a:t>
            </a:r>
            <a:r>
              <a:rPr lang="en-US" altLang="zh-TW" sz="1400" baseline="0" dirty="0">
                <a:solidFill>
                  <a:srgbClr val="99B323"/>
                </a:solidFill>
                <a:latin typeface="Calibri" panose="020F0502020204030204" pitchFamily="34" charset="0"/>
                <a:cs typeface="Calibri" panose="020F0502020204030204" pitchFamily="34" charset="0"/>
              </a:rPr>
              <a:t>Micro</a:t>
            </a:r>
            <a:r>
              <a:rPr lang="en-US" altLang="zh-TW" sz="1000" dirty="0">
                <a:solidFill>
                  <a:srgbClr val="D3D4D6"/>
                </a:solidFill>
                <a:latin typeface="Calibri" panose="020F0502020204030204" pitchFamily="34" charset="0"/>
                <a:cs typeface="Calibri" panose="020F0502020204030204" pitchFamily="34" charset="0"/>
              </a:rPr>
              <a:t> </a:t>
            </a:r>
            <a:r>
              <a:rPr lang="en-US" altLang="zh-TW" sz="1000" kern="1200" dirty="0">
                <a:solidFill>
                  <a:schemeClr val="bg2">
                    <a:lumMod val="75000"/>
                    <a:alpha val="50000"/>
                  </a:schemeClr>
                </a:solidFill>
                <a:latin typeface="Calibri" panose="020F0502020204030204" pitchFamily="34" charset="0"/>
                <a:ea typeface="+mn-ea"/>
                <a:cs typeface="Calibri" panose="020F0502020204030204" pitchFamily="34" charset="0"/>
              </a:rPr>
              <a:t>create RF integrated circuits with this same aspiration by continuously pursuing innovation and unique creativity.</a:t>
            </a:r>
            <a:endParaRPr lang="en-US" altLang="zh-TW" sz="1000" kern="1200" dirty="0">
              <a:solidFill>
                <a:schemeClr val="bg2">
                  <a:lumMod val="75000"/>
                  <a:alpha val="50000"/>
                </a:schemeClr>
              </a:solidFill>
              <a:latin typeface="Calibri" panose="020F0502020204030204" pitchFamily="34" charset="0"/>
              <a:ea typeface="+mn-ea"/>
              <a:cs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21970" y="270000"/>
            <a:ext cx="8100000" cy="54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521970" y="4767263"/>
            <a:ext cx="2057400" cy="273844"/>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28950" y="4767263"/>
            <a:ext cx="3086100" cy="273844"/>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565487" y="4767263"/>
            <a:ext cx="2057400" cy="273844"/>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4.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投影片編號版面配置區 3"/>
          <p:cNvSpPr txBox="1"/>
          <p:nvPr userDrawn="1"/>
        </p:nvSpPr>
        <p:spPr>
          <a:xfrm>
            <a:off x="390123" y="4914968"/>
            <a:ext cx="129597" cy="144000"/>
          </a:xfrm>
          <a:prstGeom prst="rect">
            <a:avLst/>
          </a:prstGeom>
        </p:spPr>
        <p:txBody>
          <a:bodyPr vert="horz" lIns="0" tIns="0" rIns="0" bIns="0" rtlCol="0" anchor="ctr"/>
          <a:lstStyle>
            <a:defPPr>
              <a:defRPr lang="zh-TW"/>
            </a:defPPr>
            <a:lvl1pPr>
              <a:defRPr sz="1000" baseline="0">
                <a:solidFill>
                  <a:srgbClr val="19353F"/>
                </a:solidFill>
                <a:latin typeface="Calibri" panose="020F0502020204030204" pitchFamily="34" charset="0"/>
                <a:ea typeface="PMingLiU" panose="02020500000000000000" pitchFamily="18" charset="-120"/>
              </a:defRPr>
            </a:lvl1pPr>
          </a:lstStyle>
          <a:p>
            <a:pPr lvl="0" algn="ctr"/>
            <a:r>
              <a:rPr lang="en-US" altLang="zh-TW" sz="700" baseline="0" dirty="0">
                <a:solidFill>
                  <a:schemeClr val="bg1">
                    <a:lumMod val="65000"/>
                  </a:schemeClr>
                </a:solidFill>
                <a:latin typeface="Calibri" panose="020F0502020204030204" pitchFamily="34" charset="0"/>
                <a:cs typeface="Calibri" panose="020F0502020204030204" pitchFamily="34" charset="0"/>
              </a:rPr>
              <a:t>29</a:t>
            </a:r>
            <a:r>
              <a:rPr lang="zh-TW" altLang="en-US" sz="700" baseline="0" dirty="0">
                <a:solidFill>
                  <a:schemeClr val="bg1">
                    <a:lumMod val="65000"/>
                  </a:schemeClr>
                </a:solidFill>
                <a:latin typeface="Calibri" panose="020F0502020204030204" pitchFamily="34" charset="0"/>
                <a:cs typeface="Calibri" panose="020F0502020204030204" pitchFamily="34" charset="0"/>
              </a:rPr>
              <a:t> </a:t>
            </a:r>
            <a:endParaRPr lang="zh-TW" altLang="en-US" sz="700" baseline="0" dirty="0">
              <a:solidFill>
                <a:schemeClr val="bg1">
                  <a:lumMod val="65000"/>
                </a:schemeClr>
              </a:solidFill>
              <a:latin typeface="Calibri" panose="020F0502020204030204" pitchFamily="34" charset="0"/>
              <a:cs typeface="Calibri" panose="020F0502020204030204" pitchFamily="34" charset="0"/>
            </a:endParaRPr>
          </a:p>
        </p:txBody>
      </p:sp>
      <p:sp>
        <p:nvSpPr>
          <p:cNvPr id="34" name="Text Box 19"/>
          <p:cNvSpPr txBox="1">
            <a:spLocks noChangeArrowheads="1"/>
          </p:cNvSpPr>
          <p:nvPr userDrawn="1"/>
        </p:nvSpPr>
        <p:spPr bwMode="auto">
          <a:xfrm>
            <a:off x="7609030" y="4914968"/>
            <a:ext cx="1282970" cy="195814"/>
          </a:xfrm>
          <a:prstGeom prst="rect">
            <a:avLst/>
          </a:prstGeom>
          <a:noFill/>
          <a:ln>
            <a:noFill/>
          </a:ln>
          <a:effectLst/>
        </p:spPr>
        <p:txBody>
          <a:bodyPr wrap="none" lIns="36000" tIns="36000" rIns="36000" bIns="36000" anchor="ctr">
            <a:spAutoFit/>
          </a:bodyPr>
          <a:lstStyle>
            <a:lvl1pPr eaLnBrk="0" hangingPunct="0">
              <a:defRPr kumimoji="1" sz="3600">
                <a:solidFill>
                  <a:schemeClr val="tx1"/>
                </a:solidFill>
                <a:latin typeface="Arial" panose="020B0604020202020204" pitchFamily="34" charset="0"/>
                <a:ea typeface="PMingLiU" panose="02020500000000000000" pitchFamily="18" charset="-120"/>
              </a:defRPr>
            </a:lvl1pPr>
            <a:lvl2pPr marL="742950" indent="-285750" eaLnBrk="0" hangingPunct="0">
              <a:defRPr kumimoji="1" sz="3600">
                <a:solidFill>
                  <a:schemeClr val="tx1"/>
                </a:solidFill>
                <a:latin typeface="Arial" panose="020B0604020202020204" pitchFamily="34" charset="0"/>
                <a:ea typeface="PMingLiU" panose="02020500000000000000" pitchFamily="18" charset="-120"/>
              </a:defRPr>
            </a:lvl2pPr>
            <a:lvl3pPr marL="1143000" indent="-228600" eaLnBrk="0" hangingPunct="0">
              <a:defRPr kumimoji="1" sz="3600">
                <a:solidFill>
                  <a:schemeClr val="tx1"/>
                </a:solidFill>
                <a:latin typeface="Arial" panose="020B0604020202020204" pitchFamily="34" charset="0"/>
                <a:ea typeface="PMingLiU" panose="02020500000000000000" pitchFamily="18" charset="-120"/>
              </a:defRPr>
            </a:lvl3pPr>
            <a:lvl4pPr marL="1600200" indent="-228600" eaLnBrk="0" hangingPunct="0">
              <a:defRPr kumimoji="1" sz="3600">
                <a:solidFill>
                  <a:schemeClr val="tx1"/>
                </a:solidFill>
                <a:latin typeface="Arial" panose="020B0604020202020204" pitchFamily="34" charset="0"/>
                <a:ea typeface="PMingLiU" panose="02020500000000000000" pitchFamily="18" charset="-120"/>
              </a:defRPr>
            </a:lvl4pPr>
            <a:lvl5pPr marL="2057400" indent="-228600" eaLnBrk="0" hangingPunct="0">
              <a:defRPr kumimoji="1" sz="3600">
                <a:solidFill>
                  <a:schemeClr val="tx1"/>
                </a:solidFill>
                <a:latin typeface="Arial" panose="020B0604020202020204" pitchFamily="34" charset="0"/>
                <a:ea typeface="PMingLiU" panose="02020500000000000000" pitchFamily="18" charset="-120"/>
              </a:defRPr>
            </a:lvl5pPr>
            <a:lvl6pPr marL="2514600" indent="-228600" algn="ctr" eaLnBrk="0" fontAlgn="base" hangingPunct="0">
              <a:spcBef>
                <a:spcPct val="0"/>
              </a:spcBef>
              <a:spcAft>
                <a:spcPct val="0"/>
              </a:spcAft>
              <a:defRPr kumimoji="1" sz="3600">
                <a:solidFill>
                  <a:schemeClr val="tx1"/>
                </a:solidFill>
                <a:latin typeface="Arial" panose="020B0604020202020204" pitchFamily="34" charset="0"/>
                <a:ea typeface="PMingLiU" panose="02020500000000000000" pitchFamily="18" charset="-120"/>
              </a:defRPr>
            </a:lvl6pPr>
            <a:lvl7pPr marL="2971800" indent="-228600" algn="ctr" eaLnBrk="0" fontAlgn="base" hangingPunct="0">
              <a:spcBef>
                <a:spcPct val="0"/>
              </a:spcBef>
              <a:spcAft>
                <a:spcPct val="0"/>
              </a:spcAft>
              <a:defRPr kumimoji="1" sz="3600">
                <a:solidFill>
                  <a:schemeClr val="tx1"/>
                </a:solidFill>
                <a:latin typeface="Arial" panose="020B0604020202020204" pitchFamily="34" charset="0"/>
                <a:ea typeface="PMingLiU" panose="02020500000000000000" pitchFamily="18" charset="-120"/>
              </a:defRPr>
            </a:lvl7pPr>
            <a:lvl8pPr marL="3429000" indent="-228600" algn="ctr" eaLnBrk="0" fontAlgn="base" hangingPunct="0">
              <a:spcBef>
                <a:spcPct val="0"/>
              </a:spcBef>
              <a:spcAft>
                <a:spcPct val="0"/>
              </a:spcAft>
              <a:defRPr kumimoji="1" sz="3600">
                <a:solidFill>
                  <a:schemeClr val="tx1"/>
                </a:solidFill>
                <a:latin typeface="Arial" panose="020B0604020202020204" pitchFamily="34" charset="0"/>
                <a:ea typeface="PMingLiU" panose="02020500000000000000" pitchFamily="18" charset="-120"/>
              </a:defRPr>
            </a:lvl8pPr>
            <a:lvl9pPr marL="3886200" indent="-228600" algn="ctr" eaLnBrk="0" fontAlgn="base" hangingPunct="0">
              <a:spcBef>
                <a:spcPct val="0"/>
              </a:spcBef>
              <a:spcAft>
                <a:spcPct val="0"/>
              </a:spcAft>
              <a:defRPr kumimoji="1" sz="3600">
                <a:solidFill>
                  <a:schemeClr val="tx1"/>
                </a:solidFill>
                <a:latin typeface="Arial" panose="020B0604020202020204" pitchFamily="34" charset="0"/>
                <a:ea typeface="PMingLiU" panose="02020500000000000000" pitchFamily="18" charset="-120"/>
              </a:defRPr>
            </a:lvl9pPr>
          </a:lstStyle>
          <a:p>
            <a:pPr algn="r" eaLnBrk="1" hangingPunct="1">
              <a:defRPr/>
            </a:pPr>
            <a:r>
              <a:rPr lang="en-US" altLang="zh-TW" sz="800" b="0" i="1" dirty="0">
                <a:solidFill>
                  <a:srgbClr val="F6B982"/>
                </a:solidFill>
                <a:latin typeface="Calibri" panose="020F0502020204030204" pitchFamily="34" charset="0"/>
                <a:cs typeface="Calibri" panose="020F0502020204030204" pitchFamily="34" charset="0"/>
              </a:rPr>
              <a:t>Proprietary and Confidential</a:t>
            </a:r>
            <a:endParaRPr lang="en-US" altLang="zh-TW" sz="800" b="0" i="1" dirty="0">
              <a:solidFill>
                <a:srgbClr val="F6B982"/>
              </a:solidFill>
              <a:latin typeface="Calibri" panose="020F0502020204030204" pitchFamily="34" charset="0"/>
              <a:cs typeface="Calibri" panose="020F0502020204030204" pitchFamily="34" charset="0"/>
            </a:endParaRPr>
          </a:p>
        </p:txBody>
      </p:sp>
      <p:grpSp>
        <p:nvGrpSpPr>
          <p:cNvPr id="31" name="群組 30"/>
          <p:cNvGrpSpPr>
            <a:grpSpLocks noChangeAspect="1"/>
          </p:cNvGrpSpPr>
          <p:nvPr userDrawn="1"/>
        </p:nvGrpSpPr>
        <p:grpSpPr>
          <a:xfrm>
            <a:off x="8164750" y="4612872"/>
            <a:ext cx="741426" cy="288000"/>
            <a:chOff x="7965218" y="4546501"/>
            <a:chExt cx="926782" cy="360000"/>
          </a:xfrm>
        </p:grpSpPr>
        <p:grpSp>
          <p:nvGrpSpPr>
            <p:cNvPr id="6" name="群組 5"/>
            <p:cNvGrpSpPr/>
            <p:nvPr userDrawn="1"/>
          </p:nvGrpSpPr>
          <p:grpSpPr>
            <a:xfrm>
              <a:off x="8496408" y="4546501"/>
              <a:ext cx="395592" cy="360000"/>
              <a:chOff x="5469835" y="3003630"/>
              <a:chExt cx="395592" cy="360000"/>
            </a:xfrm>
          </p:grpSpPr>
          <p:pic>
            <p:nvPicPr>
              <p:cNvPr id="28" name="Picture 20" descr="logo_rafaelmicro"/>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16586" r="72051" b="9655"/>
              <a:stretch>
                <a:fillRect/>
              </a:stretch>
            </p:blipFill>
            <p:spPr bwMode="auto">
              <a:xfrm>
                <a:off x="5469836" y="3003630"/>
                <a:ext cx="395591"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userDrawn="1"/>
            </p:nvSpPr>
            <p:spPr>
              <a:xfrm>
                <a:off x="5469835" y="3003630"/>
                <a:ext cx="395591" cy="360000"/>
              </a:xfrm>
              <a:prstGeom prst="rect">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群組 29"/>
            <p:cNvGrpSpPr/>
            <p:nvPr userDrawn="1"/>
          </p:nvGrpSpPr>
          <p:grpSpPr>
            <a:xfrm>
              <a:off x="7965218" y="4798501"/>
              <a:ext cx="642182" cy="108000"/>
              <a:chOff x="4458584" y="2799907"/>
              <a:chExt cx="642182" cy="108000"/>
            </a:xfrm>
          </p:grpSpPr>
          <p:pic>
            <p:nvPicPr>
              <p:cNvPr id="29" name="Picture 20" descr="logo_rafaelmicro"/>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8572" t="37421" r="5424" b="30389"/>
              <a:stretch>
                <a:fillRect/>
              </a:stretch>
            </p:blipFill>
            <p:spPr bwMode="auto">
              <a:xfrm>
                <a:off x="4458584" y="2799907"/>
                <a:ext cx="642182" cy="1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userDrawn="1"/>
            </p:nvSpPr>
            <p:spPr>
              <a:xfrm>
                <a:off x="4458584" y="2799907"/>
                <a:ext cx="640800" cy="108000"/>
              </a:xfrm>
              <a:prstGeom prst="rect">
                <a:avLst/>
              </a:pr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9" name="矩形 38"/>
          <p:cNvSpPr/>
          <p:nvPr userDrawn="1"/>
        </p:nvSpPr>
        <p:spPr>
          <a:xfrm rot="5400000">
            <a:off x="324000" y="4972568"/>
            <a:ext cx="126000" cy="10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p:cNvSpPr/>
          <p:nvPr userDrawn="1"/>
        </p:nvSpPr>
        <p:spPr>
          <a:xfrm>
            <a:off x="252000" y="4906501"/>
            <a:ext cx="270000" cy="10800"/>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p:cNvSpPr/>
          <p:nvPr userDrawn="1"/>
        </p:nvSpPr>
        <p:spPr>
          <a:xfrm flipH="1">
            <a:off x="657000" y="4906501"/>
            <a:ext cx="8235000" cy="10800"/>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投影片編號版面配置區 3"/>
          <p:cNvSpPr txBox="1"/>
          <p:nvPr userDrawn="1"/>
        </p:nvSpPr>
        <p:spPr>
          <a:xfrm>
            <a:off x="254280" y="4914968"/>
            <a:ext cx="127320" cy="144000"/>
          </a:xfrm>
          <a:prstGeom prst="rect">
            <a:avLst/>
          </a:prstGeom>
        </p:spPr>
        <p:txBody>
          <a:bodyPr vert="horz" lIns="0" tIns="0" rIns="0" bIns="0" rtlCol="0" anchor="ctr"/>
          <a:lstStyle>
            <a:defPPr>
              <a:defRPr lang="zh-TW"/>
            </a:defPPr>
            <a:lvl1pPr>
              <a:defRPr sz="1000" baseline="0">
                <a:solidFill>
                  <a:srgbClr val="19353F"/>
                </a:solidFill>
                <a:latin typeface="Calibri" panose="020F0502020204030204" pitchFamily="34" charset="0"/>
                <a:ea typeface="PMingLiU" panose="02020500000000000000" pitchFamily="18" charset="-120"/>
              </a:defRPr>
            </a:lvl1pPr>
          </a:lstStyle>
          <a:p>
            <a:pPr lvl="0" algn="ctr"/>
            <a:fld id="{9C5D9D58-E8C0-45B8-84D0-B47AD46CE60E}" type="slidenum">
              <a:rPr lang="zh-TW" altLang="en-US" sz="700" baseline="0" smtClean="0">
                <a:solidFill>
                  <a:schemeClr val="bg1">
                    <a:lumMod val="65000"/>
                  </a:schemeClr>
                </a:solidFill>
                <a:latin typeface="Calibri" panose="020F0502020204030204" pitchFamily="34" charset="0"/>
                <a:cs typeface="Calibri" panose="020F0502020204030204" pitchFamily="34" charset="0"/>
              </a:rPr>
            </a:fld>
            <a:r>
              <a:rPr lang="zh-TW" altLang="en-US" sz="700" baseline="0" dirty="0">
                <a:solidFill>
                  <a:schemeClr val="bg1">
                    <a:lumMod val="65000"/>
                  </a:schemeClr>
                </a:solidFill>
                <a:latin typeface="Calibri" panose="020F0502020204030204" pitchFamily="34" charset="0"/>
                <a:cs typeface="Calibri" panose="020F0502020204030204" pitchFamily="34" charset="0"/>
              </a:rPr>
              <a:t> </a:t>
            </a:r>
            <a:endParaRPr lang="zh-TW" altLang="en-US" sz="700" baseline="0" dirty="0">
              <a:solidFill>
                <a:schemeClr val="bg1">
                  <a:lumMod val="65000"/>
                </a:schemeClr>
              </a:solidFill>
              <a:latin typeface="Calibri" panose="020F0502020204030204" pitchFamily="34" charset="0"/>
              <a:cs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p:txStyles>
    <p:titleStyle>
      <a:lvl1pPr algn="l" defTabSz="685800" rtl="0" eaLnBrk="1" latinLnBrk="0" hangingPunct="1">
        <a:lnSpc>
          <a:spcPct val="90000"/>
        </a:lnSpc>
        <a:spcBef>
          <a:spcPct val="0"/>
        </a:spcBef>
        <a:buNone/>
        <a:defRPr sz="2025"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3" Type="http://schemas.openxmlformats.org/officeDocument/2006/relationships/slideLayout" Target="../slideLayouts/slideLayout2.xml"/><Relationship Id="rId22" Type="http://schemas.openxmlformats.org/officeDocument/2006/relationships/tags" Target="../tags/tag28.xml"/><Relationship Id="rId21" Type="http://schemas.openxmlformats.org/officeDocument/2006/relationships/tags" Target="../tags/tag27.xml"/><Relationship Id="rId20" Type="http://schemas.openxmlformats.org/officeDocument/2006/relationships/tags" Target="../tags/tag26.xml"/><Relationship Id="rId2" Type="http://schemas.openxmlformats.org/officeDocument/2006/relationships/image" Target="../media/image6.png"/><Relationship Id="rId19" Type="http://schemas.openxmlformats.org/officeDocument/2006/relationships/tags" Target="../tags/tag25.xml"/><Relationship Id="rId18" Type="http://schemas.openxmlformats.org/officeDocument/2006/relationships/tags" Target="../tags/tag24.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image" Target="../media/image12.png"/><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6" Type="http://schemas.openxmlformats.org/officeDocument/2006/relationships/slideLayout" Target="../slideLayouts/slideLayout2.xml"/><Relationship Id="rId15" Type="http://schemas.openxmlformats.org/officeDocument/2006/relationships/image" Target="../media/image14.png"/><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image" Target="../media/image13.png"/><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5" Type="http://schemas.openxmlformats.org/officeDocument/2006/relationships/slideLayout" Target="../slideLayouts/slideLayout2.xml"/><Relationship Id="rId14" Type="http://schemas.openxmlformats.org/officeDocument/2006/relationships/tags" Target="../tags/tag60.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9" Type="http://schemas.openxmlformats.org/officeDocument/2006/relationships/slideLayout" Target="../slideLayouts/slideLayout2.xml"/><Relationship Id="rId18" Type="http://schemas.openxmlformats.org/officeDocument/2006/relationships/tags" Target="../tags/tag77.xml"/><Relationship Id="rId17" Type="http://schemas.openxmlformats.org/officeDocument/2006/relationships/tags" Target="../tags/tag76.xml"/><Relationship Id="rId16" Type="http://schemas.openxmlformats.org/officeDocument/2006/relationships/tags" Target="../tags/tag75.xml"/><Relationship Id="rId15" Type="http://schemas.openxmlformats.org/officeDocument/2006/relationships/tags" Target="../tags/tag74.xml"/><Relationship Id="rId14" Type="http://schemas.openxmlformats.org/officeDocument/2006/relationships/tags" Target="../tags/tag73.xml"/><Relationship Id="rId13" Type="http://schemas.openxmlformats.org/officeDocument/2006/relationships/tags" Target="../tags/tag72.xml"/><Relationship Id="rId12" Type="http://schemas.openxmlformats.org/officeDocument/2006/relationships/tags" Target="../tags/tag7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image" Target="../media/image12.png"/><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6" Type="http://schemas.openxmlformats.org/officeDocument/2006/relationships/slideLayout" Target="../slideLayouts/slideLayout2.xml"/><Relationship Id="rId15" Type="http://schemas.openxmlformats.org/officeDocument/2006/relationships/image" Target="../media/image14.png"/><Relationship Id="rId14" Type="http://schemas.openxmlformats.org/officeDocument/2006/relationships/tags" Target="../tags/tag89.xml"/><Relationship Id="rId13" Type="http://schemas.openxmlformats.org/officeDocument/2006/relationships/tags" Target="../tags/tag88.xml"/><Relationship Id="rId12" Type="http://schemas.openxmlformats.org/officeDocument/2006/relationships/image" Target="../media/image13.png"/><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0" Type="http://schemas.openxmlformats.org/officeDocument/2006/relationships/slideLayout" Target="../slideLayouts/slideLayout2.xml"/><Relationship Id="rId3" Type="http://schemas.openxmlformats.org/officeDocument/2006/relationships/tags" Target="../tags/tag92.xml"/><Relationship Id="rId29" Type="http://schemas.openxmlformats.org/officeDocument/2006/relationships/image" Target="../media/image20.png"/><Relationship Id="rId28" Type="http://schemas.openxmlformats.org/officeDocument/2006/relationships/image" Target="../media/image11.png"/><Relationship Id="rId27" Type="http://schemas.openxmlformats.org/officeDocument/2006/relationships/image" Target="../media/image19.png"/><Relationship Id="rId26" Type="http://schemas.openxmlformats.org/officeDocument/2006/relationships/tags" Target="../tags/tag112.xml"/><Relationship Id="rId25" Type="http://schemas.openxmlformats.org/officeDocument/2006/relationships/image" Target="../media/image18.png"/><Relationship Id="rId24" Type="http://schemas.openxmlformats.org/officeDocument/2006/relationships/tags" Target="../tags/tag111.xml"/><Relationship Id="rId23" Type="http://schemas.openxmlformats.org/officeDocument/2006/relationships/image" Target="../media/image17.png"/><Relationship Id="rId22" Type="http://schemas.openxmlformats.org/officeDocument/2006/relationships/tags" Target="../tags/tag110.xml"/><Relationship Id="rId21" Type="http://schemas.openxmlformats.org/officeDocument/2006/relationships/image" Target="../media/image16.png"/><Relationship Id="rId20" Type="http://schemas.openxmlformats.org/officeDocument/2006/relationships/tags" Target="../tags/tag109.xml"/><Relationship Id="rId2" Type="http://schemas.openxmlformats.org/officeDocument/2006/relationships/tags" Target="../tags/tag91.xml"/><Relationship Id="rId19" Type="http://schemas.openxmlformats.org/officeDocument/2006/relationships/tags" Target="../tags/tag108.xml"/><Relationship Id="rId18" Type="http://schemas.openxmlformats.org/officeDocument/2006/relationships/tags" Target="../tags/tag107.xml"/><Relationship Id="rId17" Type="http://schemas.openxmlformats.org/officeDocument/2006/relationships/tags" Target="../tags/tag106.xml"/><Relationship Id="rId16" Type="http://schemas.openxmlformats.org/officeDocument/2006/relationships/tags" Target="../tags/tag105.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tags" Target="../tags/tag90.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17.xml"/><Relationship Id="rId5" Type="http://schemas.openxmlformats.org/officeDocument/2006/relationships/image" Target="../media/image21.png"/><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9.xml"/><Relationship Id="rId1" Type="http://schemas.openxmlformats.org/officeDocument/2006/relationships/tags" Target="../tags/tag118.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19.png"/><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tags" Target="../tags/tag130.xml"/><Relationship Id="rId1" Type="http://schemas.openxmlformats.org/officeDocument/2006/relationships/tags" Target="../tags/tag1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1.xml"/><Relationship Id="rId2" Type="http://schemas.openxmlformats.org/officeDocument/2006/relationships/image" Target="../media/image39.png"/><Relationship Id="rId1"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CN" dirty="0"/>
              <a:t>BLE</a:t>
            </a:r>
            <a:r>
              <a:rPr lang="zh-CN" altLang="en-US" dirty="0"/>
              <a:t>学习</a:t>
            </a:r>
            <a:r>
              <a:rPr lang="zh-CN" altLang="en-US" dirty="0"/>
              <a:t>报告</a:t>
            </a:r>
            <a:endParaRPr lang="zh-CN" altLang="en-US" dirty="0"/>
          </a:p>
        </p:txBody>
      </p:sp>
      <p:sp>
        <p:nvSpPr>
          <p:cNvPr id="3" name="文字版面配置區 2"/>
          <p:cNvSpPr>
            <a:spLocks noGrp="1"/>
          </p:cNvSpPr>
          <p:nvPr>
            <p:ph type="body" sz="quarter" idx="23"/>
            <p:custDataLst>
              <p:tags r:id="rId1"/>
            </p:custDataLst>
          </p:nvPr>
        </p:nvSpPr>
        <p:spPr/>
        <p:txBody>
          <a:bodyPr/>
          <a:lstStyle/>
          <a:p>
            <a:r>
              <a:rPr lang="en-US" smtClean="0"/>
              <a:t>J</a:t>
            </a:r>
            <a:r>
              <a:rPr lang="en-US" smtClean="0"/>
              <a:t>an-29-2026</a:t>
            </a:r>
            <a:endParaRPr lang="en-US" dirty="0"/>
          </a:p>
        </p:txBody>
      </p:sp>
      <p:sp>
        <p:nvSpPr>
          <p:cNvPr id="4" name="文字版面配置區 3"/>
          <p:cNvSpPr>
            <a:spLocks noGrp="1"/>
          </p:cNvSpPr>
          <p:nvPr>
            <p:ph type="body" sz="quarter" idx="24"/>
            <p:custDataLst>
              <p:tags r:id="rId2"/>
            </p:custDataLst>
          </p:nvPr>
        </p:nvSpPr>
        <p:spPr/>
        <p:txBody>
          <a:bodyPr/>
          <a:lstStyle/>
          <a:p>
            <a:r>
              <a:rPr lang="zh-CN" altLang="en-US" dirty="0"/>
              <a:t>许浩彬</a:t>
            </a:r>
            <a:endParaRPr lang="zh-CN" altLang="en-US" dirty="0"/>
          </a:p>
        </p:txBody>
      </p:sp>
      <p:sp>
        <p:nvSpPr>
          <p:cNvPr id="5" name="文字版面配置區 4"/>
          <p:cNvSpPr>
            <a:spLocks noGrp="1"/>
          </p:cNvSpPr>
          <p:nvPr>
            <p:ph type="body" sz="quarter" idx="20"/>
            <p:custDataLst>
              <p:tags r:id="rId3"/>
            </p:custDataLst>
          </p:nvPr>
        </p:nvSpPr>
        <p:spPr/>
        <p:txBody>
          <a:bodyPr/>
          <a:lstStyle/>
          <a:p>
            <a:r>
              <a:rPr lang="zh-CN" altLang="en-US"/>
              <a:t>许浩彬</a:t>
            </a:r>
            <a:endParaRPr lang="zh-CN" altLang="en-US"/>
          </a:p>
        </p:txBody>
      </p:sp>
      <p:sp>
        <p:nvSpPr>
          <p:cNvPr id="6" name="文字版面配置區 5"/>
          <p:cNvSpPr>
            <a:spLocks noGrp="1"/>
          </p:cNvSpPr>
          <p:nvPr>
            <p:ph type="body" sz="quarter" idx="21"/>
            <p:custDataLst>
              <p:tags r:id="rId4"/>
            </p:custDataLst>
          </p:nvPr>
        </p:nvSpPr>
        <p:spPr/>
        <p:txBody>
          <a:bodyPr/>
          <a:lstStyle/>
          <a:p>
            <a:r>
              <a:rPr lang="zh-CN" altLang="en-US"/>
              <a:t>许浩彬</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Overview</a:t>
            </a:r>
            <a:endParaRPr lang="en-US" altLang="zh-TW" sz="2400" b="1" spc="-38" dirty="0">
              <a:solidFill>
                <a:srgbClr val="3D5663"/>
              </a:solidFill>
              <a:latin typeface="Calibri" panose="020F0502020204030204" pitchFamily="34" charset="0"/>
              <a:cs typeface="Calibri" panose="020F0502020204030204" pitchFamily="34" charset="0"/>
            </a:endParaRPr>
          </a:p>
        </p:txBody>
      </p:sp>
      <p:pic>
        <p:nvPicPr>
          <p:cNvPr id="86" name="图片 85" descr="图片包含 游戏机, 体育&#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57308" y="363330"/>
            <a:ext cx="2409949" cy="1838419"/>
          </a:xfrm>
          <a:prstGeom prst="rect">
            <a:avLst/>
          </a:prstGeom>
        </p:spPr>
      </p:pic>
      <p:pic>
        <p:nvPicPr>
          <p:cNvPr id="2" name="图片 1" descr="图片包含 图示&#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490" y="1376122"/>
            <a:ext cx="4987585" cy="3427068"/>
          </a:xfrm>
          <a:prstGeom prst="rect">
            <a:avLst/>
          </a:prstGeom>
        </p:spPr>
      </p:pic>
      <p:sp>
        <p:nvSpPr>
          <p:cNvPr id="66" name="圆角矩形 65"/>
          <p:cNvSpPr/>
          <p:nvPr>
            <p:custDataLst>
              <p:tags r:id="rId3"/>
            </p:custDataLst>
          </p:nvPr>
        </p:nvSpPr>
        <p:spPr>
          <a:xfrm rot="21240000">
            <a:off x="6400800" y="493395"/>
            <a:ext cx="1593850" cy="728345"/>
          </a:xfrm>
          <a:prstGeom prst="roundRect">
            <a:avLst>
              <a:gd name="adj" fmla="val 5556"/>
            </a:avLst>
          </a:prstGeom>
          <a:solidFill>
            <a:schemeClr val="accent5">
              <a:lumMod val="40000"/>
              <a:lumOff val="6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圆角矩形 4"/>
          <p:cNvSpPr/>
          <p:nvPr>
            <p:custDataLst>
              <p:tags r:id="rId4"/>
            </p:custDataLst>
          </p:nvPr>
        </p:nvSpPr>
        <p:spPr>
          <a:xfrm>
            <a:off x="6426835" y="484505"/>
            <a:ext cx="1593850" cy="728345"/>
          </a:xfrm>
          <a:prstGeom prst="roundRect">
            <a:avLst>
              <a:gd name="adj" fmla="val 5556"/>
            </a:avLst>
          </a:prstGeom>
          <a:solidFill>
            <a:schemeClr val="bg1"/>
          </a:solidFill>
          <a:ln w="15875">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13" name="任意多边形 12"/>
          <p:cNvSpPr/>
          <p:nvPr>
            <p:custDataLst>
              <p:tags r:id="rId5"/>
            </p:custDataLst>
          </p:nvPr>
        </p:nvSpPr>
        <p:spPr>
          <a:xfrm>
            <a:off x="6588125" y="544195"/>
            <a:ext cx="193675" cy="189865"/>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763"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51" name="圆角矩形 50"/>
          <p:cNvSpPr/>
          <p:nvPr>
            <p:custDataLst>
              <p:tags r:id="rId6"/>
            </p:custDataLst>
          </p:nvPr>
        </p:nvSpPr>
        <p:spPr>
          <a:xfrm rot="21240000">
            <a:off x="6400800" y="1397000"/>
            <a:ext cx="1593850" cy="728345"/>
          </a:xfrm>
          <a:prstGeom prst="roundRect">
            <a:avLst>
              <a:gd name="adj" fmla="val 5556"/>
            </a:avLst>
          </a:prstGeom>
          <a:solidFill>
            <a:schemeClr val="accent5">
              <a:lumMod val="40000"/>
              <a:lumOff val="6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圆角矩形 51"/>
          <p:cNvSpPr/>
          <p:nvPr>
            <p:custDataLst>
              <p:tags r:id="rId7"/>
            </p:custDataLst>
          </p:nvPr>
        </p:nvSpPr>
        <p:spPr>
          <a:xfrm>
            <a:off x="6426835" y="1388110"/>
            <a:ext cx="1593850" cy="728345"/>
          </a:xfrm>
          <a:prstGeom prst="roundRect">
            <a:avLst>
              <a:gd name="adj" fmla="val 5556"/>
            </a:avLst>
          </a:prstGeom>
          <a:solidFill>
            <a:schemeClr val="bg1"/>
          </a:solidFill>
          <a:ln w="15875">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任意多边形 52"/>
          <p:cNvSpPr/>
          <p:nvPr>
            <p:custDataLst>
              <p:tags r:id="rId8"/>
            </p:custDataLst>
          </p:nvPr>
        </p:nvSpPr>
        <p:spPr>
          <a:xfrm>
            <a:off x="6588125" y="1447800"/>
            <a:ext cx="193675" cy="189865"/>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763"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55" name="圆角矩形 54"/>
          <p:cNvSpPr/>
          <p:nvPr>
            <p:custDataLst>
              <p:tags r:id="rId9"/>
            </p:custDataLst>
          </p:nvPr>
        </p:nvSpPr>
        <p:spPr>
          <a:xfrm rot="21240000">
            <a:off x="6394450" y="2268855"/>
            <a:ext cx="1593850" cy="728345"/>
          </a:xfrm>
          <a:prstGeom prst="roundRect">
            <a:avLst>
              <a:gd name="adj" fmla="val 5556"/>
            </a:avLst>
          </a:prstGeom>
          <a:solidFill>
            <a:schemeClr val="accent5">
              <a:lumMod val="40000"/>
              <a:lumOff val="6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圆角矩形 55"/>
          <p:cNvSpPr/>
          <p:nvPr>
            <p:custDataLst>
              <p:tags r:id="rId10"/>
            </p:custDataLst>
          </p:nvPr>
        </p:nvSpPr>
        <p:spPr>
          <a:xfrm>
            <a:off x="6420485" y="2259965"/>
            <a:ext cx="1593850" cy="728345"/>
          </a:xfrm>
          <a:prstGeom prst="roundRect">
            <a:avLst>
              <a:gd name="adj" fmla="val 5556"/>
            </a:avLst>
          </a:prstGeom>
          <a:solidFill>
            <a:schemeClr val="bg1"/>
          </a:solidFill>
          <a:ln w="15875">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任意多边形 56"/>
          <p:cNvSpPr/>
          <p:nvPr>
            <p:custDataLst>
              <p:tags r:id="rId11"/>
            </p:custDataLst>
          </p:nvPr>
        </p:nvSpPr>
        <p:spPr>
          <a:xfrm>
            <a:off x="6581775" y="2319655"/>
            <a:ext cx="193675" cy="189865"/>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763"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59" name="圆角矩形 58"/>
          <p:cNvSpPr/>
          <p:nvPr>
            <p:custDataLst>
              <p:tags r:id="rId12"/>
            </p:custDataLst>
          </p:nvPr>
        </p:nvSpPr>
        <p:spPr>
          <a:xfrm rot="21240000">
            <a:off x="6388100" y="3140710"/>
            <a:ext cx="1593850" cy="728345"/>
          </a:xfrm>
          <a:prstGeom prst="roundRect">
            <a:avLst>
              <a:gd name="adj" fmla="val 5556"/>
            </a:avLst>
          </a:prstGeom>
          <a:solidFill>
            <a:schemeClr val="accent5">
              <a:lumMod val="40000"/>
              <a:lumOff val="6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圆角矩形 59"/>
          <p:cNvSpPr/>
          <p:nvPr>
            <p:custDataLst>
              <p:tags r:id="rId13"/>
            </p:custDataLst>
          </p:nvPr>
        </p:nvSpPr>
        <p:spPr>
          <a:xfrm>
            <a:off x="6414135" y="3131820"/>
            <a:ext cx="1593850" cy="728345"/>
          </a:xfrm>
          <a:prstGeom prst="roundRect">
            <a:avLst>
              <a:gd name="adj" fmla="val 5556"/>
            </a:avLst>
          </a:prstGeom>
          <a:solidFill>
            <a:schemeClr val="bg1"/>
          </a:solidFill>
          <a:ln w="15875">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任意多边形 60"/>
          <p:cNvSpPr/>
          <p:nvPr>
            <p:custDataLst>
              <p:tags r:id="rId14"/>
            </p:custDataLst>
          </p:nvPr>
        </p:nvSpPr>
        <p:spPr>
          <a:xfrm>
            <a:off x="6575425" y="3191510"/>
            <a:ext cx="193675" cy="189865"/>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763"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62" name="任意多边形 61"/>
          <p:cNvSpPr/>
          <p:nvPr>
            <p:custDataLst>
              <p:tags r:id="rId15"/>
            </p:custDataLst>
          </p:nvPr>
        </p:nvSpPr>
        <p:spPr>
          <a:xfrm>
            <a:off x="7618095" y="1388110"/>
            <a:ext cx="410210" cy="359410"/>
          </a:xfrm>
          <a:custGeom>
            <a:avLst/>
            <a:gdLst>
              <a:gd name="connsiteX0" fmla="*/ 0 w 1364343"/>
              <a:gd name="connsiteY0" fmla="*/ 0 h 1364343"/>
              <a:gd name="connsiteX1" fmla="*/ 735981 w 1364343"/>
              <a:gd name="connsiteY1" fmla="*/ 0 h 1364343"/>
              <a:gd name="connsiteX2" fmla="*/ 1364343 w 1364343"/>
              <a:gd name="connsiteY2" fmla="*/ 628362 h 1364343"/>
              <a:gd name="connsiteX3" fmla="*/ 1364343 w 1364343"/>
              <a:gd name="connsiteY3" fmla="*/ 1364343 h 1364343"/>
              <a:gd name="connsiteX4" fmla="*/ 0 w 1364343"/>
              <a:gd name="connsiteY4" fmla="*/ 0 h 136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343" h="1364343">
                <a:moveTo>
                  <a:pt x="0" y="0"/>
                </a:moveTo>
                <a:lnTo>
                  <a:pt x="735981" y="0"/>
                </a:lnTo>
                <a:cubicBezTo>
                  <a:pt x="735981" y="347035"/>
                  <a:pt x="1017308" y="628362"/>
                  <a:pt x="1364343" y="628362"/>
                </a:cubicBezTo>
                <a:lnTo>
                  <a:pt x="1364343" y="1364343"/>
                </a:lnTo>
                <a:cubicBezTo>
                  <a:pt x="610837" y="1364343"/>
                  <a:pt x="0" y="753506"/>
                  <a:pt x="0" y="0"/>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63" name="圆角矩形 62"/>
          <p:cNvSpPr/>
          <p:nvPr>
            <p:custDataLst>
              <p:tags r:id="rId16"/>
            </p:custDataLst>
          </p:nvPr>
        </p:nvSpPr>
        <p:spPr>
          <a:xfrm rot="21240000">
            <a:off x="6393964" y="4019815"/>
            <a:ext cx="1459967" cy="708991"/>
          </a:xfrm>
          <a:prstGeom prst="roundRect">
            <a:avLst>
              <a:gd name="adj" fmla="val 5556"/>
            </a:avLst>
          </a:prstGeom>
          <a:solidFill>
            <a:schemeClr val="accent5">
              <a:lumMod val="40000"/>
              <a:lumOff val="6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圆角矩形 63"/>
          <p:cNvSpPr/>
          <p:nvPr>
            <p:custDataLst>
              <p:tags r:id="rId17"/>
            </p:custDataLst>
          </p:nvPr>
        </p:nvSpPr>
        <p:spPr>
          <a:xfrm>
            <a:off x="6407785" y="4003675"/>
            <a:ext cx="1593850" cy="728345"/>
          </a:xfrm>
          <a:prstGeom prst="roundRect">
            <a:avLst>
              <a:gd name="adj" fmla="val 5556"/>
            </a:avLst>
          </a:prstGeom>
          <a:solidFill>
            <a:schemeClr val="bg1"/>
          </a:solidFill>
          <a:ln w="15875">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任意多边形 64"/>
          <p:cNvSpPr/>
          <p:nvPr>
            <p:custDataLst>
              <p:tags r:id="rId18"/>
            </p:custDataLst>
          </p:nvPr>
        </p:nvSpPr>
        <p:spPr>
          <a:xfrm>
            <a:off x="6569075" y="4063365"/>
            <a:ext cx="193675" cy="189865"/>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763"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71" name="文本框 70"/>
          <p:cNvSpPr txBox="1"/>
          <p:nvPr/>
        </p:nvSpPr>
        <p:spPr>
          <a:xfrm>
            <a:off x="6426835" y="705485"/>
            <a:ext cx="1685925" cy="472440"/>
          </a:xfrm>
          <a:prstGeom prst="rect">
            <a:avLst/>
          </a:prstGeom>
          <a:noFill/>
        </p:spPr>
        <p:txBody>
          <a:bodyPr wrap="square" rtlCol="0">
            <a:noAutofit/>
          </a:bodyPr>
          <a:p>
            <a:r>
              <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rPr>
              <a:t>01 BLE</a:t>
            </a:r>
            <a:endPar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endParaRPr>
          </a:p>
        </p:txBody>
      </p:sp>
      <p:sp>
        <p:nvSpPr>
          <p:cNvPr id="72" name="文本框 71"/>
          <p:cNvSpPr txBox="1"/>
          <p:nvPr/>
        </p:nvSpPr>
        <p:spPr>
          <a:xfrm>
            <a:off x="6426835" y="1600200"/>
            <a:ext cx="1685925" cy="472440"/>
          </a:xfrm>
          <a:prstGeom prst="rect">
            <a:avLst/>
          </a:prstGeom>
          <a:noFill/>
        </p:spPr>
        <p:txBody>
          <a:bodyPr wrap="square" rtlCol="0">
            <a:noAutofit/>
          </a:bodyPr>
          <a:p>
            <a:r>
              <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rPr>
              <a:t>02 GAP</a:t>
            </a:r>
            <a:endPar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endParaRPr>
          </a:p>
        </p:txBody>
      </p:sp>
      <p:sp>
        <p:nvSpPr>
          <p:cNvPr id="73" name="文本框 72"/>
          <p:cNvSpPr txBox="1"/>
          <p:nvPr/>
        </p:nvSpPr>
        <p:spPr>
          <a:xfrm>
            <a:off x="6414135" y="2493010"/>
            <a:ext cx="1822450" cy="472440"/>
          </a:xfrm>
          <a:prstGeom prst="rect">
            <a:avLst/>
          </a:prstGeom>
          <a:noFill/>
        </p:spPr>
        <p:txBody>
          <a:bodyPr wrap="square" rtlCol="0">
            <a:noAutofit/>
          </a:bodyPr>
          <a:p>
            <a:r>
              <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rPr>
              <a:t>03 GATT</a:t>
            </a:r>
            <a:endPar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endParaRPr>
          </a:p>
        </p:txBody>
      </p:sp>
      <p:sp>
        <p:nvSpPr>
          <p:cNvPr id="74" name="文本框 73"/>
          <p:cNvSpPr txBox="1"/>
          <p:nvPr/>
        </p:nvSpPr>
        <p:spPr>
          <a:xfrm>
            <a:off x="6420485" y="3385820"/>
            <a:ext cx="1685925" cy="472440"/>
          </a:xfrm>
          <a:prstGeom prst="rect">
            <a:avLst/>
          </a:prstGeom>
          <a:noFill/>
        </p:spPr>
        <p:txBody>
          <a:bodyPr wrap="square" rtlCol="0">
            <a:noAutofit/>
          </a:bodyPr>
          <a:p>
            <a:r>
              <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rPr>
              <a:t>04 SMP</a:t>
            </a:r>
            <a:endPar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endParaRPr>
          </a:p>
        </p:txBody>
      </p:sp>
      <p:sp>
        <p:nvSpPr>
          <p:cNvPr id="75" name="文本框 74"/>
          <p:cNvSpPr txBox="1"/>
          <p:nvPr/>
        </p:nvSpPr>
        <p:spPr>
          <a:xfrm>
            <a:off x="6407785" y="4222750"/>
            <a:ext cx="1685925" cy="472440"/>
          </a:xfrm>
          <a:prstGeom prst="rect">
            <a:avLst/>
          </a:prstGeom>
          <a:noFill/>
        </p:spPr>
        <p:txBody>
          <a:bodyPr wrap="square" rtlCol="0">
            <a:noAutofit/>
          </a:bodyPr>
          <a:p>
            <a:r>
              <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rPr>
              <a:t>05 HOGP</a:t>
            </a:r>
            <a:endPar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endParaRPr>
          </a:p>
        </p:txBody>
      </p:sp>
      <p:sp>
        <p:nvSpPr>
          <p:cNvPr id="76" name="任意多边形 75"/>
          <p:cNvSpPr/>
          <p:nvPr>
            <p:custDataLst>
              <p:tags r:id="rId19"/>
            </p:custDataLst>
          </p:nvPr>
        </p:nvSpPr>
        <p:spPr>
          <a:xfrm>
            <a:off x="7602220" y="4003675"/>
            <a:ext cx="410210" cy="359410"/>
          </a:xfrm>
          <a:custGeom>
            <a:avLst/>
            <a:gdLst>
              <a:gd name="connsiteX0" fmla="*/ 0 w 1364343"/>
              <a:gd name="connsiteY0" fmla="*/ 0 h 1364343"/>
              <a:gd name="connsiteX1" fmla="*/ 735981 w 1364343"/>
              <a:gd name="connsiteY1" fmla="*/ 0 h 1364343"/>
              <a:gd name="connsiteX2" fmla="*/ 1364343 w 1364343"/>
              <a:gd name="connsiteY2" fmla="*/ 628362 h 1364343"/>
              <a:gd name="connsiteX3" fmla="*/ 1364343 w 1364343"/>
              <a:gd name="connsiteY3" fmla="*/ 1364343 h 1364343"/>
              <a:gd name="connsiteX4" fmla="*/ 0 w 1364343"/>
              <a:gd name="connsiteY4" fmla="*/ 0 h 136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343" h="1364343">
                <a:moveTo>
                  <a:pt x="0" y="0"/>
                </a:moveTo>
                <a:lnTo>
                  <a:pt x="735981" y="0"/>
                </a:lnTo>
                <a:cubicBezTo>
                  <a:pt x="735981" y="347035"/>
                  <a:pt x="1017308" y="628362"/>
                  <a:pt x="1364343" y="628362"/>
                </a:cubicBezTo>
                <a:lnTo>
                  <a:pt x="1364343" y="1364343"/>
                </a:lnTo>
                <a:cubicBezTo>
                  <a:pt x="610837" y="1364343"/>
                  <a:pt x="0" y="753506"/>
                  <a:pt x="0" y="0"/>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77" name="任意多边形 76"/>
          <p:cNvSpPr/>
          <p:nvPr>
            <p:custDataLst>
              <p:tags r:id="rId20"/>
            </p:custDataLst>
          </p:nvPr>
        </p:nvSpPr>
        <p:spPr>
          <a:xfrm>
            <a:off x="7605395" y="2259965"/>
            <a:ext cx="410210" cy="359410"/>
          </a:xfrm>
          <a:custGeom>
            <a:avLst/>
            <a:gdLst>
              <a:gd name="connsiteX0" fmla="*/ 0 w 1364343"/>
              <a:gd name="connsiteY0" fmla="*/ 0 h 1364343"/>
              <a:gd name="connsiteX1" fmla="*/ 735981 w 1364343"/>
              <a:gd name="connsiteY1" fmla="*/ 0 h 1364343"/>
              <a:gd name="connsiteX2" fmla="*/ 1364343 w 1364343"/>
              <a:gd name="connsiteY2" fmla="*/ 628362 h 1364343"/>
              <a:gd name="connsiteX3" fmla="*/ 1364343 w 1364343"/>
              <a:gd name="connsiteY3" fmla="*/ 1364343 h 1364343"/>
              <a:gd name="connsiteX4" fmla="*/ 0 w 1364343"/>
              <a:gd name="connsiteY4" fmla="*/ 0 h 136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343" h="1364343">
                <a:moveTo>
                  <a:pt x="0" y="0"/>
                </a:moveTo>
                <a:lnTo>
                  <a:pt x="735981" y="0"/>
                </a:lnTo>
                <a:cubicBezTo>
                  <a:pt x="735981" y="347035"/>
                  <a:pt x="1017308" y="628362"/>
                  <a:pt x="1364343" y="628362"/>
                </a:cubicBezTo>
                <a:lnTo>
                  <a:pt x="1364343" y="1364343"/>
                </a:lnTo>
                <a:cubicBezTo>
                  <a:pt x="610837" y="1364343"/>
                  <a:pt x="0" y="753506"/>
                  <a:pt x="0" y="0"/>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78" name="任意多边形 77"/>
          <p:cNvSpPr/>
          <p:nvPr>
            <p:custDataLst>
              <p:tags r:id="rId21"/>
            </p:custDataLst>
          </p:nvPr>
        </p:nvSpPr>
        <p:spPr>
          <a:xfrm>
            <a:off x="7610475" y="484505"/>
            <a:ext cx="410210" cy="359410"/>
          </a:xfrm>
          <a:custGeom>
            <a:avLst/>
            <a:gdLst>
              <a:gd name="connsiteX0" fmla="*/ 0 w 1364343"/>
              <a:gd name="connsiteY0" fmla="*/ 0 h 1364343"/>
              <a:gd name="connsiteX1" fmla="*/ 735981 w 1364343"/>
              <a:gd name="connsiteY1" fmla="*/ 0 h 1364343"/>
              <a:gd name="connsiteX2" fmla="*/ 1364343 w 1364343"/>
              <a:gd name="connsiteY2" fmla="*/ 628362 h 1364343"/>
              <a:gd name="connsiteX3" fmla="*/ 1364343 w 1364343"/>
              <a:gd name="connsiteY3" fmla="*/ 1364343 h 1364343"/>
              <a:gd name="connsiteX4" fmla="*/ 0 w 1364343"/>
              <a:gd name="connsiteY4" fmla="*/ 0 h 136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343" h="1364343">
                <a:moveTo>
                  <a:pt x="0" y="0"/>
                </a:moveTo>
                <a:lnTo>
                  <a:pt x="735981" y="0"/>
                </a:lnTo>
                <a:cubicBezTo>
                  <a:pt x="735981" y="347035"/>
                  <a:pt x="1017308" y="628362"/>
                  <a:pt x="1364343" y="628362"/>
                </a:cubicBezTo>
                <a:lnTo>
                  <a:pt x="1364343" y="1364343"/>
                </a:lnTo>
                <a:cubicBezTo>
                  <a:pt x="610837" y="1364343"/>
                  <a:pt x="0" y="753506"/>
                  <a:pt x="0" y="0"/>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79" name="任意多边形 78"/>
          <p:cNvSpPr/>
          <p:nvPr>
            <p:custDataLst>
              <p:tags r:id="rId22"/>
            </p:custDataLst>
          </p:nvPr>
        </p:nvSpPr>
        <p:spPr>
          <a:xfrm>
            <a:off x="7592695" y="3131820"/>
            <a:ext cx="410210" cy="359410"/>
          </a:xfrm>
          <a:custGeom>
            <a:avLst/>
            <a:gdLst>
              <a:gd name="connsiteX0" fmla="*/ 0 w 1364343"/>
              <a:gd name="connsiteY0" fmla="*/ 0 h 1364343"/>
              <a:gd name="connsiteX1" fmla="*/ 735981 w 1364343"/>
              <a:gd name="connsiteY1" fmla="*/ 0 h 1364343"/>
              <a:gd name="connsiteX2" fmla="*/ 1364343 w 1364343"/>
              <a:gd name="connsiteY2" fmla="*/ 628362 h 1364343"/>
              <a:gd name="connsiteX3" fmla="*/ 1364343 w 1364343"/>
              <a:gd name="connsiteY3" fmla="*/ 1364343 h 1364343"/>
              <a:gd name="connsiteX4" fmla="*/ 0 w 1364343"/>
              <a:gd name="connsiteY4" fmla="*/ 0 h 136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343" h="1364343">
                <a:moveTo>
                  <a:pt x="0" y="0"/>
                </a:moveTo>
                <a:lnTo>
                  <a:pt x="735981" y="0"/>
                </a:lnTo>
                <a:cubicBezTo>
                  <a:pt x="735981" y="347035"/>
                  <a:pt x="1017308" y="628362"/>
                  <a:pt x="1364343" y="628362"/>
                </a:cubicBezTo>
                <a:lnTo>
                  <a:pt x="1364343" y="1364343"/>
                </a:lnTo>
                <a:cubicBezTo>
                  <a:pt x="610837" y="1364343"/>
                  <a:pt x="0" y="753506"/>
                  <a:pt x="0" y="0"/>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PART 01</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63" name="组合 62"/>
          <p:cNvGrpSpPr/>
          <p:nvPr/>
        </p:nvGrpSpPr>
        <p:grpSpPr>
          <a:xfrm>
            <a:off x="1203325" y="1275715"/>
            <a:ext cx="6308090" cy="2503805"/>
            <a:chOff x="3272" y="3874"/>
            <a:chExt cx="12613" cy="4373"/>
          </a:xfrm>
        </p:grpSpPr>
        <p:pic>
          <p:nvPicPr>
            <p:cNvPr id="50" name="图片 49" descr="图形用户界面, 应用程序&#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38" y="3874"/>
              <a:ext cx="6546" cy="4373"/>
            </a:xfrm>
            <a:prstGeom prst="rect">
              <a:avLst/>
            </a:prstGeom>
          </p:spPr>
        </p:pic>
        <p:sp>
          <p:nvSpPr>
            <p:cNvPr id="56" name="圆角矩形 55"/>
            <p:cNvSpPr/>
            <p:nvPr/>
          </p:nvSpPr>
          <p:spPr>
            <a:xfrm>
              <a:off x="3272" y="7403"/>
              <a:ext cx="1134" cy="7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endParaRPr lang="zh-CN" altLang="en-US" sz="600"/>
            </a:p>
          </p:txBody>
        </p:sp>
        <p:sp>
          <p:nvSpPr>
            <p:cNvPr id="57" name="文本框 56"/>
            <p:cNvSpPr txBox="1"/>
            <p:nvPr/>
          </p:nvSpPr>
          <p:spPr>
            <a:xfrm>
              <a:off x="3272" y="5709"/>
              <a:ext cx="6666" cy="1581"/>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rPr>
                <a:t>BLE</a:t>
              </a:r>
              <a:endPar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endParaRPr>
            </a:p>
          </p:txBody>
        </p:sp>
        <p:sp>
          <p:nvSpPr>
            <p:cNvPr id="58" name="矩形 57"/>
            <p:cNvSpPr/>
            <p:nvPr/>
          </p:nvSpPr>
          <p:spPr>
            <a:xfrm>
              <a:off x="3272" y="7642"/>
              <a:ext cx="5019" cy="4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低功耗蓝牙</a:t>
              </a:r>
              <a:endPar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59" name="文本框 58"/>
            <p:cNvSpPr txBox="1"/>
            <p:nvPr/>
          </p:nvSpPr>
          <p:spPr>
            <a:xfrm>
              <a:off x="3272" y="4070"/>
              <a:ext cx="2915" cy="1888"/>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rPr>
                <a:t>01</a:t>
              </a:r>
              <a:endPar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pic>
          <p:nvPicPr>
            <p:cNvPr id="60" name="图片 59" descr="图片包含 图标&#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431409">
              <a:off x="13750" y="4000"/>
              <a:ext cx="1158" cy="491"/>
            </a:xfrm>
            <a:prstGeom prst="rect">
              <a:avLst/>
            </a:prstGeom>
          </p:spPr>
        </p:pic>
        <p:pic>
          <p:nvPicPr>
            <p:cNvPr id="61" name="图片 60" descr="形状&#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8" y="5085"/>
              <a:ext cx="264" cy="252"/>
            </a:xfrm>
            <a:prstGeom prst="rect">
              <a:avLst/>
            </a:prstGeom>
          </p:spPr>
        </p:pic>
        <p:pic>
          <p:nvPicPr>
            <p:cNvPr id="62" name="图片 6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 y="4497"/>
              <a:ext cx="193" cy="185"/>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BLE</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圆角矩形 2"/>
          <p:cNvSpPr/>
          <p:nvPr/>
        </p:nvSpPr>
        <p:spPr>
          <a:xfrm>
            <a:off x="2552700" y="726440"/>
            <a:ext cx="3792855" cy="482600"/>
          </a:xfrm>
          <a:prstGeom prst="roundRect">
            <a:avLst>
              <a:gd name="adj" fmla="val 50000"/>
            </a:avLst>
          </a:prstGeom>
          <a:solidFill>
            <a:schemeClr val="bg1"/>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descr="图标&#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58002" y="681138"/>
            <a:ext cx="749569" cy="567531"/>
          </a:xfrm>
          <a:prstGeom prst="rect">
            <a:avLst/>
          </a:prstGeom>
        </p:spPr>
      </p:pic>
      <p:sp>
        <p:nvSpPr>
          <p:cNvPr id="2" name="文本框 1"/>
          <p:cNvSpPr txBox="1"/>
          <p:nvPr/>
        </p:nvSpPr>
        <p:spPr>
          <a:xfrm>
            <a:off x="3456305" y="726440"/>
            <a:ext cx="3048000" cy="460375"/>
          </a:xfrm>
          <a:prstGeom prst="rect">
            <a:avLst/>
          </a:prstGeom>
          <a:noFill/>
        </p:spPr>
        <p:txBody>
          <a:bodyPr wrap="square" rtlCol="0">
            <a:spAutoFit/>
          </a:bodyPr>
          <a:p>
            <a:r>
              <a:rPr lang="zh-CN" altLang="en-US" sz="2400" b="1" i="1">
                <a:latin typeface="宋体" panose="02010600030101010101" pitchFamily="2" charset="-122"/>
                <a:ea typeface="宋体" panose="02010600030101010101" pitchFamily="2" charset="-122"/>
                <a:cs typeface="宋体" panose="02010600030101010101" pitchFamily="2" charset="-122"/>
              </a:rPr>
              <a:t>什么是</a:t>
            </a:r>
            <a:r>
              <a:rPr lang="en-US" altLang="zh-CN" sz="2400" b="1" i="1">
                <a:latin typeface="宋体" panose="02010600030101010101" pitchFamily="2" charset="-122"/>
                <a:ea typeface="宋体" panose="02010600030101010101" pitchFamily="2" charset="-122"/>
                <a:cs typeface="宋体" panose="02010600030101010101" pitchFamily="2" charset="-122"/>
              </a:rPr>
              <a:t>BLE</a:t>
            </a:r>
            <a:r>
              <a:rPr lang="zh-CN" altLang="en-US" sz="2400" b="1" i="1">
                <a:latin typeface="宋体" panose="02010600030101010101" pitchFamily="2" charset="-122"/>
                <a:ea typeface="宋体" panose="02010600030101010101" pitchFamily="2" charset="-122"/>
                <a:cs typeface="宋体" panose="02010600030101010101" pitchFamily="2" charset="-122"/>
              </a:rPr>
              <a:t>？</a:t>
            </a:r>
            <a:endParaRPr lang="zh-CN" altLang="en-US" sz="2400" b="1" i="1">
              <a:latin typeface="宋体" panose="02010600030101010101" pitchFamily="2" charset="-122"/>
              <a:ea typeface="宋体" panose="02010600030101010101" pitchFamily="2" charset="-122"/>
              <a:cs typeface="宋体" panose="02010600030101010101" pitchFamily="2" charset="-122"/>
            </a:endParaRPr>
          </a:p>
        </p:txBody>
      </p:sp>
      <p:sp>
        <p:nvSpPr>
          <p:cNvPr id="21" name="剪去对角的矩形 20"/>
          <p:cNvSpPr/>
          <p:nvPr>
            <p:custDataLst>
              <p:tags r:id="rId2"/>
            </p:custDataLst>
          </p:nvPr>
        </p:nvSpPr>
        <p:spPr>
          <a:xfrm>
            <a:off x="471170" y="1833880"/>
            <a:ext cx="3669030" cy="2657475"/>
          </a:xfrm>
          <a:prstGeom prst="snip2DiagRect">
            <a:avLst>
              <a:gd name="adj1" fmla="val 0"/>
              <a:gd name="adj2" fmla="val 8363"/>
            </a:avLst>
          </a:prstGeom>
          <a:solidFill>
            <a:schemeClr val="accent2"/>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26" name="剪去对角的矩形 25"/>
          <p:cNvSpPr/>
          <p:nvPr>
            <p:custDataLst>
              <p:tags r:id="rId3"/>
            </p:custDataLst>
          </p:nvPr>
        </p:nvSpPr>
        <p:spPr>
          <a:xfrm>
            <a:off x="334645" y="1764665"/>
            <a:ext cx="3669665" cy="2642235"/>
          </a:xfrm>
          <a:prstGeom prst="snip2DiagRect">
            <a:avLst>
              <a:gd name="adj1" fmla="val 0"/>
              <a:gd name="adj2" fmla="val 10200"/>
            </a:avLst>
          </a:prstGeom>
          <a:solidFill>
            <a:schemeClr val="bg1"/>
          </a:solid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28" name="图片 27" descr="形状&#10;&#10;低可信度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334645" y="1490345"/>
            <a:ext cx="3768725" cy="445770"/>
          </a:xfrm>
          <a:prstGeom prst="rect">
            <a:avLst/>
          </a:prstGeom>
        </p:spPr>
      </p:pic>
      <p:sp>
        <p:nvSpPr>
          <p:cNvPr id="40" name="文本框 39"/>
          <p:cNvSpPr txBox="1"/>
          <p:nvPr>
            <p:custDataLst>
              <p:tags r:id="rId6"/>
            </p:custDataLst>
          </p:nvPr>
        </p:nvSpPr>
        <p:spPr>
          <a:xfrm>
            <a:off x="1896110" y="1558925"/>
            <a:ext cx="656590" cy="236220"/>
          </a:xfrm>
          <a:prstGeom prst="rect">
            <a:avLst/>
          </a:prstGeom>
          <a:noFill/>
        </p:spPr>
        <p:txBody>
          <a:bodyPr wrap="square" lIns="0" tIns="0" rIns="0" bIns="0" rtlCol="0">
            <a:no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r>
              <a:rPr lang="zh-CN" altLang="en-US" sz="2000" dirty="0"/>
              <a:t>概念</a:t>
            </a:r>
            <a:endParaRPr lang="zh-CN" altLang="en-US" sz="2000" dirty="0"/>
          </a:p>
        </p:txBody>
      </p:sp>
      <p:sp>
        <p:nvSpPr>
          <p:cNvPr id="53" name="剪去对角的矩形 52"/>
          <p:cNvSpPr/>
          <p:nvPr>
            <p:custDataLst>
              <p:tags r:id="rId7"/>
            </p:custDataLst>
          </p:nvPr>
        </p:nvSpPr>
        <p:spPr>
          <a:xfrm>
            <a:off x="4992370" y="1833880"/>
            <a:ext cx="3669030" cy="2657475"/>
          </a:xfrm>
          <a:prstGeom prst="snip2DiagRect">
            <a:avLst>
              <a:gd name="adj1" fmla="val 0"/>
              <a:gd name="adj2" fmla="val 8363"/>
            </a:avLst>
          </a:prstGeom>
          <a:solidFill>
            <a:schemeClr val="accent2"/>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54" name="剪去对角的矩形 53"/>
          <p:cNvSpPr/>
          <p:nvPr>
            <p:custDataLst>
              <p:tags r:id="rId8"/>
            </p:custDataLst>
          </p:nvPr>
        </p:nvSpPr>
        <p:spPr>
          <a:xfrm>
            <a:off x="4855845" y="1764665"/>
            <a:ext cx="3669665" cy="2642235"/>
          </a:xfrm>
          <a:prstGeom prst="snip2DiagRect">
            <a:avLst>
              <a:gd name="adj1" fmla="val 0"/>
              <a:gd name="adj2" fmla="val 10200"/>
            </a:avLst>
          </a:prstGeom>
          <a:solidFill>
            <a:schemeClr val="bg1"/>
          </a:solid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b="1">
                <a:latin typeface="Times New Roman" panose="02020603050405020304" charset="0"/>
                <a:cs typeface="Times New Roman" panose="02020603050405020304" charset="0"/>
                <a:sym typeface="+mn-ea"/>
              </a:rPr>
              <a:t>1</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低功耗：纽扣电池可续航数</a:t>
            </a:r>
            <a:r>
              <a:rPr lang="en-US" altLang="zh-CN" b="1">
                <a:latin typeface="宋体" panose="02010600030101010101" pitchFamily="2" charset="-122"/>
                <a:ea typeface="宋体" panose="02010600030101010101" pitchFamily="2" charset="-122"/>
                <a:sym typeface="+mn-ea"/>
              </a:rPr>
              <a:t>     </a:t>
            </a:r>
            <a:r>
              <a:rPr lang="zh-CN" altLang="en-US" b="1">
                <a:latin typeface="宋体" panose="02010600030101010101" pitchFamily="2" charset="-122"/>
                <a:ea typeface="宋体" panose="02010600030101010101" pitchFamily="2" charset="-122"/>
                <a:sym typeface="+mn-ea"/>
              </a:rPr>
              <a:t>月</a:t>
            </a:r>
            <a:endParaRPr lang="zh-CN" altLang="en-US" b="1">
              <a:latin typeface="宋体" panose="02010600030101010101" pitchFamily="2" charset="-122"/>
              <a:ea typeface="宋体" panose="02010600030101010101" pitchFamily="2" charset="-122"/>
            </a:endParaRPr>
          </a:p>
          <a:p>
            <a:pPr>
              <a:lnSpc>
                <a:spcPct val="120000"/>
              </a:lnSpc>
            </a:pPr>
            <a:r>
              <a:rPr lang="en-US" altLang="zh-CN" b="1">
                <a:latin typeface="Times New Roman" panose="02020603050405020304" charset="0"/>
                <a:cs typeface="Times New Roman" panose="02020603050405020304" charset="0"/>
                <a:sym typeface="+mn-ea"/>
              </a:rPr>
              <a:t>2</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快速连接：通常在几毫秒内</a:t>
            </a:r>
            <a:endParaRPr lang="zh-CN" altLang="en-US" b="1"/>
          </a:p>
          <a:p>
            <a:pPr>
              <a:lnSpc>
                <a:spcPct val="120000"/>
              </a:lnSpc>
            </a:pPr>
            <a:r>
              <a:rPr lang="en-US" altLang="zh-CN" b="1">
                <a:latin typeface="Times New Roman" panose="02020603050405020304" charset="0"/>
                <a:cs typeface="Times New Roman" panose="02020603050405020304" charset="0"/>
                <a:sym typeface="+mn-ea"/>
              </a:rPr>
              <a:t>3</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协议栈简单：简洁的协议栈降低了开发复杂性和制造成本</a:t>
            </a:r>
            <a:endParaRPr lang="en-US" altLang="zh-CN" dirty="0">
              <a:solidFill>
                <a:schemeClr val="lt1"/>
              </a:solidFill>
            </a:endParaRPr>
          </a:p>
        </p:txBody>
      </p:sp>
      <p:pic>
        <p:nvPicPr>
          <p:cNvPr id="55" name="图片 54" descr="形状&#10;&#10;低可信度描述已自动生成"/>
          <p:cNvPicPr>
            <a:picLocks noChangeAspect="1"/>
          </p:cNvPicPr>
          <p:nvPr>
            <p:custDataLst>
              <p:tags r:id="rId9"/>
            </p:custDataLst>
          </p:nvPr>
        </p:nvPicPr>
        <p:blipFill>
          <a:blip r:embed="rId5">
            <a:extLst>
              <a:ext uri="{28A0092B-C50C-407E-A947-70E740481C1C}">
                <a14:useLocalDpi xmlns:a14="http://schemas.microsoft.com/office/drawing/2010/main" val="0"/>
              </a:ext>
            </a:extLst>
          </a:blip>
          <a:stretch>
            <a:fillRect/>
          </a:stretch>
        </p:blipFill>
        <p:spPr>
          <a:xfrm>
            <a:off x="4855845" y="1490345"/>
            <a:ext cx="3768725" cy="445770"/>
          </a:xfrm>
          <a:prstGeom prst="rect">
            <a:avLst/>
          </a:prstGeom>
        </p:spPr>
      </p:pic>
      <p:sp>
        <p:nvSpPr>
          <p:cNvPr id="56" name="文本框 55"/>
          <p:cNvSpPr txBox="1"/>
          <p:nvPr>
            <p:custDataLst>
              <p:tags r:id="rId10"/>
            </p:custDataLst>
          </p:nvPr>
        </p:nvSpPr>
        <p:spPr>
          <a:xfrm>
            <a:off x="6504305" y="1558925"/>
            <a:ext cx="771525" cy="236220"/>
          </a:xfrm>
          <a:prstGeom prst="rect">
            <a:avLst/>
          </a:prstGeom>
          <a:noFill/>
        </p:spPr>
        <p:txBody>
          <a:bodyPr wrap="square" lIns="0" tIns="0" rIns="0" bIns="0" rtlCol="0">
            <a:no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r>
              <a:rPr lang="zh-CN" altLang="en-US" sz="2000" dirty="0"/>
              <a:t>特性</a:t>
            </a:r>
            <a:endParaRPr lang="zh-CN" altLang="en-US" sz="2000" dirty="0"/>
          </a:p>
        </p:txBody>
      </p:sp>
      <p:pic>
        <p:nvPicPr>
          <p:cNvPr id="51" name="图片 50" descr="卡通人物&#10;&#10;中度可信度描述已自动生成"/>
          <p:cNvPicPr>
            <a:picLocks noChangeAspect="1"/>
          </p:cNvPicPr>
          <p:nvPr>
            <p:custDataLst>
              <p:tags r:id="rId11"/>
            </p:custDataLst>
          </p:nvPr>
        </p:nvPicPr>
        <p:blipFill>
          <a:blip r:embed="rId12">
            <a:extLst>
              <a:ext uri="{28A0092B-C50C-407E-A947-70E740481C1C}">
                <a14:useLocalDpi xmlns:a14="http://schemas.microsoft.com/office/drawing/2010/main" val="0"/>
              </a:ext>
            </a:extLst>
          </a:blip>
          <a:stretch>
            <a:fillRect/>
          </a:stretch>
        </p:blipFill>
        <p:spPr>
          <a:xfrm>
            <a:off x="1295620" y="3536024"/>
            <a:ext cx="1847266" cy="870770"/>
          </a:xfrm>
          <a:prstGeom prst="rect">
            <a:avLst/>
          </a:prstGeom>
        </p:spPr>
      </p:pic>
      <p:sp>
        <p:nvSpPr>
          <p:cNvPr id="57" name="文本框 56"/>
          <p:cNvSpPr txBox="1"/>
          <p:nvPr>
            <p:custDataLst>
              <p:tags r:id="rId13"/>
            </p:custDataLst>
          </p:nvPr>
        </p:nvSpPr>
        <p:spPr>
          <a:xfrm>
            <a:off x="687705" y="2259965"/>
            <a:ext cx="3155950" cy="1460500"/>
          </a:xfrm>
          <a:prstGeom prst="rect">
            <a:avLst/>
          </a:prstGeom>
          <a:noFill/>
        </p:spPr>
        <p:txBody>
          <a:bodyPr wrap="square" rtlCol="0">
            <a:noAutofit/>
          </a:bodyPr>
          <a:p>
            <a:r>
              <a:rPr lang="en-US" altLang="zh-CN" b="1">
                <a:latin typeface="Times New Roman" panose="02020603050405020304" charset="0"/>
                <a:cs typeface="Times New Roman" panose="02020603050405020304" charset="0"/>
              </a:rPr>
              <a:t>BLE</a:t>
            </a:r>
            <a:r>
              <a:rPr lang="zh-CN" altLang="en-US" b="1">
                <a:latin typeface="Times New Roman" panose="02020603050405020304" charset="0"/>
                <a:cs typeface="Times New Roman" panose="02020603050405020304" charset="0"/>
              </a:rPr>
              <a:t>（</a:t>
            </a:r>
            <a:r>
              <a:rPr lang="en-US" altLang="zh-CN" b="1">
                <a:latin typeface="Times New Roman" panose="02020603050405020304" charset="0"/>
                <a:cs typeface="Times New Roman" panose="02020603050405020304" charset="0"/>
              </a:rPr>
              <a:t>Bluetooth Low Energy</a:t>
            </a:r>
            <a:r>
              <a:rPr lang="zh-CN" altLang="en-US" b="1">
                <a:latin typeface="Times New Roman" panose="02020603050405020304" charset="0"/>
                <a:cs typeface="Times New Roman" panose="02020603050405020304" charset="0"/>
              </a:rPr>
              <a:t>）</a:t>
            </a:r>
            <a:r>
              <a:rPr lang="zh-CN" altLang="en-US" b="1">
                <a:latin typeface="宋体" panose="02010600030101010101" pitchFamily="2" charset="-122"/>
                <a:ea typeface="宋体" panose="02010600030101010101" pitchFamily="2" charset="-122"/>
              </a:rPr>
              <a:t>是一种短距离、低成本、可互操作性的无线通信技术。</a:t>
            </a:r>
            <a:endParaRPr lang="zh-CN" altLang="en-US" b="1">
              <a:latin typeface="宋体" panose="02010600030101010101" pitchFamily="2" charset="-122"/>
              <a:ea typeface="宋体" panose="02010600030101010101" pitchFamily="2" charset="-122"/>
            </a:endParaRPr>
          </a:p>
        </p:txBody>
      </p:sp>
      <p:pic>
        <p:nvPicPr>
          <p:cNvPr id="46" name="图片 45" descr="卡通人物&#10;&#10;描述已自动生成"/>
          <p:cNvPicPr>
            <a:picLocks noChangeAspect="1"/>
          </p:cNvPicPr>
          <p:nvPr>
            <p:custDataLst>
              <p:tags r:id="rId14"/>
            </p:custDataLst>
          </p:nvPr>
        </p:nvPicPr>
        <p:blipFill>
          <a:blip r:embed="rId15">
            <a:extLst>
              <a:ext uri="{28A0092B-C50C-407E-A947-70E740481C1C}">
                <a14:useLocalDpi xmlns:a14="http://schemas.microsoft.com/office/drawing/2010/main" val="0"/>
              </a:ext>
            </a:extLst>
          </a:blip>
          <a:stretch>
            <a:fillRect/>
          </a:stretch>
        </p:blipFill>
        <p:spPr>
          <a:xfrm>
            <a:off x="5953125" y="3923030"/>
            <a:ext cx="1747520" cy="483870"/>
          </a:xfrm>
          <a:prstGeom prst="rect">
            <a:avLst/>
          </a:prstGeom>
        </p:spPr>
      </p:pic>
      <p:sp>
        <p:nvSpPr>
          <p:cNvPr id="59" name="文本框 58"/>
          <p:cNvSpPr txBox="1"/>
          <p:nvPr/>
        </p:nvSpPr>
        <p:spPr>
          <a:xfrm>
            <a:off x="5218430" y="1936115"/>
            <a:ext cx="3216275" cy="1917065"/>
          </a:xfrm>
          <a:prstGeom prst="rect">
            <a:avLst/>
          </a:prstGeom>
          <a:noFill/>
        </p:spPr>
        <p:txBody>
          <a:bodyPr wrap="square" rtlCol="0" anchor="t">
            <a:noAutofit/>
          </a:bodyPr>
          <a:p>
            <a:pPr>
              <a:lnSpc>
                <a:spcPct val="120000"/>
              </a:lnSpc>
            </a:pPr>
            <a:r>
              <a:rPr lang="en-US" altLang="zh-CN" b="1">
                <a:latin typeface="Times New Roman" panose="02020603050405020304" charset="0"/>
                <a:cs typeface="Times New Roman" panose="02020603050405020304" charset="0"/>
                <a:sym typeface="+mn-ea"/>
              </a:rPr>
              <a:t>1</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低功耗：纽扣电池可续航数月</a:t>
            </a:r>
            <a:endParaRPr lang="zh-CN" altLang="en-US" b="1">
              <a:latin typeface="宋体" panose="02010600030101010101" pitchFamily="2" charset="-122"/>
              <a:ea typeface="宋体" panose="02010600030101010101" pitchFamily="2" charset="-122"/>
            </a:endParaRPr>
          </a:p>
          <a:p>
            <a:pPr>
              <a:lnSpc>
                <a:spcPct val="120000"/>
              </a:lnSpc>
            </a:pPr>
            <a:r>
              <a:rPr lang="en-US" altLang="zh-CN" b="1">
                <a:latin typeface="Times New Roman" panose="02020603050405020304" charset="0"/>
                <a:cs typeface="Times New Roman" panose="02020603050405020304" charset="0"/>
                <a:sym typeface="+mn-ea"/>
              </a:rPr>
              <a:t>2</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快速连接：通常在几毫秒内</a:t>
            </a:r>
            <a:endParaRPr lang="zh-CN" altLang="en-US" b="1"/>
          </a:p>
          <a:p>
            <a:pPr>
              <a:lnSpc>
                <a:spcPct val="120000"/>
              </a:lnSpc>
            </a:pPr>
            <a:r>
              <a:rPr lang="en-US" altLang="zh-CN" b="1">
                <a:latin typeface="Times New Roman" panose="02020603050405020304" charset="0"/>
                <a:cs typeface="Times New Roman" panose="02020603050405020304" charset="0"/>
                <a:sym typeface="+mn-ea"/>
              </a:rPr>
              <a:t>3</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协议栈简单：简洁的协议栈降低了开发复杂性和制造成本</a:t>
            </a:r>
            <a:endParaRPr lang="zh-CN" altLang="en-US" b="1">
              <a:latin typeface="宋体" panose="02010600030101010101" pitchFamily="2" charset="-122"/>
              <a:ea typeface="宋体" panose="02010600030101010101" pitchFamily="2"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BLE</a:t>
            </a:r>
            <a:r>
              <a:rPr lang="zh-CN" altLang="en-US" sz="2400" b="1" spc="-38" dirty="0">
                <a:solidFill>
                  <a:srgbClr val="3D5663"/>
                </a:solidFill>
                <a:latin typeface="Calibri" panose="020F0502020204030204" pitchFamily="34" charset="0"/>
                <a:cs typeface="Calibri" panose="020F0502020204030204" pitchFamily="34" charset="0"/>
              </a:rPr>
              <a:t>体系结构</a:t>
            </a:r>
            <a:endParaRPr lang="zh-CN" altLang="en-US" sz="2400" b="1" spc="-38" dirty="0">
              <a:solidFill>
                <a:srgbClr val="3D5663"/>
              </a:solidFill>
              <a:latin typeface="Calibri" panose="020F0502020204030204" pitchFamily="34" charset="0"/>
              <a:cs typeface="Calibri" panose="020F0502020204030204" pitchFamily="34" charset="0"/>
            </a:endParaRPr>
          </a:p>
        </p:txBody>
      </p:sp>
      <p:grpSp>
        <p:nvGrpSpPr>
          <p:cNvPr id="55" name="组合 54"/>
          <p:cNvGrpSpPr/>
          <p:nvPr/>
        </p:nvGrpSpPr>
        <p:grpSpPr>
          <a:xfrm>
            <a:off x="3218815" y="587375"/>
            <a:ext cx="5390515" cy="4186555"/>
            <a:chOff x="5069" y="925"/>
            <a:chExt cx="8489" cy="6593"/>
          </a:xfrm>
        </p:grpSpPr>
        <p:sp>
          <p:nvSpPr>
            <p:cNvPr id="49" name="矩形 48"/>
            <p:cNvSpPr/>
            <p:nvPr/>
          </p:nvSpPr>
          <p:spPr>
            <a:xfrm>
              <a:off x="5069" y="5800"/>
              <a:ext cx="8360" cy="1718"/>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矩形 33"/>
            <p:cNvSpPr/>
            <p:nvPr/>
          </p:nvSpPr>
          <p:spPr>
            <a:xfrm>
              <a:off x="5081" y="925"/>
              <a:ext cx="8349" cy="84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圆角矩形 34"/>
            <p:cNvSpPr/>
            <p:nvPr/>
          </p:nvSpPr>
          <p:spPr>
            <a:xfrm>
              <a:off x="5151" y="1030"/>
              <a:ext cx="5528" cy="63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Application(</a:t>
              </a:r>
              <a:r>
                <a:rPr lang="zh-CN" altLang="en-US"/>
                <a:t>应用程序</a:t>
              </a:r>
              <a:r>
                <a:rPr lang="en-US" altLang="zh-CN"/>
                <a:t>)</a:t>
              </a:r>
              <a:endParaRPr lang="zh-CN" altLang="en-US"/>
            </a:p>
          </p:txBody>
        </p:sp>
        <p:sp>
          <p:nvSpPr>
            <p:cNvPr id="36" name="文本框 35"/>
            <p:cNvSpPr txBox="1"/>
            <p:nvPr/>
          </p:nvSpPr>
          <p:spPr>
            <a:xfrm>
              <a:off x="10536" y="1080"/>
              <a:ext cx="3023" cy="930"/>
            </a:xfrm>
            <a:prstGeom prst="rect">
              <a:avLst/>
            </a:prstGeom>
            <a:noFill/>
          </p:spPr>
          <p:txBody>
            <a:bodyPr wrap="square" rtlCol="0">
              <a:noAutofit/>
            </a:bodyPr>
            <a:p>
              <a:r>
                <a:rPr lang="en-US" altLang="zh-CN"/>
                <a:t>Application(</a:t>
              </a:r>
              <a:r>
                <a:rPr lang="zh-CN" altLang="en-US"/>
                <a:t>应用</a:t>
              </a:r>
              <a:r>
                <a:rPr lang="en-US" altLang="zh-CN"/>
                <a:t>)</a:t>
              </a:r>
              <a:endParaRPr lang="en-US" altLang="zh-CN"/>
            </a:p>
          </p:txBody>
        </p:sp>
        <p:sp>
          <p:nvSpPr>
            <p:cNvPr id="37" name="矩形 36"/>
            <p:cNvSpPr/>
            <p:nvPr/>
          </p:nvSpPr>
          <p:spPr>
            <a:xfrm>
              <a:off x="5081" y="1925"/>
              <a:ext cx="8348" cy="3669"/>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圆角矩形 37"/>
            <p:cNvSpPr/>
            <p:nvPr/>
          </p:nvSpPr>
          <p:spPr>
            <a:xfrm>
              <a:off x="5151" y="2080"/>
              <a:ext cx="5528" cy="57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GAP(</a:t>
              </a:r>
              <a:r>
                <a:rPr lang="zh-CN" altLang="en-US"/>
                <a:t>通用访问规范</a:t>
              </a:r>
              <a:r>
                <a:rPr lang="en-US" altLang="zh-CN"/>
                <a:t>)</a:t>
              </a:r>
              <a:endParaRPr lang="en-US" altLang="zh-CN"/>
            </a:p>
          </p:txBody>
        </p:sp>
        <p:sp>
          <p:nvSpPr>
            <p:cNvPr id="42" name="圆角矩形 41"/>
            <p:cNvSpPr/>
            <p:nvPr/>
          </p:nvSpPr>
          <p:spPr>
            <a:xfrm>
              <a:off x="5151" y="2850"/>
              <a:ext cx="5511" cy="57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GATT(</a:t>
              </a:r>
              <a:r>
                <a:rPr lang="zh-CN" altLang="en-US"/>
                <a:t>通用属性规范</a:t>
              </a:r>
              <a:r>
                <a:rPr lang="en-US" altLang="zh-CN"/>
                <a:t>)</a:t>
              </a:r>
              <a:endParaRPr lang="en-US" altLang="zh-CN"/>
            </a:p>
          </p:txBody>
        </p:sp>
        <p:sp>
          <p:nvSpPr>
            <p:cNvPr id="44" name="圆角矩形 43"/>
            <p:cNvSpPr/>
            <p:nvPr/>
          </p:nvSpPr>
          <p:spPr>
            <a:xfrm>
              <a:off x="5151" y="3620"/>
              <a:ext cx="2570" cy="57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ATT(</a:t>
              </a:r>
              <a:r>
                <a:rPr lang="zh-CN" altLang="en-US"/>
                <a:t>属性协议</a:t>
              </a:r>
              <a:r>
                <a:rPr lang="en-US" altLang="zh-CN"/>
                <a:t>)</a:t>
              </a:r>
              <a:endParaRPr lang="en-US" altLang="zh-CN"/>
            </a:p>
          </p:txBody>
        </p:sp>
        <p:sp>
          <p:nvSpPr>
            <p:cNvPr id="46" name="圆角矩形 45"/>
            <p:cNvSpPr/>
            <p:nvPr/>
          </p:nvSpPr>
          <p:spPr>
            <a:xfrm>
              <a:off x="7851" y="3620"/>
              <a:ext cx="2810" cy="57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SM(</a:t>
              </a:r>
              <a:r>
                <a:rPr lang="zh-CN" altLang="en-US"/>
                <a:t>安全管理器</a:t>
              </a:r>
              <a:r>
                <a:rPr lang="en-US" altLang="zh-CN"/>
                <a:t>)</a:t>
              </a:r>
              <a:endParaRPr lang="en-US" altLang="zh-CN"/>
            </a:p>
          </p:txBody>
        </p:sp>
        <p:sp>
          <p:nvSpPr>
            <p:cNvPr id="47" name="圆角矩形 46"/>
            <p:cNvSpPr/>
            <p:nvPr/>
          </p:nvSpPr>
          <p:spPr>
            <a:xfrm>
              <a:off x="5168" y="4390"/>
              <a:ext cx="5511" cy="85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L2CAP</a:t>
              </a:r>
              <a:endParaRPr lang="en-US" altLang="zh-CN"/>
            </a:p>
            <a:p>
              <a:pPr algn="ctr"/>
              <a:r>
                <a:rPr lang="en-US" altLang="zh-CN"/>
                <a:t>(</a:t>
              </a:r>
              <a:r>
                <a:rPr lang="zh-CN" altLang="en-US"/>
                <a:t>逻辑链路控制和适配协议</a:t>
              </a:r>
              <a:r>
                <a:rPr lang="en-US" altLang="zh-CN"/>
                <a:t>)</a:t>
              </a:r>
              <a:endParaRPr lang="zh-CN" altLang="en-US"/>
            </a:p>
          </p:txBody>
        </p:sp>
        <p:sp>
          <p:nvSpPr>
            <p:cNvPr id="48" name="文本框 47"/>
            <p:cNvSpPr txBox="1"/>
            <p:nvPr/>
          </p:nvSpPr>
          <p:spPr>
            <a:xfrm>
              <a:off x="10982" y="3470"/>
              <a:ext cx="2131" cy="580"/>
            </a:xfrm>
            <a:prstGeom prst="rect">
              <a:avLst/>
            </a:prstGeom>
            <a:noFill/>
          </p:spPr>
          <p:txBody>
            <a:bodyPr wrap="square" rtlCol="0">
              <a:spAutoFit/>
            </a:bodyPr>
            <a:p>
              <a:r>
                <a:rPr lang="en-US" altLang="zh-CN"/>
                <a:t>Host(</a:t>
              </a:r>
              <a:r>
                <a:rPr lang="zh-CN" altLang="en-US"/>
                <a:t>主机</a:t>
              </a:r>
              <a:r>
                <a:rPr lang="en-US" altLang="zh-CN"/>
                <a:t>)</a:t>
              </a:r>
              <a:endParaRPr lang="en-US" altLang="zh-CN"/>
            </a:p>
          </p:txBody>
        </p:sp>
        <p:sp>
          <p:nvSpPr>
            <p:cNvPr id="50" name="圆角矩形 49"/>
            <p:cNvSpPr/>
            <p:nvPr/>
          </p:nvSpPr>
          <p:spPr>
            <a:xfrm>
              <a:off x="5168" y="5345"/>
              <a:ext cx="5511" cy="67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HCI(</a:t>
              </a:r>
              <a:r>
                <a:rPr lang="zh-CN" altLang="en-US"/>
                <a:t>主机控制接口</a:t>
              </a:r>
              <a:r>
                <a:rPr lang="en-US" altLang="zh-CN"/>
                <a:t>)</a:t>
              </a:r>
              <a:endParaRPr lang="zh-CN" altLang="en-US"/>
            </a:p>
          </p:txBody>
        </p:sp>
        <p:sp>
          <p:nvSpPr>
            <p:cNvPr id="51" name="圆角矩形 50"/>
            <p:cNvSpPr/>
            <p:nvPr/>
          </p:nvSpPr>
          <p:spPr>
            <a:xfrm>
              <a:off x="5151" y="6141"/>
              <a:ext cx="5511" cy="57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LL(</a:t>
              </a:r>
              <a:r>
                <a:rPr lang="zh-CN" altLang="en-US"/>
                <a:t>链路层</a:t>
              </a:r>
              <a:r>
                <a:rPr lang="en-US" altLang="zh-CN"/>
                <a:t>)</a:t>
              </a:r>
              <a:endParaRPr lang="en-US" altLang="zh-CN"/>
            </a:p>
          </p:txBody>
        </p:sp>
        <p:sp>
          <p:nvSpPr>
            <p:cNvPr id="52" name="圆角矩形 51"/>
            <p:cNvSpPr/>
            <p:nvPr/>
          </p:nvSpPr>
          <p:spPr>
            <a:xfrm>
              <a:off x="5150" y="6837"/>
              <a:ext cx="2701" cy="57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PHY(</a:t>
              </a:r>
              <a:r>
                <a:rPr lang="zh-CN" altLang="en-US"/>
                <a:t>物理层</a:t>
              </a:r>
              <a:r>
                <a:rPr lang="en-US" altLang="zh-CN"/>
                <a:t>)</a:t>
              </a:r>
              <a:endParaRPr lang="en-US" altLang="zh-CN"/>
            </a:p>
          </p:txBody>
        </p:sp>
        <p:sp>
          <p:nvSpPr>
            <p:cNvPr id="53" name="圆角矩形 52"/>
            <p:cNvSpPr/>
            <p:nvPr/>
          </p:nvSpPr>
          <p:spPr>
            <a:xfrm>
              <a:off x="8061" y="6837"/>
              <a:ext cx="2600" cy="570"/>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直接测试</a:t>
              </a:r>
              <a:r>
                <a:rPr lang="zh-CN" altLang="en-US"/>
                <a:t>模式</a:t>
              </a:r>
              <a:endParaRPr lang="zh-CN" altLang="en-US"/>
            </a:p>
          </p:txBody>
        </p:sp>
        <p:sp>
          <p:nvSpPr>
            <p:cNvPr id="54" name="文本框 53"/>
            <p:cNvSpPr txBox="1"/>
            <p:nvPr/>
          </p:nvSpPr>
          <p:spPr>
            <a:xfrm>
              <a:off x="10871" y="6141"/>
              <a:ext cx="2232" cy="1016"/>
            </a:xfrm>
            <a:prstGeom prst="rect">
              <a:avLst/>
            </a:prstGeom>
            <a:noFill/>
          </p:spPr>
          <p:txBody>
            <a:bodyPr wrap="square" rtlCol="0">
              <a:spAutoFit/>
            </a:bodyPr>
            <a:p>
              <a:pPr algn="ctr"/>
              <a:r>
                <a:rPr lang="en-US" altLang="zh-CN"/>
                <a:t>Controller</a:t>
              </a:r>
              <a:endParaRPr lang="en-US" altLang="zh-CN"/>
            </a:p>
            <a:p>
              <a:pPr algn="ctr"/>
              <a:r>
                <a:rPr lang="en-US" altLang="zh-CN"/>
                <a:t>(</a:t>
              </a:r>
              <a:r>
                <a:rPr lang="zh-CN" altLang="en-US"/>
                <a:t>控制器</a:t>
              </a:r>
              <a:r>
                <a:rPr lang="en-US" altLang="zh-CN"/>
                <a:t>)</a:t>
              </a:r>
              <a:endParaRPr lang="zh-CN" altLang="en-US"/>
            </a:p>
          </p:txBody>
        </p:sp>
      </p:grpSp>
      <p:sp>
        <p:nvSpPr>
          <p:cNvPr id="2" name="上凸带形 1"/>
          <p:cNvSpPr/>
          <p:nvPr/>
        </p:nvSpPr>
        <p:spPr>
          <a:xfrm>
            <a:off x="685800" y="685800"/>
            <a:ext cx="1775460" cy="372110"/>
          </a:xfrm>
          <a:prstGeom prst="ribbon2">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控制器</a:t>
            </a:r>
            <a:endParaRPr lang="zh-CN" altLang="en-US"/>
          </a:p>
        </p:txBody>
      </p:sp>
      <p:sp>
        <p:nvSpPr>
          <p:cNvPr id="3" name="文本框 2"/>
          <p:cNvSpPr txBox="1"/>
          <p:nvPr/>
        </p:nvSpPr>
        <p:spPr>
          <a:xfrm>
            <a:off x="106045" y="1123950"/>
            <a:ext cx="3048000" cy="92202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sym typeface="+mn-ea"/>
              </a:rPr>
              <a:t>发送和接收无线电信号并翻译成携带信息的数据包</a:t>
            </a:r>
            <a:endParaRPr lang="zh-CN" altLang="en-US" b="1">
              <a:latin typeface="宋体" panose="02010600030101010101" pitchFamily="2" charset="-122"/>
              <a:ea typeface="宋体" panose="02010600030101010101" pitchFamily="2" charset="-122"/>
            </a:endParaRPr>
          </a:p>
          <a:p>
            <a:endParaRPr lang="zh-CN" altLang="en-US"/>
          </a:p>
        </p:txBody>
      </p:sp>
      <p:sp>
        <p:nvSpPr>
          <p:cNvPr id="5" name="上凸带形 4"/>
          <p:cNvSpPr/>
          <p:nvPr/>
        </p:nvSpPr>
        <p:spPr>
          <a:xfrm>
            <a:off x="685800" y="1926590"/>
            <a:ext cx="1775460" cy="372110"/>
          </a:xfrm>
          <a:prstGeom prst="ribbon2">
            <a:avLst/>
          </a:prstGeom>
          <a:solidFill>
            <a:schemeClr val="accent2"/>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主机</a:t>
            </a:r>
            <a:endParaRPr lang="zh-CN" altLang="en-US"/>
          </a:p>
        </p:txBody>
      </p:sp>
      <p:sp>
        <p:nvSpPr>
          <p:cNvPr id="6" name="文本框 5"/>
          <p:cNvSpPr txBox="1"/>
          <p:nvPr/>
        </p:nvSpPr>
        <p:spPr>
          <a:xfrm>
            <a:off x="117475" y="2349500"/>
            <a:ext cx="3048000" cy="92202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sym typeface="+mn-ea"/>
              </a:rPr>
              <a:t>软件栈，管理设备间通信及如何利用无线电提供服务</a:t>
            </a:r>
            <a:endParaRPr lang="zh-CN" altLang="en-US" b="1">
              <a:latin typeface="宋体" panose="02010600030101010101" pitchFamily="2" charset="-122"/>
              <a:ea typeface="宋体" panose="02010600030101010101" pitchFamily="2" charset="-122"/>
            </a:endParaRPr>
          </a:p>
          <a:p>
            <a:endParaRPr lang="zh-CN" altLang="en-US"/>
          </a:p>
        </p:txBody>
      </p:sp>
      <p:sp>
        <p:nvSpPr>
          <p:cNvPr id="7" name="上凸带形 6"/>
          <p:cNvSpPr/>
          <p:nvPr/>
        </p:nvSpPr>
        <p:spPr>
          <a:xfrm>
            <a:off x="685800" y="3154045"/>
            <a:ext cx="1775460" cy="372110"/>
          </a:xfrm>
          <a:prstGeom prst="ribbon2">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应用</a:t>
            </a:r>
            <a:endParaRPr lang="zh-CN" altLang="en-US"/>
          </a:p>
        </p:txBody>
      </p:sp>
      <p:sp>
        <p:nvSpPr>
          <p:cNvPr id="8" name="文本框 7"/>
          <p:cNvSpPr txBox="1"/>
          <p:nvPr/>
        </p:nvSpPr>
        <p:spPr>
          <a:xfrm>
            <a:off x="90170" y="3637915"/>
            <a:ext cx="3048000" cy="92202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sym typeface="+mn-ea"/>
              </a:rPr>
              <a:t>使用软件栈，使控制器实现用户示例</a:t>
            </a:r>
            <a:endParaRPr lang="zh-CN" altLang="en-US" b="1">
              <a:latin typeface="宋体" panose="02010600030101010101" pitchFamily="2" charset="-122"/>
              <a:ea typeface="宋体" panose="02010600030101010101" pitchFamily="2" charset="-122"/>
            </a:endParaRPr>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PART 02</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9" name="组合 8"/>
          <p:cNvGrpSpPr/>
          <p:nvPr/>
        </p:nvGrpSpPr>
        <p:grpSpPr>
          <a:xfrm>
            <a:off x="1203325" y="1275715"/>
            <a:ext cx="6307590" cy="2503805"/>
            <a:chOff x="3272" y="3874"/>
            <a:chExt cx="12612" cy="4373"/>
          </a:xfrm>
        </p:grpSpPr>
        <p:pic>
          <p:nvPicPr>
            <p:cNvPr id="10" name="图片 9" descr="图形用户界面, 应用程序&#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38" y="3874"/>
              <a:ext cx="6546" cy="4373"/>
            </a:xfrm>
            <a:prstGeom prst="rect">
              <a:avLst/>
            </a:prstGeom>
          </p:spPr>
        </p:pic>
        <p:sp>
          <p:nvSpPr>
            <p:cNvPr id="11" name="圆角矩形 10"/>
            <p:cNvSpPr/>
            <p:nvPr/>
          </p:nvSpPr>
          <p:spPr>
            <a:xfrm>
              <a:off x="3272" y="7403"/>
              <a:ext cx="1134" cy="7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endParaRPr lang="zh-CN" altLang="en-US" sz="600"/>
            </a:p>
          </p:txBody>
        </p:sp>
        <p:sp>
          <p:nvSpPr>
            <p:cNvPr id="12" name="文本框 11"/>
            <p:cNvSpPr txBox="1"/>
            <p:nvPr/>
          </p:nvSpPr>
          <p:spPr>
            <a:xfrm>
              <a:off x="3272" y="5709"/>
              <a:ext cx="6666" cy="1581"/>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rPr>
                <a:t>GAP</a:t>
              </a:r>
              <a:endPar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endParaRPr>
            </a:p>
          </p:txBody>
        </p:sp>
        <p:sp>
          <p:nvSpPr>
            <p:cNvPr id="13" name="矩形 12"/>
            <p:cNvSpPr/>
            <p:nvPr/>
          </p:nvSpPr>
          <p:spPr>
            <a:xfrm>
              <a:off x="3272" y="7642"/>
              <a:ext cx="5019" cy="4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通用访问</a:t>
              </a:r>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规范</a:t>
              </a:r>
              <a:endPar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14" name="文本框 13"/>
            <p:cNvSpPr txBox="1"/>
            <p:nvPr/>
          </p:nvSpPr>
          <p:spPr>
            <a:xfrm>
              <a:off x="3272" y="4070"/>
              <a:ext cx="2915" cy="1888"/>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rPr>
                <a:t>02</a:t>
              </a:r>
              <a:endPar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pic>
          <p:nvPicPr>
            <p:cNvPr id="15" name="图片 14" descr="图片包含 图标&#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431409">
              <a:off x="13750" y="4000"/>
              <a:ext cx="1158" cy="491"/>
            </a:xfrm>
            <a:prstGeom prst="rect">
              <a:avLst/>
            </a:prstGeom>
          </p:spPr>
        </p:pic>
        <p:pic>
          <p:nvPicPr>
            <p:cNvPr id="16" name="图片 15" descr="形状&#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8" y="5085"/>
              <a:ext cx="264" cy="252"/>
            </a:xfrm>
            <a:prstGeom prst="rect">
              <a:avLst/>
            </a:prstGeom>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 y="4497"/>
              <a:ext cx="193" cy="185"/>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GAP</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12" name="圆角矩形 11"/>
          <p:cNvSpPr/>
          <p:nvPr/>
        </p:nvSpPr>
        <p:spPr>
          <a:xfrm>
            <a:off x="2552700" y="726440"/>
            <a:ext cx="3792855" cy="482600"/>
          </a:xfrm>
          <a:prstGeom prst="roundRect">
            <a:avLst>
              <a:gd name="adj" fmla="val 50000"/>
            </a:avLst>
          </a:prstGeom>
          <a:solidFill>
            <a:schemeClr val="bg1"/>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 name="图片 13" descr="图标&#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58002" y="681138"/>
            <a:ext cx="749569" cy="567531"/>
          </a:xfrm>
          <a:prstGeom prst="rect">
            <a:avLst/>
          </a:prstGeom>
        </p:spPr>
      </p:pic>
      <p:sp>
        <p:nvSpPr>
          <p:cNvPr id="15" name="文本框 14"/>
          <p:cNvSpPr txBox="1"/>
          <p:nvPr/>
        </p:nvSpPr>
        <p:spPr>
          <a:xfrm>
            <a:off x="3456305" y="726440"/>
            <a:ext cx="3048000" cy="460375"/>
          </a:xfrm>
          <a:prstGeom prst="rect">
            <a:avLst/>
          </a:prstGeom>
          <a:noFill/>
        </p:spPr>
        <p:txBody>
          <a:bodyPr wrap="square" rtlCol="0">
            <a:spAutoFit/>
          </a:bodyPr>
          <a:p>
            <a:r>
              <a:rPr lang="zh-CN" altLang="en-US" sz="2400" b="1" i="1">
                <a:latin typeface="宋体" panose="02010600030101010101" pitchFamily="2" charset="-122"/>
                <a:ea typeface="宋体" panose="02010600030101010101" pitchFamily="2" charset="-122"/>
                <a:cs typeface="宋体" panose="02010600030101010101" pitchFamily="2" charset="-122"/>
              </a:rPr>
              <a:t>什么是</a:t>
            </a:r>
            <a:r>
              <a:rPr lang="en-US" altLang="zh-CN" sz="2400" b="1" i="1">
                <a:latin typeface="宋体" panose="02010600030101010101" pitchFamily="2" charset="-122"/>
                <a:ea typeface="宋体" panose="02010600030101010101" pitchFamily="2" charset="-122"/>
                <a:cs typeface="宋体" panose="02010600030101010101" pitchFamily="2" charset="-122"/>
              </a:rPr>
              <a:t>GAP</a:t>
            </a:r>
            <a:r>
              <a:rPr lang="zh-CN" altLang="en-US" sz="2400" b="1" i="1">
                <a:latin typeface="宋体" panose="02010600030101010101" pitchFamily="2" charset="-122"/>
                <a:ea typeface="宋体" panose="02010600030101010101" pitchFamily="2" charset="-122"/>
                <a:cs typeface="宋体" panose="02010600030101010101" pitchFamily="2" charset="-122"/>
              </a:rPr>
              <a:t>？</a:t>
            </a:r>
            <a:endParaRPr lang="zh-CN" altLang="en-US" sz="2400" b="1" i="1">
              <a:latin typeface="宋体" panose="02010600030101010101" pitchFamily="2" charset="-122"/>
              <a:ea typeface="宋体" panose="02010600030101010101" pitchFamily="2" charset="-122"/>
              <a:cs typeface="宋体" panose="02010600030101010101" pitchFamily="2" charset="-122"/>
            </a:endParaRPr>
          </a:p>
        </p:txBody>
      </p:sp>
      <p:grpSp>
        <p:nvGrpSpPr>
          <p:cNvPr id="22" name="组合 21"/>
          <p:cNvGrpSpPr/>
          <p:nvPr/>
        </p:nvGrpSpPr>
        <p:grpSpPr>
          <a:xfrm>
            <a:off x="1748790" y="1600200"/>
            <a:ext cx="5401310" cy="2756535"/>
            <a:chOff x="2905" y="2541"/>
            <a:chExt cx="8506" cy="4341"/>
          </a:xfrm>
        </p:grpSpPr>
        <p:grpSp>
          <p:nvGrpSpPr>
            <p:cNvPr id="18" name="组合 17"/>
            <p:cNvGrpSpPr/>
            <p:nvPr>
              <p:custDataLst>
                <p:tags r:id="rId2"/>
              </p:custDataLst>
            </p:nvPr>
          </p:nvGrpSpPr>
          <p:grpSpPr>
            <a:xfrm>
              <a:off x="2905" y="2541"/>
              <a:ext cx="8507" cy="4321"/>
              <a:chOff x="4455" y="2088"/>
              <a:chExt cx="8019" cy="3962"/>
            </a:xfrm>
          </p:grpSpPr>
          <p:sp>
            <p:nvSpPr>
              <p:cNvPr id="25" name="任意多边形 24"/>
              <p:cNvSpPr/>
              <p:nvPr>
                <p:custDataLst>
                  <p:tags r:id="rId3"/>
                </p:custDataLst>
              </p:nvPr>
            </p:nvSpPr>
            <p:spPr>
              <a:xfrm>
                <a:off x="10172" y="2615"/>
                <a:ext cx="2302" cy="3435"/>
              </a:xfrm>
              <a:custGeom>
                <a:avLst/>
                <a:gdLst>
                  <a:gd name="adj" fmla="val 910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2906" h="4336">
                    <a:moveTo>
                      <a:pt x="265" y="0"/>
                    </a:moveTo>
                    <a:lnTo>
                      <a:pt x="801" y="0"/>
                    </a:lnTo>
                    <a:lnTo>
                      <a:pt x="802" y="15"/>
                    </a:lnTo>
                    <a:cubicBezTo>
                      <a:pt x="828" y="354"/>
                      <a:pt x="1111" y="621"/>
                      <a:pt x="1457" y="621"/>
                    </a:cubicBezTo>
                    <a:cubicBezTo>
                      <a:pt x="1802" y="621"/>
                      <a:pt x="2085" y="354"/>
                      <a:pt x="2111" y="15"/>
                    </a:cubicBezTo>
                    <a:lnTo>
                      <a:pt x="2112" y="0"/>
                    </a:lnTo>
                    <a:lnTo>
                      <a:pt x="2641" y="0"/>
                    </a:lnTo>
                    <a:cubicBezTo>
                      <a:pt x="2788" y="0"/>
                      <a:pt x="2906" y="118"/>
                      <a:pt x="2906" y="265"/>
                    </a:cubicBezTo>
                    <a:lnTo>
                      <a:pt x="2906" y="4071"/>
                    </a:lnTo>
                    <a:cubicBezTo>
                      <a:pt x="2906" y="4218"/>
                      <a:pt x="2788" y="4336"/>
                      <a:pt x="2641" y="4336"/>
                    </a:cubicBezTo>
                    <a:lnTo>
                      <a:pt x="265" y="4336"/>
                    </a:lnTo>
                    <a:cubicBezTo>
                      <a:pt x="118" y="4336"/>
                      <a:pt x="0" y="4218"/>
                      <a:pt x="0" y="4071"/>
                    </a:cubicBezTo>
                    <a:lnTo>
                      <a:pt x="0" y="265"/>
                    </a:lnTo>
                    <a:cubicBezTo>
                      <a:pt x="0" y="118"/>
                      <a:pt x="118" y="0"/>
                      <a:pt x="265" y="0"/>
                    </a:cubicBezTo>
                    <a:close/>
                  </a:path>
                </a:pathLst>
              </a:custGeom>
              <a:gradFill>
                <a:gsLst>
                  <a:gs pos="0">
                    <a:schemeClr val="accent2">
                      <a:lumMod val="90000"/>
                      <a:lumOff val="10000"/>
                    </a:schemeClr>
                  </a:gs>
                  <a:gs pos="100000">
                    <a:schemeClr val="accent2"/>
                  </a:gs>
                </a:gsLst>
                <a:lin ang="2700000" scaled="0"/>
              </a:gradFill>
              <a:ln w="12700">
                <a:miter lim="400000"/>
              </a:ln>
              <a:effectLst>
                <a:innerShdw blurRad="317500" dist="50800" dir="16200000">
                  <a:schemeClr val="accent4">
                    <a:lumMod val="20000"/>
                    <a:lumOff val="80000"/>
                    <a:alpha val="30000"/>
                  </a:schemeClr>
                </a:innerShdw>
              </a:effectLst>
            </p:spPr>
            <p:txBody>
              <a:bodyPr wrap="square" lIns="71437" tIns="71437" rIns="71437" bIns="71437" rtlCol="0" anchor="ctr">
                <a:noAutofit/>
              </a:bodyPr>
              <a:lstStyle/>
              <a:p>
                <a:pPr lvl="0" algn="l">
                  <a:buClrTx/>
                  <a:buSzTx/>
                  <a:buFontTx/>
                </a:pPr>
                <a:endParaRPr sz="2800" u="sng" dirty="0">
                  <a:latin typeface="+mj-lt"/>
                  <a:ea typeface="微软雅黑" panose="020B0503020204020204" charset="-122"/>
                  <a:cs typeface="微软雅黑" panose="020B0503020204020204" charset="-122"/>
                  <a:sym typeface="+mn-ea"/>
                </a:endParaRPr>
              </a:p>
            </p:txBody>
          </p:sp>
          <p:sp>
            <p:nvSpPr>
              <p:cNvPr id="41" name="任意多边形 40"/>
              <p:cNvSpPr/>
              <p:nvPr>
                <p:custDataLst>
                  <p:tags r:id="rId4"/>
                </p:custDataLst>
              </p:nvPr>
            </p:nvSpPr>
            <p:spPr>
              <a:xfrm>
                <a:off x="7314" y="2615"/>
                <a:ext cx="2302" cy="3435"/>
              </a:xfrm>
              <a:custGeom>
                <a:avLst/>
                <a:gdLst>
                  <a:gd name="adj" fmla="val 910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2906" h="4336">
                    <a:moveTo>
                      <a:pt x="265" y="0"/>
                    </a:moveTo>
                    <a:lnTo>
                      <a:pt x="801" y="0"/>
                    </a:lnTo>
                    <a:lnTo>
                      <a:pt x="802" y="15"/>
                    </a:lnTo>
                    <a:cubicBezTo>
                      <a:pt x="828" y="354"/>
                      <a:pt x="1111" y="621"/>
                      <a:pt x="1457" y="621"/>
                    </a:cubicBezTo>
                    <a:cubicBezTo>
                      <a:pt x="1802" y="621"/>
                      <a:pt x="2085" y="354"/>
                      <a:pt x="2111" y="15"/>
                    </a:cubicBezTo>
                    <a:lnTo>
                      <a:pt x="2112" y="0"/>
                    </a:lnTo>
                    <a:lnTo>
                      <a:pt x="2641" y="0"/>
                    </a:lnTo>
                    <a:cubicBezTo>
                      <a:pt x="2788" y="0"/>
                      <a:pt x="2906" y="118"/>
                      <a:pt x="2906" y="265"/>
                    </a:cubicBezTo>
                    <a:lnTo>
                      <a:pt x="2906" y="4071"/>
                    </a:lnTo>
                    <a:cubicBezTo>
                      <a:pt x="2906" y="4218"/>
                      <a:pt x="2788" y="4336"/>
                      <a:pt x="2641" y="4336"/>
                    </a:cubicBezTo>
                    <a:lnTo>
                      <a:pt x="265" y="4336"/>
                    </a:lnTo>
                    <a:cubicBezTo>
                      <a:pt x="118" y="4336"/>
                      <a:pt x="0" y="4218"/>
                      <a:pt x="0" y="4071"/>
                    </a:cubicBezTo>
                    <a:lnTo>
                      <a:pt x="0" y="265"/>
                    </a:lnTo>
                    <a:cubicBezTo>
                      <a:pt x="0" y="118"/>
                      <a:pt x="118" y="0"/>
                      <a:pt x="265" y="0"/>
                    </a:cubicBezTo>
                    <a:close/>
                  </a:path>
                </a:pathLst>
              </a:custGeom>
              <a:solidFill>
                <a:schemeClr val="accent5"/>
              </a:solidFill>
              <a:ln w="12700">
                <a:solidFill>
                  <a:schemeClr val="accent5">
                    <a:lumMod val="75000"/>
                  </a:schemeClr>
                </a:solidFill>
                <a:miter lim="400000"/>
              </a:ln>
              <a:effectLst>
                <a:innerShdw blurRad="317500" dist="50800" dir="16200000">
                  <a:schemeClr val="accent1">
                    <a:lumMod val="20000"/>
                    <a:lumOff val="80000"/>
                    <a:alpha val="30000"/>
                  </a:schemeClr>
                </a:innerShdw>
              </a:effectLst>
            </p:spPr>
            <p:txBody>
              <a:bodyPr wrap="square" lIns="71437" tIns="71437" rIns="71437" bIns="71437"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sz="2800" dirty="0">
                  <a:latin typeface="+mj-lt"/>
                  <a:ea typeface="微软雅黑" panose="020B0503020204020204" charset="-122"/>
                  <a:cs typeface="微软雅黑" panose="020B0503020204020204" charset="-122"/>
                  <a:sym typeface="+mn-ea"/>
                </a:endParaRPr>
              </a:p>
            </p:txBody>
          </p:sp>
          <p:sp>
            <p:nvSpPr>
              <p:cNvPr id="56" name="任意多边形 55"/>
              <p:cNvSpPr/>
              <p:nvPr>
                <p:custDataLst>
                  <p:tags r:id="rId5"/>
                </p:custDataLst>
              </p:nvPr>
            </p:nvSpPr>
            <p:spPr>
              <a:xfrm>
                <a:off x="4455" y="2614"/>
                <a:ext cx="2302" cy="3435"/>
              </a:xfrm>
              <a:custGeom>
                <a:avLst/>
                <a:gdLst>
                  <a:gd name="adj" fmla="val 910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2906" h="4336">
                    <a:moveTo>
                      <a:pt x="265" y="0"/>
                    </a:moveTo>
                    <a:lnTo>
                      <a:pt x="801" y="0"/>
                    </a:lnTo>
                    <a:lnTo>
                      <a:pt x="802" y="15"/>
                    </a:lnTo>
                    <a:cubicBezTo>
                      <a:pt x="828" y="354"/>
                      <a:pt x="1111" y="621"/>
                      <a:pt x="1457" y="621"/>
                    </a:cubicBezTo>
                    <a:cubicBezTo>
                      <a:pt x="1802" y="621"/>
                      <a:pt x="2085" y="354"/>
                      <a:pt x="2111" y="15"/>
                    </a:cubicBezTo>
                    <a:lnTo>
                      <a:pt x="2112" y="0"/>
                    </a:lnTo>
                    <a:lnTo>
                      <a:pt x="2641" y="0"/>
                    </a:lnTo>
                    <a:cubicBezTo>
                      <a:pt x="2788" y="0"/>
                      <a:pt x="2906" y="118"/>
                      <a:pt x="2906" y="265"/>
                    </a:cubicBezTo>
                    <a:lnTo>
                      <a:pt x="2906" y="4071"/>
                    </a:lnTo>
                    <a:cubicBezTo>
                      <a:pt x="2906" y="4218"/>
                      <a:pt x="2788" y="4336"/>
                      <a:pt x="2641" y="4336"/>
                    </a:cubicBezTo>
                    <a:lnTo>
                      <a:pt x="265" y="4336"/>
                    </a:lnTo>
                    <a:cubicBezTo>
                      <a:pt x="118" y="4336"/>
                      <a:pt x="0" y="4218"/>
                      <a:pt x="0" y="4071"/>
                    </a:cubicBezTo>
                    <a:lnTo>
                      <a:pt x="0" y="265"/>
                    </a:lnTo>
                    <a:cubicBezTo>
                      <a:pt x="0" y="118"/>
                      <a:pt x="118" y="0"/>
                      <a:pt x="265" y="0"/>
                    </a:cubicBezTo>
                    <a:close/>
                  </a:path>
                </a:pathLst>
              </a:custGeom>
              <a:gradFill>
                <a:gsLst>
                  <a:gs pos="0">
                    <a:schemeClr val="accent2">
                      <a:lumMod val="90000"/>
                      <a:lumOff val="10000"/>
                    </a:schemeClr>
                  </a:gs>
                  <a:gs pos="100000">
                    <a:schemeClr val="accent2"/>
                  </a:gs>
                </a:gsLst>
                <a:lin ang="2700000" scaled="0"/>
              </a:gradFill>
              <a:ln w="12700">
                <a:miter lim="400000"/>
              </a:ln>
              <a:effectLst>
                <a:innerShdw blurRad="317500" dist="50800" dir="16200000">
                  <a:schemeClr val="accent4">
                    <a:lumMod val="20000"/>
                    <a:lumOff val="80000"/>
                    <a:alpha val="30000"/>
                  </a:schemeClr>
                </a:innerShdw>
              </a:effectLst>
            </p:spPr>
            <p:txBody>
              <a:bodyPr wrap="square" lIns="71437" tIns="71437" rIns="71437" bIns="71437" rtlCol="0" anchor="ctr">
                <a:noAutofit/>
              </a:bodyPr>
              <a:lstStyle/>
              <a:p>
                <a:pPr lvl="0" algn="l">
                  <a:buClrTx/>
                  <a:buSzTx/>
                  <a:buFontTx/>
                </a:pPr>
                <a:endParaRPr sz="2800" u="sng" dirty="0">
                  <a:latin typeface="+mj-lt"/>
                  <a:ea typeface="微软雅黑" panose="020B0503020204020204" charset="-122"/>
                  <a:cs typeface="微软雅黑" panose="020B0503020204020204" charset="-122"/>
                  <a:sym typeface="+mn-ea"/>
                </a:endParaRPr>
              </a:p>
            </p:txBody>
          </p:sp>
          <p:sp>
            <p:nvSpPr>
              <p:cNvPr id="57" name="Shape 501"/>
              <p:cNvSpPr/>
              <p:nvPr>
                <p:custDataLst>
                  <p:tags r:id="rId6"/>
                </p:custDataLst>
              </p:nvPr>
            </p:nvSpPr>
            <p:spPr>
              <a:xfrm>
                <a:off x="8029" y="2088"/>
                <a:ext cx="871" cy="873"/>
              </a:xfrm>
              <a:prstGeom prst="ellipse">
                <a:avLst/>
              </a:prstGeom>
              <a:solidFill>
                <a:schemeClr val="accent5"/>
              </a:solidFill>
              <a:ln w="12700">
                <a:miter lim="400000"/>
              </a:ln>
              <a:effectLst>
                <a:innerShdw blurRad="317500" dist="50800" dir="16200000">
                  <a:schemeClr val="accent4">
                    <a:lumMod val="20000"/>
                    <a:lumOff val="80000"/>
                    <a:alpha val="30000"/>
                  </a:schemeClr>
                </a:innerShdw>
              </a:effectLst>
            </p:spPr>
            <p:txBody>
              <a:bodyPr lIns="71437" tIns="71437" rIns="71437" bIns="71437" anchor="ctr">
                <a:noAutofit/>
              </a:bodyPr>
              <a:lstStyle/>
              <a:p>
                <a:pPr lvl="0" algn="l">
                  <a:buClrTx/>
                  <a:buSzTx/>
                  <a:buFontTx/>
                </a:pPr>
                <a:r>
                  <a:rPr lang="en-US" sz="2800" u="sng" dirty="0">
                    <a:latin typeface="+mj-lt"/>
                    <a:ea typeface="微软雅黑" panose="020B0503020204020204" charset="-122"/>
                    <a:cs typeface="微软雅黑" panose="020B0503020204020204" charset="-122"/>
                    <a:sym typeface="微软雅黑" panose="020B0503020204020204" charset="-122"/>
                  </a:rPr>
                  <a:t>2</a:t>
                </a:r>
                <a:endParaRPr lang="en-US" sz="2800" u="sng" dirty="0">
                  <a:latin typeface="+mj-lt"/>
                  <a:ea typeface="微软雅黑" panose="020B0503020204020204" charset="-122"/>
                  <a:cs typeface="微软雅黑" panose="020B0503020204020204" charset="-122"/>
                  <a:sym typeface="微软雅黑" panose="020B0503020204020204" charset="-122"/>
                </a:endParaRPr>
              </a:p>
            </p:txBody>
          </p:sp>
          <p:sp>
            <p:nvSpPr>
              <p:cNvPr id="16" name="Shape 501"/>
              <p:cNvSpPr/>
              <p:nvPr>
                <p:custDataLst>
                  <p:tags r:id="rId7"/>
                </p:custDataLst>
              </p:nvPr>
            </p:nvSpPr>
            <p:spPr>
              <a:xfrm>
                <a:off x="5170" y="2088"/>
                <a:ext cx="871" cy="873"/>
              </a:xfrm>
              <a:prstGeom prst="ellipse">
                <a:avLst/>
              </a:prstGeom>
              <a:gradFill>
                <a:gsLst>
                  <a:gs pos="0">
                    <a:schemeClr val="accent2">
                      <a:lumMod val="90000"/>
                      <a:lumOff val="10000"/>
                    </a:schemeClr>
                  </a:gs>
                  <a:gs pos="100000">
                    <a:schemeClr val="accent2"/>
                  </a:gs>
                </a:gsLst>
                <a:lin ang="2700000" scaled="0"/>
              </a:gradFill>
              <a:ln w="12700">
                <a:miter lim="400000"/>
              </a:ln>
              <a:effectLst>
                <a:innerShdw blurRad="317500" dist="50800" dir="16200000">
                  <a:schemeClr val="accent4">
                    <a:lumMod val="20000"/>
                    <a:lumOff val="80000"/>
                    <a:alpha val="30000"/>
                  </a:schemeClr>
                </a:innerShdw>
              </a:effectLst>
            </p:spPr>
            <p:txBody>
              <a:bodyPr lIns="71437" tIns="71437" rIns="71437" bIns="71437" anchor="ctr">
                <a:noAutofit/>
              </a:bodyPr>
              <a:lstStyle/>
              <a:p>
                <a:pPr lvl="0" algn="l">
                  <a:buClrTx/>
                  <a:buSzTx/>
                  <a:buFontTx/>
                </a:pPr>
                <a:r>
                  <a:rPr lang="en-US" sz="2800" u="sng" dirty="0">
                    <a:latin typeface="+mj-lt"/>
                    <a:ea typeface="微软雅黑" panose="020B0503020204020204" charset="-122"/>
                    <a:cs typeface="微软雅黑" panose="020B0503020204020204" charset="-122"/>
                    <a:sym typeface="微软雅黑" panose="020B0503020204020204" charset="-122"/>
                  </a:rPr>
                  <a:t>1</a:t>
                </a:r>
                <a:endParaRPr lang="en-US" sz="2800" u="sng" dirty="0">
                  <a:latin typeface="+mj-lt"/>
                  <a:ea typeface="微软雅黑" panose="020B0503020204020204" charset="-122"/>
                  <a:cs typeface="微软雅黑" panose="020B0503020204020204" charset="-122"/>
                  <a:sym typeface="微软雅黑" panose="020B0503020204020204" charset="-122"/>
                </a:endParaRPr>
              </a:p>
            </p:txBody>
          </p:sp>
          <p:sp>
            <p:nvSpPr>
              <p:cNvPr id="17" name="Shape 501"/>
              <p:cNvSpPr/>
              <p:nvPr>
                <p:custDataLst>
                  <p:tags r:id="rId8"/>
                </p:custDataLst>
              </p:nvPr>
            </p:nvSpPr>
            <p:spPr>
              <a:xfrm>
                <a:off x="10885" y="2088"/>
                <a:ext cx="871" cy="873"/>
              </a:xfrm>
              <a:prstGeom prst="ellipse">
                <a:avLst/>
              </a:prstGeom>
              <a:gradFill>
                <a:gsLst>
                  <a:gs pos="0">
                    <a:schemeClr val="accent2">
                      <a:lumMod val="90000"/>
                      <a:lumOff val="10000"/>
                    </a:schemeClr>
                  </a:gs>
                  <a:gs pos="100000">
                    <a:schemeClr val="accent2"/>
                  </a:gs>
                </a:gsLst>
                <a:lin ang="2700000" scaled="0"/>
              </a:gradFill>
              <a:ln w="12700">
                <a:miter lim="400000"/>
              </a:ln>
              <a:effectLst>
                <a:innerShdw blurRad="317500" dist="50800" dir="16200000">
                  <a:schemeClr val="accent4">
                    <a:lumMod val="20000"/>
                    <a:lumOff val="80000"/>
                    <a:alpha val="30000"/>
                  </a:schemeClr>
                </a:innerShdw>
              </a:effectLst>
            </p:spPr>
            <p:txBody>
              <a:bodyPr lIns="71437" tIns="71437" rIns="71437" bIns="71437" anchor="ctr">
                <a:noAutofit/>
              </a:bodyPr>
              <a:lstStyle/>
              <a:p>
                <a:pPr lvl="0" algn="l">
                  <a:buClrTx/>
                  <a:buSzTx/>
                  <a:buFontTx/>
                </a:pPr>
                <a:r>
                  <a:rPr lang="en-US" sz="2800" u="sng" dirty="0">
                    <a:latin typeface="+mj-lt"/>
                    <a:ea typeface="微软雅黑" panose="020B0503020204020204" charset="-122"/>
                    <a:cs typeface="微软雅黑" panose="020B0503020204020204" charset="-122"/>
                    <a:sym typeface="微软雅黑" panose="020B0503020204020204" charset="-122"/>
                  </a:rPr>
                  <a:t>3</a:t>
                </a:r>
                <a:endParaRPr lang="en-US" sz="2800" u="sng" dirty="0">
                  <a:latin typeface="+mj-lt"/>
                  <a:ea typeface="微软雅黑" panose="020B0503020204020204" charset="-122"/>
                  <a:cs typeface="微软雅黑" panose="020B0503020204020204" charset="-122"/>
                  <a:sym typeface="微软雅黑" panose="020B0503020204020204" charset="-122"/>
                </a:endParaRPr>
              </a:p>
            </p:txBody>
          </p:sp>
        </p:grpSp>
        <p:sp>
          <p:nvSpPr>
            <p:cNvPr id="19" name="文本框 18"/>
            <p:cNvSpPr txBox="1"/>
            <p:nvPr/>
          </p:nvSpPr>
          <p:spPr>
            <a:xfrm>
              <a:off x="2971" y="3830"/>
              <a:ext cx="2377" cy="2157"/>
            </a:xfrm>
            <a:prstGeom prst="rect">
              <a:avLst/>
            </a:prstGeom>
            <a:noFill/>
          </p:spPr>
          <p:txBody>
            <a:bodyPr wrap="square" rtlCol="0">
              <a:noAutofit/>
            </a:bodyPr>
            <a:p>
              <a:r>
                <a:rPr lang="zh-CN" altLang="en-US" sz="2000" b="1">
                  <a:latin typeface="宋体" panose="02010600030101010101" pitchFamily="2" charset="-122"/>
                  <a:ea typeface="宋体" panose="02010600030101010101" pitchFamily="2" charset="-122"/>
                  <a:sym typeface="+mn-ea"/>
                </a:rPr>
                <a:t>定义设备如何彼此发现、建立连接以及实现绑定</a:t>
              </a:r>
              <a:endParaRPr lang="zh-CN" altLang="en-US" sz="2000" b="1">
                <a:latin typeface="宋体" panose="02010600030101010101" pitchFamily="2" charset="-122"/>
                <a:ea typeface="宋体" panose="02010600030101010101" pitchFamily="2" charset="-122"/>
                <a:sym typeface="+mn-ea"/>
              </a:endParaRPr>
            </a:p>
          </p:txBody>
        </p:sp>
        <p:sp>
          <p:nvSpPr>
            <p:cNvPr id="20" name="文本框 19"/>
            <p:cNvSpPr txBox="1"/>
            <p:nvPr/>
          </p:nvSpPr>
          <p:spPr>
            <a:xfrm>
              <a:off x="5938" y="3830"/>
              <a:ext cx="2465" cy="3052"/>
            </a:xfrm>
            <a:prstGeom prst="rect">
              <a:avLst/>
            </a:prstGeom>
            <a:noFill/>
          </p:spPr>
          <p:txBody>
            <a:bodyPr wrap="square" rtlCol="0">
              <a:spAutoFit/>
            </a:bodyPr>
            <a:p>
              <a:r>
                <a:rPr lang="zh-CN" altLang="en-US" sz="2000" b="1">
                  <a:latin typeface="宋体" panose="02010600030101010101" pitchFamily="2" charset="-122"/>
                  <a:ea typeface="宋体" panose="02010600030101010101" pitchFamily="2" charset="-122"/>
                  <a:sym typeface="+mn-ea"/>
                </a:rPr>
                <a:t>描述设备如何成为广播者和观察者并实现数据传输</a:t>
              </a:r>
              <a:endParaRPr lang="zh-CN" altLang="en-US" sz="2000" b="1">
                <a:latin typeface="宋体" panose="02010600030101010101" pitchFamily="2" charset="-122"/>
                <a:ea typeface="宋体" panose="02010600030101010101" pitchFamily="2" charset="-122"/>
              </a:endParaRPr>
            </a:p>
            <a:p>
              <a:endParaRPr lang="zh-CN" altLang="en-US" sz="2000" b="1">
                <a:latin typeface="宋体" panose="02010600030101010101" pitchFamily="2" charset="-122"/>
                <a:ea typeface="宋体" panose="02010600030101010101" pitchFamily="2" charset="-122"/>
              </a:endParaRPr>
            </a:p>
          </p:txBody>
        </p:sp>
        <p:sp>
          <p:nvSpPr>
            <p:cNvPr id="21" name="文本框 20"/>
            <p:cNvSpPr txBox="1"/>
            <p:nvPr/>
          </p:nvSpPr>
          <p:spPr>
            <a:xfrm>
              <a:off x="8970" y="3730"/>
              <a:ext cx="2434" cy="2567"/>
            </a:xfrm>
            <a:prstGeom prst="rect">
              <a:avLst/>
            </a:prstGeom>
            <a:noFill/>
          </p:spPr>
          <p:txBody>
            <a:bodyPr wrap="square" rtlCol="0">
              <a:spAutoFit/>
            </a:bodyPr>
            <a:p>
              <a:r>
                <a:rPr lang="zh-CN" altLang="en-US" sz="2000" b="1">
                  <a:latin typeface="宋体" panose="02010600030101010101" pitchFamily="2" charset="-122"/>
                  <a:ea typeface="宋体" panose="02010600030101010101" pitchFamily="2" charset="-122"/>
                  <a:sym typeface="+mn-ea"/>
                </a:rPr>
                <a:t>定义不同类型地址如何实现隐私型和可解析型</a:t>
              </a:r>
              <a:endParaRPr lang="zh-CN" altLang="en-US" sz="2000" b="1">
                <a:latin typeface="宋体" panose="02010600030101010101" pitchFamily="2" charset="-122"/>
                <a:ea typeface="宋体" panose="02010600030101010101" pitchFamily="2" charset="-122"/>
              </a:endParaRPr>
            </a:p>
            <a:p>
              <a:endParaRPr lang="zh-CN" altLang="en-US" sz="2000" b="1">
                <a:latin typeface="宋体" panose="02010600030101010101" pitchFamily="2" charset="-122"/>
                <a:ea typeface="宋体" panose="02010600030101010101" pitchFamily="2" charset="-122"/>
              </a:endParaRPr>
            </a:p>
          </p:txBody>
        </p:sp>
      </p:grpSp>
      <p:sp>
        <p:nvSpPr>
          <p:cNvPr id="2" name="文本框 1"/>
          <p:cNvSpPr txBox="1"/>
          <p:nvPr/>
        </p:nvSpPr>
        <p:spPr>
          <a:xfrm>
            <a:off x="1748790" y="4570730"/>
            <a:ext cx="5604510" cy="306705"/>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cs typeface="宋体" panose="02010600030101010101" pitchFamily="2" charset="-122"/>
              </a:rPr>
              <a:t>注：具体通信流程见</a:t>
            </a:r>
            <a:r>
              <a:rPr lang="en-US" altLang="zh-CN" sz="1400">
                <a:latin typeface="宋体" panose="02010600030101010101" pitchFamily="2" charset="-122"/>
                <a:ea typeface="宋体" panose="02010600030101010101" pitchFamily="2" charset="-122"/>
                <a:cs typeface="宋体" panose="02010600030101010101" pitchFamily="2" charset="-122"/>
              </a:rPr>
              <a:t>PPT</a:t>
            </a:r>
            <a:r>
              <a:rPr lang="zh-CN" altLang="en-US" sz="1400">
                <a:latin typeface="宋体" panose="02010600030101010101" pitchFamily="2" charset="-122"/>
                <a:ea typeface="宋体" panose="02010600030101010101" pitchFamily="2" charset="-122"/>
                <a:cs typeface="宋体" panose="02010600030101010101" pitchFamily="2" charset="-122"/>
              </a:rPr>
              <a:t>第</a:t>
            </a:r>
            <a:r>
              <a:rPr lang="en-US" altLang="zh-CN" sz="1400">
                <a:latin typeface="宋体" panose="02010600030101010101" pitchFamily="2" charset="-122"/>
                <a:ea typeface="宋体" panose="02010600030101010101" pitchFamily="2" charset="-122"/>
                <a:cs typeface="宋体" panose="02010600030101010101" pitchFamily="2" charset="-122"/>
              </a:rPr>
              <a:t>50</a:t>
            </a:r>
            <a:r>
              <a:rPr lang="zh-CN" altLang="en-US" sz="1400">
                <a:latin typeface="宋体" panose="02010600030101010101" pitchFamily="2" charset="-122"/>
                <a:ea typeface="宋体" panose="02010600030101010101" pitchFamily="2" charset="-122"/>
                <a:cs typeface="宋体" panose="02010600030101010101" pitchFamily="2" charset="-122"/>
              </a:rPr>
              <a:t>页补充</a:t>
            </a:r>
            <a:r>
              <a:rPr lang="en-US" altLang="zh-CN" sz="1400">
                <a:latin typeface="宋体" panose="02010600030101010101" pitchFamily="2" charset="-122"/>
                <a:ea typeface="宋体" panose="02010600030101010101" pitchFamily="2" charset="-122"/>
                <a:cs typeface="宋体" panose="02010600030101010101" pitchFamily="2" charset="-122"/>
              </a:rPr>
              <a:t>2</a:t>
            </a:r>
            <a:endParaRPr lang="en-US" altLang="zh-CN" sz="1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GAP</a:t>
            </a:r>
            <a:r>
              <a:rPr lang="zh-CN" altLang="en-US" sz="2400" b="1" spc="-38" dirty="0">
                <a:solidFill>
                  <a:srgbClr val="3D5663"/>
                </a:solidFill>
                <a:latin typeface="Calibri" panose="020F0502020204030204" pitchFamily="34" charset="0"/>
                <a:cs typeface="Calibri" panose="020F0502020204030204" pitchFamily="34" charset="0"/>
              </a:rPr>
              <a:t>角色</a:t>
            </a:r>
            <a:endParaRPr lang="zh-CN" altLang="en-US" sz="2400" b="1" spc="-38" dirty="0">
              <a:solidFill>
                <a:srgbClr val="3D5663"/>
              </a:solidFill>
              <a:latin typeface="Calibri" panose="020F0502020204030204" pitchFamily="34" charset="0"/>
              <a:cs typeface="Calibri" panose="020F0502020204030204" pitchFamily="34" charset="0"/>
            </a:endParaRPr>
          </a:p>
        </p:txBody>
      </p:sp>
      <p:grpSp>
        <p:nvGrpSpPr>
          <p:cNvPr id="7" name="组合 6"/>
          <p:cNvGrpSpPr/>
          <p:nvPr/>
        </p:nvGrpSpPr>
        <p:grpSpPr>
          <a:xfrm>
            <a:off x="152271" y="1291023"/>
            <a:ext cx="8778573" cy="2672849"/>
            <a:chOff x="1034" y="3280"/>
            <a:chExt cx="17107" cy="5968"/>
          </a:xfrm>
        </p:grpSpPr>
        <p:pic>
          <p:nvPicPr>
            <p:cNvPr id="40" name="图片 39" descr="图片包含 图示&#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80" y="3280"/>
              <a:ext cx="7792" cy="5354"/>
            </a:xfrm>
            <a:prstGeom prst="rect">
              <a:avLst/>
            </a:prstGeom>
          </p:spPr>
        </p:pic>
        <p:sp>
          <p:nvSpPr>
            <p:cNvPr id="51" name="矩形 50"/>
            <p:cNvSpPr/>
            <p:nvPr/>
          </p:nvSpPr>
          <p:spPr>
            <a:xfrm>
              <a:off x="1059" y="3350"/>
              <a:ext cx="4002" cy="82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r"/>
              <a:r>
                <a:rPr lang="zh-CN" altLang="en-US" sz="2400" b="1" dirty="0">
                  <a:solidFill>
                    <a:schemeClr val="accent2"/>
                  </a:solidFill>
                  <a:latin typeface="OPPOSans B" panose="00020600040101010101" pitchFamily="18" charset="-122"/>
                  <a:ea typeface="OPPOSans B" panose="00020600040101010101" pitchFamily="18" charset="-122"/>
                  <a:cs typeface="OPPOSans B" panose="00020600040101010101" pitchFamily="18" charset="-122"/>
                </a:rPr>
                <a:t>广播者</a:t>
              </a:r>
              <a:endParaRPr lang="zh-CN" altLang="en-US" sz="2400" b="1" dirty="0">
                <a:solidFill>
                  <a:schemeClr val="accent2"/>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52" name="矩形 51"/>
            <p:cNvSpPr/>
            <p:nvPr/>
          </p:nvSpPr>
          <p:spPr>
            <a:xfrm>
              <a:off x="1059" y="4073"/>
              <a:ext cx="4002" cy="713"/>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r">
                <a:lnSpc>
                  <a:spcPct val="130000"/>
                </a:lnSpc>
              </a:pP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发送广播报文的设备</a:t>
              </a:r>
              <a:endPar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endParaRPr>
            </a:p>
          </p:txBody>
        </p:sp>
        <p:sp>
          <p:nvSpPr>
            <p:cNvPr id="53" name="矩形 52"/>
            <p:cNvSpPr/>
            <p:nvPr/>
          </p:nvSpPr>
          <p:spPr>
            <a:xfrm>
              <a:off x="14138" y="3346"/>
              <a:ext cx="4002" cy="82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zh-CN" altLang="en-US" sz="2400" b="1" dirty="0">
                  <a:solidFill>
                    <a:schemeClr val="accent1"/>
                  </a:solidFill>
                  <a:latin typeface="OPPOSans B" panose="00020600040101010101" pitchFamily="18" charset="-122"/>
                  <a:ea typeface="OPPOSans B" panose="00020600040101010101" pitchFamily="18" charset="-122"/>
                  <a:cs typeface="OPPOSans B" panose="00020600040101010101" pitchFamily="18" charset="-122"/>
                </a:rPr>
                <a:t>观察者</a:t>
              </a:r>
              <a:endParaRPr lang="zh-CN" altLang="en-US" sz="2400" b="1" dirty="0">
                <a:solidFill>
                  <a:schemeClr val="accent1"/>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54" name="矩形 53"/>
            <p:cNvSpPr/>
            <p:nvPr/>
          </p:nvSpPr>
          <p:spPr>
            <a:xfrm>
              <a:off x="14138" y="4170"/>
              <a:ext cx="4002" cy="1428"/>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扫描广播者，并将信息报告给应用设备</a:t>
              </a:r>
              <a:endPar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endParaRPr>
            </a:p>
          </p:txBody>
        </p:sp>
        <p:sp>
          <p:nvSpPr>
            <p:cNvPr id="55" name="矩形 54"/>
            <p:cNvSpPr/>
            <p:nvPr/>
          </p:nvSpPr>
          <p:spPr>
            <a:xfrm>
              <a:off x="1034" y="6139"/>
              <a:ext cx="4002" cy="82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r"/>
              <a:r>
                <a:rPr lang="zh-CN" altLang="en-US" sz="2400" b="1" dirty="0">
                  <a:solidFill>
                    <a:schemeClr val="accent1"/>
                  </a:solidFill>
                  <a:latin typeface="OPPOSans B" panose="00020600040101010101" pitchFamily="18" charset="-122"/>
                  <a:ea typeface="OPPOSans B" panose="00020600040101010101" pitchFamily="18" charset="-122"/>
                  <a:cs typeface="OPPOSans B" panose="00020600040101010101" pitchFamily="18" charset="-122"/>
                </a:rPr>
                <a:t>外围设备</a:t>
              </a:r>
              <a:endParaRPr lang="zh-CN" altLang="en-US" sz="2400" b="1" dirty="0">
                <a:solidFill>
                  <a:schemeClr val="accent1"/>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56" name="矩形 55"/>
            <p:cNvSpPr/>
            <p:nvPr/>
          </p:nvSpPr>
          <p:spPr>
            <a:xfrm>
              <a:off x="1059" y="6892"/>
              <a:ext cx="4002" cy="2142"/>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30000"/>
                </a:lnSpc>
              </a:pP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利用可连接报文进行广播的设备，在建立连接后成为从设备</a:t>
              </a:r>
              <a:endPar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endParaRPr>
            </a:p>
          </p:txBody>
        </p:sp>
        <p:sp>
          <p:nvSpPr>
            <p:cNvPr id="57" name="矩形 56"/>
            <p:cNvSpPr/>
            <p:nvPr/>
          </p:nvSpPr>
          <p:spPr>
            <a:xfrm>
              <a:off x="14079" y="6281"/>
              <a:ext cx="4062" cy="82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zh-CN" altLang="en-US" sz="2400" b="1" dirty="0">
                  <a:solidFill>
                    <a:schemeClr val="accent2"/>
                  </a:solidFill>
                  <a:latin typeface="OPPOSans B" panose="00020600040101010101" pitchFamily="18" charset="-122"/>
                  <a:ea typeface="OPPOSans B" panose="00020600040101010101" pitchFamily="18" charset="-122"/>
                  <a:cs typeface="OPPOSans B" panose="00020600040101010101" pitchFamily="18" charset="-122"/>
                </a:rPr>
                <a:t>中央设备</a:t>
              </a:r>
              <a:endParaRPr lang="zh-CN" altLang="en-US" sz="2400" b="1" dirty="0">
                <a:solidFill>
                  <a:schemeClr val="accent2"/>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58" name="矩形 57"/>
            <p:cNvSpPr/>
            <p:nvPr/>
          </p:nvSpPr>
          <p:spPr>
            <a:xfrm>
              <a:off x="14080" y="7106"/>
              <a:ext cx="4002" cy="2142"/>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向外围设备发起连接的设备，在建立连接后成为主设备</a:t>
              </a:r>
              <a:endPar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GAP</a:t>
            </a:r>
            <a:r>
              <a:rPr lang="zh-CN" altLang="en-US" sz="2400" b="1" spc="-38" dirty="0">
                <a:solidFill>
                  <a:srgbClr val="3D5663"/>
                </a:solidFill>
                <a:latin typeface="Calibri" panose="020F0502020204030204" pitchFamily="34" charset="0"/>
                <a:cs typeface="Calibri" panose="020F0502020204030204" pitchFamily="34" charset="0"/>
              </a:rPr>
              <a:t>模式和</a:t>
            </a:r>
            <a:r>
              <a:rPr lang="zh-CN" altLang="en-US" sz="2400" b="1" spc="-38" dirty="0">
                <a:solidFill>
                  <a:srgbClr val="3D5663"/>
                </a:solidFill>
                <a:latin typeface="Calibri" panose="020F0502020204030204" pitchFamily="34" charset="0"/>
                <a:cs typeface="Calibri" panose="020F0502020204030204" pitchFamily="34" charset="0"/>
              </a:rPr>
              <a:t>规程</a:t>
            </a:r>
            <a:endParaRPr lang="zh-CN" altLang="en-US" sz="2400" b="1" spc="-38" dirty="0">
              <a:solidFill>
                <a:srgbClr val="3D5663"/>
              </a:solidFill>
              <a:latin typeface="Calibri" panose="020F0502020204030204" pitchFamily="34" charset="0"/>
              <a:cs typeface="Calibri" panose="020F0502020204030204" pitchFamily="34" charset="0"/>
            </a:endParaRPr>
          </a:p>
        </p:txBody>
      </p:sp>
      <p:graphicFrame>
        <p:nvGraphicFramePr>
          <p:cNvPr id="7" name="表格 6"/>
          <p:cNvGraphicFramePr/>
          <p:nvPr>
            <p:custDataLst>
              <p:tags r:id="rId1"/>
            </p:custDataLst>
          </p:nvPr>
        </p:nvGraphicFramePr>
        <p:xfrm>
          <a:off x="3600450" y="666750"/>
          <a:ext cx="4856480" cy="4099560"/>
        </p:xfrm>
        <a:graphic>
          <a:graphicData uri="http://schemas.openxmlformats.org/drawingml/2006/table">
            <a:tbl>
              <a:tblPr firstRow="1" bandRow="1">
                <a:tableStyleId>{5C22544A-7EE6-4342-B048-85BDC9FD1C3A}</a:tableStyleId>
              </a:tblPr>
              <a:tblGrid>
                <a:gridCol w="2367915"/>
                <a:gridCol w="2488565"/>
              </a:tblGrid>
              <a:tr h="341630">
                <a:tc>
                  <a:txBody>
                    <a:bodyPr/>
                    <a:p>
                      <a:pPr algn="ctr">
                        <a:buNone/>
                      </a:pPr>
                      <a:r>
                        <a:rPr lang="zh-CN" altLang="en-US">
                          <a:solidFill>
                            <a:schemeClr val="tx1"/>
                          </a:solidFill>
                        </a:rPr>
                        <a:t>模式</a:t>
                      </a:r>
                      <a:endParaRPr lang="zh-CN" altLang="en-US">
                        <a:solidFill>
                          <a:schemeClr val="tx1"/>
                        </a:solidFill>
                      </a:endParaRPr>
                    </a:p>
                  </a:txBody>
                  <a:tcPr anchor="ctr" anchorCtr="0">
                    <a:solidFill>
                      <a:schemeClr val="accent2"/>
                    </a:solidFill>
                  </a:tcPr>
                </a:tc>
                <a:tc>
                  <a:txBody>
                    <a:bodyPr/>
                    <a:p>
                      <a:pPr algn="ctr">
                        <a:buNone/>
                      </a:pPr>
                      <a:r>
                        <a:rPr lang="zh-CN" altLang="en-US"/>
                        <a:t>规程</a:t>
                      </a:r>
                      <a:endParaRPr lang="zh-CN" altLang="en-US"/>
                    </a:p>
                  </a:txBody>
                  <a:tcPr anchor="ctr" anchorCtr="0"/>
                </a:tc>
              </a:tr>
              <a:tr h="341630">
                <a:tc>
                  <a:txBody>
                    <a:bodyPr/>
                    <a:p>
                      <a:pPr algn="l">
                        <a:buClrTx/>
                        <a:buSzTx/>
                        <a:buFontTx/>
                        <a:buNone/>
                      </a:pPr>
                      <a:r>
                        <a:rPr lang="zh-CN" altLang="en-US" b="1">
                          <a:solidFill>
                            <a:schemeClr val="lt1"/>
                          </a:solidFill>
                        </a:rPr>
                        <a:t>广播模式</a:t>
                      </a:r>
                      <a:endParaRPr lang="zh-CN" altLang="en-US" b="1">
                        <a:solidFill>
                          <a:schemeClr val="lt1"/>
                        </a:solidFill>
                      </a:endParaRPr>
                    </a:p>
                  </a:txBody>
                  <a:tcPr anchor="ctr" anchorCtr="0">
                    <a:solidFill>
                      <a:schemeClr val="accent2">
                        <a:lumMod val="60000"/>
                        <a:lumOff val="40000"/>
                      </a:schemeClr>
                    </a:solidFill>
                  </a:tcPr>
                </a:tc>
                <a:tc>
                  <a:txBody>
                    <a:bodyPr/>
                    <a:p>
                      <a:pPr algn="l">
                        <a:buClrTx/>
                        <a:buSzTx/>
                        <a:buFontTx/>
                        <a:buNone/>
                      </a:pPr>
                      <a:r>
                        <a:rPr lang="zh-CN" altLang="en-US" b="1">
                          <a:solidFill>
                            <a:schemeClr val="tx1"/>
                          </a:solidFill>
                        </a:rPr>
                        <a:t>观察规程</a:t>
                      </a:r>
                      <a:endParaRPr lang="zh-CN" altLang="en-US" b="1">
                        <a:solidFill>
                          <a:schemeClr val="tx1"/>
                        </a:solidFill>
                      </a:endParaRPr>
                    </a:p>
                  </a:txBody>
                  <a:tcPr>
                    <a:solidFill>
                      <a:schemeClr val="accent5">
                        <a:lumMod val="40000"/>
                        <a:lumOff val="60000"/>
                      </a:schemeClr>
                    </a:solidFill>
                  </a:tcPr>
                </a:tc>
              </a:tr>
              <a:tr h="341630">
                <a:tc>
                  <a:txBody>
                    <a:bodyPr/>
                    <a:p>
                      <a:pPr algn="l">
                        <a:buClrTx/>
                        <a:buSzTx/>
                        <a:buFontTx/>
                        <a:buNone/>
                      </a:pPr>
                      <a:r>
                        <a:rPr lang="zh-CN" altLang="en-US" b="1">
                          <a:solidFill>
                            <a:schemeClr val="lt1"/>
                          </a:solidFill>
                        </a:rPr>
                        <a:t>不可发现</a:t>
                      </a:r>
                      <a:r>
                        <a:rPr lang="zh-CN" altLang="en-US" b="1">
                          <a:solidFill>
                            <a:schemeClr val="lt1"/>
                          </a:solidFill>
                        </a:rPr>
                        <a:t>模式</a:t>
                      </a:r>
                      <a:endParaRPr lang="zh-CN" altLang="en-US" b="1">
                        <a:solidFill>
                          <a:schemeClr val="lt1"/>
                        </a:solidFill>
                      </a:endParaRPr>
                    </a:p>
                  </a:txBody>
                  <a:tcPr anchor="ctr" anchorCtr="0">
                    <a:solidFill>
                      <a:schemeClr val="accent2">
                        <a:lumMod val="60000"/>
                        <a:lumOff val="40000"/>
                      </a:schemeClr>
                    </a:solidFill>
                  </a:tcPr>
                </a:tc>
                <a:tc>
                  <a:txBody>
                    <a:bodyPr/>
                    <a:p>
                      <a:pPr algn="l">
                        <a:buClrTx/>
                        <a:buSzTx/>
                        <a:buFontTx/>
                        <a:buNone/>
                      </a:pPr>
                      <a:r>
                        <a:rPr lang="zh-CN" altLang="en-US" b="1">
                          <a:solidFill>
                            <a:schemeClr val="tx1"/>
                          </a:solidFill>
                        </a:rPr>
                        <a:t>有限发现规程</a:t>
                      </a:r>
                      <a:endParaRPr lang="zh-CN" altLang="en-US" b="1">
                        <a:solidFill>
                          <a:schemeClr val="tx1"/>
                        </a:solidFill>
                      </a:endParaRPr>
                    </a:p>
                  </a:txBody>
                  <a:tcPr>
                    <a:solidFill>
                      <a:schemeClr val="accent5">
                        <a:lumMod val="40000"/>
                        <a:lumOff val="60000"/>
                      </a:schemeClr>
                    </a:solidFill>
                  </a:tcPr>
                </a:tc>
              </a:tr>
              <a:tr h="341630">
                <a:tc>
                  <a:txBody>
                    <a:bodyPr/>
                    <a:p>
                      <a:pPr algn="l">
                        <a:buClrTx/>
                        <a:buSzTx/>
                        <a:buFontTx/>
                        <a:buNone/>
                      </a:pPr>
                      <a:r>
                        <a:rPr lang="zh-CN" altLang="en-US" b="1">
                          <a:solidFill>
                            <a:schemeClr val="lt1"/>
                          </a:solidFill>
                        </a:rPr>
                        <a:t>有限可发现</a:t>
                      </a:r>
                      <a:r>
                        <a:rPr lang="zh-CN" altLang="en-US" b="1">
                          <a:solidFill>
                            <a:schemeClr val="lt1"/>
                          </a:solidFill>
                        </a:rPr>
                        <a:t>模式</a:t>
                      </a:r>
                      <a:endParaRPr lang="zh-CN" altLang="en-US" b="1">
                        <a:solidFill>
                          <a:schemeClr val="lt1"/>
                        </a:solidFill>
                      </a:endParaRPr>
                    </a:p>
                  </a:txBody>
                  <a:tcPr anchor="ctr" anchorCtr="0">
                    <a:solidFill>
                      <a:schemeClr val="accent2">
                        <a:lumMod val="60000"/>
                        <a:lumOff val="40000"/>
                      </a:schemeClr>
                    </a:solidFill>
                  </a:tcPr>
                </a:tc>
                <a:tc>
                  <a:txBody>
                    <a:bodyPr/>
                    <a:p>
                      <a:pPr algn="l">
                        <a:buClrTx/>
                        <a:buSzTx/>
                        <a:buFontTx/>
                        <a:buNone/>
                      </a:pPr>
                      <a:r>
                        <a:rPr lang="zh-CN" altLang="en-US" b="1">
                          <a:solidFill>
                            <a:schemeClr val="tx1"/>
                          </a:solidFill>
                        </a:rPr>
                        <a:t>一般发现规程</a:t>
                      </a:r>
                      <a:endParaRPr lang="zh-CN" altLang="en-US" b="1">
                        <a:solidFill>
                          <a:schemeClr val="tx1"/>
                        </a:solidFill>
                      </a:endParaRPr>
                    </a:p>
                  </a:txBody>
                  <a:tcPr>
                    <a:solidFill>
                      <a:schemeClr val="accent5">
                        <a:lumMod val="40000"/>
                        <a:lumOff val="60000"/>
                      </a:schemeClr>
                    </a:solidFill>
                  </a:tcPr>
                </a:tc>
              </a:tr>
              <a:tr h="341630">
                <a:tc>
                  <a:txBody>
                    <a:bodyPr/>
                    <a:p>
                      <a:pPr algn="l">
                        <a:buClrTx/>
                        <a:buSzTx/>
                        <a:buFontTx/>
                        <a:buNone/>
                      </a:pPr>
                      <a:r>
                        <a:rPr lang="zh-CN" altLang="en-US" b="1">
                          <a:solidFill>
                            <a:schemeClr val="lt1"/>
                          </a:solidFill>
                        </a:rPr>
                        <a:t>一般可发现</a:t>
                      </a:r>
                      <a:r>
                        <a:rPr lang="zh-CN" altLang="en-US" b="1">
                          <a:solidFill>
                            <a:schemeClr val="lt1"/>
                          </a:solidFill>
                        </a:rPr>
                        <a:t>模式</a:t>
                      </a:r>
                      <a:endParaRPr lang="zh-CN" altLang="en-US" b="1">
                        <a:solidFill>
                          <a:schemeClr val="lt1"/>
                        </a:solidFill>
                      </a:endParaRPr>
                    </a:p>
                  </a:txBody>
                  <a:tcPr anchor="ctr" anchorCtr="0">
                    <a:solidFill>
                      <a:schemeClr val="accent2">
                        <a:lumMod val="60000"/>
                        <a:lumOff val="40000"/>
                      </a:schemeClr>
                    </a:solidFill>
                  </a:tcPr>
                </a:tc>
                <a:tc>
                  <a:txBody>
                    <a:bodyPr/>
                    <a:p>
                      <a:pPr algn="l">
                        <a:buClrTx/>
                        <a:buSzTx/>
                        <a:buFontTx/>
                        <a:buNone/>
                      </a:pPr>
                      <a:r>
                        <a:rPr lang="zh-CN" altLang="en-US" b="1">
                          <a:solidFill>
                            <a:schemeClr val="tx1"/>
                          </a:solidFill>
                        </a:rPr>
                        <a:t>名称发现规程</a:t>
                      </a:r>
                      <a:endParaRPr lang="zh-CN" altLang="en-US" b="1">
                        <a:solidFill>
                          <a:schemeClr val="tx1"/>
                        </a:solidFill>
                      </a:endParaRPr>
                    </a:p>
                  </a:txBody>
                  <a:tcPr>
                    <a:solidFill>
                      <a:schemeClr val="accent5">
                        <a:lumMod val="40000"/>
                        <a:lumOff val="60000"/>
                      </a:schemeClr>
                    </a:solidFill>
                  </a:tcPr>
                </a:tc>
              </a:tr>
              <a:tr h="341630">
                <a:tc>
                  <a:txBody>
                    <a:bodyPr/>
                    <a:p>
                      <a:pPr algn="l">
                        <a:buClrTx/>
                        <a:buSzTx/>
                        <a:buFontTx/>
                        <a:buNone/>
                      </a:pPr>
                      <a:r>
                        <a:rPr lang="zh-CN" altLang="en-US" b="1">
                          <a:solidFill>
                            <a:schemeClr val="lt1"/>
                          </a:solidFill>
                        </a:rPr>
                        <a:t>不可连接</a:t>
                      </a:r>
                      <a:r>
                        <a:rPr lang="zh-CN" altLang="en-US" b="1">
                          <a:solidFill>
                            <a:schemeClr val="lt1"/>
                          </a:solidFill>
                        </a:rPr>
                        <a:t>模式</a:t>
                      </a:r>
                      <a:endParaRPr lang="zh-CN" altLang="en-US" b="1">
                        <a:solidFill>
                          <a:schemeClr val="lt1"/>
                        </a:solidFill>
                      </a:endParaRPr>
                    </a:p>
                  </a:txBody>
                  <a:tcPr anchor="ctr" anchorCtr="0">
                    <a:solidFill>
                      <a:schemeClr val="accent2">
                        <a:lumMod val="60000"/>
                        <a:lumOff val="40000"/>
                      </a:schemeClr>
                    </a:solidFill>
                  </a:tcPr>
                </a:tc>
                <a:tc>
                  <a:txBody>
                    <a:bodyPr/>
                    <a:p>
                      <a:pPr algn="l">
                        <a:buClrTx/>
                        <a:buSzTx/>
                        <a:buFontTx/>
                        <a:buNone/>
                      </a:pPr>
                      <a:r>
                        <a:rPr lang="zh-CN" altLang="en-US" b="1">
                          <a:solidFill>
                            <a:schemeClr val="tx1"/>
                          </a:solidFill>
                        </a:rPr>
                        <a:t>自动连接建立规程</a:t>
                      </a:r>
                      <a:endParaRPr lang="zh-CN" altLang="en-US" b="1">
                        <a:solidFill>
                          <a:schemeClr val="tx1"/>
                        </a:solidFill>
                      </a:endParaRPr>
                    </a:p>
                  </a:txBody>
                  <a:tcPr>
                    <a:solidFill>
                      <a:schemeClr val="accent5">
                        <a:lumMod val="40000"/>
                        <a:lumOff val="60000"/>
                      </a:schemeClr>
                    </a:solidFill>
                  </a:tcPr>
                </a:tc>
              </a:tr>
              <a:tr h="341630">
                <a:tc>
                  <a:txBody>
                    <a:bodyPr/>
                    <a:p>
                      <a:pPr algn="l">
                        <a:buClrTx/>
                        <a:buSzTx/>
                        <a:buFontTx/>
                        <a:buNone/>
                      </a:pPr>
                      <a:r>
                        <a:rPr lang="zh-CN" altLang="en-US" b="1">
                          <a:solidFill>
                            <a:schemeClr val="lt1"/>
                          </a:solidFill>
                        </a:rPr>
                        <a:t>定向可连接</a:t>
                      </a:r>
                      <a:r>
                        <a:rPr lang="zh-CN" altLang="en-US" b="1">
                          <a:solidFill>
                            <a:schemeClr val="lt1"/>
                          </a:solidFill>
                        </a:rPr>
                        <a:t>模式</a:t>
                      </a:r>
                      <a:endParaRPr lang="zh-CN" altLang="en-US" b="1">
                        <a:solidFill>
                          <a:schemeClr val="lt1"/>
                        </a:solidFill>
                      </a:endParaRPr>
                    </a:p>
                  </a:txBody>
                  <a:tcPr anchor="ctr" anchorCtr="0">
                    <a:solidFill>
                      <a:schemeClr val="accent2">
                        <a:lumMod val="60000"/>
                        <a:lumOff val="40000"/>
                      </a:schemeClr>
                    </a:solidFill>
                  </a:tcPr>
                </a:tc>
                <a:tc>
                  <a:txBody>
                    <a:bodyPr/>
                    <a:p>
                      <a:pPr algn="l">
                        <a:buClrTx/>
                        <a:buSzTx/>
                        <a:buFontTx/>
                        <a:buNone/>
                      </a:pPr>
                      <a:r>
                        <a:rPr lang="zh-CN" altLang="en-US" b="1">
                          <a:solidFill>
                            <a:schemeClr val="tx1"/>
                          </a:solidFill>
                        </a:rPr>
                        <a:t>一般连接建立规程</a:t>
                      </a:r>
                      <a:endParaRPr lang="zh-CN" altLang="en-US" b="1">
                        <a:solidFill>
                          <a:schemeClr val="tx1"/>
                        </a:solidFill>
                      </a:endParaRPr>
                    </a:p>
                  </a:txBody>
                  <a:tcPr>
                    <a:solidFill>
                      <a:schemeClr val="accent5">
                        <a:lumMod val="40000"/>
                        <a:lumOff val="60000"/>
                      </a:schemeClr>
                    </a:solidFill>
                  </a:tcPr>
                </a:tc>
              </a:tr>
              <a:tr h="341630">
                <a:tc>
                  <a:txBody>
                    <a:bodyPr/>
                    <a:p>
                      <a:pPr algn="l">
                        <a:buClrTx/>
                        <a:buSzTx/>
                        <a:buFontTx/>
                        <a:buNone/>
                      </a:pPr>
                      <a:r>
                        <a:rPr lang="zh-CN" altLang="en-US" b="1">
                          <a:solidFill>
                            <a:schemeClr val="lt1"/>
                          </a:solidFill>
                        </a:rPr>
                        <a:t>无向可连接</a:t>
                      </a:r>
                      <a:r>
                        <a:rPr lang="zh-CN" altLang="en-US" b="1">
                          <a:solidFill>
                            <a:schemeClr val="lt1"/>
                          </a:solidFill>
                        </a:rPr>
                        <a:t>模式</a:t>
                      </a:r>
                      <a:endParaRPr lang="zh-CN" altLang="en-US" b="1">
                        <a:solidFill>
                          <a:schemeClr val="lt1"/>
                        </a:solidFill>
                      </a:endParaRPr>
                    </a:p>
                  </a:txBody>
                  <a:tcPr anchor="ctr" anchorCtr="0">
                    <a:solidFill>
                      <a:schemeClr val="accent2">
                        <a:lumMod val="60000"/>
                        <a:lumOff val="40000"/>
                      </a:schemeClr>
                    </a:solidFill>
                  </a:tcPr>
                </a:tc>
                <a:tc>
                  <a:txBody>
                    <a:bodyPr/>
                    <a:p>
                      <a:pPr algn="l">
                        <a:buClrTx/>
                        <a:buSzTx/>
                        <a:buFontTx/>
                        <a:buNone/>
                      </a:pPr>
                      <a:r>
                        <a:rPr lang="zh-CN" altLang="en-US" b="1">
                          <a:solidFill>
                            <a:schemeClr val="tx1"/>
                          </a:solidFill>
                        </a:rPr>
                        <a:t>选择性连接建立规程</a:t>
                      </a:r>
                      <a:endParaRPr lang="zh-CN" altLang="en-US" b="1">
                        <a:solidFill>
                          <a:schemeClr val="tx1"/>
                        </a:solidFill>
                      </a:endParaRPr>
                    </a:p>
                  </a:txBody>
                  <a:tcPr>
                    <a:solidFill>
                      <a:schemeClr val="accent5">
                        <a:lumMod val="40000"/>
                        <a:lumOff val="60000"/>
                      </a:schemeClr>
                    </a:solidFill>
                  </a:tcPr>
                </a:tc>
              </a:tr>
              <a:tr h="341630">
                <a:tc>
                  <a:txBody>
                    <a:bodyPr/>
                    <a:p>
                      <a:pPr algn="l">
                        <a:buClrTx/>
                        <a:buSzTx/>
                        <a:buFontTx/>
                        <a:buNone/>
                      </a:pPr>
                      <a:r>
                        <a:rPr lang="zh-CN" altLang="en-US" b="1">
                          <a:solidFill>
                            <a:schemeClr val="lt1"/>
                          </a:solidFill>
                        </a:rPr>
                        <a:t>不可绑定</a:t>
                      </a:r>
                      <a:r>
                        <a:rPr lang="zh-CN" altLang="en-US" b="1">
                          <a:solidFill>
                            <a:schemeClr val="lt1"/>
                          </a:solidFill>
                        </a:rPr>
                        <a:t>模式</a:t>
                      </a:r>
                      <a:endParaRPr lang="zh-CN" altLang="en-US" b="1">
                        <a:solidFill>
                          <a:schemeClr val="lt1"/>
                        </a:solidFill>
                      </a:endParaRPr>
                    </a:p>
                  </a:txBody>
                  <a:tcPr anchor="ctr" anchorCtr="0">
                    <a:solidFill>
                      <a:schemeClr val="accent2">
                        <a:lumMod val="60000"/>
                        <a:lumOff val="40000"/>
                      </a:schemeClr>
                    </a:solidFill>
                  </a:tcPr>
                </a:tc>
                <a:tc>
                  <a:txBody>
                    <a:bodyPr/>
                    <a:p>
                      <a:pPr algn="l">
                        <a:buClrTx/>
                        <a:buSzTx/>
                        <a:buFontTx/>
                        <a:buNone/>
                      </a:pPr>
                      <a:r>
                        <a:rPr lang="zh-CN" altLang="en-US" b="1">
                          <a:solidFill>
                            <a:schemeClr val="tx1"/>
                          </a:solidFill>
                        </a:rPr>
                        <a:t>直接连接建立规程</a:t>
                      </a:r>
                      <a:endParaRPr lang="zh-CN" altLang="en-US" b="1">
                        <a:solidFill>
                          <a:schemeClr val="tx1"/>
                        </a:solidFill>
                      </a:endParaRPr>
                    </a:p>
                  </a:txBody>
                  <a:tcPr>
                    <a:solidFill>
                      <a:schemeClr val="accent5">
                        <a:lumMod val="40000"/>
                        <a:lumOff val="60000"/>
                      </a:schemeClr>
                    </a:solidFill>
                  </a:tcPr>
                </a:tc>
              </a:tr>
              <a:tr h="341630">
                <a:tc>
                  <a:txBody>
                    <a:bodyPr/>
                    <a:p>
                      <a:pPr algn="l">
                        <a:buClrTx/>
                        <a:buSzTx/>
                        <a:buFontTx/>
                        <a:buNone/>
                      </a:pPr>
                      <a:r>
                        <a:rPr lang="zh-CN" altLang="en-US" b="1">
                          <a:solidFill>
                            <a:schemeClr val="lt1"/>
                          </a:solidFill>
                        </a:rPr>
                        <a:t>可绑定</a:t>
                      </a:r>
                      <a:r>
                        <a:rPr lang="zh-CN" altLang="en-US" b="1">
                          <a:solidFill>
                            <a:schemeClr val="lt1"/>
                          </a:solidFill>
                        </a:rPr>
                        <a:t>模式</a:t>
                      </a:r>
                      <a:endParaRPr lang="zh-CN" altLang="en-US" b="1">
                        <a:solidFill>
                          <a:schemeClr val="lt1"/>
                        </a:solidFill>
                      </a:endParaRPr>
                    </a:p>
                  </a:txBody>
                  <a:tcPr anchor="ctr" anchorCtr="0">
                    <a:solidFill>
                      <a:schemeClr val="accent2">
                        <a:lumMod val="60000"/>
                        <a:lumOff val="40000"/>
                      </a:schemeClr>
                    </a:solidFill>
                  </a:tcPr>
                </a:tc>
                <a:tc>
                  <a:txBody>
                    <a:bodyPr/>
                    <a:p>
                      <a:pPr algn="l">
                        <a:buClrTx/>
                        <a:buSzTx/>
                        <a:buFontTx/>
                        <a:buNone/>
                      </a:pPr>
                      <a:r>
                        <a:rPr lang="zh-CN" altLang="en-US" b="1">
                          <a:solidFill>
                            <a:schemeClr val="tx1"/>
                          </a:solidFill>
                        </a:rPr>
                        <a:t>连接参数更新规程</a:t>
                      </a:r>
                      <a:endParaRPr lang="zh-CN" altLang="en-US" b="1">
                        <a:solidFill>
                          <a:schemeClr val="tx1"/>
                        </a:solidFill>
                      </a:endParaRPr>
                    </a:p>
                  </a:txBody>
                  <a:tcPr>
                    <a:solidFill>
                      <a:schemeClr val="accent5">
                        <a:lumMod val="40000"/>
                        <a:lumOff val="60000"/>
                      </a:schemeClr>
                    </a:solidFill>
                  </a:tcPr>
                </a:tc>
              </a:tr>
              <a:tr h="341630">
                <a:tc>
                  <a:txBody>
                    <a:bodyPr/>
                    <a:p>
                      <a:pPr algn="l">
                        <a:buClrTx/>
                        <a:buSzTx/>
                        <a:buFontTx/>
                        <a:buNone/>
                      </a:pPr>
                      <a:endParaRPr lang="zh-CN" altLang="en-US" b="1">
                        <a:solidFill>
                          <a:schemeClr val="lt1"/>
                        </a:solidFill>
                      </a:endParaRPr>
                    </a:p>
                  </a:txBody>
                  <a:tcPr anchor="ctr" anchorCtr="0">
                    <a:solidFill>
                      <a:schemeClr val="accent2">
                        <a:lumMod val="60000"/>
                        <a:lumOff val="40000"/>
                      </a:schemeClr>
                    </a:solidFill>
                  </a:tcPr>
                </a:tc>
                <a:tc>
                  <a:txBody>
                    <a:bodyPr/>
                    <a:p>
                      <a:pPr algn="l">
                        <a:buClrTx/>
                        <a:buSzTx/>
                        <a:buFontTx/>
                        <a:buNone/>
                      </a:pPr>
                      <a:r>
                        <a:rPr lang="zh-CN" altLang="en-US" b="1">
                          <a:solidFill>
                            <a:schemeClr val="tx1"/>
                          </a:solidFill>
                        </a:rPr>
                        <a:t>终止连接规程</a:t>
                      </a:r>
                      <a:endParaRPr lang="zh-CN" altLang="en-US" b="1">
                        <a:solidFill>
                          <a:schemeClr val="tx1"/>
                        </a:solidFill>
                      </a:endParaRPr>
                    </a:p>
                  </a:txBody>
                  <a:tcPr>
                    <a:solidFill>
                      <a:schemeClr val="accent5">
                        <a:lumMod val="40000"/>
                        <a:lumOff val="60000"/>
                      </a:schemeClr>
                    </a:solidFill>
                  </a:tcPr>
                </a:tc>
              </a:tr>
              <a:tr h="341630">
                <a:tc>
                  <a:txBody>
                    <a:bodyPr/>
                    <a:p>
                      <a:pPr algn="l">
                        <a:buClrTx/>
                        <a:buSzTx/>
                        <a:buFontTx/>
                        <a:buNone/>
                      </a:pPr>
                      <a:endParaRPr lang="zh-CN" altLang="en-US" b="1">
                        <a:solidFill>
                          <a:schemeClr val="lt1"/>
                        </a:solidFill>
                      </a:endParaRPr>
                    </a:p>
                  </a:txBody>
                  <a:tcPr anchor="ctr" anchorCtr="0">
                    <a:solidFill>
                      <a:schemeClr val="accent2">
                        <a:lumMod val="60000"/>
                        <a:lumOff val="40000"/>
                      </a:schemeClr>
                    </a:solidFill>
                  </a:tcPr>
                </a:tc>
                <a:tc>
                  <a:txBody>
                    <a:bodyPr/>
                    <a:p>
                      <a:pPr algn="l">
                        <a:buClrTx/>
                        <a:buSzTx/>
                        <a:buFontTx/>
                        <a:buNone/>
                      </a:pPr>
                      <a:r>
                        <a:rPr lang="zh-CN" altLang="en-US" b="1">
                          <a:solidFill>
                            <a:schemeClr val="tx1"/>
                          </a:solidFill>
                        </a:rPr>
                        <a:t>绑定规程</a:t>
                      </a:r>
                      <a:endParaRPr lang="zh-CN" altLang="en-US" b="1">
                        <a:solidFill>
                          <a:schemeClr val="tx1"/>
                        </a:solidFill>
                      </a:endParaRPr>
                    </a:p>
                  </a:txBody>
                  <a:tcPr>
                    <a:solidFill>
                      <a:schemeClr val="accent5">
                        <a:lumMod val="40000"/>
                        <a:lumOff val="60000"/>
                      </a:schemeClr>
                    </a:solidFill>
                  </a:tcPr>
                </a:tc>
              </a:tr>
            </a:tbl>
          </a:graphicData>
        </a:graphic>
      </p:graphicFrame>
      <p:sp>
        <p:nvSpPr>
          <p:cNvPr id="2" name="上凸带形 1"/>
          <p:cNvSpPr/>
          <p:nvPr/>
        </p:nvSpPr>
        <p:spPr>
          <a:xfrm>
            <a:off x="1005205" y="749935"/>
            <a:ext cx="1722755" cy="514350"/>
          </a:xfrm>
          <a:prstGeom prst="ribbon2">
            <a:avLst/>
          </a:prstGeom>
          <a:solidFill>
            <a:schemeClr val="accent2"/>
          </a:solidFill>
          <a:ln>
            <a:solidFill>
              <a:schemeClr val="accent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模式</a:t>
            </a:r>
            <a:endParaRPr lang="zh-CN" altLang="en-US"/>
          </a:p>
        </p:txBody>
      </p:sp>
      <p:sp>
        <p:nvSpPr>
          <p:cNvPr id="3" name="上凸带形 2"/>
          <p:cNvSpPr/>
          <p:nvPr/>
        </p:nvSpPr>
        <p:spPr>
          <a:xfrm>
            <a:off x="949325" y="2389505"/>
            <a:ext cx="1722755" cy="514350"/>
          </a:xfrm>
          <a:prstGeom prst="ribbon2">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规程</a:t>
            </a:r>
            <a:endParaRPr lang="zh-CN" altLang="en-US"/>
          </a:p>
        </p:txBody>
      </p:sp>
      <p:sp>
        <p:nvSpPr>
          <p:cNvPr id="5" name="文本框 4"/>
          <p:cNvSpPr txBox="1"/>
          <p:nvPr/>
        </p:nvSpPr>
        <p:spPr>
          <a:xfrm>
            <a:off x="215900" y="1264285"/>
            <a:ext cx="3190240" cy="64516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sym typeface="+mn-ea"/>
              </a:rPr>
              <a:t>一个设备被配置为按照某种方式操作一段较长的时间</a:t>
            </a:r>
            <a:endParaRPr lang="zh-CN" altLang="en-US"/>
          </a:p>
        </p:txBody>
      </p:sp>
      <p:sp>
        <p:nvSpPr>
          <p:cNvPr id="8" name="文本框 7"/>
          <p:cNvSpPr txBox="1"/>
          <p:nvPr/>
        </p:nvSpPr>
        <p:spPr>
          <a:xfrm>
            <a:off x="215900" y="2903855"/>
            <a:ext cx="3189605" cy="92202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sym typeface="+mn-ea"/>
              </a:rPr>
              <a:t>一个设备被配置为在某一段有限的时间内执行某种特定的操作</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zh-CN" altLang="en-US" sz="2400" b="1" spc="-38" dirty="0">
                <a:solidFill>
                  <a:srgbClr val="3D5663"/>
                </a:solidFill>
                <a:latin typeface="Calibri" panose="020F0502020204030204" pitchFamily="34" charset="0"/>
                <a:cs typeface="Calibri" panose="020F0502020204030204" pitchFamily="34" charset="0"/>
              </a:rPr>
              <a:t>安全</a:t>
            </a:r>
            <a:r>
              <a:rPr lang="zh-CN" altLang="en-US" sz="2400" b="1" spc="-38" dirty="0">
                <a:solidFill>
                  <a:srgbClr val="3D5663"/>
                </a:solidFill>
                <a:latin typeface="Calibri" panose="020F0502020204030204" pitchFamily="34" charset="0"/>
                <a:cs typeface="Calibri" panose="020F0502020204030204" pitchFamily="34" charset="0"/>
              </a:rPr>
              <a:t>模式</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8" name="椭圆 7"/>
          <p:cNvSpPr/>
          <p:nvPr/>
        </p:nvSpPr>
        <p:spPr>
          <a:xfrm>
            <a:off x="415793" y="794304"/>
            <a:ext cx="3651114" cy="3651114"/>
          </a:xfrm>
          <a:prstGeom prst="ellipse">
            <a:avLst/>
          </a:prstGeom>
          <a:solidFill>
            <a:schemeClr val="bg1"/>
          </a:solid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9" name="图片 8" descr="形状, 矩形&#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7255" y="2339374"/>
            <a:ext cx="3991491" cy="737789"/>
          </a:xfrm>
          <a:prstGeom prst="rect">
            <a:avLst/>
          </a:prstGeom>
        </p:spPr>
      </p:pic>
      <p:pic>
        <p:nvPicPr>
          <p:cNvPr id="12" name="图片 11" descr="形状&#10;&#10;低可信度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742" y="1448367"/>
            <a:ext cx="3988837" cy="716558"/>
          </a:xfrm>
          <a:prstGeom prst="rect">
            <a:avLst/>
          </a:prstGeom>
        </p:spPr>
      </p:pic>
      <p:pic>
        <p:nvPicPr>
          <p:cNvPr id="14" name="图片 13" descr="形状&#10;&#10;低可信度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742" y="3251610"/>
            <a:ext cx="3988837" cy="716558"/>
          </a:xfrm>
          <a:prstGeom prst="rect">
            <a:avLst/>
          </a:prstGeom>
        </p:spPr>
      </p:pic>
      <p:sp>
        <p:nvSpPr>
          <p:cNvPr id="15" name="文本框 14"/>
          <p:cNvSpPr txBox="1"/>
          <p:nvPr/>
        </p:nvSpPr>
        <p:spPr>
          <a:xfrm>
            <a:off x="1172210" y="1600835"/>
            <a:ext cx="2431415" cy="307340"/>
          </a:xfrm>
          <a:prstGeom prst="rect">
            <a:avLst/>
          </a:prstGeom>
          <a:noFill/>
        </p:spPr>
        <p:txBody>
          <a:bodyPr wrap="square" lIns="0" tIns="0" rIns="0" bIns="0" rtlCol="0">
            <a:sp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r>
              <a:rPr lang="zh-CN" altLang="en-US" sz="2000" dirty="0"/>
              <a:t>安全模式</a:t>
            </a:r>
            <a:r>
              <a:rPr lang="en-US" altLang="zh-CN" sz="2000" dirty="0"/>
              <a:t>1(</a:t>
            </a:r>
            <a:r>
              <a:rPr lang="zh-CN" altLang="en-US" sz="2000" dirty="0"/>
              <a:t>加密保护</a:t>
            </a:r>
            <a:r>
              <a:rPr lang="en-US" altLang="zh-CN" sz="2000" dirty="0"/>
              <a:t>)</a:t>
            </a:r>
            <a:endParaRPr lang="zh-CN" altLang="en-US" sz="2000" dirty="0"/>
          </a:p>
        </p:txBody>
      </p:sp>
      <p:sp>
        <p:nvSpPr>
          <p:cNvPr id="16" name="文本框 15"/>
          <p:cNvSpPr txBox="1"/>
          <p:nvPr/>
        </p:nvSpPr>
        <p:spPr>
          <a:xfrm>
            <a:off x="1666240" y="2508885"/>
            <a:ext cx="2404110" cy="307340"/>
          </a:xfrm>
          <a:prstGeom prst="rect">
            <a:avLst/>
          </a:prstGeom>
          <a:noFill/>
        </p:spPr>
        <p:txBody>
          <a:bodyPr wrap="square" lIns="0" tIns="0" rIns="0" bIns="0" rtlCol="0">
            <a:sp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r>
              <a:rPr lang="zh-CN" altLang="en-US" sz="2000" dirty="0">
                <a:solidFill>
                  <a:schemeClr val="bg1"/>
                </a:solidFill>
              </a:rPr>
              <a:t>安全模式</a:t>
            </a:r>
            <a:r>
              <a:rPr lang="en-US" altLang="zh-CN" sz="2000" dirty="0">
                <a:solidFill>
                  <a:schemeClr val="bg1"/>
                </a:solidFill>
              </a:rPr>
              <a:t>2(</a:t>
            </a:r>
            <a:r>
              <a:rPr lang="zh-CN" altLang="en-US" sz="2000" dirty="0">
                <a:solidFill>
                  <a:schemeClr val="bg1"/>
                </a:solidFill>
              </a:rPr>
              <a:t>数据签名</a:t>
            </a:r>
            <a:r>
              <a:rPr lang="en-US" altLang="zh-CN" sz="2000" dirty="0">
                <a:solidFill>
                  <a:schemeClr val="bg1"/>
                </a:solidFill>
              </a:rPr>
              <a:t>)</a:t>
            </a:r>
            <a:endParaRPr lang="en-US" altLang="zh-CN" sz="2000" dirty="0">
              <a:solidFill>
                <a:schemeClr val="bg1"/>
              </a:solidFill>
            </a:endParaRPr>
          </a:p>
        </p:txBody>
      </p:sp>
      <p:sp>
        <p:nvSpPr>
          <p:cNvPr id="52" name="文本框 51"/>
          <p:cNvSpPr txBox="1"/>
          <p:nvPr/>
        </p:nvSpPr>
        <p:spPr>
          <a:xfrm>
            <a:off x="1172335" y="3302458"/>
            <a:ext cx="2154012" cy="615315"/>
          </a:xfrm>
          <a:prstGeom prst="rect">
            <a:avLst/>
          </a:prstGeom>
          <a:noFill/>
        </p:spPr>
        <p:txBody>
          <a:bodyPr wrap="square" lIns="0" tIns="0" rIns="0" bIns="0" rtlCol="0">
            <a:sp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r>
              <a:rPr lang="zh-CN" altLang="en-US" sz="2000" dirty="0"/>
              <a:t>安全模式</a:t>
            </a:r>
            <a:r>
              <a:rPr lang="en-US" altLang="zh-CN" sz="2000" dirty="0"/>
              <a:t>3(</a:t>
            </a:r>
            <a:r>
              <a:rPr lang="zh-CN" altLang="en-US" sz="2000" dirty="0"/>
              <a:t>无连接数据广播加密</a:t>
            </a:r>
            <a:r>
              <a:rPr lang="en-US" altLang="zh-CN" sz="2000" dirty="0"/>
              <a:t>)</a:t>
            </a:r>
            <a:endParaRPr lang="zh-CN" altLang="en-US" sz="2000" dirty="0"/>
          </a:p>
        </p:txBody>
      </p:sp>
      <p:cxnSp>
        <p:nvCxnSpPr>
          <p:cNvPr id="17" name="曲线连接符 16"/>
          <p:cNvCxnSpPr>
            <a:stCxn id="12" idx="3"/>
            <a:endCxn id="18" idx="1"/>
          </p:cNvCxnSpPr>
          <p:nvPr/>
        </p:nvCxnSpPr>
        <p:spPr>
          <a:xfrm flipV="1">
            <a:off x="4306570" y="1006475"/>
            <a:ext cx="1209040" cy="800100"/>
          </a:xfrm>
          <a:prstGeom prst="curvedConnector3">
            <a:avLst>
              <a:gd name="adj1" fmla="val 50000"/>
            </a:avLst>
          </a:prstGeom>
          <a:ln w="28575" cmpd="sng">
            <a:solidFill>
              <a:schemeClr val="accent2"/>
            </a:solidFill>
            <a:prstDash val="solid"/>
            <a:tailEnd type="arrow"/>
          </a:ln>
        </p:spPr>
        <p:style>
          <a:lnRef idx="2">
            <a:schemeClr val="accent1"/>
          </a:lnRef>
          <a:fillRef idx="0">
            <a:srgbClr val="FFFFFF"/>
          </a:fillRef>
          <a:effectRef idx="0">
            <a:srgbClr val="FFFFFF"/>
          </a:effectRef>
          <a:fontRef idx="minor">
            <a:schemeClr val="tx1"/>
          </a:fontRef>
        </p:style>
      </p:cxnSp>
      <p:sp>
        <p:nvSpPr>
          <p:cNvPr id="18" name="左大括号 17"/>
          <p:cNvSpPr/>
          <p:nvPr/>
        </p:nvSpPr>
        <p:spPr>
          <a:xfrm>
            <a:off x="5515610" y="205740"/>
            <a:ext cx="272415" cy="1600835"/>
          </a:xfrm>
          <a:prstGeom prst="leftBrace">
            <a:avLst/>
          </a:prstGeom>
          <a:ln>
            <a:solidFill>
              <a:schemeClr val="accent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文本框 18"/>
          <p:cNvSpPr txBox="1"/>
          <p:nvPr/>
        </p:nvSpPr>
        <p:spPr>
          <a:xfrm>
            <a:off x="4438015" y="920115"/>
            <a:ext cx="692785" cy="285115"/>
          </a:xfrm>
          <a:prstGeom prst="rect">
            <a:avLst/>
          </a:prstGeom>
          <a:noFill/>
        </p:spPr>
        <p:txBody>
          <a:bodyPr wrap="square" rtlCol="0">
            <a:noAutofit/>
          </a:bodyPr>
          <a:p>
            <a:r>
              <a:rPr lang="en-US" altLang="zh-CN">
                <a:solidFill>
                  <a:schemeClr val="accent2">
                    <a:lumMod val="60000"/>
                    <a:lumOff val="40000"/>
                  </a:schemeClr>
                </a:solidFill>
              </a:rPr>
              <a:t>level</a:t>
            </a:r>
            <a:endParaRPr lang="en-US" altLang="zh-CN">
              <a:solidFill>
                <a:schemeClr val="accent2">
                  <a:lumMod val="60000"/>
                  <a:lumOff val="40000"/>
                </a:schemeClr>
              </a:solidFill>
            </a:endParaRPr>
          </a:p>
        </p:txBody>
      </p:sp>
      <p:sp>
        <p:nvSpPr>
          <p:cNvPr id="21" name="圆角矩形 20"/>
          <p:cNvSpPr/>
          <p:nvPr/>
        </p:nvSpPr>
        <p:spPr>
          <a:xfrm>
            <a:off x="5698490" y="280035"/>
            <a:ext cx="3050540" cy="307340"/>
          </a:xfrm>
          <a:prstGeom prst="roundRect">
            <a:avLst/>
          </a:prstGeom>
          <a:solidFill>
            <a:schemeClr val="accent2"/>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无安全要求</a:t>
            </a:r>
            <a:endParaRPr lang="zh-CN" altLang="en-US" sz="1600"/>
          </a:p>
        </p:txBody>
      </p:sp>
      <p:sp>
        <p:nvSpPr>
          <p:cNvPr id="22" name="圆角矩形 21"/>
          <p:cNvSpPr/>
          <p:nvPr/>
        </p:nvSpPr>
        <p:spPr>
          <a:xfrm>
            <a:off x="5698490" y="648970"/>
            <a:ext cx="3049270" cy="307340"/>
          </a:xfrm>
          <a:prstGeom prst="roundRect">
            <a:avLst/>
          </a:prstGeom>
          <a:solidFill>
            <a:schemeClr val="accent2"/>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未经身份</a:t>
            </a:r>
            <a:r>
              <a:rPr lang="zh-CN" altLang="en-US" sz="1600"/>
              <a:t>验证的加密配对</a:t>
            </a:r>
            <a:endParaRPr lang="zh-CN" altLang="en-US" sz="1600"/>
          </a:p>
        </p:txBody>
      </p:sp>
      <p:sp>
        <p:nvSpPr>
          <p:cNvPr id="23" name="圆角矩形 22"/>
          <p:cNvSpPr/>
          <p:nvPr/>
        </p:nvSpPr>
        <p:spPr>
          <a:xfrm>
            <a:off x="5698490" y="1074420"/>
            <a:ext cx="3040380" cy="307340"/>
          </a:xfrm>
          <a:prstGeom prst="roundRect">
            <a:avLst/>
          </a:prstGeom>
          <a:solidFill>
            <a:schemeClr val="accent2"/>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经身份</a:t>
            </a:r>
            <a:r>
              <a:rPr lang="zh-CN" altLang="en-US" sz="1600"/>
              <a:t>验证的加密配对</a:t>
            </a:r>
            <a:endParaRPr lang="zh-CN" altLang="en-US" sz="1600"/>
          </a:p>
        </p:txBody>
      </p:sp>
      <p:sp>
        <p:nvSpPr>
          <p:cNvPr id="24" name="圆角矩形 23"/>
          <p:cNvSpPr/>
          <p:nvPr/>
        </p:nvSpPr>
        <p:spPr>
          <a:xfrm>
            <a:off x="5698490" y="1448435"/>
            <a:ext cx="3049905" cy="307340"/>
          </a:xfrm>
          <a:prstGeom prst="roundRect">
            <a:avLst/>
          </a:prstGeom>
          <a:solidFill>
            <a:schemeClr val="accent2"/>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安全连接下经身份</a:t>
            </a:r>
            <a:r>
              <a:rPr lang="zh-CN" altLang="en-US" sz="1600"/>
              <a:t>验证和配对</a:t>
            </a:r>
            <a:endParaRPr lang="zh-CN" altLang="en-US" sz="1600"/>
          </a:p>
        </p:txBody>
      </p:sp>
      <p:cxnSp>
        <p:nvCxnSpPr>
          <p:cNvPr id="25" name="曲线连接符 24"/>
          <p:cNvCxnSpPr>
            <a:stCxn id="9" idx="3"/>
            <a:endCxn id="26" idx="1"/>
          </p:cNvCxnSpPr>
          <p:nvPr/>
        </p:nvCxnSpPr>
        <p:spPr>
          <a:xfrm flipV="1">
            <a:off x="4739005" y="2623185"/>
            <a:ext cx="869950" cy="85090"/>
          </a:xfrm>
          <a:prstGeom prst="curvedConnector3">
            <a:avLst>
              <a:gd name="adj1" fmla="val 50000"/>
            </a:avLst>
          </a:prstGeom>
          <a:ln w="28575" cmpd="sng">
            <a:solidFill>
              <a:srgbClr val="0000CC"/>
            </a:solidFill>
            <a:prstDash val="solid"/>
            <a:tailEnd type="arrow"/>
          </a:ln>
        </p:spPr>
        <p:style>
          <a:lnRef idx="2">
            <a:schemeClr val="accent1"/>
          </a:lnRef>
          <a:fillRef idx="0">
            <a:srgbClr val="FFFFFF"/>
          </a:fillRef>
          <a:effectRef idx="0">
            <a:srgbClr val="FFFFFF"/>
          </a:effectRef>
          <a:fontRef idx="minor">
            <a:schemeClr val="tx1"/>
          </a:fontRef>
        </p:style>
      </p:cxnSp>
      <p:sp>
        <p:nvSpPr>
          <p:cNvPr id="26" name="左大括号 25"/>
          <p:cNvSpPr/>
          <p:nvPr/>
        </p:nvSpPr>
        <p:spPr>
          <a:xfrm>
            <a:off x="5608955" y="2209165"/>
            <a:ext cx="90170" cy="82804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圆角矩形 27"/>
          <p:cNvSpPr/>
          <p:nvPr/>
        </p:nvSpPr>
        <p:spPr>
          <a:xfrm>
            <a:off x="5699125" y="2247900"/>
            <a:ext cx="3066415" cy="307340"/>
          </a:xfrm>
          <a:prstGeom prst="roundRect">
            <a:avLst/>
          </a:prstGeom>
          <a:solidFill>
            <a:srgbClr val="0000CC"/>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未经身份验证的配对</a:t>
            </a:r>
            <a:r>
              <a:rPr lang="zh-CN" altLang="en-US" sz="1600"/>
              <a:t>和数据签名</a:t>
            </a:r>
            <a:endParaRPr lang="zh-CN" altLang="en-US" sz="1600"/>
          </a:p>
        </p:txBody>
      </p:sp>
      <p:sp>
        <p:nvSpPr>
          <p:cNvPr id="29" name="圆角矩形 28"/>
          <p:cNvSpPr/>
          <p:nvPr/>
        </p:nvSpPr>
        <p:spPr>
          <a:xfrm>
            <a:off x="5699125" y="2682240"/>
            <a:ext cx="3037205" cy="307340"/>
          </a:xfrm>
          <a:prstGeom prst="roundRect">
            <a:avLst/>
          </a:prstGeom>
          <a:solidFill>
            <a:srgbClr val="0000CC"/>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ym typeface="+mn-ea"/>
              </a:rPr>
              <a:t>经身份验证的配对</a:t>
            </a:r>
            <a:r>
              <a:rPr lang="zh-CN" altLang="en-US" sz="1600">
                <a:sym typeface="+mn-ea"/>
              </a:rPr>
              <a:t>和数据签名</a:t>
            </a:r>
            <a:endParaRPr lang="zh-CN" altLang="en-US" sz="1600"/>
          </a:p>
        </p:txBody>
      </p:sp>
      <p:cxnSp>
        <p:nvCxnSpPr>
          <p:cNvPr id="30" name="曲线连接符 29"/>
          <p:cNvCxnSpPr>
            <a:stCxn id="14" idx="3"/>
            <a:endCxn id="31" idx="1"/>
          </p:cNvCxnSpPr>
          <p:nvPr/>
        </p:nvCxnSpPr>
        <p:spPr>
          <a:xfrm>
            <a:off x="4306570" y="3609975"/>
            <a:ext cx="1256030" cy="408940"/>
          </a:xfrm>
          <a:prstGeom prst="curvedConnector3">
            <a:avLst>
              <a:gd name="adj1" fmla="val 50000"/>
            </a:avLst>
          </a:prstGeom>
          <a:ln w="28575" cmpd="sng">
            <a:solidFill>
              <a:schemeClr val="accent2"/>
            </a:solidFill>
            <a:prstDash val="solid"/>
            <a:tailEnd type="arrow"/>
          </a:ln>
        </p:spPr>
        <p:style>
          <a:lnRef idx="2">
            <a:schemeClr val="accent1"/>
          </a:lnRef>
          <a:fillRef idx="0">
            <a:srgbClr val="FFFFFF"/>
          </a:fillRef>
          <a:effectRef idx="0">
            <a:srgbClr val="FFFFFF"/>
          </a:effectRef>
          <a:fontRef idx="minor">
            <a:schemeClr val="tx1"/>
          </a:fontRef>
        </p:style>
      </p:cxnSp>
      <p:sp>
        <p:nvSpPr>
          <p:cNvPr id="31" name="左大括号 30"/>
          <p:cNvSpPr/>
          <p:nvPr/>
        </p:nvSpPr>
        <p:spPr>
          <a:xfrm>
            <a:off x="5562600" y="3397250"/>
            <a:ext cx="182880" cy="1242695"/>
          </a:xfrm>
          <a:prstGeom prst="leftBrace">
            <a:avLst/>
          </a:prstGeom>
          <a:ln>
            <a:solidFill>
              <a:schemeClr val="accent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2" name="圆角矩形 31"/>
          <p:cNvSpPr/>
          <p:nvPr/>
        </p:nvSpPr>
        <p:spPr>
          <a:xfrm>
            <a:off x="5698490" y="3490595"/>
            <a:ext cx="3040380" cy="307340"/>
          </a:xfrm>
          <a:prstGeom prst="roundRect">
            <a:avLst/>
          </a:prstGeom>
          <a:solidFill>
            <a:schemeClr val="accent2"/>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无安全</a:t>
            </a:r>
            <a:r>
              <a:rPr lang="zh-CN" altLang="en-US" sz="1600"/>
              <a:t>要求</a:t>
            </a:r>
            <a:endParaRPr lang="zh-CN" altLang="en-US" sz="1600"/>
          </a:p>
        </p:txBody>
      </p:sp>
      <p:sp>
        <p:nvSpPr>
          <p:cNvPr id="33" name="圆角矩形 32"/>
          <p:cNvSpPr/>
          <p:nvPr/>
        </p:nvSpPr>
        <p:spPr>
          <a:xfrm>
            <a:off x="5698490" y="3865245"/>
            <a:ext cx="3040380" cy="307340"/>
          </a:xfrm>
          <a:prstGeom prst="roundRect">
            <a:avLst/>
          </a:prstGeom>
          <a:solidFill>
            <a:schemeClr val="accent2"/>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使用</a:t>
            </a:r>
            <a:r>
              <a:rPr lang="zh-CN" altLang="en-US" sz="1600"/>
              <a:t>未认证的广播</a:t>
            </a:r>
            <a:r>
              <a:rPr lang="zh-CN" altLang="en-US" sz="1600"/>
              <a:t>码</a:t>
            </a:r>
            <a:endParaRPr lang="zh-CN" altLang="en-US" sz="1600"/>
          </a:p>
        </p:txBody>
      </p:sp>
      <p:sp>
        <p:nvSpPr>
          <p:cNvPr id="34" name="圆角矩形 33"/>
          <p:cNvSpPr/>
          <p:nvPr/>
        </p:nvSpPr>
        <p:spPr>
          <a:xfrm>
            <a:off x="5708650" y="4239895"/>
            <a:ext cx="3040380" cy="307340"/>
          </a:xfrm>
          <a:prstGeom prst="roundRect">
            <a:avLst/>
          </a:prstGeom>
          <a:solidFill>
            <a:schemeClr val="accent2"/>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使用认证的广播</a:t>
            </a:r>
            <a:r>
              <a:rPr lang="zh-CN" altLang="en-US" sz="1600"/>
              <a:t>码</a:t>
            </a:r>
            <a:endParaRPr lang="zh-CN" altLang="en-US" sz="1600"/>
          </a:p>
        </p:txBody>
      </p:sp>
      <p:sp>
        <p:nvSpPr>
          <p:cNvPr id="3" name="文本框 2"/>
          <p:cNvSpPr txBox="1"/>
          <p:nvPr/>
        </p:nvSpPr>
        <p:spPr>
          <a:xfrm>
            <a:off x="215900" y="4551680"/>
            <a:ext cx="4509135" cy="306705"/>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cs typeface="宋体" panose="02010600030101010101" pitchFamily="2" charset="-122"/>
              </a:rPr>
              <a:t>注：关于数据签名，具体见</a:t>
            </a:r>
            <a:r>
              <a:rPr lang="en-US" altLang="zh-CN" sz="1400">
                <a:latin typeface="宋体" panose="02010600030101010101" pitchFamily="2" charset="-122"/>
                <a:ea typeface="宋体" panose="02010600030101010101" pitchFamily="2" charset="-122"/>
                <a:cs typeface="宋体" panose="02010600030101010101" pitchFamily="2" charset="-122"/>
              </a:rPr>
              <a:t>PPT</a:t>
            </a:r>
            <a:r>
              <a:rPr lang="zh-CN" altLang="en-US" sz="1400">
                <a:latin typeface="宋体" panose="02010600030101010101" pitchFamily="2" charset="-122"/>
                <a:ea typeface="宋体" panose="02010600030101010101" pitchFamily="2" charset="-122"/>
                <a:cs typeface="宋体" panose="02010600030101010101" pitchFamily="2" charset="-122"/>
              </a:rPr>
              <a:t>第</a:t>
            </a:r>
            <a:r>
              <a:rPr lang="en-US" altLang="zh-CN" sz="1400">
                <a:latin typeface="宋体" panose="02010600030101010101" pitchFamily="2" charset="-122"/>
                <a:ea typeface="宋体" panose="02010600030101010101" pitchFamily="2" charset="-122"/>
                <a:cs typeface="宋体" panose="02010600030101010101" pitchFamily="2" charset="-122"/>
              </a:rPr>
              <a:t>48-49</a:t>
            </a:r>
            <a:r>
              <a:rPr lang="zh-CN" altLang="en-US" sz="1400">
                <a:latin typeface="宋体" panose="02010600030101010101" pitchFamily="2" charset="-122"/>
                <a:ea typeface="宋体" panose="02010600030101010101" pitchFamily="2" charset="-122"/>
                <a:cs typeface="宋体" panose="02010600030101010101" pitchFamily="2" charset="-122"/>
              </a:rPr>
              <a:t>页补充</a:t>
            </a:r>
            <a:r>
              <a:rPr lang="en-US" altLang="zh-CN" sz="1400">
                <a:latin typeface="宋体" panose="02010600030101010101" pitchFamily="2" charset="-122"/>
                <a:ea typeface="宋体" panose="02010600030101010101" pitchFamily="2" charset="-122"/>
                <a:cs typeface="宋体" panose="02010600030101010101" pitchFamily="2" charset="-122"/>
              </a:rPr>
              <a:t>1</a:t>
            </a:r>
            <a:endParaRPr lang="en-US" altLang="zh-CN" sz="1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zh-CN" altLang="en-US" sz="2400" b="1" spc="-38" dirty="0">
                <a:solidFill>
                  <a:srgbClr val="3D5663"/>
                </a:solidFill>
                <a:latin typeface="Calibri" panose="020F0502020204030204" pitchFamily="34" charset="0"/>
                <a:cs typeface="Calibri" panose="020F0502020204030204" pitchFamily="34" charset="0"/>
              </a:rPr>
              <a:t>广播数据（</a:t>
            </a:r>
            <a:r>
              <a:rPr lang="en-US" altLang="zh-CN" sz="2400" b="1" spc="-38" dirty="0">
                <a:solidFill>
                  <a:srgbClr val="3D5663"/>
                </a:solidFill>
                <a:latin typeface="Calibri" panose="020F0502020204030204" pitchFamily="34" charset="0"/>
                <a:cs typeface="Calibri" panose="020F0502020204030204" pitchFamily="34" charset="0"/>
              </a:rPr>
              <a:t>0-31bytes</a:t>
            </a:r>
            <a:r>
              <a:rPr lang="zh-CN" altLang="en-US" sz="2400" b="1" spc="-38" dirty="0">
                <a:solidFill>
                  <a:srgbClr val="3D5663"/>
                </a:solidFill>
                <a:latin typeface="Calibri" panose="020F0502020204030204" pitchFamily="34" charset="0"/>
                <a:cs typeface="Calibri" panose="020F0502020204030204" pitchFamily="34" charset="0"/>
              </a:rPr>
              <a:t>）</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3" name="圆角矩形 2"/>
          <p:cNvSpPr/>
          <p:nvPr/>
        </p:nvSpPr>
        <p:spPr>
          <a:xfrm>
            <a:off x="252095" y="610235"/>
            <a:ext cx="7929245" cy="482600"/>
          </a:xfrm>
          <a:prstGeom prst="roundRect">
            <a:avLst>
              <a:gd name="adj" fmla="val 50000"/>
            </a:avLst>
          </a:prstGeom>
          <a:solidFill>
            <a:schemeClr val="bg1"/>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dirty="0">
                <a:solidFill>
                  <a:schemeClr val="tx1"/>
                </a:solidFill>
              </a:rPr>
              <a:t>        AD structure</a:t>
            </a:r>
            <a:r>
              <a:rPr lang="zh-CN" altLang="en-US" dirty="0">
                <a:solidFill>
                  <a:schemeClr val="tx1"/>
                </a:solidFill>
              </a:rPr>
              <a:t>：</a:t>
            </a:r>
            <a:r>
              <a:rPr lang="en-US" altLang="zh-CN" dirty="0">
                <a:solidFill>
                  <a:schemeClr val="tx1"/>
                </a:solidFill>
              </a:rPr>
              <a:t>length(1byte)+AD type(1byte)+AD data(length-1)</a:t>
            </a:r>
            <a:endParaRPr lang="zh-CN" altLang="en-US" dirty="0">
              <a:solidFill>
                <a:schemeClr val="tx1"/>
              </a:solidFill>
            </a:endParaRPr>
          </a:p>
        </p:txBody>
      </p:sp>
      <p:pic>
        <p:nvPicPr>
          <p:cNvPr id="36" name="图片 35" descr="图标&#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7397" y="564933"/>
            <a:ext cx="749569" cy="567531"/>
          </a:xfrm>
          <a:prstGeom prst="rect">
            <a:avLst/>
          </a:prstGeom>
        </p:spPr>
      </p:pic>
      <p:grpSp>
        <p:nvGrpSpPr>
          <p:cNvPr id="23" name="组合 22"/>
          <p:cNvGrpSpPr/>
          <p:nvPr>
            <p:custDataLst>
              <p:tags r:id="rId2"/>
            </p:custDataLst>
          </p:nvPr>
        </p:nvGrpSpPr>
        <p:grpSpPr>
          <a:xfrm>
            <a:off x="744565" y="1569085"/>
            <a:ext cx="7426392" cy="3169920"/>
            <a:chOff x="1173" y="2471"/>
            <a:chExt cx="11695" cy="4992"/>
          </a:xfrm>
        </p:grpSpPr>
        <p:sp>
          <p:nvSpPr>
            <p:cNvPr id="6" name="圆角矩形 5"/>
            <p:cNvSpPr/>
            <p:nvPr>
              <p:custDataLst>
                <p:tags r:id="rId3"/>
              </p:custDataLst>
            </p:nvPr>
          </p:nvSpPr>
          <p:spPr>
            <a:xfrm>
              <a:off x="1173" y="2471"/>
              <a:ext cx="5450" cy="2171"/>
            </a:xfrm>
            <a:prstGeom prst="roundRect">
              <a:avLst>
                <a:gd name="adj"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宋体" panose="02010600030101010101" pitchFamily="2" charset="-122"/>
                <a:ea typeface="宋体" panose="02010600030101010101" pitchFamily="2" charset="-122"/>
              </a:endParaRPr>
            </a:p>
          </p:txBody>
        </p:sp>
        <p:sp>
          <p:nvSpPr>
            <p:cNvPr id="15" name="圆角矩形 14"/>
            <p:cNvSpPr/>
            <p:nvPr>
              <p:custDataLst>
                <p:tags r:id="rId4"/>
              </p:custDataLst>
            </p:nvPr>
          </p:nvSpPr>
          <p:spPr>
            <a:xfrm>
              <a:off x="7250" y="2471"/>
              <a:ext cx="5450" cy="2197"/>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20" name="圆角矩形 19"/>
            <p:cNvSpPr/>
            <p:nvPr>
              <p:custDataLst>
                <p:tags r:id="rId5"/>
              </p:custDataLst>
            </p:nvPr>
          </p:nvSpPr>
          <p:spPr>
            <a:xfrm>
              <a:off x="1173" y="5401"/>
              <a:ext cx="5450" cy="2062"/>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21" name="任意多边形 20"/>
            <p:cNvSpPr/>
            <p:nvPr>
              <p:custDataLst>
                <p:tags r:id="rId6"/>
              </p:custDataLst>
            </p:nvPr>
          </p:nvSpPr>
          <p:spPr>
            <a:xfrm rot="900000">
              <a:off x="5389" y="4945"/>
              <a:ext cx="1402" cy="1030"/>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1"/>
            </a:solidFill>
            <a:ln w="9525" cap="flat">
              <a:noFill/>
              <a:prstDash val="solid"/>
              <a:miter/>
            </a:ln>
          </p:spPr>
          <p:txBody>
            <a:bodyPr rtlCol="0" anchor="ctr"/>
            <a:lstStyle/>
            <a:p>
              <a:endParaRPr lang="zh-CN" altLang="en-US"/>
            </a:p>
          </p:txBody>
        </p:sp>
        <p:sp>
          <p:nvSpPr>
            <p:cNvPr id="22" name="文本框 21"/>
            <p:cNvSpPr txBox="1"/>
            <p:nvPr>
              <p:custDataLst>
                <p:tags r:id="rId7"/>
              </p:custDataLst>
            </p:nvPr>
          </p:nvSpPr>
          <p:spPr>
            <a:xfrm rot="900000">
              <a:off x="5506" y="5148"/>
              <a:ext cx="1168" cy="678"/>
            </a:xfrm>
            <a:prstGeom prst="rect">
              <a:avLst/>
            </a:prstGeom>
            <a:noFill/>
          </p:spPr>
          <p:txBody>
            <a:bodyPr wrap="square" lIns="0" tIns="0" rIns="0" bIns="0" rtlCol="0">
              <a:spAutoFit/>
            </a:bodyPr>
            <a:lstStyle/>
            <a:p>
              <a:pPr algn="ctr"/>
              <a:r>
                <a:rPr lang="en-US" altLang="zh-CN" sz="2800" dirty="0">
                  <a:ln w="12700">
                    <a:noFill/>
                  </a:ln>
                  <a:solidFill>
                    <a:schemeClr val="bg1"/>
                  </a:solidFill>
                  <a:latin typeface="+mj-lt"/>
                  <a:ea typeface="+mj-ea"/>
                </a:rPr>
                <a:t>*03</a:t>
              </a:r>
              <a:endParaRPr lang="zh-CN" altLang="en-US" sz="2800" dirty="0">
                <a:ln w="12700">
                  <a:noFill/>
                </a:ln>
                <a:solidFill>
                  <a:schemeClr val="bg1"/>
                </a:solidFill>
                <a:latin typeface="+mj-lt"/>
                <a:ea typeface="+mj-ea"/>
              </a:endParaRPr>
            </a:p>
          </p:txBody>
        </p:sp>
        <p:sp>
          <p:nvSpPr>
            <p:cNvPr id="10" name="圆角矩形 9"/>
            <p:cNvSpPr/>
            <p:nvPr>
              <p:custDataLst>
                <p:tags r:id="rId8"/>
              </p:custDataLst>
            </p:nvPr>
          </p:nvSpPr>
          <p:spPr>
            <a:xfrm>
              <a:off x="7249" y="5401"/>
              <a:ext cx="5450" cy="2062"/>
            </a:xfrm>
            <a:prstGeom prst="roundRect">
              <a:avLst>
                <a:gd name="adj"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29" name="任意多边形 28"/>
            <p:cNvSpPr/>
            <p:nvPr>
              <p:custDataLst>
                <p:tags r:id="rId9"/>
              </p:custDataLst>
            </p:nvPr>
          </p:nvSpPr>
          <p:spPr>
            <a:xfrm rot="900000">
              <a:off x="11466" y="4945"/>
              <a:ext cx="1402" cy="1030"/>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2"/>
            </a:solidFill>
            <a:ln w="9525" cap="flat">
              <a:noFill/>
              <a:prstDash val="solid"/>
              <a:miter/>
            </a:ln>
          </p:spPr>
          <p:txBody>
            <a:bodyPr rtlCol="0" anchor="ctr"/>
            <a:lstStyle/>
            <a:p>
              <a:endParaRPr lang="zh-CN" altLang="en-US"/>
            </a:p>
          </p:txBody>
        </p:sp>
        <p:sp>
          <p:nvSpPr>
            <p:cNvPr id="30" name="文本框 29"/>
            <p:cNvSpPr txBox="1"/>
            <p:nvPr>
              <p:custDataLst>
                <p:tags r:id="rId10"/>
              </p:custDataLst>
            </p:nvPr>
          </p:nvSpPr>
          <p:spPr>
            <a:xfrm rot="900000">
              <a:off x="11584" y="5148"/>
              <a:ext cx="1168" cy="678"/>
            </a:xfrm>
            <a:prstGeom prst="rect">
              <a:avLst/>
            </a:prstGeom>
            <a:noFill/>
          </p:spPr>
          <p:txBody>
            <a:bodyPr wrap="square" lIns="0" tIns="0" rIns="0" bIns="0" rtlCol="0">
              <a:spAutoFit/>
            </a:bodyPr>
            <a:lstStyle/>
            <a:p>
              <a:pPr algn="ctr"/>
              <a:r>
                <a:rPr lang="en-US" altLang="zh-CN" sz="2800" dirty="0">
                  <a:ln w="12700">
                    <a:noFill/>
                  </a:ln>
                  <a:solidFill>
                    <a:schemeClr val="bg1"/>
                  </a:solidFill>
                  <a:latin typeface="+mj-lt"/>
                  <a:ea typeface="+mj-ea"/>
                </a:rPr>
                <a:t>*04</a:t>
              </a:r>
              <a:endParaRPr lang="zh-CN" altLang="en-US" sz="2800" dirty="0">
                <a:ln w="12700">
                  <a:noFill/>
                </a:ln>
                <a:solidFill>
                  <a:schemeClr val="bg1"/>
                </a:solidFill>
                <a:latin typeface="+mj-lt"/>
                <a:ea typeface="+mj-ea"/>
              </a:endParaRPr>
            </a:p>
          </p:txBody>
        </p:sp>
      </p:grpSp>
      <p:sp>
        <p:nvSpPr>
          <p:cNvPr id="7" name="任意多边形 6"/>
          <p:cNvSpPr/>
          <p:nvPr>
            <p:custDataLst>
              <p:tags r:id="rId11"/>
            </p:custDataLst>
          </p:nvPr>
        </p:nvSpPr>
        <p:spPr>
          <a:xfrm rot="900000">
            <a:off x="3421846" y="1279655"/>
            <a:ext cx="890255" cy="654331"/>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2"/>
          </a:solidFill>
          <a:ln w="9525" cap="flat">
            <a:noFill/>
            <a:prstDash val="solid"/>
            <a:miter/>
          </a:ln>
        </p:spPr>
        <p:txBody>
          <a:bodyPr rtlCol="0" anchor="ctr"/>
          <a:lstStyle/>
          <a:p>
            <a:endParaRPr lang="en-US" altLang="zh-CN"/>
          </a:p>
        </p:txBody>
      </p:sp>
      <p:sp>
        <p:nvSpPr>
          <p:cNvPr id="24" name="文本框 23"/>
          <p:cNvSpPr txBox="1"/>
          <p:nvPr>
            <p:custDataLst>
              <p:tags r:id="rId12"/>
            </p:custDataLst>
          </p:nvPr>
        </p:nvSpPr>
        <p:spPr>
          <a:xfrm rot="900000">
            <a:off x="3496142" y="1333236"/>
            <a:ext cx="741662" cy="430530"/>
          </a:xfrm>
          <a:prstGeom prst="rect">
            <a:avLst/>
          </a:prstGeom>
          <a:noFill/>
        </p:spPr>
        <p:txBody>
          <a:bodyPr wrap="square" lIns="0" tIns="0" rIns="0" bIns="0" rtlCol="0">
            <a:spAutoFit/>
          </a:bodyPr>
          <a:lstStyle/>
          <a:p>
            <a:pPr algn="ctr"/>
            <a:r>
              <a:rPr lang="en-US" altLang="zh-CN" sz="2800" dirty="0">
                <a:ln w="12700">
                  <a:noFill/>
                </a:ln>
                <a:solidFill>
                  <a:schemeClr val="bg1"/>
                </a:solidFill>
                <a:latin typeface="+mj-lt"/>
                <a:ea typeface="+mj-ea"/>
              </a:rPr>
              <a:t>*01</a:t>
            </a:r>
            <a:endParaRPr lang="zh-CN" altLang="en-US" sz="2800" dirty="0">
              <a:ln w="12700">
                <a:noFill/>
              </a:ln>
              <a:solidFill>
                <a:schemeClr val="bg1"/>
              </a:solidFill>
              <a:latin typeface="+mj-lt"/>
              <a:ea typeface="+mj-ea"/>
            </a:endParaRPr>
          </a:p>
        </p:txBody>
      </p:sp>
      <p:sp>
        <p:nvSpPr>
          <p:cNvPr id="16" name="任意多边形 15"/>
          <p:cNvSpPr/>
          <p:nvPr>
            <p:custDataLst>
              <p:tags r:id="rId13"/>
            </p:custDataLst>
          </p:nvPr>
        </p:nvSpPr>
        <p:spPr>
          <a:xfrm rot="900000">
            <a:off x="7280702" y="1279655"/>
            <a:ext cx="890255" cy="654331"/>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1"/>
          </a:solidFill>
          <a:ln w="9525" cap="flat">
            <a:noFill/>
            <a:prstDash val="solid"/>
            <a:miter/>
          </a:ln>
        </p:spPr>
        <p:txBody>
          <a:bodyPr rtlCol="0" anchor="ctr"/>
          <a:lstStyle/>
          <a:p>
            <a:endParaRPr lang="zh-CN" altLang="en-US"/>
          </a:p>
        </p:txBody>
      </p:sp>
      <p:sp>
        <p:nvSpPr>
          <p:cNvPr id="37" name="文本框 36"/>
          <p:cNvSpPr txBox="1"/>
          <p:nvPr>
            <p:custDataLst>
              <p:tags r:id="rId14"/>
            </p:custDataLst>
          </p:nvPr>
        </p:nvSpPr>
        <p:spPr>
          <a:xfrm rot="900000">
            <a:off x="7355650" y="1391656"/>
            <a:ext cx="741662" cy="430530"/>
          </a:xfrm>
          <a:prstGeom prst="rect">
            <a:avLst/>
          </a:prstGeom>
          <a:noFill/>
        </p:spPr>
        <p:txBody>
          <a:bodyPr wrap="square" lIns="0" tIns="0" rIns="0" bIns="0" rtlCol="0">
            <a:spAutoFit/>
          </a:bodyPr>
          <a:lstStyle/>
          <a:p>
            <a:pPr algn="ctr"/>
            <a:r>
              <a:rPr lang="en-US" altLang="zh-CN" sz="2800" dirty="0">
                <a:ln w="12700">
                  <a:noFill/>
                </a:ln>
                <a:solidFill>
                  <a:schemeClr val="bg1"/>
                </a:solidFill>
                <a:latin typeface="+mj-lt"/>
                <a:ea typeface="+mj-ea"/>
              </a:rPr>
              <a:t>*02</a:t>
            </a:r>
            <a:endParaRPr lang="zh-CN" altLang="en-US" sz="2800" dirty="0">
              <a:ln w="12700">
                <a:noFill/>
              </a:ln>
              <a:solidFill>
                <a:schemeClr val="bg1"/>
              </a:solidFill>
              <a:latin typeface="+mj-lt"/>
              <a:ea typeface="+mj-ea"/>
            </a:endParaRPr>
          </a:p>
        </p:txBody>
      </p:sp>
      <p:sp>
        <p:nvSpPr>
          <p:cNvPr id="38" name="文本框 37"/>
          <p:cNvSpPr txBox="1"/>
          <p:nvPr/>
        </p:nvSpPr>
        <p:spPr>
          <a:xfrm>
            <a:off x="906780" y="1538605"/>
            <a:ext cx="2445385" cy="1445260"/>
          </a:xfrm>
          <a:prstGeom prst="rect">
            <a:avLst/>
          </a:prstGeom>
          <a:noFill/>
        </p:spPr>
        <p:txBody>
          <a:bodyPr wrap="square" rtlCol="0">
            <a:spAutoFit/>
          </a:bodyPr>
          <a:p>
            <a:r>
              <a:rPr lang="zh-CN" altLang="en-US" b="1">
                <a:solidFill>
                  <a:schemeClr val="bg1"/>
                </a:solidFill>
                <a:latin typeface="宋体" panose="02010600030101010101" pitchFamily="2" charset="-122"/>
                <a:ea typeface="宋体" panose="02010600030101010101" pitchFamily="2" charset="-122"/>
                <a:cs typeface="宋体" panose="02010600030101010101" pitchFamily="2" charset="-122"/>
              </a:rPr>
              <a:t>标识</a:t>
            </a:r>
            <a:r>
              <a:rPr lang="en-US" altLang="zh-CN" b="1">
                <a:solidFill>
                  <a:schemeClr val="bg1"/>
                </a:solidFill>
                <a:latin typeface="宋体" panose="02010600030101010101" pitchFamily="2" charset="-122"/>
                <a:ea typeface="宋体" panose="02010600030101010101" pitchFamily="2" charset="-122"/>
                <a:cs typeface="宋体" panose="02010600030101010101" pitchFamily="2" charset="-122"/>
              </a:rPr>
              <a:t>(0x01)</a:t>
            </a:r>
            <a:endParaRPr lang="zh-CN" altLang="en-US">
              <a:solidFill>
                <a:schemeClr val="bg1"/>
              </a:solidFill>
              <a:latin typeface="宋体" panose="02010600030101010101" pitchFamily="2" charset="-122"/>
              <a:ea typeface="宋体" panose="02010600030101010101" pitchFamily="2" charset="-122"/>
              <a:cs typeface="宋体" panose="02010600030101010101" pitchFamily="2" charset="-122"/>
            </a:endParaRPr>
          </a:p>
          <a:p>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有限可发现模式</a:t>
            </a:r>
            <a:endPar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endParaRPr>
          </a:p>
          <a:p>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通用可发现模式</a:t>
            </a:r>
            <a:endPar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endParaRPr>
          </a:p>
          <a:p>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不支持</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ER/EDR</a:t>
            </a:r>
            <a:endParaRPr lang="en-US" altLang="zh-CN" sz="1400">
              <a:solidFill>
                <a:schemeClr val="bg1"/>
              </a:solidFill>
              <a:latin typeface="宋体" panose="02010600030101010101" pitchFamily="2" charset="-122"/>
              <a:ea typeface="宋体" panose="02010600030101010101" pitchFamily="2" charset="-122"/>
              <a:cs typeface="宋体" panose="02010600030101010101" pitchFamily="2" charset="-122"/>
            </a:endParaRPr>
          </a:p>
          <a:p>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支持</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LE</a:t>
            </a:r>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和</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BR/EDR</a:t>
            </a:r>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控制器</a:t>
            </a:r>
            <a:endPar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endParaRPr>
          </a:p>
          <a:p>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支持</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LE</a:t>
            </a:r>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和</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BR/EDR</a:t>
            </a:r>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主机</a:t>
            </a:r>
            <a:endPar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endParaRPr>
          </a:p>
        </p:txBody>
      </p:sp>
      <p:sp>
        <p:nvSpPr>
          <p:cNvPr id="67" name="文本框 66"/>
          <p:cNvSpPr txBox="1"/>
          <p:nvPr/>
        </p:nvSpPr>
        <p:spPr>
          <a:xfrm>
            <a:off x="4662170" y="1502410"/>
            <a:ext cx="2445385" cy="1445260"/>
          </a:xfrm>
          <a:prstGeom prst="rect">
            <a:avLst/>
          </a:prstGeom>
          <a:noFill/>
        </p:spPr>
        <p:txBody>
          <a:bodyPr wrap="square" rtlCol="0">
            <a:noAutofit/>
          </a:bodyPr>
          <a:p>
            <a:r>
              <a:rPr lang="zh-CN" altLang="en-US" b="1">
                <a:solidFill>
                  <a:schemeClr val="bg1"/>
                </a:solidFill>
                <a:latin typeface="宋体" panose="02010600030101010101" pitchFamily="2" charset="-122"/>
                <a:ea typeface="宋体" panose="02010600030101010101" pitchFamily="2" charset="-122"/>
                <a:cs typeface="宋体" panose="02010600030101010101" pitchFamily="2" charset="-122"/>
              </a:rPr>
              <a:t>服务</a:t>
            </a:r>
            <a:endParaRPr lang="zh-CN" altLang="en-US">
              <a:solidFill>
                <a:schemeClr val="bg1"/>
              </a:solidFill>
              <a:latin typeface="宋体" panose="02010600030101010101" pitchFamily="2" charset="-122"/>
              <a:ea typeface="宋体" panose="02010600030101010101" pitchFamily="2" charset="-122"/>
              <a:cs typeface="宋体" panose="02010600030101010101" pitchFamily="2" charset="-122"/>
            </a:endParaRPr>
          </a:p>
          <a:p>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16</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位服务</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UUID</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部分列表</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(0x02)</a:t>
            </a:r>
            <a:endPar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endParaRPr>
          </a:p>
          <a:p>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16</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位服务</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UUID</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完整列表</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(0x03)</a:t>
            </a:r>
            <a:endPar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endParaRPr>
          </a:p>
          <a:p>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32</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位服务</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UUID</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部分列表</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(0x04)</a:t>
            </a:r>
            <a:endPar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endParaRPr>
          </a:p>
          <a:p>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32</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位服务</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UUID</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完整列表</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(0x05)</a:t>
            </a:r>
            <a:endPar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endParaRPr>
          </a:p>
          <a:p>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128</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位服务</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UUID</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部分列表</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(0x06)</a:t>
            </a:r>
            <a:endParaRPr lang="en-US" altLang="zh-CN" sz="1200">
              <a:solidFill>
                <a:schemeClr val="bg1"/>
              </a:solidFill>
              <a:latin typeface="Times New Roman" panose="02020603050405020304" charset="0"/>
              <a:ea typeface="宋体" panose="02010600030101010101" pitchFamily="2" charset="-122"/>
              <a:cs typeface="Times New Roman" panose="02020603050405020304" charset="0"/>
            </a:endParaRPr>
          </a:p>
          <a:p>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128</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位服务</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UUID</a:t>
            </a:r>
            <a:r>
              <a:rPr lang="zh-CN" altLang="en-US" sz="1200">
                <a:solidFill>
                  <a:schemeClr val="bg1"/>
                </a:solidFill>
                <a:latin typeface="宋体" panose="02010600030101010101" pitchFamily="2" charset="-122"/>
                <a:ea typeface="宋体" panose="02010600030101010101" pitchFamily="2" charset="-122"/>
                <a:cs typeface="宋体" panose="02010600030101010101" pitchFamily="2" charset="-122"/>
              </a:rPr>
              <a:t>完整列表</a:t>
            </a:r>
            <a:r>
              <a:rPr lang="en-US" altLang="zh-CN" sz="1200">
                <a:solidFill>
                  <a:schemeClr val="bg1"/>
                </a:solidFill>
                <a:latin typeface="Times New Roman" panose="02020603050405020304" charset="0"/>
                <a:ea typeface="宋体" panose="02010600030101010101" pitchFamily="2" charset="-122"/>
                <a:cs typeface="Times New Roman" panose="02020603050405020304" charset="0"/>
              </a:rPr>
              <a:t>(0x07)</a:t>
            </a:r>
            <a:endPar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endParaRPr>
          </a:p>
          <a:p>
            <a:endPar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endParaRPr>
          </a:p>
        </p:txBody>
      </p:sp>
      <p:sp>
        <p:nvSpPr>
          <p:cNvPr id="74" name="文本框 73"/>
          <p:cNvSpPr txBox="1"/>
          <p:nvPr/>
        </p:nvSpPr>
        <p:spPr>
          <a:xfrm>
            <a:off x="906780" y="3423920"/>
            <a:ext cx="2445385" cy="1105535"/>
          </a:xfrm>
          <a:prstGeom prst="rect">
            <a:avLst/>
          </a:prstGeom>
          <a:noFill/>
        </p:spPr>
        <p:txBody>
          <a:bodyPr wrap="square" rtlCol="0">
            <a:spAutoFit/>
          </a:bodyPr>
          <a:p>
            <a:pPr>
              <a:lnSpc>
                <a:spcPct val="110000"/>
              </a:lnSpc>
            </a:pPr>
            <a:r>
              <a:rPr lang="zh-CN" altLang="en-US" b="1">
                <a:solidFill>
                  <a:schemeClr val="bg1"/>
                </a:solidFill>
                <a:latin typeface="宋体" panose="02010600030101010101" pitchFamily="2" charset="-122"/>
                <a:ea typeface="宋体" panose="02010600030101010101" pitchFamily="2" charset="-122"/>
                <a:cs typeface="宋体" panose="02010600030101010101" pitchFamily="2" charset="-122"/>
              </a:rPr>
              <a:t>本地名称</a:t>
            </a:r>
            <a:endParaRPr lang="zh-CN" altLang="en-US">
              <a:solidFill>
                <a:schemeClr val="bg1"/>
              </a:solidFill>
              <a:latin typeface="宋体" panose="02010600030101010101" pitchFamily="2" charset="-122"/>
              <a:ea typeface="宋体" panose="02010600030101010101" pitchFamily="2" charset="-122"/>
              <a:cs typeface="宋体" panose="02010600030101010101" pitchFamily="2" charset="-122"/>
            </a:endParaRPr>
          </a:p>
          <a:p>
            <a:pPr>
              <a:lnSpc>
                <a:spcPct val="110000"/>
              </a:lnSpc>
            </a:pPr>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裁剪本地名称</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(0x08)</a:t>
            </a:r>
            <a:endPar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endParaRPr>
          </a:p>
          <a:p>
            <a:pPr>
              <a:lnSpc>
                <a:spcPct val="110000"/>
              </a:lnSpc>
            </a:pPr>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完整本地名称</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(0x09)</a:t>
            </a:r>
            <a:endPar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endParaRPr>
          </a:p>
          <a:p>
            <a:pPr>
              <a:lnSpc>
                <a:spcPct val="110000"/>
              </a:lnSpc>
            </a:pPr>
            <a:endPar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endParaRPr>
          </a:p>
        </p:txBody>
      </p:sp>
      <p:sp>
        <p:nvSpPr>
          <p:cNvPr id="77" name="文本框 76"/>
          <p:cNvSpPr txBox="1"/>
          <p:nvPr/>
        </p:nvSpPr>
        <p:spPr>
          <a:xfrm>
            <a:off x="4765675" y="3427095"/>
            <a:ext cx="2445385" cy="681990"/>
          </a:xfrm>
          <a:prstGeom prst="rect">
            <a:avLst/>
          </a:prstGeom>
          <a:noFill/>
        </p:spPr>
        <p:txBody>
          <a:bodyPr wrap="square" rtlCol="0">
            <a:spAutoFit/>
          </a:bodyPr>
          <a:p>
            <a:pPr>
              <a:lnSpc>
                <a:spcPct val="120000"/>
              </a:lnSpc>
            </a:pPr>
            <a:r>
              <a:rPr lang="zh-CN" altLang="en-US" b="1">
                <a:solidFill>
                  <a:schemeClr val="bg1"/>
                </a:solidFill>
                <a:latin typeface="宋体" panose="02010600030101010101" pitchFamily="2" charset="-122"/>
                <a:ea typeface="宋体" panose="02010600030101010101" pitchFamily="2" charset="-122"/>
                <a:cs typeface="宋体" panose="02010600030101010101" pitchFamily="2" charset="-122"/>
              </a:rPr>
              <a:t>发射功率等级</a:t>
            </a:r>
            <a:r>
              <a:rPr lang="en-US" altLang="zh-CN" b="1">
                <a:solidFill>
                  <a:schemeClr val="bg1"/>
                </a:solidFill>
                <a:latin typeface="Times New Roman" panose="02020603050405020304" charset="0"/>
                <a:ea typeface="宋体" panose="02010600030101010101" pitchFamily="2" charset="-122"/>
                <a:cs typeface="Times New Roman" panose="02020603050405020304" charset="0"/>
              </a:rPr>
              <a:t>(0x0A)</a:t>
            </a:r>
            <a:endParaRPr lang="zh-CN" altLang="en-US" b="1">
              <a:solidFill>
                <a:schemeClr val="bg1"/>
              </a:solidFill>
              <a:latin typeface="宋体" panose="02010600030101010101" pitchFamily="2" charset="-122"/>
              <a:ea typeface="宋体" panose="02010600030101010101" pitchFamily="2" charset="-122"/>
              <a:cs typeface="宋体" panose="02010600030101010101" pitchFamily="2" charset="-122"/>
            </a:endParaRPr>
          </a:p>
          <a:p>
            <a:pPr>
              <a:lnSpc>
                <a:spcPct val="120000"/>
              </a:lnSpc>
            </a:pPr>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传输时采用的功率值</a:t>
            </a:r>
            <a:endPar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zh-CN" altLang="en-US" sz="2400" b="1" spc="-38" dirty="0">
                <a:solidFill>
                  <a:srgbClr val="3D5663"/>
                </a:solidFill>
                <a:latin typeface="Calibri" panose="020F0502020204030204" pitchFamily="34" charset="0"/>
                <a:cs typeface="Calibri" panose="020F0502020204030204" pitchFamily="34" charset="0"/>
              </a:rPr>
              <a:t>广播数据（</a:t>
            </a:r>
            <a:r>
              <a:rPr lang="en-US" altLang="zh-CN" sz="2400" b="1" spc="-38" dirty="0">
                <a:solidFill>
                  <a:srgbClr val="3D5663"/>
                </a:solidFill>
                <a:latin typeface="Calibri" panose="020F0502020204030204" pitchFamily="34" charset="0"/>
                <a:cs typeface="Calibri" panose="020F0502020204030204" pitchFamily="34" charset="0"/>
              </a:rPr>
              <a:t>0-31bytes</a:t>
            </a:r>
            <a:r>
              <a:rPr lang="zh-CN" altLang="en-US" sz="2400" b="1" spc="-38" dirty="0">
                <a:solidFill>
                  <a:srgbClr val="3D5663"/>
                </a:solidFill>
                <a:latin typeface="Calibri" panose="020F0502020204030204" pitchFamily="34" charset="0"/>
                <a:cs typeface="Calibri" panose="020F0502020204030204" pitchFamily="34" charset="0"/>
              </a:rPr>
              <a:t>）</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3" name="圆角矩形 2"/>
          <p:cNvSpPr/>
          <p:nvPr/>
        </p:nvSpPr>
        <p:spPr>
          <a:xfrm>
            <a:off x="252095" y="610235"/>
            <a:ext cx="7929245" cy="482600"/>
          </a:xfrm>
          <a:prstGeom prst="roundRect">
            <a:avLst>
              <a:gd name="adj" fmla="val 50000"/>
            </a:avLst>
          </a:prstGeom>
          <a:solidFill>
            <a:schemeClr val="bg1"/>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dirty="0">
                <a:solidFill>
                  <a:schemeClr val="tx1"/>
                </a:solidFill>
              </a:rPr>
              <a:t>        AD structure</a:t>
            </a:r>
            <a:r>
              <a:rPr lang="zh-CN" altLang="en-US" dirty="0">
                <a:solidFill>
                  <a:schemeClr val="tx1"/>
                </a:solidFill>
              </a:rPr>
              <a:t>：</a:t>
            </a:r>
            <a:r>
              <a:rPr lang="en-US" altLang="zh-CN" dirty="0">
                <a:solidFill>
                  <a:schemeClr val="tx1"/>
                </a:solidFill>
              </a:rPr>
              <a:t>length(1byte)+AD type(1byte)+AD data(length-1)</a:t>
            </a:r>
            <a:endParaRPr lang="zh-CN" altLang="en-US" dirty="0">
              <a:solidFill>
                <a:schemeClr val="tx1"/>
              </a:solidFill>
            </a:endParaRPr>
          </a:p>
        </p:txBody>
      </p:sp>
      <p:pic>
        <p:nvPicPr>
          <p:cNvPr id="36" name="图片 35" descr="图标&#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7397" y="564933"/>
            <a:ext cx="749569" cy="567531"/>
          </a:xfrm>
          <a:prstGeom prst="rect">
            <a:avLst/>
          </a:prstGeom>
        </p:spPr>
      </p:pic>
      <p:grpSp>
        <p:nvGrpSpPr>
          <p:cNvPr id="23" name="组合 22"/>
          <p:cNvGrpSpPr/>
          <p:nvPr>
            <p:custDataLst>
              <p:tags r:id="rId2"/>
            </p:custDataLst>
          </p:nvPr>
        </p:nvGrpSpPr>
        <p:grpSpPr>
          <a:xfrm>
            <a:off x="744565" y="1569085"/>
            <a:ext cx="7426392" cy="3169920"/>
            <a:chOff x="1173" y="2471"/>
            <a:chExt cx="11695" cy="4992"/>
          </a:xfrm>
        </p:grpSpPr>
        <p:sp>
          <p:nvSpPr>
            <p:cNvPr id="6" name="圆角矩形 5"/>
            <p:cNvSpPr/>
            <p:nvPr>
              <p:custDataLst>
                <p:tags r:id="rId3"/>
              </p:custDataLst>
            </p:nvPr>
          </p:nvSpPr>
          <p:spPr>
            <a:xfrm>
              <a:off x="1173" y="2471"/>
              <a:ext cx="5450" cy="1966"/>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宋体" panose="02010600030101010101" pitchFamily="2" charset="-122"/>
                <a:ea typeface="宋体" panose="02010600030101010101" pitchFamily="2" charset="-122"/>
              </a:endParaRPr>
            </a:p>
          </p:txBody>
        </p:sp>
        <p:sp>
          <p:nvSpPr>
            <p:cNvPr id="15" name="圆角矩形 14"/>
            <p:cNvSpPr/>
            <p:nvPr>
              <p:custDataLst>
                <p:tags r:id="rId4"/>
              </p:custDataLst>
            </p:nvPr>
          </p:nvSpPr>
          <p:spPr>
            <a:xfrm>
              <a:off x="7250" y="2471"/>
              <a:ext cx="5450" cy="1965"/>
            </a:xfrm>
            <a:prstGeom prst="roundRect">
              <a:avLst>
                <a:gd name="adj"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20" name="圆角矩形 19"/>
            <p:cNvSpPr/>
            <p:nvPr>
              <p:custDataLst>
                <p:tags r:id="rId5"/>
              </p:custDataLst>
            </p:nvPr>
          </p:nvSpPr>
          <p:spPr>
            <a:xfrm>
              <a:off x="1173" y="5401"/>
              <a:ext cx="5450" cy="2062"/>
            </a:xfrm>
            <a:prstGeom prst="roundRect">
              <a:avLst>
                <a:gd name="adj"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21" name="任意多边形 20"/>
            <p:cNvSpPr/>
            <p:nvPr>
              <p:custDataLst>
                <p:tags r:id="rId6"/>
              </p:custDataLst>
            </p:nvPr>
          </p:nvSpPr>
          <p:spPr>
            <a:xfrm rot="900000">
              <a:off x="5389" y="4945"/>
              <a:ext cx="1402" cy="1030"/>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2"/>
            </a:solidFill>
            <a:ln w="9525" cap="flat">
              <a:noFill/>
              <a:prstDash val="solid"/>
              <a:miter/>
            </a:ln>
          </p:spPr>
          <p:txBody>
            <a:bodyPr rtlCol="0" anchor="ctr"/>
            <a:lstStyle/>
            <a:p>
              <a:endParaRPr lang="zh-CN" altLang="en-US"/>
            </a:p>
          </p:txBody>
        </p:sp>
        <p:sp>
          <p:nvSpPr>
            <p:cNvPr id="22" name="文本框 21"/>
            <p:cNvSpPr txBox="1"/>
            <p:nvPr>
              <p:custDataLst>
                <p:tags r:id="rId7"/>
              </p:custDataLst>
            </p:nvPr>
          </p:nvSpPr>
          <p:spPr>
            <a:xfrm rot="900000">
              <a:off x="5506" y="5148"/>
              <a:ext cx="1168" cy="678"/>
            </a:xfrm>
            <a:prstGeom prst="rect">
              <a:avLst/>
            </a:prstGeom>
            <a:noFill/>
          </p:spPr>
          <p:txBody>
            <a:bodyPr wrap="square" lIns="0" tIns="0" rIns="0" bIns="0" rtlCol="0">
              <a:spAutoFit/>
            </a:bodyPr>
            <a:lstStyle/>
            <a:p>
              <a:pPr algn="ctr"/>
              <a:r>
                <a:rPr lang="en-US" altLang="zh-CN" sz="2800" dirty="0">
                  <a:ln w="12700">
                    <a:noFill/>
                  </a:ln>
                  <a:solidFill>
                    <a:schemeClr val="bg1"/>
                  </a:solidFill>
                  <a:latin typeface="+mj-lt"/>
                  <a:ea typeface="+mj-ea"/>
                </a:rPr>
                <a:t>*07</a:t>
              </a:r>
              <a:endParaRPr lang="zh-CN" altLang="en-US" sz="2800" dirty="0">
                <a:ln w="12700">
                  <a:noFill/>
                </a:ln>
                <a:solidFill>
                  <a:schemeClr val="bg1"/>
                </a:solidFill>
                <a:latin typeface="+mj-lt"/>
                <a:ea typeface="+mj-ea"/>
              </a:endParaRPr>
            </a:p>
          </p:txBody>
        </p:sp>
        <p:sp>
          <p:nvSpPr>
            <p:cNvPr id="8" name="圆角矩形 7"/>
            <p:cNvSpPr/>
            <p:nvPr>
              <p:custDataLst>
                <p:tags r:id="rId8"/>
              </p:custDataLst>
            </p:nvPr>
          </p:nvSpPr>
          <p:spPr>
            <a:xfrm>
              <a:off x="7249" y="5401"/>
              <a:ext cx="5450" cy="2062"/>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29" name="任意多边形 28"/>
            <p:cNvSpPr/>
            <p:nvPr>
              <p:custDataLst>
                <p:tags r:id="rId9"/>
              </p:custDataLst>
            </p:nvPr>
          </p:nvSpPr>
          <p:spPr>
            <a:xfrm rot="900000">
              <a:off x="11466" y="4945"/>
              <a:ext cx="1402" cy="1030"/>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1"/>
            </a:solidFill>
            <a:ln w="9525" cap="flat">
              <a:noFill/>
              <a:prstDash val="solid"/>
              <a:miter/>
            </a:ln>
          </p:spPr>
          <p:txBody>
            <a:bodyPr rtlCol="0" anchor="ctr"/>
            <a:lstStyle/>
            <a:p>
              <a:endParaRPr lang="zh-CN" altLang="en-US"/>
            </a:p>
          </p:txBody>
        </p:sp>
        <p:sp>
          <p:nvSpPr>
            <p:cNvPr id="30" name="文本框 29"/>
            <p:cNvSpPr txBox="1"/>
            <p:nvPr>
              <p:custDataLst>
                <p:tags r:id="rId10"/>
              </p:custDataLst>
            </p:nvPr>
          </p:nvSpPr>
          <p:spPr>
            <a:xfrm rot="900000">
              <a:off x="11584" y="5148"/>
              <a:ext cx="1168" cy="678"/>
            </a:xfrm>
            <a:prstGeom prst="rect">
              <a:avLst/>
            </a:prstGeom>
            <a:noFill/>
          </p:spPr>
          <p:txBody>
            <a:bodyPr wrap="square" lIns="0" tIns="0" rIns="0" bIns="0" rtlCol="0">
              <a:spAutoFit/>
            </a:bodyPr>
            <a:lstStyle/>
            <a:p>
              <a:pPr algn="ctr"/>
              <a:r>
                <a:rPr lang="en-US" altLang="zh-CN" sz="2800" dirty="0">
                  <a:ln w="12700">
                    <a:noFill/>
                  </a:ln>
                  <a:solidFill>
                    <a:schemeClr val="bg1"/>
                  </a:solidFill>
                  <a:latin typeface="+mj-lt"/>
                  <a:ea typeface="+mj-ea"/>
                </a:rPr>
                <a:t>*08</a:t>
              </a:r>
              <a:endParaRPr lang="zh-CN" altLang="en-US" sz="2800" dirty="0">
                <a:ln w="12700">
                  <a:noFill/>
                </a:ln>
                <a:solidFill>
                  <a:schemeClr val="bg1"/>
                </a:solidFill>
                <a:latin typeface="+mj-lt"/>
                <a:ea typeface="+mj-ea"/>
              </a:endParaRPr>
            </a:p>
          </p:txBody>
        </p:sp>
      </p:grpSp>
      <p:sp>
        <p:nvSpPr>
          <p:cNvPr id="12" name="任意多边形 11"/>
          <p:cNvSpPr/>
          <p:nvPr>
            <p:custDataLst>
              <p:tags r:id="rId11"/>
            </p:custDataLst>
          </p:nvPr>
        </p:nvSpPr>
        <p:spPr>
          <a:xfrm rot="900000">
            <a:off x="3421846" y="1279655"/>
            <a:ext cx="890255" cy="654331"/>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1"/>
          </a:solidFill>
          <a:ln w="9525" cap="flat">
            <a:noFill/>
            <a:prstDash val="solid"/>
            <a:miter/>
          </a:ln>
        </p:spPr>
        <p:txBody>
          <a:bodyPr rtlCol="0" anchor="ctr"/>
          <a:lstStyle/>
          <a:p>
            <a:endParaRPr lang="en-US" altLang="zh-CN"/>
          </a:p>
        </p:txBody>
      </p:sp>
      <p:sp>
        <p:nvSpPr>
          <p:cNvPr id="13" name="文本框 12"/>
          <p:cNvSpPr txBox="1"/>
          <p:nvPr>
            <p:custDataLst>
              <p:tags r:id="rId12"/>
            </p:custDataLst>
          </p:nvPr>
        </p:nvSpPr>
        <p:spPr>
          <a:xfrm rot="900000">
            <a:off x="3495507" y="1391656"/>
            <a:ext cx="741662" cy="430530"/>
          </a:xfrm>
          <a:prstGeom prst="rect">
            <a:avLst/>
          </a:prstGeom>
          <a:noFill/>
        </p:spPr>
        <p:txBody>
          <a:bodyPr wrap="square" lIns="0" tIns="0" rIns="0" bIns="0" rtlCol="0">
            <a:spAutoFit/>
          </a:bodyPr>
          <a:lstStyle/>
          <a:p>
            <a:pPr algn="ctr"/>
            <a:r>
              <a:rPr lang="en-US" altLang="zh-CN" sz="2800" dirty="0">
                <a:ln w="12700">
                  <a:noFill/>
                </a:ln>
                <a:solidFill>
                  <a:schemeClr val="bg1"/>
                </a:solidFill>
                <a:latin typeface="+mj-lt"/>
                <a:ea typeface="+mj-ea"/>
              </a:rPr>
              <a:t>*05</a:t>
            </a:r>
            <a:endParaRPr lang="zh-CN" altLang="en-US" sz="2800" dirty="0">
              <a:ln w="12700">
                <a:noFill/>
              </a:ln>
              <a:solidFill>
                <a:schemeClr val="bg1"/>
              </a:solidFill>
              <a:latin typeface="+mj-lt"/>
              <a:ea typeface="+mj-ea"/>
            </a:endParaRPr>
          </a:p>
        </p:txBody>
      </p:sp>
      <p:sp>
        <p:nvSpPr>
          <p:cNvPr id="16" name="任意多边形 15"/>
          <p:cNvSpPr/>
          <p:nvPr>
            <p:custDataLst>
              <p:tags r:id="rId13"/>
            </p:custDataLst>
          </p:nvPr>
        </p:nvSpPr>
        <p:spPr>
          <a:xfrm rot="900000">
            <a:off x="7280702" y="1279655"/>
            <a:ext cx="890255" cy="654331"/>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2"/>
          </a:solidFill>
          <a:ln w="9525" cap="flat">
            <a:noFill/>
            <a:prstDash val="solid"/>
            <a:miter/>
          </a:ln>
        </p:spPr>
        <p:txBody>
          <a:bodyPr rtlCol="0" anchor="ctr"/>
          <a:lstStyle/>
          <a:p>
            <a:endParaRPr lang="zh-CN" altLang="en-US"/>
          </a:p>
        </p:txBody>
      </p:sp>
      <p:sp>
        <p:nvSpPr>
          <p:cNvPr id="37" name="文本框 36"/>
          <p:cNvSpPr txBox="1"/>
          <p:nvPr>
            <p:custDataLst>
              <p:tags r:id="rId14"/>
            </p:custDataLst>
          </p:nvPr>
        </p:nvSpPr>
        <p:spPr>
          <a:xfrm rot="900000">
            <a:off x="7355650" y="1391656"/>
            <a:ext cx="741662" cy="430530"/>
          </a:xfrm>
          <a:prstGeom prst="rect">
            <a:avLst/>
          </a:prstGeom>
          <a:noFill/>
        </p:spPr>
        <p:txBody>
          <a:bodyPr wrap="square" lIns="0" tIns="0" rIns="0" bIns="0" rtlCol="0">
            <a:spAutoFit/>
          </a:bodyPr>
          <a:lstStyle/>
          <a:p>
            <a:pPr algn="ctr"/>
            <a:r>
              <a:rPr lang="en-US" altLang="zh-CN" sz="2800" dirty="0">
                <a:ln w="12700">
                  <a:noFill/>
                </a:ln>
                <a:solidFill>
                  <a:schemeClr val="bg1"/>
                </a:solidFill>
                <a:latin typeface="+mj-lt"/>
                <a:ea typeface="+mj-ea"/>
              </a:rPr>
              <a:t>*06</a:t>
            </a:r>
            <a:endParaRPr lang="zh-CN" altLang="en-US" sz="2800" dirty="0">
              <a:ln w="12700">
                <a:noFill/>
              </a:ln>
              <a:solidFill>
                <a:schemeClr val="bg1"/>
              </a:solidFill>
              <a:latin typeface="+mj-lt"/>
              <a:ea typeface="+mj-ea"/>
            </a:endParaRPr>
          </a:p>
        </p:txBody>
      </p:sp>
      <p:sp>
        <p:nvSpPr>
          <p:cNvPr id="38" name="文本框 37"/>
          <p:cNvSpPr txBox="1"/>
          <p:nvPr>
            <p:custDataLst>
              <p:tags r:id="rId15"/>
            </p:custDataLst>
          </p:nvPr>
        </p:nvSpPr>
        <p:spPr>
          <a:xfrm>
            <a:off x="906780" y="1538605"/>
            <a:ext cx="2553970" cy="835025"/>
          </a:xfrm>
          <a:prstGeom prst="rect">
            <a:avLst/>
          </a:prstGeom>
          <a:noFill/>
        </p:spPr>
        <p:txBody>
          <a:bodyPr wrap="square" rtlCol="0">
            <a:spAutoFit/>
          </a:bodyPr>
          <a:p>
            <a:pPr>
              <a:lnSpc>
                <a:spcPct val="110000"/>
              </a:lnSpc>
            </a:pPr>
            <a:r>
              <a:rPr lang="zh-CN" altLang="en-US" sz="1600" b="1">
                <a:solidFill>
                  <a:schemeClr val="bg1"/>
                </a:solidFill>
                <a:latin typeface="宋体" panose="02010600030101010101" pitchFamily="2" charset="-122"/>
                <a:ea typeface="宋体" panose="02010600030101010101" pitchFamily="2" charset="-122"/>
                <a:cs typeface="宋体" panose="02010600030101010101" pitchFamily="2" charset="-122"/>
              </a:rPr>
              <a:t>从设备连接间隔范围</a:t>
            </a:r>
            <a:r>
              <a:rPr lang="en-US" altLang="zh-CN" sz="1600" b="1">
                <a:solidFill>
                  <a:schemeClr val="bg1"/>
                </a:solidFill>
                <a:latin typeface="Times New Roman" panose="02020603050405020304" charset="0"/>
                <a:ea typeface="宋体" panose="02010600030101010101" pitchFamily="2" charset="-122"/>
                <a:cs typeface="Times New Roman" panose="02020603050405020304" charset="0"/>
              </a:rPr>
              <a:t>(0x12)</a:t>
            </a:r>
            <a:endParaRPr lang="zh-CN" altLang="en-US" sz="1600" b="1">
              <a:solidFill>
                <a:schemeClr val="bg1"/>
              </a:solidFill>
              <a:latin typeface="宋体" panose="02010600030101010101" pitchFamily="2" charset="-122"/>
              <a:ea typeface="宋体" panose="02010600030101010101" pitchFamily="2" charset="-122"/>
              <a:cs typeface="宋体" panose="02010600030101010101" pitchFamily="2" charset="-122"/>
            </a:endParaRPr>
          </a:p>
          <a:p>
            <a:pPr>
              <a:lnSpc>
                <a:spcPct val="110000"/>
              </a:lnSpc>
            </a:pP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Min-Max</a:t>
            </a:r>
            <a:endParaRPr lang="en-US" altLang="zh-CN" sz="1400">
              <a:solidFill>
                <a:schemeClr val="bg1"/>
              </a:solidFill>
              <a:latin typeface="Times New Roman" panose="02020603050405020304" charset="0"/>
              <a:ea typeface="宋体" panose="02010600030101010101" pitchFamily="2" charset="-122"/>
              <a:cs typeface="Times New Roman" panose="02020603050405020304" charset="0"/>
            </a:endParaRPr>
          </a:p>
          <a:p>
            <a:pPr>
              <a:lnSpc>
                <a:spcPct val="110000"/>
              </a:lnSpc>
            </a:pPr>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单位：</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1.25ms</a:t>
            </a:r>
            <a:endParaRPr lang="en-US" altLang="zh-CN" sz="1400">
              <a:solidFill>
                <a:schemeClr val="bg1"/>
              </a:solidFill>
              <a:latin typeface="Times New Roman" panose="02020603050405020304" charset="0"/>
              <a:ea typeface="宋体" panose="02010600030101010101" pitchFamily="2" charset="-122"/>
              <a:cs typeface="Times New Roman" panose="02020603050405020304" charset="0"/>
            </a:endParaRPr>
          </a:p>
        </p:txBody>
      </p:sp>
      <p:sp>
        <p:nvSpPr>
          <p:cNvPr id="74" name="文本框 73"/>
          <p:cNvSpPr txBox="1"/>
          <p:nvPr>
            <p:custDataLst>
              <p:tags r:id="rId16"/>
            </p:custDataLst>
          </p:nvPr>
        </p:nvSpPr>
        <p:spPr>
          <a:xfrm>
            <a:off x="906780" y="3423920"/>
            <a:ext cx="2445385" cy="881380"/>
          </a:xfrm>
          <a:prstGeom prst="rect">
            <a:avLst/>
          </a:prstGeom>
          <a:noFill/>
        </p:spPr>
        <p:txBody>
          <a:bodyPr wrap="square" rtlCol="0">
            <a:spAutoFit/>
          </a:bodyPr>
          <a:p>
            <a:pPr>
              <a:lnSpc>
                <a:spcPct val="120000"/>
              </a:lnSpc>
            </a:pPr>
            <a:r>
              <a:rPr lang="zh-CN" altLang="en-US" sz="1600" b="1">
                <a:solidFill>
                  <a:schemeClr val="bg1"/>
                </a:solidFill>
                <a:latin typeface="宋体" panose="02010600030101010101" pitchFamily="2" charset="-122"/>
                <a:ea typeface="宋体" panose="02010600030101010101" pitchFamily="2" charset="-122"/>
                <a:cs typeface="宋体" panose="02010600030101010101" pitchFamily="2" charset="-122"/>
              </a:rPr>
              <a:t>服务数据</a:t>
            </a:r>
            <a:r>
              <a:rPr lang="en-US" altLang="zh-CN" sz="1600" b="1">
                <a:solidFill>
                  <a:schemeClr val="bg1"/>
                </a:solidFill>
                <a:latin typeface="Times New Roman" panose="02020603050405020304" charset="0"/>
                <a:ea typeface="宋体" panose="02010600030101010101" pitchFamily="2" charset="-122"/>
                <a:cs typeface="Times New Roman" panose="02020603050405020304" charset="0"/>
              </a:rPr>
              <a:t>(0x16)</a:t>
            </a:r>
            <a:endParaRPr lang="zh-CN" altLang="en-US" sz="1600" b="1">
              <a:solidFill>
                <a:schemeClr val="bg1"/>
              </a:solidFill>
              <a:latin typeface="宋体" panose="02010600030101010101" pitchFamily="2" charset="-122"/>
              <a:ea typeface="宋体" panose="02010600030101010101" pitchFamily="2" charset="-122"/>
              <a:cs typeface="宋体" panose="02010600030101010101" pitchFamily="2" charset="-122"/>
            </a:endParaRPr>
          </a:p>
          <a:p>
            <a:pPr>
              <a:lnSpc>
                <a:spcPct val="120000"/>
              </a:lnSpc>
            </a:pP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[16-bit UUID][</a:t>
            </a:r>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数据</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a:t>
            </a:r>
            <a:endParaRPr lang="en-US" altLang="zh-CN" sz="1400">
              <a:solidFill>
                <a:schemeClr val="bg1"/>
              </a:solidFill>
              <a:latin typeface="宋体" panose="02010600030101010101" pitchFamily="2" charset="-122"/>
              <a:ea typeface="宋体" panose="02010600030101010101" pitchFamily="2" charset="-122"/>
              <a:cs typeface="宋体" panose="02010600030101010101" pitchFamily="2" charset="-122"/>
            </a:endParaRPr>
          </a:p>
          <a:p>
            <a:pPr>
              <a:lnSpc>
                <a:spcPct val="110000"/>
              </a:lnSpc>
            </a:pPr>
            <a:endParaRPr lang="en-US" altLang="zh-CN" sz="1400">
              <a:solidFill>
                <a:schemeClr val="bg1"/>
              </a:solidFill>
              <a:latin typeface="宋体" panose="02010600030101010101" pitchFamily="2" charset="-122"/>
              <a:ea typeface="宋体" panose="02010600030101010101" pitchFamily="2" charset="-122"/>
              <a:cs typeface="宋体" panose="02010600030101010101" pitchFamily="2" charset="-122"/>
            </a:endParaRPr>
          </a:p>
        </p:txBody>
      </p:sp>
      <p:sp>
        <p:nvSpPr>
          <p:cNvPr id="77" name="文本框 76"/>
          <p:cNvSpPr txBox="1"/>
          <p:nvPr>
            <p:custDataLst>
              <p:tags r:id="rId17"/>
            </p:custDataLst>
          </p:nvPr>
        </p:nvSpPr>
        <p:spPr>
          <a:xfrm>
            <a:off x="4765675" y="3427095"/>
            <a:ext cx="2445385" cy="690880"/>
          </a:xfrm>
          <a:prstGeom prst="rect">
            <a:avLst/>
          </a:prstGeom>
          <a:noFill/>
        </p:spPr>
        <p:txBody>
          <a:bodyPr wrap="square" rtlCol="0">
            <a:spAutoFit/>
          </a:bodyPr>
          <a:p>
            <a:pPr>
              <a:lnSpc>
                <a:spcPct val="130000"/>
              </a:lnSpc>
            </a:pPr>
            <a:r>
              <a:rPr lang="zh-CN" altLang="en-US" sz="1600" b="1">
                <a:solidFill>
                  <a:schemeClr val="bg1"/>
                </a:solidFill>
                <a:latin typeface="宋体" panose="02010600030101010101" pitchFamily="2" charset="-122"/>
                <a:ea typeface="宋体" panose="02010600030101010101" pitchFamily="2" charset="-122"/>
                <a:cs typeface="宋体" panose="02010600030101010101" pitchFamily="2" charset="-122"/>
              </a:rPr>
              <a:t>厂商自定义数据</a:t>
            </a:r>
            <a:r>
              <a:rPr lang="en-US" altLang="zh-CN" sz="1600" b="1">
                <a:solidFill>
                  <a:schemeClr val="bg1"/>
                </a:solidFill>
                <a:latin typeface="Times New Roman" panose="02020603050405020304" charset="0"/>
                <a:ea typeface="宋体" panose="02010600030101010101" pitchFamily="2" charset="-122"/>
                <a:cs typeface="Times New Roman" panose="02020603050405020304" charset="0"/>
              </a:rPr>
              <a:t>(0xFF)</a:t>
            </a:r>
            <a:endParaRPr lang="zh-CN" altLang="en-US" sz="1600" b="1">
              <a:solidFill>
                <a:schemeClr val="bg1"/>
              </a:solidFill>
              <a:latin typeface="Times New Roman" panose="02020603050405020304" charset="0"/>
              <a:ea typeface="宋体" panose="02010600030101010101" pitchFamily="2" charset="-122"/>
              <a:cs typeface="Times New Roman" panose="02020603050405020304" charset="0"/>
            </a:endParaRPr>
          </a:p>
          <a:p>
            <a:pPr>
              <a:lnSpc>
                <a:spcPct val="130000"/>
              </a:lnSpc>
            </a:pP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[16-bit ID][</a:t>
            </a:r>
            <a:r>
              <a:rPr lang="zh-CN" altLang="en-US" sz="1400">
                <a:solidFill>
                  <a:schemeClr val="bg1"/>
                </a:solidFill>
                <a:latin typeface="宋体" panose="02010600030101010101" pitchFamily="2" charset="-122"/>
                <a:ea typeface="宋体" panose="02010600030101010101" pitchFamily="2" charset="-122"/>
                <a:cs typeface="宋体" panose="02010600030101010101" pitchFamily="2" charset="-122"/>
              </a:rPr>
              <a:t>数据</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a:t>
            </a:r>
            <a:endParaRPr lang="en-US" altLang="zh-CN" sz="1400">
              <a:solidFill>
                <a:schemeClr val="bg1"/>
              </a:solidFill>
              <a:latin typeface="Times New Roman" panose="02020603050405020304" charset="0"/>
              <a:ea typeface="宋体" panose="02010600030101010101" pitchFamily="2" charset="-122"/>
              <a:cs typeface="Times New Roman" panose="02020603050405020304" charset="0"/>
            </a:endParaRPr>
          </a:p>
        </p:txBody>
      </p:sp>
      <p:sp>
        <p:nvSpPr>
          <p:cNvPr id="14" name="文本框 13"/>
          <p:cNvSpPr txBox="1"/>
          <p:nvPr>
            <p:custDataLst>
              <p:tags r:id="rId18"/>
            </p:custDataLst>
          </p:nvPr>
        </p:nvSpPr>
        <p:spPr>
          <a:xfrm>
            <a:off x="4711700" y="1538605"/>
            <a:ext cx="2553970" cy="1071245"/>
          </a:xfrm>
          <a:prstGeom prst="rect">
            <a:avLst/>
          </a:prstGeom>
          <a:noFill/>
        </p:spPr>
        <p:txBody>
          <a:bodyPr wrap="square" rtlCol="0">
            <a:spAutoFit/>
          </a:bodyPr>
          <a:p>
            <a:pPr>
              <a:lnSpc>
                <a:spcPct val="110000"/>
              </a:lnSpc>
            </a:pPr>
            <a:r>
              <a:rPr lang="zh-CN" altLang="en-US" sz="1600" b="1">
                <a:solidFill>
                  <a:schemeClr val="bg1"/>
                </a:solidFill>
                <a:latin typeface="Times New Roman" panose="02020603050405020304" charset="0"/>
                <a:ea typeface="宋体" panose="02010600030101010101" pitchFamily="2" charset="-122"/>
                <a:cs typeface="Times New Roman" panose="02020603050405020304" charset="0"/>
              </a:rPr>
              <a:t>服务请求</a:t>
            </a:r>
            <a:endParaRPr lang="zh-CN" altLang="en-US" sz="1600" b="1">
              <a:solidFill>
                <a:schemeClr val="bg1"/>
              </a:solidFill>
              <a:latin typeface="宋体" panose="02010600030101010101" pitchFamily="2" charset="-122"/>
              <a:ea typeface="宋体" panose="02010600030101010101" pitchFamily="2" charset="-122"/>
              <a:cs typeface="宋体" panose="02010600030101010101" pitchFamily="2" charset="-122"/>
            </a:endParaRPr>
          </a:p>
          <a:p>
            <a:pPr>
              <a:lnSpc>
                <a:spcPct val="110000"/>
              </a:lnSpc>
            </a:pP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16</a:t>
            </a:r>
            <a:r>
              <a:rPr lang="zh-CN" altLang="en-US" sz="1400">
                <a:solidFill>
                  <a:schemeClr val="bg1"/>
                </a:solidFill>
                <a:latin typeface="Times New Roman" panose="02020603050405020304" charset="0"/>
                <a:ea typeface="宋体" panose="02010600030101010101" pitchFamily="2" charset="-122"/>
                <a:cs typeface="Times New Roman" panose="02020603050405020304" charset="0"/>
              </a:rPr>
              <a:t>位服务</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UUID</a:t>
            </a:r>
            <a:r>
              <a:rPr lang="zh-CN" altLang="en-US" sz="1400">
                <a:solidFill>
                  <a:schemeClr val="bg1"/>
                </a:solidFill>
                <a:latin typeface="Times New Roman" panose="02020603050405020304" charset="0"/>
                <a:ea typeface="宋体" panose="02010600030101010101" pitchFamily="2" charset="-122"/>
                <a:cs typeface="Times New Roman" panose="02020603050405020304" charset="0"/>
              </a:rPr>
              <a:t>部分列表</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(0x14)</a:t>
            </a:r>
            <a:endParaRPr lang="zh-CN" altLang="en-US" sz="1400">
              <a:solidFill>
                <a:schemeClr val="bg1"/>
              </a:solidFill>
              <a:latin typeface="Times New Roman" panose="02020603050405020304" charset="0"/>
              <a:ea typeface="宋体" panose="02010600030101010101" pitchFamily="2" charset="-122"/>
              <a:cs typeface="Times New Roman" panose="02020603050405020304" charset="0"/>
            </a:endParaRPr>
          </a:p>
          <a:p>
            <a:pPr>
              <a:lnSpc>
                <a:spcPct val="110000"/>
              </a:lnSpc>
            </a:pP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128</a:t>
            </a:r>
            <a:r>
              <a:rPr lang="zh-CN" altLang="en-US" sz="1400">
                <a:solidFill>
                  <a:schemeClr val="bg1"/>
                </a:solidFill>
                <a:latin typeface="Times New Roman" panose="02020603050405020304" charset="0"/>
                <a:ea typeface="宋体" panose="02010600030101010101" pitchFamily="2" charset="-122"/>
                <a:cs typeface="Times New Roman" panose="02020603050405020304" charset="0"/>
              </a:rPr>
              <a:t>位服务</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UUID</a:t>
            </a:r>
            <a:r>
              <a:rPr lang="zh-CN" altLang="en-US" sz="1400">
                <a:solidFill>
                  <a:schemeClr val="bg1"/>
                </a:solidFill>
                <a:latin typeface="Times New Roman" panose="02020603050405020304" charset="0"/>
                <a:ea typeface="宋体" panose="02010600030101010101" pitchFamily="2" charset="-122"/>
                <a:cs typeface="Times New Roman" panose="02020603050405020304" charset="0"/>
              </a:rPr>
              <a:t>部分列表</a:t>
            </a:r>
            <a:r>
              <a:rPr lang="en-US" altLang="zh-CN" sz="1400">
                <a:solidFill>
                  <a:schemeClr val="bg1"/>
                </a:solidFill>
                <a:latin typeface="Times New Roman" panose="02020603050405020304" charset="0"/>
                <a:ea typeface="宋体" panose="02010600030101010101" pitchFamily="2" charset="-122"/>
                <a:cs typeface="Times New Roman" panose="02020603050405020304" charset="0"/>
              </a:rPr>
              <a:t>(0x15)</a:t>
            </a:r>
            <a:endParaRPr lang="zh-CN" altLang="en-US" sz="1400">
              <a:solidFill>
                <a:schemeClr val="bg1"/>
              </a:solidFill>
              <a:latin typeface="Times New Roman" panose="02020603050405020304" charset="0"/>
              <a:ea typeface="宋体" panose="02010600030101010101" pitchFamily="2" charset="-122"/>
              <a:cs typeface="Times New Roman" panose="02020603050405020304" charset="0"/>
            </a:endParaRPr>
          </a:p>
          <a:p>
            <a:pPr>
              <a:lnSpc>
                <a:spcPct val="110000"/>
              </a:lnSpc>
            </a:pPr>
            <a:endParaRPr lang="zh-CN" altLang="en-US" sz="1400">
              <a:solidFill>
                <a:schemeClr val="bg1"/>
              </a:soli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GAP</a:t>
            </a:r>
            <a:r>
              <a:rPr lang="zh-CN" altLang="en-US" sz="2400" b="1" spc="-38" dirty="0">
                <a:solidFill>
                  <a:srgbClr val="3D5663"/>
                </a:solidFill>
                <a:latin typeface="Calibri" panose="020F0502020204030204" pitchFamily="34" charset="0"/>
                <a:cs typeface="Calibri" panose="020F0502020204030204" pitchFamily="34" charset="0"/>
              </a:rPr>
              <a:t>服务</a:t>
            </a:r>
            <a:r>
              <a:rPr lang="en-US" altLang="zh-CN" sz="2400" b="1" spc="-38" dirty="0">
                <a:solidFill>
                  <a:srgbClr val="3D5663"/>
                </a:solidFill>
                <a:latin typeface="Calibri" panose="020F0502020204030204" pitchFamily="34" charset="0"/>
                <a:cs typeface="Calibri" panose="020F0502020204030204" pitchFamily="34" charset="0"/>
              </a:rPr>
              <a:t>(0x1800)</a:t>
            </a:r>
            <a:endParaRPr lang="en-US" altLang="zh-CN" sz="2400" b="1" spc="-38" dirty="0">
              <a:solidFill>
                <a:srgbClr val="3D5663"/>
              </a:solidFill>
              <a:latin typeface="Calibri" panose="020F0502020204030204" pitchFamily="34" charset="0"/>
              <a:cs typeface="Calibri" panose="020F0502020204030204" pitchFamily="34" charset="0"/>
            </a:endParaRPr>
          </a:p>
        </p:txBody>
      </p:sp>
      <p:graphicFrame>
        <p:nvGraphicFramePr>
          <p:cNvPr id="7" name="表格 6"/>
          <p:cNvGraphicFramePr/>
          <p:nvPr>
            <p:custDataLst>
              <p:tags r:id="rId1"/>
            </p:custDataLst>
          </p:nvPr>
        </p:nvGraphicFramePr>
        <p:xfrm>
          <a:off x="781685" y="1727835"/>
          <a:ext cx="6547485" cy="2386330"/>
        </p:xfrm>
        <a:graphic>
          <a:graphicData uri="http://schemas.openxmlformats.org/drawingml/2006/table">
            <a:tbl>
              <a:tblPr firstRow="1" bandRow="1">
                <a:tableStyleId>{5C22544A-7EE6-4342-B048-85BDC9FD1C3A}</a:tableStyleId>
              </a:tblPr>
              <a:tblGrid>
                <a:gridCol w="2079625"/>
                <a:gridCol w="3624580"/>
                <a:gridCol w="843280"/>
              </a:tblGrid>
              <a:tr h="345440">
                <a:tc>
                  <a:txBody>
                    <a:bodyPr/>
                    <a:p>
                      <a:pPr algn="ctr">
                        <a:buNone/>
                      </a:pPr>
                      <a:r>
                        <a:rPr lang="zh-CN" altLang="en-US"/>
                        <a:t>特性</a:t>
                      </a:r>
                      <a:endParaRPr lang="zh-CN" altLang="en-US"/>
                    </a:p>
                  </a:txBody>
                  <a:tcPr anchor="ctr" anchorCtr="0"/>
                </a:tc>
                <a:tc>
                  <a:txBody>
                    <a:bodyPr/>
                    <a:p>
                      <a:pPr algn="ctr">
                        <a:buNone/>
                      </a:pPr>
                      <a:r>
                        <a:rPr lang="zh-CN" altLang="en-US"/>
                        <a:t>描述</a:t>
                      </a:r>
                      <a:endParaRPr lang="zh-CN" altLang="en-US"/>
                    </a:p>
                  </a:txBody>
                  <a:tcPr anchor="ctr" anchorCtr="0"/>
                </a:tc>
                <a:tc>
                  <a:txBody>
                    <a:bodyPr/>
                    <a:p>
                      <a:pPr algn="ctr">
                        <a:buNone/>
                      </a:pPr>
                      <a:r>
                        <a:rPr lang="en-US" altLang="zh-CN">
                          <a:latin typeface="Times New Roman" panose="02020603050405020304" charset="0"/>
                          <a:cs typeface="Times New Roman" panose="02020603050405020304" charset="0"/>
                        </a:rPr>
                        <a:t>UUID</a:t>
                      </a:r>
                      <a:endParaRPr lang="en-US" altLang="zh-CN">
                        <a:latin typeface="Times New Roman" panose="02020603050405020304" charset="0"/>
                        <a:cs typeface="Times New Roman" panose="02020603050405020304" charset="0"/>
                      </a:endParaRPr>
                    </a:p>
                  </a:txBody>
                  <a:tcPr anchor="ctr" anchorCtr="0"/>
                </a:tc>
              </a:tr>
              <a:tr h="344805">
                <a:tc>
                  <a:txBody>
                    <a:bodyPr/>
                    <a:p>
                      <a:pPr algn="ctr">
                        <a:buNone/>
                      </a:pPr>
                      <a:r>
                        <a:rPr lang="zh-CN" altLang="en-US" b="1">
                          <a:latin typeface="宋体" panose="02010600030101010101" pitchFamily="2" charset="-122"/>
                          <a:ea typeface="宋体" panose="02010600030101010101" pitchFamily="2" charset="-122"/>
                        </a:rPr>
                        <a:t>设备名</a:t>
                      </a:r>
                      <a:endParaRPr lang="zh-CN" altLang="en-US" b="1">
                        <a:latin typeface="宋体" panose="02010600030101010101" pitchFamily="2" charset="-122"/>
                        <a:ea typeface="宋体" panose="02010600030101010101" pitchFamily="2" charset="-122"/>
                      </a:endParaRPr>
                    </a:p>
                  </a:txBody>
                  <a:tcPr anchor="ctr" anchorCtr="0"/>
                </a:tc>
                <a:tc>
                  <a:txBody>
                    <a:bodyPr/>
                    <a:p>
                      <a:pPr algn="l">
                        <a:buNone/>
                      </a:pPr>
                      <a:r>
                        <a:rPr lang="zh-CN" altLang="en-US" b="1">
                          <a:latin typeface="宋体" panose="02010600030101010101" pitchFamily="2" charset="-122"/>
                          <a:ea typeface="宋体" panose="02010600030101010101" pitchFamily="2" charset="-122"/>
                        </a:rPr>
                        <a:t>设备名称，一个设备仅允许有一个</a:t>
                      </a:r>
                      <a:endParaRPr lang="zh-CN" altLang="en-US" b="1">
                        <a:latin typeface="宋体" panose="02010600030101010101" pitchFamily="2" charset="-122"/>
                        <a:ea typeface="宋体" panose="02010600030101010101" pitchFamily="2" charset="-122"/>
                      </a:endParaRPr>
                    </a:p>
                  </a:txBody>
                  <a:tcPr anchor="ctr" anchorCtr="0"/>
                </a:tc>
                <a:tc>
                  <a:txBody>
                    <a:bodyPr/>
                    <a:p>
                      <a:pPr algn="ctr">
                        <a:buNone/>
                      </a:pPr>
                      <a:r>
                        <a:rPr lang="en-US" altLang="zh-CN">
                          <a:latin typeface="Times New Roman" panose="02020603050405020304" charset="0"/>
                          <a:cs typeface="Times New Roman" panose="02020603050405020304" charset="0"/>
                        </a:rPr>
                        <a:t>0x2A00</a:t>
                      </a:r>
                      <a:endParaRPr lang="en-US" altLang="zh-CN">
                        <a:latin typeface="Times New Roman" panose="02020603050405020304" charset="0"/>
                        <a:cs typeface="Times New Roman" panose="02020603050405020304" charset="0"/>
                      </a:endParaRPr>
                    </a:p>
                  </a:txBody>
                  <a:tcPr anchor="ctr" anchorCtr="0"/>
                </a:tc>
              </a:tr>
              <a:tr h="344805">
                <a:tc>
                  <a:txBody>
                    <a:bodyPr/>
                    <a:p>
                      <a:pPr algn="ctr">
                        <a:buNone/>
                      </a:pPr>
                      <a:r>
                        <a:rPr lang="zh-CN" altLang="en-US" b="1">
                          <a:latin typeface="宋体" panose="02010600030101010101" pitchFamily="2" charset="-122"/>
                          <a:ea typeface="宋体" panose="02010600030101010101" pitchFamily="2" charset="-122"/>
                        </a:rPr>
                        <a:t>外观</a:t>
                      </a:r>
                      <a:endParaRPr lang="zh-CN" altLang="en-US" b="1">
                        <a:latin typeface="宋体" panose="02010600030101010101" pitchFamily="2" charset="-122"/>
                        <a:ea typeface="宋体" panose="02010600030101010101" pitchFamily="2" charset="-122"/>
                      </a:endParaRPr>
                    </a:p>
                  </a:txBody>
                  <a:tcPr anchor="ctr" anchorCtr="0"/>
                </a:tc>
                <a:tc>
                  <a:txBody>
                    <a:bodyPr/>
                    <a:p>
                      <a:pPr algn="l">
                        <a:buNone/>
                      </a:pPr>
                      <a:r>
                        <a:rPr lang="zh-CN" altLang="en-US" b="1">
                          <a:latin typeface="宋体" panose="02010600030101010101" pitchFamily="2" charset="-122"/>
                          <a:ea typeface="宋体" panose="02010600030101010101" pitchFamily="2" charset="-122"/>
                        </a:rPr>
                        <a:t>列举设备外观样式</a:t>
                      </a:r>
                      <a:endParaRPr lang="zh-CN" altLang="en-US" b="1">
                        <a:latin typeface="宋体" panose="02010600030101010101" pitchFamily="2" charset="-122"/>
                        <a:ea typeface="宋体" panose="02010600030101010101" pitchFamily="2" charset="-122"/>
                      </a:endParaRPr>
                    </a:p>
                  </a:txBody>
                  <a:tcPr anchor="ctr" anchorCtr="0"/>
                </a:tc>
                <a:tc>
                  <a:txBody>
                    <a:bodyPr/>
                    <a:p>
                      <a:pPr algn="ctr">
                        <a:buNone/>
                      </a:pPr>
                      <a:r>
                        <a:rPr lang="en-US" altLang="zh-CN">
                          <a:latin typeface="Times New Roman" panose="02020603050405020304" charset="0"/>
                          <a:cs typeface="Times New Roman" panose="02020603050405020304" charset="0"/>
                        </a:rPr>
                        <a:t>0x2A01</a:t>
                      </a:r>
                      <a:endParaRPr lang="en-US" altLang="zh-CN">
                        <a:latin typeface="Times New Roman" panose="02020603050405020304" charset="0"/>
                        <a:cs typeface="Times New Roman" panose="02020603050405020304" charset="0"/>
                      </a:endParaRPr>
                    </a:p>
                  </a:txBody>
                  <a:tcPr anchor="ctr" anchorCtr="0"/>
                </a:tc>
              </a:tr>
              <a:tr h="345440">
                <a:tc>
                  <a:txBody>
                    <a:bodyPr/>
                    <a:p>
                      <a:pPr algn="ctr">
                        <a:buNone/>
                      </a:pPr>
                      <a:r>
                        <a:rPr lang="zh-CN" altLang="en-US" b="1">
                          <a:latin typeface="宋体" panose="02010600030101010101" pitchFamily="2" charset="-122"/>
                          <a:ea typeface="宋体" panose="02010600030101010101" pitchFamily="2" charset="-122"/>
                        </a:rPr>
                        <a:t>外围设备隐私</a:t>
                      </a:r>
                      <a:r>
                        <a:rPr lang="zh-CN" altLang="en-US" b="1">
                          <a:latin typeface="宋体" panose="02010600030101010101" pitchFamily="2" charset="-122"/>
                          <a:ea typeface="宋体" panose="02010600030101010101" pitchFamily="2" charset="-122"/>
                        </a:rPr>
                        <a:t>标识</a:t>
                      </a:r>
                      <a:endParaRPr lang="zh-CN" altLang="en-US" b="1">
                        <a:latin typeface="宋体" panose="02010600030101010101" pitchFamily="2" charset="-122"/>
                        <a:ea typeface="宋体" panose="02010600030101010101" pitchFamily="2" charset="-122"/>
                      </a:endParaRPr>
                    </a:p>
                  </a:txBody>
                  <a:tcPr anchor="ctr" anchorCtr="0"/>
                </a:tc>
                <a:tc>
                  <a:txBody>
                    <a:bodyPr/>
                    <a:p>
                      <a:pPr algn="l">
                        <a:buNone/>
                      </a:pPr>
                      <a:r>
                        <a:rPr lang="zh-CN" altLang="en-US" b="1">
                          <a:latin typeface="宋体" panose="02010600030101010101" pitchFamily="2" charset="-122"/>
                          <a:ea typeface="宋体" panose="02010600030101010101" pitchFamily="2" charset="-122"/>
                        </a:rPr>
                        <a:t>表示设备是否正在使用隐私</a:t>
                      </a:r>
                      <a:endParaRPr lang="zh-CN" altLang="en-US" b="1">
                        <a:latin typeface="宋体" panose="02010600030101010101" pitchFamily="2" charset="-122"/>
                        <a:ea typeface="宋体" panose="02010600030101010101" pitchFamily="2" charset="-122"/>
                      </a:endParaRPr>
                    </a:p>
                  </a:txBody>
                  <a:tcPr anchor="ctr" anchorCtr="0"/>
                </a:tc>
                <a:tc>
                  <a:txBody>
                    <a:bodyPr/>
                    <a:p>
                      <a:pPr algn="ctr">
                        <a:buNone/>
                      </a:pPr>
                      <a:r>
                        <a:rPr lang="en-US" altLang="zh-CN">
                          <a:latin typeface="Times New Roman" panose="02020603050405020304" charset="0"/>
                          <a:cs typeface="Times New Roman" panose="02020603050405020304" charset="0"/>
                        </a:rPr>
                        <a:t>0x2A02</a:t>
                      </a:r>
                      <a:endParaRPr lang="en-US" altLang="zh-CN">
                        <a:latin typeface="Times New Roman" panose="02020603050405020304" charset="0"/>
                        <a:cs typeface="Times New Roman" panose="02020603050405020304" charset="0"/>
                      </a:endParaRPr>
                    </a:p>
                  </a:txBody>
                  <a:tcPr anchor="ctr" anchorCtr="0"/>
                </a:tc>
              </a:tr>
              <a:tr h="502920">
                <a:tc>
                  <a:txBody>
                    <a:bodyPr/>
                    <a:p>
                      <a:pPr algn="ctr">
                        <a:buNone/>
                      </a:pPr>
                      <a:r>
                        <a:rPr lang="zh-CN" altLang="en-US" b="1">
                          <a:latin typeface="宋体" panose="02010600030101010101" pitchFamily="2" charset="-122"/>
                          <a:ea typeface="宋体" panose="02010600030101010101" pitchFamily="2" charset="-122"/>
                        </a:rPr>
                        <a:t>中心地址解析</a:t>
                      </a:r>
                      <a:endParaRPr lang="zh-CN" altLang="en-US" b="1">
                        <a:latin typeface="宋体" panose="02010600030101010101" pitchFamily="2" charset="-122"/>
                        <a:ea typeface="宋体" panose="02010600030101010101" pitchFamily="2" charset="-122"/>
                      </a:endParaRPr>
                    </a:p>
                  </a:txBody>
                  <a:tcPr anchor="ctr" anchorCtr="0"/>
                </a:tc>
                <a:tc>
                  <a:txBody>
                    <a:bodyPr/>
                    <a:p>
                      <a:pPr algn="l">
                        <a:buNone/>
                      </a:pPr>
                      <a:r>
                        <a:rPr lang="zh-CN" altLang="en-US" b="1">
                          <a:latin typeface="宋体" panose="02010600030101010101" pitchFamily="2" charset="-122"/>
                          <a:ea typeface="宋体" panose="02010600030101010101" pitchFamily="2" charset="-122"/>
                        </a:rPr>
                        <a:t>定义设备是否支持通过地址解析实现隐私保护</a:t>
                      </a:r>
                      <a:endParaRPr lang="zh-CN" altLang="en-US" b="1">
                        <a:latin typeface="宋体" panose="02010600030101010101" pitchFamily="2" charset="-122"/>
                        <a:ea typeface="宋体" panose="02010600030101010101" pitchFamily="2" charset="-122"/>
                      </a:endParaRPr>
                    </a:p>
                  </a:txBody>
                  <a:tcPr anchor="ctr" anchorCtr="0"/>
                </a:tc>
                <a:tc>
                  <a:txBody>
                    <a:bodyPr/>
                    <a:p>
                      <a:pPr algn="ctr">
                        <a:buNone/>
                      </a:pPr>
                      <a:r>
                        <a:rPr lang="en-US" altLang="zh-CN">
                          <a:latin typeface="Times New Roman" panose="02020603050405020304" charset="0"/>
                          <a:cs typeface="Times New Roman" panose="02020603050405020304" charset="0"/>
                        </a:rPr>
                        <a:t>0x2AA6</a:t>
                      </a:r>
                      <a:endParaRPr lang="en-US" altLang="zh-CN">
                        <a:latin typeface="Times New Roman" panose="02020603050405020304" charset="0"/>
                        <a:cs typeface="Times New Roman" panose="02020603050405020304" charset="0"/>
                      </a:endParaRPr>
                    </a:p>
                  </a:txBody>
                  <a:tcPr anchor="ctr" anchorCtr="0"/>
                </a:tc>
              </a:tr>
              <a:tr h="502920">
                <a:tc>
                  <a:txBody>
                    <a:bodyPr/>
                    <a:p>
                      <a:pPr algn="ctr">
                        <a:buNone/>
                      </a:pPr>
                      <a:r>
                        <a:rPr lang="zh-CN" altLang="en-US" b="1">
                          <a:latin typeface="宋体" panose="02010600030101010101" pitchFamily="2" charset="-122"/>
                          <a:ea typeface="宋体" panose="02010600030101010101" pitchFamily="2" charset="-122"/>
                        </a:rPr>
                        <a:t>可解析的私有地址唯一性</a:t>
                      </a:r>
                      <a:endParaRPr lang="zh-CN" altLang="en-US" b="1">
                        <a:latin typeface="宋体" panose="02010600030101010101" pitchFamily="2" charset="-122"/>
                        <a:ea typeface="宋体" panose="02010600030101010101" pitchFamily="2" charset="-122"/>
                      </a:endParaRPr>
                    </a:p>
                  </a:txBody>
                  <a:tcPr anchor="ctr" anchorCtr="0"/>
                </a:tc>
                <a:tc>
                  <a:txBody>
                    <a:bodyPr/>
                    <a:p>
                      <a:pPr algn="l">
                        <a:buNone/>
                      </a:pPr>
                      <a:r>
                        <a:rPr lang="zh-CN" altLang="en-US" b="1">
                          <a:latin typeface="宋体" panose="02010600030101010101" pitchFamily="2" charset="-122"/>
                          <a:ea typeface="宋体" panose="02010600030101010101" pitchFamily="2" charset="-122"/>
                        </a:rPr>
                        <a:t>定义设备是否仅使用可解析私有地址作为本地地址。</a:t>
                      </a:r>
                      <a:endParaRPr lang="zh-CN" altLang="en-US" b="1">
                        <a:latin typeface="宋体" panose="02010600030101010101" pitchFamily="2" charset="-122"/>
                        <a:ea typeface="宋体" panose="02010600030101010101" pitchFamily="2" charset="-122"/>
                      </a:endParaRPr>
                    </a:p>
                  </a:txBody>
                  <a:tcPr anchor="ctr" anchorCtr="0"/>
                </a:tc>
                <a:tc>
                  <a:txBody>
                    <a:bodyPr/>
                    <a:p>
                      <a:pPr algn="ctr">
                        <a:buNone/>
                      </a:pPr>
                      <a:r>
                        <a:rPr lang="en-US" altLang="zh-CN">
                          <a:latin typeface="Times New Roman" panose="02020603050405020304" charset="0"/>
                          <a:cs typeface="Times New Roman" panose="02020603050405020304" charset="0"/>
                        </a:rPr>
                        <a:t>0x2AC9</a:t>
                      </a:r>
                      <a:endParaRPr lang="en-US" altLang="zh-CN">
                        <a:latin typeface="Times New Roman" panose="02020603050405020304" charset="0"/>
                        <a:cs typeface="Times New Roman" panose="02020603050405020304" charset="0"/>
                      </a:endParaRPr>
                    </a:p>
                  </a:txBody>
                  <a:tcPr anchor="ctr" anchorCtr="0"/>
                </a:tc>
              </a:tr>
            </a:tbl>
          </a:graphicData>
        </a:graphic>
      </p:graphicFrame>
      <p:sp>
        <p:nvSpPr>
          <p:cNvPr id="10" name="任意多边形 9"/>
          <p:cNvSpPr/>
          <p:nvPr/>
        </p:nvSpPr>
        <p:spPr>
          <a:xfrm>
            <a:off x="400685" y="817245"/>
            <a:ext cx="7967980" cy="910590"/>
          </a:xfrm>
          <a:custGeom>
            <a:avLst/>
            <a:gdLst>
              <a:gd name="connsiteX0" fmla="*/ 719138 w 12096750"/>
              <a:gd name="connsiteY0" fmla="*/ 2286000 h 2686681"/>
              <a:gd name="connsiteX1" fmla="*/ 2007965 w 12096750"/>
              <a:gd name="connsiteY1" fmla="*/ 2286000 h 2686681"/>
              <a:gd name="connsiteX2" fmla="*/ 2071021 w 12096750"/>
              <a:gd name="connsiteY2" fmla="*/ 2331053 h 2686681"/>
              <a:gd name="connsiteX3" fmla="*/ 2411921 w 12096750"/>
              <a:gd name="connsiteY3" fmla="*/ 2679287 h 2686681"/>
              <a:gd name="connsiteX4" fmla="*/ 2501703 w 12096750"/>
              <a:gd name="connsiteY4" fmla="*/ 2650484 h 2686681"/>
              <a:gd name="connsiteX5" fmla="*/ 2506409 w 12096750"/>
              <a:gd name="connsiteY5" fmla="*/ 2601278 h 2686681"/>
              <a:gd name="connsiteX6" fmla="*/ 2636139 w 12096750"/>
              <a:gd name="connsiteY6" fmla="*/ 2290667 h 2686681"/>
              <a:gd name="connsiteX7" fmla="*/ 2660618 w 12096750"/>
              <a:gd name="connsiteY7" fmla="*/ 2286000 h 2686681"/>
              <a:gd name="connsiteX8" fmla="*/ 11377612 w 12096750"/>
              <a:gd name="connsiteY8" fmla="*/ 2286000 h 2686681"/>
              <a:gd name="connsiteX9" fmla="*/ 12096750 w 12096750"/>
              <a:gd name="connsiteY9" fmla="*/ 1566863 h 2686681"/>
              <a:gd name="connsiteX10" fmla="*/ 12096750 w 12096750"/>
              <a:gd name="connsiteY10" fmla="*/ 719138 h 2686681"/>
              <a:gd name="connsiteX11" fmla="*/ 11377612 w 12096750"/>
              <a:gd name="connsiteY11" fmla="*/ 0 h 2686681"/>
              <a:gd name="connsiteX12" fmla="*/ 719138 w 12096750"/>
              <a:gd name="connsiteY12" fmla="*/ 0 h 2686681"/>
              <a:gd name="connsiteX13" fmla="*/ 0 w 12096750"/>
              <a:gd name="connsiteY13" fmla="*/ 719138 h 2686681"/>
              <a:gd name="connsiteX14" fmla="*/ 0 w 12096750"/>
              <a:gd name="connsiteY14" fmla="*/ 1566863 h 2686681"/>
              <a:gd name="connsiteX15" fmla="*/ 719138 w 12096750"/>
              <a:gd name="connsiteY15" fmla="*/ 2286000 h 2686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096750" h="2686681">
                <a:moveTo>
                  <a:pt x="719138" y="2286000"/>
                </a:moveTo>
                <a:lnTo>
                  <a:pt x="2007965" y="2286000"/>
                </a:lnTo>
                <a:cubicBezTo>
                  <a:pt x="2036445" y="2286010"/>
                  <a:pt x="2061782" y="2304107"/>
                  <a:pt x="2071021" y="2331053"/>
                </a:cubicBezTo>
                <a:cubicBezTo>
                  <a:pt x="2134362" y="2508314"/>
                  <a:pt x="2290096" y="2618041"/>
                  <a:pt x="2411921" y="2679287"/>
                </a:cubicBezTo>
                <a:cubicBezTo>
                  <a:pt x="2444667" y="2696128"/>
                  <a:pt x="2484863" y="2683231"/>
                  <a:pt x="2501703" y="2650484"/>
                </a:cubicBezTo>
                <a:cubicBezTo>
                  <a:pt x="2509523" y="2635291"/>
                  <a:pt x="2511209" y="2617680"/>
                  <a:pt x="2506409" y="2601278"/>
                </a:cubicBezTo>
                <a:cubicBezTo>
                  <a:pt x="2474500" y="2495550"/>
                  <a:pt x="2472785" y="2358200"/>
                  <a:pt x="2636139" y="2290667"/>
                </a:cubicBezTo>
                <a:cubicBezTo>
                  <a:pt x="2643911" y="2287505"/>
                  <a:pt x="2652227" y="2285914"/>
                  <a:pt x="2660618" y="2286000"/>
                </a:cubicBezTo>
                <a:lnTo>
                  <a:pt x="11377612" y="2286000"/>
                </a:lnTo>
                <a:cubicBezTo>
                  <a:pt x="11774805" y="2286000"/>
                  <a:pt x="12096750" y="1964027"/>
                  <a:pt x="12096750" y="1566863"/>
                </a:cubicBezTo>
                <a:lnTo>
                  <a:pt x="12096750" y="719138"/>
                </a:lnTo>
                <a:cubicBezTo>
                  <a:pt x="12096750" y="321969"/>
                  <a:pt x="11774805" y="0"/>
                  <a:pt x="11377612" y="0"/>
                </a:cubicBezTo>
                <a:lnTo>
                  <a:pt x="719138" y="0"/>
                </a:lnTo>
                <a:cubicBezTo>
                  <a:pt x="321969" y="0"/>
                  <a:pt x="0" y="321969"/>
                  <a:pt x="0" y="719138"/>
                </a:cubicBezTo>
                <a:lnTo>
                  <a:pt x="0" y="1566863"/>
                </a:lnTo>
                <a:cubicBezTo>
                  <a:pt x="0" y="1964027"/>
                  <a:pt x="321969" y="2286000"/>
                  <a:pt x="719138" y="2286000"/>
                </a:cubicBezTo>
                <a:close/>
              </a:path>
            </a:pathLst>
          </a:custGeom>
          <a:solidFill>
            <a:schemeClr val="accent2"/>
          </a:solidFill>
          <a:ln w="9525" cap="flat">
            <a:noFill/>
            <a:prstDash val="solid"/>
            <a:miter/>
          </a:ln>
        </p:spPr>
        <p:txBody>
          <a:bodyPr rtlCol="0" anchor="ctr"/>
          <a:lstStyle/>
          <a:p>
            <a:endParaRPr lang="zh-CN" altLang="en-US"/>
          </a:p>
        </p:txBody>
      </p:sp>
      <p:grpSp>
        <p:nvGrpSpPr>
          <p:cNvPr id="41" name="组合 40"/>
          <p:cNvGrpSpPr>
            <a:grpSpLocks noChangeAspect="1"/>
          </p:cNvGrpSpPr>
          <p:nvPr/>
        </p:nvGrpSpPr>
        <p:grpSpPr>
          <a:xfrm>
            <a:off x="6727825" y="635000"/>
            <a:ext cx="1089660" cy="1193800"/>
            <a:chOff x="13958373" y="370633"/>
            <a:chExt cx="1667309" cy="1825766"/>
          </a:xfrm>
        </p:grpSpPr>
        <p:sp>
          <p:nvSpPr>
            <p:cNvPr id="45" name="任意多边形 44"/>
            <p:cNvSpPr/>
            <p:nvPr/>
          </p:nvSpPr>
          <p:spPr>
            <a:xfrm>
              <a:off x="14905758" y="1556992"/>
              <a:ext cx="639407" cy="639407"/>
            </a:xfrm>
            <a:custGeom>
              <a:avLst/>
              <a:gdLst>
                <a:gd name="connsiteX0" fmla="*/ 639407 w 639407"/>
                <a:gd name="connsiteY0" fmla="*/ 319704 h 639407"/>
                <a:gd name="connsiteX1" fmla="*/ 319704 w 639407"/>
                <a:gd name="connsiteY1" fmla="*/ 639408 h 639407"/>
                <a:gd name="connsiteX2" fmla="*/ 0 w 639407"/>
                <a:gd name="connsiteY2" fmla="*/ 319704 h 639407"/>
                <a:gd name="connsiteX3" fmla="*/ 319704 w 639407"/>
                <a:gd name="connsiteY3" fmla="*/ 0 h 639407"/>
                <a:gd name="connsiteX4" fmla="*/ 639407 w 639407"/>
                <a:gd name="connsiteY4" fmla="*/ 319704 h 639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407" h="639407">
                  <a:moveTo>
                    <a:pt x="639407" y="319704"/>
                  </a:moveTo>
                  <a:cubicBezTo>
                    <a:pt x="639407" y="496271"/>
                    <a:pt x="496271" y="639408"/>
                    <a:pt x="319704" y="639408"/>
                  </a:cubicBezTo>
                  <a:cubicBezTo>
                    <a:pt x="143136" y="639408"/>
                    <a:pt x="0" y="496271"/>
                    <a:pt x="0" y="319704"/>
                  </a:cubicBezTo>
                  <a:cubicBezTo>
                    <a:pt x="0" y="143136"/>
                    <a:pt x="143137" y="0"/>
                    <a:pt x="319704" y="0"/>
                  </a:cubicBezTo>
                  <a:cubicBezTo>
                    <a:pt x="496272" y="0"/>
                    <a:pt x="639407" y="143136"/>
                    <a:pt x="639407" y="319704"/>
                  </a:cubicBezTo>
                  <a:close/>
                </a:path>
              </a:pathLst>
            </a:custGeom>
            <a:solidFill>
              <a:srgbClr val="0000CC"/>
            </a:solidFill>
            <a:ln w="6385" cap="flat">
              <a:noFill/>
              <a:prstDash val="solid"/>
              <a:miter/>
            </a:ln>
          </p:spPr>
          <p:txBody>
            <a:bodyPr rtlCol="0" anchor="ctr"/>
            <a:lstStyle/>
            <a:p>
              <a:endParaRPr lang="zh-CN" altLang="en-US" dirty="0"/>
            </a:p>
          </p:txBody>
        </p:sp>
        <p:sp>
          <p:nvSpPr>
            <p:cNvPr id="47" name="任意多边形 46"/>
            <p:cNvSpPr/>
            <p:nvPr/>
          </p:nvSpPr>
          <p:spPr>
            <a:xfrm rot="16358400">
              <a:off x="13958373" y="978587"/>
              <a:ext cx="768579" cy="768579"/>
            </a:xfrm>
            <a:custGeom>
              <a:avLst/>
              <a:gdLst>
                <a:gd name="connsiteX0" fmla="*/ 0 w 768579"/>
                <a:gd name="connsiteY0" fmla="*/ 0 h 768579"/>
                <a:gd name="connsiteX1" fmla="*/ 768580 w 768579"/>
                <a:gd name="connsiteY1" fmla="*/ 0 h 768579"/>
                <a:gd name="connsiteX2" fmla="*/ 768580 w 768579"/>
                <a:gd name="connsiteY2" fmla="*/ 768579 h 768579"/>
                <a:gd name="connsiteX3" fmla="*/ 0 w 768579"/>
                <a:gd name="connsiteY3" fmla="*/ 768579 h 768579"/>
              </a:gdLst>
              <a:ahLst/>
              <a:cxnLst>
                <a:cxn ang="0">
                  <a:pos x="connsiteX0" y="connsiteY0"/>
                </a:cxn>
                <a:cxn ang="0">
                  <a:pos x="connsiteX1" y="connsiteY1"/>
                </a:cxn>
                <a:cxn ang="0">
                  <a:pos x="connsiteX2" y="connsiteY2"/>
                </a:cxn>
                <a:cxn ang="0">
                  <a:pos x="connsiteX3" y="connsiteY3"/>
                </a:cxn>
              </a:cxnLst>
              <a:rect l="l" t="t" r="r" b="b"/>
              <a:pathLst>
                <a:path w="768579" h="768579">
                  <a:moveTo>
                    <a:pt x="0" y="0"/>
                  </a:moveTo>
                  <a:lnTo>
                    <a:pt x="768580" y="0"/>
                  </a:lnTo>
                  <a:lnTo>
                    <a:pt x="768580" y="768579"/>
                  </a:lnTo>
                  <a:lnTo>
                    <a:pt x="0" y="768579"/>
                  </a:lnTo>
                  <a:close/>
                </a:path>
              </a:pathLst>
            </a:custGeom>
            <a:solidFill>
              <a:srgbClr val="0000CC"/>
            </a:solidFill>
            <a:ln w="6385" cap="flat">
              <a:noFill/>
              <a:prstDash val="solid"/>
              <a:miter/>
            </a:ln>
          </p:spPr>
          <p:txBody>
            <a:bodyPr rtlCol="0" anchor="ctr"/>
            <a:lstStyle/>
            <a:p>
              <a:endParaRPr lang="zh-CN" altLang="en-US"/>
            </a:p>
          </p:txBody>
        </p:sp>
        <p:sp>
          <p:nvSpPr>
            <p:cNvPr id="48" name="任意多边形 47"/>
            <p:cNvSpPr/>
            <p:nvPr/>
          </p:nvSpPr>
          <p:spPr>
            <a:xfrm>
              <a:off x="15053191" y="370633"/>
              <a:ext cx="572491" cy="590178"/>
            </a:xfrm>
            <a:custGeom>
              <a:avLst/>
              <a:gdLst>
                <a:gd name="connsiteX0" fmla="*/ 122658 w 572491"/>
                <a:gd name="connsiteY0" fmla="*/ 590178 h 590178"/>
                <a:gd name="connsiteX1" fmla="*/ 572492 w 572491"/>
                <a:gd name="connsiteY1" fmla="*/ 188872 h 590178"/>
                <a:gd name="connsiteX2" fmla="*/ 0 w 572491"/>
                <a:gd name="connsiteY2" fmla="*/ 0 h 590178"/>
                <a:gd name="connsiteX3" fmla="*/ 122658 w 572491"/>
                <a:gd name="connsiteY3" fmla="*/ 590178 h 590178"/>
              </a:gdLst>
              <a:ahLst/>
              <a:cxnLst>
                <a:cxn ang="0">
                  <a:pos x="connsiteX0" y="connsiteY0"/>
                </a:cxn>
                <a:cxn ang="0">
                  <a:pos x="connsiteX1" y="connsiteY1"/>
                </a:cxn>
                <a:cxn ang="0">
                  <a:pos x="connsiteX2" y="connsiteY2"/>
                </a:cxn>
                <a:cxn ang="0">
                  <a:pos x="connsiteX3" y="connsiteY3"/>
                </a:cxn>
              </a:cxnLst>
              <a:rect l="l" t="t" r="r" b="b"/>
              <a:pathLst>
                <a:path w="572491" h="590178">
                  <a:moveTo>
                    <a:pt x="122658" y="590178"/>
                  </a:moveTo>
                  <a:lnTo>
                    <a:pt x="572492" y="188872"/>
                  </a:lnTo>
                  <a:lnTo>
                    <a:pt x="0" y="0"/>
                  </a:lnTo>
                  <a:lnTo>
                    <a:pt x="122658" y="590178"/>
                  </a:lnTo>
                  <a:close/>
                </a:path>
              </a:pathLst>
            </a:custGeom>
            <a:solidFill>
              <a:srgbClr val="0000CC"/>
            </a:solidFill>
            <a:ln w="6385" cap="flat">
              <a:noFill/>
              <a:prstDash val="solid"/>
              <a:miter/>
            </a:ln>
          </p:spPr>
          <p:txBody>
            <a:bodyPr rtlCol="0" anchor="ctr"/>
            <a:lstStyle/>
            <a:p>
              <a:endParaRPr lang="zh-CN" altLang="en-US"/>
            </a:p>
          </p:txBody>
        </p:sp>
      </p:grpSp>
      <p:sp>
        <p:nvSpPr>
          <p:cNvPr id="9" name="文本框 8"/>
          <p:cNvSpPr txBox="1"/>
          <p:nvPr/>
        </p:nvSpPr>
        <p:spPr>
          <a:xfrm>
            <a:off x="738505" y="901065"/>
            <a:ext cx="5568950" cy="645160"/>
          </a:xfrm>
          <a:prstGeom prst="rect">
            <a:avLst/>
          </a:prstGeom>
          <a:noFill/>
        </p:spPr>
        <p:txBody>
          <a:bodyPr wrap="square" rtlCol="0">
            <a:spAutoFit/>
          </a:bodyPr>
          <a:p>
            <a:r>
              <a:rPr lang="en-US" altLang="zh-CN" b="1">
                <a:latin typeface="Times New Roman" panose="02020603050405020304" charset="0"/>
                <a:cs typeface="Times New Roman" panose="02020603050405020304" charset="0"/>
              </a:rPr>
              <a:t>GAP</a:t>
            </a:r>
            <a:r>
              <a:rPr lang="zh-CN" altLang="en-US" b="1">
                <a:latin typeface="宋体" panose="02010600030101010101" pitchFamily="2" charset="-122"/>
                <a:ea typeface="宋体" panose="02010600030101010101" pitchFamily="2" charset="-122"/>
              </a:rPr>
              <a:t>定义了通用属性规范服务，为设备提供一种确定信息的方式</a:t>
            </a:r>
            <a:endParaRPr lang="zh-CN" altLang="en-US" b="1">
              <a:latin typeface="宋体" panose="02010600030101010101" pitchFamily="2" charset="-122"/>
              <a:ea typeface="宋体" panose="02010600030101010101" pitchFamily="2" charset="-122"/>
            </a:endParaRPr>
          </a:p>
        </p:txBody>
      </p:sp>
      <p:sp>
        <p:nvSpPr>
          <p:cNvPr id="2" name="文本框 1"/>
          <p:cNvSpPr txBox="1"/>
          <p:nvPr/>
        </p:nvSpPr>
        <p:spPr>
          <a:xfrm>
            <a:off x="781685" y="4272280"/>
            <a:ext cx="6358255" cy="275590"/>
          </a:xfrm>
          <a:prstGeom prst="rect">
            <a:avLst/>
          </a:prstGeom>
          <a:noFill/>
        </p:spPr>
        <p:txBody>
          <a:bodyPr wrap="square" rtlCol="0">
            <a:spAutoFit/>
          </a:bodyPr>
          <a:p>
            <a:r>
              <a:rPr lang="zh-CN" altLang="en-US" sz="1200">
                <a:latin typeface="宋体" panose="02010600030101010101" pitchFamily="2" charset="-122"/>
                <a:ea typeface="宋体" panose="02010600030101010101" pitchFamily="2" charset="-122"/>
                <a:cs typeface="宋体" panose="02010600030101010101" pitchFamily="2" charset="-122"/>
              </a:rPr>
              <a:t>注：关于外围设备隐私标识，具体见</a:t>
            </a:r>
            <a:r>
              <a:rPr lang="en-US" altLang="zh-CN" sz="1200">
                <a:latin typeface="宋体" panose="02010600030101010101" pitchFamily="2" charset="-122"/>
                <a:ea typeface="宋体" panose="02010600030101010101" pitchFamily="2" charset="-122"/>
                <a:cs typeface="宋体" panose="02010600030101010101" pitchFamily="2" charset="-122"/>
              </a:rPr>
              <a:t>PPT</a:t>
            </a:r>
            <a:r>
              <a:rPr lang="zh-CN" altLang="en-US" sz="1200">
                <a:latin typeface="宋体" panose="02010600030101010101" pitchFamily="2" charset="-122"/>
                <a:ea typeface="宋体" panose="02010600030101010101" pitchFamily="2" charset="-122"/>
                <a:cs typeface="宋体" panose="02010600030101010101" pitchFamily="2" charset="-122"/>
              </a:rPr>
              <a:t>第</a:t>
            </a:r>
            <a:r>
              <a:rPr lang="en-US" altLang="zh-CN" sz="1200">
                <a:latin typeface="宋体" panose="02010600030101010101" pitchFamily="2" charset="-122"/>
                <a:ea typeface="宋体" panose="02010600030101010101" pitchFamily="2" charset="-122"/>
                <a:cs typeface="宋体" panose="02010600030101010101" pitchFamily="2" charset="-122"/>
              </a:rPr>
              <a:t>50</a:t>
            </a:r>
            <a:r>
              <a:rPr lang="zh-CN" altLang="en-US" sz="1200">
                <a:latin typeface="宋体" panose="02010600030101010101" pitchFamily="2" charset="-122"/>
                <a:ea typeface="宋体" panose="02010600030101010101" pitchFamily="2" charset="-122"/>
                <a:cs typeface="宋体" panose="02010600030101010101" pitchFamily="2" charset="-122"/>
              </a:rPr>
              <a:t>页补充</a:t>
            </a:r>
            <a:r>
              <a:rPr lang="en-US" altLang="zh-CN" sz="1200">
                <a:latin typeface="宋体" panose="02010600030101010101" pitchFamily="2" charset="-122"/>
                <a:ea typeface="宋体" panose="02010600030101010101" pitchFamily="2" charset="-122"/>
                <a:cs typeface="宋体" panose="02010600030101010101" pitchFamily="2" charset="-122"/>
              </a:rPr>
              <a:t>2</a:t>
            </a:r>
            <a:endParaRPr lang="en-US" altLang="zh-CN" sz="12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PART 03</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9" name="组合 8"/>
          <p:cNvGrpSpPr/>
          <p:nvPr/>
        </p:nvGrpSpPr>
        <p:grpSpPr>
          <a:xfrm>
            <a:off x="1203325" y="1275715"/>
            <a:ext cx="6307590" cy="2503805"/>
            <a:chOff x="3272" y="3874"/>
            <a:chExt cx="12612" cy="4373"/>
          </a:xfrm>
        </p:grpSpPr>
        <p:pic>
          <p:nvPicPr>
            <p:cNvPr id="2" name="图片 1" descr="图形用户界面, 应用程序&#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38" y="3874"/>
              <a:ext cx="6546" cy="4373"/>
            </a:xfrm>
            <a:prstGeom prst="rect">
              <a:avLst/>
            </a:prstGeom>
          </p:spPr>
        </p:pic>
        <p:sp>
          <p:nvSpPr>
            <p:cNvPr id="3" name="圆角矩形 2"/>
            <p:cNvSpPr/>
            <p:nvPr/>
          </p:nvSpPr>
          <p:spPr>
            <a:xfrm>
              <a:off x="3272" y="7403"/>
              <a:ext cx="1134" cy="7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endParaRPr lang="zh-CN" altLang="en-US" sz="600"/>
            </a:p>
          </p:txBody>
        </p:sp>
        <p:sp>
          <p:nvSpPr>
            <p:cNvPr id="12" name="文本框 11"/>
            <p:cNvSpPr txBox="1"/>
            <p:nvPr/>
          </p:nvSpPr>
          <p:spPr>
            <a:xfrm>
              <a:off x="3272" y="5709"/>
              <a:ext cx="6666" cy="1581"/>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rPr>
                <a:t>GATT</a:t>
              </a:r>
              <a:endPar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endParaRPr>
            </a:p>
          </p:txBody>
        </p:sp>
        <p:sp>
          <p:nvSpPr>
            <p:cNvPr id="4" name="矩形 3"/>
            <p:cNvSpPr/>
            <p:nvPr/>
          </p:nvSpPr>
          <p:spPr>
            <a:xfrm>
              <a:off x="3272" y="7642"/>
              <a:ext cx="5019" cy="4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通用属性</a:t>
              </a:r>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规范</a:t>
              </a:r>
              <a:endPar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5" name="文本框 4"/>
            <p:cNvSpPr txBox="1"/>
            <p:nvPr/>
          </p:nvSpPr>
          <p:spPr>
            <a:xfrm>
              <a:off x="3272" y="4070"/>
              <a:ext cx="2915" cy="1888"/>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rPr>
                <a:t>03</a:t>
              </a:r>
              <a:endPar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pic>
          <p:nvPicPr>
            <p:cNvPr id="6" name="图片 5" descr="图片包含 图标&#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431409">
              <a:off x="13750" y="4000"/>
              <a:ext cx="1158" cy="491"/>
            </a:xfrm>
            <a:prstGeom prst="rect">
              <a:avLst/>
            </a:prstGeom>
          </p:spPr>
        </p:pic>
        <p:pic>
          <p:nvPicPr>
            <p:cNvPr id="7" name="图片 6" descr="形状&#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8" y="5085"/>
              <a:ext cx="264" cy="252"/>
            </a:xfrm>
            <a:prstGeom prst="rect">
              <a:avLst/>
            </a:prstGeom>
          </p:spPr>
        </p:pic>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 y="4497"/>
              <a:ext cx="193" cy="185"/>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ATT</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17" name="组合 16"/>
          <p:cNvGrpSpPr/>
          <p:nvPr/>
        </p:nvGrpSpPr>
        <p:grpSpPr>
          <a:xfrm>
            <a:off x="2458085" y="681355"/>
            <a:ext cx="4046220" cy="567690"/>
            <a:chOff x="3871" y="1073"/>
            <a:chExt cx="6372" cy="894"/>
          </a:xfrm>
        </p:grpSpPr>
        <p:sp>
          <p:nvSpPr>
            <p:cNvPr id="2" name="圆角矩形 1"/>
            <p:cNvSpPr/>
            <p:nvPr/>
          </p:nvSpPr>
          <p:spPr>
            <a:xfrm>
              <a:off x="4020" y="1144"/>
              <a:ext cx="5973" cy="760"/>
            </a:xfrm>
            <a:prstGeom prst="roundRect">
              <a:avLst>
                <a:gd name="adj" fmla="val 50000"/>
              </a:avLst>
            </a:prstGeom>
            <a:solidFill>
              <a:schemeClr val="bg1"/>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descr="图标&#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71" y="1073"/>
              <a:ext cx="1180" cy="894"/>
            </a:xfrm>
            <a:prstGeom prst="rect">
              <a:avLst/>
            </a:prstGeom>
          </p:spPr>
        </p:pic>
        <p:sp>
          <p:nvSpPr>
            <p:cNvPr id="5" name="文本框 4"/>
            <p:cNvSpPr txBox="1"/>
            <p:nvPr/>
          </p:nvSpPr>
          <p:spPr>
            <a:xfrm>
              <a:off x="5443" y="1144"/>
              <a:ext cx="4800" cy="725"/>
            </a:xfrm>
            <a:prstGeom prst="rect">
              <a:avLst/>
            </a:prstGeom>
            <a:noFill/>
          </p:spPr>
          <p:txBody>
            <a:bodyPr wrap="square" rtlCol="0">
              <a:spAutoFit/>
            </a:bodyPr>
            <a:p>
              <a:r>
                <a:rPr lang="zh-CN" altLang="en-US" sz="2400" b="1" i="1">
                  <a:latin typeface="宋体" panose="02010600030101010101" pitchFamily="2" charset="-122"/>
                  <a:ea typeface="宋体" panose="02010600030101010101" pitchFamily="2" charset="-122"/>
                  <a:cs typeface="宋体" panose="02010600030101010101" pitchFamily="2" charset="-122"/>
                </a:rPr>
                <a:t>什么是</a:t>
              </a:r>
              <a:r>
                <a:rPr lang="en-US" altLang="zh-CN" sz="2400" b="1" i="1">
                  <a:latin typeface="宋体" panose="02010600030101010101" pitchFamily="2" charset="-122"/>
                  <a:ea typeface="宋体" panose="02010600030101010101" pitchFamily="2" charset="-122"/>
                  <a:cs typeface="宋体" panose="02010600030101010101" pitchFamily="2" charset="-122"/>
                </a:rPr>
                <a:t>ATT</a:t>
              </a:r>
              <a:r>
                <a:rPr lang="zh-CN" altLang="en-US" sz="2400" b="1" i="1">
                  <a:latin typeface="宋体" panose="02010600030101010101" pitchFamily="2" charset="-122"/>
                  <a:ea typeface="宋体" panose="02010600030101010101" pitchFamily="2" charset="-122"/>
                  <a:cs typeface="宋体" panose="02010600030101010101" pitchFamily="2" charset="-122"/>
                </a:rPr>
                <a:t>？</a:t>
              </a:r>
              <a:endParaRPr lang="zh-CN" altLang="en-US" sz="2400" b="1" i="1">
                <a:latin typeface="宋体" panose="02010600030101010101" pitchFamily="2" charset="-122"/>
                <a:ea typeface="宋体" panose="02010600030101010101" pitchFamily="2" charset="-122"/>
                <a:cs typeface="宋体" panose="02010600030101010101" pitchFamily="2" charset="-122"/>
              </a:endParaRPr>
            </a:p>
          </p:txBody>
        </p:sp>
      </p:grpSp>
      <p:sp>
        <p:nvSpPr>
          <p:cNvPr id="21" name="剪去对角的矩形 20"/>
          <p:cNvSpPr/>
          <p:nvPr>
            <p:custDataLst>
              <p:tags r:id="rId2"/>
            </p:custDataLst>
          </p:nvPr>
        </p:nvSpPr>
        <p:spPr>
          <a:xfrm>
            <a:off x="471170" y="1833880"/>
            <a:ext cx="3669030" cy="2657475"/>
          </a:xfrm>
          <a:prstGeom prst="snip2DiagRect">
            <a:avLst>
              <a:gd name="adj1" fmla="val 0"/>
              <a:gd name="adj2" fmla="val 8363"/>
            </a:avLst>
          </a:prstGeom>
          <a:solidFill>
            <a:schemeClr val="accent2"/>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26" name="剪去对角的矩形 25"/>
          <p:cNvSpPr/>
          <p:nvPr>
            <p:custDataLst>
              <p:tags r:id="rId3"/>
            </p:custDataLst>
          </p:nvPr>
        </p:nvSpPr>
        <p:spPr>
          <a:xfrm>
            <a:off x="334645" y="1764665"/>
            <a:ext cx="3669665" cy="2642235"/>
          </a:xfrm>
          <a:prstGeom prst="snip2DiagRect">
            <a:avLst>
              <a:gd name="adj1" fmla="val 0"/>
              <a:gd name="adj2" fmla="val 10200"/>
            </a:avLst>
          </a:prstGeom>
          <a:solidFill>
            <a:schemeClr val="bg1"/>
          </a:solid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28" name="图片 27" descr="形状&#10;&#10;低可信度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334645" y="1490345"/>
            <a:ext cx="3768725" cy="445770"/>
          </a:xfrm>
          <a:prstGeom prst="rect">
            <a:avLst/>
          </a:prstGeom>
        </p:spPr>
      </p:pic>
      <p:sp>
        <p:nvSpPr>
          <p:cNvPr id="6" name="文本框 5"/>
          <p:cNvSpPr txBox="1"/>
          <p:nvPr>
            <p:custDataLst>
              <p:tags r:id="rId6"/>
            </p:custDataLst>
          </p:nvPr>
        </p:nvSpPr>
        <p:spPr>
          <a:xfrm>
            <a:off x="1896110" y="1558925"/>
            <a:ext cx="656590" cy="236220"/>
          </a:xfrm>
          <a:prstGeom prst="rect">
            <a:avLst/>
          </a:prstGeom>
          <a:noFill/>
        </p:spPr>
        <p:txBody>
          <a:bodyPr wrap="square" lIns="0" tIns="0" rIns="0" bIns="0" rtlCol="0">
            <a:no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r>
              <a:rPr lang="zh-CN" altLang="en-US" sz="2000" dirty="0"/>
              <a:t>概念</a:t>
            </a:r>
            <a:endParaRPr lang="zh-CN" altLang="en-US" sz="2000" dirty="0"/>
          </a:p>
        </p:txBody>
      </p:sp>
      <p:sp>
        <p:nvSpPr>
          <p:cNvPr id="7" name="剪去对角的矩形 6"/>
          <p:cNvSpPr/>
          <p:nvPr>
            <p:custDataLst>
              <p:tags r:id="rId7"/>
            </p:custDataLst>
          </p:nvPr>
        </p:nvSpPr>
        <p:spPr>
          <a:xfrm>
            <a:off x="4992370" y="1833880"/>
            <a:ext cx="3669030" cy="2657475"/>
          </a:xfrm>
          <a:prstGeom prst="snip2DiagRect">
            <a:avLst>
              <a:gd name="adj1" fmla="val 0"/>
              <a:gd name="adj2" fmla="val 8363"/>
            </a:avLst>
          </a:prstGeom>
          <a:solidFill>
            <a:schemeClr val="accent2"/>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9" name="剪去对角的矩形 8"/>
          <p:cNvSpPr/>
          <p:nvPr>
            <p:custDataLst>
              <p:tags r:id="rId8"/>
            </p:custDataLst>
          </p:nvPr>
        </p:nvSpPr>
        <p:spPr>
          <a:xfrm>
            <a:off x="4855845" y="1764665"/>
            <a:ext cx="3669665" cy="2642235"/>
          </a:xfrm>
          <a:prstGeom prst="snip2DiagRect">
            <a:avLst>
              <a:gd name="adj1" fmla="val 0"/>
              <a:gd name="adj2" fmla="val 10200"/>
            </a:avLst>
          </a:prstGeom>
          <a:solidFill>
            <a:schemeClr val="bg1"/>
          </a:solid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b="1">
                <a:latin typeface="Times New Roman" panose="02020603050405020304" charset="0"/>
                <a:cs typeface="Times New Roman" panose="02020603050405020304" charset="0"/>
                <a:sym typeface="+mn-ea"/>
              </a:rPr>
              <a:t>1</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低功耗：纽扣电池可续航数</a:t>
            </a:r>
            <a:r>
              <a:rPr lang="en-US" altLang="zh-CN" b="1">
                <a:latin typeface="宋体" panose="02010600030101010101" pitchFamily="2" charset="-122"/>
                <a:ea typeface="宋体" panose="02010600030101010101" pitchFamily="2" charset="-122"/>
                <a:sym typeface="+mn-ea"/>
              </a:rPr>
              <a:t>     </a:t>
            </a:r>
            <a:r>
              <a:rPr lang="zh-CN" altLang="en-US" b="1">
                <a:latin typeface="宋体" panose="02010600030101010101" pitchFamily="2" charset="-122"/>
                <a:ea typeface="宋体" panose="02010600030101010101" pitchFamily="2" charset="-122"/>
                <a:sym typeface="+mn-ea"/>
              </a:rPr>
              <a:t>月</a:t>
            </a:r>
            <a:endParaRPr lang="zh-CN" altLang="en-US" b="1">
              <a:latin typeface="宋体" panose="02010600030101010101" pitchFamily="2" charset="-122"/>
              <a:ea typeface="宋体" panose="02010600030101010101" pitchFamily="2" charset="-122"/>
            </a:endParaRPr>
          </a:p>
          <a:p>
            <a:pPr>
              <a:lnSpc>
                <a:spcPct val="120000"/>
              </a:lnSpc>
            </a:pPr>
            <a:r>
              <a:rPr lang="en-US" altLang="zh-CN" b="1">
                <a:latin typeface="Times New Roman" panose="02020603050405020304" charset="0"/>
                <a:cs typeface="Times New Roman" panose="02020603050405020304" charset="0"/>
                <a:sym typeface="+mn-ea"/>
              </a:rPr>
              <a:t>2</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快速连接：通常在几毫秒内</a:t>
            </a:r>
            <a:endParaRPr lang="zh-CN" altLang="en-US" b="1"/>
          </a:p>
          <a:p>
            <a:pPr>
              <a:lnSpc>
                <a:spcPct val="120000"/>
              </a:lnSpc>
            </a:pPr>
            <a:r>
              <a:rPr lang="en-US" altLang="zh-CN" b="1">
                <a:latin typeface="Times New Roman" panose="02020603050405020304" charset="0"/>
                <a:cs typeface="Times New Roman" panose="02020603050405020304" charset="0"/>
                <a:sym typeface="+mn-ea"/>
              </a:rPr>
              <a:t>3</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协议栈简单：简洁的协议栈降低了开发复杂性和制造成本</a:t>
            </a:r>
            <a:endParaRPr lang="en-US" altLang="zh-CN" dirty="0">
              <a:solidFill>
                <a:schemeClr val="lt1"/>
              </a:solidFill>
            </a:endParaRPr>
          </a:p>
        </p:txBody>
      </p:sp>
      <p:pic>
        <p:nvPicPr>
          <p:cNvPr id="11" name="图片 10" descr="形状&#10;&#10;低可信度描述已自动生成"/>
          <p:cNvPicPr>
            <a:picLocks noChangeAspect="1"/>
          </p:cNvPicPr>
          <p:nvPr>
            <p:custDataLst>
              <p:tags r:id="rId9"/>
            </p:custDataLst>
          </p:nvPr>
        </p:nvPicPr>
        <p:blipFill>
          <a:blip r:embed="rId5">
            <a:extLst>
              <a:ext uri="{28A0092B-C50C-407E-A947-70E740481C1C}">
                <a14:useLocalDpi xmlns:a14="http://schemas.microsoft.com/office/drawing/2010/main" val="0"/>
              </a:ext>
            </a:extLst>
          </a:blip>
          <a:stretch>
            <a:fillRect/>
          </a:stretch>
        </p:blipFill>
        <p:spPr>
          <a:xfrm>
            <a:off x="4855845" y="1490345"/>
            <a:ext cx="3768725" cy="445770"/>
          </a:xfrm>
          <a:prstGeom prst="rect">
            <a:avLst/>
          </a:prstGeom>
        </p:spPr>
      </p:pic>
      <p:sp>
        <p:nvSpPr>
          <p:cNvPr id="12" name="文本框 11"/>
          <p:cNvSpPr txBox="1"/>
          <p:nvPr>
            <p:custDataLst>
              <p:tags r:id="rId10"/>
            </p:custDataLst>
          </p:nvPr>
        </p:nvSpPr>
        <p:spPr>
          <a:xfrm>
            <a:off x="6504305" y="1558925"/>
            <a:ext cx="1165225" cy="236220"/>
          </a:xfrm>
          <a:prstGeom prst="rect">
            <a:avLst/>
          </a:prstGeom>
          <a:noFill/>
        </p:spPr>
        <p:txBody>
          <a:bodyPr wrap="square" lIns="0" tIns="0" rIns="0" bIns="0" rtlCol="0">
            <a:no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r>
              <a:rPr lang="zh-CN" altLang="en-US" sz="2000" dirty="0"/>
              <a:t>基本</a:t>
            </a:r>
            <a:r>
              <a:rPr lang="zh-CN" altLang="en-US" sz="2000" dirty="0"/>
              <a:t>方法</a:t>
            </a:r>
            <a:endParaRPr lang="zh-CN" altLang="en-US" sz="2000" dirty="0"/>
          </a:p>
        </p:txBody>
      </p:sp>
      <p:pic>
        <p:nvPicPr>
          <p:cNvPr id="13" name="图片 12" descr="卡通人物&#10;&#10;中度可信度描述已自动生成"/>
          <p:cNvPicPr>
            <a:picLocks noChangeAspect="1"/>
          </p:cNvPicPr>
          <p:nvPr>
            <p:custDataLst>
              <p:tags r:id="rId11"/>
            </p:custDataLst>
          </p:nvPr>
        </p:nvPicPr>
        <p:blipFill>
          <a:blip r:embed="rId12">
            <a:extLst>
              <a:ext uri="{28A0092B-C50C-407E-A947-70E740481C1C}">
                <a14:useLocalDpi xmlns:a14="http://schemas.microsoft.com/office/drawing/2010/main" val="0"/>
              </a:ext>
            </a:extLst>
          </a:blip>
          <a:stretch>
            <a:fillRect/>
          </a:stretch>
        </p:blipFill>
        <p:spPr>
          <a:xfrm>
            <a:off x="1295620" y="3536024"/>
            <a:ext cx="1847266" cy="870770"/>
          </a:xfrm>
          <a:prstGeom prst="rect">
            <a:avLst/>
          </a:prstGeom>
        </p:spPr>
      </p:pic>
      <p:sp>
        <p:nvSpPr>
          <p:cNvPr id="14" name="文本框 13"/>
          <p:cNvSpPr txBox="1"/>
          <p:nvPr>
            <p:custDataLst>
              <p:tags r:id="rId13"/>
            </p:custDataLst>
          </p:nvPr>
        </p:nvSpPr>
        <p:spPr>
          <a:xfrm>
            <a:off x="687705" y="2259965"/>
            <a:ext cx="3155950" cy="1460500"/>
          </a:xfrm>
          <a:prstGeom prst="rect">
            <a:avLst/>
          </a:prstGeom>
          <a:noFill/>
        </p:spPr>
        <p:txBody>
          <a:bodyPr wrap="square" rtlCol="0">
            <a:noAutofit/>
          </a:bodyPr>
          <a:p>
            <a:r>
              <a:rPr lang="en-US" altLang="zh-CN" b="1">
                <a:latin typeface="Times New Roman" panose="02020603050405020304" charset="0"/>
                <a:cs typeface="Times New Roman" panose="02020603050405020304" charset="0"/>
              </a:rPr>
              <a:t>ATT</a:t>
            </a:r>
            <a:r>
              <a:rPr lang="zh-CN" altLang="en-US" b="1">
                <a:latin typeface="宋体" panose="02010600030101010101" pitchFamily="2" charset="-122"/>
                <a:ea typeface="宋体" panose="02010600030101010101" pitchFamily="2" charset="-122"/>
                <a:cs typeface="Times New Roman" panose="02020603050405020304" charset="0"/>
              </a:rPr>
              <a:t>（属性协议）</a:t>
            </a:r>
            <a:r>
              <a:rPr lang="zh-CN" altLang="en-US" b="1">
                <a:latin typeface="宋体" panose="02010600030101010101" pitchFamily="2" charset="-122"/>
                <a:ea typeface="宋体" panose="02010600030101010101" pitchFamily="2" charset="-122"/>
              </a:rPr>
              <a:t>是一个可以让客户端发现并获取属性服务器上的属性的</a:t>
            </a:r>
            <a:r>
              <a:rPr lang="zh-CN" altLang="en-US" b="1">
                <a:latin typeface="宋体" panose="02010600030101010101" pitchFamily="2" charset="-122"/>
                <a:ea typeface="宋体" panose="02010600030101010101" pitchFamily="2" charset="-122"/>
              </a:rPr>
              <a:t>协议</a:t>
            </a:r>
            <a:endParaRPr lang="zh-CN" altLang="en-US" b="1">
              <a:latin typeface="宋体" panose="02010600030101010101" pitchFamily="2" charset="-122"/>
              <a:ea typeface="宋体" panose="02010600030101010101" pitchFamily="2" charset="-122"/>
            </a:endParaRPr>
          </a:p>
        </p:txBody>
      </p:sp>
      <p:pic>
        <p:nvPicPr>
          <p:cNvPr id="15" name="图片 14" descr="卡通人物&#10;&#10;描述已自动生成"/>
          <p:cNvPicPr>
            <a:picLocks noChangeAspect="1"/>
          </p:cNvPicPr>
          <p:nvPr>
            <p:custDataLst>
              <p:tags r:id="rId14"/>
            </p:custDataLst>
          </p:nvPr>
        </p:nvPicPr>
        <p:blipFill>
          <a:blip r:embed="rId15">
            <a:extLst>
              <a:ext uri="{28A0092B-C50C-407E-A947-70E740481C1C}">
                <a14:useLocalDpi xmlns:a14="http://schemas.microsoft.com/office/drawing/2010/main" val="0"/>
              </a:ext>
            </a:extLst>
          </a:blip>
          <a:stretch>
            <a:fillRect/>
          </a:stretch>
        </p:blipFill>
        <p:spPr>
          <a:xfrm>
            <a:off x="5953125" y="3923030"/>
            <a:ext cx="1747520" cy="483870"/>
          </a:xfrm>
          <a:prstGeom prst="rect">
            <a:avLst/>
          </a:prstGeom>
        </p:spPr>
      </p:pic>
      <p:sp>
        <p:nvSpPr>
          <p:cNvPr id="16" name="文本框 15"/>
          <p:cNvSpPr txBox="1"/>
          <p:nvPr/>
        </p:nvSpPr>
        <p:spPr>
          <a:xfrm>
            <a:off x="5218430" y="1936115"/>
            <a:ext cx="3216275" cy="1917065"/>
          </a:xfrm>
          <a:prstGeom prst="rect">
            <a:avLst/>
          </a:prstGeom>
          <a:noFill/>
        </p:spPr>
        <p:txBody>
          <a:bodyPr wrap="square" rtlCol="0" anchor="t">
            <a:noAutofit/>
          </a:bodyPr>
          <a:p>
            <a:pPr>
              <a:lnSpc>
                <a:spcPct val="120000"/>
              </a:lnSpc>
            </a:pPr>
            <a:r>
              <a:rPr lang="en-US" altLang="zh-CN" b="1">
                <a:latin typeface="Times New Roman" panose="02020603050405020304" charset="0"/>
                <a:cs typeface="Times New Roman" panose="02020603050405020304" charset="0"/>
                <a:sym typeface="+mn-ea"/>
              </a:rPr>
              <a:t>1</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cs typeface="Times New Roman" panose="02020603050405020304" charset="0"/>
                <a:sym typeface="+mn-ea"/>
              </a:rPr>
              <a:t>请求</a:t>
            </a:r>
            <a:endParaRPr lang="zh-CN" altLang="en-US" b="1">
              <a:latin typeface="宋体" panose="02010600030101010101" pitchFamily="2" charset="-122"/>
              <a:ea typeface="宋体" panose="02010600030101010101" pitchFamily="2" charset="-122"/>
            </a:endParaRPr>
          </a:p>
          <a:p>
            <a:pPr algn="l">
              <a:lnSpc>
                <a:spcPct val="120000"/>
              </a:lnSpc>
              <a:buClrTx/>
              <a:buSzTx/>
              <a:buFontTx/>
            </a:pPr>
            <a:r>
              <a:rPr lang="en-US" altLang="zh-CN" b="1">
                <a:latin typeface="Times New Roman" panose="02020603050405020304" charset="0"/>
                <a:cs typeface="Times New Roman" panose="02020603050405020304" charset="0"/>
                <a:sym typeface="+mn-ea"/>
              </a:rPr>
              <a:t>2</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cs typeface="Times New Roman" panose="02020603050405020304" charset="0"/>
                <a:sym typeface="+mn-ea"/>
              </a:rPr>
              <a:t>响应</a:t>
            </a:r>
            <a:endParaRPr lang="zh-CN" altLang="en-US" b="1">
              <a:latin typeface="宋体" panose="02010600030101010101" pitchFamily="2" charset="-122"/>
              <a:ea typeface="宋体" panose="02010600030101010101" pitchFamily="2" charset="-122"/>
              <a:cs typeface="Times New Roman" panose="02020603050405020304" charset="0"/>
            </a:endParaRPr>
          </a:p>
          <a:p>
            <a:pPr algn="l">
              <a:lnSpc>
                <a:spcPct val="120000"/>
              </a:lnSpc>
              <a:buClrTx/>
              <a:buSzTx/>
              <a:buFontTx/>
            </a:pPr>
            <a:r>
              <a:rPr lang="en-US" altLang="zh-CN" b="1">
                <a:latin typeface="Times New Roman" panose="02020603050405020304" charset="0"/>
                <a:cs typeface="Times New Roman" panose="02020603050405020304" charset="0"/>
                <a:sym typeface="+mn-ea"/>
              </a:rPr>
              <a:t>3</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cs typeface="Times New Roman" panose="02020603050405020304" charset="0"/>
                <a:sym typeface="+mn-ea"/>
              </a:rPr>
              <a:t>命令</a:t>
            </a:r>
            <a:endParaRPr lang="zh-CN" altLang="en-US" b="1">
              <a:latin typeface="宋体" panose="02010600030101010101" pitchFamily="2" charset="-122"/>
              <a:ea typeface="宋体" panose="02010600030101010101" pitchFamily="2" charset="-122"/>
              <a:cs typeface="Times New Roman" panose="02020603050405020304" charset="0"/>
              <a:sym typeface="+mn-ea"/>
            </a:endParaRPr>
          </a:p>
          <a:p>
            <a:pPr algn="l">
              <a:lnSpc>
                <a:spcPct val="120000"/>
              </a:lnSpc>
              <a:buClrTx/>
              <a:buSzTx/>
              <a:buFontTx/>
            </a:pPr>
            <a:r>
              <a:rPr lang="en-US" altLang="zh-CN" b="1">
                <a:latin typeface="Times New Roman" panose="02020603050405020304" charset="0"/>
                <a:cs typeface="Times New Roman" panose="02020603050405020304" charset="0"/>
                <a:sym typeface="+mn-ea"/>
              </a:rPr>
              <a:t>4</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cs typeface="Times New Roman" panose="02020603050405020304" charset="0"/>
                <a:sym typeface="+mn-ea"/>
              </a:rPr>
              <a:t>指示</a:t>
            </a:r>
            <a:endParaRPr lang="zh-CN" altLang="en-US" b="1">
              <a:latin typeface="宋体" panose="02010600030101010101" pitchFamily="2" charset="-122"/>
              <a:ea typeface="宋体" panose="02010600030101010101" pitchFamily="2" charset="-122"/>
              <a:cs typeface="Times New Roman" panose="02020603050405020304" charset="0"/>
              <a:sym typeface="+mn-ea"/>
            </a:endParaRPr>
          </a:p>
          <a:p>
            <a:pPr algn="l">
              <a:lnSpc>
                <a:spcPct val="120000"/>
              </a:lnSpc>
              <a:buClrTx/>
              <a:buSzTx/>
              <a:buFontTx/>
            </a:pPr>
            <a:r>
              <a:rPr lang="en-US" altLang="zh-CN" b="1">
                <a:latin typeface="Times New Roman" panose="02020603050405020304" charset="0"/>
                <a:cs typeface="Times New Roman" panose="02020603050405020304" charset="0"/>
                <a:sym typeface="+mn-ea"/>
              </a:rPr>
              <a:t>5</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cs typeface="Times New Roman" panose="02020603050405020304" charset="0"/>
                <a:sym typeface="+mn-ea"/>
              </a:rPr>
              <a:t>确认</a:t>
            </a:r>
            <a:endParaRPr lang="zh-CN" altLang="en-US" b="1">
              <a:latin typeface="宋体" panose="02010600030101010101" pitchFamily="2" charset="-122"/>
              <a:ea typeface="宋体" panose="02010600030101010101" pitchFamily="2" charset="-122"/>
              <a:cs typeface="Times New Roman" panose="02020603050405020304" charset="0"/>
              <a:sym typeface="+mn-ea"/>
            </a:endParaRPr>
          </a:p>
          <a:p>
            <a:pPr algn="l">
              <a:lnSpc>
                <a:spcPct val="120000"/>
              </a:lnSpc>
              <a:buClrTx/>
              <a:buSzTx/>
              <a:buFontTx/>
            </a:pPr>
            <a:r>
              <a:rPr lang="en-US" altLang="zh-CN" b="1">
                <a:latin typeface="Times New Roman" panose="02020603050405020304" charset="0"/>
                <a:cs typeface="Times New Roman" panose="02020603050405020304" charset="0"/>
                <a:sym typeface="+mn-ea"/>
              </a:rPr>
              <a:t>6</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cs typeface="Times New Roman" panose="02020603050405020304" charset="0"/>
                <a:sym typeface="+mn-ea"/>
              </a:rPr>
              <a:t>通知</a:t>
            </a:r>
            <a:endParaRPr lang="zh-CN" altLang="en-US" b="1">
              <a:latin typeface="宋体" panose="02010600030101010101" pitchFamily="2" charset="-122"/>
              <a:ea typeface="宋体" panose="02010600030101010101" pitchFamily="2" charset="-122"/>
              <a:cs typeface="Times New Roman" panose="02020603050405020304"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en-US" altLang="zh-CN" sz="2400" b="1" spc="-38" dirty="0">
                <a:solidFill>
                  <a:srgbClr val="3D5663"/>
                </a:solidFill>
                <a:latin typeface="Calibri" panose="020F0502020204030204" pitchFamily="34" charset="0"/>
                <a:cs typeface="Calibri" panose="020F0502020204030204" pitchFamily="34" charset="0"/>
              </a:rPr>
              <a:t>Attribute(</a:t>
            </a:r>
            <a:r>
              <a:rPr lang="zh-CN" altLang="en-US" sz="2400" b="1" spc="-38" dirty="0">
                <a:solidFill>
                  <a:srgbClr val="3D5663"/>
                </a:solidFill>
                <a:latin typeface="Calibri" panose="020F0502020204030204" pitchFamily="34" charset="0"/>
                <a:cs typeface="Calibri" panose="020F0502020204030204" pitchFamily="34" charset="0"/>
              </a:rPr>
              <a:t>属性</a:t>
            </a:r>
            <a:r>
              <a:rPr lang="en-US" altLang="zh-CN" sz="2400" b="1" spc="-38" dirty="0">
                <a:solidFill>
                  <a:srgbClr val="3D5663"/>
                </a:solidFill>
                <a:latin typeface="Calibri" panose="020F0502020204030204" pitchFamily="34" charset="0"/>
                <a:cs typeface="Calibri" panose="020F0502020204030204" pitchFamily="34" charset="0"/>
              </a:rPr>
              <a:t>)</a:t>
            </a:r>
            <a:endParaRPr lang="zh-CN" altLang="en-US" sz="2400" b="1" spc="-38" dirty="0">
              <a:solidFill>
                <a:srgbClr val="3D5663"/>
              </a:solidFill>
              <a:latin typeface="Calibri" panose="020F0502020204030204" pitchFamily="34" charset="0"/>
              <a:cs typeface="Calibri" panose="020F0502020204030204" pitchFamily="34" charset="0"/>
            </a:endParaRPr>
          </a:p>
        </p:txBody>
      </p:sp>
      <p:grpSp>
        <p:nvGrpSpPr>
          <p:cNvPr id="28" name="组合 27"/>
          <p:cNvGrpSpPr/>
          <p:nvPr>
            <p:custDataLst>
              <p:tags r:id="rId1"/>
            </p:custDataLst>
          </p:nvPr>
        </p:nvGrpSpPr>
        <p:grpSpPr>
          <a:xfrm>
            <a:off x="695960" y="1318959"/>
            <a:ext cx="7656195" cy="2235715"/>
            <a:chOff x="1040" y="3174"/>
            <a:chExt cx="17120" cy="5182"/>
          </a:xfrm>
        </p:grpSpPr>
        <p:sp>
          <p:nvSpPr>
            <p:cNvPr id="10" name="椭圆 9"/>
            <p:cNvSpPr/>
            <p:nvPr>
              <p:custDataLst>
                <p:tags r:id="rId2"/>
              </p:custDataLst>
            </p:nvPr>
          </p:nvSpPr>
          <p:spPr>
            <a:xfrm>
              <a:off x="1555" y="3695"/>
              <a:ext cx="4140" cy="41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椭圆 10"/>
            <p:cNvSpPr/>
            <p:nvPr>
              <p:custDataLst>
                <p:tags r:id="rId3"/>
              </p:custDataLst>
            </p:nvPr>
          </p:nvSpPr>
          <p:spPr>
            <a:xfrm>
              <a:off x="5538" y="3695"/>
              <a:ext cx="4140" cy="4140"/>
            </a:xfrm>
            <a:prstGeom prst="ellipse">
              <a:avLst/>
            </a:prstGeom>
            <a:solidFill>
              <a:schemeClr val="bg1"/>
            </a:solidFill>
            <a:ln w="952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12" name="椭圆 11"/>
            <p:cNvSpPr/>
            <p:nvPr>
              <p:custDataLst>
                <p:tags r:id="rId4"/>
              </p:custDataLst>
            </p:nvPr>
          </p:nvSpPr>
          <p:spPr>
            <a:xfrm>
              <a:off x="9522" y="3695"/>
              <a:ext cx="4140" cy="4140"/>
            </a:xfrm>
            <a:prstGeom prst="ellipse">
              <a:avLst/>
            </a:prstGeom>
            <a:solidFill>
              <a:schemeClr val="bg1"/>
            </a:solidFill>
            <a:ln w="952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13" name="椭圆 12"/>
            <p:cNvSpPr/>
            <p:nvPr>
              <p:custDataLst>
                <p:tags r:id="rId5"/>
              </p:custDataLst>
            </p:nvPr>
          </p:nvSpPr>
          <p:spPr>
            <a:xfrm>
              <a:off x="13505" y="3695"/>
              <a:ext cx="4140" cy="4140"/>
            </a:xfrm>
            <a:prstGeom prst="ellipse">
              <a:avLst/>
            </a:prstGeom>
            <a:solidFill>
              <a:schemeClr val="bg1"/>
            </a:solidFill>
            <a:ln w="952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grpSp>
          <p:nvGrpSpPr>
            <p:cNvPr id="14" name="组合 13"/>
            <p:cNvGrpSpPr/>
            <p:nvPr>
              <p:custDataLst>
                <p:tags r:id="rId6"/>
              </p:custDataLst>
            </p:nvPr>
          </p:nvGrpSpPr>
          <p:grpSpPr>
            <a:xfrm>
              <a:off x="1040" y="3174"/>
              <a:ext cx="14220" cy="5182"/>
              <a:chOff x="660400" y="1916603"/>
              <a:chExt cx="9029700" cy="3290394"/>
            </a:xfrm>
          </p:grpSpPr>
          <p:sp>
            <p:nvSpPr>
              <p:cNvPr id="15" name="弧形 14"/>
              <p:cNvSpPr/>
              <p:nvPr>
                <p:custDataLst>
                  <p:tags r:id="rId7"/>
                </p:custDataLst>
              </p:nvPr>
            </p:nvSpPr>
            <p:spPr>
              <a:xfrm>
                <a:off x="660400" y="1916603"/>
                <a:ext cx="3290394" cy="3290394"/>
              </a:xfrm>
              <a:prstGeom prst="arc">
                <a:avLst>
                  <a:gd name="adj1" fmla="val 5599550"/>
                  <a:gd name="adj2" fmla="val 16188278"/>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16" name="直接连接符 15"/>
              <p:cNvCxnSpPr>
                <a:stCxn id="15" idx="2"/>
              </p:cNvCxnSpPr>
              <p:nvPr>
                <p:custDataLst>
                  <p:tags r:id="rId8"/>
                </p:custDataLst>
              </p:nvPr>
            </p:nvCxnSpPr>
            <p:spPr>
              <a:xfrm flipV="1">
                <a:off x="2299987" y="1916603"/>
                <a:ext cx="7390113" cy="10"/>
              </a:xfrm>
              <a:prstGeom prst="line">
                <a:avLst/>
              </a:prstGeom>
              <a:ln w="19050" cap="rnd">
                <a:solidFill>
                  <a:schemeClr val="accent2"/>
                </a:solidFill>
                <a:round/>
                <a:tailEnd type="arrow"/>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custDataLst>
                <p:tags r:id="rId9"/>
              </p:custDataLst>
            </p:nvPr>
          </p:nvGrpSpPr>
          <p:grpSpPr>
            <a:xfrm flipH="1" flipV="1">
              <a:off x="3940" y="3174"/>
              <a:ext cx="14220" cy="5182"/>
              <a:chOff x="660400" y="1916603"/>
              <a:chExt cx="9029700" cy="3290394"/>
            </a:xfrm>
          </p:grpSpPr>
          <p:sp>
            <p:nvSpPr>
              <p:cNvPr id="18" name="弧形 17"/>
              <p:cNvSpPr/>
              <p:nvPr>
                <p:custDataLst>
                  <p:tags r:id="rId10"/>
                </p:custDataLst>
              </p:nvPr>
            </p:nvSpPr>
            <p:spPr>
              <a:xfrm>
                <a:off x="660400" y="1916603"/>
                <a:ext cx="3290394" cy="3290394"/>
              </a:xfrm>
              <a:prstGeom prst="arc">
                <a:avLst>
                  <a:gd name="adj1" fmla="val 5599550"/>
                  <a:gd name="adj2" fmla="val 16188278"/>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19" name="直接连接符 18"/>
              <p:cNvCxnSpPr>
                <a:stCxn id="18" idx="2"/>
              </p:cNvCxnSpPr>
              <p:nvPr>
                <p:custDataLst>
                  <p:tags r:id="rId11"/>
                </p:custDataLst>
              </p:nvPr>
            </p:nvCxnSpPr>
            <p:spPr>
              <a:xfrm flipV="1">
                <a:off x="2299987" y="1916603"/>
                <a:ext cx="7390113" cy="10"/>
              </a:xfrm>
              <a:prstGeom prst="line">
                <a:avLst/>
              </a:prstGeom>
              <a:ln w="19050" cap="rnd">
                <a:solidFill>
                  <a:schemeClr val="accent2"/>
                </a:solidFill>
                <a:round/>
                <a:tailEnd type="arrow"/>
              </a:ln>
            </p:spPr>
            <p:style>
              <a:lnRef idx="1">
                <a:schemeClr val="accent1"/>
              </a:lnRef>
              <a:fillRef idx="0">
                <a:schemeClr val="accent1"/>
              </a:fillRef>
              <a:effectRef idx="0">
                <a:schemeClr val="accent1"/>
              </a:effectRef>
              <a:fontRef idx="minor">
                <a:schemeClr val="tx1"/>
              </a:fontRef>
            </p:style>
          </p:cxnSp>
        </p:grpSp>
        <p:sp>
          <p:nvSpPr>
            <p:cNvPr id="20" name="矩形 19"/>
            <p:cNvSpPr/>
            <p:nvPr>
              <p:custDataLst>
                <p:tags r:id="rId12"/>
              </p:custDataLst>
            </p:nvPr>
          </p:nvSpPr>
          <p:spPr>
            <a:xfrm>
              <a:off x="2153" y="5007"/>
              <a:ext cx="2945" cy="64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dirty="0">
                  <a:solidFill>
                    <a:schemeClr val="bg1"/>
                  </a:solidFill>
                  <a:latin typeface="Times New Roman" panose="02020603050405020304" charset="0"/>
                  <a:ea typeface="OPPOSans B" panose="00020600040101010101" pitchFamily="18" charset="-122"/>
                  <a:cs typeface="Times New Roman" panose="02020603050405020304" charset="0"/>
                </a:rPr>
                <a:t>handle(</a:t>
              </a:r>
              <a:r>
                <a:rPr lang="zh-CN" altLang="en-US" dirty="0">
                  <a:solidFill>
                    <a:schemeClr val="bg1"/>
                  </a:solidFill>
                  <a:latin typeface="宋体" panose="02010600030101010101" pitchFamily="2" charset="-122"/>
                  <a:ea typeface="宋体" panose="02010600030101010101" pitchFamily="2" charset="-122"/>
                  <a:cs typeface="OPPOSans B" panose="00020600040101010101" pitchFamily="18" charset="-122"/>
                </a:rPr>
                <a:t>句柄</a:t>
              </a:r>
              <a:r>
                <a:rPr lang="en-US" altLang="zh-CN" sz="1800" dirty="0">
                  <a:solidFill>
                    <a:schemeClr val="bg1"/>
                  </a:solidFill>
                  <a:latin typeface="Times New Roman" panose="02020603050405020304" charset="0"/>
                  <a:ea typeface="OPPOSans B" panose="00020600040101010101" pitchFamily="18" charset="-122"/>
                  <a:cs typeface="Times New Roman" panose="02020603050405020304" charset="0"/>
                </a:rPr>
                <a:t>)</a:t>
              </a:r>
              <a:endParaRPr lang="zh-CN" altLang="en-US" sz="2000" dirty="0">
                <a:solidFill>
                  <a:schemeClr val="bg1"/>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21" name="矩形 20"/>
            <p:cNvSpPr/>
            <p:nvPr>
              <p:custDataLst>
                <p:tags r:id="rId13"/>
              </p:custDataLst>
            </p:nvPr>
          </p:nvSpPr>
          <p:spPr>
            <a:xfrm>
              <a:off x="2153" y="5764"/>
              <a:ext cx="3165" cy="1295"/>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0000"/>
                </a:lnSpc>
              </a:pPr>
              <a:r>
                <a:rPr lang="zh-CN" altLang="en-US" sz="1400" dirty="0">
                  <a:solidFill>
                    <a:schemeClr val="bg1"/>
                  </a:solidFill>
                  <a:latin typeface="宋体" panose="02010600030101010101" pitchFamily="2" charset="-122"/>
                  <a:ea typeface="宋体" panose="02010600030101010101" pitchFamily="2" charset="-122"/>
                  <a:cs typeface="OPPOSans R" panose="00020600040101010101" pitchFamily="18" charset="-122"/>
                </a:rPr>
                <a:t>属性的索引，由系统自动分配</a:t>
              </a:r>
              <a:endParaRPr lang="zh-CN" altLang="en-US" sz="1400" dirty="0">
                <a:solidFill>
                  <a:schemeClr val="bg1"/>
                </a:solidFill>
                <a:latin typeface="宋体" panose="02010600030101010101" pitchFamily="2" charset="-122"/>
                <a:ea typeface="宋体" panose="02010600030101010101" pitchFamily="2" charset="-122"/>
                <a:cs typeface="OPPOSans R" panose="00020600040101010101" pitchFamily="18" charset="-122"/>
              </a:endParaRPr>
            </a:p>
          </p:txBody>
        </p:sp>
        <p:sp>
          <p:nvSpPr>
            <p:cNvPr id="22" name="矩形 21"/>
            <p:cNvSpPr/>
            <p:nvPr>
              <p:custDataLst>
                <p:tags r:id="rId14"/>
              </p:custDataLst>
            </p:nvPr>
          </p:nvSpPr>
          <p:spPr>
            <a:xfrm>
              <a:off x="6135" y="5013"/>
              <a:ext cx="2945" cy="64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dirty="0">
                  <a:solidFill>
                    <a:schemeClr val="accent2"/>
                  </a:solidFill>
                  <a:latin typeface="Times New Roman" panose="02020603050405020304" charset="0"/>
                  <a:ea typeface="OPPOSans B" panose="00020600040101010101" pitchFamily="18" charset="-122"/>
                  <a:cs typeface="Times New Roman" panose="02020603050405020304" charset="0"/>
                </a:rPr>
                <a:t>type(</a:t>
              </a:r>
              <a:r>
                <a:rPr lang="zh-CN" altLang="en-US" dirty="0">
                  <a:solidFill>
                    <a:schemeClr val="accent2"/>
                  </a:solidFill>
                  <a:latin typeface="宋体" panose="02010600030101010101" pitchFamily="2" charset="-122"/>
                  <a:ea typeface="宋体" panose="02010600030101010101" pitchFamily="2" charset="-122"/>
                  <a:cs typeface="OPPOSans B" panose="00020600040101010101" pitchFamily="18" charset="-122"/>
                </a:rPr>
                <a:t>类型</a:t>
              </a:r>
              <a:r>
                <a:rPr lang="en-US" altLang="zh-CN" dirty="0">
                  <a:solidFill>
                    <a:schemeClr val="accent2"/>
                  </a:solidFill>
                  <a:latin typeface="Times New Roman" panose="02020603050405020304" charset="0"/>
                  <a:ea typeface="OPPOSans B" panose="00020600040101010101" pitchFamily="18" charset="-122"/>
                  <a:cs typeface="Times New Roman" panose="02020603050405020304" charset="0"/>
                </a:rPr>
                <a:t>)</a:t>
              </a:r>
              <a:endParaRPr lang="en-US" altLang="zh-CN" dirty="0">
                <a:solidFill>
                  <a:schemeClr val="accent2"/>
                </a:solidFill>
                <a:latin typeface="Times New Roman" panose="02020603050405020304" charset="0"/>
                <a:ea typeface="OPPOSans B" panose="00020600040101010101" pitchFamily="18" charset="-122"/>
                <a:cs typeface="Times New Roman" panose="02020603050405020304" charset="0"/>
              </a:endParaRPr>
            </a:p>
          </p:txBody>
        </p:sp>
        <p:sp>
          <p:nvSpPr>
            <p:cNvPr id="23" name="矩形 22"/>
            <p:cNvSpPr/>
            <p:nvPr>
              <p:custDataLst>
                <p:tags r:id="rId15"/>
              </p:custDataLst>
            </p:nvPr>
          </p:nvSpPr>
          <p:spPr>
            <a:xfrm>
              <a:off x="6136" y="5710"/>
              <a:ext cx="2945" cy="1295"/>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0000"/>
                </a:lnSpc>
              </a:pPr>
              <a:r>
                <a:rPr lang="zh-CN" altLang="en-US" sz="1400" dirty="0">
                  <a:solidFill>
                    <a:schemeClr val="tx1">
                      <a:lumMod val="85000"/>
                      <a:lumOff val="15000"/>
                    </a:schemeClr>
                  </a:solidFill>
                  <a:latin typeface="宋体" panose="02010600030101010101" pitchFamily="2" charset="-122"/>
                  <a:ea typeface="宋体" panose="02010600030101010101" pitchFamily="2" charset="-122"/>
                  <a:cs typeface="OPPOSans R" panose="00020600040101010101" pitchFamily="18" charset="-122"/>
                </a:rPr>
                <a:t>描述属性值的</a:t>
              </a:r>
              <a:r>
                <a:rPr lang="en-US" altLang="zh-CN" sz="1400" dirty="0">
                  <a:solidFill>
                    <a:schemeClr val="tx1">
                      <a:lumMod val="85000"/>
                      <a:lumOff val="15000"/>
                    </a:schemeClr>
                  </a:solidFill>
                  <a:latin typeface="Times New Roman" panose="02020603050405020304" charset="0"/>
                  <a:cs typeface="Times New Roman" panose="02020603050405020304" charset="0"/>
                </a:rPr>
                <a:t>UUID</a:t>
              </a:r>
              <a:endParaRPr lang="en-US" altLang="zh-CN" sz="1400" dirty="0">
                <a:solidFill>
                  <a:schemeClr val="tx1">
                    <a:lumMod val="85000"/>
                    <a:lumOff val="15000"/>
                  </a:schemeClr>
                </a:solidFill>
                <a:latin typeface="Times New Roman" panose="02020603050405020304" charset="0"/>
                <a:cs typeface="Times New Roman" panose="02020603050405020304" charset="0"/>
              </a:endParaRPr>
            </a:p>
          </p:txBody>
        </p:sp>
        <p:sp>
          <p:nvSpPr>
            <p:cNvPr id="24" name="矩形 23"/>
            <p:cNvSpPr/>
            <p:nvPr>
              <p:custDataLst>
                <p:tags r:id="rId16"/>
              </p:custDataLst>
            </p:nvPr>
          </p:nvSpPr>
          <p:spPr>
            <a:xfrm>
              <a:off x="10119" y="5006"/>
              <a:ext cx="2945" cy="64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dirty="0">
                  <a:solidFill>
                    <a:schemeClr val="accent4"/>
                  </a:solidFill>
                  <a:latin typeface="Times New Roman" panose="02020603050405020304" charset="0"/>
                  <a:ea typeface="OPPOSans B" panose="00020600040101010101" pitchFamily="18" charset="-122"/>
                  <a:cs typeface="Times New Roman" panose="02020603050405020304" charset="0"/>
                </a:rPr>
                <a:t>value(</a:t>
              </a:r>
              <a:r>
                <a:rPr lang="zh-CN" altLang="en-US" dirty="0">
                  <a:solidFill>
                    <a:schemeClr val="accent4"/>
                  </a:solidFill>
                  <a:latin typeface="宋体" panose="02010600030101010101" pitchFamily="2" charset="-122"/>
                  <a:ea typeface="宋体" panose="02010600030101010101" pitchFamily="2" charset="-122"/>
                  <a:cs typeface="OPPOSans B" panose="00020600040101010101" pitchFamily="18" charset="-122"/>
                </a:rPr>
                <a:t>值</a:t>
              </a:r>
              <a:r>
                <a:rPr lang="en-US" altLang="zh-CN" dirty="0">
                  <a:solidFill>
                    <a:schemeClr val="accent4"/>
                  </a:solidFill>
                  <a:latin typeface="Times New Roman" panose="02020603050405020304" charset="0"/>
                  <a:ea typeface="OPPOSans B" panose="00020600040101010101" pitchFamily="18" charset="-122"/>
                  <a:cs typeface="Times New Roman" panose="02020603050405020304" charset="0"/>
                </a:rPr>
                <a:t>)</a:t>
              </a:r>
              <a:endParaRPr lang="en-US" altLang="zh-CN" dirty="0">
                <a:solidFill>
                  <a:schemeClr val="accent4"/>
                </a:solidFill>
                <a:latin typeface="Times New Roman" panose="02020603050405020304" charset="0"/>
                <a:ea typeface="OPPOSans B" panose="00020600040101010101" pitchFamily="18" charset="-122"/>
                <a:cs typeface="Times New Roman" panose="02020603050405020304" charset="0"/>
              </a:endParaRPr>
            </a:p>
          </p:txBody>
        </p:sp>
        <p:sp>
          <p:nvSpPr>
            <p:cNvPr id="25" name="矩形 24"/>
            <p:cNvSpPr/>
            <p:nvPr>
              <p:custDataLst>
                <p:tags r:id="rId17"/>
              </p:custDataLst>
            </p:nvPr>
          </p:nvSpPr>
          <p:spPr>
            <a:xfrm>
              <a:off x="10119" y="5706"/>
              <a:ext cx="2945" cy="1943"/>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0000"/>
                </a:lnSpc>
              </a:pPr>
              <a:r>
                <a:rPr lang="zh-CN" altLang="en-US" sz="1400" dirty="0">
                  <a:solidFill>
                    <a:schemeClr val="tx1">
                      <a:lumMod val="85000"/>
                      <a:lumOff val="15000"/>
                    </a:schemeClr>
                  </a:solidFill>
                  <a:latin typeface="宋体" panose="02010600030101010101" pitchFamily="2" charset="-122"/>
                  <a:ea typeface="宋体" panose="02010600030101010101" pitchFamily="2" charset="-122"/>
                  <a:cs typeface="OPPOSans R" panose="00020600040101010101" pitchFamily="18" charset="-122"/>
                </a:rPr>
                <a:t>由属性类型描述并由属性句柄索引的数据</a:t>
              </a:r>
              <a:endParaRPr lang="zh-CN" altLang="en-US" sz="1400" dirty="0">
                <a:solidFill>
                  <a:schemeClr val="tx1">
                    <a:lumMod val="85000"/>
                    <a:lumOff val="15000"/>
                  </a:schemeClr>
                </a:solidFill>
                <a:latin typeface="宋体" panose="02010600030101010101" pitchFamily="2" charset="-122"/>
                <a:ea typeface="宋体" panose="02010600030101010101" pitchFamily="2" charset="-122"/>
                <a:cs typeface="OPPOSans R" panose="00020600040101010101" pitchFamily="18" charset="-122"/>
              </a:endParaRPr>
            </a:p>
          </p:txBody>
        </p:sp>
        <p:sp>
          <p:nvSpPr>
            <p:cNvPr id="26" name="矩形 25"/>
            <p:cNvSpPr/>
            <p:nvPr>
              <p:custDataLst>
                <p:tags r:id="rId18"/>
              </p:custDataLst>
            </p:nvPr>
          </p:nvSpPr>
          <p:spPr>
            <a:xfrm>
              <a:off x="13750" y="5052"/>
              <a:ext cx="3803" cy="57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dirty="0">
                  <a:solidFill>
                    <a:schemeClr val="accent2"/>
                  </a:solidFill>
                  <a:latin typeface="Times New Roman" panose="02020603050405020304" charset="0"/>
                  <a:ea typeface="OPPOSans B" panose="00020600040101010101" pitchFamily="18" charset="-122"/>
                  <a:cs typeface="Times New Roman" panose="02020603050405020304" charset="0"/>
                </a:rPr>
                <a:t>Permissions(</a:t>
              </a:r>
              <a:r>
                <a:rPr lang="zh-CN" altLang="en-US" sz="1600" dirty="0">
                  <a:solidFill>
                    <a:schemeClr val="accent2"/>
                  </a:solidFill>
                  <a:latin typeface="宋体" panose="02010600030101010101" pitchFamily="2" charset="-122"/>
                  <a:ea typeface="宋体" panose="02010600030101010101" pitchFamily="2" charset="-122"/>
                  <a:cs typeface="OPPOSans B" panose="00020600040101010101" pitchFamily="18" charset="-122"/>
                </a:rPr>
                <a:t>权限</a:t>
              </a:r>
              <a:r>
                <a:rPr lang="en-US" altLang="zh-CN" sz="1600" dirty="0">
                  <a:solidFill>
                    <a:schemeClr val="accent2"/>
                  </a:solidFill>
                  <a:latin typeface="Times New Roman" panose="02020603050405020304" charset="0"/>
                  <a:ea typeface="OPPOSans B" panose="00020600040101010101" pitchFamily="18" charset="-122"/>
                  <a:cs typeface="Times New Roman" panose="02020603050405020304" charset="0"/>
                </a:rPr>
                <a:t>)</a:t>
              </a:r>
              <a:endParaRPr lang="en-US" altLang="zh-CN" sz="1600" dirty="0">
                <a:solidFill>
                  <a:schemeClr val="accent2"/>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27" name="矩形 26"/>
            <p:cNvSpPr/>
            <p:nvPr>
              <p:custDataLst>
                <p:tags r:id="rId19"/>
              </p:custDataLst>
            </p:nvPr>
          </p:nvSpPr>
          <p:spPr>
            <a:xfrm>
              <a:off x="14102" y="5648"/>
              <a:ext cx="2945" cy="1295"/>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0000"/>
                </a:lnSpc>
              </a:pPr>
              <a:r>
                <a:rPr lang="zh-CN" altLang="en-US" sz="1400" dirty="0">
                  <a:solidFill>
                    <a:schemeClr val="tx1">
                      <a:lumMod val="85000"/>
                      <a:lumOff val="15000"/>
                    </a:schemeClr>
                  </a:solidFill>
                  <a:latin typeface="宋体" panose="02010600030101010101" pitchFamily="2" charset="-122"/>
                  <a:ea typeface="宋体" panose="02010600030101010101" pitchFamily="2" charset="-122"/>
                  <a:cs typeface="OPPOSans R" panose="00020600040101010101" pitchFamily="18" charset="-122"/>
                </a:rPr>
                <a:t>描述是否允许读取或写入访问</a:t>
              </a:r>
              <a:endParaRPr lang="zh-CN" altLang="en-US" sz="1400" dirty="0">
                <a:solidFill>
                  <a:schemeClr val="tx1">
                    <a:lumMod val="85000"/>
                    <a:lumOff val="15000"/>
                  </a:schemeClr>
                </a:solidFill>
                <a:latin typeface="宋体" panose="02010600030101010101" pitchFamily="2" charset="-122"/>
                <a:ea typeface="宋体" panose="02010600030101010101" pitchFamily="2" charset="-122"/>
                <a:cs typeface="OPPOSans R" panose="00020600040101010101" pitchFamily="18" charset="-122"/>
              </a:endParaRPr>
            </a:p>
          </p:txBody>
        </p:sp>
        <p:pic>
          <p:nvPicPr>
            <p:cNvPr id="29" name="图片 28" descr="图标&#10;&#10;描述已自动生成"/>
            <p:cNvPicPr>
              <a:picLocks noChangeAspect="1"/>
            </p:cNvPicPr>
            <p:nvPr>
              <p:custDataLst>
                <p:tags r:id="rId20"/>
              </p:custDataLst>
            </p:nvPr>
          </p:nvPicPr>
          <p:blipFill>
            <a:blip r:embed="rId21">
              <a:extLst>
                <a:ext uri="{28A0092B-C50C-407E-A947-70E740481C1C}">
                  <a14:useLocalDpi xmlns:a14="http://schemas.microsoft.com/office/drawing/2010/main" val="0"/>
                </a:ext>
              </a:extLst>
            </a:blip>
            <a:stretch>
              <a:fillRect/>
            </a:stretch>
          </p:blipFill>
          <p:spPr>
            <a:xfrm>
              <a:off x="3080" y="3840"/>
              <a:ext cx="1080" cy="981"/>
            </a:xfrm>
            <a:prstGeom prst="rect">
              <a:avLst/>
            </a:prstGeom>
          </p:spPr>
        </p:pic>
        <p:pic>
          <p:nvPicPr>
            <p:cNvPr id="31" name="图片 30" descr="图标&#10;&#10;描述已自动生成"/>
            <p:cNvPicPr>
              <a:picLocks noChangeAspect="1"/>
            </p:cNvPicPr>
            <p:nvPr>
              <p:custDataLst>
                <p:tags r:id="rId22"/>
              </p:custDataLst>
            </p:nvPr>
          </p:nvPicPr>
          <p:blipFill>
            <a:blip r:embed="rId23">
              <a:extLst>
                <a:ext uri="{28A0092B-C50C-407E-A947-70E740481C1C}">
                  <a14:useLocalDpi xmlns:a14="http://schemas.microsoft.com/office/drawing/2010/main" val="0"/>
                </a:ext>
              </a:extLst>
            </a:blip>
            <a:stretch>
              <a:fillRect/>
            </a:stretch>
          </p:blipFill>
          <p:spPr>
            <a:xfrm>
              <a:off x="11059" y="3840"/>
              <a:ext cx="1065" cy="981"/>
            </a:xfrm>
            <a:prstGeom prst="rect">
              <a:avLst/>
            </a:prstGeom>
          </p:spPr>
        </p:pic>
        <p:pic>
          <p:nvPicPr>
            <p:cNvPr id="33" name="图片 32" descr="图标&#10;&#10;描述已自动生成"/>
            <p:cNvPicPr>
              <a:picLocks noChangeAspect="1"/>
            </p:cNvPicPr>
            <p:nvPr>
              <p:custDataLst>
                <p:tags r:id="rId24"/>
              </p:custDataLst>
            </p:nvPr>
          </p:nvPicPr>
          <p:blipFill>
            <a:blip r:embed="rId25">
              <a:extLst>
                <a:ext uri="{28A0092B-C50C-407E-A947-70E740481C1C}">
                  <a14:useLocalDpi xmlns:a14="http://schemas.microsoft.com/office/drawing/2010/main" val="0"/>
                </a:ext>
              </a:extLst>
            </a:blip>
            <a:stretch>
              <a:fillRect/>
            </a:stretch>
          </p:blipFill>
          <p:spPr>
            <a:xfrm>
              <a:off x="7074" y="3840"/>
              <a:ext cx="1065" cy="981"/>
            </a:xfrm>
            <a:prstGeom prst="rect">
              <a:avLst/>
            </a:prstGeom>
          </p:spPr>
        </p:pic>
        <p:pic>
          <p:nvPicPr>
            <p:cNvPr id="35" name="图片 34" descr="图标&#10;&#10;描述已自动生成"/>
            <p:cNvPicPr>
              <a:picLocks noChangeAspect="1"/>
            </p:cNvPicPr>
            <p:nvPr>
              <p:custDataLst>
                <p:tags r:id="rId26"/>
              </p:custDataLst>
            </p:nvPr>
          </p:nvPicPr>
          <p:blipFill>
            <a:blip r:embed="rId27">
              <a:extLst>
                <a:ext uri="{28A0092B-C50C-407E-A947-70E740481C1C}">
                  <a14:useLocalDpi xmlns:a14="http://schemas.microsoft.com/office/drawing/2010/main" val="0"/>
                </a:ext>
              </a:extLst>
            </a:blip>
            <a:stretch>
              <a:fillRect/>
            </a:stretch>
          </p:blipFill>
          <p:spPr>
            <a:xfrm>
              <a:off x="15043" y="3840"/>
              <a:ext cx="1065" cy="981"/>
            </a:xfrm>
            <a:prstGeom prst="rect">
              <a:avLst/>
            </a:prstGeom>
          </p:spPr>
        </p:pic>
      </p:grpSp>
      <p:grpSp>
        <p:nvGrpSpPr>
          <p:cNvPr id="32" name="组合 31"/>
          <p:cNvGrpSpPr/>
          <p:nvPr/>
        </p:nvGrpSpPr>
        <p:grpSpPr>
          <a:xfrm>
            <a:off x="1642745" y="669290"/>
            <a:ext cx="5909945" cy="567690"/>
            <a:chOff x="3871" y="1073"/>
            <a:chExt cx="9307" cy="894"/>
          </a:xfrm>
        </p:grpSpPr>
        <p:sp>
          <p:nvSpPr>
            <p:cNvPr id="34" name="圆角矩形 33"/>
            <p:cNvSpPr/>
            <p:nvPr/>
          </p:nvSpPr>
          <p:spPr>
            <a:xfrm>
              <a:off x="4020" y="1144"/>
              <a:ext cx="8980" cy="760"/>
            </a:xfrm>
            <a:prstGeom prst="roundRect">
              <a:avLst>
                <a:gd name="adj" fmla="val 50000"/>
              </a:avLst>
            </a:prstGeom>
            <a:solidFill>
              <a:schemeClr val="bg1"/>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descr="图标&#10;&#10;描述已自动生成"/>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3871" y="1073"/>
              <a:ext cx="1180" cy="894"/>
            </a:xfrm>
            <a:prstGeom prst="rect">
              <a:avLst/>
            </a:prstGeom>
          </p:spPr>
        </p:pic>
        <p:sp>
          <p:nvSpPr>
            <p:cNvPr id="37" name="文本框 36"/>
            <p:cNvSpPr txBox="1"/>
            <p:nvPr/>
          </p:nvSpPr>
          <p:spPr>
            <a:xfrm>
              <a:off x="5050" y="1230"/>
              <a:ext cx="8128" cy="58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cs typeface="宋体" panose="02010600030101010101" pitchFamily="2" charset="-122"/>
                  <a:sym typeface="+mn-ea"/>
                </a:rPr>
                <a:t>属性是</a:t>
              </a:r>
              <a:r>
                <a:rPr lang="en-US" altLang="zh-CN" b="1">
                  <a:latin typeface="Times New Roman" panose="02020603050405020304" charset="0"/>
                  <a:ea typeface="宋体" panose="02010600030101010101" pitchFamily="2" charset="-122"/>
                  <a:cs typeface="Times New Roman" panose="02020603050405020304" charset="0"/>
                  <a:sym typeface="+mn-ea"/>
                </a:rPr>
                <a:t>ATT</a:t>
              </a:r>
              <a:r>
                <a:rPr lang="zh-CN" altLang="en-US" b="1">
                  <a:latin typeface="宋体" panose="02010600030101010101" pitchFamily="2" charset="-122"/>
                  <a:ea typeface="宋体" panose="02010600030101010101" pitchFamily="2" charset="-122"/>
                  <a:cs typeface="宋体" panose="02010600030101010101" pitchFamily="2" charset="-122"/>
                  <a:sym typeface="+mn-ea"/>
                </a:rPr>
                <a:t>的核心，一个属性由以下</a:t>
              </a:r>
              <a:r>
                <a:rPr lang="en-US" altLang="zh-CN" b="1">
                  <a:latin typeface="宋体" panose="02010600030101010101" pitchFamily="2" charset="-122"/>
                  <a:ea typeface="宋体" panose="02010600030101010101" pitchFamily="2" charset="-122"/>
                  <a:cs typeface="宋体" panose="02010600030101010101" pitchFamily="2" charset="-122"/>
                  <a:sym typeface="+mn-ea"/>
                </a:rPr>
                <a:t>4</a:t>
              </a:r>
              <a:r>
                <a:rPr lang="zh-CN" altLang="en-US" b="1">
                  <a:latin typeface="宋体" panose="02010600030101010101" pitchFamily="2" charset="-122"/>
                  <a:ea typeface="宋体" panose="02010600030101010101" pitchFamily="2" charset="-122"/>
                  <a:cs typeface="宋体" panose="02010600030101010101" pitchFamily="2" charset="-122"/>
                  <a:sym typeface="+mn-ea"/>
                </a:rPr>
                <a:t>部分组成</a:t>
              </a:r>
              <a:endParaRPr lang="zh-CN" altLang="en-US" b="1" i="1">
                <a:latin typeface="宋体" panose="02010600030101010101" pitchFamily="2" charset="-122"/>
                <a:ea typeface="宋体" panose="02010600030101010101" pitchFamily="2" charset="-122"/>
                <a:cs typeface="宋体" panose="02010600030101010101" pitchFamily="2" charset="-122"/>
                <a:sym typeface="+mn-ea"/>
              </a:endParaRPr>
            </a:p>
          </p:txBody>
        </p:sp>
      </p:grpSp>
      <p:grpSp>
        <p:nvGrpSpPr>
          <p:cNvPr id="2" name="组合 1"/>
          <p:cNvGrpSpPr/>
          <p:nvPr/>
        </p:nvGrpSpPr>
        <p:grpSpPr>
          <a:xfrm>
            <a:off x="2421255" y="3619500"/>
            <a:ext cx="4346575" cy="1264920"/>
            <a:chOff x="7555" y="5428"/>
            <a:chExt cx="6845" cy="1992"/>
          </a:xfrm>
        </p:grpSpPr>
        <p:pic>
          <p:nvPicPr>
            <p:cNvPr id="3" name="图片 2"/>
            <p:cNvPicPr>
              <a:picLocks noChangeAspect="1"/>
            </p:cNvPicPr>
            <p:nvPr/>
          </p:nvPicPr>
          <p:blipFill>
            <a:blip r:embed="rId29"/>
            <a:stretch>
              <a:fillRect/>
            </a:stretch>
          </p:blipFill>
          <p:spPr>
            <a:xfrm>
              <a:off x="7555" y="5428"/>
              <a:ext cx="5684" cy="1993"/>
            </a:xfrm>
            <a:prstGeom prst="rect">
              <a:avLst/>
            </a:prstGeom>
          </p:spPr>
        </p:pic>
        <p:sp>
          <p:nvSpPr>
            <p:cNvPr id="4" name="文本框 3"/>
            <p:cNvSpPr txBox="1"/>
            <p:nvPr/>
          </p:nvSpPr>
          <p:spPr>
            <a:xfrm>
              <a:off x="10501" y="5799"/>
              <a:ext cx="1046" cy="337"/>
            </a:xfrm>
            <a:prstGeom prst="rect">
              <a:avLst/>
            </a:prstGeom>
            <a:noFill/>
          </p:spPr>
          <p:txBody>
            <a:bodyPr wrap="square" rtlCol="0">
              <a:spAutoFit/>
            </a:bodyPr>
            <a:p>
              <a:r>
                <a:rPr lang="zh-CN" altLang="en-US" sz="800">
                  <a:solidFill>
                    <a:srgbClr val="FF0000"/>
                  </a:solidFill>
                </a:rPr>
                <a:t>属性类型</a:t>
              </a:r>
              <a:endParaRPr lang="zh-CN" altLang="en-US" sz="800">
                <a:solidFill>
                  <a:srgbClr val="FF0000"/>
                </a:solidFill>
              </a:endParaRPr>
            </a:p>
          </p:txBody>
        </p:sp>
        <p:sp>
          <p:nvSpPr>
            <p:cNvPr id="5" name="文本框 4"/>
            <p:cNvSpPr txBox="1"/>
            <p:nvPr/>
          </p:nvSpPr>
          <p:spPr>
            <a:xfrm>
              <a:off x="10501" y="6027"/>
              <a:ext cx="829" cy="337"/>
            </a:xfrm>
            <a:prstGeom prst="rect">
              <a:avLst/>
            </a:prstGeom>
            <a:noFill/>
          </p:spPr>
          <p:txBody>
            <a:bodyPr wrap="square" rtlCol="0">
              <a:spAutoFit/>
            </a:bodyPr>
            <a:p>
              <a:r>
                <a:rPr lang="zh-CN" altLang="en-US" sz="800">
                  <a:solidFill>
                    <a:srgbClr val="FF0000"/>
                  </a:solidFill>
                </a:rPr>
                <a:t>属性值</a:t>
              </a:r>
              <a:endParaRPr lang="zh-CN" altLang="en-US" sz="800">
                <a:solidFill>
                  <a:srgbClr val="FF0000"/>
                </a:solidFill>
              </a:endParaRPr>
            </a:p>
          </p:txBody>
        </p:sp>
        <p:sp>
          <p:nvSpPr>
            <p:cNvPr id="7" name="文本框 6"/>
            <p:cNvSpPr txBox="1"/>
            <p:nvPr/>
          </p:nvSpPr>
          <p:spPr>
            <a:xfrm>
              <a:off x="10608" y="6434"/>
              <a:ext cx="939" cy="337"/>
            </a:xfrm>
            <a:prstGeom prst="rect">
              <a:avLst/>
            </a:prstGeom>
            <a:noFill/>
          </p:spPr>
          <p:txBody>
            <a:bodyPr wrap="square" rtlCol="0">
              <a:spAutoFit/>
            </a:bodyPr>
            <a:p>
              <a:r>
                <a:rPr lang="zh-CN" altLang="en-US" sz="800">
                  <a:solidFill>
                    <a:srgbClr val="FF0000"/>
                  </a:solidFill>
                </a:rPr>
                <a:t>特征特性</a:t>
              </a:r>
              <a:endParaRPr lang="zh-CN" altLang="en-US" sz="800">
                <a:solidFill>
                  <a:srgbClr val="FF0000"/>
                </a:solidFill>
              </a:endParaRPr>
            </a:p>
          </p:txBody>
        </p:sp>
        <p:sp>
          <p:nvSpPr>
            <p:cNvPr id="8" name="文本框 7"/>
            <p:cNvSpPr txBox="1"/>
            <p:nvPr/>
          </p:nvSpPr>
          <p:spPr>
            <a:xfrm>
              <a:off x="11170" y="6676"/>
              <a:ext cx="1007" cy="337"/>
            </a:xfrm>
            <a:prstGeom prst="rect">
              <a:avLst/>
            </a:prstGeom>
            <a:noFill/>
          </p:spPr>
          <p:txBody>
            <a:bodyPr wrap="square" rtlCol="0">
              <a:spAutoFit/>
            </a:bodyPr>
            <a:p>
              <a:r>
                <a:rPr lang="zh-CN" altLang="en-US" sz="800">
                  <a:solidFill>
                    <a:srgbClr val="FF0000"/>
                  </a:solidFill>
                </a:rPr>
                <a:t>属性权限</a:t>
              </a:r>
              <a:endParaRPr lang="zh-CN" altLang="en-US" sz="800">
                <a:solidFill>
                  <a:srgbClr val="FF0000"/>
                </a:solidFill>
              </a:endParaRPr>
            </a:p>
          </p:txBody>
        </p:sp>
        <p:sp>
          <p:nvSpPr>
            <p:cNvPr id="9" name="文本框 8"/>
            <p:cNvSpPr txBox="1"/>
            <p:nvPr/>
          </p:nvSpPr>
          <p:spPr>
            <a:xfrm>
              <a:off x="10128" y="6237"/>
              <a:ext cx="1298" cy="337"/>
            </a:xfrm>
            <a:prstGeom prst="rect">
              <a:avLst/>
            </a:prstGeom>
            <a:noFill/>
          </p:spPr>
          <p:txBody>
            <a:bodyPr wrap="square" rtlCol="0">
              <a:spAutoFit/>
            </a:bodyPr>
            <a:p>
              <a:r>
                <a:rPr lang="zh-CN" altLang="en-US" sz="800">
                  <a:solidFill>
                    <a:srgbClr val="FF0000"/>
                  </a:solidFill>
                </a:rPr>
                <a:t>属性值长度</a:t>
              </a:r>
              <a:endParaRPr lang="zh-CN" altLang="en-US" sz="800">
                <a:solidFill>
                  <a:srgbClr val="FF0000"/>
                </a:solidFill>
              </a:endParaRPr>
            </a:p>
          </p:txBody>
        </p:sp>
        <p:sp>
          <p:nvSpPr>
            <p:cNvPr id="30" name="文本框 29"/>
            <p:cNvSpPr txBox="1"/>
            <p:nvPr/>
          </p:nvSpPr>
          <p:spPr>
            <a:xfrm>
              <a:off x="13094" y="6884"/>
              <a:ext cx="1306" cy="337"/>
            </a:xfrm>
            <a:prstGeom prst="rect">
              <a:avLst/>
            </a:prstGeom>
            <a:noFill/>
          </p:spPr>
          <p:txBody>
            <a:bodyPr wrap="square" rtlCol="0">
              <a:spAutoFit/>
            </a:bodyPr>
            <a:p>
              <a:r>
                <a:rPr lang="zh-CN" altLang="en-US" sz="800">
                  <a:solidFill>
                    <a:srgbClr val="FF0000"/>
                  </a:solidFill>
                </a:rPr>
                <a:t>注册回调函数</a:t>
              </a:r>
              <a:endParaRPr lang="zh-CN" altLang="en-US" sz="800">
                <a:solidFill>
                  <a:srgbClr val="FF0000"/>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ATT PDU</a:t>
            </a:r>
            <a:endParaRPr lang="zh-CN" altLang="en-US" sz="2400" b="1" spc="-38" dirty="0">
              <a:solidFill>
                <a:srgbClr val="3D5663"/>
              </a:solidFill>
              <a:latin typeface="Calibri" panose="020F0502020204030204" pitchFamily="34" charset="0"/>
              <a:cs typeface="Calibri" panose="020F0502020204030204" pitchFamily="34" charset="0"/>
            </a:endParaRPr>
          </a:p>
        </p:txBody>
      </p:sp>
      <p:grpSp>
        <p:nvGrpSpPr>
          <p:cNvPr id="15" name="组合 14"/>
          <p:cNvGrpSpPr/>
          <p:nvPr/>
        </p:nvGrpSpPr>
        <p:grpSpPr>
          <a:xfrm>
            <a:off x="342265" y="1010920"/>
            <a:ext cx="3106420" cy="932180"/>
            <a:chOff x="538" y="1921"/>
            <a:chExt cx="4892" cy="1468"/>
          </a:xfrm>
        </p:grpSpPr>
        <p:sp>
          <p:nvSpPr>
            <p:cNvPr id="7" name="圆角矩形 6"/>
            <p:cNvSpPr/>
            <p:nvPr/>
          </p:nvSpPr>
          <p:spPr>
            <a:xfrm>
              <a:off x="538" y="1921"/>
              <a:ext cx="1679" cy="1468"/>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宋体" panose="02010600030101010101" pitchFamily="2" charset="-122"/>
                  <a:ea typeface="宋体" panose="02010600030101010101" pitchFamily="2" charset="-122"/>
                </a:rPr>
                <a:t>客户端</a:t>
              </a:r>
              <a:endParaRPr lang="zh-CN" altLang="en-US" b="1">
                <a:latin typeface="宋体" panose="02010600030101010101" pitchFamily="2" charset="-122"/>
                <a:ea typeface="宋体" panose="02010600030101010101" pitchFamily="2" charset="-122"/>
              </a:endParaRPr>
            </a:p>
          </p:txBody>
        </p:sp>
        <p:sp>
          <p:nvSpPr>
            <p:cNvPr id="9" name="圆角矩形 8"/>
            <p:cNvSpPr/>
            <p:nvPr/>
          </p:nvSpPr>
          <p:spPr>
            <a:xfrm>
              <a:off x="3752" y="1921"/>
              <a:ext cx="1679" cy="1468"/>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宋体" panose="02010600030101010101" pitchFamily="2" charset="-122"/>
                  <a:ea typeface="宋体" panose="02010600030101010101" pitchFamily="2" charset="-122"/>
                </a:rPr>
                <a:t>服务器</a:t>
              </a:r>
              <a:endParaRPr lang="zh-CN" altLang="en-US"/>
            </a:p>
          </p:txBody>
        </p:sp>
        <p:sp>
          <p:nvSpPr>
            <p:cNvPr id="10" name="左右箭头 9"/>
            <p:cNvSpPr/>
            <p:nvPr/>
          </p:nvSpPr>
          <p:spPr>
            <a:xfrm>
              <a:off x="2217" y="2361"/>
              <a:ext cx="1535" cy="779"/>
            </a:xfrm>
            <a:prstGeom prst="leftRightArrow">
              <a:avLst/>
            </a:prstGeom>
            <a:solidFill>
              <a:schemeClr val="accent2"/>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latin typeface="宋体" panose="02010600030101010101" pitchFamily="2" charset="-122"/>
                  <a:ea typeface="宋体" panose="02010600030101010101" pitchFamily="2" charset="-122"/>
                </a:rPr>
                <a:t>方法</a:t>
              </a:r>
              <a:endParaRPr lang="zh-CN" altLang="en-US" b="1">
                <a:latin typeface="宋体" panose="02010600030101010101" pitchFamily="2" charset="-122"/>
                <a:ea typeface="宋体" panose="02010600030101010101" pitchFamily="2" charset="-122"/>
              </a:endParaRPr>
            </a:p>
          </p:txBody>
        </p:sp>
      </p:grpSp>
      <p:sp>
        <p:nvSpPr>
          <p:cNvPr id="11" name="文本框 10"/>
          <p:cNvSpPr txBox="1"/>
          <p:nvPr/>
        </p:nvSpPr>
        <p:spPr>
          <a:xfrm>
            <a:off x="1360805" y="588645"/>
            <a:ext cx="1345565" cy="36830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传输方式</a:t>
            </a:r>
            <a:endParaRPr lang="zh-CN" altLang="en-US" b="1">
              <a:latin typeface="宋体" panose="02010600030101010101" pitchFamily="2" charset="-122"/>
              <a:ea typeface="宋体" panose="02010600030101010101" pitchFamily="2" charset="-122"/>
            </a:endParaRPr>
          </a:p>
        </p:txBody>
      </p:sp>
      <p:grpSp>
        <p:nvGrpSpPr>
          <p:cNvPr id="14" name="组合 13"/>
          <p:cNvGrpSpPr/>
          <p:nvPr/>
        </p:nvGrpSpPr>
        <p:grpSpPr>
          <a:xfrm>
            <a:off x="544195" y="2111375"/>
            <a:ext cx="2635885" cy="2421255"/>
            <a:chOff x="6966" y="2361"/>
            <a:chExt cx="3875" cy="6115"/>
          </a:xfrm>
        </p:grpSpPr>
        <p:sp>
          <p:nvSpPr>
            <p:cNvPr id="13" name="对角圆角矩形 12"/>
            <p:cNvSpPr/>
            <p:nvPr>
              <p:custDataLst>
                <p:tags r:id="rId1"/>
              </p:custDataLst>
            </p:nvPr>
          </p:nvSpPr>
          <p:spPr>
            <a:xfrm>
              <a:off x="6966" y="2361"/>
              <a:ext cx="3875" cy="6115"/>
            </a:xfrm>
            <a:prstGeom prst="round2DiagRect">
              <a:avLst/>
            </a:prstGeom>
            <a:solidFill>
              <a:schemeClr val="bg1"/>
            </a:solid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椭圆 60"/>
            <p:cNvSpPr/>
            <p:nvPr>
              <p:custDataLst>
                <p:tags r:id="rId2"/>
              </p:custDataLst>
            </p:nvPr>
          </p:nvSpPr>
          <p:spPr>
            <a:xfrm>
              <a:off x="7711" y="3006"/>
              <a:ext cx="2385" cy="2385"/>
            </a:xfrm>
            <a:prstGeom prst="ellipse">
              <a:avLst/>
            </a:prstGeom>
            <a:solidFill>
              <a:schemeClr val="bg1"/>
            </a:solidFill>
            <a:ln w="1587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86" name="文本框 85"/>
            <p:cNvSpPr txBox="1"/>
            <p:nvPr>
              <p:custDataLst>
                <p:tags r:id="rId3"/>
              </p:custDataLst>
            </p:nvPr>
          </p:nvSpPr>
          <p:spPr>
            <a:xfrm>
              <a:off x="7979" y="5532"/>
              <a:ext cx="1948" cy="2425"/>
            </a:xfrm>
            <a:prstGeom prst="rect">
              <a:avLst/>
            </a:prstGeom>
            <a:noFill/>
          </p:spPr>
          <p:txBody>
            <a:bodyPr wrap="square" lIns="0" tIns="0" rIns="0" bIns="0" rtlCol="0">
              <a:noAutofit/>
            </a:bodyPr>
            <a:lstStyle>
              <a:defPPr>
                <a:defRPr lang="zh-CN"/>
              </a:defPPr>
              <a:lvl1pPr marR="0" lvl="0" indent="0" fontAlgn="auto">
                <a:lnSpc>
                  <a:spcPct val="130000"/>
                </a:lnSpc>
                <a:spcBef>
                  <a:spcPts val="0"/>
                </a:spcBef>
                <a:spcAft>
                  <a:spcPts val="0"/>
                </a:spcAft>
                <a:buClrTx/>
                <a:buSzTx/>
                <a:buFontTx/>
                <a:buNone/>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600" b="1">
                  <a:latin typeface="宋体" panose="02010600030101010101" pitchFamily="2" charset="-122"/>
                  <a:ea typeface="宋体" panose="02010600030101010101" pitchFamily="2" charset="-122"/>
                  <a:cs typeface="Times New Roman" panose="02020603050405020304" charset="0"/>
                  <a:sym typeface="+mn-ea"/>
                </a:rPr>
                <a:t>请求</a:t>
              </a:r>
              <a:r>
                <a:rPr lang="en-US" altLang="zh-CN" sz="1600" b="1">
                  <a:latin typeface="宋体" panose="02010600030101010101" pitchFamily="2" charset="-122"/>
                  <a:ea typeface="宋体" panose="02010600030101010101" pitchFamily="2" charset="-122"/>
                  <a:cs typeface="Times New Roman" panose="02020603050405020304" charset="0"/>
                  <a:sym typeface="+mn-ea"/>
                </a:rPr>
                <a:t>   </a:t>
              </a:r>
              <a:r>
                <a:rPr lang="zh-CN" altLang="en-US" sz="1600" b="1">
                  <a:latin typeface="宋体" panose="02010600030101010101" pitchFamily="2" charset="-122"/>
                  <a:ea typeface="宋体" panose="02010600030101010101" pitchFamily="2" charset="-122"/>
                  <a:cs typeface="Times New Roman" panose="02020603050405020304" charset="0"/>
                  <a:sym typeface="+mn-ea"/>
                </a:rPr>
                <a:t>响应</a:t>
              </a:r>
              <a:endParaRPr lang="zh-CN" altLang="en-US" sz="1600" b="1">
                <a:latin typeface="宋体" panose="02010600030101010101" pitchFamily="2" charset="-122"/>
                <a:ea typeface="宋体" panose="02010600030101010101" pitchFamily="2" charset="-122"/>
                <a:cs typeface="Times New Roman" panose="02020603050405020304" charset="0"/>
              </a:endParaRPr>
            </a:p>
            <a:p>
              <a:pPr algn="l">
                <a:lnSpc>
                  <a:spcPct val="120000"/>
                </a:lnSpc>
                <a:buClrTx/>
                <a:buSzTx/>
                <a:buFontTx/>
              </a:pPr>
              <a:r>
                <a:rPr lang="zh-CN" altLang="en-US" sz="1600" b="1">
                  <a:latin typeface="宋体" panose="02010600030101010101" pitchFamily="2" charset="-122"/>
                  <a:ea typeface="宋体" panose="02010600030101010101" pitchFamily="2" charset="-122"/>
                  <a:cs typeface="Times New Roman" panose="02020603050405020304" charset="0"/>
                  <a:sym typeface="+mn-ea"/>
                </a:rPr>
                <a:t>命令</a:t>
              </a:r>
              <a:r>
                <a:rPr lang="en-US" altLang="zh-CN" sz="1600" b="1">
                  <a:latin typeface="宋体" panose="02010600030101010101" pitchFamily="2" charset="-122"/>
                  <a:ea typeface="宋体" panose="02010600030101010101" pitchFamily="2" charset="-122"/>
                  <a:cs typeface="Times New Roman" panose="02020603050405020304" charset="0"/>
                  <a:sym typeface="+mn-ea"/>
                </a:rPr>
                <a:t>   </a:t>
              </a:r>
              <a:r>
                <a:rPr lang="zh-CN" altLang="en-US" sz="1600" b="1">
                  <a:latin typeface="宋体" panose="02010600030101010101" pitchFamily="2" charset="-122"/>
                  <a:ea typeface="宋体" panose="02010600030101010101" pitchFamily="2" charset="-122"/>
                  <a:cs typeface="Times New Roman" panose="02020603050405020304" charset="0"/>
                  <a:sym typeface="+mn-ea"/>
                </a:rPr>
                <a:t>指示</a:t>
              </a:r>
              <a:endParaRPr lang="zh-CN" altLang="en-US" sz="1600" b="1">
                <a:latin typeface="宋体" panose="02010600030101010101" pitchFamily="2" charset="-122"/>
                <a:ea typeface="宋体" panose="02010600030101010101" pitchFamily="2" charset="-122"/>
                <a:cs typeface="Times New Roman" panose="02020603050405020304" charset="0"/>
                <a:sym typeface="+mn-ea"/>
              </a:endParaRPr>
            </a:p>
            <a:p>
              <a:pPr algn="l">
                <a:lnSpc>
                  <a:spcPct val="120000"/>
                </a:lnSpc>
                <a:buClrTx/>
                <a:buSzTx/>
                <a:buFontTx/>
              </a:pPr>
              <a:r>
                <a:rPr lang="zh-CN" altLang="en-US" sz="1600" b="1">
                  <a:latin typeface="宋体" panose="02010600030101010101" pitchFamily="2" charset="-122"/>
                  <a:ea typeface="宋体" panose="02010600030101010101" pitchFamily="2" charset="-122"/>
                  <a:cs typeface="Times New Roman" panose="02020603050405020304" charset="0"/>
                  <a:sym typeface="+mn-ea"/>
                </a:rPr>
                <a:t>确认</a:t>
              </a:r>
              <a:r>
                <a:rPr lang="en-US" altLang="zh-CN" sz="1600" b="1">
                  <a:latin typeface="宋体" panose="02010600030101010101" pitchFamily="2" charset="-122"/>
                  <a:ea typeface="宋体" panose="02010600030101010101" pitchFamily="2" charset="-122"/>
                  <a:cs typeface="Times New Roman" panose="02020603050405020304" charset="0"/>
                  <a:sym typeface="+mn-ea"/>
                </a:rPr>
                <a:t>   </a:t>
              </a:r>
              <a:r>
                <a:rPr lang="zh-CN" altLang="en-US" sz="1600" b="1">
                  <a:latin typeface="宋体" panose="02010600030101010101" pitchFamily="2" charset="-122"/>
                  <a:ea typeface="宋体" panose="02010600030101010101" pitchFamily="2" charset="-122"/>
                  <a:cs typeface="Times New Roman" panose="02020603050405020304" charset="0"/>
                  <a:sym typeface="+mn-ea"/>
                </a:rPr>
                <a:t>通知</a:t>
              </a:r>
              <a:endParaRPr lang="zh-CN" altLang="en-US" b="1">
                <a:latin typeface="宋体" panose="02010600030101010101" pitchFamily="2" charset="-122"/>
                <a:ea typeface="宋体" panose="02010600030101010101" pitchFamily="2" charset="-122"/>
                <a:cs typeface="Times New Roman" panose="02020603050405020304" charset="0"/>
                <a:sym typeface="+mn-ea"/>
              </a:endParaRPr>
            </a:p>
            <a:p>
              <a:pPr algn="ctr"/>
              <a:endParaRPr lang="zh-CN" altLang="en-US" dirty="0">
                <a:latin typeface="OPPOSans L" panose="00020600040101010101" pitchFamily="18" charset="-122"/>
                <a:ea typeface="OPPOSans L" panose="00020600040101010101" pitchFamily="18" charset="-122"/>
                <a:cs typeface="OPPOSans L" panose="00020600040101010101" pitchFamily="18" charset="-122"/>
              </a:endParaRPr>
            </a:p>
          </p:txBody>
        </p:sp>
        <p:pic>
          <p:nvPicPr>
            <p:cNvPr id="98" name="图片 97" descr="图形用户界面, 应用程序&#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7603" y="3020"/>
              <a:ext cx="2600" cy="2255"/>
            </a:xfrm>
            <a:prstGeom prst="rect">
              <a:avLst/>
            </a:prstGeom>
          </p:spPr>
        </p:pic>
      </p:grpSp>
      <p:graphicFrame>
        <p:nvGraphicFramePr>
          <p:cNvPr id="16" name="表格 15"/>
          <p:cNvGraphicFramePr/>
          <p:nvPr>
            <p:custDataLst>
              <p:tags r:id="rId6"/>
            </p:custDataLst>
          </p:nvPr>
        </p:nvGraphicFramePr>
        <p:xfrm>
          <a:off x="4375150" y="1095375"/>
          <a:ext cx="4040505" cy="381000"/>
        </p:xfrm>
        <a:graphic>
          <a:graphicData uri="http://schemas.openxmlformats.org/drawingml/2006/table">
            <a:tbl>
              <a:tblPr firstRow="1" bandRow="1">
                <a:tableStyleId>{5C22544A-7EE6-4342-B048-85BDC9FD1C3A}</a:tableStyleId>
              </a:tblPr>
              <a:tblGrid>
                <a:gridCol w="1346835"/>
                <a:gridCol w="1346835"/>
                <a:gridCol w="1346835"/>
              </a:tblGrid>
              <a:tr h="381000">
                <a:tc>
                  <a:txBody>
                    <a:bodyPr/>
                    <a:p>
                      <a:pPr algn="ctr">
                        <a:buNone/>
                      </a:pPr>
                      <a:r>
                        <a:rPr lang="zh-CN" altLang="en-US" sz="1800">
                          <a:latin typeface="宋体" panose="02010600030101010101" pitchFamily="2" charset="-122"/>
                          <a:ea typeface="宋体" panose="02010600030101010101" pitchFamily="2" charset="-122"/>
                        </a:rPr>
                        <a:t>操作码</a:t>
                      </a:r>
                      <a:endParaRPr lang="zh-CN" altLang="en-US" sz="1800">
                        <a:latin typeface="宋体" panose="02010600030101010101" pitchFamily="2" charset="-122"/>
                        <a:ea typeface="宋体" panose="02010600030101010101" pitchFamily="2" charset="-122"/>
                      </a:endParaRPr>
                    </a:p>
                  </a:txBody>
                  <a:tcPr anchor="ctr" anchorCtr="0"/>
                </a:tc>
                <a:tc>
                  <a:txBody>
                    <a:bodyPr/>
                    <a:p>
                      <a:pPr algn="ctr">
                        <a:buNone/>
                      </a:pPr>
                      <a:r>
                        <a:rPr lang="zh-CN" altLang="en-US" sz="1800">
                          <a:latin typeface="宋体" panose="02010600030101010101" pitchFamily="2" charset="-122"/>
                          <a:ea typeface="宋体" panose="02010600030101010101" pitchFamily="2" charset="-122"/>
                        </a:rPr>
                        <a:t>参数</a:t>
                      </a:r>
                      <a:endParaRPr lang="zh-CN" altLang="en-US" sz="1800">
                        <a:latin typeface="宋体" panose="02010600030101010101" pitchFamily="2" charset="-122"/>
                        <a:ea typeface="宋体" panose="02010600030101010101" pitchFamily="2" charset="-122"/>
                      </a:endParaRPr>
                    </a:p>
                  </a:txBody>
                  <a:tcPr anchor="ctr" anchorCtr="0"/>
                </a:tc>
                <a:tc>
                  <a:txBody>
                    <a:bodyPr/>
                    <a:p>
                      <a:pPr algn="ctr">
                        <a:buNone/>
                      </a:pPr>
                      <a:r>
                        <a:rPr lang="zh-CN" altLang="en-US" sz="1800">
                          <a:latin typeface="宋体" panose="02010600030101010101" pitchFamily="2" charset="-122"/>
                          <a:ea typeface="宋体" panose="02010600030101010101" pitchFamily="2" charset="-122"/>
                        </a:rPr>
                        <a:t>认证签名</a:t>
                      </a:r>
                      <a:endParaRPr lang="zh-CN" altLang="en-US" sz="1800">
                        <a:latin typeface="宋体" panose="02010600030101010101" pitchFamily="2" charset="-122"/>
                        <a:ea typeface="宋体" panose="02010600030101010101" pitchFamily="2" charset="-122"/>
                      </a:endParaRPr>
                    </a:p>
                  </a:txBody>
                  <a:tcPr anchor="ctr" anchorCtr="0"/>
                </a:tc>
              </a:tr>
            </a:tbl>
          </a:graphicData>
        </a:graphic>
      </p:graphicFrame>
      <p:sp>
        <p:nvSpPr>
          <p:cNvPr id="17" name="文本框 16"/>
          <p:cNvSpPr txBox="1"/>
          <p:nvPr/>
        </p:nvSpPr>
        <p:spPr>
          <a:xfrm>
            <a:off x="5788660" y="642620"/>
            <a:ext cx="1149985" cy="368300"/>
          </a:xfrm>
          <a:prstGeom prst="rect">
            <a:avLst/>
          </a:prstGeom>
          <a:noFill/>
        </p:spPr>
        <p:txBody>
          <a:bodyPr wrap="square" rtlCol="0">
            <a:spAutoFit/>
          </a:bodyPr>
          <a:p>
            <a:pPr algn="ctr"/>
            <a:r>
              <a:rPr lang="zh-CN" altLang="en-US" b="1">
                <a:latin typeface="宋体" panose="02010600030101010101" pitchFamily="2" charset="-122"/>
                <a:ea typeface="宋体" panose="02010600030101010101" pitchFamily="2" charset="-122"/>
              </a:rPr>
              <a:t>传输载体</a:t>
            </a:r>
            <a:endParaRPr lang="zh-CN" altLang="en-US" b="1">
              <a:latin typeface="宋体" panose="02010600030101010101" pitchFamily="2" charset="-122"/>
              <a:ea typeface="宋体" panose="02010600030101010101" pitchFamily="2" charset="-122"/>
            </a:endParaRPr>
          </a:p>
        </p:txBody>
      </p:sp>
      <p:sp>
        <p:nvSpPr>
          <p:cNvPr id="18" name="文本框 17"/>
          <p:cNvSpPr txBox="1"/>
          <p:nvPr/>
        </p:nvSpPr>
        <p:spPr>
          <a:xfrm>
            <a:off x="5788660" y="1560830"/>
            <a:ext cx="1213485" cy="368300"/>
          </a:xfrm>
          <a:prstGeom prst="rect">
            <a:avLst/>
          </a:prstGeom>
          <a:noFill/>
        </p:spPr>
        <p:txBody>
          <a:bodyPr wrap="square" rtlCol="0">
            <a:spAutoFit/>
          </a:bodyPr>
          <a:p>
            <a:r>
              <a:rPr lang="en-US" altLang="zh-CN" b="1">
                <a:latin typeface="宋体" panose="02010600030101010101" pitchFamily="2" charset="-122"/>
                <a:ea typeface="宋体" panose="02010600030101010101" pitchFamily="2" charset="-122"/>
                <a:cs typeface="Times New Roman" panose="02020603050405020304" charset="0"/>
              </a:rPr>
              <a:t>ATT PDU</a:t>
            </a:r>
            <a:endParaRPr lang="en-US" altLang="zh-CN" b="1">
              <a:latin typeface="宋体" panose="02010600030101010101" pitchFamily="2" charset="-122"/>
              <a:ea typeface="宋体" panose="02010600030101010101" pitchFamily="2" charset="-122"/>
              <a:cs typeface="Times New Roman" panose="02020603050405020304" charset="0"/>
            </a:endParaRPr>
          </a:p>
        </p:txBody>
      </p:sp>
      <p:graphicFrame>
        <p:nvGraphicFramePr>
          <p:cNvPr id="19" name="表格 18"/>
          <p:cNvGraphicFramePr/>
          <p:nvPr/>
        </p:nvGraphicFramePr>
        <p:xfrm>
          <a:off x="3976370" y="2122170"/>
          <a:ext cx="4966970" cy="2095500"/>
        </p:xfrm>
        <a:graphic>
          <a:graphicData uri="http://schemas.openxmlformats.org/drawingml/2006/table">
            <a:tbl>
              <a:tblPr firstRow="1" bandRow="1">
                <a:tableStyleId>{5C22544A-7EE6-4342-B048-85BDC9FD1C3A}</a:tableStyleId>
              </a:tblPr>
              <a:tblGrid>
                <a:gridCol w="939800"/>
                <a:gridCol w="1765935"/>
                <a:gridCol w="2261235"/>
              </a:tblGrid>
              <a:tr h="381000">
                <a:tc>
                  <a:txBody>
                    <a:bodyPr/>
                    <a:p>
                      <a:pPr algn="ctr">
                        <a:buNone/>
                      </a:pPr>
                      <a:r>
                        <a:rPr lang="zh-CN" altLang="en-US"/>
                        <a:t>名称</a:t>
                      </a:r>
                      <a:endParaRPr lang="zh-CN" altLang="en-US"/>
                    </a:p>
                  </a:txBody>
                  <a:tcPr anchor="ctr" anchorCtr="0">
                    <a:solidFill>
                      <a:schemeClr val="accent1"/>
                    </a:solidFill>
                  </a:tcPr>
                </a:tc>
                <a:tc>
                  <a:txBody>
                    <a:bodyPr/>
                    <a:p>
                      <a:pPr algn="ctr">
                        <a:buNone/>
                      </a:pPr>
                      <a:r>
                        <a:rPr lang="zh-CN" altLang="en-US"/>
                        <a:t>大小</a:t>
                      </a:r>
                      <a:r>
                        <a:rPr lang="en-US" altLang="zh-CN"/>
                        <a:t>(byte)</a:t>
                      </a:r>
                      <a:endParaRPr lang="en-US" altLang="zh-CN"/>
                    </a:p>
                  </a:txBody>
                  <a:tcPr anchor="ctr" anchorCtr="0">
                    <a:solidFill>
                      <a:schemeClr val="accent1"/>
                    </a:solidFill>
                  </a:tcPr>
                </a:tc>
                <a:tc>
                  <a:txBody>
                    <a:bodyPr/>
                    <a:p>
                      <a:pPr algn="ctr">
                        <a:buNone/>
                      </a:pPr>
                      <a:r>
                        <a:rPr lang="zh-CN" altLang="en-US"/>
                        <a:t>描述</a:t>
                      </a:r>
                      <a:endParaRPr lang="zh-CN" altLang="en-US"/>
                    </a:p>
                  </a:txBody>
                  <a:tcPr anchor="ctr" anchorCtr="0">
                    <a:solidFill>
                      <a:schemeClr val="accent1"/>
                    </a:solidFill>
                  </a:tcPr>
                </a:tc>
              </a:tr>
              <a:tr h="381000">
                <a:tc>
                  <a:txBody>
                    <a:bodyPr/>
                    <a:p>
                      <a:pPr algn="ctr">
                        <a:buClrTx/>
                        <a:buSzTx/>
                        <a:buFontTx/>
                        <a:buNone/>
                      </a:pPr>
                      <a:r>
                        <a:rPr lang="zh-CN" altLang="en-US" b="1">
                          <a:solidFill>
                            <a:schemeClr val="lt1"/>
                          </a:solidFill>
                          <a:latin typeface="宋体" panose="02010600030101010101" pitchFamily="2" charset="-122"/>
                          <a:ea typeface="宋体" panose="02010600030101010101" pitchFamily="2" charset="-122"/>
                        </a:rPr>
                        <a:t>操作码</a:t>
                      </a:r>
                      <a:endParaRPr lang="zh-CN" altLang="en-US" b="1">
                        <a:solidFill>
                          <a:schemeClr val="lt1"/>
                        </a:solidFill>
                        <a:latin typeface="宋体" panose="02010600030101010101" pitchFamily="2" charset="-122"/>
                        <a:ea typeface="宋体" panose="02010600030101010101" pitchFamily="2" charset="-122"/>
                      </a:endParaRPr>
                    </a:p>
                  </a:txBody>
                  <a:tcPr anchor="ctr" anchorCtr="0">
                    <a:solidFill>
                      <a:schemeClr val="accent2"/>
                    </a:solidFill>
                  </a:tcPr>
                </a:tc>
                <a:tc>
                  <a:txBody>
                    <a:bodyPr/>
                    <a:p>
                      <a:pPr>
                        <a:buNone/>
                      </a:pPr>
                      <a:r>
                        <a:rPr lang="en-US" altLang="zh-CN">
                          <a:latin typeface="Times New Roman" panose="02020603050405020304" charset="0"/>
                          <a:cs typeface="Times New Roman" panose="02020603050405020304" charset="0"/>
                        </a:rPr>
                        <a:t>1</a:t>
                      </a:r>
                      <a:endParaRPr lang="en-US" altLang="zh-CN">
                        <a:latin typeface="Times New Roman" panose="02020603050405020304" charset="0"/>
                        <a:cs typeface="Times New Roman" panose="02020603050405020304" charset="0"/>
                      </a:endParaRPr>
                    </a:p>
                  </a:txBody>
                  <a:tcPr anchor="ctr" anchorCtr="0">
                    <a:solidFill>
                      <a:schemeClr val="accent2"/>
                    </a:solidFill>
                  </a:tcPr>
                </a:tc>
                <a:tc>
                  <a:txBody>
                    <a:bodyPr/>
                    <a:p>
                      <a:pPr>
                        <a:buNone/>
                      </a:pPr>
                      <a:r>
                        <a:rPr lang="en-US" altLang="zh-CN" b="1">
                          <a:latin typeface="Times New Roman" panose="02020603050405020304" charset="0"/>
                          <a:cs typeface="Times New Roman" panose="02020603050405020304" charset="0"/>
                        </a:rPr>
                        <a:t>bit 7: </a:t>
                      </a:r>
                      <a:r>
                        <a:rPr lang="zh-CN" altLang="en-US" b="1">
                          <a:latin typeface="宋体" panose="02010600030101010101" pitchFamily="2" charset="-122"/>
                          <a:ea typeface="宋体" panose="02010600030101010101" pitchFamily="2" charset="-122"/>
                        </a:rPr>
                        <a:t>认证签名标志</a:t>
                      </a:r>
                      <a:endParaRPr lang="zh-CN" altLang="en-US"/>
                    </a:p>
                    <a:p>
                      <a:pPr>
                        <a:buNone/>
                      </a:pPr>
                      <a:r>
                        <a:rPr lang="en-US" altLang="zh-CN" b="1">
                          <a:latin typeface="Times New Roman" panose="02020603050405020304" charset="0"/>
                          <a:cs typeface="Times New Roman" panose="02020603050405020304" charset="0"/>
                        </a:rPr>
                        <a:t>(0</a:t>
                      </a:r>
                      <a:r>
                        <a:rPr lang="zh-CN" altLang="en-US" b="1">
                          <a:latin typeface="Times New Roman" panose="02020603050405020304" charset="0"/>
                          <a:cs typeface="Times New Roman" panose="02020603050405020304" charset="0"/>
                        </a:rPr>
                        <a:t>：</a:t>
                      </a:r>
                      <a:r>
                        <a:rPr lang="en-US" altLang="zh-CN" b="1">
                          <a:latin typeface="Times New Roman" panose="02020603050405020304" charset="0"/>
                          <a:cs typeface="Times New Roman" panose="02020603050405020304" charset="0"/>
                        </a:rPr>
                        <a:t>No   1</a:t>
                      </a:r>
                      <a:r>
                        <a:rPr lang="zh-CN" altLang="en-US" b="1">
                          <a:latin typeface="Times New Roman" panose="02020603050405020304" charset="0"/>
                          <a:cs typeface="Times New Roman" panose="02020603050405020304" charset="0"/>
                        </a:rPr>
                        <a:t>：</a:t>
                      </a:r>
                      <a:r>
                        <a:rPr lang="en-US" altLang="zh-CN" b="1">
                          <a:latin typeface="Times New Roman" panose="02020603050405020304" charset="0"/>
                          <a:cs typeface="Times New Roman" panose="02020603050405020304" charset="0"/>
                        </a:rPr>
                        <a:t>Yes)</a:t>
                      </a:r>
                      <a:endParaRPr lang="en-US" altLang="zh-CN" b="1">
                        <a:latin typeface="Times New Roman" panose="02020603050405020304" charset="0"/>
                        <a:cs typeface="Times New Roman" panose="02020603050405020304" charset="0"/>
                      </a:endParaRPr>
                    </a:p>
                    <a:p>
                      <a:pPr>
                        <a:buNone/>
                      </a:pPr>
                      <a:r>
                        <a:rPr lang="en-US" altLang="zh-CN" b="1">
                          <a:latin typeface="Times New Roman" panose="02020603050405020304" charset="0"/>
                          <a:cs typeface="Times New Roman" panose="02020603050405020304" charset="0"/>
                        </a:rPr>
                        <a:t>bit 6:</a:t>
                      </a:r>
                      <a:r>
                        <a:rPr lang="en-US" altLang="zh-CN"/>
                        <a:t> </a:t>
                      </a:r>
                      <a:r>
                        <a:rPr lang="zh-CN" altLang="en-US" b="1">
                          <a:latin typeface="宋体" panose="02010600030101010101" pitchFamily="2" charset="-122"/>
                          <a:ea typeface="宋体" panose="02010600030101010101" pitchFamily="2" charset="-122"/>
                        </a:rPr>
                        <a:t>命令标志</a:t>
                      </a:r>
                      <a:endParaRPr lang="zh-CN" altLang="en-US" b="1">
                        <a:latin typeface="宋体" panose="02010600030101010101" pitchFamily="2" charset="-122"/>
                        <a:ea typeface="宋体" panose="02010600030101010101" pitchFamily="2" charset="-122"/>
                      </a:endParaRPr>
                    </a:p>
                    <a:p>
                      <a:pPr algn="l">
                        <a:buClrTx/>
                        <a:buSzTx/>
                        <a:buFontTx/>
                        <a:buNone/>
                      </a:pPr>
                      <a:r>
                        <a:rPr lang="en-US" altLang="zh-CN" sz="1350" b="1">
                          <a:latin typeface="Times New Roman" panose="02020603050405020304" charset="0"/>
                          <a:cs typeface="Times New Roman" panose="02020603050405020304" charset="0"/>
                          <a:sym typeface="+mn-ea"/>
                        </a:rPr>
                        <a:t>(0：No   1：Yes)</a:t>
                      </a:r>
                      <a:endParaRPr lang="en-US" altLang="zh-CN" b="1">
                        <a:latin typeface="Times New Roman" panose="02020603050405020304" charset="0"/>
                        <a:cs typeface="Times New Roman" panose="02020603050405020304" charset="0"/>
                      </a:endParaRPr>
                    </a:p>
                    <a:p>
                      <a:pPr>
                        <a:buNone/>
                      </a:pPr>
                      <a:r>
                        <a:rPr lang="en-US" altLang="zh-CN" b="1">
                          <a:latin typeface="Times New Roman" panose="02020603050405020304" charset="0"/>
                          <a:cs typeface="Times New Roman" panose="02020603050405020304" charset="0"/>
                        </a:rPr>
                        <a:t>bits 5-0: </a:t>
                      </a:r>
                      <a:r>
                        <a:rPr lang="zh-CN" altLang="en-US" b="1">
                          <a:latin typeface="宋体" panose="02010600030101010101" pitchFamily="2" charset="-122"/>
                          <a:ea typeface="宋体" panose="02010600030101010101" pitchFamily="2" charset="-122"/>
                        </a:rPr>
                        <a:t>方法</a:t>
                      </a:r>
                      <a:endParaRPr lang="zh-CN" altLang="en-US" b="1">
                        <a:latin typeface="宋体" panose="02010600030101010101" pitchFamily="2" charset="-122"/>
                        <a:ea typeface="宋体" panose="02010600030101010101" pitchFamily="2" charset="-122"/>
                      </a:endParaRPr>
                    </a:p>
                  </a:txBody>
                  <a:tcPr>
                    <a:solidFill>
                      <a:schemeClr val="accent2"/>
                    </a:solidFill>
                  </a:tcPr>
                </a:tc>
              </a:tr>
              <a:tr h="381000">
                <a:tc>
                  <a:txBody>
                    <a:bodyPr/>
                    <a:p>
                      <a:pPr algn="ctr">
                        <a:buClrTx/>
                        <a:buSzTx/>
                        <a:buFontTx/>
                        <a:buNone/>
                      </a:pPr>
                      <a:r>
                        <a:rPr lang="zh-CN" altLang="en-US" b="1">
                          <a:solidFill>
                            <a:schemeClr val="lt1"/>
                          </a:solidFill>
                          <a:latin typeface="宋体" panose="02010600030101010101" pitchFamily="2" charset="-122"/>
                          <a:ea typeface="宋体" panose="02010600030101010101" pitchFamily="2" charset="-122"/>
                        </a:rPr>
                        <a:t>参数</a:t>
                      </a:r>
                      <a:endParaRPr lang="zh-CN" altLang="en-US" b="1">
                        <a:solidFill>
                          <a:schemeClr val="lt1"/>
                        </a:solidFill>
                        <a:latin typeface="宋体" panose="02010600030101010101" pitchFamily="2" charset="-122"/>
                        <a:ea typeface="宋体" panose="02010600030101010101" pitchFamily="2" charset="-122"/>
                      </a:endParaRPr>
                    </a:p>
                  </a:txBody>
                  <a:tcPr anchor="ctr" anchorCtr="0">
                    <a:solidFill>
                      <a:schemeClr val="accent2"/>
                    </a:solidFill>
                  </a:tcPr>
                </a:tc>
                <a:tc>
                  <a:txBody>
                    <a:bodyPr/>
                    <a:p>
                      <a:pPr>
                        <a:buNone/>
                      </a:pPr>
                      <a:r>
                        <a:rPr lang="en-US" altLang="zh-CN">
                          <a:latin typeface="Times New Roman" panose="02020603050405020304" charset="0"/>
                          <a:cs typeface="Times New Roman" panose="02020603050405020304" charset="0"/>
                        </a:rPr>
                        <a:t>0-(ATT_MTU-X)</a:t>
                      </a:r>
                      <a:endParaRPr lang="en-US" altLang="zh-CN">
                        <a:latin typeface="Times New Roman" panose="02020603050405020304" charset="0"/>
                        <a:cs typeface="Times New Roman" panose="02020603050405020304" charset="0"/>
                      </a:endParaRPr>
                    </a:p>
                  </a:txBody>
                  <a:tcPr anchor="ctr" anchorCtr="0">
                    <a:solidFill>
                      <a:schemeClr val="accent2"/>
                    </a:solidFill>
                  </a:tcPr>
                </a:tc>
                <a:tc>
                  <a:txBody>
                    <a:bodyPr/>
                    <a:p>
                      <a:pPr>
                        <a:buNone/>
                      </a:pPr>
                      <a:r>
                        <a:rPr lang="zh-CN" altLang="en-US" b="1">
                          <a:latin typeface="宋体" panose="02010600030101010101" pitchFamily="2" charset="-122"/>
                          <a:ea typeface="宋体" panose="02010600030101010101" pitchFamily="2" charset="-122"/>
                        </a:rPr>
                        <a:t>如果使用认证签名</a:t>
                      </a:r>
                      <a:r>
                        <a:rPr lang="en-US" altLang="zh-CN" b="1">
                          <a:latin typeface="Times New Roman" panose="02020603050405020304" charset="0"/>
                          <a:cs typeface="Times New Roman" panose="02020603050405020304" charset="0"/>
                        </a:rPr>
                        <a:t>X = 1</a:t>
                      </a:r>
                      <a:endParaRPr lang="en-US" altLang="zh-CN" b="1">
                        <a:latin typeface="Times New Roman" panose="02020603050405020304" charset="0"/>
                        <a:cs typeface="Times New Roman" panose="02020603050405020304" charset="0"/>
                      </a:endParaRPr>
                    </a:p>
                    <a:p>
                      <a:pPr>
                        <a:buNone/>
                      </a:pPr>
                      <a:r>
                        <a:rPr lang="zh-CN" altLang="en-US" b="1">
                          <a:latin typeface="宋体" panose="02010600030101010101" pitchFamily="2" charset="-122"/>
                          <a:ea typeface="宋体" panose="02010600030101010101" pitchFamily="2" charset="-122"/>
                        </a:rPr>
                        <a:t>如果不使用认证签名</a:t>
                      </a:r>
                      <a:r>
                        <a:rPr lang="en-US" altLang="zh-CN" b="1">
                          <a:latin typeface="Times New Roman" panose="02020603050405020304" charset="0"/>
                          <a:cs typeface="Times New Roman" panose="02020603050405020304" charset="0"/>
                        </a:rPr>
                        <a:t>X = 13 </a:t>
                      </a:r>
                      <a:endParaRPr lang="en-US" altLang="zh-CN"/>
                    </a:p>
                  </a:txBody>
                  <a:tcPr>
                    <a:solidFill>
                      <a:schemeClr val="accent2"/>
                    </a:solidFill>
                  </a:tcPr>
                </a:tc>
              </a:tr>
              <a:tr h="381000">
                <a:tc>
                  <a:txBody>
                    <a:bodyPr/>
                    <a:p>
                      <a:pPr algn="ctr">
                        <a:buClrTx/>
                        <a:buSzTx/>
                        <a:buFontTx/>
                        <a:buNone/>
                      </a:pPr>
                      <a:r>
                        <a:rPr lang="zh-CN" altLang="en-US" b="1">
                          <a:solidFill>
                            <a:schemeClr val="lt1"/>
                          </a:solidFill>
                          <a:latin typeface="宋体" panose="02010600030101010101" pitchFamily="2" charset="-122"/>
                          <a:ea typeface="宋体" panose="02010600030101010101" pitchFamily="2" charset="-122"/>
                        </a:rPr>
                        <a:t>认证签名</a:t>
                      </a:r>
                      <a:endParaRPr lang="zh-CN" altLang="en-US" b="1">
                        <a:solidFill>
                          <a:schemeClr val="lt1"/>
                        </a:solidFill>
                        <a:latin typeface="宋体" panose="02010600030101010101" pitchFamily="2" charset="-122"/>
                        <a:ea typeface="宋体" panose="02010600030101010101" pitchFamily="2" charset="-122"/>
                      </a:endParaRPr>
                    </a:p>
                  </a:txBody>
                  <a:tcPr anchor="ctr" anchorCtr="0">
                    <a:solidFill>
                      <a:schemeClr val="accent2"/>
                    </a:solidFill>
                  </a:tcPr>
                </a:tc>
                <a:tc>
                  <a:txBody>
                    <a:bodyPr/>
                    <a:p>
                      <a:pPr>
                        <a:buNone/>
                      </a:pPr>
                      <a:r>
                        <a:rPr lang="en-US" altLang="zh-CN">
                          <a:latin typeface="Times New Roman" panose="02020603050405020304" charset="0"/>
                          <a:cs typeface="Times New Roman" panose="02020603050405020304" charset="0"/>
                        </a:rPr>
                        <a:t>0 or 12</a:t>
                      </a:r>
                      <a:endParaRPr lang="en-US" altLang="zh-CN">
                        <a:latin typeface="Times New Roman" panose="02020603050405020304" charset="0"/>
                        <a:cs typeface="Times New Roman" panose="02020603050405020304" charset="0"/>
                      </a:endParaRPr>
                    </a:p>
                  </a:txBody>
                  <a:tcPr anchor="ctr" anchorCtr="0">
                    <a:solidFill>
                      <a:schemeClr val="accent2"/>
                    </a:solidFill>
                  </a:tcPr>
                </a:tc>
                <a:tc>
                  <a:txBody>
                    <a:bodyPr/>
                    <a:p>
                      <a:pPr>
                        <a:buNone/>
                      </a:pPr>
                      <a:r>
                        <a:rPr lang="zh-CN" altLang="en-US" b="1">
                          <a:latin typeface="宋体" panose="02010600030101010101" pitchFamily="2" charset="-122"/>
                          <a:ea typeface="宋体" panose="02010600030101010101" pitchFamily="2" charset="-122"/>
                        </a:rPr>
                        <a:t>属性操作码和属性参数的可选认证签名</a:t>
                      </a:r>
                      <a:endParaRPr lang="zh-CN" altLang="en-US" b="1">
                        <a:latin typeface="宋体" panose="02010600030101010101" pitchFamily="2" charset="-122"/>
                        <a:ea typeface="宋体" panose="02010600030101010101" pitchFamily="2" charset="-122"/>
                      </a:endParaRPr>
                    </a:p>
                  </a:txBody>
                  <a:tcPr>
                    <a:solidFill>
                      <a:schemeClr val="accent2"/>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GATT</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14" name="矩形 13"/>
          <p:cNvSpPr/>
          <p:nvPr/>
        </p:nvSpPr>
        <p:spPr>
          <a:xfrm>
            <a:off x="2248510" y="1030763"/>
            <a:ext cx="4680000"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spAutoFit/>
          </a:bodyPr>
          <a:lstStyle/>
          <a:p>
            <a:pPr algn="ctr"/>
            <a:r>
              <a:rPr kumimoji="1" lang="zh-CN" altLang="en-US" sz="3200" dirty="0">
                <a:solidFill>
                  <a:schemeClr val="bg1"/>
                </a:solidFill>
                <a:latin typeface="+mj-lt"/>
                <a:ea typeface="+mj-ea"/>
                <a:cs typeface="OPPOSans H" panose="00020600040101010101" pitchFamily="18" charset="-122"/>
              </a:rPr>
              <a:t>概述</a:t>
            </a:r>
            <a:endParaRPr kumimoji="1" lang="zh-CN" altLang="en-US" sz="3200" dirty="0">
              <a:solidFill>
                <a:schemeClr val="bg1"/>
              </a:solidFill>
              <a:latin typeface="+mj-lt"/>
              <a:ea typeface="+mj-ea"/>
              <a:cs typeface="OPPOSans H" panose="00020600040101010101" pitchFamily="18" charset="-122"/>
            </a:endParaRPr>
          </a:p>
        </p:txBody>
      </p:sp>
      <p:grpSp>
        <p:nvGrpSpPr>
          <p:cNvPr id="6" name="组合 5"/>
          <p:cNvGrpSpPr/>
          <p:nvPr/>
        </p:nvGrpSpPr>
        <p:grpSpPr>
          <a:xfrm>
            <a:off x="993140" y="1718839"/>
            <a:ext cx="6715518" cy="2256261"/>
            <a:chOff x="-1324" y="4003"/>
            <a:chExt cx="17100" cy="4881"/>
          </a:xfrm>
        </p:grpSpPr>
        <p:sp>
          <p:nvSpPr>
            <p:cNvPr id="40" name="圆角矩形 39"/>
            <p:cNvSpPr/>
            <p:nvPr/>
          </p:nvSpPr>
          <p:spPr>
            <a:xfrm>
              <a:off x="-1324" y="5391"/>
              <a:ext cx="7937" cy="3282"/>
            </a:xfrm>
            <a:prstGeom prst="roundRect">
              <a:avLst>
                <a:gd name="adj" fmla="val 11235"/>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44" name="圆角矩形 43"/>
            <p:cNvSpPr/>
            <p:nvPr/>
          </p:nvSpPr>
          <p:spPr>
            <a:xfrm>
              <a:off x="-1324" y="6446"/>
              <a:ext cx="7937" cy="2438"/>
            </a:xfrm>
            <a:prstGeom prst="roundRect">
              <a:avLst>
                <a:gd name="adj"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zh-CN" altLang="en-US" sz="1600" b="1" dirty="0">
                  <a:solidFill>
                    <a:schemeClr val="tx1"/>
                  </a:solidFill>
                  <a:latin typeface="宋体" panose="02010600030101010101" pitchFamily="2" charset="-122"/>
                  <a:ea typeface="宋体" panose="02010600030101010101" pitchFamily="2" charset="-122"/>
                </a:rPr>
                <a:t>通过属性协议</a:t>
              </a:r>
              <a:r>
                <a:rPr lang="zh-CN" altLang="en-US" sz="1600" b="1" dirty="0">
                  <a:solidFill>
                    <a:schemeClr val="tx1"/>
                  </a:solidFill>
                  <a:latin typeface="宋体" panose="02010600030101010101" pitchFamily="2" charset="-122"/>
                  <a:ea typeface="宋体" panose="02010600030101010101" pitchFamily="2" charset="-122"/>
                </a:rPr>
                <a:t>来构建服务框架，并定义了如何发现和使用服务、特性与描述符的标准方法</a:t>
              </a:r>
              <a:endParaRPr lang="zh-CN" altLang="en-US" sz="1600" b="1" dirty="0">
                <a:solidFill>
                  <a:schemeClr val="tx1"/>
                </a:solidFill>
                <a:latin typeface="宋体" panose="02010600030101010101" pitchFamily="2" charset="-122"/>
                <a:ea typeface="宋体" panose="02010600030101010101" pitchFamily="2" charset="-122"/>
              </a:endParaRPr>
            </a:p>
          </p:txBody>
        </p:sp>
        <p:sp>
          <p:nvSpPr>
            <p:cNvPr id="38" name="任意多边形 37"/>
            <p:cNvSpPr>
              <a:spLocks noChangeAspect="1"/>
            </p:cNvSpPr>
            <p:nvPr/>
          </p:nvSpPr>
          <p:spPr>
            <a:xfrm>
              <a:off x="2139" y="4003"/>
              <a:ext cx="969" cy="1077"/>
            </a:xfrm>
            <a:custGeom>
              <a:avLst/>
              <a:gdLst>
                <a:gd name="connsiteX0" fmla="*/ 2424113 w 3143250"/>
                <a:gd name="connsiteY0" fmla="*/ 3048000 h 3448681"/>
                <a:gd name="connsiteX1" fmla="*/ 1897285 w 3143250"/>
                <a:gd name="connsiteY1" fmla="*/ 3048000 h 3448681"/>
                <a:gd name="connsiteX2" fmla="*/ 1834229 w 3143250"/>
                <a:gd name="connsiteY2" fmla="*/ 3093053 h 3448681"/>
                <a:gd name="connsiteX3" fmla="*/ 1493330 w 3143250"/>
                <a:gd name="connsiteY3" fmla="*/ 3441287 h 3448681"/>
                <a:gd name="connsiteX4" fmla="*/ 1403547 w 3143250"/>
                <a:gd name="connsiteY4" fmla="*/ 3412484 h 3448681"/>
                <a:gd name="connsiteX5" fmla="*/ 1398842 w 3143250"/>
                <a:gd name="connsiteY5" fmla="*/ 3363278 h 3448681"/>
                <a:gd name="connsiteX6" fmla="*/ 1269111 w 3143250"/>
                <a:gd name="connsiteY6" fmla="*/ 3052667 h 3448681"/>
                <a:gd name="connsiteX7" fmla="*/ 1244632 w 3143250"/>
                <a:gd name="connsiteY7" fmla="*/ 3048000 h 3448681"/>
                <a:gd name="connsiteX8" fmla="*/ 719138 w 3143250"/>
                <a:gd name="connsiteY8" fmla="*/ 3048000 h 3448681"/>
                <a:gd name="connsiteX9" fmla="*/ 0 w 3143250"/>
                <a:gd name="connsiteY9" fmla="*/ 2328863 h 3448681"/>
                <a:gd name="connsiteX10" fmla="*/ 0 w 3143250"/>
                <a:gd name="connsiteY10" fmla="*/ 719138 h 3448681"/>
                <a:gd name="connsiteX11" fmla="*/ 719138 w 3143250"/>
                <a:gd name="connsiteY11" fmla="*/ 0 h 3448681"/>
                <a:gd name="connsiteX12" fmla="*/ 2424113 w 3143250"/>
                <a:gd name="connsiteY12" fmla="*/ 0 h 3448681"/>
                <a:gd name="connsiteX13" fmla="*/ 3143250 w 3143250"/>
                <a:gd name="connsiteY13" fmla="*/ 719138 h 3448681"/>
                <a:gd name="connsiteX14" fmla="*/ 3143250 w 3143250"/>
                <a:gd name="connsiteY14" fmla="*/ 2328863 h 3448681"/>
                <a:gd name="connsiteX15" fmla="*/ 2424113 w 3143250"/>
                <a:gd name="connsiteY15" fmla="*/ 3048000 h 3448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43250" h="3448681">
                  <a:moveTo>
                    <a:pt x="2424113" y="3048000"/>
                  </a:moveTo>
                  <a:lnTo>
                    <a:pt x="1897285" y="3048000"/>
                  </a:lnTo>
                  <a:cubicBezTo>
                    <a:pt x="1868805" y="3048010"/>
                    <a:pt x="1843468" y="3066107"/>
                    <a:pt x="1834229" y="3093053"/>
                  </a:cubicBezTo>
                  <a:cubicBezTo>
                    <a:pt x="1770888" y="3270314"/>
                    <a:pt x="1615154" y="3380041"/>
                    <a:pt x="1493330" y="3441287"/>
                  </a:cubicBezTo>
                  <a:cubicBezTo>
                    <a:pt x="1460583" y="3458128"/>
                    <a:pt x="1420387" y="3445231"/>
                    <a:pt x="1403547" y="3412484"/>
                  </a:cubicBezTo>
                  <a:cubicBezTo>
                    <a:pt x="1395727" y="3397291"/>
                    <a:pt x="1394041" y="3379680"/>
                    <a:pt x="1398842" y="3363278"/>
                  </a:cubicBezTo>
                  <a:cubicBezTo>
                    <a:pt x="1430750" y="3257550"/>
                    <a:pt x="1432465" y="3120199"/>
                    <a:pt x="1269111" y="3052667"/>
                  </a:cubicBezTo>
                  <a:cubicBezTo>
                    <a:pt x="1261339" y="3049505"/>
                    <a:pt x="1253023" y="3047914"/>
                    <a:pt x="1244632" y="3048000"/>
                  </a:cubicBezTo>
                  <a:lnTo>
                    <a:pt x="719138" y="3048000"/>
                  </a:lnTo>
                  <a:cubicBezTo>
                    <a:pt x="321969" y="3048000"/>
                    <a:pt x="0" y="2726036"/>
                    <a:pt x="0" y="2328863"/>
                  </a:cubicBezTo>
                  <a:lnTo>
                    <a:pt x="0" y="719138"/>
                  </a:lnTo>
                  <a:cubicBezTo>
                    <a:pt x="0" y="321969"/>
                    <a:pt x="321969" y="0"/>
                    <a:pt x="719138" y="0"/>
                  </a:cubicBezTo>
                  <a:lnTo>
                    <a:pt x="2424113" y="0"/>
                  </a:lnTo>
                  <a:cubicBezTo>
                    <a:pt x="2821286" y="0"/>
                    <a:pt x="3143250" y="321969"/>
                    <a:pt x="3143250" y="719138"/>
                  </a:cubicBezTo>
                  <a:lnTo>
                    <a:pt x="3143250" y="2328863"/>
                  </a:lnTo>
                  <a:cubicBezTo>
                    <a:pt x="3143250" y="2726036"/>
                    <a:pt x="2821286" y="3048000"/>
                    <a:pt x="2424113" y="3048000"/>
                  </a:cubicBezTo>
                  <a:close/>
                </a:path>
              </a:pathLst>
            </a:custGeom>
            <a:solidFill>
              <a:schemeClr val="accent1"/>
            </a:solidFill>
            <a:ln w="9525" cap="flat">
              <a:noFill/>
              <a:prstDash val="solid"/>
              <a:miter/>
            </a:ln>
          </p:spPr>
          <p:txBody>
            <a:bodyPr rtlCol="0" anchor="ctr"/>
            <a:lstStyle/>
            <a:p>
              <a:endParaRPr lang="zh-CN" altLang="en-US"/>
            </a:p>
          </p:txBody>
        </p:sp>
        <p:sp>
          <p:nvSpPr>
            <p:cNvPr id="26" name="任意多边形 25"/>
            <p:cNvSpPr>
              <a:spLocks noChangeAspect="1"/>
            </p:cNvSpPr>
            <p:nvPr/>
          </p:nvSpPr>
          <p:spPr bwMode="auto">
            <a:xfrm>
              <a:off x="2327" y="4220"/>
              <a:ext cx="593" cy="519"/>
            </a:xfrm>
            <a:custGeom>
              <a:avLst/>
              <a:gdLst>
                <a:gd name="connsiteX0" fmla="*/ 411293 w 822401"/>
                <a:gd name="connsiteY0" fmla="*/ 234366 h 720000"/>
                <a:gd name="connsiteX1" fmla="*/ 536928 w 822401"/>
                <a:gd name="connsiteY1" fmla="*/ 360000 h 720000"/>
                <a:gd name="connsiteX2" fmla="*/ 411293 w 822401"/>
                <a:gd name="connsiteY2" fmla="*/ 485635 h 720000"/>
                <a:gd name="connsiteX3" fmla="*/ 285659 w 822401"/>
                <a:gd name="connsiteY3" fmla="*/ 360000 h 720000"/>
                <a:gd name="connsiteX4" fmla="*/ 411293 w 822401"/>
                <a:gd name="connsiteY4" fmla="*/ 234366 h 720000"/>
                <a:gd name="connsiteX5" fmla="*/ 411293 w 822401"/>
                <a:gd name="connsiteY5" fmla="*/ 178938 h 720000"/>
                <a:gd name="connsiteX6" fmla="*/ 230231 w 822401"/>
                <a:gd name="connsiteY6" fmla="*/ 360000 h 720000"/>
                <a:gd name="connsiteX7" fmla="*/ 411293 w 822401"/>
                <a:gd name="connsiteY7" fmla="*/ 541063 h 720000"/>
                <a:gd name="connsiteX8" fmla="*/ 592355 w 822401"/>
                <a:gd name="connsiteY8" fmla="*/ 360000 h 720000"/>
                <a:gd name="connsiteX9" fmla="*/ 411293 w 822401"/>
                <a:gd name="connsiteY9" fmla="*/ 178938 h 720000"/>
                <a:gd name="connsiteX10" fmla="*/ 219884 w 822401"/>
                <a:gd name="connsiteY10" fmla="*/ 0 h 720000"/>
                <a:gd name="connsiteX11" fmla="*/ 602517 w 822401"/>
                <a:gd name="connsiteY11" fmla="*/ 0 h 720000"/>
                <a:gd name="connsiteX12" fmla="*/ 627275 w 822401"/>
                <a:gd name="connsiteY12" fmla="*/ 14319 h 720000"/>
                <a:gd name="connsiteX13" fmla="*/ 818591 w 822401"/>
                <a:gd name="connsiteY13" fmla="*/ 345682 h 720000"/>
                <a:gd name="connsiteX14" fmla="*/ 818591 w 822401"/>
                <a:gd name="connsiteY14" fmla="*/ 374319 h 720000"/>
                <a:gd name="connsiteX15" fmla="*/ 627367 w 822401"/>
                <a:gd name="connsiteY15" fmla="*/ 705682 h 720000"/>
                <a:gd name="connsiteX16" fmla="*/ 602609 w 822401"/>
                <a:gd name="connsiteY16" fmla="*/ 720000 h 720000"/>
                <a:gd name="connsiteX17" fmla="*/ 219977 w 822401"/>
                <a:gd name="connsiteY17" fmla="*/ 720000 h 720000"/>
                <a:gd name="connsiteX18" fmla="*/ 195219 w 822401"/>
                <a:gd name="connsiteY18" fmla="*/ 705682 h 720000"/>
                <a:gd name="connsiteX19" fmla="*/ 3811 w 822401"/>
                <a:gd name="connsiteY19" fmla="*/ 374319 h 720000"/>
                <a:gd name="connsiteX20" fmla="*/ 3811 w 822401"/>
                <a:gd name="connsiteY20" fmla="*/ 345682 h 720000"/>
                <a:gd name="connsiteX21" fmla="*/ 195127 w 822401"/>
                <a:gd name="connsiteY21" fmla="*/ 14319 h 720000"/>
                <a:gd name="connsiteX22" fmla="*/ 219884 w 822401"/>
                <a:gd name="connsiteY22"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22401" h="720000">
                  <a:moveTo>
                    <a:pt x="411293" y="234366"/>
                  </a:moveTo>
                  <a:cubicBezTo>
                    <a:pt x="480577" y="234366"/>
                    <a:pt x="536928" y="290716"/>
                    <a:pt x="536928" y="360000"/>
                  </a:cubicBezTo>
                  <a:cubicBezTo>
                    <a:pt x="536928" y="429284"/>
                    <a:pt x="480577" y="485635"/>
                    <a:pt x="411293" y="485635"/>
                  </a:cubicBezTo>
                  <a:cubicBezTo>
                    <a:pt x="342009" y="485635"/>
                    <a:pt x="285659" y="429284"/>
                    <a:pt x="285659" y="360000"/>
                  </a:cubicBezTo>
                  <a:cubicBezTo>
                    <a:pt x="285659" y="290716"/>
                    <a:pt x="342009" y="234366"/>
                    <a:pt x="411293" y="234366"/>
                  </a:cubicBezTo>
                  <a:close/>
                  <a:moveTo>
                    <a:pt x="411293" y="178938"/>
                  </a:moveTo>
                  <a:cubicBezTo>
                    <a:pt x="311432" y="178938"/>
                    <a:pt x="230231" y="260139"/>
                    <a:pt x="230231" y="360000"/>
                  </a:cubicBezTo>
                  <a:cubicBezTo>
                    <a:pt x="230231" y="459862"/>
                    <a:pt x="311432" y="541063"/>
                    <a:pt x="411293" y="541063"/>
                  </a:cubicBezTo>
                  <a:cubicBezTo>
                    <a:pt x="511154" y="541063"/>
                    <a:pt x="592355" y="459862"/>
                    <a:pt x="592355" y="360000"/>
                  </a:cubicBezTo>
                  <a:cubicBezTo>
                    <a:pt x="592355" y="260139"/>
                    <a:pt x="511154" y="178938"/>
                    <a:pt x="411293" y="178938"/>
                  </a:cubicBezTo>
                  <a:close/>
                  <a:moveTo>
                    <a:pt x="219884" y="0"/>
                  </a:moveTo>
                  <a:lnTo>
                    <a:pt x="602517" y="0"/>
                  </a:lnTo>
                  <a:cubicBezTo>
                    <a:pt x="612679" y="0"/>
                    <a:pt x="622194" y="5451"/>
                    <a:pt x="627275" y="14319"/>
                  </a:cubicBezTo>
                  <a:lnTo>
                    <a:pt x="818591" y="345682"/>
                  </a:lnTo>
                  <a:cubicBezTo>
                    <a:pt x="823672" y="354550"/>
                    <a:pt x="823672" y="365451"/>
                    <a:pt x="818591" y="374319"/>
                  </a:cubicBezTo>
                  <a:lnTo>
                    <a:pt x="627367" y="705682"/>
                  </a:lnTo>
                  <a:cubicBezTo>
                    <a:pt x="622286" y="714550"/>
                    <a:pt x="612771" y="720000"/>
                    <a:pt x="602609" y="720000"/>
                  </a:cubicBezTo>
                  <a:lnTo>
                    <a:pt x="219977" y="720000"/>
                  </a:lnTo>
                  <a:cubicBezTo>
                    <a:pt x="209815" y="720000"/>
                    <a:pt x="200300" y="714550"/>
                    <a:pt x="195219" y="705682"/>
                  </a:cubicBezTo>
                  <a:lnTo>
                    <a:pt x="3811" y="374319"/>
                  </a:lnTo>
                  <a:cubicBezTo>
                    <a:pt x="-1270" y="365543"/>
                    <a:pt x="-1270" y="354550"/>
                    <a:pt x="3811" y="345682"/>
                  </a:cubicBezTo>
                  <a:lnTo>
                    <a:pt x="195127" y="14319"/>
                  </a:lnTo>
                  <a:cubicBezTo>
                    <a:pt x="200208" y="5451"/>
                    <a:pt x="209723" y="0"/>
                    <a:pt x="219884"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9" name="任意多边形 38"/>
            <p:cNvSpPr>
              <a:spLocks noChangeAspect="1"/>
            </p:cNvSpPr>
            <p:nvPr/>
          </p:nvSpPr>
          <p:spPr>
            <a:xfrm>
              <a:off x="11323" y="4003"/>
              <a:ext cx="969" cy="1077"/>
            </a:xfrm>
            <a:custGeom>
              <a:avLst/>
              <a:gdLst>
                <a:gd name="connsiteX0" fmla="*/ 2424113 w 3143250"/>
                <a:gd name="connsiteY0" fmla="*/ 3048000 h 3448681"/>
                <a:gd name="connsiteX1" fmla="*/ 1897285 w 3143250"/>
                <a:gd name="connsiteY1" fmla="*/ 3048000 h 3448681"/>
                <a:gd name="connsiteX2" fmla="*/ 1834229 w 3143250"/>
                <a:gd name="connsiteY2" fmla="*/ 3093053 h 3448681"/>
                <a:gd name="connsiteX3" fmla="*/ 1493330 w 3143250"/>
                <a:gd name="connsiteY3" fmla="*/ 3441287 h 3448681"/>
                <a:gd name="connsiteX4" fmla="*/ 1403547 w 3143250"/>
                <a:gd name="connsiteY4" fmla="*/ 3412484 h 3448681"/>
                <a:gd name="connsiteX5" fmla="*/ 1398842 w 3143250"/>
                <a:gd name="connsiteY5" fmla="*/ 3363278 h 3448681"/>
                <a:gd name="connsiteX6" fmla="*/ 1269111 w 3143250"/>
                <a:gd name="connsiteY6" fmla="*/ 3052667 h 3448681"/>
                <a:gd name="connsiteX7" fmla="*/ 1244632 w 3143250"/>
                <a:gd name="connsiteY7" fmla="*/ 3048000 h 3448681"/>
                <a:gd name="connsiteX8" fmla="*/ 719138 w 3143250"/>
                <a:gd name="connsiteY8" fmla="*/ 3048000 h 3448681"/>
                <a:gd name="connsiteX9" fmla="*/ 0 w 3143250"/>
                <a:gd name="connsiteY9" fmla="*/ 2328863 h 3448681"/>
                <a:gd name="connsiteX10" fmla="*/ 0 w 3143250"/>
                <a:gd name="connsiteY10" fmla="*/ 719138 h 3448681"/>
                <a:gd name="connsiteX11" fmla="*/ 719138 w 3143250"/>
                <a:gd name="connsiteY11" fmla="*/ 0 h 3448681"/>
                <a:gd name="connsiteX12" fmla="*/ 2424113 w 3143250"/>
                <a:gd name="connsiteY12" fmla="*/ 0 h 3448681"/>
                <a:gd name="connsiteX13" fmla="*/ 3143250 w 3143250"/>
                <a:gd name="connsiteY13" fmla="*/ 719138 h 3448681"/>
                <a:gd name="connsiteX14" fmla="*/ 3143250 w 3143250"/>
                <a:gd name="connsiteY14" fmla="*/ 2328863 h 3448681"/>
                <a:gd name="connsiteX15" fmla="*/ 2424113 w 3143250"/>
                <a:gd name="connsiteY15" fmla="*/ 3048000 h 3448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43250" h="3448681">
                  <a:moveTo>
                    <a:pt x="2424113" y="3048000"/>
                  </a:moveTo>
                  <a:lnTo>
                    <a:pt x="1897285" y="3048000"/>
                  </a:lnTo>
                  <a:cubicBezTo>
                    <a:pt x="1868805" y="3048010"/>
                    <a:pt x="1843468" y="3066107"/>
                    <a:pt x="1834229" y="3093053"/>
                  </a:cubicBezTo>
                  <a:cubicBezTo>
                    <a:pt x="1770888" y="3270314"/>
                    <a:pt x="1615154" y="3380041"/>
                    <a:pt x="1493330" y="3441287"/>
                  </a:cubicBezTo>
                  <a:cubicBezTo>
                    <a:pt x="1460583" y="3458128"/>
                    <a:pt x="1420387" y="3445231"/>
                    <a:pt x="1403547" y="3412484"/>
                  </a:cubicBezTo>
                  <a:cubicBezTo>
                    <a:pt x="1395727" y="3397291"/>
                    <a:pt x="1394041" y="3379680"/>
                    <a:pt x="1398842" y="3363278"/>
                  </a:cubicBezTo>
                  <a:cubicBezTo>
                    <a:pt x="1430750" y="3257550"/>
                    <a:pt x="1432465" y="3120199"/>
                    <a:pt x="1269111" y="3052667"/>
                  </a:cubicBezTo>
                  <a:cubicBezTo>
                    <a:pt x="1261339" y="3049505"/>
                    <a:pt x="1253023" y="3047914"/>
                    <a:pt x="1244632" y="3048000"/>
                  </a:cubicBezTo>
                  <a:lnTo>
                    <a:pt x="719138" y="3048000"/>
                  </a:lnTo>
                  <a:cubicBezTo>
                    <a:pt x="321969" y="3048000"/>
                    <a:pt x="0" y="2726036"/>
                    <a:pt x="0" y="2328863"/>
                  </a:cubicBezTo>
                  <a:lnTo>
                    <a:pt x="0" y="719138"/>
                  </a:lnTo>
                  <a:cubicBezTo>
                    <a:pt x="0" y="321969"/>
                    <a:pt x="321969" y="0"/>
                    <a:pt x="719138" y="0"/>
                  </a:cubicBezTo>
                  <a:lnTo>
                    <a:pt x="2424113" y="0"/>
                  </a:lnTo>
                  <a:cubicBezTo>
                    <a:pt x="2821286" y="0"/>
                    <a:pt x="3143250" y="321969"/>
                    <a:pt x="3143250" y="719138"/>
                  </a:cubicBezTo>
                  <a:lnTo>
                    <a:pt x="3143250" y="2328863"/>
                  </a:lnTo>
                  <a:cubicBezTo>
                    <a:pt x="3143250" y="2726036"/>
                    <a:pt x="2821286" y="3048000"/>
                    <a:pt x="2424113" y="3048000"/>
                  </a:cubicBezTo>
                  <a:close/>
                </a:path>
              </a:pathLst>
            </a:custGeom>
            <a:solidFill>
              <a:schemeClr val="accent2"/>
            </a:solidFill>
            <a:ln w="9525" cap="flat">
              <a:noFill/>
              <a:prstDash val="solid"/>
              <a:miter/>
            </a:ln>
          </p:spPr>
          <p:txBody>
            <a:bodyPr rtlCol="0" anchor="ctr"/>
            <a:lstStyle/>
            <a:p>
              <a:endParaRPr lang="zh-CN" altLang="en-US"/>
            </a:p>
          </p:txBody>
        </p:sp>
        <p:sp>
          <p:nvSpPr>
            <p:cNvPr id="30" name="任意多边形 29"/>
            <p:cNvSpPr>
              <a:spLocks noChangeAspect="1"/>
            </p:cNvSpPr>
            <p:nvPr/>
          </p:nvSpPr>
          <p:spPr bwMode="auto">
            <a:xfrm>
              <a:off x="11511" y="4226"/>
              <a:ext cx="593" cy="490"/>
            </a:xfrm>
            <a:custGeom>
              <a:avLst/>
              <a:gdLst>
                <a:gd name="connsiteX0" fmla="*/ 114387 w 870468"/>
                <a:gd name="connsiteY0" fmla="*/ 394297 h 720000"/>
                <a:gd name="connsiteX1" fmla="*/ 125598 w 870468"/>
                <a:gd name="connsiteY1" fmla="*/ 421319 h 720000"/>
                <a:gd name="connsiteX2" fmla="*/ 153878 w 870468"/>
                <a:gd name="connsiteY2" fmla="*/ 433051 h 720000"/>
                <a:gd name="connsiteX3" fmla="*/ 449972 w 870468"/>
                <a:gd name="connsiteY3" fmla="*/ 433051 h 720000"/>
                <a:gd name="connsiteX4" fmla="*/ 478295 w 870468"/>
                <a:gd name="connsiteY4" fmla="*/ 421319 h 720000"/>
                <a:gd name="connsiteX5" fmla="*/ 489465 w 870468"/>
                <a:gd name="connsiteY5" fmla="*/ 394297 h 720000"/>
                <a:gd name="connsiteX6" fmla="*/ 116266 w 870468"/>
                <a:gd name="connsiteY6" fmla="*/ 68594 h 720000"/>
                <a:gd name="connsiteX7" fmla="*/ 68708 w 870468"/>
                <a:gd name="connsiteY7" fmla="*/ 116152 h 720000"/>
                <a:gd name="connsiteX8" fmla="*/ 68708 w 870468"/>
                <a:gd name="connsiteY8" fmla="*/ 241561 h 720000"/>
                <a:gd name="connsiteX9" fmla="*/ 801875 w 870468"/>
                <a:gd name="connsiteY9" fmla="*/ 241561 h 720000"/>
                <a:gd name="connsiteX10" fmla="*/ 801875 w 870468"/>
                <a:gd name="connsiteY10" fmla="*/ 116152 h 720000"/>
                <a:gd name="connsiteX11" fmla="*/ 754317 w 870468"/>
                <a:gd name="connsiteY11" fmla="*/ 68594 h 720000"/>
                <a:gd name="connsiteX12" fmla="*/ 598821 w 870468"/>
                <a:gd name="connsiteY12" fmla="*/ 68594 h 720000"/>
                <a:gd name="connsiteX13" fmla="*/ 116266 w 870468"/>
                <a:gd name="connsiteY13" fmla="*/ 0 h 720000"/>
                <a:gd name="connsiteX14" fmla="*/ 598821 w 870468"/>
                <a:gd name="connsiteY14" fmla="*/ 0 h 720000"/>
                <a:gd name="connsiteX15" fmla="*/ 754317 w 870468"/>
                <a:gd name="connsiteY15" fmla="*/ 0 h 720000"/>
                <a:gd name="connsiteX16" fmla="*/ 870468 w 870468"/>
                <a:gd name="connsiteY16" fmla="*/ 116152 h 720000"/>
                <a:gd name="connsiteX17" fmla="*/ 870468 w 870468"/>
                <a:gd name="connsiteY17" fmla="*/ 360001 h 720000"/>
                <a:gd name="connsiteX18" fmla="*/ 870468 w 870468"/>
                <a:gd name="connsiteY18" fmla="*/ 603736 h 720000"/>
                <a:gd name="connsiteX19" fmla="*/ 754317 w 870468"/>
                <a:gd name="connsiteY19" fmla="*/ 720000 h 720000"/>
                <a:gd name="connsiteX20" fmla="*/ 598821 w 870468"/>
                <a:gd name="connsiteY20" fmla="*/ 720000 h 720000"/>
                <a:gd name="connsiteX21" fmla="*/ 116266 w 870468"/>
                <a:gd name="connsiteY21" fmla="*/ 720000 h 720000"/>
                <a:gd name="connsiteX22" fmla="*/ 115 w 870468"/>
                <a:gd name="connsiteY22" fmla="*/ 603850 h 720000"/>
                <a:gd name="connsiteX23" fmla="*/ 115 w 870468"/>
                <a:gd name="connsiteY23" fmla="*/ 360279 h 720000"/>
                <a:gd name="connsiteX24" fmla="*/ 0 w 870468"/>
                <a:gd name="connsiteY24" fmla="*/ 360001 h 720000"/>
                <a:gd name="connsiteX25" fmla="*/ 115 w 870468"/>
                <a:gd name="connsiteY25" fmla="*/ 359723 h 720000"/>
                <a:gd name="connsiteX26" fmla="*/ 115 w 870468"/>
                <a:gd name="connsiteY26" fmla="*/ 116152 h 720000"/>
                <a:gd name="connsiteX27" fmla="*/ 116266 w 870468"/>
                <a:gd name="connsiteY2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70468" h="720000">
                  <a:moveTo>
                    <a:pt x="114387" y="394297"/>
                  </a:moveTo>
                  <a:lnTo>
                    <a:pt x="125598" y="421319"/>
                  </a:lnTo>
                  <a:cubicBezTo>
                    <a:pt x="132843" y="428564"/>
                    <a:pt x="142846" y="433051"/>
                    <a:pt x="153878" y="433051"/>
                  </a:cubicBezTo>
                  <a:lnTo>
                    <a:pt x="449972" y="433051"/>
                  </a:lnTo>
                  <a:cubicBezTo>
                    <a:pt x="461061" y="433051"/>
                    <a:pt x="471064" y="428564"/>
                    <a:pt x="478295" y="421319"/>
                  </a:cubicBezTo>
                  <a:lnTo>
                    <a:pt x="489465" y="394297"/>
                  </a:lnTo>
                  <a:close/>
                  <a:moveTo>
                    <a:pt x="116266" y="68594"/>
                  </a:moveTo>
                  <a:cubicBezTo>
                    <a:pt x="89972" y="68594"/>
                    <a:pt x="68708" y="89972"/>
                    <a:pt x="68708" y="116152"/>
                  </a:cubicBezTo>
                  <a:lnTo>
                    <a:pt x="68708" y="241561"/>
                  </a:lnTo>
                  <a:lnTo>
                    <a:pt x="801875" y="241561"/>
                  </a:lnTo>
                  <a:lnTo>
                    <a:pt x="801875" y="116152"/>
                  </a:lnTo>
                  <a:cubicBezTo>
                    <a:pt x="801875" y="89858"/>
                    <a:pt x="780497" y="68594"/>
                    <a:pt x="754317" y="68594"/>
                  </a:cubicBezTo>
                  <a:lnTo>
                    <a:pt x="598821" y="68594"/>
                  </a:lnTo>
                  <a:close/>
                  <a:moveTo>
                    <a:pt x="116266" y="0"/>
                  </a:moveTo>
                  <a:lnTo>
                    <a:pt x="598821" y="0"/>
                  </a:lnTo>
                  <a:lnTo>
                    <a:pt x="754317" y="0"/>
                  </a:lnTo>
                  <a:cubicBezTo>
                    <a:pt x="818338" y="0"/>
                    <a:pt x="870468" y="52131"/>
                    <a:pt x="870468" y="116152"/>
                  </a:cubicBezTo>
                  <a:lnTo>
                    <a:pt x="870468" y="360001"/>
                  </a:lnTo>
                  <a:lnTo>
                    <a:pt x="870468" y="603736"/>
                  </a:lnTo>
                  <a:cubicBezTo>
                    <a:pt x="870468" y="667870"/>
                    <a:pt x="818338" y="720000"/>
                    <a:pt x="754317" y="720000"/>
                  </a:cubicBezTo>
                  <a:lnTo>
                    <a:pt x="598821" y="720000"/>
                  </a:lnTo>
                  <a:lnTo>
                    <a:pt x="116266" y="720000"/>
                  </a:lnTo>
                  <a:cubicBezTo>
                    <a:pt x="52246" y="720000"/>
                    <a:pt x="115" y="667870"/>
                    <a:pt x="115" y="603850"/>
                  </a:cubicBezTo>
                  <a:lnTo>
                    <a:pt x="115" y="360279"/>
                  </a:lnTo>
                  <a:lnTo>
                    <a:pt x="0" y="360001"/>
                  </a:lnTo>
                  <a:lnTo>
                    <a:pt x="115" y="359723"/>
                  </a:lnTo>
                  <a:lnTo>
                    <a:pt x="115" y="116152"/>
                  </a:lnTo>
                  <a:cubicBezTo>
                    <a:pt x="115" y="52131"/>
                    <a:pt x="52246" y="0"/>
                    <a:pt x="116266"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45" name="圆角矩形 44"/>
            <p:cNvSpPr/>
            <p:nvPr/>
          </p:nvSpPr>
          <p:spPr>
            <a:xfrm>
              <a:off x="7839" y="5391"/>
              <a:ext cx="7937" cy="3282"/>
            </a:xfrm>
            <a:prstGeom prst="roundRect">
              <a:avLst>
                <a:gd name="adj" fmla="val 11235"/>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47" name="圆角矩形 46"/>
            <p:cNvSpPr/>
            <p:nvPr/>
          </p:nvSpPr>
          <p:spPr>
            <a:xfrm>
              <a:off x="7839" y="6446"/>
              <a:ext cx="7937" cy="2438"/>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r>
                <a:rPr lang="en-US" altLang="zh-CN" sz="1600" b="1">
                  <a:solidFill>
                    <a:schemeClr val="tx1"/>
                  </a:solidFill>
                  <a:latin typeface="宋体" panose="02010600030101010101" pitchFamily="2" charset="-122"/>
                  <a:ea typeface="宋体" panose="02010600030101010101" pitchFamily="2" charset="-122"/>
                  <a:cs typeface="宋体" panose="02010600030101010101" pitchFamily="2" charset="-122"/>
                </a:rPr>
                <a:t>1</a:t>
              </a:r>
              <a:r>
                <a:rPr lang="zh-CN" altLang="en-US" sz="1600" b="1">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1600" b="1">
                  <a:solidFill>
                    <a:schemeClr val="tx1"/>
                  </a:solidFill>
                  <a:latin typeface="宋体" panose="02010600030101010101" pitchFamily="2" charset="-122"/>
                  <a:ea typeface="宋体" panose="02010600030101010101" pitchFamily="2" charset="-122"/>
                </a:rPr>
                <a:t>发现规程</a:t>
              </a:r>
              <a:endParaRPr lang="zh-CN" altLang="en-US" sz="1600" b="1">
                <a:solidFill>
                  <a:schemeClr val="tx1"/>
                </a:solidFill>
                <a:latin typeface="宋体" panose="02010600030101010101" pitchFamily="2" charset="-122"/>
                <a:ea typeface="宋体" panose="02010600030101010101" pitchFamily="2" charset="-122"/>
              </a:endParaRPr>
            </a:p>
            <a:p>
              <a:pPr algn="l">
                <a:buClrTx/>
                <a:buSzTx/>
                <a:buFontTx/>
              </a:pPr>
              <a:r>
                <a:rPr lang="en-US" altLang="zh-CN" sz="1600" b="1">
                  <a:solidFill>
                    <a:schemeClr val="tx1"/>
                  </a:solidFill>
                  <a:latin typeface="宋体" panose="02010600030101010101" pitchFamily="2" charset="-122"/>
                  <a:ea typeface="宋体" panose="02010600030101010101" pitchFamily="2" charset="-122"/>
                  <a:cs typeface="宋体" panose="02010600030101010101" pitchFamily="2" charset="-122"/>
                </a:rPr>
                <a:t>2、</a:t>
              </a:r>
              <a:r>
                <a:rPr lang="zh-CN" altLang="en-US" sz="1600" b="1">
                  <a:solidFill>
                    <a:schemeClr val="tx1"/>
                  </a:solidFill>
                  <a:latin typeface="宋体" panose="02010600030101010101" pitchFamily="2" charset="-122"/>
                  <a:ea typeface="宋体" panose="02010600030101010101" pitchFamily="2" charset="-122"/>
                </a:rPr>
                <a:t>客户端发起规程</a:t>
              </a:r>
              <a:endParaRPr lang="zh-CN" altLang="en-US" sz="1600" b="1">
                <a:solidFill>
                  <a:schemeClr val="tx1"/>
                </a:solidFill>
                <a:latin typeface="宋体" panose="02010600030101010101" pitchFamily="2" charset="-122"/>
                <a:ea typeface="宋体" panose="02010600030101010101" pitchFamily="2" charset="-122"/>
              </a:endParaRPr>
            </a:p>
            <a:p>
              <a:pPr algn="l">
                <a:buClrTx/>
                <a:buSzTx/>
                <a:buFontTx/>
              </a:pPr>
              <a:r>
                <a:rPr lang="en-US" altLang="zh-CN" sz="1600" b="1">
                  <a:solidFill>
                    <a:schemeClr val="tx1"/>
                  </a:solidFill>
                  <a:latin typeface="宋体" panose="02010600030101010101" pitchFamily="2" charset="-122"/>
                  <a:ea typeface="宋体" panose="02010600030101010101" pitchFamily="2" charset="-122"/>
                  <a:cs typeface="宋体" panose="02010600030101010101" pitchFamily="2" charset="-122"/>
                </a:rPr>
                <a:t>3、</a:t>
              </a:r>
              <a:r>
                <a:rPr lang="zh-CN" altLang="en-US" sz="1600" b="1">
                  <a:solidFill>
                    <a:schemeClr val="tx1"/>
                  </a:solidFill>
                  <a:latin typeface="宋体" panose="02010600030101010101" pitchFamily="2" charset="-122"/>
                  <a:ea typeface="宋体" panose="02010600030101010101" pitchFamily="2" charset="-122"/>
                </a:rPr>
                <a:t>服务器发起规程</a:t>
              </a:r>
              <a:endParaRPr lang="zh-CN" altLang="en-US" sz="1600" b="1">
                <a:solidFill>
                  <a:schemeClr val="tx1"/>
                </a:solidFill>
                <a:latin typeface="宋体" panose="02010600030101010101" pitchFamily="2" charset="-122"/>
                <a:ea typeface="宋体" panose="02010600030101010101" pitchFamily="2" charset="-122"/>
              </a:endParaRPr>
            </a:p>
          </p:txBody>
        </p:sp>
      </p:grpSp>
      <p:grpSp>
        <p:nvGrpSpPr>
          <p:cNvPr id="17" name="组合 16"/>
          <p:cNvGrpSpPr/>
          <p:nvPr/>
        </p:nvGrpSpPr>
        <p:grpSpPr>
          <a:xfrm>
            <a:off x="2458085" y="681355"/>
            <a:ext cx="4046220" cy="567690"/>
            <a:chOff x="3871" y="1073"/>
            <a:chExt cx="6372" cy="894"/>
          </a:xfrm>
        </p:grpSpPr>
        <p:sp>
          <p:nvSpPr>
            <p:cNvPr id="3" name="圆角矩形 2"/>
            <p:cNvSpPr/>
            <p:nvPr/>
          </p:nvSpPr>
          <p:spPr>
            <a:xfrm>
              <a:off x="4020" y="1144"/>
              <a:ext cx="5973" cy="760"/>
            </a:xfrm>
            <a:prstGeom prst="roundRect">
              <a:avLst>
                <a:gd name="adj" fmla="val 50000"/>
              </a:avLst>
            </a:prstGeom>
            <a:solidFill>
              <a:schemeClr val="bg1"/>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4" name="图片 3" descr="图标&#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71" y="1073"/>
              <a:ext cx="1180" cy="894"/>
            </a:xfrm>
            <a:prstGeom prst="rect">
              <a:avLst/>
            </a:prstGeom>
          </p:spPr>
        </p:pic>
        <p:sp>
          <p:nvSpPr>
            <p:cNvPr id="5" name="文本框 4"/>
            <p:cNvSpPr txBox="1"/>
            <p:nvPr/>
          </p:nvSpPr>
          <p:spPr>
            <a:xfrm>
              <a:off x="5443" y="1144"/>
              <a:ext cx="4800" cy="725"/>
            </a:xfrm>
            <a:prstGeom prst="rect">
              <a:avLst/>
            </a:prstGeom>
            <a:noFill/>
          </p:spPr>
          <p:txBody>
            <a:bodyPr wrap="square" rtlCol="0">
              <a:spAutoFit/>
            </a:bodyPr>
            <a:p>
              <a:r>
                <a:rPr lang="zh-CN" altLang="en-US" sz="2400" b="1" i="1">
                  <a:latin typeface="宋体" panose="02010600030101010101" pitchFamily="2" charset="-122"/>
                  <a:ea typeface="宋体" panose="02010600030101010101" pitchFamily="2" charset="-122"/>
                  <a:cs typeface="宋体" panose="02010600030101010101" pitchFamily="2" charset="-122"/>
                </a:rPr>
                <a:t>什么是</a:t>
              </a:r>
              <a:r>
                <a:rPr lang="en-US" altLang="zh-CN" sz="2400" b="1" i="1">
                  <a:latin typeface="宋体" panose="02010600030101010101" pitchFamily="2" charset="-122"/>
                  <a:ea typeface="宋体" panose="02010600030101010101" pitchFamily="2" charset="-122"/>
                  <a:cs typeface="宋体" panose="02010600030101010101" pitchFamily="2" charset="-122"/>
                </a:rPr>
                <a:t>GATT</a:t>
              </a:r>
              <a:r>
                <a:rPr lang="zh-CN" altLang="en-US" sz="2400" b="1" i="1">
                  <a:latin typeface="宋体" panose="02010600030101010101" pitchFamily="2" charset="-122"/>
                  <a:ea typeface="宋体" panose="02010600030101010101" pitchFamily="2" charset="-122"/>
                  <a:cs typeface="宋体" panose="02010600030101010101" pitchFamily="2" charset="-122"/>
                </a:rPr>
                <a:t>？</a:t>
              </a:r>
              <a:endParaRPr lang="zh-CN" altLang="en-US" sz="2400" b="1" i="1">
                <a:latin typeface="宋体" panose="02010600030101010101" pitchFamily="2" charset="-122"/>
                <a:ea typeface="宋体" panose="02010600030101010101" pitchFamily="2" charset="-122"/>
                <a:cs typeface="宋体" panose="02010600030101010101" pitchFamily="2" charset="-122"/>
              </a:endParaRPr>
            </a:p>
          </p:txBody>
        </p:sp>
      </p:grpSp>
      <p:sp>
        <p:nvSpPr>
          <p:cNvPr id="7" name="文本框 6"/>
          <p:cNvSpPr txBox="1"/>
          <p:nvPr/>
        </p:nvSpPr>
        <p:spPr>
          <a:xfrm>
            <a:off x="2143760" y="2412365"/>
            <a:ext cx="660400" cy="36830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概念</a:t>
            </a:r>
            <a:endParaRPr lang="zh-CN" altLang="en-US" b="1">
              <a:latin typeface="宋体" panose="02010600030101010101" pitchFamily="2" charset="-122"/>
              <a:ea typeface="宋体" panose="02010600030101010101" pitchFamily="2" charset="-122"/>
            </a:endParaRPr>
          </a:p>
        </p:txBody>
      </p:sp>
      <p:sp>
        <p:nvSpPr>
          <p:cNvPr id="8" name="文本框 7"/>
          <p:cNvSpPr txBox="1"/>
          <p:nvPr/>
        </p:nvSpPr>
        <p:spPr>
          <a:xfrm>
            <a:off x="5581015" y="2412365"/>
            <a:ext cx="1138555" cy="36830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基本规程</a:t>
            </a:r>
            <a:endParaRPr lang="zh-CN" altLang="en-US" b="1">
              <a:latin typeface="宋体" panose="02010600030101010101" pitchFamily="2" charset="-122"/>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GATT</a:t>
            </a:r>
            <a:r>
              <a:rPr lang="zh-CN" altLang="en-US" sz="2400" b="1" spc="-38" dirty="0">
                <a:solidFill>
                  <a:srgbClr val="3D5663"/>
                </a:solidFill>
                <a:latin typeface="Calibri" panose="020F0502020204030204" pitchFamily="34" charset="0"/>
                <a:cs typeface="Calibri" panose="020F0502020204030204" pitchFamily="34" charset="0"/>
              </a:rPr>
              <a:t>层次</a:t>
            </a:r>
            <a:r>
              <a:rPr lang="zh-CN" altLang="en-US" sz="2400" b="1" spc="-38" dirty="0">
                <a:solidFill>
                  <a:srgbClr val="3D5663"/>
                </a:solidFill>
                <a:latin typeface="Calibri" panose="020F0502020204030204" pitchFamily="34" charset="0"/>
                <a:cs typeface="Calibri" panose="020F0502020204030204" pitchFamily="34" charset="0"/>
              </a:rPr>
              <a:t>结构</a:t>
            </a:r>
            <a:endParaRPr lang="zh-CN" altLang="en-US" sz="2400" b="1" spc="-38" dirty="0">
              <a:solidFill>
                <a:srgbClr val="3D5663"/>
              </a:solidFill>
              <a:latin typeface="Calibri" panose="020F0502020204030204" pitchFamily="34" charset="0"/>
              <a:cs typeface="Calibri" panose="020F0502020204030204" pitchFamily="34" charset="0"/>
            </a:endParaRPr>
          </a:p>
        </p:txBody>
      </p:sp>
      <p:pic>
        <p:nvPicPr>
          <p:cNvPr id="2" name="图片 1"/>
          <p:cNvPicPr>
            <a:picLocks noChangeAspect="1"/>
          </p:cNvPicPr>
          <p:nvPr/>
        </p:nvPicPr>
        <p:blipFill>
          <a:blip r:embed="rId1"/>
          <a:stretch>
            <a:fillRect/>
          </a:stretch>
        </p:blipFill>
        <p:spPr>
          <a:xfrm>
            <a:off x="4106545" y="158750"/>
            <a:ext cx="3804920" cy="4463415"/>
          </a:xfrm>
          <a:prstGeom prst="rect">
            <a:avLst/>
          </a:prstGeom>
        </p:spPr>
      </p:pic>
      <p:sp>
        <p:nvSpPr>
          <p:cNvPr id="5" name="上凸带形 4"/>
          <p:cNvSpPr/>
          <p:nvPr/>
        </p:nvSpPr>
        <p:spPr>
          <a:xfrm>
            <a:off x="370840" y="3507740"/>
            <a:ext cx="3162300" cy="443865"/>
          </a:xfrm>
          <a:prstGeom prst="ribbon2">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C</a:t>
            </a:r>
            <a:r>
              <a:rPr lang="en-US" altLang="zh-CN"/>
              <a:t>haracteristic</a:t>
            </a:r>
            <a:endParaRPr lang="en-US" altLang="zh-CN"/>
          </a:p>
        </p:txBody>
      </p:sp>
      <p:sp>
        <p:nvSpPr>
          <p:cNvPr id="12" name="上凸带形 11"/>
          <p:cNvSpPr/>
          <p:nvPr/>
        </p:nvSpPr>
        <p:spPr>
          <a:xfrm>
            <a:off x="370840" y="675005"/>
            <a:ext cx="3162300" cy="443865"/>
          </a:xfrm>
          <a:prstGeom prst="ribbon2">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S</a:t>
            </a:r>
            <a:r>
              <a:rPr lang="en-US" altLang="zh-CN"/>
              <a:t>ervice</a:t>
            </a:r>
            <a:endParaRPr lang="en-US" altLang="zh-CN"/>
          </a:p>
        </p:txBody>
      </p:sp>
      <p:sp>
        <p:nvSpPr>
          <p:cNvPr id="13" name="上凸带形 12"/>
          <p:cNvSpPr/>
          <p:nvPr/>
        </p:nvSpPr>
        <p:spPr>
          <a:xfrm>
            <a:off x="370840" y="1978025"/>
            <a:ext cx="3162300" cy="443865"/>
          </a:xfrm>
          <a:prstGeom prst="ribbon2">
            <a:avLst/>
          </a:prstGeom>
          <a:solidFill>
            <a:schemeClr val="accent2"/>
          </a:soli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I</a:t>
            </a:r>
            <a:r>
              <a:rPr lang="en-US" altLang="zh-CN"/>
              <a:t>nclude</a:t>
            </a:r>
            <a:endParaRPr lang="en-US" altLang="zh-CN"/>
          </a:p>
        </p:txBody>
      </p:sp>
      <p:sp>
        <p:nvSpPr>
          <p:cNvPr id="19" name="文本框 18"/>
          <p:cNvSpPr txBox="1"/>
          <p:nvPr/>
        </p:nvSpPr>
        <p:spPr>
          <a:xfrm>
            <a:off x="485140" y="1170940"/>
            <a:ext cx="3048000" cy="645160"/>
          </a:xfrm>
          <a:prstGeom prst="rect">
            <a:avLst/>
          </a:prstGeom>
          <a:noFill/>
        </p:spPr>
        <p:txBody>
          <a:bodyPr wrap="square" rtlCol="0">
            <a:spAutoFit/>
          </a:bodyPr>
          <a:p>
            <a:r>
              <a:rPr lang="zh-CN" altLang="en-US"/>
              <a:t>服务：为实现特定功能或特性的一个</a:t>
            </a:r>
            <a:r>
              <a:rPr lang="zh-CN" altLang="en-US"/>
              <a:t>集合</a:t>
            </a:r>
            <a:endParaRPr lang="zh-CN" altLang="en-US"/>
          </a:p>
        </p:txBody>
      </p:sp>
      <p:sp>
        <p:nvSpPr>
          <p:cNvPr id="20" name="文本框 19"/>
          <p:cNvSpPr txBox="1"/>
          <p:nvPr/>
        </p:nvSpPr>
        <p:spPr>
          <a:xfrm>
            <a:off x="485140" y="2503805"/>
            <a:ext cx="3048000" cy="922020"/>
          </a:xfrm>
          <a:prstGeom prst="rect">
            <a:avLst/>
          </a:prstGeom>
          <a:noFill/>
        </p:spPr>
        <p:txBody>
          <a:bodyPr wrap="square" rtlCol="0">
            <a:spAutoFit/>
          </a:bodyPr>
          <a:p>
            <a:r>
              <a:rPr lang="zh-CN" altLang="en-US"/>
              <a:t>包含</a:t>
            </a:r>
            <a:r>
              <a:rPr lang="zh-CN" altLang="en-US"/>
              <a:t>服务：将已存在的服务引用到当前正在定义的服务</a:t>
            </a:r>
            <a:r>
              <a:rPr lang="zh-CN" altLang="en-US"/>
              <a:t>中</a:t>
            </a:r>
            <a:endParaRPr lang="zh-CN" altLang="en-US"/>
          </a:p>
        </p:txBody>
      </p:sp>
      <p:sp>
        <p:nvSpPr>
          <p:cNvPr id="21" name="文本框 20"/>
          <p:cNvSpPr txBox="1"/>
          <p:nvPr/>
        </p:nvSpPr>
        <p:spPr>
          <a:xfrm>
            <a:off x="485140" y="4113530"/>
            <a:ext cx="3048000" cy="645160"/>
          </a:xfrm>
          <a:prstGeom prst="rect">
            <a:avLst/>
          </a:prstGeom>
          <a:noFill/>
        </p:spPr>
        <p:txBody>
          <a:bodyPr wrap="square" rtlCol="0">
            <a:spAutoFit/>
          </a:bodyPr>
          <a:p>
            <a:r>
              <a:rPr lang="zh-CN" altLang="en-US"/>
              <a:t>特征：服务中使用的一个值，伴随着属性和配置信息</a:t>
            </a:r>
            <a:endParaRPr lang="zh-CN" altLang="en-US"/>
          </a:p>
        </p:txBody>
      </p:sp>
      <p:sp>
        <p:nvSpPr>
          <p:cNvPr id="3" name="文本框 2"/>
          <p:cNvSpPr txBox="1"/>
          <p:nvPr/>
        </p:nvSpPr>
        <p:spPr>
          <a:xfrm>
            <a:off x="4106545" y="4622165"/>
            <a:ext cx="3788410" cy="275590"/>
          </a:xfrm>
          <a:prstGeom prst="rect">
            <a:avLst/>
          </a:prstGeom>
          <a:noFill/>
        </p:spPr>
        <p:txBody>
          <a:bodyPr wrap="square" rtlCol="0">
            <a:spAutoFit/>
          </a:bodyPr>
          <a:p>
            <a:r>
              <a:rPr lang="zh-CN" altLang="en-US" sz="1200">
                <a:latin typeface="宋体" panose="02010600030101010101" pitchFamily="2" charset="-122"/>
                <a:ea typeface="宋体" panose="02010600030101010101" pitchFamily="2" charset="-122"/>
                <a:cs typeface="宋体" panose="02010600030101010101" pitchFamily="2" charset="-122"/>
              </a:rPr>
              <a:t>注：</a:t>
            </a:r>
            <a:r>
              <a:rPr lang="en-US" altLang="zh-CN" sz="1200">
                <a:latin typeface="宋体" panose="02010600030101010101" pitchFamily="2" charset="-122"/>
                <a:ea typeface="宋体" panose="02010600030101010101" pitchFamily="2" charset="-122"/>
                <a:cs typeface="宋体" panose="02010600030101010101" pitchFamily="2" charset="-122"/>
              </a:rPr>
              <a:t>HRS(</a:t>
            </a:r>
            <a:r>
              <a:rPr lang="zh-CN" altLang="en-US" sz="1200">
                <a:latin typeface="宋体" panose="02010600030101010101" pitchFamily="2" charset="-122"/>
                <a:ea typeface="宋体" panose="02010600030101010101" pitchFamily="2" charset="-122"/>
                <a:cs typeface="宋体" panose="02010600030101010101" pitchFamily="2" charset="-122"/>
              </a:rPr>
              <a:t>心率服务</a:t>
            </a:r>
            <a:r>
              <a:rPr lang="en-US" altLang="zh-CN" sz="1200">
                <a:latin typeface="宋体" panose="02010600030101010101" pitchFamily="2" charset="-122"/>
                <a:ea typeface="宋体" panose="02010600030101010101" pitchFamily="2" charset="-122"/>
                <a:cs typeface="宋体" panose="02010600030101010101" pitchFamily="2" charset="-122"/>
              </a:rPr>
              <a:t>)</a:t>
            </a:r>
            <a:r>
              <a:rPr lang="zh-CN" altLang="en-US" sz="1200">
                <a:latin typeface="宋体" panose="02010600030101010101" pitchFamily="2" charset="-122"/>
                <a:ea typeface="宋体" panose="02010600030101010101" pitchFamily="2" charset="-122"/>
                <a:cs typeface="宋体" panose="02010600030101010101" pitchFamily="2" charset="-122"/>
              </a:rPr>
              <a:t>框架见</a:t>
            </a:r>
            <a:r>
              <a:rPr lang="en-US" altLang="zh-CN" sz="1200">
                <a:latin typeface="宋体" panose="02010600030101010101" pitchFamily="2" charset="-122"/>
                <a:ea typeface="宋体" panose="02010600030101010101" pitchFamily="2" charset="-122"/>
                <a:cs typeface="宋体" panose="02010600030101010101" pitchFamily="2" charset="-122"/>
              </a:rPr>
              <a:t>PPT</a:t>
            </a:r>
            <a:r>
              <a:rPr lang="zh-CN" altLang="en-US" sz="1200">
                <a:latin typeface="宋体" panose="02010600030101010101" pitchFamily="2" charset="-122"/>
                <a:ea typeface="宋体" panose="02010600030101010101" pitchFamily="2" charset="-122"/>
                <a:cs typeface="宋体" panose="02010600030101010101" pitchFamily="2" charset="-122"/>
              </a:rPr>
              <a:t>第</a:t>
            </a:r>
            <a:r>
              <a:rPr lang="en-US" altLang="zh-CN" sz="1200">
                <a:latin typeface="宋体" panose="02010600030101010101" pitchFamily="2" charset="-122"/>
                <a:ea typeface="宋体" panose="02010600030101010101" pitchFamily="2" charset="-122"/>
                <a:cs typeface="宋体" panose="02010600030101010101" pitchFamily="2" charset="-122"/>
              </a:rPr>
              <a:t>52</a:t>
            </a:r>
            <a:r>
              <a:rPr lang="zh-CN" altLang="en-US" sz="1200">
                <a:latin typeface="宋体" panose="02010600030101010101" pitchFamily="2" charset="-122"/>
                <a:ea typeface="宋体" panose="02010600030101010101" pitchFamily="2" charset="-122"/>
                <a:cs typeface="宋体" panose="02010600030101010101" pitchFamily="2" charset="-122"/>
              </a:rPr>
              <a:t>页补充</a:t>
            </a:r>
            <a:r>
              <a:rPr lang="en-US" altLang="zh-CN" sz="1200">
                <a:latin typeface="宋体" panose="02010600030101010101" pitchFamily="2" charset="-122"/>
                <a:ea typeface="宋体" panose="02010600030101010101" pitchFamily="2" charset="-122"/>
                <a:cs typeface="宋体" panose="02010600030101010101" pitchFamily="2" charset="-122"/>
              </a:rPr>
              <a:t>4</a:t>
            </a:r>
            <a:endParaRPr lang="en-US" altLang="zh-CN" sz="12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zh-CN" altLang="en-US" sz="2400" b="1" spc="-38" dirty="0">
                <a:solidFill>
                  <a:srgbClr val="3D5663"/>
                </a:solidFill>
                <a:latin typeface="Calibri" panose="020F0502020204030204" pitchFamily="34" charset="0"/>
                <a:cs typeface="Calibri" panose="020F0502020204030204" pitchFamily="34" charset="0"/>
              </a:rPr>
              <a:t>定义</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32" name="文本框 31"/>
          <p:cNvSpPr txBox="1"/>
          <p:nvPr/>
        </p:nvSpPr>
        <p:spPr>
          <a:xfrm>
            <a:off x="1727200" y="605790"/>
            <a:ext cx="1181100" cy="368300"/>
          </a:xfrm>
          <a:prstGeom prst="rect">
            <a:avLst/>
          </a:prstGeom>
          <a:noFill/>
        </p:spPr>
        <p:txBody>
          <a:bodyPr wrap="square" rtlCol="0">
            <a:spAutoFit/>
          </a:bodyPr>
          <a:p>
            <a:pPr algn="ctr"/>
            <a:r>
              <a:rPr lang="zh-CN" altLang="en-US" b="1">
                <a:latin typeface="宋体" panose="02010600030101010101" pitchFamily="2" charset="-122"/>
                <a:ea typeface="宋体" panose="02010600030101010101" pitchFamily="2" charset="-122"/>
              </a:rPr>
              <a:t>服务定义</a:t>
            </a:r>
            <a:endParaRPr lang="zh-CN" altLang="en-US" b="1">
              <a:latin typeface="宋体" panose="02010600030101010101" pitchFamily="2" charset="-122"/>
              <a:ea typeface="宋体" panose="02010600030101010101" pitchFamily="2" charset="-122"/>
            </a:endParaRPr>
          </a:p>
        </p:txBody>
      </p:sp>
      <p:sp>
        <p:nvSpPr>
          <p:cNvPr id="38" name="文本框 37"/>
          <p:cNvSpPr txBox="1"/>
          <p:nvPr/>
        </p:nvSpPr>
        <p:spPr>
          <a:xfrm>
            <a:off x="6010275" y="605790"/>
            <a:ext cx="1826260" cy="368300"/>
          </a:xfrm>
          <a:prstGeom prst="rect">
            <a:avLst/>
          </a:prstGeom>
          <a:noFill/>
        </p:spPr>
        <p:txBody>
          <a:bodyPr wrap="square" rtlCol="0">
            <a:spAutoFit/>
          </a:bodyPr>
          <a:p>
            <a:pPr algn="ctr"/>
            <a:r>
              <a:rPr lang="zh-CN" altLang="en-US" b="1">
                <a:latin typeface="宋体" panose="02010600030101010101" pitchFamily="2" charset="-122"/>
                <a:ea typeface="宋体" panose="02010600030101010101" pitchFamily="2" charset="-122"/>
              </a:rPr>
              <a:t>包含服务定义</a:t>
            </a:r>
            <a:endParaRPr lang="zh-CN" altLang="en-US" b="1">
              <a:latin typeface="宋体" panose="02010600030101010101" pitchFamily="2" charset="-122"/>
              <a:ea typeface="宋体" panose="02010600030101010101" pitchFamily="2" charset="-122"/>
            </a:endParaRPr>
          </a:p>
        </p:txBody>
      </p:sp>
      <p:pic>
        <p:nvPicPr>
          <p:cNvPr id="40" name="图片 39"/>
          <p:cNvPicPr>
            <a:picLocks noChangeAspect="1"/>
          </p:cNvPicPr>
          <p:nvPr/>
        </p:nvPicPr>
        <p:blipFill>
          <a:blip r:embed="rId1"/>
          <a:stretch>
            <a:fillRect/>
          </a:stretch>
        </p:blipFill>
        <p:spPr>
          <a:xfrm>
            <a:off x="4878070" y="992505"/>
            <a:ext cx="4019550" cy="885190"/>
          </a:xfrm>
          <a:prstGeom prst="rect">
            <a:avLst/>
          </a:prstGeom>
        </p:spPr>
      </p:pic>
      <p:pic>
        <p:nvPicPr>
          <p:cNvPr id="41" name="图片 40"/>
          <p:cNvPicPr>
            <a:picLocks noChangeAspect="1"/>
          </p:cNvPicPr>
          <p:nvPr/>
        </p:nvPicPr>
        <p:blipFill>
          <a:blip r:embed="rId2"/>
          <a:stretch>
            <a:fillRect/>
          </a:stretch>
        </p:blipFill>
        <p:spPr>
          <a:xfrm>
            <a:off x="132080" y="992505"/>
            <a:ext cx="4502785" cy="875665"/>
          </a:xfrm>
          <a:prstGeom prst="rect">
            <a:avLst/>
          </a:prstGeom>
        </p:spPr>
      </p:pic>
      <p:pic>
        <p:nvPicPr>
          <p:cNvPr id="42" name="图片 41"/>
          <p:cNvPicPr>
            <a:picLocks noChangeAspect="1"/>
          </p:cNvPicPr>
          <p:nvPr/>
        </p:nvPicPr>
        <p:blipFill>
          <a:blip r:embed="rId3"/>
          <a:stretch>
            <a:fillRect/>
          </a:stretch>
        </p:blipFill>
        <p:spPr>
          <a:xfrm>
            <a:off x="132080" y="2367915"/>
            <a:ext cx="4485005" cy="971550"/>
          </a:xfrm>
          <a:prstGeom prst="rect">
            <a:avLst/>
          </a:prstGeom>
        </p:spPr>
      </p:pic>
      <p:sp>
        <p:nvSpPr>
          <p:cNvPr id="43" name="文本框 42"/>
          <p:cNvSpPr txBox="1"/>
          <p:nvPr/>
        </p:nvSpPr>
        <p:spPr>
          <a:xfrm>
            <a:off x="1727200" y="1999615"/>
            <a:ext cx="1109980" cy="368300"/>
          </a:xfrm>
          <a:prstGeom prst="rect">
            <a:avLst/>
          </a:prstGeom>
          <a:noFill/>
        </p:spPr>
        <p:txBody>
          <a:bodyPr wrap="square" rtlCol="0">
            <a:spAutoFit/>
          </a:bodyPr>
          <a:p>
            <a:pPr algn="ctr"/>
            <a:r>
              <a:rPr lang="zh-CN" altLang="en-US" b="1">
                <a:latin typeface="宋体" panose="02010600030101010101" pitchFamily="2" charset="-122"/>
                <a:ea typeface="宋体" panose="02010600030101010101" pitchFamily="2" charset="-122"/>
              </a:rPr>
              <a:t>特征定义</a:t>
            </a:r>
            <a:endParaRPr lang="zh-CN" altLang="en-US" b="1">
              <a:latin typeface="宋体" panose="02010600030101010101" pitchFamily="2" charset="-122"/>
              <a:ea typeface="宋体" panose="02010600030101010101" pitchFamily="2" charset="-122"/>
            </a:endParaRPr>
          </a:p>
        </p:txBody>
      </p:sp>
      <p:pic>
        <p:nvPicPr>
          <p:cNvPr id="44" name="图片 43"/>
          <p:cNvPicPr>
            <a:picLocks noChangeAspect="1"/>
          </p:cNvPicPr>
          <p:nvPr/>
        </p:nvPicPr>
        <p:blipFill>
          <a:blip r:embed="rId4"/>
          <a:stretch>
            <a:fillRect/>
          </a:stretch>
        </p:blipFill>
        <p:spPr>
          <a:xfrm>
            <a:off x="4868545" y="2365375"/>
            <a:ext cx="4029075" cy="974090"/>
          </a:xfrm>
          <a:prstGeom prst="rect">
            <a:avLst/>
          </a:prstGeom>
        </p:spPr>
      </p:pic>
      <p:sp>
        <p:nvSpPr>
          <p:cNvPr id="45" name="文本框 44"/>
          <p:cNvSpPr txBox="1"/>
          <p:nvPr/>
        </p:nvSpPr>
        <p:spPr>
          <a:xfrm>
            <a:off x="6238875" y="1999615"/>
            <a:ext cx="1369695" cy="368300"/>
          </a:xfrm>
          <a:prstGeom prst="rect">
            <a:avLst/>
          </a:prstGeom>
          <a:noFill/>
        </p:spPr>
        <p:txBody>
          <a:bodyPr wrap="square" rtlCol="0">
            <a:spAutoFit/>
          </a:bodyPr>
          <a:p>
            <a:pPr algn="ctr"/>
            <a:r>
              <a:rPr lang="zh-CN" altLang="en-US"/>
              <a:t>特征值</a:t>
            </a:r>
            <a:r>
              <a:rPr lang="zh-CN" altLang="en-US"/>
              <a:t>声明</a:t>
            </a:r>
            <a:endParaRPr lang="zh-CN" altLang="en-US"/>
          </a:p>
        </p:txBody>
      </p:sp>
      <p:sp>
        <p:nvSpPr>
          <p:cNvPr id="46" name="文本框 45"/>
          <p:cNvSpPr txBox="1"/>
          <p:nvPr/>
        </p:nvSpPr>
        <p:spPr>
          <a:xfrm>
            <a:off x="1571625" y="3481705"/>
            <a:ext cx="1831340" cy="368300"/>
          </a:xfrm>
          <a:prstGeom prst="rect">
            <a:avLst/>
          </a:prstGeom>
          <a:noFill/>
        </p:spPr>
        <p:txBody>
          <a:bodyPr wrap="square" rtlCol="0">
            <a:spAutoFit/>
          </a:bodyPr>
          <a:p>
            <a:pPr algn="ctr"/>
            <a:r>
              <a:rPr lang="zh-CN" altLang="en-US"/>
              <a:t>特征描述符</a:t>
            </a:r>
            <a:r>
              <a:rPr lang="zh-CN" altLang="en-US"/>
              <a:t>声明</a:t>
            </a:r>
            <a:endParaRPr lang="zh-CN" altLang="en-US"/>
          </a:p>
        </p:txBody>
      </p:sp>
      <p:pic>
        <p:nvPicPr>
          <p:cNvPr id="47" name="图片 46"/>
          <p:cNvPicPr>
            <a:picLocks noChangeAspect="1"/>
          </p:cNvPicPr>
          <p:nvPr/>
        </p:nvPicPr>
        <p:blipFill>
          <a:blip r:embed="rId5"/>
          <a:stretch>
            <a:fillRect/>
          </a:stretch>
        </p:blipFill>
        <p:spPr>
          <a:xfrm>
            <a:off x="132080" y="3780155"/>
            <a:ext cx="4472305" cy="9321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圆角矩形标注 9"/>
          <p:cNvSpPr/>
          <p:nvPr/>
        </p:nvSpPr>
        <p:spPr>
          <a:xfrm>
            <a:off x="4058920" y="588010"/>
            <a:ext cx="4592320" cy="644525"/>
          </a:xfrm>
          <a:prstGeom prst="wedgeRoundRectCallou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标注 8"/>
          <p:cNvSpPr/>
          <p:nvPr/>
        </p:nvSpPr>
        <p:spPr>
          <a:xfrm>
            <a:off x="215900" y="587375"/>
            <a:ext cx="3190240" cy="645160"/>
          </a:xfrm>
          <a:prstGeom prst="wedgeRoundRectCallou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zh-CN" altLang="en-US" sz="2400" b="1" spc="-38" dirty="0">
                <a:solidFill>
                  <a:srgbClr val="3D5663"/>
                </a:solidFill>
                <a:latin typeface="Calibri" panose="020F0502020204030204" pitchFamily="34" charset="0"/>
                <a:cs typeface="Calibri" panose="020F0502020204030204" pitchFamily="34" charset="0"/>
              </a:rPr>
              <a:t>属性权限和</a:t>
            </a:r>
            <a:r>
              <a:rPr lang="zh-CN" altLang="en-US" sz="2400" b="1" spc="-38" dirty="0">
                <a:solidFill>
                  <a:srgbClr val="3D5663"/>
                </a:solidFill>
                <a:latin typeface="Calibri" panose="020F0502020204030204" pitchFamily="34" charset="0"/>
                <a:cs typeface="Calibri" panose="020F0502020204030204" pitchFamily="34" charset="0"/>
              </a:rPr>
              <a:t>特征特性</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587375"/>
            <a:ext cx="3211195" cy="645160"/>
          </a:xfrm>
          <a:prstGeom prst="rect">
            <a:avLst/>
          </a:prstGeom>
          <a:noFill/>
        </p:spPr>
        <p:txBody>
          <a:bodyPr wrap="square" rtlCol="0">
            <a:spAutoFit/>
          </a:bodyPr>
          <a:p>
            <a:r>
              <a:rPr lang="zh-CN" altLang="en-US"/>
              <a:t>属性权限作用于每一个具体的属性，定义如何保护该</a:t>
            </a:r>
            <a:r>
              <a:rPr lang="zh-CN" altLang="en-US"/>
              <a:t>属性</a:t>
            </a:r>
            <a:endParaRPr lang="zh-CN" altLang="en-US"/>
          </a:p>
        </p:txBody>
      </p:sp>
      <p:sp>
        <p:nvSpPr>
          <p:cNvPr id="3" name="文本框 2"/>
          <p:cNvSpPr txBox="1"/>
          <p:nvPr/>
        </p:nvSpPr>
        <p:spPr>
          <a:xfrm>
            <a:off x="4058920" y="587375"/>
            <a:ext cx="4592320" cy="645160"/>
          </a:xfrm>
          <a:prstGeom prst="rect">
            <a:avLst/>
          </a:prstGeom>
          <a:noFill/>
        </p:spPr>
        <p:txBody>
          <a:bodyPr wrap="square" rtlCol="0">
            <a:spAutoFit/>
          </a:bodyPr>
          <a:p>
            <a:r>
              <a:rPr lang="zh-CN" altLang="en-US"/>
              <a:t>特征特性作用于特征本身，定义客户端可以进行怎样的</a:t>
            </a:r>
            <a:r>
              <a:rPr lang="zh-CN" altLang="en-US"/>
              <a:t>操作</a:t>
            </a:r>
            <a:endParaRPr lang="zh-CN" altLang="en-US"/>
          </a:p>
        </p:txBody>
      </p:sp>
      <p:graphicFrame>
        <p:nvGraphicFramePr>
          <p:cNvPr id="4" name="表格 3"/>
          <p:cNvGraphicFramePr/>
          <p:nvPr>
            <p:custDataLst>
              <p:tags r:id="rId1"/>
            </p:custDataLst>
          </p:nvPr>
        </p:nvGraphicFramePr>
        <p:xfrm>
          <a:off x="118745" y="1324610"/>
          <a:ext cx="3287395" cy="2598420"/>
        </p:xfrm>
        <a:graphic>
          <a:graphicData uri="http://schemas.openxmlformats.org/drawingml/2006/table">
            <a:tbl>
              <a:tblPr firstRow="1" bandRow="1">
                <a:tableStyleId>{5C22544A-7EE6-4342-B048-85BDC9FD1C3A}</a:tableStyleId>
              </a:tblPr>
              <a:tblGrid>
                <a:gridCol w="987425"/>
                <a:gridCol w="2299970"/>
              </a:tblGrid>
              <a:tr h="381000">
                <a:tc>
                  <a:txBody>
                    <a:bodyPr/>
                    <a:p>
                      <a:pPr algn="ctr">
                        <a:buNone/>
                      </a:pPr>
                      <a:r>
                        <a:rPr lang="zh-CN" altLang="en-US" b="1">
                          <a:latin typeface="黑体" panose="02010609060101010101" charset="-122"/>
                          <a:ea typeface="黑体" panose="02010609060101010101" charset="-122"/>
                        </a:rPr>
                        <a:t>权限</a:t>
                      </a:r>
                      <a:endParaRPr lang="zh-CN" altLang="en-US" b="1">
                        <a:latin typeface="黑体" panose="02010609060101010101" charset="-122"/>
                        <a:ea typeface="黑体" panose="02010609060101010101" charset="-122"/>
                      </a:endParaRPr>
                    </a:p>
                  </a:txBody>
                  <a:tcPr anchor="ctr" anchorCtr="0"/>
                </a:tc>
                <a:tc>
                  <a:txBody>
                    <a:bodyPr/>
                    <a:p>
                      <a:pPr algn="ctr">
                        <a:buNone/>
                      </a:pPr>
                      <a:r>
                        <a:rPr lang="zh-CN" altLang="en-US"/>
                        <a:t>类型</a:t>
                      </a:r>
                      <a:endParaRPr lang="zh-CN" altLang="en-US"/>
                    </a:p>
                  </a:txBody>
                  <a:tcPr anchor="ctr" anchorCtr="0"/>
                </a:tc>
              </a:tr>
              <a:tr h="381000">
                <a:tc>
                  <a:txBody>
                    <a:bodyPr/>
                    <a:p>
                      <a:pPr algn="ctr">
                        <a:buNone/>
                      </a:pPr>
                      <a:r>
                        <a:rPr lang="zh-CN" altLang="en-US" b="1">
                          <a:latin typeface="宋体" panose="02010600030101010101" pitchFamily="2" charset="-122"/>
                          <a:ea typeface="宋体" panose="02010600030101010101" pitchFamily="2" charset="-122"/>
                        </a:rPr>
                        <a:t>访问权限</a:t>
                      </a:r>
                      <a:endParaRPr lang="zh-CN" altLang="en-US" b="1">
                        <a:latin typeface="宋体" panose="02010600030101010101" pitchFamily="2" charset="-122"/>
                        <a:ea typeface="宋体" panose="02010600030101010101" pitchFamily="2" charset="-122"/>
                      </a:endParaRPr>
                    </a:p>
                  </a:txBody>
                  <a:tcPr anchor="ctr" anchorCtr="0"/>
                </a:tc>
                <a:tc>
                  <a:txBody>
                    <a:bodyPr/>
                    <a:p>
                      <a:pPr>
                        <a:buNone/>
                      </a:pPr>
                      <a:r>
                        <a:rPr lang="en-US" altLang="zh-CN">
                          <a:latin typeface="Times New Roman" panose="02020603050405020304" charset="0"/>
                          <a:cs typeface="Times New Roman" panose="02020603050405020304" charset="0"/>
                        </a:rPr>
                        <a:t>Readable</a:t>
                      </a:r>
                      <a:endParaRPr lang="en-US" altLang="zh-CN">
                        <a:latin typeface="Times New Roman" panose="02020603050405020304" charset="0"/>
                        <a:cs typeface="Times New Roman" panose="02020603050405020304" charset="0"/>
                      </a:endParaRPr>
                    </a:p>
                    <a:p>
                      <a:pPr>
                        <a:buNone/>
                      </a:pPr>
                      <a:r>
                        <a:rPr lang="en-US" altLang="zh-CN">
                          <a:latin typeface="Times New Roman" panose="02020603050405020304" charset="0"/>
                          <a:cs typeface="Times New Roman" panose="02020603050405020304" charset="0"/>
                        </a:rPr>
                        <a:t>Writeable</a:t>
                      </a:r>
                      <a:endParaRPr lang="en-US" altLang="zh-CN">
                        <a:latin typeface="Times New Roman" panose="02020603050405020304" charset="0"/>
                        <a:cs typeface="Times New Roman" panose="02020603050405020304" charset="0"/>
                      </a:endParaRPr>
                    </a:p>
                    <a:p>
                      <a:pPr>
                        <a:buNone/>
                      </a:pPr>
                      <a:r>
                        <a:rPr lang="en-US" altLang="zh-CN">
                          <a:latin typeface="Times New Roman" panose="02020603050405020304" charset="0"/>
                          <a:cs typeface="Times New Roman" panose="02020603050405020304" charset="0"/>
                        </a:rPr>
                        <a:t>Readable and writable</a:t>
                      </a:r>
                      <a:endParaRPr lang="en-US" altLang="zh-CN">
                        <a:latin typeface="Times New Roman" panose="02020603050405020304" charset="0"/>
                        <a:cs typeface="Times New Roman" panose="02020603050405020304" charset="0"/>
                      </a:endParaRPr>
                    </a:p>
                  </a:txBody>
                  <a:tcPr/>
                </a:tc>
              </a:tr>
              <a:tr h="381000">
                <a:tc>
                  <a:txBody>
                    <a:bodyPr/>
                    <a:p>
                      <a:pPr algn="ctr">
                        <a:buNone/>
                      </a:pPr>
                      <a:r>
                        <a:rPr lang="zh-CN" altLang="en-US" b="1">
                          <a:latin typeface="宋体" panose="02010600030101010101" pitchFamily="2" charset="-122"/>
                          <a:ea typeface="宋体" panose="02010600030101010101" pitchFamily="2" charset="-122"/>
                        </a:rPr>
                        <a:t>加密权限</a:t>
                      </a:r>
                      <a:endParaRPr lang="zh-CN" altLang="en-US" b="1">
                        <a:latin typeface="宋体" panose="02010600030101010101" pitchFamily="2" charset="-122"/>
                        <a:ea typeface="宋体" panose="02010600030101010101" pitchFamily="2" charset="-122"/>
                      </a:endParaRPr>
                    </a:p>
                  </a:txBody>
                  <a:tcPr anchor="ctr" anchorCtr="0"/>
                </a:tc>
                <a:tc>
                  <a:txBody>
                    <a:bodyPr/>
                    <a:p>
                      <a:pPr>
                        <a:buNone/>
                      </a:pPr>
                      <a:r>
                        <a:rPr lang="en-US" altLang="zh-CN">
                          <a:latin typeface="Times New Roman" panose="02020603050405020304" charset="0"/>
                          <a:cs typeface="Times New Roman" panose="02020603050405020304" charset="0"/>
                        </a:rPr>
                        <a:t>Encryption required</a:t>
                      </a:r>
                      <a:endParaRPr lang="en-US" altLang="zh-CN">
                        <a:latin typeface="Times New Roman" panose="02020603050405020304" charset="0"/>
                        <a:cs typeface="Times New Roman" panose="02020603050405020304" charset="0"/>
                      </a:endParaRPr>
                    </a:p>
                    <a:p>
                      <a:pPr>
                        <a:buNone/>
                      </a:pPr>
                      <a:r>
                        <a:rPr lang="en-US" altLang="zh-CN">
                          <a:latin typeface="Times New Roman" panose="02020603050405020304" charset="0"/>
                          <a:cs typeface="Times New Roman" panose="02020603050405020304" charset="0"/>
                        </a:rPr>
                        <a:t>No encryption required</a:t>
                      </a:r>
                      <a:endParaRPr lang="en-US" altLang="zh-CN">
                        <a:latin typeface="Times New Roman" panose="02020603050405020304" charset="0"/>
                        <a:cs typeface="Times New Roman" panose="02020603050405020304" charset="0"/>
                      </a:endParaRPr>
                    </a:p>
                  </a:txBody>
                  <a:tcPr/>
                </a:tc>
              </a:tr>
              <a:tr h="381000">
                <a:tc>
                  <a:txBody>
                    <a:bodyPr/>
                    <a:p>
                      <a:pPr algn="ctr">
                        <a:buNone/>
                      </a:pPr>
                      <a:r>
                        <a:rPr lang="zh-CN" altLang="en-US" b="1">
                          <a:latin typeface="宋体" panose="02010600030101010101" pitchFamily="2" charset="-122"/>
                          <a:ea typeface="宋体" panose="02010600030101010101" pitchFamily="2" charset="-122"/>
                        </a:rPr>
                        <a:t>认证权限</a:t>
                      </a:r>
                      <a:endParaRPr lang="zh-CN" altLang="en-US" b="1">
                        <a:latin typeface="宋体" panose="02010600030101010101" pitchFamily="2" charset="-122"/>
                        <a:ea typeface="宋体" panose="02010600030101010101" pitchFamily="2" charset="-122"/>
                      </a:endParaRPr>
                    </a:p>
                  </a:txBody>
                  <a:tcPr anchor="ctr" anchorCtr="0"/>
                </a:tc>
                <a:tc>
                  <a:txBody>
                    <a:bodyPr/>
                    <a:p>
                      <a:pPr>
                        <a:buNone/>
                      </a:pPr>
                      <a:r>
                        <a:rPr lang="en-US" altLang="zh-CN">
                          <a:latin typeface="Times New Roman" panose="02020603050405020304" charset="0"/>
                          <a:cs typeface="Times New Roman" panose="02020603050405020304" charset="0"/>
                        </a:rPr>
                        <a:t>Authentication Required</a:t>
                      </a:r>
                      <a:endParaRPr lang="en-US" altLang="zh-CN">
                        <a:latin typeface="Times New Roman" panose="02020603050405020304" charset="0"/>
                        <a:cs typeface="Times New Roman" panose="02020603050405020304" charset="0"/>
                      </a:endParaRPr>
                    </a:p>
                    <a:p>
                      <a:pPr>
                        <a:buNone/>
                      </a:pPr>
                      <a:r>
                        <a:rPr lang="en-US" altLang="zh-CN">
                          <a:latin typeface="Times New Roman" panose="02020603050405020304" charset="0"/>
                          <a:cs typeface="Times New Roman" panose="02020603050405020304" charset="0"/>
                        </a:rPr>
                        <a:t>No Authentication Required</a:t>
                      </a:r>
                      <a:endParaRPr lang="en-US" altLang="zh-CN">
                        <a:latin typeface="Times New Roman" panose="02020603050405020304" charset="0"/>
                        <a:cs typeface="Times New Roman" panose="02020603050405020304" charset="0"/>
                      </a:endParaRPr>
                    </a:p>
                  </a:txBody>
                  <a:tcPr/>
                </a:tc>
              </a:tr>
              <a:tr h="381000">
                <a:tc>
                  <a:txBody>
                    <a:bodyPr/>
                    <a:p>
                      <a:pPr algn="ctr">
                        <a:buNone/>
                      </a:pPr>
                      <a:r>
                        <a:rPr lang="zh-CN" altLang="en-US" b="1">
                          <a:latin typeface="宋体" panose="02010600030101010101" pitchFamily="2" charset="-122"/>
                          <a:ea typeface="宋体" panose="02010600030101010101" pitchFamily="2" charset="-122"/>
                        </a:rPr>
                        <a:t>授权权限</a:t>
                      </a:r>
                      <a:endParaRPr lang="zh-CN" altLang="en-US" b="1">
                        <a:latin typeface="宋体" panose="02010600030101010101" pitchFamily="2" charset="-122"/>
                        <a:ea typeface="宋体" panose="02010600030101010101" pitchFamily="2" charset="-122"/>
                      </a:endParaRPr>
                    </a:p>
                  </a:txBody>
                  <a:tcPr anchor="ctr" anchorCtr="0"/>
                </a:tc>
                <a:tc>
                  <a:txBody>
                    <a:bodyPr/>
                    <a:p>
                      <a:pPr>
                        <a:buNone/>
                      </a:pPr>
                      <a:r>
                        <a:rPr lang="en-US" altLang="zh-CN">
                          <a:latin typeface="Times New Roman" panose="02020603050405020304" charset="0"/>
                          <a:cs typeface="Times New Roman" panose="02020603050405020304" charset="0"/>
                        </a:rPr>
                        <a:t>Authorization Required</a:t>
                      </a:r>
                      <a:endParaRPr lang="en-US" altLang="zh-CN">
                        <a:latin typeface="Times New Roman" panose="02020603050405020304" charset="0"/>
                        <a:cs typeface="Times New Roman" panose="02020603050405020304" charset="0"/>
                      </a:endParaRPr>
                    </a:p>
                    <a:p>
                      <a:pPr>
                        <a:buNone/>
                      </a:pPr>
                      <a:r>
                        <a:rPr lang="en-US" altLang="zh-CN">
                          <a:latin typeface="Times New Roman" panose="02020603050405020304" charset="0"/>
                          <a:cs typeface="Times New Roman" panose="02020603050405020304" charset="0"/>
                        </a:rPr>
                        <a:t>No Authorization Required</a:t>
                      </a:r>
                      <a:endParaRPr lang="en-US" altLang="zh-CN">
                        <a:latin typeface="Times New Roman" panose="02020603050405020304" charset="0"/>
                        <a:cs typeface="Times New Roman" panose="02020603050405020304" charset="0"/>
                      </a:endParaRPr>
                    </a:p>
                  </a:txBody>
                  <a:tcPr/>
                </a:tc>
              </a:tr>
            </a:tbl>
          </a:graphicData>
        </a:graphic>
      </p:graphicFrame>
      <p:graphicFrame>
        <p:nvGraphicFramePr>
          <p:cNvPr id="7" name="表格 6"/>
          <p:cNvGraphicFramePr/>
          <p:nvPr>
            <p:custDataLst>
              <p:tags r:id="rId2"/>
            </p:custDataLst>
          </p:nvPr>
        </p:nvGraphicFramePr>
        <p:xfrm>
          <a:off x="3834765" y="1324610"/>
          <a:ext cx="5008245" cy="3264535"/>
        </p:xfrm>
        <a:graphic>
          <a:graphicData uri="http://schemas.openxmlformats.org/drawingml/2006/table">
            <a:tbl>
              <a:tblPr firstRow="1" bandRow="1">
                <a:tableStyleId>{5C22544A-7EE6-4342-B048-85BDC9FD1C3A}</a:tableStyleId>
              </a:tblPr>
              <a:tblGrid>
                <a:gridCol w="2023745"/>
                <a:gridCol w="895350"/>
                <a:gridCol w="2089150"/>
              </a:tblGrid>
              <a:tr h="328295">
                <a:tc>
                  <a:txBody>
                    <a:bodyPr/>
                    <a:p>
                      <a:pPr algn="ctr">
                        <a:buNone/>
                      </a:pPr>
                      <a:r>
                        <a:rPr lang="zh-CN" altLang="en-US">
                          <a:latin typeface="黑体" panose="02010609060101010101" charset="-122"/>
                          <a:ea typeface="黑体" panose="02010609060101010101" charset="-122"/>
                        </a:rPr>
                        <a:t>特性</a:t>
                      </a:r>
                      <a:endParaRPr lang="zh-CN" altLang="en-US">
                        <a:latin typeface="黑体" panose="02010609060101010101" charset="-122"/>
                        <a:ea typeface="黑体" panose="02010609060101010101" charset="-122"/>
                      </a:endParaRPr>
                    </a:p>
                  </a:txBody>
                  <a:tcPr anchor="ctr" anchorCtr="0">
                    <a:solidFill>
                      <a:schemeClr val="accent2"/>
                    </a:solidFill>
                  </a:tcPr>
                </a:tc>
                <a:tc>
                  <a:txBody>
                    <a:bodyPr/>
                    <a:p>
                      <a:pPr algn="ctr">
                        <a:buNone/>
                      </a:pPr>
                      <a:r>
                        <a:rPr lang="zh-CN" altLang="en-US">
                          <a:latin typeface="黑体" panose="02010609060101010101" charset="-122"/>
                          <a:ea typeface="黑体" panose="02010609060101010101" charset="-122"/>
                        </a:rPr>
                        <a:t>值</a:t>
                      </a:r>
                      <a:endParaRPr lang="zh-CN" altLang="en-US">
                        <a:latin typeface="黑体" panose="02010609060101010101" charset="-122"/>
                        <a:ea typeface="黑体" panose="02010609060101010101" charset="-122"/>
                      </a:endParaRPr>
                    </a:p>
                  </a:txBody>
                  <a:tcPr anchor="ctr" anchorCtr="0">
                    <a:solidFill>
                      <a:schemeClr val="accent2"/>
                    </a:solidFill>
                  </a:tcPr>
                </a:tc>
                <a:tc>
                  <a:txBody>
                    <a:bodyPr/>
                    <a:p>
                      <a:pPr algn="ctr">
                        <a:buNone/>
                      </a:pPr>
                      <a:r>
                        <a:rPr lang="zh-CN" altLang="en-US">
                          <a:latin typeface="黑体" panose="02010609060101010101" charset="-122"/>
                          <a:ea typeface="黑体" panose="02010609060101010101" charset="-122"/>
                        </a:rPr>
                        <a:t>描述</a:t>
                      </a:r>
                      <a:endParaRPr lang="zh-CN" altLang="en-US">
                        <a:latin typeface="黑体" panose="02010609060101010101" charset="-122"/>
                        <a:ea typeface="黑体" panose="02010609060101010101" charset="-122"/>
                      </a:endParaRPr>
                    </a:p>
                  </a:txBody>
                  <a:tcPr anchor="ctr" anchorCtr="0">
                    <a:solidFill>
                      <a:schemeClr val="accent2"/>
                    </a:solidFill>
                  </a:tcPr>
                </a:tc>
              </a:tr>
              <a:tr h="328295">
                <a:tc>
                  <a:txBody>
                    <a:bodyPr/>
                    <a:p>
                      <a:pPr>
                        <a:buNone/>
                      </a:pPr>
                      <a:r>
                        <a:rPr lang="en-US" altLang="zh-CN" b="1">
                          <a:latin typeface="Times New Roman" panose="02020603050405020304" charset="0"/>
                          <a:cs typeface="Times New Roman" panose="02020603050405020304" charset="0"/>
                        </a:rPr>
                        <a:t>Broadcast</a:t>
                      </a:r>
                      <a:endParaRPr lang="en-US" altLang="zh-CN" b="1">
                        <a:latin typeface="Times New Roman" panose="02020603050405020304" charset="0"/>
                        <a:cs typeface="Times New Roman" panose="02020603050405020304" charset="0"/>
                      </a:endParaRPr>
                    </a:p>
                  </a:txBody>
                  <a:tcPr>
                    <a:solidFill>
                      <a:schemeClr val="accent2">
                        <a:lumMod val="40000"/>
                        <a:lumOff val="60000"/>
                      </a:schemeClr>
                    </a:solidFill>
                  </a:tcPr>
                </a:tc>
                <a:tc>
                  <a:txBody>
                    <a:bodyPr/>
                    <a:p>
                      <a:pPr algn="ctr">
                        <a:buNone/>
                      </a:pPr>
                      <a:r>
                        <a:rPr lang="en-US" altLang="zh-CN">
                          <a:latin typeface="Times New Roman" panose="02020603050405020304" charset="0"/>
                          <a:cs typeface="Times New Roman" panose="02020603050405020304" charset="0"/>
                        </a:rPr>
                        <a:t>0x01</a:t>
                      </a:r>
                      <a:endParaRPr lang="en-US" altLang="zh-CN">
                        <a:latin typeface="Times New Roman" panose="02020603050405020304" charset="0"/>
                        <a:cs typeface="Times New Roman" panose="02020603050405020304" charset="0"/>
                      </a:endParaRPr>
                    </a:p>
                  </a:txBody>
                  <a:tcPr anchor="ctr" anchorCtr="0">
                    <a:solidFill>
                      <a:schemeClr val="accent2">
                        <a:lumMod val="40000"/>
                        <a:lumOff val="60000"/>
                      </a:schemeClr>
                    </a:solidFill>
                  </a:tcPr>
                </a:tc>
                <a:tc>
                  <a:txBody>
                    <a:bodyPr/>
                    <a:p>
                      <a:pPr algn="l">
                        <a:buNone/>
                      </a:pPr>
                      <a:r>
                        <a:rPr lang="zh-CN" altLang="en-US">
                          <a:latin typeface="宋体" panose="02010600030101010101" pitchFamily="2" charset="-122"/>
                          <a:ea typeface="宋体" panose="02010600030101010101" pitchFamily="2" charset="-122"/>
                        </a:rPr>
                        <a:t>存在描述符广播特征值</a:t>
                      </a:r>
                      <a:endParaRPr lang="zh-CN" altLang="en-US">
                        <a:latin typeface="宋体" panose="02010600030101010101" pitchFamily="2" charset="-122"/>
                        <a:ea typeface="宋体" panose="02010600030101010101" pitchFamily="2" charset="-122"/>
                      </a:endParaRPr>
                    </a:p>
                  </a:txBody>
                  <a:tcPr anchor="ctr" anchorCtr="0">
                    <a:solidFill>
                      <a:schemeClr val="accent2">
                        <a:lumMod val="40000"/>
                        <a:lumOff val="60000"/>
                      </a:schemeClr>
                    </a:solidFill>
                  </a:tcPr>
                </a:tc>
              </a:tr>
              <a:tr h="328295">
                <a:tc>
                  <a:txBody>
                    <a:bodyPr/>
                    <a:p>
                      <a:pPr>
                        <a:buNone/>
                      </a:pPr>
                      <a:r>
                        <a:rPr lang="en-US" altLang="zh-CN" b="1">
                          <a:latin typeface="Times New Roman" panose="02020603050405020304" charset="0"/>
                          <a:cs typeface="Times New Roman" panose="02020603050405020304" charset="0"/>
                        </a:rPr>
                        <a:t>Read</a:t>
                      </a:r>
                      <a:endParaRPr lang="en-US" altLang="zh-CN" b="1">
                        <a:latin typeface="Times New Roman" panose="02020603050405020304" charset="0"/>
                        <a:cs typeface="Times New Roman" panose="02020603050405020304" charset="0"/>
                      </a:endParaRPr>
                    </a:p>
                  </a:txBody>
                  <a:tcPr>
                    <a:solidFill>
                      <a:schemeClr val="accent2">
                        <a:lumMod val="20000"/>
                        <a:lumOff val="80000"/>
                      </a:schemeClr>
                    </a:solidFill>
                  </a:tcPr>
                </a:tc>
                <a:tc>
                  <a:txBody>
                    <a:bodyPr/>
                    <a:p>
                      <a:pPr algn="ctr">
                        <a:buNone/>
                      </a:pPr>
                      <a:r>
                        <a:rPr lang="en-US" altLang="zh-CN">
                          <a:latin typeface="Times New Roman" panose="02020603050405020304" charset="0"/>
                          <a:cs typeface="Times New Roman" panose="02020603050405020304" charset="0"/>
                        </a:rPr>
                        <a:t>0x02</a:t>
                      </a:r>
                      <a:endParaRPr lang="en-US" altLang="zh-CN">
                        <a:latin typeface="Times New Roman" panose="02020603050405020304" charset="0"/>
                        <a:cs typeface="Times New Roman" panose="02020603050405020304" charset="0"/>
                      </a:endParaRPr>
                    </a:p>
                  </a:txBody>
                  <a:tcPr anchor="ctr" anchorCtr="0">
                    <a:solidFill>
                      <a:schemeClr val="accent2">
                        <a:lumMod val="20000"/>
                        <a:lumOff val="80000"/>
                      </a:schemeClr>
                    </a:solidFill>
                  </a:tcPr>
                </a:tc>
                <a:tc>
                  <a:txBody>
                    <a:bodyPr/>
                    <a:p>
                      <a:pPr algn="l">
                        <a:buNone/>
                      </a:pPr>
                      <a:r>
                        <a:rPr lang="zh-CN" altLang="en-US">
                          <a:latin typeface="宋体" panose="02010600030101010101" pitchFamily="2" charset="-122"/>
                          <a:ea typeface="宋体" panose="02010600030101010101" pitchFamily="2" charset="-122"/>
                        </a:rPr>
                        <a:t>允许读</a:t>
                      </a:r>
                      <a:r>
                        <a:rPr lang="zh-CN" altLang="en-US">
                          <a:latin typeface="宋体" panose="02010600030101010101" pitchFamily="2" charset="-122"/>
                          <a:ea typeface="宋体" panose="02010600030101010101" pitchFamily="2" charset="-122"/>
                        </a:rPr>
                        <a:t>特征值</a:t>
                      </a:r>
                      <a:endParaRPr lang="zh-CN" altLang="en-US">
                        <a:latin typeface="宋体" panose="02010600030101010101" pitchFamily="2" charset="-122"/>
                        <a:ea typeface="宋体" panose="02010600030101010101" pitchFamily="2" charset="-122"/>
                      </a:endParaRPr>
                    </a:p>
                  </a:txBody>
                  <a:tcPr anchor="ctr" anchorCtr="0">
                    <a:solidFill>
                      <a:schemeClr val="accent2">
                        <a:lumMod val="20000"/>
                        <a:lumOff val="80000"/>
                      </a:schemeClr>
                    </a:solidFill>
                  </a:tcPr>
                </a:tc>
              </a:tr>
              <a:tr h="502920">
                <a:tc>
                  <a:txBody>
                    <a:bodyPr/>
                    <a:p>
                      <a:pPr>
                        <a:buNone/>
                      </a:pPr>
                      <a:r>
                        <a:rPr lang="en-US" altLang="zh-CN" b="1">
                          <a:latin typeface="Times New Roman" panose="02020603050405020304" charset="0"/>
                          <a:cs typeface="Times New Roman" panose="02020603050405020304" charset="0"/>
                        </a:rPr>
                        <a:t>Write Without Response</a:t>
                      </a:r>
                      <a:endParaRPr lang="en-US" altLang="zh-CN" b="1">
                        <a:latin typeface="Times New Roman" panose="02020603050405020304" charset="0"/>
                        <a:cs typeface="Times New Roman" panose="02020603050405020304" charset="0"/>
                      </a:endParaRPr>
                    </a:p>
                  </a:txBody>
                  <a:tcPr>
                    <a:solidFill>
                      <a:schemeClr val="accent2">
                        <a:lumMod val="40000"/>
                        <a:lumOff val="60000"/>
                      </a:schemeClr>
                    </a:solidFill>
                  </a:tcPr>
                </a:tc>
                <a:tc>
                  <a:txBody>
                    <a:bodyPr/>
                    <a:p>
                      <a:pPr algn="ctr">
                        <a:buNone/>
                      </a:pPr>
                      <a:r>
                        <a:rPr lang="en-US" altLang="zh-CN">
                          <a:latin typeface="Times New Roman" panose="02020603050405020304" charset="0"/>
                          <a:cs typeface="Times New Roman" panose="02020603050405020304" charset="0"/>
                        </a:rPr>
                        <a:t>0x04</a:t>
                      </a:r>
                      <a:endParaRPr lang="en-US" altLang="zh-CN">
                        <a:latin typeface="Times New Roman" panose="02020603050405020304" charset="0"/>
                        <a:cs typeface="Times New Roman" panose="02020603050405020304" charset="0"/>
                      </a:endParaRPr>
                    </a:p>
                  </a:txBody>
                  <a:tcPr anchor="ctr" anchorCtr="0">
                    <a:solidFill>
                      <a:schemeClr val="accent2">
                        <a:lumMod val="40000"/>
                        <a:lumOff val="60000"/>
                      </a:schemeClr>
                    </a:solidFill>
                  </a:tcPr>
                </a:tc>
                <a:tc>
                  <a:txBody>
                    <a:bodyPr/>
                    <a:p>
                      <a:pPr algn="l">
                        <a:buNone/>
                      </a:pPr>
                      <a:r>
                        <a:rPr lang="zh-CN" altLang="en-US">
                          <a:latin typeface="宋体" panose="02010600030101010101" pitchFamily="2" charset="-122"/>
                          <a:ea typeface="宋体" panose="02010600030101010101" pitchFamily="2" charset="-122"/>
                        </a:rPr>
                        <a:t>无回复写</a:t>
                      </a:r>
                      <a:r>
                        <a:rPr lang="zh-CN" altLang="en-US">
                          <a:latin typeface="宋体" panose="02010600030101010101" pitchFamily="2" charset="-122"/>
                          <a:ea typeface="宋体" panose="02010600030101010101" pitchFamily="2" charset="-122"/>
                        </a:rPr>
                        <a:t>特征值</a:t>
                      </a:r>
                      <a:endParaRPr lang="zh-CN" altLang="en-US">
                        <a:latin typeface="宋体" panose="02010600030101010101" pitchFamily="2" charset="-122"/>
                        <a:ea typeface="宋体" panose="02010600030101010101" pitchFamily="2" charset="-122"/>
                      </a:endParaRPr>
                    </a:p>
                  </a:txBody>
                  <a:tcPr anchor="ctr" anchorCtr="0">
                    <a:solidFill>
                      <a:schemeClr val="accent2">
                        <a:lumMod val="40000"/>
                        <a:lumOff val="60000"/>
                      </a:schemeClr>
                    </a:solidFill>
                  </a:tcPr>
                </a:tc>
              </a:tr>
              <a:tr h="328295">
                <a:tc>
                  <a:txBody>
                    <a:bodyPr/>
                    <a:p>
                      <a:pPr>
                        <a:buNone/>
                      </a:pPr>
                      <a:r>
                        <a:rPr lang="en-US" altLang="zh-CN" b="1">
                          <a:latin typeface="Times New Roman" panose="02020603050405020304" charset="0"/>
                          <a:cs typeface="Times New Roman" panose="02020603050405020304" charset="0"/>
                        </a:rPr>
                        <a:t>Write</a:t>
                      </a:r>
                      <a:endParaRPr lang="en-US" altLang="zh-CN" b="1">
                        <a:latin typeface="Times New Roman" panose="02020603050405020304" charset="0"/>
                        <a:cs typeface="Times New Roman" panose="02020603050405020304" charset="0"/>
                      </a:endParaRPr>
                    </a:p>
                  </a:txBody>
                  <a:tcPr>
                    <a:solidFill>
                      <a:schemeClr val="accent2">
                        <a:lumMod val="20000"/>
                        <a:lumOff val="80000"/>
                      </a:schemeClr>
                    </a:solidFill>
                  </a:tcPr>
                </a:tc>
                <a:tc>
                  <a:txBody>
                    <a:bodyPr/>
                    <a:p>
                      <a:pPr algn="ctr">
                        <a:buNone/>
                      </a:pPr>
                      <a:r>
                        <a:rPr lang="en-US" altLang="zh-CN">
                          <a:latin typeface="Times New Roman" panose="02020603050405020304" charset="0"/>
                          <a:cs typeface="Times New Roman" panose="02020603050405020304" charset="0"/>
                        </a:rPr>
                        <a:t>0x08</a:t>
                      </a:r>
                      <a:endParaRPr lang="en-US" altLang="zh-CN">
                        <a:latin typeface="Times New Roman" panose="02020603050405020304" charset="0"/>
                        <a:cs typeface="Times New Roman" panose="02020603050405020304" charset="0"/>
                      </a:endParaRPr>
                    </a:p>
                  </a:txBody>
                  <a:tcPr anchor="ctr" anchorCtr="0">
                    <a:solidFill>
                      <a:schemeClr val="accent2">
                        <a:lumMod val="20000"/>
                        <a:lumOff val="80000"/>
                      </a:schemeClr>
                    </a:solidFill>
                  </a:tcPr>
                </a:tc>
                <a:tc>
                  <a:txBody>
                    <a:bodyPr/>
                    <a:p>
                      <a:pPr algn="l">
                        <a:buNone/>
                      </a:pPr>
                      <a:r>
                        <a:rPr lang="zh-CN" altLang="en-US">
                          <a:latin typeface="宋体" panose="02010600030101010101" pitchFamily="2" charset="-122"/>
                          <a:ea typeface="宋体" panose="02010600030101010101" pitchFamily="2" charset="-122"/>
                        </a:rPr>
                        <a:t>有回复写</a:t>
                      </a:r>
                      <a:r>
                        <a:rPr lang="zh-CN" altLang="en-US">
                          <a:latin typeface="宋体" panose="02010600030101010101" pitchFamily="2" charset="-122"/>
                          <a:ea typeface="宋体" panose="02010600030101010101" pitchFamily="2" charset="-122"/>
                        </a:rPr>
                        <a:t>特征值</a:t>
                      </a:r>
                      <a:endParaRPr lang="zh-CN" altLang="en-US">
                        <a:latin typeface="宋体" panose="02010600030101010101" pitchFamily="2" charset="-122"/>
                        <a:ea typeface="宋体" panose="02010600030101010101" pitchFamily="2" charset="-122"/>
                      </a:endParaRPr>
                    </a:p>
                  </a:txBody>
                  <a:tcPr anchor="ctr" anchorCtr="0">
                    <a:solidFill>
                      <a:schemeClr val="accent2">
                        <a:lumMod val="20000"/>
                        <a:lumOff val="80000"/>
                      </a:schemeClr>
                    </a:solidFill>
                  </a:tcPr>
                </a:tc>
              </a:tr>
              <a:tr h="328295">
                <a:tc>
                  <a:txBody>
                    <a:bodyPr/>
                    <a:p>
                      <a:pPr>
                        <a:buNone/>
                      </a:pPr>
                      <a:r>
                        <a:rPr lang="en-US" altLang="zh-CN" b="1">
                          <a:latin typeface="Times New Roman" panose="02020603050405020304" charset="0"/>
                          <a:cs typeface="Times New Roman" panose="02020603050405020304" charset="0"/>
                        </a:rPr>
                        <a:t>Notify</a:t>
                      </a:r>
                      <a:endParaRPr lang="en-US" altLang="zh-CN" b="1">
                        <a:latin typeface="Times New Roman" panose="02020603050405020304" charset="0"/>
                        <a:cs typeface="Times New Roman" panose="02020603050405020304" charset="0"/>
                      </a:endParaRPr>
                    </a:p>
                  </a:txBody>
                  <a:tcPr>
                    <a:solidFill>
                      <a:schemeClr val="accent2">
                        <a:lumMod val="40000"/>
                        <a:lumOff val="60000"/>
                      </a:schemeClr>
                    </a:solidFill>
                  </a:tcPr>
                </a:tc>
                <a:tc>
                  <a:txBody>
                    <a:bodyPr/>
                    <a:p>
                      <a:pPr algn="ctr">
                        <a:buNone/>
                      </a:pPr>
                      <a:r>
                        <a:rPr lang="en-US" altLang="zh-CN">
                          <a:latin typeface="Times New Roman" panose="02020603050405020304" charset="0"/>
                          <a:cs typeface="Times New Roman" panose="02020603050405020304" charset="0"/>
                        </a:rPr>
                        <a:t>0x10</a:t>
                      </a:r>
                      <a:endParaRPr lang="en-US" altLang="zh-CN">
                        <a:latin typeface="Times New Roman" panose="02020603050405020304" charset="0"/>
                        <a:cs typeface="Times New Roman" panose="02020603050405020304" charset="0"/>
                      </a:endParaRPr>
                    </a:p>
                  </a:txBody>
                  <a:tcPr anchor="ctr" anchorCtr="0">
                    <a:solidFill>
                      <a:schemeClr val="accent2">
                        <a:lumMod val="40000"/>
                        <a:lumOff val="60000"/>
                      </a:schemeClr>
                    </a:solidFill>
                  </a:tcPr>
                </a:tc>
                <a:tc>
                  <a:txBody>
                    <a:bodyPr/>
                    <a:p>
                      <a:pPr algn="l">
                        <a:buNone/>
                      </a:pPr>
                      <a:r>
                        <a:rPr lang="zh-CN" altLang="en-US">
                          <a:latin typeface="宋体" panose="02010600030101010101" pitchFamily="2" charset="-122"/>
                          <a:ea typeface="宋体" panose="02010600030101010101" pitchFamily="2" charset="-122"/>
                        </a:rPr>
                        <a:t>不需确认</a:t>
                      </a:r>
                      <a:r>
                        <a:rPr lang="zh-CN" altLang="en-US">
                          <a:latin typeface="宋体" panose="02010600030101010101" pitchFamily="2" charset="-122"/>
                          <a:ea typeface="宋体" panose="02010600030101010101" pitchFamily="2" charset="-122"/>
                        </a:rPr>
                        <a:t>通知特征值</a:t>
                      </a:r>
                      <a:endParaRPr lang="zh-CN" altLang="en-US">
                        <a:latin typeface="宋体" panose="02010600030101010101" pitchFamily="2" charset="-122"/>
                        <a:ea typeface="宋体" panose="02010600030101010101" pitchFamily="2" charset="-122"/>
                      </a:endParaRPr>
                    </a:p>
                  </a:txBody>
                  <a:tcPr anchor="ctr" anchorCtr="0">
                    <a:solidFill>
                      <a:schemeClr val="accent2">
                        <a:lumMod val="40000"/>
                        <a:lumOff val="60000"/>
                      </a:schemeClr>
                    </a:solidFill>
                  </a:tcPr>
                </a:tc>
              </a:tr>
              <a:tr h="303530">
                <a:tc>
                  <a:txBody>
                    <a:bodyPr/>
                    <a:p>
                      <a:pPr>
                        <a:buNone/>
                      </a:pPr>
                      <a:r>
                        <a:rPr lang="en-US" altLang="zh-CN" b="1">
                          <a:latin typeface="Times New Roman" panose="02020603050405020304" charset="0"/>
                          <a:cs typeface="Times New Roman" panose="02020603050405020304" charset="0"/>
                        </a:rPr>
                        <a:t>Indicate</a:t>
                      </a:r>
                      <a:endParaRPr lang="en-US" altLang="zh-CN" b="1">
                        <a:latin typeface="Times New Roman" panose="02020603050405020304" charset="0"/>
                        <a:cs typeface="Times New Roman" panose="02020603050405020304" charset="0"/>
                      </a:endParaRPr>
                    </a:p>
                  </a:txBody>
                  <a:tcPr>
                    <a:solidFill>
                      <a:schemeClr val="accent2">
                        <a:lumMod val="20000"/>
                        <a:lumOff val="80000"/>
                      </a:schemeClr>
                    </a:solidFill>
                  </a:tcPr>
                </a:tc>
                <a:tc>
                  <a:txBody>
                    <a:bodyPr/>
                    <a:p>
                      <a:pPr algn="ctr">
                        <a:buNone/>
                      </a:pPr>
                      <a:r>
                        <a:rPr lang="en-US" altLang="zh-CN">
                          <a:latin typeface="Times New Roman" panose="02020603050405020304" charset="0"/>
                          <a:cs typeface="Times New Roman" panose="02020603050405020304" charset="0"/>
                        </a:rPr>
                        <a:t>0x20</a:t>
                      </a:r>
                      <a:endParaRPr lang="en-US" altLang="zh-CN">
                        <a:latin typeface="Times New Roman" panose="02020603050405020304" charset="0"/>
                        <a:cs typeface="Times New Roman" panose="02020603050405020304" charset="0"/>
                      </a:endParaRPr>
                    </a:p>
                  </a:txBody>
                  <a:tcPr anchor="ctr" anchorCtr="0">
                    <a:solidFill>
                      <a:schemeClr val="accent2">
                        <a:lumMod val="20000"/>
                        <a:lumOff val="80000"/>
                      </a:schemeClr>
                    </a:solidFill>
                  </a:tcPr>
                </a:tc>
                <a:tc>
                  <a:txBody>
                    <a:bodyPr/>
                    <a:p>
                      <a:pPr algn="l">
                        <a:buNone/>
                      </a:pPr>
                      <a:r>
                        <a:rPr lang="zh-CN" altLang="en-US">
                          <a:latin typeface="宋体" panose="02010600030101010101" pitchFamily="2" charset="-122"/>
                          <a:ea typeface="宋体" panose="02010600030101010101" pitchFamily="2" charset="-122"/>
                        </a:rPr>
                        <a:t>需要确认的特征值</a:t>
                      </a:r>
                      <a:r>
                        <a:rPr lang="zh-CN" altLang="en-US">
                          <a:latin typeface="宋体" panose="02010600030101010101" pitchFamily="2" charset="-122"/>
                          <a:ea typeface="宋体" panose="02010600030101010101" pitchFamily="2" charset="-122"/>
                        </a:rPr>
                        <a:t>指示</a:t>
                      </a:r>
                      <a:endParaRPr lang="zh-CN" altLang="en-US">
                        <a:latin typeface="宋体" panose="02010600030101010101" pitchFamily="2" charset="-122"/>
                        <a:ea typeface="宋体" panose="02010600030101010101" pitchFamily="2" charset="-122"/>
                      </a:endParaRPr>
                    </a:p>
                  </a:txBody>
                  <a:tcPr anchor="ctr" anchorCtr="0">
                    <a:solidFill>
                      <a:schemeClr val="accent2">
                        <a:lumMod val="20000"/>
                        <a:lumOff val="80000"/>
                      </a:schemeClr>
                    </a:solidFill>
                  </a:tcPr>
                </a:tc>
              </a:tr>
              <a:tr h="502920">
                <a:tc>
                  <a:txBody>
                    <a:bodyPr/>
                    <a:p>
                      <a:pPr>
                        <a:buNone/>
                      </a:pPr>
                      <a:r>
                        <a:rPr lang="en-US" altLang="zh-CN" b="1">
                          <a:latin typeface="Times New Roman" panose="02020603050405020304" charset="0"/>
                          <a:cs typeface="Times New Roman" panose="02020603050405020304" charset="0"/>
                        </a:rPr>
                        <a:t>Authenticated Signed Writes</a:t>
                      </a:r>
                      <a:endParaRPr lang="en-US" altLang="zh-CN" b="1">
                        <a:latin typeface="Times New Roman" panose="02020603050405020304" charset="0"/>
                        <a:cs typeface="Times New Roman" panose="02020603050405020304" charset="0"/>
                      </a:endParaRPr>
                    </a:p>
                  </a:txBody>
                  <a:tcPr>
                    <a:solidFill>
                      <a:schemeClr val="accent2">
                        <a:lumMod val="40000"/>
                        <a:lumOff val="60000"/>
                      </a:schemeClr>
                    </a:solidFill>
                  </a:tcPr>
                </a:tc>
                <a:tc>
                  <a:txBody>
                    <a:bodyPr/>
                    <a:p>
                      <a:pPr algn="ctr">
                        <a:buNone/>
                      </a:pPr>
                      <a:r>
                        <a:rPr lang="en-US" altLang="zh-CN">
                          <a:latin typeface="Times New Roman" panose="02020603050405020304" charset="0"/>
                          <a:cs typeface="Times New Roman" panose="02020603050405020304" charset="0"/>
                        </a:rPr>
                        <a:t>0x40</a:t>
                      </a:r>
                      <a:endParaRPr lang="en-US" altLang="zh-CN">
                        <a:latin typeface="Times New Roman" panose="02020603050405020304" charset="0"/>
                        <a:cs typeface="Times New Roman" panose="02020603050405020304" charset="0"/>
                      </a:endParaRPr>
                    </a:p>
                  </a:txBody>
                  <a:tcPr anchor="ctr" anchorCtr="0">
                    <a:solidFill>
                      <a:schemeClr val="accent2">
                        <a:lumMod val="40000"/>
                        <a:lumOff val="60000"/>
                      </a:schemeClr>
                    </a:solidFill>
                  </a:tcPr>
                </a:tc>
                <a:tc>
                  <a:txBody>
                    <a:bodyPr/>
                    <a:p>
                      <a:pPr algn="l">
                        <a:buNone/>
                      </a:pPr>
                      <a:r>
                        <a:rPr lang="zh-CN" altLang="en-US">
                          <a:latin typeface="宋体" panose="02010600030101010101" pitchFamily="2" charset="-122"/>
                          <a:ea typeface="宋体" panose="02010600030101010101" pitchFamily="2" charset="-122"/>
                        </a:rPr>
                        <a:t>对特征值进行签名写入</a:t>
                      </a:r>
                      <a:endParaRPr lang="zh-CN" altLang="en-US">
                        <a:latin typeface="宋体" panose="02010600030101010101" pitchFamily="2" charset="-122"/>
                        <a:ea typeface="宋体" panose="02010600030101010101" pitchFamily="2" charset="-122"/>
                      </a:endParaRPr>
                    </a:p>
                  </a:txBody>
                  <a:tcPr anchor="ctr" anchorCtr="0">
                    <a:solidFill>
                      <a:schemeClr val="accent2">
                        <a:lumMod val="40000"/>
                        <a:lumOff val="60000"/>
                      </a:schemeClr>
                    </a:solidFill>
                  </a:tcPr>
                </a:tc>
              </a:tr>
              <a:tr h="313690">
                <a:tc>
                  <a:txBody>
                    <a:bodyPr/>
                    <a:p>
                      <a:pPr>
                        <a:buNone/>
                      </a:pPr>
                      <a:r>
                        <a:rPr lang="en-US" altLang="zh-CN" b="1">
                          <a:latin typeface="Times New Roman" panose="02020603050405020304" charset="0"/>
                          <a:cs typeface="Times New Roman" panose="02020603050405020304" charset="0"/>
                        </a:rPr>
                        <a:t>Extended Properties</a:t>
                      </a:r>
                      <a:endParaRPr lang="en-US" altLang="zh-CN" b="1">
                        <a:latin typeface="Times New Roman" panose="02020603050405020304" charset="0"/>
                        <a:cs typeface="Times New Roman" panose="02020603050405020304" charset="0"/>
                      </a:endParaRPr>
                    </a:p>
                  </a:txBody>
                  <a:tcPr>
                    <a:solidFill>
                      <a:schemeClr val="accent2">
                        <a:lumMod val="20000"/>
                        <a:lumOff val="80000"/>
                      </a:schemeClr>
                    </a:solidFill>
                  </a:tcPr>
                </a:tc>
                <a:tc>
                  <a:txBody>
                    <a:bodyPr/>
                    <a:p>
                      <a:pPr algn="ctr">
                        <a:buNone/>
                      </a:pPr>
                      <a:r>
                        <a:rPr lang="en-US" altLang="zh-CN">
                          <a:latin typeface="Times New Roman" panose="02020603050405020304" charset="0"/>
                          <a:cs typeface="Times New Roman" panose="02020603050405020304" charset="0"/>
                        </a:rPr>
                        <a:t>0x80</a:t>
                      </a:r>
                      <a:endParaRPr lang="en-US" altLang="zh-CN">
                        <a:latin typeface="Times New Roman" panose="02020603050405020304" charset="0"/>
                        <a:cs typeface="Times New Roman" panose="02020603050405020304" charset="0"/>
                      </a:endParaRPr>
                    </a:p>
                  </a:txBody>
                  <a:tcPr anchor="ctr" anchorCtr="0">
                    <a:solidFill>
                      <a:schemeClr val="accent2">
                        <a:lumMod val="20000"/>
                        <a:lumOff val="80000"/>
                      </a:schemeClr>
                    </a:solidFill>
                  </a:tcPr>
                </a:tc>
                <a:tc>
                  <a:txBody>
                    <a:bodyPr/>
                    <a:p>
                      <a:pPr algn="l">
                        <a:buNone/>
                      </a:pPr>
                      <a:r>
                        <a:rPr lang="zh-CN" altLang="en-US">
                          <a:latin typeface="宋体" panose="02010600030101010101" pitchFamily="2" charset="-122"/>
                          <a:ea typeface="宋体" panose="02010600030101010101" pitchFamily="2" charset="-122"/>
                        </a:rPr>
                        <a:t>存在扩展属性描述符</a:t>
                      </a:r>
                      <a:endParaRPr lang="zh-CN" altLang="en-US">
                        <a:latin typeface="宋体" panose="02010600030101010101" pitchFamily="2" charset="-122"/>
                        <a:ea typeface="宋体" panose="02010600030101010101" pitchFamily="2" charset="-122"/>
                      </a:endParaRPr>
                    </a:p>
                  </a:txBody>
                  <a:tcPr anchor="ctr" anchorCtr="0">
                    <a:solidFill>
                      <a:schemeClr val="accent2">
                        <a:lumMod val="20000"/>
                        <a:lumOff val="80000"/>
                      </a:schemeClr>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PART 04</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9" name="组合 8"/>
          <p:cNvGrpSpPr/>
          <p:nvPr/>
        </p:nvGrpSpPr>
        <p:grpSpPr>
          <a:xfrm>
            <a:off x="1203325" y="1275715"/>
            <a:ext cx="6307590" cy="2503805"/>
            <a:chOff x="3272" y="3874"/>
            <a:chExt cx="12612" cy="4373"/>
          </a:xfrm>
        </p:grpSpPr>
        <p:pic>
          <p:nvPicPr>
            <p:cNvPr id="10" name="图片 9" descr="图形用户界面, 应用程序&#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38" y="3874"/>
              <a:ext cx="6546" cy="4373"/>
            </a:xfrm>
            <a:prstGeom prst="rect">
              <a:avLst/>
            </a:prstGeom>
          </p:spPr>
        </p:pic>
        <p:sp>
          <p:nvSpPr>
            <p:cNvPr id="11" name="圆角矩形 10"/>
            <p:cNvSpPr/>
            <p:nvPr/>
          </p:nvSpPr>
          <p:spPr>
            <a:xfrm>
              <a:off x="3272" y="7403"/>
              <a:ext cx="1134" cy="7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endParaRPr lang="zh-CN" altLang="en-US" sz="600"/>
            </a:p>
          </p:txBody>
        </p:sp>
        <p:sp>
          <p:nvSpPr>
            <p:cNvPr id="12" name="文本框 11"/>
            <p:cNvSpPr txBox="1"/>
            <p:nvPr/>
          </p:nvSpPr>
          <p:spPr>
            <a:xfrm>
              <a:off x="3272" y="5709"/>
              <a:ext cx="6666" cy="1581"/>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rPr>
                <a:t>SMP</a:t>
              </a:r>
              <a:endPar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endParaRPr>
            </a:p>
          </p:txBody>
        </p:sp>
        <p:sp>
          <p:nvSpPr>
            <p:cNvPr id="13" name="矩形 12"/>
            <p:cNvSpPr/>
            <p:nvPr/>
          </p:nvSpPr>
          <p:spPr>
            <a:xfrm>
              <a:off x="3272" y="7642"/>
              <a:ext cx="5019" cy="4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安全管理器</a:t>
              </a:r>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协议</a:t>
              </a:r>
              <a:endPar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14" name="文本框 13"/>
            <p:cNvSpPr txBox="1"/>
            <p:nvPr/>
          </p:nvSpPr>
          <p:spPr>
            <a:xfrm>
              <a:off x="3272" y="4070"/>
              <a:ext cx="2915" cy="1888"/>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rPr>
                <a:t>04</a:t>
              </a:r>
              <a:endPar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pic>
          <p:nvPicPr>
            <p:cNvPr id="15" name="图片 14" descr="图片包含 图标&#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431409">
              <a:off x="13750" y="4000"/>
              <a:ext cx="1158" cy="491"/>
            </a:xfrm>
            <a:prstGeom prst="rect">
              <a:avLst/>
            </a:prstGeom>
          </p:spPr>
        </p:pic>
        <p:pic>
          <p:nvPicPr>
            <p:cNvPr id="16" name="图片 15" descr="形状&#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8" y="5085"/>
              <a:ext cx="264" cy="252"/>
            </a:xfrm>
            <a:prstGeom prst="rect">
              <a:avLst/>
            </a:prstGeom>
          </p:spPr>
        </p:pic>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 y="4497"/>
              <a:ext cx="193" cy="185"/>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SM</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4" name="矩形 3"/>
          <p:cNvSpPr/>
          <p:nvPr/>
        </p:nvSpPr>
        <p:spPr>
          <a:xfrm>
            <a:off x="4298950" y="1672973"/>
            <a:ext cx="660400" cy="89807"/>
          </a:xfrm>
          <a:prstGeom prst="rect">
            <a:avLst/>
          </a:prstGeom>
          <a:solidFill>
            <a:schemeClr val="accent3"/>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4400"/>
            <a:endParaRPr lang="en-GB" sz="2000" b="1">
              <a:solidFill>
                <a:schemeClr val="bg1"/>
              </a:solidFill>
            </a:endParaRPr>
          </a:p>
        </p:txBody>
      </p:sp>
      <p:grpSp>
        <p:nvGrpSpPr>
          <p:cNvPr id="11" name="组合 10"/>
          <p:cNvGrpSpPr/>
          <p:nvPr/>
        </p:nvGrpSpPr>
        <p:grpSpPr>
          <a:xfrm>
            <a:off x="694137" y="1698580"/>
            <a:ext cx="7869555" cy="2982640"/>
            <a:chOff x="1560" y="4025"/>
            <a:chExt cx="16080" cy="5295"/>
          </a:xfrm>
        </p:grpSpPr>
        <p:sp>
          <p:nvSpPr>
            <p:cNvPr id="39" name="剪去对角的矩形 38"/>
            <p:cNvSpPr/>
            <p:nvPr/>
          </p:nvSpPr>
          <p:spPr>
            <a:xfrm>
              <a:off x="1560" y="5060"/>
              <a:ext cx="16080" cy="3462"/>
            </a:xfrm>
            <a:prstGeom prst="snip2DiagRect">
              <a:avLst/>
            </a:prstGeom>
            <a:solidFill>
              <a:schemeClr val="bg1"/>
            </a:solid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cxnSp>
          <p:nvCxnSpPr>
            <p:cNvPr id="19" name="直接连接符 18"/>
            <p:cNvCxnSpPr/>
            <p:nvPr/>
          </p:nvCxnSpPr>
          <p:spPr>
            <a:xfrm>
              <a:off x="3871" y="5993"/>
              <a:ext cx="347" cy="0"/>
            </a:xfrm>
            <a:prstGeom prst="line">
              <a:avLst/>
            </a:prstGeom>
            <a:ln w="34925" cap="rnd">
              <a:solidFill>
                <a:schemeClr val="accent4"/>
              </a:solidFill>
              <a:roun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2677" y="5303"/>
              <a:ext cx="2945" cy="546"/>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zh-CN" altLang="en-US" sz="2000" dirty="0">
                  <a:solidFill>
                    <a:schemeClr val="tx1">
                      <a:lumMod val="85000"/>
                      <a:lumOff val="15000"/>
                    </a:schemeClr>
                  </a:solidFill>
                  <a:latin typeface="OPPOSans B" panose="00020600040101010101" pitchFamily="18" charset="-122"/>
                  <a:ea typeface="OPPOSans B" panose="00020600040101010101" pitchFamily="18" charset="-122"/>
                  <a:cs typeface="OPPOSans B" panose="00020600040101010101" pitchFamily="18" charset="-122"/>
                </a:rPr>
                <a:t>是什么？</a:t>
              </a:r>
              <a:endParaRPr lang="zh-CN" altLang="en-US" sz="2000" dirty="0">
                <a:solidFill>
                  <a:schemeClr val="tx1">
                    <a:lumMod val="85000"/>
                    <a:lumOff val="15000"/>
                  </a:schemeClr>
                </a:solidFill>
                <a:latin typeface="OPPOSans B" panose="00020600040101010101" pitchFamily="18" charset="-122"/>
                <a:ea typeface="OPPOSans B" panose="00020600040101010101" pitchFamily="18" charset="-122"/>
                <a:cs typeface="OPPOSans B" panose="00020600040101010101" pitchFamily="18" charset="-122"/>
              </a:endParaRPr>
            </a:p>
          </p:txBody>
        </p:sp>
        <p:pic>
          <p:nvPicPr>
            <p:cNvPr id="5" name="图片 4" descr="图标&#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11" y="4025"/>
              <a:ext cx="1065" cy="981"/>
            </a:xfrm>
            <a:prstGeom prst="rect">
              <a:avLst/>
            </a:prstGeom>
          </p:spPr>
        </p:pic>
        <p:cxnSp>
          <p:nvCxnSpPr>
            <p:cNvPr id="22" name="直接连接符 21"/>
            <p:cNvCxnSpPr/>
            <p:nvPr/>
          </p:nvCxnSpPr>
          <p:spPr>
            <a:xfrm>
              <a:off x="14624" y="5972"/>
              <a:ext cx="347" cy="0"/>
            </a:xfrm>
            <a:prstGeom prst="line">
              <a:avLst/>
            </a:prstGeom>
            <a:ln w="34925" cap="rnd">
              <a:solidFill>
                <a:schemeClr val="accent4"/>
              </a:solidFill>
              <a:round/>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13324" y="5293"/>
              <a:ext cx="2945" cy="546"/>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zh-CN" altLang="en-US" sz="2000" dirty="0">
                  <a:solidFill>
                    <a:schemeClr val="tx1">
                      <a:lumMod val="85000"/>
                      <a:lumOff val="15000"/>
                    </a:schemeClr>
                  </a:solidFill>
                  <a:latin typeface="OPPOSans B" panose="00020600040101010101" pitchFamily="18" charset="-122"/>
                  <a:ea typeface="OPPOSans B" panose="00020600040101010101" pitchFamily="18" charset="-122"/>
                  <a:cs typeface="OPPOSans B" panose="00020600040101010101" pitchFamily="18" charset="-122"/>
                </a:rPr>
                <a:t>功能</a:t>
              </a:r>
              <a:endParaRPr lang="zh-CN" altLang="en-US" sz="2000" dirty="0">
                <a:solidFill>
                  <a:schemeClr val="tx1">
                    <a:lumMod val="85000"/>
                    <a:lumOff val="15000"/>
                  </a:schemeClr>
                </a:solidFill>
                <a:latin typeface="OPPOSans B" panose="00020600040101010101" pitchFamily="18" charset="-122"/>
                <a:ea typeface="OPPOSans B" panose="00020600040101010101" pitchFamily="18" charset="-122"/>
                <a:cs typeface="OPPOSans B" panose="00020600040101010101" pitchFamily="18" charset="-122"/>
              </a:endParaRPr>
            </a:p>
          </p:txBody>
        </p:sp>
        <p:pic>
          <p:nvPicPr>
            <p:cNvPr id="53" name="图片 52" descr="图标&#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64" y="4025"/>
              <a:ext cx="1065" cy="981"/>
            </a:xfrm>
            <a:prstGeom prst="rect">
              <a:avLst/>
            </a:prstGeom>
          </p:spPr>
        </p:pic>
        <p:pic>
          <p:nvPicPr>
            <p:cNvPr id="61" name="图片 60" descr="卡通人物&#10;&#10;中度可信度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9" y="4290"/>
              <a:ext cx="7742" cy="5030"/>
            </a:xfrm>
            <a:prstGeom prst="rect">
              <a:avLst/>
            </a:prstGeom>
          </p:spPr>
        </p:pic>
      </p:grpSp>
      <p:sp>
        <p:nvSpPr>
          <p:cNvPr id="7" name="文本框 6"/>
          <p:cNvSpPr txBox="1"/>
          <p:nvPr/>
        </p:nvSpPr>
        <p:spPr>
          <a:xfrm>
            <a:off x="2226727" y="662163"/>
            <a:ext cx="4804847" cy="492125"/>
          </a:xfrm>
          <a:prstGeom prst="rect">
            <a:avLst/>
          </a:prstGeom>
          <a:noFill/>
        </p:spPr>
        <p:txBody>
          <a:bodyPr wrap="square" lIns="0" tIns="0" rIns="0" bIns="0">
            <a:spAutoFit/>
          </a:bodyPr>
          <a:lstStyle>
            <a:defPPr>
              <a:defRPr lang="zh-CN"/>
            </a:defPPr>
            <a:lvl1pPr marR="0" lvl="0" indent="0" fontAlgn="auto">
              <a:lnSpc>
                <a:spcPct val="100000"/>
              </a:lnSpc>
              <a:spcBef>
                <a:spcPts val="0"/>
              </a:spcBef>
              <a:spcAft>
                <a:spcPts val="0"/>
              </a:spcAft>
              <a:buClrTx/>
              <a:buSzTx/>
              <a:buFontTx/>
              <a:buNone/>
              <a:defRPr kumimoji="0" sz="2800" b="0" i="0" u="none" strike="noStrike" cap="none" spc="0" normalizeH="0" baseline="0">
                <a:ln>
                  <a:noFill/>
                </a:ln>
                <a:solidFill>
                  <a:schemeClr val="tx1">
                    <a:lumMod val="85000"/>
                    <a:lumOff val="15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defRPr>
            </a:lvl1pPr>
          </a:lstStyle>
          <a:p>
            <a:pPr algn="ctr"/>
            <a:r>
              <a:rPr lang="en-US" altLang="zh-CN" sz="3200" dirty="0">
                <a:solidFill>
                  <a:schemeClr val="accent4"/>
                </a:solidFill>
              </a:rPr>
              <a:t>SM</a:t>
            </a:r>
            <a:endParaRPr lang="en-US" altLang="zh-CN" sz="3200" dirty="0">
              <a:solidFill>
                <a:schemeClr val="accent4"/>
              </a:solidFill>
            </a:endParaRPr>
          </a:p>
        </p:txBody>
      </p:sp>
      <p:sp>
        <p:nvSpPr>
          <p:cNvPr id="9" name="文本框 8"/>
          <p:cNvSpPr txBox="1"/>
          <p:nvPr/>
        </p:nvSpPr>
        <p:spPr>
          <a:xfrm>
            <a:off x="2288957" y="1229424"/>
            <a:ext cx="4804847" cy="3073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zh-CN"/>
            </a:defPPr>
            <a:lvl1pPr algn="ctr">
              <a:defRPr sz="2400">
                <a:solidFill>
                  <a:schemeClr val="accent3"/>
                </a:solidFill>
                <a:latin typeface="OPPOSans H" panose="00020600040101010101" pitchFamily="18" charset="-122"/>
                <a:ea typeface="OPPOSans H" panose="00020600040101010101" pitchFamily="18" charset="-122"/>
                <a:cs typeface="OPPOSans H" panose="00020600040101010101"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000" dirty="0"/>
              <a:t>安全</a:t>
            </a:r>
            <a:r>
              <a:rPr lang="zh-CN" altLang="en-US" sz="2000" dirty="0"/>
              <a:t>管理器</a:t>
            </a:r>
            <a:endParaRPr lang="zh-CN" altLang="en-US" sz="2000" dirty="0"/>
          </a:p>
        </p:txBody>
      </p:sp>
      <p:sp>
        <p:nvSpPr>
          <p:cNvPr id="2" name="文本框 1"/>
          <p:cNvSpPr txBox="1"/>
          <p:nvPr/>
        </p:nvSpPr>
        <p:spPr>
          <a:xfrm>
            <a:off x="694055" y="2807335"/>
            <a:ext cx="2125980" cy="1076325"/>
          </a:xfrm>
          <a:prstGeom prst="rect">
            <a:avLst/>
          </a:prstGeom>
          <a:noFill/>
        </p:spPr>
        <p:txBody>
          <a:bodyPr wrap="square" rtlCol="0">
            <a:spAutoFit/>
          </a:bodyPr>
          <a:p>
            <a:r>
              <a:rPr lang="en-US" altLang="zh-CN" sz="1600">
                <a:latin typeface="宋体" panose="02010600030101010101" pitchFamily="2" charset="-122"/>
                <a:ea typeface="宋体" panose="02010600030101010101" pitchFamily="2" charset="-122"/>
                <a:cs typeface="宋体" panose="02010600030101010101" pitchFamily="2" charset="-122"/>
              </a:rPr>
              <a:t>BLE</a:t>
            </a:r>
            <a:r>
              <a:rPr lang="zh-CN" altLang="en-US" sz="1600">
                <a:latin typeface="宋体" panose="02010600030101010101" pitchFamily="2" charset="-122"/>
                <a:ea typeface="宋体" panose="02010600030101010101" pitchFamily="2" charset="-122"/>
                <a:cs typeface="宋体" panose="02010600030101010101" pitchFamily="2" charset="-122"/>
              </a:rPr>
              <a:t>中负责安全的模块，通过密钥分发的机制来实现身份认证和加密功能</a:t>
            </a:r>
            <a:endParaRPr lang="zh-CN" altLang="en-US" sz="1600">
              <a:latin typeface="宋体" panose="02010600030101010101" pitchFamily="2" charset="-122"/>
              <a:ea typeface="宋体" panose="02010600030101010101" pitchFamily="2" charset="-122"/>
              <a:cs typeface="宋体" panose="02010600030101010101" pitchFamily="2" charset="-122"/>
            </a:endParaRPr>
          </a:p>
        </p:txBody>
      </p:sp>
      <p:sp>
        <p:nvSpPr>
          <p:cNvPr id="12" name="文本框 11"/>
          <p:cNvSpPr txBox="1"/>
          <p:nvPr/>
        </p:nvSpPr>
        <p:spPr>
          <a:xfrm>
            <a:off x="6356985" y="2882265"/>
            <a:ext cx="3048000" cy="1280160"/>
          </a:xfrm>
          <a:prstGeom prst="rect">
            <a:avLst/>
          </a:prstGeom>
          <a:noFill/>
        </p:spPr>
        <p:txBody>
          <a:bodyPr wrap="square" rtlCol="0">
            <a:noAutofit/>
          </a:bodyPr>
          <a:p>
            <a:endParaRPr lang="en-US" altLang="zh-CN"/>
          </a:p>
          <a:p>
            <a:r>
              <a:rPr lang="en-US" altLang="zh-CN" sz="1600">
                <a:latin typeface="Times New Roman" panose="02020603050405020304" charset="0"/>
                <a:cs typeface="Times New Roman" panose="02020603050405020304" charset="0"/>
              </a:rPr>
              <a:t>1</a:t>
            </a:r>
            <a:r>
              <a:rPr lang="zh-CN" altLang="en-US" sz="1600">
                <a:latin typeface="Times New Roman" panose="02020603050405020304" charset="0"/>
                <a:cs typeface="Times New Roman" panose="02020603050405020304" charset="0"/>
              </a:rPr>
              <a:t>、</a:t>
            </a:r>
            <a:r>
              <a:rPr lang="zh-CN" altLang="en-US" sz="1600">
                <a:latin typeface="宋体" panose="02010600030101010101" pitchFamily="2" charset="-122"/>
                <a:ea typeface="宋体" panose="02010600030101010101" pitchFamily="2" charset="-122"/>
              </a:rPr>
              <a:t>配对</a:t>
            </a:r>
            <a:endParaRPr lang="zh-CN" altLang="en-US" sz="1600"/>
          </a:p>
          <a:p>
            <a:endParaRPr lang="zh-CN" altLang="en-US" sz="1600"/>
          </a:p>
          <a:p>
            <a:r>
              <a:rPr lang="en-US" altLang="zh-CN" sz="1600">
                <a:latin typeface="Times New Roman" panose="02020603050405020304" charset="0"/>
                <a:cs typeface="Times New Roman" panose="02020603050405020304" charset="0"/>
              </a:rPr>
              <a:t>2</a:t>
            </a:r>
            <a:r>
              <a:rPr lang="zh-CN" altLang="en-US" sz="1600">
                <a:latin typeface="Times New Roman" panose="02020603050405020304" charset="0"/>
                <a:cs typeface="Times New Roman" panose="02020603050405020304" charset="0"/>
              </a:rPr>
              <a:t>、</a:t>
            </a:r>
            <a:r>
              <a:rPr lang="zh-CN" altLang="en-US" sz="1600">
                <a:latin typeface="宋体" panose="02010600030101010101" pitchFamily="2" charset="-122"/>
                <a:ea typeface="宋体" panose="02010600030101010101" pitchFamily="2" charset="-122"/>
              </a:rPr>
              <a:t>加密</a:t>
            </a:r>
            <a:endParaRPr lang="zh-CN" altLang="en-US" sz="1600">
              <a:latin typeface="宋体" panose="02010600030101010101" pitchFamily="2" charset="-122"/>
              <a:ea typeface="宋体" panose="02010600030101010101" pitchFamily="2" charset="-122"/>
            </a:endParaRPr>
          </a:p>
        </p:txBody>
      </p:sp>
      <p:sp>
        <p:nvSpPr>
          <p:cNvPr id="13" name="左大括号 12"/>
          <p:cNvSpPr/>
          <p:nvPr/>
        </p:nvSpPr>
        <p:spPr>
          <a:xfrm>
            <a:off x="7262495" y="2882265"/>
            <a:ext cx="135890" cy="83756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文本框 13"/>
          <p:cNvSpPr txBox="1"/>
          <p:nvPr/>
        </p:nvSpPr>
        <p:spPr>
          <a:xfrm>
            <a:off x="7309485" y="2930525"/>
            <a:ext cx="1289050" cy="829945"/>
          </a:xfrm>
          <a:prstGeom prst="rect">
            <a:avLst/>
          </a:prstGeom>
          <a:noFill/>
        </p:spPr>
        <p:txBody>
          <a:bodyPr wrap="square" rtlCol="0">
            <a:spAutoFit/>
          </a:bodyPr>
          <a:p>
            <a:r>
              <a:rPr lang="zh-CN" altLang="en-US" sz="1600">
                <a:latin typeface="宋体" panose="02010600030101010101" pitchFamily="2" charset="-122"/>
                <a:ea typeface="宋体" panose="02010600030101010101" pitchFamily="2" charset="-122"/>
              </a:rPr>
              <a:t>特征交换</a:t>
            </a:r>
            <a:endParaRPr lang="zh-CN" altLang="en-US" sz="1600">
              <a:latin typeface="宋体" panose="02010600030101010101" pitchFamily="2" charset="-122"/>
              <a:ea typeface="宋体" panose="02010600030101010101" pitchFamily="2" charset="-122"/>
            </a:endParaRPr>
          </a:p>
          <a:p>
            <a:r>
              <a:rPr lang="zh-CN" altLang="en-US" sz="1600">
                <a:latin typeface="宋体" panose="02010600030101010101" pitchFamily="2" charset="-122"/>
                <a:ea typeface="宋体" panose="02010600030101010101" pitchFamily="2" charset="-122"/>
              </a:rPr>
              <a:t>密钥生成</a:t>
            </a:r>
            <a:endParaRPr lang="zh-CN" altLang="en-US" sz="1600">
              <a:latin typeface="宋体" panose="02010600030101010101" pitchFamily="2" charset="-122"/>
              <a:ea typeface="宋体" panose="02010600030101010101" pitchFamily="2" charset="-122"/>
            </a:endParaRPr>
          </a:p>
          <a:p>
            <a:r>
              <a:rPr lang="zh-CN" altLang="en-US" sz="1600">
                <a:latin typeface="宋体" panose="02010600030101010101" pitchFamily="2" charset="-122"/>
                <a:ea typeface="宋体" panose="02010600030101010101" pitchFamily="2" charset="-122"/>
              </a:rPr>
              <a:t>密钥分发</a:t>
            </a:r>
            <a:endParaRPr lang="zh-CN" altLang="en-US" sz="1600">
              <a:latin typeface="宋体" panose="02010600030101010101" pitchFamily="2" charset="-122"/>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zh-CN" altLang="en-US" sz="2400" b="1" spc="-38" dirty="0">
                <a:solidFill>
                  <a:srgbClr val="3D5663"/>
                </a:solidFill>
                <a:latin typeface="Calibri" panose="020F0502020204030204" pitchFamily="34" charset="0"/>
                <a:cs typeface="Calibri" panose="020F0502020204030204" pitchFamily="34" charset="0"/>
              </a:rPr>
              <a:t>配对</a:t>
            </a:r>
            <a:endParaRPr lang="zh-CN" altLang="en-US" sz="2400" b="1" spc="-38" dirty="0">
              <a:solidFill>
                <a:srgbClr val="3D5663"/>
              </a:solidFill>
              <a:latin typeface="Calibri" panose="020F0502020204030204" pitchFamily="34" charset="0"/>
              <a:cs typeface="Calibri" panose="020F0502020204030204" pitchFamily="34" charset="0"/>
            </a:endParaRPr>
          </a:p>
        </p:txBody>
      </p:sp>
      <p:grpSp>
        <p:nvGrpSpPr>
          <p:cNvPr id="5" name="组合 4"/>
          <p:cNvGrpSpPr/>
          <p:nvPr/>
        </p:nvGrpSpPr>
        <p:grpSpPr>
          <a:xfrm>
            <a:off x="210820" y="680720"/>
            <a:ext cx="8750300" cy="3648053"/>
            <a:chOff x="-448" y="1072"/>
            <a:chExt cx="14280" cy="5956"/>
          </a:xfrm>
        </p:grpSpPr>
        <p:sp>
          <p:nvSpPr>
            <p:cNvPr id="8" name="圆角矩形 7"/>
            <p:cNvSpPr/>
            <p:nvPr>
              <p:custDataLst>
                <p:tags r:id="rId1"/>
              </p:custDataLst>
            </p:nvPr>
          </p:nvSpPr>
          <p:spPr>
            <a:xfrm>
              <a:off x="1597" y="1072"/>
              <a:ext cx="10191" cy="1625"/>
            </a:xfrm>
            <a:prstGeom prst="roundRect">
              <a:avLst>
                <a:gd name="adj" fmla="val 1666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11" name="文本框 10"/>
            <p:cNvSpPr txBox="1"/>
            <p:nvPr>
              <p:custDataLst>
                <p:tags r:id="rId2"/>
              </p:custDataLst>
            </p:nvPr>
          </p:nvSpPr>
          <p:spPr>
            <a:xfrm>
              <a:off x="2811" y="1478"/>
              <a:ext cx="7764" cy="963"/>
            </a:xfrm>
            <a:prstGeom prst="rect">
              <a:avLst/>
            </a:prstGeom>
            <a:noFill/>
          </p:spPr>
          <p:txBody>
            <a:bodyPr wrap="square" lIns="0" tIns="0" rIns="0" bIns="0"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sym typeface="+mn-lt"/>
                </a:rPr>
                <a:t>交换</a:t>
              </a:r>
              <a:r>
                <a:rPr kumimoji="0" lang="en-US" altLang="zh-CN" sz="16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sym typeface="+mn-lt"/>
                </a:rPr>
                <a:t>IO</a:t>
              </a:r>
              <a:r>
                <a:rPr kumimoji="0" lang="zh-CN" altLang="en-US" sz="16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sym typeface="+mn-lt"/>
                </a:rPr>
                <a:t>能力、</a:t>
              </a:r>
              <a:r>
                <a:rPr kumimoji="0" lang="en-US" altLang="zh-CN" sz="16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sym typeface="+mn-lt"/>
                </a:rPr>
                <a:t>OOB</a:t>
              </a:r>
              <a:r>
                <a:rPr kumimoji="0" lang="zh-CN" altLang="en-US" sz="16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sym typeface="+mn-lt"/>
                </a:rPr>
                <a:t>可用性、安全需求、加密密钥长度、分配特定传输密钥、</a:t>
              </a:r>
              <a:endParaRPr kumimoji="0" lang="zh-CN" altLang="en-US" sz="16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sym typeface="+mn-lt"/>
              </a:endParaRPr>
            </a:p>
          </p:txBody>
        </p:sp>
        <p:sp>
          <p:nvSpPr>
            <p:cNvPr id="14" name="圆角矩形 13"/>
            <p:cNvSpPr/>
            <p:nvPr>
              <p:custDataLst>
                <p:tags r:id="rId3"/>
              </p:custDataLst>
            </p:nvPr>
          </p:nvSpPr>
          <p:spPr>
            <a:xfrm>
              <a:off x="1597" y="3241"/>
              <a:ext cx="10191" cy="1625"/>
            </a:xfrm>
            <a:prstGeom prst="roundRect">
              <a:avLst>
                <a:gd name="adj" fmla="val 1666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15" name="任意多边形 14"/>
            <p:cNvSpPr/>
            <p:nvPr/>
          </p:nvSpPr>
          <p:spPr>
            <a:xfrm rot="21200192" flipH="1">
              <a:off x="-448" y="2992"/>
              <a:ext cx="2620" cy="1625"/>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2"/>
            </a:solidFill>
            <a:ln w="9525" cap="flat">
              <a:noFill/>
              <a:prstDash val="solid"/>
              <a:miter/>
            </a:ln>
          </p:spPr>
          <p:txBody>
            <a:bodyPr rtlCol="0" anchor="ctr"/>
            <a:lstStyle/>
            <a:p>
              <a:pPr algn="ctr">
                <a:lnSpc>
                  <a:spcPct val="50000"/>
                </a:lnSpc>
              </a:pPr>
              <a:r>
                <a:rPr lang="zh-CN" altLang="en-US">
                  <a:solidFill>
                    <a:schemeClr val="bg1"/>
                  </a:solidFill>
                </a:rPr>
                <a:t>阶段</a:t>
              </a:r>
              <a:r>
                <a:rPr lang="en-US" altLang="zh-CN">
                  <a:solidFill>
                    <a:schemeClr val="bg1"/>
                  </a:solidFill>
                </a:rPr>
                <a:t>2</a:t>
              </a:r>
              <a:endParaRPr lang="en-US" altLang="zh-CN">
                <a:solidFill>
                  <a:schemeClr val="bg1"/>
                </a:solidFill>
              </a:endParaRPr>
            </a:p>
            <a:p>
              <a:pPr algn="ctr">
                <a:lnSpc>
                  <a:spcPct val="50000"/>
                </a:lnSpc>
              </a:pPr>
              <a:endParaRPr lang="en-US" altLang="zh-CN">
                <a:solidFill>
                  <a:schemeClr val="bg1"/>
                </a:solidFill>
              </a:endParaRPr>
            </a:p>
            <a:p>
              <a:pPr algn="ctr">
                <a:lnSpc>
                  <a:spcPct val="50000"/>
                </a:lnSpc>
              </a:pPr>
              <a:r>
                <a:rPr lang="zh-CN" altLang="en-US">
                  <a:solidFill>
                    <a:schemeClr val="bg1"/>
                  </a:solidFill>
                </a:rPr>
                <a:t>密钥生成</a:t>
              </a:r>
              <a:endParaRPr lang="zh-CN" altLang="en-US">
                <a:solidFill>
                  <a:schemeClr val="bg1"/>
                </a:solidFill>
              </a:endParaRPr>
            </a:p>
          </p:txBody>
        </p:sp>
        <p:sp>
          <p:nvSpPr>
            <p:cNvPr id="17" name="文本框 16"/>
            <p:cNvSpPr txBox="1"/>
            <p:nvPr>
              <p:custDataLst>
                <p:tags r:id="rId4"/>
              </p:custDataLst>
            </p:nvPr>
          </p:nvSpPr>
          <p:spPr>
            <a:xfrm>
              <a:off x="2811" y="3328"/>
              <a:ext cx="7764" cy="1444"/>
            </a:xfrm>
            <a:prstGeom prst="rect">
              <a:avLst/>
            </a:prstGeom>
            <a:noFill/>
          </p:spPr>
          <p:txBody>
            <a:bodyPr wrap="square" lIns="0" tIns="0" rIns="0" bIns="0"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lt"/>
                </a:rPr>
                <a:t>密钥的生成受第一阶段特征交换影响</a:t>
              </a:r>
              <a:endParaRPr kumimoji="0" lang="zh-CN" altLang="en-US" sz="16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lt"/>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sym typeface="+mn-lt"/>
                </a:rPr>
                <a:t>传统配对：生成</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Times New Roman" panose="02020603050405020304" charset="0"/>
                  <a:sym typeface="+mn-lt"/>
                </a:rPr>
                <a:t>STK</a:t>
              </a:r>
              <a:endParaRPr kumimoji="0" lang="en-US" altLang="zh-CN" sz="1600" b="1"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Times New Roman" panose="02020603050405020304" charset="0"/>
                <a:sym typeface="+mn-lt"/>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sym typeface="+mn-lt"/>
                </a:rPr>
                <a:t>安全连接：生成</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Times New Roman" panose="02020603050405020304" charset="0"/>
                  <a:sym typeface="+mn-lt"/>
                </a:rPr>
                <a:t>LTK</a:t>
              </a:r>
              <a:endParaRPr kumimoji="0" lang="en-US" altLang="zh-CN" sz="1600" b="1"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Times New Roman" panose="02020603050405020304" charset="0"/>
                <a:sym typeface="+mn-lt"/>
              </a:endParaRPr>
            </a:p>
          </p:txBody>
        </p:sp>
        <p:sp>
          <p:nvSpPr>
            <p:cNvPr id="18" name="圆角矩形 17"/>
            <p:cNvSpPr/>
            <p:nvPr>
              <p:custDataLst>
                <p:tags r:id="rId5"/>
              </p:custDataLst>
            </p:nvPr>
          </p:nvSpPr>
          <p:spPr>
            <a:xfrm>
              <a:off x="1597" y="5403"/>
              <a:ext cx="10191" cy="1625"/>
            </a:xfrm>
            <a:prstGeom prst="roundRect">
              <a:avLst>
                <a:gd name="adj" fmla="val 1666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19" name="任意多边形 18"/>
            <p:cNvSpPr/>
            <p:nvPr/>
          </p:nvSpPr>
          <p:spPr>
            <a:xfrm rot="399808">
              <a:off x="11212" y="5155"/>
              <a:ext cx="2620" cy="1625"/>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1"/>
            </a:solidFill>
            <a:ln w="9525" cap="flat">
              <a:noFill/>
              <a:prstDash val="solid"/>
              <a:miter/>
            </a:ln>
          </p:spPr>
          <p:txBody>
            <a:bodyPr rtlCol="0" anchor="ctr"/>
            <a:lstStyle/>
            <a:p>
              <a:pPr algn="ctr">
                <a:lnSpc>
                  <a:spcPct val="60000"/>
                </a:lnSpc>
              </a:pPr>
              <a:r>
                <a:rPr lang="zh-CN" altLang="en-US">
                  <a:solidFill>
                    <a:schemeClr val="bg1"/>
                  </a:solidFill>
                </a:rPr>
                <a:t>阶段</a:t>
              </a:r>
              <a:r>
                <a:rPr lang="en-US" altLang="zh-CN">
                  <a:solidFill>
                    <a:schemeClr val="bg1"/>
                  </a:solidFill>
                </a:rPr>
                <a:t>3</a:t>
              </a:r>
              <a:endParaRPr lang="en-US" altLang="zh-CN">
                <a:solidFill>
                  <a:schemeClr val="bg1"/>
                </a:solidFill>
              </a:endParaRPr>
            </a:p>
            <a:p>
              <a:pPr algn="ctr">
                <a:lnSpc>
                  <a:spcPct val="60000"/>
                </a:lnSpc>
              </a:pPr>
              <a:endParaRPr lang="en-US" altLang="zh-CN">
                <a:solidFill>
                  <a:schemeClr val="bg1"/>
                </a:solidFill>
              </a:endParaRPr>
            </a:p>
            <a:p>
              <a:pPr algn="ctr">
                <a:lnSpc>
                  <a:spcPct val="60000"/>
                </a:lnSpc>
              </a:pPr>
              <a:r>
                <a:rPr lang="zh-CN" altLang="en-US">
                  <a:solidFill>
                    <a:schemeClr val="bg1"/>
                  </a:solidFill>
                </a:rPr>
                <a:t>密钥分发</a:t>
              </a:r>
              <a:endParaRPr lang="zh-CN" altLang="en-US">
                <a:solidFill>
                  <a:schemeClr val="bg1"/>
                </a:solidFill>
              </a:endParaRPr>
            </a:p>
          </p:txBody>
        </p:sp>
        <p:sp>
          <p:nvSpPr>
            <p:cNvPr id="21" name="文本框 20"/>
            <p:cNvSpPr txBox="1"/>
            <p:nvPr>
              <p:custDataLst>
                <p:tags r:id="rId6"/>
              </p:custDataLst>
            </p:nvPr>
          </p:nvSpPr>
          <p:spPr>
            <a:xfrm>
              <a:off x="2811" y="5810"/>
              <a:ext cx="7764" cy="963"/>
            </a:xfrm>
            <a:prstGeom prst="rect">
              <a:avLst/>
            </a:prstGeom>
            <a:noFill/>
          </p:spPr>
          <p:txBody>
            <a:bodyPr wrap="square" lIns="0" tIns="0" rIns="0" bIns="0"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lt"/>
                </a:rPr>
                <a:t>将生成的密钥（以及用于身份解析的IRK，用于隐私地址的CSRK等）安全地分发给对方并存储</a:t>
              </a:r>
              <a:endParaRPr kumimoji="0" lang="zh-CN" altLang="en-US" sz="1600" b="1" i="0" u="none" strike="noStrike" kern="1200" cap="none" spc="0" normalizeH="0" baseline="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lt"/>
              </a:endParaRPr>
            </a:p>
          </p:txBody>
        </p:sp>
      </p:grpSp>
      <p:sp>
        <p:nvSpPr>
          <p:cNvPr id="4" name="任意多边形 3"/>
          <p:cNvSpPr/>
          <p:nvPr/>
        </p:nvSpPr>
        <p:spPr>
          <a:xfrm rot="399808">
            <a:off x="7357672" y="437291"/>
            <a:ext cx="1663972" cy="1032041"/>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1"/>
          </a:solidFill>
          <a:ln w="9525" cap="flat">
            <a:noFill/>
            <a:prstDash val="solid"/>
            <a:miter/>
          </a:ln>
        </p:spPr>
        <p:txBody>
          <a:bodyPr rtlCol="0" anchor="ctr" anchorCtr="0"/>
          <a:lstStyle/>
          <a:p>
            <a:pPr algn="ctr">
              <a:lnSpc>
                <a:spcPct val="60000"/>
              </a:lnSpc>
            </a:pPr>
            <a:r>
              <a:rPr lang="zh-CN" altLang="en-US">
                <a:solidFill>
                  <a:schemeClr val="bg1"/>
                </a:solidFill>
              </a:rPr>
              <a:t>阶段</a:t>
            </a:r>
            <a:r>
              <a:rPr lang="en-US" altLang="zh-CN">
                <a:solidFill>
                  <a:schemeClr val="bg1"/>
                </a:solidFill>
              </a:rPr>
              <a:t>1</a:t>
            </a:r>
            <a:endParaRPr lang="en-US" altLang="zh-CN">
              <a:solidFill>
                <a:schemeClr val="bg1"/>
              </a:solidFill>
            </a:endParaRPr>
          </a:p>
          <a:p>
            <a:pPr algn="ctr">
              <a:lnSpc>
                <a:spcPct val="60000"/>
              </a:lnSpc>
            </a:pPr>
            <a:endParaRPr lang="en-US" altLang="zh-CN">
              <a:solidFill>
                <a:schemeClr val="bg1"/>
              </a:solidFill>
            </a:endParaRPr>
          </a:p>
          <a:p>
            <a:pPr algn="ctr">
              <a:lnSpc>
                <a:spcPct val="60000"/>
              </a:lnSpc>
            </a:pPr>
            <a:r>
              <a:rPr lang="zh-CN" altLang="en-US">
                <a:solidFill>
                  <a:schemeClr val="bg1"/>
                </a:solidFill>
              </a:rPr>
              <a:t>特征交换</a:t>
            </a:r>
            <a:endParaRPr lang="zh-CN" altLang="en-US">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IO</a:t>
            </a:r>
            <a:r>
              <a:rPr lang="zh-CN" altLang="en-US" sz="2400" b="1" spc="-38" dirty="0">
                <a:solidFill>
                  <a:srgbClr val="3D5663"/>
                </a:solidFill>
                <a:latin typeface="Calibri" panose="020F0502020204030204" pitchFamily="34" charset="0"/>
                <a:cs typeface="Calibri" panose="020F0502020204030204" pitchFamily="34" charset="0"/>
              </a:rPr>
              <a:t>能力</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40335" y="587375"/>
            <a:ext cx="3048000" cy="36830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输入</a:t>
            </a:r>
            <a:endParaRPr lang="zh-CN" altLang="en-US" b="1">
              <a:latin typeface="宋体" panose="02010600030101010101" pitchFamily="2" charset="-122"/>
              <a:ea typeface="宋体" panose="02010600030101010101" pitchFamily="2" charset="-122"/>
            </a:endParaRPr>
          </a:p>
        </p:txBody>
      </p:sp>
      <p:graphicFrame>
        <p:nvGraphicFramePr>
          <p:cNvPr id="3" name="表格 2"/>
          <p:cNvGraphicFramePr/>
          <p:nvPr/>
        </p:nvGraphicFramePr>
        <p:xfrm>
          <a:off x="111760" y="955675"/>
          <a:ext cx="4455795" cy="1645920"/>
        </p:xfrm>
        <a:graphic>
          <a:graphicData uri="http://schemas.openxmlformats.org/drawingml/2006/table">
            <a:tbl>
              <a:tblPr firstRow="1" bandRow="1">
                <a:tableStyleId>{5C22544A-7EE6-4342-B048-85BDC9FD1C3A}</a:tableStyleId>
              </a:tblPr>
              <a:tblGrid>
                <a:gridCol w="938530"/>
                <a:gridCol w="3517265"/>
              </a:tblGrid>
              <a:tr h="381000">
                <a:tc>
                  <a:txBody>
                    <a:bodyPr/>
                    <a:p>
                      <a:pPr algn="ctr">
                        <a:buNone/>
                      </a:pPr>
                      <a:r>
                        <a:rPr lang="zh-CN" altLang="en-US"/>
                        <a:t>能力</a:t>
                      </a:r>
                      <a:endParaRPr lang="zh-CN" altLang="en-US"/>
                    </a:p>
                  </a:txBody>
                  <a:tcPr anchor="ctr" anchorCtr="0"/>
                </a:tc>
                <a:tc>
                  <a:txBody>
                    <a:bodyPr/>
                    <a:p>
                      <a:pPr algn="ctr">
                        <a:buNone/>
                      </a:pPr>
                      <a:r>
                        <a:rPr lang="zh-CN" altLang="en-US"/>
                        <a:t>描述</a:t>
                      </a:r>
                      <a:endParaRPr lang="zh-CN" altLang="en-US"/>
                    </a:p>
                  </a:txBody>
                  <a:tcPr anchor="ctr" anchorCtr="0"/>
                </a:tc>
              </a:tr>
              <a:tr h="381000">
                <a:tc>
                  <a:txBody>
                    <a:bodyPr/>
                    <a:p>
                      <a:pPr algn="ctr">
                        <a:buNone/>
                      </a:pPr>
                      <a:r>
                        <a:rPr lang="en-US" altLang="zh-CN">
                          <a:latin typeface="Times New Roman" panose="02020603050405020304" charset="0"/>
                          <a:cs typeface="Times New Roman" panose="02020603050405020304" charset="0"/>
                        </a:rPr>
                        <a:t>No inoput</a:t>
                      </a:r>
                      <a:endParaRPr lang="en-US" altLang="zh-CN">
                        <a:latin typeface="Times New Roman" panose="02020603050405020304" charset="0"/>
                        <a:cs typeface="Times New Roman" panose="02020603050405020304" charset="0"/>
                      </a:endParaRPr>
                    </a:p>
                  </a:txBody>
                  <a:tcPr anchor="ctr" anchorCtr="0"/>
                </a:tc>
                <a:tc>
                  <a:txBody>
                    <a:bodyPr/>
                    <a:p>
                      <a:pPr algn="l">
                        <a:buNone/>
                      </a:pPr>
                      <a:r>
                        <a:rPr lang="zh-CN" altLang="en-US">
                          <a:latin typeface="宋体" panose="02010600030101010101" pitchFamily="2" charset="-122"/>
                          <a:ea typeface="宋体" panose="02010600030101010101" pitchFamily="2" charset="-122"/>
                          <a:cs typeface="宋体" panose="02010600030101010101" pitchFamily="2" charset="-122"/>
                        </a:rPr>
                        <a:t>不具备显示</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是</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或</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否</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的能力</a:t>
                      </a:r>
                      <a:endParaRPr lang="zh-CN" altLang="en-US">
                        <a:latin typeface="宋体" panose="02010600030101010101" pitchFamily="2" charset="-122"/>
                        <a:ea typeface="宋体" panose="02010600030101010101" pitchFamily="2" charset="-122"/>
                        <a:cs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Yes/No</a:t>
                      </a:r>
                      <a:endParaRPr lang="en-US" altLang="zh-CN">
                        <a:latin typeface="Times New Roman" panose="02020603050405020304" charset="0"/>
                        <a:cs typeface="Times New Roman" panose="02020603050405020304" charset="0"/>
                      </a:endParaRPr>
                    </a:p>
                  </a:txBody>
                  <a:tcPr anchor="ctr" anchorCtr="0"/>
                </a:tc>
                <a:tc>
                  <a:txBody>
                    <a:bodyPr/>
                    <a:p>
                      <a:pPr algn="l">
                        <a:buNone/>
                      </a:pPr>
                      <a:r>
                        <a:rPr lang="zh-CN" altLang="en-US">
                          <a:latin typeface="宋体" panose="02010600030101010101" pitchFamily="2" charset="-122"/>
                          <a:ea typeface="宋体" panose="02010600030101010101" pitchFamily="2" charset="-122"/>
                          <a:cs typeface="宋体" panose="02010600030101010101" pitchFamily="2" charset="-122"/>
                        </a:rPr>
                        <a:t>具备可选择</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是</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或</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否</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的按钮或其他指示机制</a:t>
                      </a:r>
                      <a:endParaRPr lang="zh-CN" altLang="en-US">
                        <a:latin typeface="宋体" panose="02010600030101010101" pitchFamily="2" charset="-122"/>
                        <a:ea typeface="宋体" panose="02010600030101010101" pitchFamily="2" charset="-122"/>
                        <a:cs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Keyboard</a:t>
                      </a:r>
                      <a:endParaRPr lang="en-US" altLang="zh-CN">
                        <a:latin typeface="Times New Roman" panose="02020603050405020304" charset="0"/>
                        <a:cs typeface="Times New Roman" panose="02020603050405020304" charset="0"/>
                      </a:endParaRPr>
                    </a:p>
                  </a:txBody>
                  <a:tcPr anchor="ctr" anchorCtr="0"/>
                </a:tc>
                <a:tc>
                  <a:txBody>
                    <a:bodyPr/>
                    <a:p>
                      <a:pPr algn="l">
                        <a:buNone/>
                      </a:pPr>
                      <a:r>
                        <a:rPr lang="zh-CN" altLang="en-US">
                          <a:latin typeface="宋体" panose="02010600030101010101" pitchFamily="2" charset="-122"/>
                          <a:ea typeface="宋体" panose="02010600030101010101" pitchFamily="2" charset="-122"/>
                        </a:rPr>
                        <a:t>具备可输入键盘或其他可指示进制</a:t>
                      </a:r>
                      <a:endParaRPr lang="zh-CN" altLang="en-US">
                        <a:latin typeface="宋体" panose="02010600030101010101" pitchFamily="2" charset="-122"/>
                        <a:ea typeface="宋体" panose="02010600030101010101" pitchFamily="2" charset="-122"/>
                      </a:endParaRPr>
                    </a:p>
                  </a:txBody>
                  <a:tcPr anchor="ctr" anchorCtr="0"/>
                </a:tc>
              </a:tr>
            </a:tbl>
          </a:graphicData>
        </a:graphic>
      </p:graphicFrame>
      <p:sp>
        <p:nvSpPr>
          <p:cNvPr id="4" name="文本框 3"/>
          <p:cNvSpPr txBox="1"/>
          <p:nvPr/>
        </p:nvSpPr>
        <p:spPr>
          <a:xfrm>
            <a:off x="140335" y="2847975"/>
            <a:ext cx="3048000" cy="36830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输出</a:t>
            </a:r>
            <a:endParaRPr lang="zh-CN" altLang="en-US" b="1">
              <a:latin typeface="宋体" panose="02010600030101010101" pitchFamily="2" charset="-122"/>
              <a:ea typeface="宋体" panose="02010600030101010101" pitchFamily="2" charset="-122"/>
            </a:endParaRPr>
          </a:p>
        </p:txBody>
      </p:sp>
      <p:graphicFrame>
        <p:nvGraphicFramePr>
          <p:cNvPr id="5" name="表格 4"/>
          <p:cNvGraphicFramePr/>
          <p:nvPr/>
        </p:nvGraphicFramePr>
        <p:xfrm>
          <a:off x="140335" y="3251200"/>
          <a:ext cx="4455160" cy="1143000"/>
        </p:xfrm>
        <a:graphic>
          <a:graphicData uri="http://schemas.openxmlformats.org/drawingml/2006/table">
            <a:tbl>
              <a:tblPr firstRow="1" bandRow="1">
                <a:tableStyleId>{5C22544A-7EE6-4342-B048-85BDC9FD1C3A}</a:tableStyleId>
              </a:tblPr>
              <a:tblGrid>
                <a:gridCol w="1352550"/>
                <a:gridCol w="3102610"/>
              </a:tblGrid>
              <a:tr h="381000">
                <a:tc>
                  <a:txBody>
                    <a:bodyPr/>
                    <a:p>
                      <a:pPr algn="ctr">
                        <a:buNone/>
                      </a:pPr>
                      <a:r>
                        <a:rPr lang="zh-CN" altLang="en-US"/>
                        <a:t>能力</a:t>
                      </a:r>
                      <a:endParaRPr lang="zh-CN" altLang="en-US"/>
                    </a:p>
                  </a:txBody>
                  <a:tcPr anchor="ctr" anchorCtr="0"/>
                </a:tc>
                <a:tc>
                  <a:txBody>
                    <a:bodyPr/>
                    <a:p>
                      <a:pPr algn="ctr">
                        <a:buNone/>
                      </a:pPr>
                      <a:r>
                        <a:rPr lang="zh-CN" altLang="en-US"/>
                        <a:t>描述</a:t>
                      </a:r>
                      <a:endParaRPr lang="zh-CN" altLang="en-US"/>
                    </a:p>
                  </a:txBody>
                  <a:tcPr anchor="ctr" anchorCtr="0"/>
                </a:tc>
              </a:tr>
              <a:tr h="381000">
                <a:tc>
                  <a:txBody>
                    <a:bodyPr/>
                    <a:p>
                      <a:pPr algn="ctr">
                        <a:buNone/>
                      </a:pPr>
                      <a:r>
                        <a:rPr lang="en-US" altLang="zh-CN">
                          <a:latin typeface="Times New Roman" panose="02020603050405020304" charset="0"/>
                          <a:ea typeface="宋体" panose="02010600030101010101" pitchFamily="2" charset="-122"/>
                          <a:cs typeface="Times New Roman" panose="02020603050405020304" charset="0"/>
                        </a:rPr>
                        <a:t>No output</a:t>
                      </a:r>
                      <a:endParaRPr lang="en-US" altLang="zh-CN">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cs typeface="宋体" panose="02010600030101010101" pitchFamily="2" charset="-122"/>
                        </a:rPr>
                        <a:t>不具备显示或传输</a:t>
                      </a:r>
                      <a:r>
                        <a:rPr lang="en-US" altLang="zh-CN">
                          <a:latin typeface="宋体" panose="02010600030101010101" pitchFamily="2" charset="-122"/>
                          <a:ea typeface="宋体" panose="02010600030101010101" pitchFamily="2" charset="-122"/>
                          <a:cs typeface="宋体" panose="02010600030101010101" pitchFamily="2" charset="-122"/>
                        </a:rPr>
                        <a:t>6</a:t>
                      </a:r>
                      <a:r>
                        <a:rPr lang="zh-CN" altLang="en-US">
                          <a:latin typeface="宋体" panose="02010600030101010101" pitchFamily="2" charset="-122"/>
                          <a:ea typeface="宋体" panose="02010600030101010101" pitchFamily="2" charset="-122"/>
                          <a:cs typeface="宋体" panose="02010600030101010101" pitchFamily="2" charset="-122"/>
                        </a:rPr>
                        <a:t>位数字的能力</a:t>
                      </a:r>
                      <a:endParaRPr lang="zh-CN" altLang="en-US">
                        <a:latin typeface="宋体" panose="02010600030101010101" pitchFamily="2" charset="-122"/>
                        <a:ea typeface="宋体" panose="02010600030101010101" pitchFamily="2" charset="-122"/>
                        <a:cs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ea typeface="宋体" panose="02010600030101010101" pitchFamily="2" charset="-122"/>
                          <a:cs typeface="Times New Roman" panose="02020603050405020304" charset="0"/>
                        </a:rPr>
                        <a:t>Numeric output</a:t>
                      </a:r>
                      <a:endParaRPr lang="en-US" altLang="zh-CN">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cs typeface="宋体" panose="02010600030101010101" pitchFamily="2" charset="-122"/>
                        </a:rPr>
                        <a:t>具备显示或传输</a:t>
                      </a:r>
                      <a:r>
                        <a:rPr lang="en-US" altLang="zh-CN">
                          <a:latin typeface="宋体" panose="02010600030101010101" pitchFamily="2" charset="-122"/>
                          <a:ea typeface="宋体" panose="02010600030101010101" pitchFamily="2" charset="-122"/>
                          <a:cs typeface="宋体" panose="02010600030101010101" pitchFamily="2" charset="-122"/>
                        </a:rPr>
                        <a:t>6</a:t>
                      </a:r>
                      <a:r>
                        <a:rPr lang="zh-CN" altLang="en-US">
                          <a:latin typeface="宋体" panose="02010600030101010101" pitchFamily="2" charset="-122"/>
                          <a:ea typeface="宋体" panose="02010600030101010101" pitchFamily="2" charset="-122"/>
                          <a:cs typeface="宋体" panose="02010600030101010101" pitchFamily="2" charset="-122"/>
                        </a:rPr>
                        <a:t>位数字的能力</a:t>
                      </a:r>
                      <a:endParaRPr lang="zh-CN" altLang="en-US">
                        <a:latin typeface="宋体" panose="02010600030101010101" pitchFamily="2" charset="-122"/>
                        <a:ea typeface="宋体" panose="02010600030101010101" pitchFamily="2" charset="-122"/>
                        <a:cs typeface="宋体" panose="02010600030101010101" pitchFamily="2" charset="-122"/>
                      </a:endParaRPr>
                    </a:p>
                  </a:txBody>
                  <a:tcPr anchor="ctr" anchorCtr="0"/>
                </a:tc>
              </a:tr>
            </a:tbl>
          </a:graphicData>
        </a:graphic>
      </p:graphicFrame>
      <p:graphicFrame>
        <p:nvGraphicFramePr>
          <p:cNvPr id="11" name="表格 10"/>
          <p:cNvGraphicFramePr/>
          <p:nvPr>
            <p:custDataLst>
              <p:tags r:id="rId1"/>
            </p:custDataLst>
          </p:nvPr>
        </p:nvGraphicFramePr>
        <p:xfrm>
          <a:off x="4772025" y="955675"/>
          <a:ext cx="4211955" cy="2136140"/>
        </p:xfrm>
        <a:graphic>
          <a:graphicData uri="http://schemas.openxmlformats.org/drawingml/2006/table">
            <a:tbl>
              <a:tblPr firstRow="1" bandRow="1">
                <a:tableStyleId>{5940675A-B579-460E-94D1-54222C63F5DA}</a:tableStyleId>
              </a:tblPr>
              <a:tblGrid>
                <a:gridCol w="1038225"/>
                <a:gridCol w="1769745"/>
                <a:gridCol w="1403985"/>
              </a:tblGrid>
              <a:tr h="450215">
                <a:tc>
                  <a:txBody>
                    <a:bodyPr/>
                    <a:p>
                      <a:pPr algn="ctr">
                        <a:buNone/>
                      </a:pPr>
                      <a:endParaRPr lang="zh-CN" altLang="en-US"/>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350">
                          <a:latin typeface="Times New Roman" panose="02020603050405020304" charset="0"/>
                          <a:ea typeface="宋体" panose="02010600030101010101" pitchFamily="2" charset="-122"/>
                          <a:cs typeface="Times New Roman" panose="02020603050405020304" charset="0"/>
                          <a:sym typeface="+mn-ea"/>
                        </a:rPr>
                        <a:t>No output</a:t>
                      </a:r>
                      <a:endParaRPr lang="zh-CN" altLang="en-US"/>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60000"/>
                        <a:lumOff val="40000"/>
                      </a:schemeClr>
                    </a:solidFill>
                  </a:tcPr>
                </a:tc>
                <a:tc>
                  <a:txBody>
                    <a:bodyPr/>
                    <a:p>
                      <a:pPr algn="ctr">
                        <a:buNone/>
                      </a:pPr>
                      <a:r>
                        <a:rPr lang="en-US" altLang="zh-CN" sz="1350">
                          <a:latin typeface="Times New Roman" panose="02020603050405020304" charset="0"/>
                          <a:ea typeface="宋体" panose="02010600030101010101" pitchFamily="2" charset="-122"/>
                          <a:cs typeface="Times New Roman" panose="02020603050405020304" charset="0"/>
                          <a:sym typeface="+mn-ea"/>
                        </a:rPr>
                        <a:t>Numeric output</a:t>
                      </a:r>
                      <a:endParaRPr lang="zh-CN" altLang="en-US"/>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60000"/>
                        <a:lumOff val="40000"/>
                      </a:schemeClr>
                    </a:solidFill>
                  </a:tcPr>
                </a:tc>
              </a:tr>
              <a:tr h="516255">
                <a:tc>
                  <a:txBody>
                    <a:bodyPr/>
                    <a:p>
                      <a:pPr algn="ctr">
                        <a:buNone/>
                      </a:pPr>
                      <a:r>
                        <a:rPr lang="en-US" altLang="zh-CN" sz="1350">
                          <a:latin typeface="Times New Roman" panose="02020603050405020304" charset="0"/>
                          <a:cs typeface="Times New Roman" panose="02020603050405020304" charset="0"/>
                          <a:sym typeface="+mn-ea"/>
                        </a:rPr>
                        <a:t>No inoput</a:t>
                      </a:r>
                      <a:endParaRPr lang="zh-CN" altLang="en-US"/>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60000"/>
                        <a:lumOff val="40000"/>
                      </a:schemeClr>
                    </a:solidFill>
                  </a:tcPr>
                </a:tc>
                <a:tc>
                  <a:txBody>
                    <a:bodyPr/>
                    <a:p>
                      <a:pPr algn="ctr">
                        <a:buNone/>
                      </a:pPr>
                      <a:r>
                        <a:rPr lang="en-US" altLang="zh-CN" sz="1350">
                          <a:latin typeface="Times New Roman" panose="02020603050405020304" charset="0"/>
                          <a:cs typeface="Times New Roman" panose="02020603050405020304" charset="0"/>
                          <a:sym typeface="+mn-ea"/>
                        </a:rPr>
                        <a:t>NoInoput</a:t>
                      </a:r>
                      <a:r>
                        <a:rPr lang="en-US" altLang="zh-CN" sz="1350">
                          <a:latin typeface="Times New Roman" panose="02020603050405020304" charset="0"/>
                          <a:ea typeface="宋体" panose="02010600030101010101" pitchFamily="2" charset="-122"/>
                          <a:cs typeface="Times New Roman" panose="02020603050405020304" charset="0"/>
                          <a:sym typeface="+mn-ea"/>
                        </a:rPr>
                        <a:t>No</a:t>
                      </a:r>
                      <a:r>
                        <a:rPr lang="en-US" altLang="zh-CN" sz="1350">
                          <a:latin typeface="Times New Roman" panose="02020603050405020304" charset="0"/>
                          <a:ea typeface="宋体" panose="02010600030101010101" pitchFamily="2" charset="-122"/>
                          <a:cs typeface="Times New Roman" panose="02020603050405020304" charset="0"/>
                          <a:sym typeface="+mn-ea"/>
                        </a:rPr>
                        <a:t>Output</a:t>
                      </a:r>
                      <a:endParaRPr lang="zh-CN" altLang="en-US"/>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60000"/>
                        <a:lumOff val="40000"/>
                      </a:schemeClr>
                    </a:solidFill>
                  </a:tcPr>
                </a:tc>
                <a:tc>
                  <a:txBody>
                    <a:bodyPr/>
                    <a:p>
                      <a:pPr algn="ctr">
                        <a:buNone/>
                      </a:pPr>
                      <a:r>
                        <a:rPr lang="en-US" altLang="zh-CN">
                          <a:latin typeface="Times New Roman" panose="02020603050405020304" charset="0"/>
                          <a:cs typeface="Times New Roman" panose="02020603050405020304" charset="0"/>
                        </a:rPr>
                        <a:t>DisplayOnly</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60000"/>
                        <a:lumOff val="40000"/>
                      </a:schemeClr>
                    </a:solidFill>
                  </a:tcPr>
                </a:tc>
              </a:tr>
              <a:tr h="584835">
                <a:tc>
                  <a:txBody>
                    <a:bodyPr/>
                    <a:p>
                      <a:pPr algn="ctr">
                        <a:buNone/>
                      </a:pPr>
                      <a:r>
                        <a:rPr lang="en-US" altLang="zh-CN">
                          <a:latin typeface="Times New Roman" panose="02020603050405020304" charset="0"/>
                          <a:cs typeface="Times New Roman" panose="02020603050405020304" charset="0"/>
                        </a:rPr>
                        <a:t>Yes/No</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60000"/>
                        <a:lumOff val="40000"/>
                      </a:schemeClr>
                    </a:solidFill>
                  </a:tcPr>
                </a:tc>
                <a:tc>
                  <a:txBody>
                    <a:bodyPr/>
                    <a:p>
                      <a:pPr algn="ctr">
                        <a:buNone/>
                      </a:pPr>
                      <a:r>
                        <a:rPr lang="en-US" altLang="zh-CN" sz="1350">
                          <a:latin typeface="Times New Roman" panose="02020603050405020304" charset="0"/>
                          <a:cs typeface="Times New Roman" panose="02020603050405020304" charset="0"/>
                          <a:sym typeface="+mn-ea"/>
                        </a:rPr>
                        <a:t>NoInoput</a:t>
                      </a:r>
                      <a:r>
                        <a:rPr lang="en-US" altLang="zh-CN" sz="1350">
                          <a:latin typeface="Times New Roman" panose="02020603050405020304" charset="0"/>
                          <a:ea typeface="宋体" panose="02010600030101010101" pitchFamily="2" charset="-122"/>
                          <a:cs typeface="Times New Roman" panose="02020603050405020304" charset="0"/>
                          <a:sym typeface="+mn-ea"/>
                        </a:rPr>
                        <a:t>NoOutput</a:t>
                      </a:r>
                      <a:endParaRPr lang="zh-CN" altLang="en-US"/>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60000"/>
                        <a:lumOff val="40000"/>
                      </a:schemeClr>
                    </a:solidFill>
                  </a:tcPr>
                </a:tc>
                <a:tc>
                  <a:txBody>
                    <a:bodyPr/>
                    <a:p>
                      <a:pPr algn="ctr">
                        <a:buNone/>
                      </a:pPr>
                      <a:r>
                        <a:rPr lang="en-US" altLang="zh-CN" sz="1350">
                          <a:latin typeface="Times New Roman" panose="02020603050405020304" charset="0"/>
                          <a:cs typeface="Times New Roman" panose="02020603050405020304" charset="0"/>
                          <a:sym typeface="+mn-ea"/>
                        </a:rPr>
                        <a:t>DisplayYesNo</a:t>
                      </a:r>
                      <a:endParaRPr lang="en-US" altLang="zh-CN" sz="135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60000"/>
                        <a:lumOff val="40000"/>
                      </a:schemeClr>
                    </a:solidFill>
                  </a:tcPr>
                </a:tc>
              </a:tr>
              <a:tr h="584835">
                <a:tc>
                  <a:txBody>
                    <a:bodyPr/>
                    <a:p>
                      <a:pPr algn="ctr">
                        <a:buNone/>
                      </a:pPr>
                      <a:r>
                        <a:rPr lang="en-US" altLang="zh-CN" sz="1350">
                          <a:latin typeface="Times New Roman" panose="02020603050405020304" charset="0"/>
                          <a:cs typeface="Times New Roman" panose="02020603050405020304" charset="0"/>
                          <a:sym typeface="+mn-ea"/>
                        </a:rPr>
                        <a:t>Keyboard</a:t>
                      </a:r>
                      <a:endParaRPr lang="en-US" altLang="zh-CN" sz="1350">
                        <a:latin typeface="Times New Roman" panose="02020603050405020304" charset="0"/>
                        <a:cs typeface="Times New Roman" panose="02020603050405020304" charset="0"/>
                      </a:endParaRPr>
                    </a:p>
                    <a:p>
                      <a:pPr algn="ctr">
                        <a:buNone/>
                      </a:pPr>
                      <a:endParaRPr lang="zh-CN" altLang="en-US"/>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60000"/>
                        <a:lumOff val="40000"/>
                      </a:schemeClr>
                    </a:solidFill>
                  </a:tcPr>
                </a:tc>
                <a:tc>
                  <a:txBody>
                    <a:bodyPr/>
                    <a:p>
                      <a:pPr algn="ctr">
                        <a:buNone/>
                      </a:pPr>
                      <a:r>
                        <a:rPr lang="en-US" altLang="zh-CN">
                          <a:latin typeface="Times New Roman" panose="02020603050405020304" charset="0"/>
                          <a:cs typeface="Times New Roman" panose="02020603050405020304" charset="0"/>
                        </a:rPr>
                        <a:t>KeyboardOnly</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60000"/>
                        <a:lumOff val="40000"/>
                      </a:schemeClr>
                    </a:solidFill>
                  </a:tcPr>
                </a:tc>
                <a:tc>
                  <a:txBody>
                    <a:bodyPr/>
                    <a:p>
                      <a:pPr algn="ctr">
                        <a:buNone/>
                      </a:pPr>
                      <a:r>
                        <a:rPr lang="en-US" altLang="zh-CN">
                          <a:latin typeface="Times New Roman" panose="02020603050405020304" charset="0"/>
                          <a:cs typeface="Times New Roman" panose="02020603050405020304" charset="0"/>
                        </a:rPr>
                        <a:t>KeyboardDisplay</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60000"/>
                        <a:lumOff val="40000"/>
                      </a:schemeClr>
                    </a:solidFill>
                  </a:tcPr>
                </a:tc>
              </a:tr>
            </a:tbl>
          </a:graphicData>
        </a:graphic>
      </p:graphicFrame>
      <p:sp>
        <p:nvSpPr>
          <p:cNvPr id="13" name="文本框 12"/>
          <p:cNvSpPr txBox="1"/>
          <p:nvPr/>
        </p:nvSpPr>
        <p:spPr>
          <a:xfrm>
            <a:off x="4772025" y="587375"/>
            <a:ext cx="3048000" cy="368300"/>
          </a:xfrm>
          <a:prstGeom prst="rect">
            <a:avLst/>
          </a:prstGeom>
          <a:noFill/>
        </p:spPr>
        <p:txBody>
          <a:bodyPr wrap="square" rtlCol="0">
            <a:spAutoFit/>
          </a:bodyPr>
          <a:p>
            <a:r>
              <a:rPr lang="en-US" altLang="zh-CN"/>
              <a:t>IO</a:t>
            </a:r>
            <a:r>
              <a:rPr lang="zh-CN" altLang="en-US"/>
              <a:t>能力</a:t>
            </a:r>
            <a:r>
              <a:rPr lang="zh-CN" altLang="en-US"/>
              <a:t>映射</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zh-CN" altLang="en-US" sz="2400" b="1" spc="-38" dirty="0">
                <a:solidFill>
                  <a:srgbClr val="3D5663"/>
                </a:solidFill>
                <a:latin typeface="Calibri" panose="020F0502020204030204" pitchFamily="34" charset="0"/>
                <a:cs typeface="Calibri" panose="020F0502020204030204" pitchFamily="34" charset="0"/>
              </a:rPr>
              <a:t>密钥生成</a:t>
            </a:r>
            <a:r>
              <a:rPr lang="zh-CN" altLang="en-US" sz="2400" b="1" spc="-38" dirty="0">
                <a:solidFill>
                  <a:srgbClr val="3D5663"/>
                </a:solidFill>
                <a:latin typeface="Calibri" panose="020F0502020204030204" pitchFamily="34" charset="0"/>
                <a:cs typeface="Calibri" panose="020F0502020204030204" pitchFamily="34" charset="0"/>
              </a:rPr>
              <a:t>方法</a:t>
            </a:r>
            <a:endParaRPr lang="zh-CN" altLang="en-US" sz="2400" b="1" spc="-38" dirty="0">
              <a:solidFill>
                <a:srgbClr val="3D5663"/>
              </a:solidFill>
              <a:latin typeface="Calibri" panose="020F0502020204030204" pitchFamily="34" charset="0"/>
              <a:cs typeface="Calibri" panose="020F0502020204030204" pitchFamily="34" charset="0"/>
            </a:endParaRPr>
          </a:p>
        </p:txBody>
      </p:sp>
      <p:grpSp>
        <p:nvGrpSpPr>
          <p:cNvPr id="7" name="组合 6"/>
          <p:cNvGrpSpPr/>
          <p:nvPr/>
        </p:nvGrpSpPr>
        <p:grpSpPr>
          <a:xfrm>
            <a:off x="152271" y="1291023"/>
            <a:ext cx="8809362" cy="2397861"/>
            <a:chOff x="1034" y="3280"/>
            <a:chExt cx="17167" cy="5354"/>
          </a:xfrm>
        </p:grpSpPr>
        <p:pic>
          <p:nvPicPr>
            <p:cNvPr id="40" name="图片 39" descr="图片包含 图示&#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80" y="3280"/>
              <a:ext cx="7792" cy="5354"/>
            </a:xfrm>
            <a:prstGeom prst="rect">
              <a:avLst/>
            </a:prstGeom>
          </p:spPr>
        </p:pic>
        <p:sp>
          <p:nvSpPr>
            <p:cNvPr id="51" name="矩形 50"/>
            <p:cNvSpPr/>
            <p:nvPr/>
          </p:nvSpPr>
          <p:spPr>
            <a:xfrm>
              <a:off x="1059" y="3350"/>
              <a:ext cx="4002" cy="82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r"/>
              <a:r>
                <a:rPr lang="en-US" altLang="zh-CN" sz="2400" b="1" dirty="0">
                  <a:solidFill>
                    <a:schemeClr val="accent2"/>
                  </a:solidFill>
                  <a:latin typeface="OPPOSans B" panose="00020600040101010101" pitchFamily="18" charset="-122"/>
                  <a:ea typeface="OPPOSans B" panose="00020600040101010101" pitchFamily="18" charset="-122"/>
                  <a:cs typeface="OPPOSans B" panose="00020600040101010101" pitchFamily="18" charset="-122"/>
                </a:rPr>
                <a:t>Just Works</a:t>
              </a:r>
              <a:endParaRPr lang="en-US" altLang="zh-CN" sz="2400" b="1" dirty="0">
                <a:solidFill>
                  <a:schemeClr val="accent2"/>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52" name="矩形 51"/>
            <p:cNvSpPr/>
            <p:nvPr/>
          </p:nvSpPr>
          <p:spPr>
            <a:xfrm>
              <a:off x="1059" y="4073"/>
              <a:ext cx="4002" cy="1428"/>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30000"/>
                </a:lnSpc>
              </a:pP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无交互，不需要身份</a:t>
              </a: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验证</a:t>
              </a:r>
              <a:endPar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endParaRPr>
            </a:p>
          </p:txBody>
        </p:sp>
        <p:sp>
          <p:nvSpPr>
            <p:cNvPr id="53" name="矩形 52"/>
            <p:cNvSpPr/>
            <p:nvPr/>
          </p:nvSpPr>
          <p:spPr>
            <a:xfrm>
              <a:off x="14138" y="3346"/>
              <a:ext cx="4002" cy="82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en-US" altLang="zh-CN" sz="2400" b="1" dirty="0">
                  <a:solidFill>
                    <a:schemeClr val="accent1"/>
                  </a:solidFill>
                  <a:latin typeface="OPPOSans B" panose="00020600040101010101" pitchFamily="18" charset="-122"/>
                  <a:ea typeface="OPPOSans B" panose="00020600040101010101" pitchFamily="18" charset="-122"/>
                  <a:cs typeface="OPPOSans B" panose="00020600040101010101" pitchFamily="18" charset="-122"/>
                </a:rPr>
                <a:t>Passkey Entry</a:t>
              </a:r>
              <a:endParaRPr lang="en-US" altLang="zh-CN" sz="2400" b="1" dirty="0">
                <a:solidFill>
                  <a:schemeClr val="accent1"/>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54" name="矩形 53"/>
            <p:cNvSpPr/>
            <p:nvPr/>
          </p:nvSpPr>
          <p:spPr>
            <a:xfrm>
              <a:off x="14138" y="4170"/>
              <a:ext cx="4002" cy="1428"/>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输入</a:t>
              </a:r>
              <a:r>
                <a:rPr lang="en-US" altLang="zh-CN"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6</a:t>
              </a: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位数密码，提供身份</a:t>
              </a: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验证</a:t>
              </a:r>
              <a:endPar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endParaRPr>
            </a:p>
          </p:txBody>
        </p:sp>
        <p:sp>
          <p:nvSpPr>
            <p:cNvPr id="55" name="矩形 54"/>
            <p:cNvSpPr/>
            <p:nvPr/>
          </p:nvSpPr>
          <p:spPr>
            <a:xfrm>
              <a:off x="1034" y="6139"/>
              <a:ext cx="4002" cy="82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r"/>
              <a:r>
                <a:rPr lang="en-US" altLang="zh-CN" sz="2400" b="1" dirty="0">
                  <a:solidFill>
                    <a:schemeClr val="accent1"/>
                  </a:solidFill>
                  <a:latin typeface="OPPOSans B" panose="00020600040101010101" pitchFamily="18" charset="-122"/>
                  <a:ea typeface="OPPOSans B" panose="00020600040101010101" pitchFamily="18" charset="-122"/>
                  <a:cs typeface="OPPOSans B" panose="00020600040101010101" pitchFamily="18" charset="-122"/>
                </a:rPr>
                <a:t>Out of band</a:t>
              </a:r>
              <a:endParaRPr lang="en-US" altLang="zh-CN" sz="2400" b="1" dirty="0">
                <a:solidFill>
                  <a:schemeClr val="accent1"/>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56" name="矩形 55"/>
            <p:cNvSpPr/>
            <p:nvPr/>
          </p:nvSpPr>
          <p:spPr>
            <a:xfrm>
              <a:off x="1059" y="6892"/>
              <a:ext cx="4002" cy="1428"/>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30000"/>
                </a:lnSpc>
              </a:pP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使用蓝牙之外的物理通道</a:t>
              </a: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交换认证</a:t>
              </a: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数据</a:t>
              </a:r>
              <a:endPar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endParaRPr>
            </a:p>
          </p:txBody>
        </p:sp>
        <p:sp>
          <p:nvSpPr>
            <p:cNvPr id="57" name="矩形 56"/>
            <p:cNvSpPr/>
            <p:nvPr/>
          </p:nvSpPr>
          <p:spPr>
            <a:xfrm>
              <a:off x="12626" y="6282"/>
              <a:ext cx="5575" cy="82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en-US" altLang="zh-CN" sz="2400" b="1" dirty="0">
                  <a:solidFill>
                    <a:schemeClr val="accent2"/>
                  </a:solidFill>
                  <a:latin typeface="OPPOSans B" panose="00020600040101010101" pitchFamily="18" charset="-122"/>
                  <a:ea typeface="OPPOSans B" panose="00020600040101010101" pitchFamily="18" charset="-122"/>
                  <a:cs typeface="OPPOSans B" panose="00020600040101010101" pitchFamily="18" charset="-122"/>
                </a:rPr>
                <a:t>Numeric Comparison</a:t>
              </a:r>
              <a:endParaRPr lang="en-US" altLang="zh-CN" sz="2400" b="1" dirty="0">
                <a:solidFill>
                  <a:schemeClr val="accent2"/>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58" name="矩形 57"/>
            <p:cNvSpPr/>
            <p:nvPr/>
          </p:nvSpPr>
          <p:spPr>
            <a:xfrm>
              <a:off x="12625" y="7105"/>
              <a:ext cx="5457" cy="1428"/>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需使用安全连接，双方设备提供相同的</a:t>
              </a:r>
              <a:r>
                <a:rPr lang="en-US" altLang="zh-CN"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6</a:t>
              </a: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位数字用于用户</a:t>
              </a:r>
              <a:r>
                <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rPr>
                <a:t>确认</a:t>
              </a:r>
              <a:endParaRPr lang="zh-CN" altLang="en-US" sz="1600" dirty="0">
                <a:solidFill>
                  <a:schemeClr val="tx1">
                    <a:lumMod val="85000"/>
                    <a:lumOff val="15000"/>
                  </a:schemeClr>
                </a:solidFill>
                <a:latin typeface="OPPOSans L" panose="00020600040101010101" pitchFamily="18" charset="-122"/>
                <a:ea typeface="OPPOSans L" panose="00020600040101010101" pitchFamily="18" charset="-122"/>
                <a:cs typeface="OPPOSans L" panose="00020600040101010101" pitchFamily="18" charset="-122"/>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zh-CN" altLang="en-US" sz="2400" b="1" spc="-38" dirty="0">
                <a:solidFill>
                  <a:srgbClr val="3D5663"/>
                </a:solidFill>
                <a:latin typeface="Calibri" panose="020F0502020204030204" pitchFamily="34" charset="0"/>
                <a:cs typeface="Calibri" panose="020F0502020204030204" pitchFamily="34" charset="0"/>
              </a:rPr>
              <a:t>密钥生成</a:t>
            </a:r>
            <a:r>
              <a:rPr lang="zh-CN" altLang="en-US" sz="2400" b="1" spc="-38" dirty="0">
                <a:solidFill>
                  <a:srgbClr val="3D5663"/>
                </a:solidFill>
                <a:latin typeface="Calibri" panose="020F0502020204030204" pitchFamily="34" charset="0"/>
                <a:cs typeface="Calibri" panose="020F0502020204030204" pitchFamily="34" charset="0"/>
              </a:rPr>
              <a:t>方法</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3" name="文本框 2"/>
          <p:cNvSpPr txBox="1"/>
          <p:nvPr/>
        </p:nvSpPr>
        <p:spPr>
          <a:xfrm>
            <a:off x="215900" y="657225"/>
            <a:ext cx="5142865" cy="368300"/>
          </a:xfrm>
          <a:prstGeom prst="rect">
            <a:avLst/>
          </a:prstGeom>
          <a:noFill/>
        </p:spPr>
        <p:txBody>
          <a:bodyPr wrap="square" rtlCol="0">
            <a:spAutoFit/>
          </a:bodyPr>
          <a:p>
            <a:r>
              <a:rPr lang="zh-CN" altLang="en-US"/>
              <a:t>决定因素：</a:t>
            </a:r>
            <a:r>
              <a:rPr lang="en-US" altLang="zh-CN"/>
              <a:t>IO</a:t>
            </a:r>
            <a:r>
              <a:rPr lang="zh-CN" altLang="en-US"/>
              <a:t>能力、</a:t>
            </a:r>
            <a:r>
              <a:rPr lang="en-US" altLang="zh-CN"/>
              <a:t>OOB flag</a:t>
            </a:r>
            <a:r>
              <a:rPr lang="zh-CN" altLang="en-US"/>
              <a:t>、</a:t>
            </a:r>
            <a:r>
              <a:rPr lang="en-US" altLang="zh-CN"/>
              <a:t>MITM</a:t>
            </a:r>
            <a:r>
              <a:rPr lang="zh-CN" altLang="en-US"/>
              <a:t>、</a:t>
            </a:r>
            <a:r>
              <a:rPr lang="en-US" altLang="zh-CN"/>
              <a:t>SC</a:t>
            </a:r>
            <a:endParaRPr lang="en-US" altLang="zh-CN"/>
          </a:p>
        </p:txBody>
      </p:sp>
      <p:pic>
        <p:nvPicPr>
          <p:cNvPr id="5" name="图片 4"/>
          <p:cNvPicPr>
            <a:picLocks noChangeAspect="1"/>
          </p:cNvPicPr>
          <p:nvPr/>
        </p:nvPicPr>
        <p:blipFill>
          <a:blip r:embed="rId1"/>
          <a:stretch>
            <a:fillRect/>
          </a:stretch>
        </p:blipFill>
        <p:spPr>
          <a:xfrm>
            <a:off x="215900" y="1684655"/>
            <a:ext cx="4224655" cy="2373630"/>
          </a:xfrm>
          <a:prstGeom prst="rect">
            <a:avLst/>
          </a:prstGeom>
        </p:spPr>
      </p:pic>
      <p:pic>
        <p:nvPicPr>
          <p:cNvPr id="7" name="图片 6"/>
          <p:cNvPicPr>
            <a:picLocks noChangeAspect="1"/>
          </p:cNvPicPr>
          <p:nvPr/>
        </p:nvPicPr>
        <p:blipFill>
          <a:blip r:embed="rId2"/>
          <a:stretch>
            <a:fillRect/>
          </a:stretch>
        </p:blipFill>
        <p:spPr>
          <a:xfrm>
            <a:off x="4744085" y="1684655"/>
            <a:ext cx="4138930" cy="2334260"/>
          </a:xfrm>
          <a:prstGeom prst="rect">
            <a:avLst/>
          </a:prstGeom>
        </p:spPr>
      </p:pic>
      <p:sp>
        <p:nvSpPr>
          <p:cNvPr id="8" name="文本框 7"/>
          <p:cNvSpPr txBox="1"/>
          <p:nvPr/>
        </p:nvSpPr>
        <p:spPr>
          <a:xfrm>
            <a:off x="215900" y="1249680"/>
            <a:ext cx="3048000" cy="36830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传统配对</a:t>
            </a:r>
            <a:endParaRPr lang="zh-CN" altLang="en-US" b="1">
              <a:latin typeface="宋体" panose="02010600030101010101" pitchFamily="2" charset="-122"/>
              <a:ea typeface="宋体" panose="02010600030101010101" pitchFamily="2" charset="-122"/>
            </a:endParaRPr>
          </a:p>
        </p:txBody>
      </p:sp>
      <p:sp>
        <p:nvSpPr>
          <p:cNvPr id="9" name="文本框 8"/>
          <p:cNvSpPr txBox="1"/>
          <p:nvPr/>
        </p:nvSpPr>
        <p:spPr>
          <a:xfrm>
            <a:off x="4744085" y="1316355"/>
            <a:ext cx="3048000" cy="36830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安全连接</a:t>
            </a:r>
            <a:endParaRPr lang="zh-CN" altLang="en-US" b="1">
              <a:latin typeface="宋体" panose="02010600030101010101" pitchFamily="2" charset="-122"/>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zh-CN" altLang="en-US" sz="2400" b="1" spc="-38" dirty="0">
                <a:solidFill>
                  <a:srgbClr val="3D5663"/>
                </a:solidFill>
                <a:latin typeface="Calibri" panose="020F0502020204030204" pitchFamily="34" charset="0"/>
                <a:cs typeface="Calibri" panose="020F0502020204030204" pitchFamily="34" charset="0"/>
              </a:rPr>
              <a:t>密钥生成</a:t>
            </a:r>
            <a:r>
              <a:rPr lang="zh-CN" altLang="en-US" sz="2400" b="1" spc="-38" dirty="0">
                <a:solidFill>
                  <a:srgbClr val="3D5663"/>
                </a:solidFill>
                <a:latin typeface="Calibri" panose="020F0502020204030204" pitchFamily="34" charset="0"/>
                <a:cs typeface="Calibri" panose="020F0502020204030204" pitchFamily="34" charset="0"/>
              </a:rPr>
              <a:t>方法</a:t>
            </a:r>
            <a:endParaRPr lang="zh-CN" altLang="en-US" sz="2400" b="1" spc="-38" dirty="0">
              <a:solidFill>
                <a:srgbClr val="3D5663"/>
              </a:solidFill>
              <a:latin typeface="Calibri" panose="020F0502020204030204" pitchFamily="34" charset="0"/>
              <a:cs typeface="Calibri" panose="020F0502020204030204" pitchFamily="34" charset="0"/>
            </a:endParaRPr>
          </a:p>
        </p:txBody>
      </p:sp>
      <p:graphicFrame>
        <p:nvGraphicFramePr>
          <p:cNvPr id="3" name="表格 2"/>
          <p:cNvGraphicFramePr/>
          <p:nvPr>
            <p:custDataLst>
              <p:tags r:id="rId1"/>
            </p:custDataLst>
          </p:nvPr>
        </p:nvGraphicFramePr>
        <p:xfrm>
          <a:off x="139065" y="930910"/>
          <a:ext cx="8822055" cy="3477260"/>
        </p:xfrm>
        <a:graphic>
          <a:graphicData uri="http://schemas.openxmlformats.org/drawingml/2006/table">
            <a:tbl>
              <a:tblPr firstRow="1" bandRow="1">
                <a:tableStyleId>{5940675A-B579-460E-94D1-54222C63F5DA}</a:tableStyleId>
              </a:tblPr>
              <a:tblGrid>
                <a:gridCol w="1666240"/>
                <a:gridCol w="1271270"/>
                <a:gridCol w="1263015"/>
                <a:gridCol w="1400175"/>
                <a:gridCol w="1700530"/>
                <a:gridCol w="1520825"/>
              </a:tblGrid>
              <a:tr h="520700">
                <a:tc>
                  <a:txBody>
                    <a:bodyPr/>
                    <a:p>
                      <a:pPr algn="ctr">
                        <a:buNone/>
                      </a:pPr>
                      <a:endParaRPr lang="zh-CN" altLang="en-US"/>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350" b="1">
                          <a:latin typeface="Times New Roman" panose="02020603050405020304" charset="0"/>
                          <a:cs typeface="Times New Roman" panose="02020603050405020304" charset="0"/>
                          <a:sym typeface="+mn-ea"/>
                        </a:rPr>
                        <a:t>DisplayOnly</a:t>
                      </a:r>
                      <a:endParaRPr lang="en-US" altLang="zh-CN" sz="1350" b="1">
                        <a:latin typeface="Times New Roman" panose="02020603050405020304" charset="0"/>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40000"/>
                        <a:lumOff val="60000"/>
                      </a:schemeClr>
                    </a:solidFill>
                  </a:tcPr>
                </a:tc>
                <a:tc>
                  <a:txBody>
                    <a:bodyPr/>
                    <a:p>
                      <a:pPr algn="ctr">
                        <a:buNone/>
                      </a:pPr>
                      <a:r>
                        <a:rPr lang="en-US" altLang="zh-CN" sz="1350" b="1">
                          <a:latin typeface="Times New Roman" panose="02020603050405020304" charset="0"/>
                          <a:cs typeface="Times New Roman" panose="02020603050405020304" charset="0"/>
                          <a:sym typeface="+mn-ea"/>
                        </a:rPr>
                        <a:t>DisplayYesNo</a:t>
                      </a:r>
                      <a:endParaRPr lang="en-US" altLang="zh-CN" sz="1350" b="1">
                        <a:latin typeface="Times New Roman" panose="02020603050405020304" charset="0"/>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40000"/>
                        <a:lumOff val="60000"/>
                      </a:schemeClr>
                    </a:solidFill>
                  </a:tcPr>
                </a:tc>
                <a:tc>
                  <a:txBody>
                    <a:bodyPr/>
                    <a:p>
                      <a:pPr algn="ctr">
                        <a:buNone/>
                      </a:pPr>
                      <a:r>
                        <a:rPr lang="en-US" altLang="zh-CN" sz="1350" b="1">
                          <a:latin typeface="Times New Roman" panose="02020603050405020304" charset="0"/>
                          <a:cs typeface="Times New Roman" panose="02020603050405020304" charset="0"/>
                          <a:sym typeface="+mn-ea"/>
                        </a:rPr>
                        <a:t>KeyboardOnly</a:t>
                      </a:r>
                      <a:endParaRPr lang="en-US" altLang="zh-CN" sz="1350" b="1">
                        <a:latin typeface="Times New Roman" panose="02020603050405020304" charset="0"/>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40000"/>
                        <a:lumOff val="60000"/>
                      </a:schemeClr>
                    </a:solidFill>
                  </a:tcPr>
                </a:tc>
                <a:tc>
                  <a:txBody>
                    <a:bodyPr/>
                    <a:p>
                      <a:pPr algn="ctr">
                        <a:buNone/>
                      </a:pPr>
                      <a:r>
                        <a:rPr lang="en-US" altLang="zh-CN" sz="1350" b="1">
                          <a:latin typeface="Times New Roman" panose="02020603050405020304" charset="0"/>
                          <a:cs typeface="Times New Roman" panose="02020603050405020304" charset="0"/>
                          <a:sym typeface="+mn-ea"/>
                        </a:rPr>
                        <a:t>NoInoput</a:t>
                      </a:r>
                      <a:r>
                        <a:rPr lang="en-US" altLang="zh-CN" sz="1350" b="1">
                          <a:latin typeface="Times New Roman" panose="02020603050405020304" charset="0"/>
                          <a:ea typeface="宋体" panose="02010600030101010101" pitchFamily="2" charset="-122"/>
                          <a:cs typeface="Times New Roman" panose="02020603050405020304" charset="0"/>
                          <a:sym typeface="+mn-ea"/>
                        </a:rPr>
                        <a:t>NoOutput</a:t>
                      </a:r>
                      <a:endParaRPr lang="zh-CN" altLang="en-US" b="1"/>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40000"/>
                        <a:lumOff val="60000"/>
                      </a:schemeClr>
                    </a:solidFill>
                  </a:tcPr>
                </a:tc>
                <a:tc>
                  <a:txBody>
                    <a:bodyPr/>
                    <a:p>
                      <a:pPr algn="ctr">
                        <a:buNone/>
                      </a:pPr>
                      <a:r>
                        <a:rPr lang="en-US" altLang="zh-CN" sz="1350" b="1">
                          <a:latin typeface="Times New Roman" panose="02020603050405020304" charset="0"/>
                          <a:cs typeface="Times New Roman" panose="02020603050405020304" charset="0"/>
                          <a:sym typeface="+mn-ea"/>
                        </a:rPr>
                        <a:t>KeyboardDisplay</a:t>
                      </a:r>
                      <a:endParaRPr lang="en-US" altLang="zh-CN" sz="1350" b="1">
                        <a:latin typeface="Times New Roman" panose="02020603050405020304" charset="0"/>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40000"/>
                        <a:lumOff val="60000"/>
                      </a:schemeClr>
                    </a:solidFill>
                  </a:tcPr>
                </a:tc>
              </a:tr>
              <a:tr h="520700">
                <a:tc>
                  <a:txBody>
                    <a:bodyPr/>
                    <a:p>
                      <a:pPr algn="ctr">
                        <a:buNone/>
                      </a:pPr>
                      <a:r>
                        <a:rPr lang="en-US" altLang="zh-CN" sz="1350" b="1">
                          <a:latin typeface="Times New Roman" panose="02020603050405020304" charset="0"/>
                          <a:cs typeface="Times New Roman" panose="02020603050405020304" charset="0"/>
                          <a:sym typeface="+mn-ea"/>
                        </a:rPr>
                        <a:t>DisplayOnly</a:t>
                      </a:r>
                      <a:endParaRPr lang="en-US" altLang="zh-CN" sz="1350" b="1">
                        <a:latin typeface="Times New Roman" panose="02020603050405020304" charset="0"/>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40000"/>
                        <a:lumOff val="60000"/>
                      </a:schemeClr>
                    </a:solidFill>
                  </a:tcPr>
                </a:tc>
                <a:tc>
                  <a:txBody>
                    <a:bodyPr/>
                    <a:p>
                      <a:pPr algn="ctr">
                        <a:buNone/>
                      </a:pPr>
                      <a:r>
                        <a:rPr lang="en-US" altLang="zh-CN">
                          <a:latin typeface="Times New Roman" panose="02020603050405020304" charset="0"/>
                          <a:cs typeface="Times New Roman" panose="02020603050405020304" charset="0"/>
                        </a:rPr>
                        <a:t>Just Works</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latin typeface="Times New Roman" panose="02020603050405020304" charset="0"/>
                          <a:cs typeface="Times New Roman" panose="02020603050405020304" charset="0"/>
                        </a:rPr>
                        <a:t>Just Works</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latin typeface="Times New Roman" panose="02020603050405020304" charset="0"/>
                          <a:cs typeface="Times New Roman" panose="02020603050405020304" charset="0"/>
                        </a:rPr>
                        <a:t>Passkey Entry</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350">
                          <a:latin typeface="Times New Roman" panose="02020603050405020304" charset="0"/>
                          <a:cs typeface="Times New Roman" panose="02020603050405020304" charset="0"/>
                          <a:sym typeface="+mn-ea"/>
                        </a:rPr>
                        <a:t>Just Works</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350">
                          <a:latin typeface="Times New Roman" panose="02020603050405020304" charset="0"/>
                          <a:cs typeface="Times New Roman" panose="02020603050405020304" charset="0"/>
                          <a:sym typeface="+mn-ea"/>
                        </a:rPr>
                        <a:t>Passkey Entry</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97180">
                <a:tc rowSpan="2">
                  <a:txBody>
                    <a:bodyPr/>
                    <a:p>
                      <a:pPr algn="ctr">
                        <a:buNone/>
                      </a:pPr>
                      <a:r>
                        <a:rPr lang="en-US" altLang="zh-CN" sz="1350" b="1">
                          <a:latin typeface="Times New Roman" panose="02020603050405020304" charset="0"/>
                          <a:cs typeface="Times New Roman" panose="02020603050405020304" charset="0"/>
                          <a:sym typeface="+mn-ea"/>
                        </a:rPr>
                        <a:t>DisplayYesNo</a:t>
                      </a:r>
                      <a:endParaRPr lang="en-US" altLang="zh-CN" sz="1350" b="1">
                        <a:latin typeface="Times New Roman" panose="02020603050405020304" charset="0"/>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40000"/>
                        <a:lumOff val="60000"/>
                      </a:schemeClr>
                    </a:solidFill>
                  </a:tcPr>
                </a:tc>
                <a:tc rowSpan="2">
                  <a:txBody>
                    <a:bodyPr/>
                    <a:p>
                      <a:pPr algn="ctr">
                        <a:buNone/>
                      </a:pPr>
                      <a:r>
                        <a:rPr lang="en-US" altLang="zh-CN">
                          <a:latin typeface="Times New Roman" panose="02020603050405020304" charset="0"/>
                          <a:cs typeface="Times New Roman" panose="02020603050405020304" charset="0"/>
                        </a:rPr>
                        <a:t>Just Works</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latin typeface="Times New Roman" panose="02020603050405020304" charset="0"/>
                          <a:cs typeface="Times New Roman" panose="02020603050405020304" charset="0"/>
                        </a:rPr>
                        <a:t>Just Works</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2">
                  <a:txBody>
                    <a:bodyPr/>
                    <a:p>
                      <a:pPr algn="ctr">
                        <a:buNone/>
                      </a:pPr>
                      <a:r>
                        <a:rPr lang="en-US" altLang="zh-CN" sz="1350">
                          <a:latin typeface="Times New Roman" panose="02020603050405020304" charset="0"/>
                          <a:cs typeface="Times New Roman" panose="02020603050405020304" charset="0"/>
                          <a:sym typeface="+mn-ea"/>
                        </a:rPr>
                        <a:t>Passkey Entry</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2">
                  <a:txBody>
                    <a:bodyPr/>
                    <a:p>
                      <a:pPr algn="ctr">
                        <a:buNone/>
                      </a:pPr>
                      <a:r>
                        <a:rPr lang="en-US" altLang="zh-CN" sz="1350">
                          <a:latin typeface="Times New Roman" panose="02020603050405020304" charset="0"/>
                          <a:cs typeface="Times New Roman" panose="02020603050405020304" charset="0"/>
                          <a:sym typeface="+mn-ea"/>
                        </a:rPr>
                        <a:t>Just Works</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latin typeface="Times New Roman" panose="02020603050405020304" charset="0"/>
                          <a:cs typeface="Times New Roman" panose="02020603050405020304" charset="0"/>
                        </a:rPr>
                        <a:t>Passkey Entry</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0292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latin typeface="Times New Roman" panose="02020603050405020304" charset="0"/>
                          <a:cs typeface="Times New Roman" panose="02020603050405020304" charset="0"/>
                        </a:rPr>
                        <a:t>Numeric Comparison</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latin typeface="Times New Roman" panose="02020603050405020304" charset="0"/>
                          <a:cs typeface="Times New Roman" panose="02020603050405020304" charset="0"/>
                        </a:rPr>
                        <a:t>Numeric Comparison</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20700">
                <a:tc>
                  <a:txBody>
                    <a:bodyPr/>
                    <a:p>
                      <a:pPr algn="ctr">
                        <a:buNone/>
                      </a:pPr>
                      <a:r>
                        <a:rPr lang="en-US" altLang="zh-CN" sz="1350" b="1">
                          <a:latin typeface="Times New Roman" panose="02020603050405020304" charset="0"/>
                          <a:cs typeface="Times New Roman" panose="02020603050405020304" charset="0"/>
                          <a:sym typeface="+mn-ea"/>
                        </a:rPr>
                        <a:t>KeyboardOnly</a:t>
                      </a:r>
                      <a:endParaRPr lang="en-US" altLang="zh-CN" sz="1350" b="1">
                        <a:latin typeface="Times New Roman" panose="02020603050405020304" charset="0"/>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40000"/>
                        <a:lumOff val="60000"/>
                      </a:schemeClr>
                    </a:solidFill>
                  </a:tcPr>
                </a:tc>
                <a:tc>
                  <a:txBody>
                    <a:bodyPr/>
                    <a:p>
                      <a:pPr algn="ctr">
                        <a:buNone/>
                      </a:pPr>
                      <a:r>
                        <a:rPr lang="en-US" altLang="zh-CN" sz="1350">
                          <a:latin typeface="Times New Roman" panose="02020603050405020304" charset="0"/>
                          <a:cs typeface="Times New Roman" panose="02020603050405020304" charset="0"/>
                          <a:sym typeface="+mn-ea"/>
                        </a:rPr>
                        <a:t>Passkey Entry</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350">
                          <a:latin typeface="Times New Roman" panose="02020603050405020304" charset="0"/>
                          <a:cs typeface="Times New Roman" panose="02020603050405020304" charset="0"/>
                          <a:sym typeface="+mn-ea"/>
                        </a:rPr>
                        <a:t>Passkey Entry</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350">
                          <a:latin typeface="Times New Roman" panose="02020603050405020304" charset="0"/>
                          <a:cs typeface="Times New Roman" panose="02020603050405020304" charset="0"/>
                          <a:sym typeface="+mn-ea"/>
                        </a:rPr>
                        <a:t>Passkey Entry</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350">
                          <a:latin typeface="Times New Roman" panose="02020603050405020304" charset="0"/>
                          <a:cs typeface="Times New Roman" panose="02020603050405020304" charset="0"/>
                          <a:sym typeface="+mn-ea"/>
                        </a:rPr>
                        <a:t>Just Works</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350">
                          <a:latin typeface="Times New Roman" panose="02020603050405020304" charset="0"/>
                          <a:cs typeface="Times New Roman" panose="02020603050405020304" charset="0"/>
                          <a:sym typeface="+mn-ea"/>
                        </a:rPr>
                        <a:t>Passkey Entry</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20700">
                <a:tc>
                  <a:txBody>
                    <a:bodyPr/>
                    <a:p>
                      <a:pPr algn="ctr">
                        <a:buNone/>
                      </a:pPr>
                      <a:r>
                        <a:rPr lang="en-US" altLang="zh-CN" sz="1350" b="1">
                          <a:latin typeface="Times New Roman" panose="02020603050405020304" charset="0"/>
                          <a:cs typeface="Times New Roman" panose="02020603050405020304" charset="0"/>
                          <a:sym typeface="+mn-ea"/>
                        </a:rPr>
                        <a:t>NoInoput</a:t>
                      </a:r>
                      <a:r>
                        <a:rPr lang="en-US" altLang="zh-CN" sz="1350" b="1">
                          <a:latin typeface="Times New Roman" panose="02020603050405020304" charset="0"/>
                          <a:ea typeface="宋体" panose="02010600030101010101" pitchFamily="2" charset="-122"/>
                          <a:cs typeface="Times New Roman" panose="02020603050405020304" charset="0"/>
                          <a:sym typeface="+mn-ea"/>
                        </a:rPr>
                        <a:t>NoOutput</a:t>
                      </a:r>
                      <a:endParaRPr lang="zh-CN" altLang="en-US" b="1"/>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40000"/>
                        <a:lumOff val="60000"/>
                      </a:schemeClr>
                    </a:solidFill>
                  </a:tcPr>
                </a:tc>
                <a:tc>
                  <a:txBody>
                    <a:bodyPr/>
                    <a:p>
                      <a:pPr algn="ctr">
                        <a:buNone/>
                      </a:pPr>
                      <a:r>
                        <a:rPr lang="en-US" altLang="zh-CN" sz="1350">
                          <a:latin typeface="Times New Roman" panose="02020603050405020304" charset="0"/>
                          <a:cs typeface="Times New Roman" panose="02020603050405020304" charset="0"/>
                          <a:sym typeface="+mn-ea"/>
                        </a:rPr>
                        <a:t>Just Works</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350">
                          <a:latin typeface="Times New Roman" panose="02020603050405020304" charset="0"/>
                          <a:cs typeface="Times New Roman" panose="02020603050405020304" charset="0"/>
                          <a:sym typeface="+mn-ea"/>
                        </a:rPr>
                        <a:t>Just Works</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350">
                          <a:latin typeface="Times New Roman" panose="02020603050405020304" charset="0"/>
                          <a:cs typeface="Times New Roman" panose="02020603050405020304" charset="0"/>
                          <a:sym typeface="+mn-ea"/>
                        </a:rPr>
                        <a:t>Just Works</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350">
                          <a:latin typeface="Times New Roman" panose="02020603050405020304" charset="0"/>
                          <a:cs typeface="Times New Roman" panose="02020603050405020304" charset="0"/>
                          <a:sym typeface="+mn-ea"/>
                        </a:rPr>
                        <a:t>Just Works</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sz="1350">
                          <a:latin typeface="Times New Roman" panose="02020603050405020304" charset="0"/>
                          <a:cs typeface="Times New Roman" panose="02020603050405020304" charset="0"/>
                          <a:sym typeface="+mn-ea"/>
                        </a:rPr>
                        <a:t>Just Works</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97180">
                <a:tc rowSpan="2">
                  <a:txBody>
                    <a:bodyPr/>
                    <a:p>
                      <a:pPr algn="ctr">
                        <a:buNone/>
                      </a:pPr>
                      <a:r>
                        <a:rPr lang="en-US" altLang="zh-CN" sz="1350" b="1">
                          <a:latin typeface="Times New Roman" panose="02020603050405020304" charset="0"/>
                          <a:cs typeface="Times New Roman" panose="02020603050405020304" charset="0"/>
                          <a:sym typeface="+mn-ea"/>
                        </a:rPr>
                        <a:t>KeyboardDisplay</a:t>
                      </a:r>
                      <a:endParaRPr lang="en-US" altLang="zh-CN" sz="1350" b="1">
                        <a:latin typeface="Times New Roman" panose="02020603050405020304" charset="0"/>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lumMod val="40000"/>
                        <a:lumOff val="60000"/>
                      </a:schemeClr>
                    </a:solidFill>
                  </a:tcPr>
                </a:tc>
                <a:tc rowSpan="2">
                  <a:txBody>
                    <a:bodyPr/>
                    <a:p>
                      <a:pPr algn="ctr">
                        <a:buNone/>
                      </a:pPr>
                      <a:r>
                        <a:rPr lang="en-US" altLang="zh-CN" sz="1350">
                          <a:latin typeface="Times New Roman" panose="02020603050405020304" charset="0"/>
                          <a:cs typeface="Times New Roman" panose="02020603050405020304" charset="0"/>
                          <a:sym typeface="+mn-ea"/>
                        </a:rPr>
                        <a:t>Passkey Entry</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latin typeface="Times New Roman" panose="02020603050405020304" charset="0"/>
                          <a:cs typeface="Times New Roman" panose="02020603050405020304" charset="0"/>
                        </a:rPr>
                        <a:t>Passkey Entry</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2">
                  <a:txBody>
                    <a:bodyPr/>
                    <a:p>
                      <a:pPr algn="ctr">
                        <a:buNone/>
                      </a:pPr>
                      <a:r>
                        <a:rPr lang="en-US" altLang="zh-CN" sz="1350">
                          <a:latin typeface="Times New Roman" panose="02020603050405020304" charset="0"/>
                          <a:cs typeface="Times New Roman" panose="02020603050405020304" charset="0"/>
                          <a:sym typeface="+mn-ea"/>
                        </a:rPr>
                        <a:t>Passkey Entry</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rowSpan="2">
                  <a:txBody>
                    <a:bodyPr/>
                    <a:p>
                      <a:pPr algn="ctr">
                        <a:buNone/>
                      </a:pPr>
                      <a:r>
                        <a:rPr lang="en-US" altLang="zh-CN" sz="1350">
                          <a:latin typeface="Times New Roman" panose="02020603050405020304" charset="0"/>
                          <a:cs typeface="Times New Roman" panose="02020603050405020304" charset="0"/>
                          <a:sym typeface="+mn-ea"/>
                        </a:rPr>
                        <a:t>Just Works</a:t>
                      </a:r>
                      <a:endParaRPr lang="zh-CN" altLang="en-US">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latin typeface="Times New Roman" panose="02020603050405020304" charset="0"/>
                          <a:cs typeface="Times New Roman" panose="02020603050405020304" charset="0"/>
                        </a:rPr>
                        <a:t>Passkey Entry</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9718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latin typeface="Times New Roman" panose="02020603050405020304" charset="0"/>
                          <a:cs typeface="Times New Roman" panose="02020603050405020304" charset="0"/>
                        </a:rPr>
                        <a:t>Numeric Comparison</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latin typeface="Times New Roman" panose="02020603050405020304" charset="0"/>
                          <a:cs typeface="Times New Roman" panose="02020603050405020304" charset="0"/>
                        </a:rPr>
                        <a:t>Numeric Comparison</a:t>
                      </a:r>
                      <a:endParaRPr lang="en-US" altLang="zh-CN">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5" name="文本框 4"/>
          <p:cNvSpPr txBox="1"/>
          <p:nvPr/>
        </p:nvSpPr>
        <p:spPr>
          <a:xfrm>
            <a:off x="139065" y="562610"/>
            <a:ext cx="3048000" cy="368300"/>
          </a:xfrm>
          <a:prstGeom prst="rect">
            <a:avLst/>
          </a:prstGeom>
          <a:noFill/>
        </p:spPr>
        <p:txBody>
          <a:bodyPr wrap="square" rtlCol="0">
            <a:spAutoFit/>
          </a:bodyPr>
          <a:p>
            <a:r>
              <a:rPr lang="en-US" altLang="zh-CN"/>
              <a:t>IO</a:t>
            </a:r>
            <a:r>
              <a:rPr lang="zh-CN" altLang="en-US"/>
              <a:t>能力</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SMP</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5" name="圆角矩形 4"/>
          <p:cNvSpPr/>
          <p:nvPr/>
        </p:nvSpPr>
        <p:spPr>
          <a:xfrm>
            <a:off x="4445" y="1007745"/>
            <a:ext cx="9140190" cy="3456305"/>
          </a:xfrm>
          <a:prstGeom prst="roundRect">
            <a:avLst>
              <a:gd name="adj"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grpSp>
        <p:nvGrpSpPr>
          <p:cNvPr id="12" name="组合 11"/>
          <p:cNvGrpSpPr/>
          <p:nvPr/>
        </p:nvGrpSpPr>
        <p:grpSpPr>
          <a:xfrm>
            <a:off x="532130" y="1134649"/>
            <a:ext cx="706846" cy="570963"/>
            <a:chOff x="3967162" y="1709964"/>
            <a:chExt cx="4261293" cy="3442107"/>
          </a:xfrm>
        </p:grpSpPr>
        <p:sp>
          <p:nvSpPr>
            <p:cNvPr id="14" name="任意多边形 13"/>
            <p:cNvSpPr/>
            <p:nvPr/>
          </p:nvSpPr>
          <p:spPr>
            <a:xfrm>
              <a:off x="3967162" y="1709964"/>
              <a:ext cx="2059876" cy="3442107"/>
            </a:xfrm>
            <a:custGeom>
              <a:avLst/>
              <a:gdLst>
                <a:gd name="connsiteX0" fmla="*/ 1528953 w 2059876"/>
                <a:gd name="connsiteY0" fmla="*/ 1425380 h 3442107"/>
                <a:gd name="connsiteX1" fmla="*/ 1688402 w 2059876"/>
                <a:gd name="connsiteY1" fmla="*/ 1425380 h 3442107"/>
                <a:gd name="connsiteX2" fmla="*/ 2059877 w 2059876"/>
                <a:gd name="connsiteY2" fmla="*/ 1796855 h 3442107"/>
                <a:gd name="connsiteX3" fmla="*/ 2059877 w 2059876"/>
                <a:gd name="connsiteY3" fmla="*/ 3070633 h 3442107"/>
                <a:gd name="connsiteX4" fmla="*/ 1688402 w 2059876"/>
                <a:gd name="connsiteY4" fmla="*/ 3442108 h 3442107"/>
                <a:gd name="connsiteX5" fmla="*/ 371475 w 2059876"/>
                <a:gd name="connsiteY5" fmla="*/ 3442108 h 3442107"/>
                <a:gd name="connsiteX6" fmla="*/ 0 w 2059876"/>
                <a:gd name="connsiteY6" fmla="*/ 3070633 h 3442107"/>
                <a:gd name="connsiteX7" fmla="*/ 0 w 2059876"/>
                <a:gd name="connsiteY7" fmla="*/ 1527583 h 3442107"/>
                <a:gd name="connsiteX8" fmla="*/ 51911 w 2059876"/>
                <a:gd name="connsiteY8" fmla="*/ 1338226 h 3442107"/>
                <a:gd name="connsiteX9" fmla="*/ 737711 w 2059876"/>
                <a:gd name="connsiteY9" fmla="*/ 182177 h 3442107"/>
                <a:gd name="connsiteX10" fmla="*/ 1185386 w 2059876"/>
                <a:gd name="connsiteY10" fmla="*/ 22823 h 3442107"/>
                <a:gd name="connsiteX11" fmla="*/ 1188149 w 2059876"/>
                <a:gd name="connsiteY11" fmla="*/ 23776 h 3442107"/>
                <a:gd name="connsiteX12" fmla="*/ 1407909 w 2059876"/>
                <a:gd name="connsiteY12" fmla="*/ 500946 h 3442107"/>
                <a:gd name="connsiteX13" fmla="*/ 1383506 w 2059876"/>
                <a:gd name="connsiteY13" fmla="*/ 553842 h 3442107"/>
                <a:gd name="connsiteX14" fmla="*/ 1204913 w 2059876"/>
                <a:gd name="connsiteY14" fmla="*/ 872453 h 3442107"/>
                <a:gd name="connsiteX15" fmla="*/ 1528953 w 2059876"/>
                <a:gd name="connsiteY15" fmla="*/ 1425380 h 344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59876" h="3442107">
                  <a:moveTo>
                    <a:pt x="1528953" y="1425380"/>
                  </a:moveTo>
                  <a:lnTo>
                    <a:pt x="1688402" y="1425380"/>
                  </a:lnTo>
                  <a:cubicBezTo>
                    <a:pt x="1893560" y="1425380"/>
                    <a:pt x="2059877" y="1591696"/>
                    <a:pt x="2059877" y="1796855"/>
                  </a:cubicBezTo>
                  <a:lnTo>
                    <a:pt x="2059877" y="3070633"/>
                  </a:lnTo>
                  <a:cubicBezTo>
                    <a:pt x="2059877" y="3275792"/>
                    <a:pt x="1893560" y="3442108"/>
                    <a:pt x="1688402" y="3442108"/>
                  </a:cubicBezTo>
                  <a:lnTo>
                    <a:pt x="371475" y="3442108"/>
                  </a:lnTo>
                  <a:cubicBezTo>
                    <a:pt x="166315" y="3442108"/>
                    <a:pt x="0" y="3275792"/>
                    <a:pt x="0" y="3070633"/>
                  </a:cubicBezTo>
                  <a:lnTo>
                    <a:pt x="0" y="1527583"/>
                  </a:lnTo>
                  <a:cubicBezTo>
                    <a:pt x="8" y="1460946"/>
                    <a:pt x="17938" y="1395547"/>
                    <a:pt x="51911" y="1338226"/>
                  </a:cubicBezTo>
                  <a:lnTo>
                    <a:pt x="737711" y="182177"/>
                  </a:lnTo>
                  <a:cubicBezTo>
                    <a:pt x="829006" y="28080"/>
                    <a:pt x="1017261" y="-38931"/>
                    <a:pt x="1185386" y="22823"/>
                  </a:cubicBezTo>
                  <a:lnTo>
                    <a:pt x="1188149" y="23776"/>
                  </a:lnTo>
                  <a:cubicBezTo>
                    <a:pt x="1380601" y="94857"/>
                    <a:pt x="1478994" y="308492"/>
                    <a:pt x="1407909" y="500946"/>
                  </a:cubicBezTo>
                  <a:cubicBezTo>
                    <a:pt x="1401175" y="519189"/>
                    <a:pt x="1393012" y="536876"/>
                    <a:pt x="1383506" y="553842"/>
                  </a:cubicBezTo>
                  <a:lnTo>
                    <a:pt x="1204913" y="872453"/>
                  </a:lnTo>
                  <a:cubicBezTo>
                    <a:pt x="1066229" y="1120008"/>
                    <a:pt x="1245203" y="1425380"/>
                    <a:pt x="1528953" y="1425380"/>
                  </a:cubicBezTo>
                  <a:close/>
                </a:path>
              </a:pathLst>
            </a:custGeom>
            <a:solidFill>
              <a:schemeClr val="accent1"/>
            </a:solidFill>
            <a:ln w="9525" cap="flat">
              <a:noFill/>
              <a:prstDash val="solid"/>
              <a:miter/>
            </a:ln>
          </p:spPr>
          <p:txBody>
            <a:bodyPr rtlCol="0" anchor="ctr"/>
            <a:lstStyle/>
            <a:p>
              <a:endParaRPr lang="zh-CN" altLang="en-US"/>
            </a:p>
          </p:txBody>
        </p:sp>
        <p:sp>
          <p:nvSpPr>
            <p:cNvPr id="15" name="任意多边形 14"/>
            <p:cNvSpPr/>
            <p:nvPr/>
          </p:nvSpPr>
          <p:spPr>
            <a:xfrm>
              <a:off x="6436803" y="2157844"/>
              <a:ext cx="1791652" cy="2994227"/>
            </a:xfrm>
            <a:custGeom>
              <a:avLst/>
              <a:gdLst>
                <a:gd name="connsiteX0" fmla="*/ 1791653 w 1791652"/>
                <a:gd name="connsiteY0" fmla="*/ 1563096 h 2994227"/>
                <a:gd name="connsiteX1" fmla="*/ 1791653 w 1791652"/>
                <a:gd name="connsiteY1" fmla="*/ 2671139 h 2994227"/>
                <a:gd name="connsiteX2" fmla="*/ 1468564 w 1791652"/>
                <a:gd name="connsiteY2" fmla="*/ 2994227 h 2994227"/>
                <a:gd name="connsiteX3" fmla="*/ 323088 w 1791652"/>
                <a:gd name="connsiteY3" fmla="*/ 2994227 h 2994227"/>
                <a:gd name="connsiteX4" fmla="*/ 0 w 1791652"/>
                <a:gd name="connsiteY4" fmla="*/ 2671139 h 2994227"/>
                <a:gd name="connsiteX5" fmla="*/ 0 w 1791652"/>
                <a:gd name="connsiteY5" fmla="*/ 1328114 h 2994227"/>
                <a:gd name="connsiteX6" fmla="*/ 44958 w 1791652"/>
                <a:gd name="connsiteY6" fmla="*/ 1163903 h 2994227"/>
                <a:gd name="connsiteX7" fmla="*/ 641318 w 1791652"/>
                <a:gd name="connsiteY7" fmla="*/ 158349 h 2994227"/>
                <a:gd name="connsiteX8" fmla="*/ 1031081 w 1791652"/>
                <a:gd name="connsiteY8" fmla="*/ 20046 h 2994227"/>
                <a:gd name="connsiteX9" fmla="*/ 1031081 w 1791652"/>
                <a:gd name="connsiteY9" fmla="*/ 20046 h 2994227"/>
                <a:gd name="connsiteX10" fmla="*/ 1222286 w 1791652"/>
                <a:gd name="connsiteY10" fmla="*/ 434882 h 2994227"/>
                <a:gd name="connsiteX11" fmla="*/ 1199960 w 1791652"/>
                <a:gd name="connsiteY11" fmla="*/ 482866 h 2994227"/>
                <a:gd name="connsiteX12" fmla="*/ 1043845 w 1791652"/>
                <a:gd name="connsiteY12" fmla="*/ 757186 h 2994227"/>
                <a:gd name="connsiteX13" fmla="*/ 1324737 w 1791652"/>
                <a:gd name="connsiteY13" fmla="*/ 1240103 h 2994227"/>
                <a:gd name="connsiteX14" fmla="*/ 1468564 w 1791652"/>
                <a:gd name="connsiteY14" fmla="*/ 1240103 h 2994227"/>
                <a:gd name="connsiteX15" fmla="*/ 1791653 w 1791652"/>
                <a:gd name="connsiteY15" fmla="*/ 1563096 h 2994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91652" h="2994227">
                  <a:moveTo>
                    <a:pt x="1791653" y="1563096"/>
                  </a:moveTo>
                  <a:lnTo>
                    <a:pt x="1791653" y="2671139"/>
                  </a:lnTo>
                  <a:cubicBezTo>
                    <a:pt x="1791653" y="2849581"/>
                    <a:pt x="1647006" y="2994227"/>
                    <a:pt x="1468564" y="2994227"/>
                  </a:cubicBezTo>
                  <a:lnTo>
                    <a:pt x="323088" y="2994227"/>
                  </a:lnTo>
                  <a:cubicBezTo>
                    <a:pt x="144656" y="2994227"/>
                    <a:pt x="0" y="2849581"/>
                    <a:pt x="0" y="2671139"/>
                  </a:cubicBezTo>
                  <a:lnTo>
                    <a:pt x="0" y="1328114"/>
                  </a:lnTo>
                  <a:cubicBezTo>
                    <a:pt x="38" y="1270345"/>
                    <a:pt x="15564" y="1213643"/>
                    <a:pt x="44958" y="1163903"/>
                  </a:cubicBezTo>
                  <a:lnTo>
                    <a:pt x="641318" y="158349"/>
                  </a:lnTo>
                  <a:cubicBezTo>
                    <a:pt x="720823" y="24209"/>
                    <a:pt x="884806" y="-33980"/>
                    <a:pt x="1031081" y="20046"/>
                  </a:cubicBezTo>
                  <a:lnTo>
                    <a:pt x="1031081" y="20046"/>
                  </a:lnTo>
                  <a:cubicBezTo>
                    <a:pt x="1198436" y="81799"/>
                    <a:pt x="1284037" y="267528"/>
                    <a:pt x="1222286" y="434882"/>
                  </a:cubicBezTo>
                  <a:cubicBezTo>
                    <a:pt x="1216171" y="451460"/>
                    <a:pt x="1208704" y="467509"/>
                    <a:pt x="1199960" y="482866"/>
                  </a:cubicBezTo>
                  <a:lnTo>
                    <a:pt x="1043845" y="757186"/>
                  </a:lnTo>
                  <a:cubicBezTo>
                    <a:pt x="921353" y="972546"/>
                    <a:pt x="1076897" y="1240103"/>
                    <a:pt x="1324737" y="1240103"/>
                  </a:cubicBezTo>
                  <a:lnTo>
                    <a:pt x="1468564" y="1240103"/>
                  </a:lnTo>
                  <a:cubicBezTo>
                    <a:pt x="1646968" y="1240103"/>
                    <a:pt x="1791595" y="1384693"/>
                    <a:pt x="1791653" y="1563096"/>
                  </a:cubicBezTo>
                  <a:close/>
                </a:path>
              </a:pathLst>
            </a:custGeom>
            <a:solidFill>
              <a:schemeClr val="accent1"/>
            </a:solidFill>
            <a:ln w="9525" cap="flat">
              <a:noFill/>
              <a:prstDash val="solid"/>
              <a:miter/>
            </a:ln>
          </p:spPr>
          <p:txBody>
            <a:bodyPr rtlCol="0" anchor="ctr"/>
            <a:lstStyle/>
            <a:p>
              <a:endParaRPr lang="zh-CN" altLang="en-US"/>
            </a:p>
          </p:txBody>
        </p:sp>
      </p:grpSp>
      <p:sp>
        <p:nvSpPr>
          <p:cNvPr id="16" name="矩形 15"/>
          <p:cNvSpPr/>
          <p:nvPr/>
        </p:nvSpPr>
        <p:spPr>
          <a:xfrm>
            <a:off x="1444425" y="1318711"/>
            <a:ext cx="5321531" cy="4305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chorCtr="0">
            <a:spAutoFit/>
          </a:bodyPr>
          <a:lstStyle/>
          <a:p>
            <a:r>
              <a:rPr kumimoji="1" lang="en-US" altLang="zh-CN" sz="2800" dirty="0">
                <a:solidFill>
                  <a:schemeClr val="accent2"/>
                </a:solidFill>
                <a:latin typeface="+mj-lt"/>
                <a:ea typeface="+mj-ea"/>
                <a:cs typeface="OPPOSans H" panose="00020600040101010101" pitchFamily="18" charset="-122"/>
              </a:rPr>
              <a:t>SMP(</a:t>
            </a:r>
            <a:r>
              <a:rPr kumimoji="1" lang="zh-CN" altLang="en-US" sz="2800" dirty="0">
                <a:solidFill>
                  <a:schemeClr val="accent2"/>
                </a:solidFill>
                <a:latin typeface="+mj-lt"/>
                <a:ea typeface="+mj-ea"/>
                <a:cs typeface="OPPOSans H" panose="00020600040101010101" pitchFamily="18" charset="-122"/>
              </a:rPr>
              <a:t>安全管理器协议</a:t>
            </a:r>
            <a:r>
              <a:rPr kumimoji="1" lang="en-US" altLang="zh-CN" sz="2800" dirty="0">
                <a:solidFill>
                  <a:schemeClr val="accent2"/>
                </a:solidFill>
                <a:latin typeface="+mj-lt"/>
                <a:ea typeface="+mj-ea"/>
                <a:cs typeface="OPPOSans H" panose="00020600040101010101" pitchFamily="18" charset="-122"/>
              </a:rPr>
              <a:t>)</a:t>
            </a:r>
            <a:endParaRPr kumimoji="1" lang="zh-CN" altLang="en-US" sz="2800" dirty="0">
              <a:solidFill>
                <a:schemeClr val="accent2"/>
              </a:solidFill>
              <a:latin typeface="+mj-lt"/>
              <a:ea typeface="+mj-ea"/>
              <a:cs typeface="OPPOSans H" panose="00020600040101010101" pitchFamily="18" charset="-122"/>
            </a:endParaRPr>
          </a:p>
        </p:txBody>
      </p:sp>
      <p:sp>
        <p:nvSpPr>
          <p:cNvPr id="20" name="文本框 19"/>
          <p:cNvSpPr txBox="1"/>
          <p:nvPr/>
        </p:nvSpPr>
        <p:spPr>
          <a:xfrm>
            <a:off x="532130" y="2130662"/>
            <a:ext cx="2988000" cy="338554"/>
          </a:xfrm>
          <a:prstGeom prst="rect">
            <a:avLst/>
          </a:prstGeom>
          <a:noFill/>
        </p:spPr>
        <p:txBody>
          <a:bodyPr wrap="none" lIns="0" tIns="0" rIns="0" bIns="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chemeClr val="tx1"/>
                </a:solidFill>
                <a:cs typeface="OPPOSans B" panose="00020600040101010101" pitchFamily="18" charset="-122"/>
                <a:sym typeface="+mn-lt"/>
              </a:rPr>
              <a:t>01 </a:t>
            </a:r>
            <a:r>
              <a:rPr lang="zh-CN" altLang="en-US" sz="2400" b="1" dirty="0">
                <a:solidFill>
                  <a:schemeClr val="tx1"/>
                </a:solidFill>
                <a:cs typeface="OPPOSans B" panose="00020600040101010101" pitchFamily="18" charset="-122"/>
                <a:sym typeface="+mn-lt"/>
              </a:rPr>
              <a:t>定义</a:t>
            </a:r>
            <a:endParaRPr lang="zh-CN" altLang="en-US" sz="2400" b="1" dirty="0">
              <a:solidFill>
                <a:schemeClr val="tx1"/>
              </a:solidFill>
              <a:cs typeface="OPPOSans B" panose="00020600040101010101" pitchFamily="18" charset="-122"/>
              <a:sym typeface="+mn-lt"/>
            </a:endParaRPr>
          </a:p>
        </p:txBody>
      </p:sp>
      <p:sp>
        <p:nvSpPr>
          <p:cNvPr id="21" name="文本框 20"/>
          <p:cNvSpPr txBox="1"/>
          <p:nvPr/>
        </p:nvSpPr>
        <p:spPr>
          <a:xfrm>
            <a:off x="532130" y="2539774"/>
            <a:ext cx="2988000" cy="1584000"/>
          </a:xfrm>
          <a:prstGeom prst="rect">
            <a:avLst/>
          </a:prstGeom>
          <a:noFill/>
        </p:spPr>
        <p:txBody>
          <a:bodyPr wrap="square" lIns="0" tIns="0" rIns="0" bIns="0">
            <a:noAutofit/>
          </a:bodyPr>
          <a:lstStyle/>
          <a:p>
            <a:pPr indent="0">
              <a:lnSpc>
                <a:spcPct val="120000"/>
              </a:lnSpc>
              <a:buFont typeface="Arial" panose="020B0604020202020204" pitchFamily="34" charset="0"/>
              <a:buNone/>
            </a:pPr>
            <a:r>
              <a:rPr lang="en-US" altLang="zh-CN">
                <a:latin typeface="Times New Roman" panose="02020603050405020304" charset="0"/>
                <a:ea typeface="宋体" panose="02010600030101010101" pitchFamily="2" charset="-122"/>
                <a:cs typeface="Times New Roman" panose="02020603050405020304" charset="0"/>
                <a:sym typeface="+mn-ea"/>
              </a:rPr>
              <a:t>SM</a:t>
            </a:r>
            <a:r>
              <a:rPr lang="zh-CN" altLang="en-US">
                <a:latin typeface="宋体" panose="02010600030101010101" pitchFamily="2" charset="-122"/>
                <a:ea typeface="宋体" panose="02010600030101010101" pitchFamily="2" charset="-122"/>
                <a:cs typeface="宋体" panose="02010600030101010101" pitchFamily="2" charset="-122"/>
                <a:sym typeface="+mn-ea"/>
              </a:rPr>
              <a:t>功能的具体通信协议实现，定义了</a:t>
            </a:r>
            <a:r>
              <a:rPr lang="en-US" altLang="zh-CN">
                <a:latin typeface="Times New Roman" panose="02020603050405020304" charset="0"/>
                <a:ea typeface="宋体" panose="02010600030101010101" pitchFamily="2" charset="-122"/>
                <a:cs typeface="Times New Roman" panose="02020603050405020304" charset="0"/>
                <a:sym typeface="+mn-ea"/>
              </a:rPr>
              <a:t>SM</a:t>
            </a:r>
            <a:r>
              <a:rPr lang="zh-CN" altLang="en-US">
                <a:latin typeface="宋体" panose="02010600030101010101" pitchFamily="2" charset="-122"/>
                <a:ea typeface="宋体" panose="02010600030101010101" pitchFamily="2" charset="-122"/>
                <a:cs typeface="宋体" panose="02010600030101010101" pitchFamily="2" charset="-122"/>
                <a:sym typeface="+mn-ea"/>
              </a:rPr>
              <a:t>消息如何在对等设备之间传输</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0">
              <a:lnSpc>
                <a:spcPct val="120000"/>
              </a:lnSpc>
              <a:buFont typeface="Arial" panose="020B0604020202020204" pitchFamily="34" charset="0"/>
              <a:buNone/>
            </a:pPr>
            <a:endParaRPr lang="zh-CN" altLang="en-US" dirty="0">
              <a:solidFill>
                <a:schemeClr val="bg1">
                  <a:lumMod val="75000"/>
                </a:schemeClr>
              </a:solidFill>
              <a:latin typeface="宋体" panose="02010600030101010101" pitchFamily="2" charset="-122"/>
              <a:ea typeface="宋体" panose="02010600030101010101" pitchFamily="2" charset="-122"/>
              <a:cs typeface="宋体" panose="02010600030101010101" pitchFamily="2" charset="-122"/>
              <a:sym typeface="+mn-lt"/>
            </a:endParaRPr>
          </a:p>
        </p:txBody>
      </p:sp>
      <p:sp>
        <p:nvSpPr>
          <p:cNvPr id="25" name="文本框 24"/>
          <p:cNvSpPr txBox="1"/>
          <p:nvPr/>
        </p:nvSpPr>
        <p:spPr>
          <a:xfrm>
            <a:off x="3916073" y="2130662"/>
            <a:ext cx="2988000" cy="338554"/>
          </a:xfrm>
          <a:prstGeom prst="rect">
            <a:avLst/>
          </a:prstGeom>
          <a:noFill/>
        </p:spPr>
        <p:txBody>
          <a:bodyPr wrap="none" lIns="0" tIns="0" rIns="0" bIns="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chemeClr val="tx1"/>
                </a:solidFill>
                <a:cs typeface="OPPOSans B" panose="00020600040101010101" pitchFamily="18" charset="-122"/>
                <a:sym typeface="+mn-lt"/>
              </a:rPr>
              <a:t>02 </a:t>
            </a:r>
            <a:r>
              <a:rPr lang="zh-CN" altLang="en-US" sz="2400" b="1" dirty="0">
                <a:solidFill>
                  <a:schemeClr val="tx1"/>
                </a:solidFill>
                <a:cs typeface="OPPOSans B" panose="00020600040101010101" pitchFamily="18" charset="-122"/>
                <a:sym typeface="+mn-lt"/>
              </a:rPr>
              <a:t>命令格式</a:t>
            </a:r>
            <a:endParaRPr lang="zh-CN" altLang="en-US" sz="2400" b="1" dirty="0">
              <a:solidFill>
                <a:schemeClr val="tx1"/>
              </a:solidFill>
              <a:cs typeface="OPPOSans B" panose="00020600040101010101" pitchFamily="18" charset="-122"/>
              <a:sym typeface="+mn-lt"/>
            </a:endParaRPr>
          </a:p>
        </p:txBody>
      </p:sp>
      <p:sp>
        <p:nvSpPr>
          <p:cNvPr id="26" name="文本框 25"/>
          <p:cNvSpPr txBox="1"/>
          <p:nvPr/>
        </p:nvSpPr>
        <p:spPr>
          <a:xfrm>
            <a:off x="3916073" y="2539774"/>
            <a:ext cx="2988000" cy="1584000"/>
          </a:xfrm>
          <a:prstGeom prst="rect">
            <a:avLst/>
          </a:prstGeom>
          <a:noFill/>
        </p:spPr>
        <p:txBody>
          <a:bodyPr wrap="square" lIns="0" tIns="0" rIns="0" bIns="0">
            <a:noAutofit/>
          </a:bodyPr>
          <a:lstStyle/>
          <a:p>
            <a:pPr indent="0">
              <a:lnSpc>
                <a:spcPct val="120000"/>
              </a:lnSpc>
              <a:buFont typeface="Arial" panose="020B0604020202020204" pitchFamily="34" charset="0"/>
              <a:buNone/>
            </a:pPr>
            <a:endParaRPr lang="zh-CN" altLang="en-US" sz="1400" dirty="0">
              <a:solidFill>
                <a:schemeClr val="bg1">
                  <a:lumMod val="75000"/>
                </a:schemeClr>
              </a:solidFill>
              <a:cs typeface="+mn-ea"/>
              <a:sym typeface="+mn-lt"/>
            </a:endParaRPr>
          </a:p>
          <a:p>
            <a:pPr indent="0">
              <a:lnSpc>
                <a:spcPct val="120000"/>
              </a:lnSpc>
              <a:buFont typeface="Arial" panose="020B0604020202020204" pitchFamily="34" charset="0"/>
              <a:buNone/>
            </a:pPr>
            <a:endParaRPr lang="zh-CN" altLang="en-US" sz="1400" dirty="0">
              <a:solidFill>
                <a:schemeClr val="bg1">
                  <a:lumMod val="75000"/>
                </a:schemeClr>
              </a:solidFill>
              <a:cs typeface="+mn-ea"/>
              <a:sym typeface="+mn-lt"/>
            </a:endParaRPr>
          </a:p>
          <a:p>
            <a:pPr indent="0">
              <a:lnSpc>
                <a:spcPct val="120000"/>
              </a:lnSpc>
              <a:buFont typeface="Arial" panose="020B0604020202020204" pitchFamily="34" charset="0"/>
              <a:buNone/>
            </a:pPr>
            <a:r>
              <a:rPr lang="en-US" altLang="zh-CN" dirty="0">
                <a:solidFill>
                  <a:schemeClr val="tx1"/>
                </a:solidFill>
                <a:latin typeface="Times New Roman" panose="02020603050405020304" charset="0"/>
                <a:cs typeface="Times New Roman" panose="02020603050405020304" charset="0"/>
                <a:sym typeface="+mn-lt"/>
              </a:rPr>
              <a:t>1</a:t>
            </a:r>
            <a:r>
              <a:rPr lang="zh-CN" altLang="en-US" dirty="0">
                <a:solidFill>
                  <a:schemeClr val="tx1"/>
                </a:solidFill>
                <a:latin typeface="Times New Roman" panose="02020603050405020304" charset="0"/>
                <a:cs typeface="Times New Roman" panose="02020603050405020304" charset="0"/>
                <a:sym typeface="+mn-lt"/>
              </a:rPr>
              <a:t>、</a:t>
            </a:r>
            <a:r>
              <a:rPr lang="en-US" altLang="zh-CN" dirty="0">
                <a:solidFill>
                  <a:schemeClr val="tx1"/>
                </a:solidFill>
                <a:latin typeface="Times New Roman" panose="02020603050405020304" charset="0"/>
                <a:cs typeface="Times New Roman" panose="02020603050405020304" charset="0"/>
                <a:sym typeface="+mn-lt"/>
              </a:rPr>
              <a:t>code</a:t>
            </a:r>
            <a:r>
              <a:rPr lang="zh-CN" altLang="en-US" dirty="0">
                <a:solidFill>
                  <a:schemeClr val="tx1"/>
                </a:solidFill>
                <a:latin typeface="Times New Roman" panose="02020603050405020304" charset="0"/>
                <a:cs typeface="Times New Roman" panose="02020603050405020304" charset="0"/>
                <a:sym typeface="+mn-lt"/>
              </a:rPr>
              <a:t>：</a:t>
            </a:r>
            <a:r>
              <a:rPr lang="en-US" altLang="zh-CN" dirty="0">
                <a:solidFill>
                  <a:schemeClr val="tx1"/>
                </a:solidFill>
                <a:latin typeface="Times New Roman" panose="02020603050405020304" charset="0"/>
                <a:cs typeface="Times New Roman" panose="02020603050405020304" charset="0"/>
                <a:sym typeface="+mn-lt"/>
              </a:rPr>
              <a:t>1byte</a:t>
            </a:r>
            <a:endParaRPr lang="en-US" altLang="zh-CN" dirty="0">
              <a:solidFill>
                <a:schemeClr val="tx1"/>
              </a:solidFill>
              <a:latin typeface="Times New Roman" panose="02020603050405020304" charset="0"/>
              <a:cs typeface="Times New Roman" panose="02020603050405020304" charset="0"/>
              <a:sym typeface="+mn-lt"/>
            </a:endParaRPr>
          </a:p>
          <a:p>
            <a:pPr indent="0">
              <a:lnSpc>
                <a:spcPct val="120000"/>
              </a:lnSpc>
              <a:buFont typeface="Arial" panose="020B0604020202020204" pitchFamily="34" charset="0"/>
              <a:buNone/>
            </a:pPr>
            <a:r>
              <a:rPr lang="en-US" altLang="zh-CN" dirty="0">
                <a:solidFill>
                  <a:schemeClr val="tx1"/>
                </a:solidFill>
                <a:latin typeface="Times New Roman" panose="02020603050405020304" charset="0"/>
                <a:cs typeface="Times New Roman" panose="02020603050405020304" charset="0"/>
                <a:sym typeface="+mn-lt"/>
              </a:rPr>
              <a:t>2</a:t>
            </a:r>
            <a:r>
              <a:rPr lang="zh-CN" altLang="en-US" dirty="0">
                <a:solidFill>
                  <a:schemeClr val="tx1"/>
                </a:solidFill>
                <a:latin typeface="Times New Roman" panose="02020603050405020304" charset="0"/>
                <a:cs typeface="Times New Roman" panose="02020603050405020304" charset="0"/>
                <a:sym typeface="+mn-lt"/>
              </a:rPr>
              <a:t>、</a:t>
            </a:r>
            <a:r>
              <a:rPr lang="en-US" altLang="zh-CN" dirty="0">
                <a:solidFill>
                  <a:schemeClr val="tx1"/>
                </a:solidFill>
                <a:latin typeface="Times New Roman" panose="02020603050405020304" charset="0"/>
                <a:cs typeface="Times New Roman" panose="02020603050405020304" charset="0"/>
                <a:sym typeface="+mn-lt"/>
              </a:rPr>
              <a:t>data</a:t>
            </a:r>
            <a:r>
              <a:rPr lang="zh-CN" altLang="en-US" dirty="0">
                <a:solidFill>
                  <a:schemeClr val="tx1"/>
                </a:solidFill>
                <a:latin typeface="Times New Roman" panose="02020603050405020304" charset="0"/>
                <a:cs typeface="Times New Roman" panose="02020603050405020304" charset="0"/>
                <a:sym typeface="+mn-lt"/>
              </a:rPr>
              <a:t>：</a:t>
            </a:r>
            <a:r>
              <a:rPr lang="en-US" altLang="zh-CN" dirty="0">
                <a:solidFill>
                  <a:schemeClr val="tx1"/>
                </a:solidFill>
                <a:latin typeface="Times New Roman" panose="02020603050405020304" charset="0"/>
                <a:cs typeface="Times New Roman" panose="02020603050405020304" charset="0"/>
                <a:sym typeface="+mn-lt"/>
              </a:rPr>
              <a:t>0-22 or 0-64 byte</a:t>
            </a:r>
            <a:endParaRPr lang="en-US" altLang="zh-CN" dirty="0">
              <a:solidFill>
                <a:schemeClr val="tx1"/>
              </a:solidFill>
              <a:latin typeface="Times New Roman" panose="02020603050405020304" charset="0"/>
              <a:cs typeface="Times New Roman" panose="02020603050405020304" charset="0"/>
              <a:sym typeface="+mn-lt"/>
            </a:endParaRPr>
          </a:p>
        </p:txBody>
      </p:sp>
      <p:cxnSp>
        <p:nvCxnSpPr>
          <p:cNvPr id="28" name="直接连接符 27"/>
          <p:cNvCxnSpPr/>
          <p:nvPr/>
        </p:nvCxnSpPr>
        <p:spPr>
          <a:xfrm>
            <a:off x="488585" y="1895312"/>
            <a:ext cx="68400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7" name="表格 6"/>
          <p:cNvGraphicFramePr/>
          <p:nvPr/>
        </p:nvGraphicFramePr>
        <p:xfrm>
          <a:off x="3987800" y="2628900"/>
          <a:ext cx="2819400" cy="317500"/>
        </p:xfrm>
        <a:graphic>
          <a:graphicData uri="http://schemas.openxmlformats.org/drawingml/2006/table">
            <a:tbl>
              <a:tblPr firstRow="1" bandRow="1">
                <a:tableStyleId>{5940675A-B579-460E-94D1-54222C63F5DA}</a:tableStyleId>
              </a:tblPr>
              <a:tblGrid>
                <a:gridCol w="843915"/>
                <a:gridCol w="1975485"/>
              </a:tblGrid>
              <a:tr h="317500">
                <a:tc>
                  <a:txBody>
                    <a:bodyPr/>
                    <a:p>
                      <a:pPr algn="ctr">
                        <a:buNone/>
                      </a:pPr>
                      <a:r>
                        <a:rPr lang="en-US" altLang="zh-CN"/>
                        <a:t>code</a:t>
                      </a:r>
                      <a:endParaRPr lang="en-US" alt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t>data</a:t>
                      </a:r>
                      <a:endParaRPr lang="en-US" alt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zh-CN" altLang="en-US" sz="2400" b="1" spc="-38" dirty="0">
                <a:solidFill>
                  <a:srgbClr val="3D5663"/>
                </a:solidFill>
                <a:latin typeface="Calibri" panose="020F0502020204030204" pitchFamily="34" charset="0"/>
                <a:cs typeface="Calibri" panose="020F0502020204030204" pitchFamily="34" charset="0"/>
              </a:rPr>
              <a:t>配对请求和</a:t>
            </a:r>
            <a:r>
              <a:rPr lang="zh-CN" altLang="en-US" sz="2400" b="1" spc="-38" dirty="0">
                <a:solidFill>
                  <a:srgbClr val="3D5663"/>
                </a:solidFill>
                <a:latin typeface="Calibri" panose="020F0502020204030204" pitchFamily="34" charset="0"/>
                <a:cs typeface="Calibri" panose="020F0502020204030204" pitchFamily="34" charset="0"/>
              </a:rPr>
              <a:t>响应</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587375"/>
            <a:ext cx="3048000" cy="368300"/>
          </a:xfrm>
          <a:prstGeom prst="rect">
            <a:avLst/>
          </a:prstGeom>
          <a:noFill/>
        </p:spPr>
        <p:txBody>
          <a:bodyPr wrap="square" rtlCol="0">
            <a:spAutoFit/>
          </a:bodyPr>
          <a:p>
            <a:r>
              <a:rPr lang="zh-CN" altLang="en-US"/>
              <a:t>命令</a:t>
            </a:r>
            <a:r>
              <a:rPr lang="zh-CN" altLang="en-US"/>
              <a:t>格式</a:t>
            </a:r>
            <a:endParaRPr lang="zh-CN" altLang="en-US"/>
          </a:p>
        </p:txBody>
      </p:sp>
      <p:graphicFrame>
        <p:nvGraphicFramePr>
          <p:cNvPr id="3" name="表格 2"/>
          <p:cNvGraphicFramePr/>
          <p:nvPr/>
        </p:nvGraphicFramePr>
        <p:xfrm>
          <a:off x="217170" y="955675"/>
          <a:ext cx="8837936" cy="708660"/>
        </p:xfrm>
        <a:graphic>
          <a:graphicData uri="http://schemas.openxmlformats.org/drawingml/2006/table">
            <a:tbl>
              <a:tblPr firstRow="1" bandRow="1">
                <a:tableStyleId>{5940675A-B579-460E-94D1-54222C63F5DA}</a:tableStyleId>
              </a:tblPr>
              <a:tblGrid>
                <a:gridCol w="1028065"/>
                <a:gridCol w="1166495"/>
                <a:gridCol w="1294130"/>
                <a:gridCol w="925830"/>
                <a:gridCol w="1817370"/>
                <a:gridCol w="1140460"/>
                <a:gridCol w="1465586"/>
              </a:tblGrid>
              <a:tr h="368300">
                <a:tc>
                  <a:txBody>
                    <a:bodyPr/>
                    <a:p>
                      <a:pPr algn="ctr">
                        <a:buNone/>
                      </a:pPr>
                      <a:r>
                        <a:rPr lang="en-US" altLang="zh-CN"/>
                        <a:t>code</a:t>
                      </a:r>
                      <a:endParaRPr lang="zh-CN" altLang="en-US"/>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r>
                        <a:rPr lang="en-US" altLang="zh-CN"/>
                        <a:t>IO Capability</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r>
                        <a:rPr lang="en-US" altLang="zh-CN"/>
                        <a:t>OOB data flag</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r>
                        <a:rPr lang="en-US" altLang="zh-CN"/>
                        <a:t>AuthReq</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r>
                        <a:rPr lang="en-US" altLang="zh-CN"/>
                        <a:t>Maximum Encryption Key Size</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r>
                        <a:rPr lang="en-US" altLang="zh-CN"/>
                        <a:t>Initiator Key </a:t>
                      </a:r>
                      <a:endParaRPr lang="en-US" altLang="zh-CN"/>
                    </a:p>
                    <a:p>
                      <a:pPr algn="l">
                        <a:buNone/>
                      </a:pPr>
                      <a:r>
                        <a:rPr lang="en-US" altLang="zh-CN"/>
                        <a:t>Distribution</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r>
                        <a:rPr lang="en-US" altLang="zh-CN"/>
                        <a:t>Responder Key </a:t>
                      </a:r>
                      <a:endParaRPr lang="en-US" altLang="zh-CN"/>
                    </a:p>
                    <a:p>
                      <a:pPr algn="l">
                        <a:buNone/>
                      </a:pPr>
                      <a:r>
                        <a:rPr lang="en-US" altLang="zh-CN"/>
                        <a:t>Distribution</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pic>
        <p:nvPicPr>
          <p:cNvPr id="5" name="图片 4"/>
          <p:cNvPicPr>
            <a:picLocks noChangeAspect="1"/>
          </p:cNvPicPr>
          <p:nvPr/>
        </p:nvPicPr>
        <p:blipFill>
          <a:blip r:embed="rId1"/>
          <a:stretch>
            <a:fillRect/>
          </a:stretch>
        </p:blipFill>
        <p:spPr>
          <a:xfrm>
            <a:off x="5123180" y="1967230"/>
            <a:ext cx="3678555" cy="1905000"/>
          </a:xfrm>
          <a:prstGeom prst="rect">
            <a:avLst/>
          </a:prstGeom>
        </p:spPr>
      </p:pic>
      <p:sp>
        <p:nvSpPr>
          <p:cNvPr id="7" name="文本框 6"/>
          <p:cNvSpPr txBox="1"/>
          <p:nvPr/>
        </p:nvSpPr>
        <p:spPr>
          <a:xfrm>
            <a:off x="5501640" y="1598930"/>
            <a:ext cx="3048000" cy="368300"/>
          </a:xfrm>
          <a:prstGeom prst="rect">
            <a:avLst/>
          </a:prstGeom>
          <a:noFill/>
        </p:spPr>
        <p:txBody>
          <a:bodyPr wrap="square" rtlCol="0">
            <a:spAutoFit/>
          </a:bodyPr>
          <a:p>
            <a:r>
              <a:rPr lang="en-US" altLang="zh-CN">
                <a:sym typeface="+mn-ea"/>
              </a:rPr>
              <a:t>IO Capability</a:t>
            </a:r>
            <a:endParaRPr lang="zh-CN" altLang="en-US"/>
          </a:p>
        </p:txBody>
      </p:sp>
      <p:sp>
        <p:nvSpPr>
          <p:cNvPr id="8" name="文本框 7"/>
          <p:cNvSpPr txBox="1"/>
          <p:nvPr/>
        </p:nvSpPr>
        <p:spPr>
          <a:xfrm>
            <a:off x="217170" y="3032125"/>
            <a:ext cx="4572000" cy="368300"/>
          </a:xfrm>
          <a:prstGeom prst="rect">
            <a:avLst/>
          </a:prstGeom>
          <a:noFill/>
        </p:spPr>
        <p:txBody>
          <a:bodyPr wrap="square" rtlCol="0" anchor="t">
            <a:spAutoFit/>
          </a:bodyPr>
          <a:p>
            <a:r>
              <a:rPr lang="en-US" altLang="zh-CN">
                <a:sym typeface="+mn-ea"/>
              </a:rPr>
              <a:t>AuthReq</a:t>
            </a:r>
            <a:endParaRPr lang="en-US" altLang="zh-CN">
              <a:sym typeface="+mn-ea"/>
            </a:endParaRPr>
          </a:p>
        </p:txBody>
      </p:sp>
      <p:graphicFrame>
        <p:nvGraphicFramePr>
          <p:cNvPr id="10" name="表格 9"/>
          <p:cNvGraphicFramePr/>
          <p:nvPr/>
        </p:nvGraphicFramePr>
        <p:xfrm>
          <a:off x="215900" y="3360420"/>
          <a:ext cx="4805680" cy="502920"/>
        </p:xfrm>
        <a:graphic>
          <a:graphicData uri="http://schemas.openxmlformats.org/drawingml/2006/table">
            <a:tbl>
              <a:tblPr firstRow="1" bandRow="1">
                <a:tableStyleId>{5940675A-B579-460E-94D1-54222C63F5DA}</a:tableStyleId>
              </a:tblPr>
              <a:tblGrid>
                <a:gridCol w="1140460"/>
                <a:gridCol w="643255"/>
                <a:gridCol w="719455"/>
                <a:gridCol w="1028065"/>
                <a:gridCol w="633730"/>
                <a:gridCol w="640715"/>
              </a:tblGrid>
              <a:tr h="330200">
                <a:tc>
                  <a:txBody>
                    <a:bodyPr/>
                    <a:p>
                      <a:pPr algn="ctr">
                        <a:buNone/>
                      </a:pPr>
                      <a:r>
                        <a:rPr lang="en-US" altLang="zh-CN"/>
                        <a:t>bonding flag</a:t>
                      </a:r>
                      <a:endParaRPr lang="en-US" altLang="zh-CN"/>
                    </a:p>
                    <a:p>
                      <a:pPr algn="ctr">
                        <a:buNone/>
                      </a:pPr>
                      <a:r>
                        <a:rPr lang="en-US" altLang="zh-CN"/>
                        <a:t>(2bit)</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t>MITM</a:t>
                      </a:r>
                      <a:endParaRPr lang="en-US" altLang="zh-CN"/>
                    </a:p>
                    <a:p>
                      <a:pPr algn="ctr">
                        <a:buNone/>
                      </a:pPr>
                      <a:r>
                        <a:rPr lang="en-US" altLang="zh-CN"/>
                        <a:t>(1bit)</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t>SC</a:t>
                      </a:r>
                      <a:endParaRPr lang="en-US" altLang="zh-CN"/>
                    </a:p>
                    <a:p>
                      <a:pPr algn="ctr">
                        <a:buNone/>
                      </a:pPr>
                      <a:r>
                        <a:rPr lang="en-US" altLang="zh-CN"/>
                        <a:t>(1bit)</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t>Keypress</a:t>
                      </a:r>
                      <a:endParaRPr lang="en-US" altLang="zh-CN"/>
                    </a:p>
                    <a:p>
                      <a:pPr algn="ctr">
                        <a:buNone/>
                      </a:pPr>
                      <a:r>
                        <a:rPr lang="en-US" altLang="zh-CN"/>
                        <a:t>(1bit)</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t>CT2</a:t>
                      </a:r>
                      <a:endParaRPr lang="en-US" altLang="zh-CN"/>
                    </a:p>
                    <a:p>
                      <a:pPr algn="ctr">
                        <a:buNone/>
                      </a:pPr>
                      <a:r>
                        <a:rPr lang="en-US" altLang="zh-CN"/>
                        <a:t>(1bit)</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t>RFU</a:t>
                      </a:r>
                      <a:endParaRPr lang="en-US" altLang="zh-CN"/>
                    </a:p>
                    <a:p>
                      <a:pPr algn="ctr">
                        <a:buNone/>
                      </a:pPr>
                      <a:r>
                        <a:rPr lang="en-US" altLang="zh-CN"/>
                        <a:t>(2bit)</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4" name="文本框 3"/>
          <p:cNvSpPr txBox="1"/>
          <p:nvPr/>
        </p:nvSpPr>
        <p:spPr>
          <a:xfrm>
            <a:off x="215900" y="1625600"/>
            <a:ext cx="3048000" cy="368300"/>
          </a:xfrm>
          <a:prstGeom prst="rect">
            <a:avLst/>
          </a:prstGeom>
          <a:noFill/>
        </p:spPr>
        <p:txBody>
          <a:bodyPr wrap="square" rtlCol="0">
            <a:spAutoFit/>
          </a:bodyPr>
          <a:p>
            <a:r>
              <a:rPr lang="en-US" altLang="zh-CN"/>
              <a:t>code</a:t>
            </a:r>
            <a:endParaRPr lang="en-US" altLang="zh-CN"/>
          </a:p>
        </p:txBody>
      </p:sp>
      <p:graphicFrame>
        <p:nvGraphicFramePr>
          <p:cNvPr id="9" name="表格 8"/>
          <p:cNvGraphicFramePr/>
          <p:nvPr/>
        </p:nvGraphicFramePr>
        <p:xfrm>
          <a:off x="217170" y="1993900"/>
          <a:ext cx="3102610" cy="838200"/>
        </p:xfrm>
        <a:graphic>
          <a:graphicData uri="http://schemas.openxmlformats.org/drawingml/2006/table">
            <a:tbl>
              <a:tblPr firstRow="1" bandRow="1">
                <a:tableStyleId>{5940675A-B579-460E-94D1-54222C63F5DA}</a:tableStyleId>
              </a:tblPr>
              <a:tblGrid>
                <a:gridCol w="1327150"/>
                <a:gridCol w="1775460"/>
              </a:tblGrid>
              <a:tr h="419100">
                <a:tc>
                  <a:txBody>
                    <a:bodyPr/>
                    <a:p>
                      <a:pPr algn="ctr">
                        <a:buNone/>
                      </a:pPr>
                      <a:r>
                        <a:rPr lang="en-US" altLang="zh-CN"/>
                        <a:t>0x01</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t>Pairing Request</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19100">
                <a:tc>
                  <a:txBody>
                    <a:bodyPr/>
                    <a:p>
                      <a:pPr algn="ctr">
                        <a:buNone/>
                      </a:pPr>
                      <a:r>
                        <a:rPr lang="en-US" altLang="zh-CN"/>
                        <a:t>0x02</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t>Pairing Response</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PART 05</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9" name="组合 8"/>
          <p:cNvGrpSpPr/>
          <p:nvPr/>
        </p:nvGrpSpPr>
        <p:grpSpPr>
          <a:xfrm>
            <a:off x="1203325" y="1275715"/>
            <a:ext cx="6307590" cy="2503805"/>
            <a:chOff x="3272" y="3874"/>
            <a:chExt cx="12612" cy="4373"/>
          </a:xfrm>
        </p:grpSpPr>
        <p:pic>
          <p:nvPicPr>
            <p:cNvPr id="10" name="图片 9" descr="图形用户界面, 应用程序&#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38" y="3874"/>
              <a:ext cx="6546" cy="4373"/>
            </a:xfrm>
            <a:prstGeom prst="rect">
              <a:avLst/>
            </a:prstGeom>
          </p:spPr>
        </p:pic>
        <p:sp>
          <p:nvSpPr>
            <p:cNvPr id="11" name="圆角矩形 10"/>
            <p:cNvSpPr/>
            <p:nvPr/>
          </p:nvSpPr>
          <p:spPr>
            <a:xfrm>
              <a:off x="3272" y="7403"/>
              <a:ext cx="1134" cy="7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endParaRPr lang="zh-CN" altLang="en-US" sz="600"/>
            </a:p>
          </p:txBody>
        </p:sp>
        <p:sp>
          <p:nvSpPr>
            <p:cNvPr id="12" name="文本框 11"/>
            <p:cNvSpPr txBox="1"/>
            <p:nvPr/>
          </p:nvSpPr>
          <p:spPr>
            <a:xfrm>
              <a:off x="3272" y="5709"/>
              <a:ext cx="6666" cy="1581"/>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rPr>
                <a:t>HOGP</a:t>
              </a:r>
              <a:endPar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endParaRPr>
            </a:p>
          </p:txBody>
        </p:sp>
        <p:sp>
          <p:nvSpPr>
            <p:cNvPr id="13" name="矩形 12"/>
            <p:cNvSpPr/>
            <p:nvPr/>
          </p:nvSpPr>
          <p:spPr>
            <a:xfrm>
              <a:off x="3272" y="7642"/>
              <a:ext cx="6328" cy="4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基于</a:t>
              </a:r>
              <a:r>
                <a:rPr lang="en-US" altLang="zh-CN"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GATT</a:t>
              </a:r>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的人机接口设备配置文件</a:t>
              </a:r>
              <a:endPar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14" name="文本框 13"/>
            <p:cNvSpPr txBox="1"/>
            <p:nvPr/>
          </p:nvSpPr>
          <p:spPr>
            <a:xfrm>
              <a:off x="3272" y="4070"/>
              <a:ext cx="2915" cy="1888"/>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rPr>
                <a:t>05</a:t>
              </a:r>
              <a:endPar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pic>
          <p:nvPicPr>
            <p:cNvPr id="15" name="图片 14" descr="图片包含 图标&#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431409">
              <a:off x="13750" y="4000"/>
              <a:ext cx="1158" cy="491"/>
            </a:xfrm>
            <a:prstGeom prst="rect">
              <a:avLst/>
            </a:prstGeom>
          </p:spPr>
        </p:pic>
        <p:pic>
          <p:nvPicPr>
            <p:cNvPr id="16" name="图片 15" descr="形状&#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8" y="5085"/>
              <a:ext cx="264" cy="252"/>
            </a:xfrm>
            <a:prstGeom prst="rect">
              <a:avLst/>
            </a:prstGeom>
          </p:spPr>
        </p:pic>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 y="4497"/>
              <a:ext cx="193" cy="185"/>
            </a:xfrm>
            <a:prstGeom prst="rect">
              <a:avLst/>
            </a:prstGeom>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HOGP</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003300" y="892810"/>
            <a:ext cx="6925310" cy="675640"/>
          </a:xfrm>
          <a:prstGeom prst="rect">
            <a:avLst/>
          </a:prstGeom>
          <a:noFill/>
        </p:spPr>
        <p:txBody>
          <a:bodyPr wrap="square" rtlCol="0">
            <a:spAutoFit/>
          </a:bodyPr>
          <a:p>
            <a:pPr algn="ctr"/>
            <a:r>
              <a:rPr lang="en-US" altLang="zh-CN" sz="2000" b="1">
                <a:latin typeface="宋体" panose="02010600030101010101" pitchFamily="2" charset="-122"/>
                <a:ea typeface="宋体" panose="02010600030101010101" pitchFamily="2" charset="-122"/>
                <a:cs typeface="宋体" panose="02010600030101010101" pitchFamily="2" charset="-122"/>
              </a:rPr>
              <a:t>HOGP</a:t>
            </a:r>
            <a:r>
              <a:rPr lang="zh-CN" altLang="en-US" sz="2000" b="1">
                <a:latin typeface="宋体" panose="02010600030101010101" pitchFamily="2" charset="-122"/>
                <a:ea typeface="宋体" panose="02010600030101010101" pitchFamily="2" charset="-122"/>
                <a:cs typeface="宋体" panose="02010600030101010101" pitchFamily="2" charset="-122"/>
              </a:rPr>
              <a:t>：</a:t>
            </a:r>
            <a:r>
              <a:rPr lang="en-US" altLang="zh-CN" sz="2000" b="1">
                <a:latin typeface="宋体" panose="02010600030101010101" pitchFamily="2" charset="-122"/>
                <a:ea typeface="宋体" panose="02010600030101010101" pitchFamily="2" charset="-122"/>
                <a:cs typeface="宋体" panose="02010600030101010101" pitchFamily="2" charset="-122"/>
              </a:rPr>
              <a:t>HID OVER GATT PROFILE</a:t>
            </a:r>
            <a:endParaRPr lang="en-US" altLang="zh-CN" sz="2000" b="1"/>
          </a:p>
          <a:p>
            <a:pPr algn="ctr"/>
            <a:r>
              <a:rPr lang="en-US" altLang="zh-CN">
                <a:latin typeface="宋体" panose="02010600030101010101" pitchFamily="2" charset="-122"/>
                <a:ea typeface="宋体" panose="02010600030101010101" pitchFamily="2" charset="-122"/>
                <a:cs typeface="宋体" panose="02010600030101010101" pitchFamily="2" charset="-122"/>
                <a:sym typeface="+mn-ea"/>
              </a:rPr>
              <a:t>(</a:t>
            </a:r>
            <a:r>
              <a:rPr lang="zh-CN" altLang="en-US">
                <a:latin typeface="宋体" panose="02010600030101010101" pitchFamily="2" charset="-122"/>
                <a:ea typeface="宋体" panose="02010600030101010101" pitchFamily="2" charset="-122"/>
                <a:cs typeface="宋体" panose="02010600030101010101" pitchFamily="2" charset="-122"/>
                <a:sym typeface="+mn-ea"/>
              </a:rPr>
              <a:t>基于</a:t>
            </a:r>
            <a:r>
              <a:rPr lang="en-US" altLang="zh-CN">
                <a:latin typeface="Times New Roman" panose="02020603050405020304" charset="0"/>
                <a:ea typeface="宋体" panose="02010600030101010101" pitchFamily="2" charset="-122"/>
                <a:cs typeface="Times New Roman" panose="02020603050405020304" charset="0"/>
                <a:sym typeface="+mn-ea"/>
              </a:rPr>
              <a:t>GATT</a:t>
            </a:r>
            <a:r>
              <a:rPr lang="zh-CN" altLang="en-US">
                <a:latin typeface="宋体" panose="02010600030101010101" pitchFamily="2" charset="-122"/>
                <a:ea typeface="宋体" panose="02010600030101010101" pitchFamily="2" charset="-122"/>
                <a:cs typeface="宋体" panose="02010600030101010101" pitchFamily="2" charset="-122"/>
                <a:sym typeface="+mn-ea"/>
              </a:rPr>
              <a:t>的</a:t>
            </a:r>
            <a:r>
              <a:rPr lang="en-US" altLang="zh-CN">
                <a:latin typeface="Times New Roman" panose="02020603050405020304" charset="0"/>
                <a:ea typeface="宋体" panose="02010600030101010101" pitchFamily="2" charset="-122"/>
                <a:cs typeface="Times New Roman" panose="02020603050405020304" charset="0"/>
                <a:sym typeface="+mn-ea"/>
              </a:rPr>
              <a:t>HID</a:t>
            </a:r>
            <a:r>
              <a:rPr lang="zh-CN" altLang="en-US">
                <a:latin typeface="宋体" panose="02010600030101010101" pitchFamily="2" charset="-122"/>
                <a:ea typeface="宋体" panose="02010600030101010101" pitchFamily="2" charset="-122"/>
                <a:cs typeface="宋体" panose="02010600030101010101" pitchFamily="2" charset="-122"/>
                <a:sym typeface="+mn-ea"/>
              </a:rPr>
              <a:t>配置文件</a:t>
            </a:r>
            <a:r>
              <a:rPr lang="en-US" altLang="zh-CN">
                <a:latin typeface="宋体" panose="02010600030101010101" pitchFamily="2" charset="-122"/>
                <a:ea typeface="宋体" panose="02010600030101010101" pitchFamily="2" charset="-122"/>
                <a:cs typeface="宋体" panose="02010600030101010101" pitchFamily="2" charset="-122"/>
                <a:sym typeface="+mn-ea"/>
              </a:rPr>
              <a:t>)</a:t>
            </a:r>
            <a:endParaRPr lang="en-US" altLang="zh-CN">
              <a:latin typeface="宋体" panose="02010600030101010101" pitchFamily="2" charset="-122"/>
              <a:ea typeface="宋体" panose="02010600030101010101" pitchFamily="2" charset="-122"/>
              <a:cs typeface="宋体" panose="02010600030101010101" pitchFamily="2" charset="-122"/>
            </a:endParaRPr>
          </a:p>
        </p:txBody>
      </p:sp>
      <p:grpSp>
        <p:nvGrpSpPr>
          <p:cNvPr id="31" name="组合 30"/>
          <p:cNvGrpSpPr/>
          <p:nvPr/>
        </p:nvGrpSpPr>
        <p:grpSpPr>
          <a:xfrm>
            <a:off x="511866" y="860007"/>
            <a:ext cx="7896466" cy="3494973"/>
            <a:chOff x="1596" y="2280"/>
            <a:chExt cx="15988" cy="7553"/>
          </a:xfrm>
        </p:grpSpPr>
        <p:grpSp>
          <p:nvGrpSpPr>
            <p:cNvPr id="9" name="组合 8"/>
            <p:cNvGrpSpPr/>
            <p:nvPr/>
          </p:nvGrpSpPr>
          <p:grpSpPr>
            <a:xfrm>
              <a:off x="15454" y="2280"/>
              <a:ext cx="1113" cy="899"/>
              <a:chOff x="9813387" y="1448098"/>
              <a:chExt cx="706846" cy="570963"/>
            </a:xfrm>
          </p:grpSpPr>
          <p:sp>
            <p:nvSpPr>
              <p:cNvPr id="10" name="任意多边形 9"/>
              <p:cNvSpPr/>
              <p:nvPr/>
            </p:nvSpPr>
            <p:spPr>
              <a:xfrm flipH="1" flipV="1">
                <a:off x="10178549" y="1448098"/>
                <a:ext cx="341684" cy="570963"/>
              </a:xfrm>
              <a:custGeom>
                <a:avLst/>
                <a:gdLst>
                  <a:gd name="connsiteX0" fmla="*/ 1528953 w 2059876"/>
                  <a:gd name="connsiteY0" fmla="*/ 1425380 h 3442107"/>
                  <a:gd name="connsiteX1" fmla="*/ 1688402 w 2059876"/>
                  <a:gd name="connsiteY1" fmla="*/ 1425380 h 3442107"/>
                  <a:gd name="connsiteX2" fmla="*/ 2059877 w 2059876"/>
                  <a:gd name="connsiteY2" fmla="*/ 1796855 h 3442107"/>
                  <a:gd name="connsiteX3" fmla="*/ 2059877 w 2059876"/>
                  <a:gd name="connsiteY3" fmla="*/ 3070633 h 3442107"/>
                  <a:gd name="connsiteX4" fmla="*/ 1688402 w 2059876"/>
                  <a:gd name="connsiteY4" fmla="*/ 3442108 h 3442107"/>
                  <a:gd name="connsiteX5" fmla="*/ 371475 w 2059876"/>
                  <a:gd name="connsiteY5" fmla="*/ 3442108 h 3442107"/>
                  <a:gd name="connsiteX6" fmla="*/ 0 w 2059876"/>
                  <a:gd name="connsiteY6" fmla="*/ 3070633 h 3442107"/>
                  <a:gd name="connsiteX7" fmla="*/ 0 w 2059876"/>
                  <a:gd name="connsiteY7" fmla="*/ 1527583 h 3442107"/>
                  <a:gd name="connsiteX8" fmla="*/ 51911 w 2059876"/>
                  <a:gd name="connsiteY8" fmla="*/ 1338226 h 3442107"/>
                  <a:gd name="connsiteX9" fmla="*/ 737711 w 2059876"/>
                  <a:gd name="connsiteY9" fmla="*/ 182177 h 3442107"/>
                  <a:gd name="connsiteX10" fmla="*/ 1185386 w 2059876"/>
                  <a:gd name="connsiteY10" fmla="*/ 22823 h 3442107"/>
                  <a:gd name="connsiteX11" fmla="*/ 1188149 w 2059876"/>
                  <a:gd name="connsiteY11" fmla="*/ 23776 h 3442107"/>
                  <a:gd name="connsiteX12" fmla="*/ 1407909 w 2059876"/>
                  <a:gd name="connsiteY12" fmla="*/ 500946 h 3442107"/>
                  <a:gd name="connsiteX13" fmla="*/ 1383506 w 2059876"/>
                  <a:gd name="connsiteY13" fmla="*/ 553842 h 3442107"/>
                  <a:gd name="connsiteX14" fmla="*/ 1204913 w 2059876"/>
                  <a:gd name="connsiteY14" fmla="*/ 872453 h 3442107"/>
                  <a:gd name="connsiteX15" fmla="*/ 1528953 w 2059876"/>
                  <a:gd name="connsiteY15" fmla="*/ 1425380 h 344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59876" h="3442107">
                    <a:moveTo>
                      <a:pt x="1528953" y="1425380"/>
                    </a:moveTo>
                    <a:lnTo>
                      <a:pt x="1688402" y="1425380"/>
                    </a:lnTo>
                    <a:cubicBezTo>
                      <a:pt x="1893560" y="1425380"/>
                      <a:pt x="2059877" y="1591696"/>
                      <a:pt x="2059877" y="1796855"/>
                    </a:cubicBezTo>
                    <a:lnTo>
                      <a:pt x="2059877" y="3070633"/>
                    </a:lnTo>
                    <a:cubicBezTo>
                      <a:pt x="2059877" y="3275792"/>
                      <a:pt x="1893560" y="3442108"/>
                      <a:pt x="1688402" y="3442108"/>
                    </a:cubicBezTo>
                    <a:lnTo>
                      <a:pt x="371475" y="3442108"/>
                    </a:lnTo>
                    <a:cubicBezTo>
                      <a:pt x="166315" y="3442108"/>
                      <a:pt x="0" y="3275792"/>
                      <a:pt x="0" y="3070633"/>
                    </a:cubicBezTo>
                    <a:lnTo>
                      <a:pt x="0" y="1527583"/>
                    </a:lnTo>
                    <a:cubicBezTo>
                      <a:pt x="8" y="1460946"/>
                      <a:pt x="17938" y="1395547"/>
                      <a:pt x="51911" y="1338226"/>
                    </a:cubicBezTo>
                    <a:lnTo>
                      <a:pt x="737711" y="182177"/>
                    </a:lnTo>
                    <a:cubicBezTo>
                      <a:pt x="829006" y="28080"/>
                      <a:pt x="1017261" y="-38931"/>
                      <a:pt x="1185386" y="22823"/>
                    </a:cubicBezTo>
                    <a:lnTo>
                      <a:pt x="1188149" y="23776"/>
                    </a:lnTo>
                    <a:cubicBezTo>
                      <a:pt x="1380601" y="94857"/>
                      <a:pt x="1478994" y="308492"/>
                      <a:pt x="1407909" y="500946"/>
                    </a:cubicBezTo>
                    <a:cubicBezTo>
                      <a:pt x="1401175" y="519189"/>
                      <a:pt x="1393012" y="536876"/>
                      <a:pt x="1383506" y="553842"/>
                    </a:cubicBezTo>
                    <a:lnTo>
                      <a:pt x="1204913" y="872453"/>
                    </a:lnTo>
                    <a:cubicBezTo>
                      <a:pt x="1066229" y="1120008"/>
                      <a:pt x="1245203" y="1425380"/>
                      <a:pt x="1528953" y="1425380"/>
                    </a:cubicBezTo>
                    <a:close/>
                  </a:path>
                </a:pathLst>
              </a:custGeom>
              <a:solidFill>
                <a:schemeClr val="accent1"/>
              </a:solidFill>
              <a:ln w="9525" cap="flat">
                <a:noFill/>
                <a:prstDash val="solid"/>
                <a:miter/>
              </a:ln>
            </p:spPr>
            <p:txBody>
              <a:bodyPr rtlCol="0" anchor="ctr"/>
              <a:lstStyle/>
              <a:p>
                <a:endParaRPr lang="zh-CN" altLang="en-US" b="1"/>
              </a:p>
            </p:txBody>
          </p:sp>
          <p:sp>
            <p:nvSpPr>
              <p:cNvPr id="11" name="任意多边形 10"/>
              <p:cNvSpPr/>
              <p:nvPr/>
            </p:nvSpPr>
            <p:spPr>
              <a:xfrm flipH="1" flipV="1">
                <a:off x="9813387" y="1448098"/>
                <a:ext cx="297192" cy="496670"/>
              </a:xfrm>
              <a:custGeom>
                <a:avLst/>
                <a:gdLst>
                  <a:gd name="connsiteX0" fmla="*/ 1791653 w 1791652"/>
                  <a:gd name="connsiteY0" fmla="*/ 1563096 h 2994227"/>
                  <a:gd name="connsiteX1" fmla="*/ 1791653 w 1791652"/>
                  <a:gd name="connsiteY1" fmla="*/ 2671139 h 2994227"/>
                  <a:gd name="connsiteX2" fmla="*/ 1468564 w 1791652"/>
                  <a:gd name="connsiteY2" fmla="*/ 2994227 h 2994227"/>
                  <a:gd name="connsiteX3" fmla="*/ 323088 w 1791652"/>
                  <a:gd name="connsiteY3" fmla="*/ 2994227 h 2994227"/>
                  <a:gd name="connsiteX4" fmla="*/ 0 w 1791652"/>
                  <a:gd name="connsiteY4" fmla="*/ 2671139 h 2994227"/>
                  <a:gd name="connsiteX5" fmla="*/ 0 w 1791652"/>
                  <a:gd name="connsiteY5" fmla="*/ 1328114 h 2994227"/>
                  <a:gd name="connsiteX6" fmla="*/ 44958 w 1791652"/>
                  <a:gd name="connsiteY6" fmla="*/ 1163903 h 2994227"/>
                  <a:gd name="connsiteX7" fmla="*/ 641318 w 1791652"/>
                  <a:gd name="connsiteY7" fmla="*/ 158349 h 2994227"/>
                  <a:gd name="connsiteX8" fmla="*/ 1031081 w 1791652"/>
                  <a:gd name="connsiteY8" fmla="*/ 20046 h 2994227"/>
                  <a:gd name="connsiteX9" fmla="*/ 1031081 w 1791652"/>
                  <a:gd name="connsiteY9" fmla="*/ 20046 h 2994227"/>
                  <a:gd name="connsiteX10" fmla="*/ 1222286 w 1791652"/>
                  <a:gd name="connsiteY10" fmla="*/ 434882 h 2994227"/>
                  <a:gd name="connsiteX11" fmla="*/ 1199960 w 1791652"/>
                  <a:gd name="connsiteY11" fmla="*/ 482866 h 2994227"/>
                  <a:gd name="connsiteX12" fmla="*/ 1043845 w 1791652"/>
                  <a:gd name="connsiteY12" fmla="*/ 757186 h 2994227"/>
                  <a:gd name="connsiteX13" fmla="*/ 1324737 w 1791652"/>
                  <a:gd name="connsiteY13" fmla="*/ 1240103 h 2994227"/>
                  <a:gd name="connsiteX14" fmla="*/ 1468564 w 1791652"/>
                  <a:gd name="connsiteY14" fmla="*/ 1240103 h 2994227"/>
                  <a:gd name="connsiteX15" fmla="*/ 1791653 w 1791652"/>
                  <a:gd name="connsiteY15" fmla="*/ 1563096 h 2994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91652" h="2994227">
                    <a:moveTo>
                      <a:pt x="1791653" y="1563096"/>
                    </a:moveTo>
                    <a:lnTo>
                      <a:pt x="1791653" y="2671139"/>
                    </a:lnTo>
                    <a:cubicBezTo>
                      <a:pt x="1791653" y="2849581"/>
                      <a:pt x="1647006" y="2994227"/>
                      <a:pt x="1468564" y="2994227"/>
                    </a:cubicBezTo>
                    <a:lnTo>
                      <a:pt x="323088" y="2994227"/>
                    </a:lnTo>
                    <a:cubicBezTo>
                      <a:pt x="144656" y="2994227"/>
                      <a:pt x="0" y="2849581"/>
                      <a:pt x="0" y="2671139"/>
                    </a:cubicBezTo>
                    <a:lnTo>
                      <a:pt x="0" y="1328114"/>
                    </a:lnTo>
                    <a:cubicBezTo>
                      <a:pt x="38" y="1270345"/>
                      <a:pt x="15564" y="1213643"/>
                      <a:pt x="44958" y="1163903"/>
                    </a:cubicBezTo>
                    <a:lnTo>
                      <a:pt x="641318" y="158349"/>
                    </a:lnTo>
                    <a:cubicBezTo>
                      <a:pt x="720823" y="24209"/>
                      <a:pt x="884806" y="-33980"/>
                      <a:pt x="1031081" y="20046"/>
                    </a:cubicBezTo>
                    <a:lnTo>
                      <a:pt x="1031081" y="20046"/>
                    </a:lnTo>
                    <a:cubicBezTo>
                      <a:pt x="1198436" y="81799"/>
                      <a:pt x="1284037" y="267528"/>
                      <a:pt x="1222286" y="434882"/>
                    </a:cubicBezTo>
                    <a:cubicBezTo>
                      <a:pt x="1216171" y="451460"/>
                      <a:pt x="1208704" y="467509"/>
                      <a:pt x="1199960" y="482866"/>
                    </a:cubicBezTo>
                    <a:lnTo>
                      <a:pt x="1043845" y="757186"/>
                    </a:lnTo>
                    <a:cubicBezTo>
                      <a:pt x="921353" y="972546"/>
                      <a:pt x="1076897" y="1240103"/>
                      <a:pt x="1324737" y="1240103"/>
                    </a:cubicBezTo>
                    <a:lnTo>
                      <a:pt x="1468564" y="1240103"/>
                    </a:lnTo>
                    <a:cubicBezTo>
                      <a:pt x="1646968" y="1240103"/>
                      <a:pt x="1791595" y="1384693"/>
                      <a:pt x="1791653" y="1563096"/>
                    </a:cubicBezTo>
                    <a:close/>
                  </a:path>
                </a:pathLst>
              </a:custGeom>
              <a:solidFill>
                <a:schemeClr val="accent1"/>
              </a:solidFill>
              <a:ln w="9525" cap="flat">
                <a:noFill/>
                <a:prstDash val="solid"/>
                <a:miter/>
              </a:ln>
            </p:spPr>
            <p:txBody>
              <a:bodyPr rtlCol="0" anchor="ctr"/>
              <a:lstStyle/>
              <a:p>
                <a:endParaRPr lang="zh-CN" altLang="en-US" b="1"/>
              </a:p>
            </p:txBody>
          </p:sp>
        </p:grpSp>
        <p:sp>
          <p:nvSpPr>
            <p:cNvPr id="14" name="圆角矩形 13"/>
            <p:cNvSpPr/>
            <p:nvPr/>
          </p:nvSpPr>
          <p:spPr>
            <a:xfrm>
              <a:off x="3365" y="4822"/>
              <a:ext cx="12472" cy="2041"/>
            </a:xfrm>
            <a:prstGeom prst="roundRect">
              <a:avLst>
                <a:gd name="adj" fmla="val 1666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15" name="任意多边形 14"/>
            <p:cNvSpPr/>
            <p:nvPr/>
          </p:nvSpPr>
          <p:spPr>
            <a:xfrm flipH="1">
              <a:off x="1596" y="4414"/>
              <a:ext cx="3061" cy="1871"/>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1"/>
            </a:solidFill>
            <a:ln w="9525" cap="flat">
              <a:noFill/>
              <a:prstDash val="solid"/>
              <a:miter/>
            </a:ln>
          </p:spPr>
          <p:txBody>
            <a:bodyPr rtlCol="0" anchor="ctr" anchorCtr="0"/>
            <a:lstStyle/>
            <a:p>
              <a:pPr algn="ctr"/>
              <a:r>
                <a:rPr lang="zh-CN" altLang="en-US"/>
                <a:t>拆分</a:t>
              </a:r>
              <a:endParaRPr lang="zh-CN" altLang="en-US"/>
            </a:p>
          </p:txBody>
        </p:sp>
        <p:sp>
          <p:nvSpPr>
            <p:cNvPr id="21" name="圆角矩形 20"/>
            <p:cNvSpPr/>
            <p:nvPr/>
          </p:nvSpPr>
          <p:spPr>
            <a:xfrm>
              <a:off x="3365" y="7603"/>
              <a:ext cx="12472" cy="2230"/>
            </a:xfrm>
            <a:prstGeom prst="roundRect">
              <a:avLst>
                <a:gd name="adj" fmla="val 16667"/>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endParaRPr>
            </a:p>
          </p:txBody>
        </p:sp>
        <p:sp>
          <p:nvSpPr>
            <p:cNvPr id="22" name="任意多边形 21"/>
            <p:cNvSpPr/>
            <p:nvPr/>
          </p:nvSpPr>
          <p:spPr>
            <a:xfrm>
              <a:off x="14522" y="7194"/>
              <a:ext cx="3061" cy="1871"/>
            </a:xfrm>
            <a:custGeom>
              <a:avLst/>
              <a:gdLst>
                <a:gd name="connsiteX0" fmla="*/ 3567113 w 4286250"/>
                <a:gd name="connsiteY0" fmla="*/ 2762250 h 3162931"/>
                <a:gd name="connsiteX1" fmla="*/ 3230785 w 4286250"/>
                <a:gd name="connsiteY1" fmla="*/ 2762250 h 3162931"/>
                <a:gd name="connsiteX2" fmla="*/ 3167729 w 4286250"/>
                <a:gd name="connsiteY2" fmla="*/ 2807303 h 3162931"/>
                <a:gd name="connsiteX3" fmla="*/ 2826830 w 4286250"/>
                <a:gd name="connsiteY3" fmla="*/ 3155537 h 3162931"/>
                <a:gd name="connsiteX4" fmla="*/ 2737047 w 4286250"/>
                <a:gd name="connsiteY4" fmla="*/ 3126734 h 3162931"/>
                <a:gd name="connsiteX5" fmla="*/ 2732341 w 4286250"/>
                <a:gd name="connsiteY5" fmla="*/ 3077528 h 3162931"/>
                <a:gd name="connsiteX6" fmla="*/ 2602611 w 4286250"/>
                <a:gd name="connsiteY6" fmla="*/ 2766917 h 3162931"/>
                <a:gd name="connsiteX7" fmla="*/ 2578132 w 4286250"/>
                <a:gd name="connsiteY7" fmla="*/ 2762250 h 3162931"/>
                <a:gd name="connsiteX8" fmla="*/ 719138 w 4286250"/>
                <a:gd name="connsiteY8" fmla="*/ 2762250 h 3162931"/>
                <a:gd name="connsiteX9" fmla="*/ 0 w 4286250"/>
                <a:gd name="connsiteY9" fmla="*/ 2043113 h 3162931"/>
                <a:gd name="connsiteX10" fmla="*/ 0 w 4286250"/>
                <a:gd name="connsiteY10" fmla="*/ 719138 h 3162931"/>
                <a:gd name="connsiteX11" fmla="*/ 719138 w 4286250"/>
                <a:gd name="connsiteY11" fmla="*/ 0 h 3162931"/>
                <a:gd name="connsiteX12" fmla="*/ 3567113 w 4286250"/>
                <a:gd name="connsiteY12" fmla="*/ 0 h 3162931"/>
                <a:gd name="connsiteX13" fmla="*/ 4286250 w 4286250"/>
                <a:gd name="connsiteY13" fmla="*/ 719138 h 3162931"/>
                <a:gd name="connsiteX14" fmla="*/ 4286250 w 4286250"/>
                <a:gd name="connsiteY14" fmla="*/ 2043113 h 3162931"/>
                <a:gd name="connsiteX15" fmla="*/ 3567113 w 4286250"/>
                <a:gd name="connsiteY15" fmla="*/ 2762250 h 316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86250" h="3162931">
                  <a:moveTo>
                    <a:pt x="3567113" y="2762250"/>
                  </a:moveTo>
                  <a:lnTo>
                    <a:pt x="3230785" y="2762250"/>
                  </a:lnTo>
                  <a:cubicBezTo>
                    <a:pt x="3202305" y="2762260"/>
                    <a:pt x="3176969" y="2780357"/>
                    <a:pt x="3167729" y="2807303"/>
                  </a:cubicBezTo>
                  <a:cubicBezTo>
                    <a:pt x="3104388" y="2984564"/>
                    <a:pt x="2948178" y="3094291"/>
                    <a:pt x="2826830" y="3155537"/>
                  </a:cubicBezTo>
                  <a:cubicBezTo>
                    <a:pt x="2794083" y="3172378"/>
                    <a:pt x="2753887" y="3159481"/>
                    <a:pt x="2737047" y="3126734"/>
                  </a:cubicBezTo>
                  <a:cubicBezTo>
                    <a:pt x="2729227" y="3111541"/>
                    <a:pt x="2727541" y="3093930"/>
                    <a:pt x="2732341" y="3077528"/>
                  </a:cubicBezTo>
                  <a:cubicBezTo>
                    <a:pt x="2764250" y="2971800"/>
                    <a:pt x="2765965" y="2834449"/>
                    <a:pt x="2602611" y="2766917"/>
                  </a:cubicBezTo>
                  <a:cubicBezTo>
                    <a:pt x="2594839" y="2763755"/>
                    <a:pt x="2586523" y="2762164"/>
                    <a:pt x="2578132" y="2762250"/>
                  </a:cubicBezTo>
                  <a:lnTo>
                    <a:pt x="719138" y="2762250"/>
                  </a:lnTo>
                  <a:cubicBezTo>
                    <a:pt x="321969" y="2762250"/>
                    <a:pt x="0" y="2440286"/>
                    <a:pt x="0" y="2043113"/>
                  </a:cubicBezTo>
                  <a:lnTo>
                    <a:pt x="0" y="719138"/>
                  </a:lnTo>
                  <a:cubicBezTo>
                    <a:pt x="0" y="321969"/>
                    <a:pt x="321969" y="0"/>
                    <a:pt x="719138" y="0"/>
                  </a:cubicBezTo>
                  <a:lnTo>
                    <a:pt x="3567113" y="0"/>
                  </a:lnTo>
                  <a:cubicBezTo>
                    <a:pt x="3964286" y="0"/>
                    <a:pt x="4286250" y="321969"/>
                    <a:pt x="4286250" y="719138"/>
                  </a:cubicBezTo>
                  <a:lnTo>
                    <a:pt x="4286250" y="2043113"/>
                  </a:lnTo>
                  <a:cubicBezTo>
                    <a:pt x="4286250" y="2440286"/>
                    <a:pt x="3964286" y="2762250"/>
                    <a:pt x="3567113" y="2762250"/>
                  </a:cubicBezTo>
                  <a:close/>
                </a:path>
              </a:pathLst>
            </a:custGeom>
            <a:solidFill>
              <a:schemeClr val="accent2"/>
            </a:solidFill>
            <a:ln w="9525" cap="flat">
              <a:noFill/>
              <a:prstDash val="solid"/>
              <a:miter/>
            </a:ln>
          </p:spPr>
          <p:txBody>
            <a:bodyPr rtlCol="0" anchor="ctr"/>
            <a:lstStyle/>
            <a:p>
              <a:pPr algn="ctr"/>
              <a:r>
                <a:rPr lang="zh-CN" altLang="en-US"/>
                <a:t>角色</a:t>
              </a:r>
              <a:r>
                <a:rPr lang="zh-CN" altLang="en-US"/>
                <a:t>定义</a:t>
              </a:r>
              <a:endParaRPr lang="zh-CN" altLang="en-US"/>
            </a:p>
          </p:txBody>
        </p:sp>
      </p:grpSp>
      <p:sp>
        <p:nvSpPr>
          <p:cNvPr id="3" name="文本框 2"/>
          <p:cNvSpPr txBox="1"/>
          <p:nvPr/>
        </p:nvSpPr>
        <p:spPr>
          <a:xfrm>
            <a:off x="2089785" y="2036445"/>
            <a:ext cx="5266690" cy="946785"/>
          </a:xfrm>
          <a:prstGeom prst="rect">
            <a:avLst/>
          </a:prstGeom>
          <a:noFill/>
        </p:spPr>
        <p:txBody>
          <a:bodyPr wrap="square" rtlCol="0">
            <a:noAutofit/>
          </a:bodyPr>
          <a:p>
            <a:pPr>
              <a:lnSpc>
                <a:spcPct val="110000"/>
              </a:lnSpc>
            </a:pPr>
            <a:r>
              <a:rPr lang="en-US" altLang="zh-CN"/>
              <a:t>HID</a:t>
            </a:r>
            <a:r>
              <a:rPr lang="zh-CN" altLang="en-US"/>
              <a:t>：</a:t>
            </a:r>
            <a:r>
              <a:rPr lang="zh-CN" altLang="en-US">
                <a:latin typeface="宋体" panose="02010600030101010101" pitchFamily="2" charset="-122"/>
                <a:ea typeface="宋体" panose="02010600030101010101" pitchFamily="2" charset="-122"/>
              </a:rPr>
              <a:t>人机接口设备，如鼠标、键盘、遥控器等</a:t>
            </a:r>
            <a:endParaRPr lang="zh-CN" altLang="en-US">
              <a:latin typeface="宋体" panose="02010600030101010101" pitchFamily="2" charset="-122"/>
              <a:ea typeface="宋体" panose="02010600030101010101" pitchFamily="2" charset="-122"/>
            </a:endParaRPr>
          </a:p>
          <a:p>
            <a:pPr>
              <a:lnSpc>
                <a:spcPct val="110000"/>
              </a:lnSpc>
            </a:pPr>
            <a:r>
              <a:rPr lang="en-US" altLang="zh-CN">
                <a:sym typeface="+mn-ea"/>
              </a:rPr>
              <a:t>GATT</a:t>
            </a:r>
            <a:r>
              <a:rPr lang="zh-CN" altLang="en-US">
                <a:sym typeface="+mn-ea"/>
              </a:rPr>
              <a:t>：</a:t>
            </a:r>
            <a:r>
              <a:rPr lang="zh-CN" altLang="en-US">
                <a:latin typeface="宋体" panose="02010600030101010101" pitchFamily="2" charset="-122"/>
                <a:ea typeface="宋体" panose="02010600030101010101" pitchFamily="2" charset="-122"/>
                <a:sym typeface="+mn-ea"/>
              </a:rPr>
              <a:t>通用属性协议</a:t>
            </a:r>
            <a:endParaRPr lang="zh-CN" altLang="en-US">
              <a:latin typeface="宋体" panose="02010600030101010101" pitchFamily="2" charset="-122"/>
              <a:ea typeface="宋体" panose="02010600030101010101" pitchFamily="2" charset="-122"/>
              <a:sym typeface="+mn-ea"/>
            </a:endParaRPr>
          </a:p>
          <a:p>
            <a:pPr>
              <a:lnSpc>
                <a:spcPct val="110000"/>
              </a:lnSpc>
            </a:pPr>
            <a:r>
              <a:rPr lang="en-US" altLang="zh-CN">
                <a:sym typeface="+mn-ea"/>
              </a:rPr>
              <a:t>OVER</a:t>
            </a:r>
            <a:r>
              <a:rPr lang="zh-CN" altLang="en-US">
                <a:sym typeface="+mn-ea"/>
              </a:rPr>
              <a:t>：</a:t>
            </a:r>
            <a:r>
              <a:rPr lang="zh-CN" altLang="en-US">
                <a:latin typeface="宋体" panose="02010600030101010101" pitchFamily="2" charset="-122"/>
                <a:ea typeface="宋体" panose="02010600030101010101" pitchFamily="2" charset="-122"/>
                <a:cs typeface="宋体" panose="02010600030101010101" pitchFamily="2" charset="-122"/>
                <a:sym typeface="+mn-ea"/>
              </a:rPr>
              <a:t>说明</a:t>
            </a:r>
            <a:r>
              <a:rPr lang="en-US" altLang="zh-CN">
                <a:latin typeface="宋体" panose="02010600030101010101" pitchFamily="2" charset="-122"/>
                <a:ea typeface="宋体" panose="02010600030101010101" pitchFamily="2" charset="-122"/>
                <a:cs typeface="宋体" panose="02010600030101010101" pitchFamily="2" charset="-122"/>
                <a:sym typeface="+mn-ea"/>
              </a:rPr>
              <a:t>HID</a:t>
            </a:r>
            <a:r>
              <a:rPr lang="zh-CN" altLang="en-US">
                <a:latin typeface="宋体" panose="02010600030101010101" pitchFamily="2" charset="-122"/>
                <a:ea typeface="宋体" panose="02010600030101010101" pitchFamily="2" charset="-122"/>
                <a:cs typeface="宋体" panose="02010600030101010101" pitchFamily="2" charset="-122"/>
                <a:sym typeface="+mn-ea"/>
              </a:rPr>
              <a:t>设备是通过</a:t>
            </a:r>
            <a:r>
              <a:rPr lang="en-US" altLang="zh-CN">
                <a:latin typeface="宋体" panose="02010600030101010101" pitchFamily="2" charset="-122"/>
                <a:ea typeface="宋体" panose="02010600030101010101" pitchFamily="2" charset="-122"/>
                <a:cs typeface="宋体" panose="02010600030101010101" pitchFamily="2" charset="-122"/>
                <a:sym typeface="+mn-ea"/>
              </a:rPr>
              <a:t>GATT</a:t>
            </a:r>
            <a:r>
              <a:rPr lang="zh-CN" altLang="en-US">
                <a:latin typeface="宋体" panose="02010600030101010101" pitchFamily="2" charset="-122"/>
                <a:ea typeface="宋体" panose="02010600030101010101" pitchFamily="2" charset="-122"/>
                <a:cs typeface="宋体" panose="02010600030101010101" pitchFamily="2" charset="-122"/>
                <a:sym typeface="+mn-ea"/>
              </a:rPr>
              <a:t>框架实现的</a:t>
            </a:r>
            <a:endParaRPr lang="zh-CN" altLang="en-US">
              <a:latin typeface="宋体" panose="02010600030101010101" pitchFamily="2" charset="-122"/>
              <a:ea typeface="宋体" panose="02010600030101010101" pitchFamily="2" charset="-122"/>
              <a:cs typeface="宋体" panose="02010600030101010101" pitchFamily="2" charset="-122"/>
            </a:endParaRPr>
          </a:p>
          <a:p>
            <a:endParaRPr lang="zh-CN" altLang="en-US"/>
          </a:p>
          <a:p>
            <a:endParaRPr lang="zh-CN" altLang="en-US"/>
          </a:p>
        </p:txBody>
      </p:sp>
      <p:sp>
        <p:nvSpPr>
          <p:cNvPr id="32" name="文本框 31"/>
          <p:cNvSpPr txBox="1"/>
          <p:nvPr/>
        </p:nvSpPr>
        <p:spPr>
          <a:xfrm>
            <a:off x="1385570" y="3322955"/>
            <a:ext cx="5509895" cy="946785"/>
          </a:xfrm>
          <a:prstGeom prst="rect">
            <a:avLst/>
          </a:prstGeom>
          <a:noFill/>
        </p:spPr>
        <p:txBody>
          <a:bodyPr wrap="square" rtlCol="0">
            <a:noAutofit/>
          </a:bodyPr>
          <a:p>
            <a:pPr>
              <a:lnSpc>
                <a:spcPct val="110000"/>
              </a:lnSpc>
            </a:pPr>
            <a:r>
              <a:rPr lang="en-US" altLang="zh-CN"/>
              <a:t>HID Device</a:t>
            </a:r>
            <a:r>
              <a:rPr lang="zh-CN" altLang="en-US"/>
              <a:t>：</a:t>
            </a:r>
            <a:r>
              <a:rPr lang="en-US" altLang="zh-CN"/>
              <a:t>GATT</a:t>
            </a:r>
            <a:r>
              <a:rPr lang="zh-CN" altLang="en-US"/>
              <a:t>服务器</a:t>
            </a:r>
            <a:endParaRPr lang="zh-CN" altLang="en-US">
              <a:latin typeface="宋体" panose="02010600030101010101" pitchFamily="2" charset="-122"/>
              <a:ea typeface="宋体" panose="02010600030101010101" pitchFamily="2" charset="-122"/>
            </a:endParaRPr>
          </a:p>
          <a:p>
            <a:pPr>
              <a:lnSpc>
                <a:spcPct val="110000"/>
              </a:lnSpc>
            </a:pPr>
            <a:r>
              <a:rPr lang="en-US" altLang="zh-CN">
                <a:sym typeface="+mn-ea"/>
              </a:rPr>
              <a:t>Boot Host</a:t>
            </a:r>
            <a:r>
              <a:rPr lang="zh-CN" altLang="en-US">
                <a:sym typeface="+mn-ea"/>
              </a:rPr>
              <a:t>：</a:t>
            </a:r>
            <a:r>
              <a:rPr lang="en-US" altLang="zh-CN">
                <a:sym typeface="+mn-ea"/>
              </a:rPr>
              <a:t>GATT</a:t>
            </a:r>
            <a:r>
              <a:rPr lang="zh-CN" altLang="en-US">
                <a:sym typeface="+mn-ea"/>
              </a:rPr>
              <a:t>客户端</a:t>
            </a:r>
            <a:endParaRPr lang="zh-CN" altLang="en-US">
              <a:latin typeface="宋体" panose="02010600030101010101" pitchFamily="2" charset="-122"/>
              <a:ea typeface="宋体" panose="02010600030101010101" pitchFamily="2" charset="-122"/>
              <a:sym typeface="+mn-ea"/>
            </a:endParaRPr>
          </a:p>
          <a:p>
            <a:pPr>
              <a:lnSpc>
                <a:spcPct val="110000"/>
              </a:lnSpc>
            </a:pPr>
            <a:r>
              <a:rPr lang="en-US" altLang="zh-CN">
                <a:sym typeface="+mn-ea"/>
              </a:rPr>
              <a:t>Report Host</a:t>
            </a:r>
            <a:r>
              <a:rPr lang="zh-CN" altLang="en-US">
                <a:sym typeface="+mn-ea"/>
              </a:rPr>
              <a:t>：</a:t>
            </a:r>
            <a:r>
              <a:rPr lang="en-US" altLang="zh-CN">
                <a:sym typeface="+mn-ea"/>
              </a:rPr>
              <a:t>GATT</a:t>
            </a:r>
            <a:r>
              <a:rPr lang="zh-CN" altLang="en-US">
                <a:sym typeface="+mn-ea"/>
              </a:rPr>
              <a:t>客户端</a:t>
            </a:r>
            <a:endParaRPr lang="zh-CN" altLang="en-US">
              <a:latin typeface="宋体" panose="02010600030101010101" pitchFamily="2" charset="-122"/>
              <a:ea typeface="宋体" panose="02010600030101010101" pitchFamily="2" charset="-122"/>
              <a:cs typeface="宋体" panose="02010600030101010101" pitchFamily="2" charset="-122"/>
            </a:endParaRPr>
          </a:p>
          <a:p>
            <a:endParaRPr lang="zh-CN" altLang="en-US"/>
          </a:p>
          <a:p>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HID D</a:t>
            </a:r>
            <a:r>
              <a:rPr lang="en-US" altLang="zh-TW" sz="2400" b="1" spc="-38" dirty="0">
                <a:solidFill>
                  <a:srgbClr val="3D5663"/>
                </a:solidFill>
                <a:latin typeface="Calibri" panose="020F0502020204030204" pitchFamily="34" charset="0"/>
                <a:cs typeface="Calibri" panose="020F0502020204030204" pitchFamily="34" charset="0"/>
              </a:rPr>
              <a:t>evice</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691515"/>
            <a:ext cx="3048000" cy="368300"/>
          </a:xfrm>
          <a:prstGeom prst="rect">
            <a:avLst/>
          </a:prstGeom>
          <a:noFill/>
        </p:spPr>
        <p:txBody>
          <a:bodyPr wrap="square" rtlCol="0">
            <a:spAutoFit/>
          </a:bodyPr>
          <a:p>
            <a:r>
              <a:rPr lang="en-US" altLang="zh-CN"/>
              <a:t>HID</a:t>
            </a:r>
            <a:r>
              <a:rPr lang="zh-CN" altLang="en-US"/>
              <a:t>设备</a:t>
            </a:r>
            <a:r>
              <a:rPr lang="zh-CN" altLang="en-US"/>
              <a:t>构成</a:t>
            </a:r>
            <a:endParaRPr lang="zh-CN" altLang="en-US"/>
          </a:p>
        </p:txBody>
      </p:sp>
      <p:pic>
        <p:nvPicPr>
          <p:cNvPr id="3" name="图片 2"/>
          <p:cNvPicPr>
            <a:picLocks noChangeAspect="1"/>
          </p:cNvPicPr>
          <p:nvPr/>
        </p:nvPicPr>
        <p:blipFill>
          <a:blip r:embed="rId1"/>
          <a:stretch>
            <a:fillRect/>
          </a:stretch>
        </p:blipFill>
        <p:spPr>
          <a:xfrm>
            <a:off x="215900" y="1163955"/>
            <a:ext cx="3879850" cy="3109595"/>
          </a:xfrm>
          <a:prstGeom prst="rect">
            <a:avLst/>
          </a:prstGeom>
        </p:spPr>
      </p:pic>
      <p:sp>
        <p:nvSpPr>
          <p:cNvPr id="4" name="文本框 3"/>
          <p:cNvSpPr txBox="1"/>
          <p:nvPr/>
        </p:nvSpPr>
        <p:spPr>
          <a:xfrm>
            <a:off x="4290060" y="1163955"/>
            <a:ext cx="4660900" cy="2084070"/>
          </a:xfrm>
          <a:prstGeom prst="rect">
            <a:avLst/>
          </a:prstGeom>
          <a:noFill/>
        </p:spPr>
        <p:txBody>
          <a:bodyPr wrap="square" rtlCol="0">
            <a:spAutoFit/>
          </a:bodyPr>
          <a:p>
            <a:pPr>
              <a:lnSpc>
                <a:spcPct val="120000"/>
              </a:lnSpc>
            </a:pPr>
            <a:r>
              <a:rPr lang="en-US" altLang="zh-CN" b="1">
                <a:latin typeface="Times New Roman" panose="02020603050405020304" charset="0"/>
                <a:cs typeface="Times New Roman" panose="02020603050405020304" charset="0"/>
              </a:rPr>
              <a:t>HID Service</a:t>
            </a:r>
            <a:r>
              <a:rPr lang="zh-CN" altLang="en-US"/>
              <a:t>：设备类型</a:t>
            </a:r>
            <a:r>
              <a:rPr lang="zh-CN" altLang="en-US"/>
              <a:t>和能力</a:t>
            </a:r>
            <a:r>
              <a:rPr lang="zh-CN" altLang="en-US"/>
              <a:t>定义</a:t>
            </a:r>
            <a:endParaRPr lang="zh-CN" altLang="en-US"/>
          </a:p>
          <a:p>
            <a:pPr>
              <a:lnSpc>
                <a:spcPct val="120000"/>
              </a:lnSpc>
            </a:pPr>
            <a:r>
              <a:rPr lang="en-US" altLang="zh-CN" b="1">
                <a:latin typeface="Times New Roman" panose="02020603050405020304" charset="0"/>
                <a:cs typeface="Times New Roman" panose="02020603050405020304" charset="0"/>
              </a:rPr>
              <a:t>Battery Service</a:t>
            </a:r>
            <a:r>
              <a:rPr lang="zh-CN" altLang="en-US"/>
              <a:t>：反馈电量</a:t>
            </a:r>
            <a:r>
              <a:rPr lang="zh-CN" altLang="en-US"/>
              <a:t>信息</a:t>
            </a:r>
            <a:endParaRPr lang="zh-CN" altLang="en-US"/>
          </a:p>
          <a:p>
            <a:pPr>
              <a:lnSpc>
                <a:spcPct val="120000"/>
              </a:lnSpc>
            </a:pPr>
            <a:r>
              <a:rPr lang="en-US" altLang="zh-CN" b="1">
                <a:latin typeface="Times New Roman" panose="02020603050405020304" charset="0"/>
                <a:cs typeface="Times New Roman" panose="02020603050405020304" charset="0"/>
              </a:rPr>
              <a:t>Device Information Service</a:t>
            </a:r>
            <a:r>
              <a:rPr lang="zh-CN" altLang="en-US"/>
              <a:t>：提供设备</a:t>
            </a:r>
            <a:r>
              <a:rPr lang="zh-CN" altLang="en-US"/>
              <a:t>信息</a:t>
            </a:r>
            <a:endParaRPr lang="zh-CN" altLang="en-US"/>
          </a:p>
          <a:p>
            <a:pPr>
              <a:lnSpc>
                <a:spcPct val="120000"/>
              </a:lnSpc>
            </a:pPr>
            <a:r>
              <a:rPr lang="en-US" altLang="zh-CN" b="1">
                <a:latin typeface="Times New Roman" panose="02020603050405020304" charset="0"/>
                <a:cs typeface="Times New Roman" panose="02020603050405020304" charset="0"/>
              </a:rPr>
              <a:t>Scan Parameters Service</a:t>
            </a:r>
            <a:r>
              <a:rPr lang="zh-CN" altLang="en-US"/>
              <a:t>：允许主机调整扫描参数（</a:t>
            </a:r>
            <a:r>
              <a:rPr lang="zh-CN" altLang="en-US"/>
              <a:t>可选）</a:t>
            </a:r>
            <a:endParaRPr lang="zh-CN" altLang="en-US"/>
          </a:p>
          <a:p>
            <a:pPr>
              <a:lnSpc>
                <a:spcPct val="120000"/>
              </a:lnSpc>
            </a:pPr>
            <a:r>
              <a:rPr lang="en-US" altLang="zh-CN" b="1">
                <a:latin typeface="Times New Roman" panose="02020603050405020304" charset="0"/>
                <a:cs typeface="Times New Roman" panose="02020603050405020304" charset="0"/>
              </a:rPr>
              <a:t>Othere optional Service(s)</a:t>
            </a:r>
            <a:r>
              <a:rPr lang="zh-CN" altLang="en-US"/>
              <a:t>：其他服务（</a:t>
            </a:r>
            <a:r>
              <a:rPr lang="zh-CN" altLang="en-US"/>
              <a:t>可选）</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HID S</a:t>
            </a:r>
            <a:r>
              <a:rPr lang="en-US" altLang="zh-TW" sz="2400" b="1" spc="-38" dirty="0">
                <a:solidFill>
                  <a:srgbClr val="3D5663"/>
                </a:solidFill>
                <a:latin typeface="Calibri" panose="020F0502020204030204" pitchFamily="34" charset="0"/>
                <a:cs typeface="Calibri" panose="020F0502020204030204" pitchFamily="34" charset="0"/>
              </a:rPr>
              <a:t>ervice</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587375"/>
            <a:ext cx="4159250" cy="368300"/>
          </a:xfrm>
          <a:prstGeom prst="rect">
            <a:avLst/>
          </a:prstGeom>
          <a:noFill/>
        </p:spPr>
        <p:txBody>
          <a:bodyPr wrap="square" rtlCol="0">
            <a:spAutoFit/>
          </a:bodyPr>
          <a:p>
            <a:r>
              <a:rPr lang="zh-CN" altLang="en-US"/>
              <a:t>一个</a:t>
            </a:r>
            <a:r>
              <a:rPr lang="en-US" altLang="zh-CN"/>
              <a:t>HID</a:t>
            </a:r>
            <a:r>
              <a:rPr lang="zh-CN" altLang="en-US"/>
              <a:t>服务需包含以下</a:t>
            </a:r>
            <a:r>
              <a:rPr lang="zh-CN" altLang="en-US"/>
              <a:t>特征</a:t>
            </a:r>
            <a:endParaRPr lang="zh-CN" altLang="en-US"/>
          </a:p>
        </p:txBody>
      </p:sp>
      <p:graphicFrame>
        <p:nvGraphicFramePr>
          <p:cNvPr id="3" name="表格 2"/>
          <p:cNvGraphicFramePr/>
          <p:nvPr>
            <p:custDataLst>
              <p:tags r:id="rId1"/>
            </p:custDataLst>
          </p:nvPr>
        </p:nvGraphicFramePr>
        <p:xfrm>
          <a:off x="220345" y="1047750"/>
          <a:ext cx="6381750" cy="3566160"/>
        </p:xfrm>
        <a:graphic>
          <a:graphicData uri="http://schemas.openxmlformats.org/drawingml/2006/table">
            <a:tbl>
              <a:tblPr firstRow="1" bandRow="1">
                <a:tableStyleId>{5C22544A-7EE6-4342-B048-85BDC9FD1C3A}</a:tableStyleId>
              </a:tblPr>
              <a:tblGrid>
                <a:gridCol w="3190875"/>
                <a:gridCol w="3190875"/>
              </a:tblGrid>
              <a:tr h="297180">
                <a:tc>
                  <a:txBody>
                    <a:bodyPr/>
                    <a:p>
                      <a:pPr>
                        <a:buNone/>
                      </a:pPr>
                      <a:r>
                        <a:rPr lang="zh-CN" altLang="en-US"/>
                        <a:t>特征</a:t>
                      </a:r>
                      <a:endParaRPr lang="zh-CN" altLang="en-US"/>
                    </a:p>
                  </a:txBody>
                  <a:tcPr/>
                </a:tc>
                <a:tc>
                  <a:txBody>
                    <a:bodyPr/>
                    <a:p>
                      <a:pPr>
                        <a:buNone/>
                      </a:pPr>
                      <a:r>
                        <a:rPr lang="zh-CN" altLang="en-US"/>
                        <a:t>强制特性</a:t>
                      </a:r>
                      <a:endParaRPr lang="zh-CN" altLang="en-US"/>
                    </a:p>
                  </a:txBody>
                  <a:tcPr/>
                </a:tc>
              </a:tr>
              <a:tr h="297180">
                <a:tc>
                  <a:txBody>
                    <a:bodyPr/>
                    <a:p>
                      <a:pPr>
                        <a:buNone/>
                      </a:pPr>
                      <a:r>
                        <a:rPr lang="en-US" altLang="zh-CN"/>
                        <a:t>Protocol Mode</a:t>
                      </a:r>
                      <a:endParaRPr lang="en-US" altLang="zh-CN"/>
                    </a:p>
                  </a:txBody>
                  <a:tcPr/>
                </a:tc>
                <a:tc>
                  <a:txBody>
                    <a:bodyPr/>
                    <a:p>
                      <a:pPr>
                        <a:buNone/>
                      </a:pPr>
                      <a:r>
                        <a:rPr lang="en-US" altLang="zh-CN"/>
                        <a:t>Read / WriteWithoutResponse</a:t>
                      </a:r>
                      <a:endParaRPr lang="en-US" altLang="zh-CN"/>
                    </a:p>
                  </a:txBody>
                  <a:tcPr/>
                </a:tc>
              </a:tr>
              <a:tr h="297180">
                <a:tc>
                  <a:txBody>
                    <a:bodyPr/>
                    <a:p>
                      <a:pPr>
                        <a:buNone/>
                      </a:pPr>
                      <a:r>
                        <a:rPr lang="en-US" altLang="zh-CN"/>
                        <a:t>Report</a:t>
                      </a:r>
                      <a:endParaRPr lang="en-US" altLang="zh-CN"/>
                    </a:p>
                  </a:txBody>
                  <a:tcPr/>
                </a:tc>
                <a:tc>
                  <a:txBody>
                    <a:bodyPr/>
                    <a:p>
                      <a:pPr>
                        <a:buNone/>
                      </a:pPr>
                      <a:endParaRPr lang="zh-CN" altLang="en-US"/>
                    </a:p>
                  </a:txBody>
                  <a:tcPr/>
                </a:tc>
              </a:tr>
              <a:tr h="297180">
                <a:tc>
                  <a:txBody>
                    <a:bodyPr/>
                    <a:p>
                      <a:pPr>
                        <a:buNone/>
                      </a:pPr>
                      <a:r>
                        <a:rPr lang="en-US" altLang="zh-CN"/>
                        <a:t>Report: Input Report Type</a:t>
                      </a:r>
                      <a:endParaRPr lang="en-US" altLang="zh-CN"/>
                    </a:p>
                  </a:txBody>
                  <a:tcPr/>
                </a:tc>
                <a:tc>
                  <a:txBody>
                    <a:bodyPr/>
                    <a:p>
                      <a:pPr>
                        <a:buNone/>
                      </a:pPr>
                      <a:r>
                        <a:rPr lang="en-US" altLang="zh-CN"/>
                        <a:t>Read/Notify</a:t>
                      </a:r>
                      <a:endParaRPr lang="en-US" altLang="zh-CN"/>
                    </a:p>
                  </a:txBody>
                  <a:tcPr/>
                </a:tc>
              </a:tr>
              <a:tr h="297180">
                <a:tc>
                  <a:txBody>
                    <a:bodyPr/>
                    <a:p>
                      <a:pPr>
                        <a:buNone/>
                      </a:pPr>
                      <a:r>
                        <a:rPr lang="en-US" altLang="zh-CN"/>
                        <a:t>Report: Output Report Type</a:t>
                      </a:r>
                      <a:endParaRPr lang="en-US" altLang="zh-CN"/>
                    </a:p>
                  </a:txBody>
                  <a:tcPr/>
                </a:tc>
                <a:tc>
                  <a:txBody>
                    <a:bodyPr/>
                    <a:p>
                      <a:pPr>
                        <a:buNone/>
                      </a:pPr>
                      <a:r>
                        <a:rPr lang="en-US" altLang="zh-CN"/>
                        <a:t>Read/Write/Write Without Response</a:t>
                      </a:r>
                      <a:endParaRPr lang="en-US" altLang="zh-CN"/>
                    </a:p>
                  </a:txBody>
                  <a:tcPr/>
                </a:tc>
              </a:tr>
              <a:tr h="297180">
                <a:tc>
                  <a:txBody>
                    <a:bodyPr/>
                    <a:p>
                      <a:pPr>
                        <a:buNone/>
                      </a:pPr>
                      <a:r>
                        <a:rPr lang="en-US" altLang="zh-CN"/>
                        <a:t>Report: Feature Report Type</a:t>
                      </a:r>
                      <a:endParaRPr lang="en-US" altLang="zh-CN"/>
                    </a:p>
                  </a:txBody>
                  <a:tcPr/>
                </a:tc>
                <a:tc>
                  <a:txBody>
                    <a:bodyPr/>
                    <a:p>
                      <a:pPr>
                        <a:buNone/>
                      </a:pPr>
                      <a:r>
                        <a:rPr lang="en-US" altLang="zh-CN"/>
                        <a:t>Read/Write</a:t>
                      </a:r>
                      <a:endParaRPr lang="en-US" altLang="zh-CN"/>
                    </a:p>
                  </a:txBody>
                  <a:tcPr/>
                </a:tc>
              </a:tr>
              <a:tr h="297180">
                <a:tc>
                  <a:txBody>
                    <a:bodyPr/>
                    <a:p>
                      <a:pPr>
                        <a:buNone/>
                      </a:pPr>
                      <a:r>
                        <a:rPr lang="en-US" altLang="zh-CN"/>
                        <a:t>Report Map</a:t>
                      </a:r>
                      <a:endParaRPr lang="en-US" altLang="zh-CN"/>
                    </a:p>
                  </a:txBody>
                  <a:tcPr/>
                </a:tc>
                <a:tc>
                  <a:txBody>
                    <a:bodyPr/>
                    <a:p>
                      <a:pPr>
                        <a:buNone/>
                      </a:pPr>
                      <a:r>
                        <a:rPr lang="en-US" altLang="zh-CN"/>
                        <a:t>Read</a:t>
                      </a:r>
                      <a:endParaRPr lang="en-US" altLang="zh-CN"/>
                    </a:p>
                  </a:txBody>
                  <a:tcPr/>
                </a:tc>
              </a:tr>
              <a:tr h="297180">
                <a:tc>
                  <a:txBody>
                    <a:bodyPr/>
                    <a:p>
                      <a:pPr>
                        <a:buNone/>
                      </a:pPr>
                      <a:r>
                        <a:rPr lang="en-US" altLang="zh-CN"/>
                        <a:t>Boot Keyboard Input Report</a:t>
                      </a:r>
                      <a:endParaRPr lang="en-US" altLang="zh-CN"/>
                    </a:p>
                  </a:txBody>
                  <a:tcPr/>
                </a:tc>
                <a:tc>
                  <a:txBody>
                    <a:bodyPr/>
                    <a:p>
                      <a:pPr>
                        <a:buNone/>
                      </a:pPr>
                      <a:r>
                        <a:rPr lang="en-US" altLang="zh-CN"/>
                        <a:t>Read/Notify</a:t>
                      </a:r>
                      <a:endParaRPr lang="en-US" altLang="zh-CN"/>
                    </a:p>
                  </a:txBody>
                  <a:tcPr/>
                </a:tc>
              </a:tr>
              <a:tr h="297180">
                <a:tc>
                  <a:txBody>
                    <a:bodyPr/>
                    <a:p>
                      <a:pPr>
                        <a:buNone/>
                      </a:pPr>
                      <a:r>
                        <a:rPr lang="en-US" altLang="zh-CN"/>
                        <a:t>Boot Keyboard Output Report</a:t>
                      </a:r>
                      <a:endParaRPr lang="en-US" altLang="zh-CN"/>
                    </a:p>
                  </a:txBody>
                  <a:tcPr/>
                </a:tc>
                <a:tc>
                  <a:txBody>
                    <a:bodyPr/>
                    <a:p>
                      <a:pPr>
                        <a:buNone/>
                      </a:pPr>
                      <a:r>
                        <a:rPr lang="en-US" altLang="zh-CN"/>
                        <a:t>Read/Write/Write Without Response</a:t>
                      </a:r>
                      <a:endParaRPr lang="en-US" altLang="zh-CN"/>
                    </a:p>
                  </a:txBody>
                  <a:tcPr/>
                </a:tc>
              </a:tr>
              <a:tr h="297180">
                <a:tc>
                  <a:txBody>
                    <a:bodyPr/>
                    <a:p>
                      <a:pPr>
                        <a:buNone/>
                      </a:pPr>
                      <a:r>
                        <a:rPr lang="en-US" altLang="zh-CN"/>
                        <a:t>Boot Mouse Input Report</a:t>
                      </a:r>
                      <a:endParaRPr lang="en-US" altLang="zh-CN"/>
                    </a:p>
                  </a:txBody>
                  <a:tcPr/>
                </a:tc>
                <a:tc>
                  <a:txBody>
                    <a:bodyPr/>
                    <a:p>
                      <a:pPr>
                        <a:buNone/>
                      </a:pPr>
                      <a:r>
                        <a:rPr lang="en-US" altLang="zh-CN"/>
                        <a:t>Read/Write</a:t>
                      </a:r>
                      <a:endParaRPr lang="en-US" altLang="zh-CN"/>
                    </a:p>
                  </a:txBody>
                  <a:tcPr/>
                </a:tc>
              </a:tr>
              <a:tr h="297180">
                <a:tc>
                  <a:txBody>
                    <a:bodyPr/>
                    <a:p>
                      <a:pPr>
                        <a:buNone/>
                      </a:pPr>
                      <a:r>
                        <a:rPr lang="en-US" altLang="zh-CN"/>
                        <a:t>HID Information</a:t>
                      </a:r>
                      <a:endParaRPr lang="en-US" altLang="zh-CN"/>
                    </a:p>
                  </a:txBody>
                  <a:tcPr/>
                </a:tc>
                <a:tc>
                  <a:txBody>
                    <a:bodyPr/>
                    <a:p>
                      <a:pPr>
                        <a:buNone/>
                      </a:pPr>
                      <a:r>
                        <a:rPr lang="en-US" altLang="zh-CN"/>
                        <a:t>Read</a:t>
                      </a:r>
                      <a:endParaRPr lang="en-US" altLang="zh-CN"/>
                    </a:p>
                  </a:txBody>
                  <a:tcPr/>
                </a:tc>
              </a:tr>
              <a:tr h="297180">
                <a:tc>
                  <a:txBody>
                    <a:bodyPr/>
                    <a:p>
                      <a:pPr>
                        <a:buNone/>
                      </a:pPr>
                      <a:r>
                        <a:rPr lang="en-US" altLang="zh-CN"/>
                        <a:t>HID Control Point</a:t>
                      </a:r>
                      <a:endParaRPr lang="en-US" altLang="zh-CN"/>
                    </a:p>
                  </a:txBody>
                  <a:tcPr/>
                </a:tc>
                <a:tc>
                  <a:txBody>
                    <a:bodyPr/>
                    <a:p>
                      <a:pPr>
                        <a:buNone/>
                      </a:pPr>
                      <a:r>
                        <a:rPr lang="en-US" altLang="zh-CN"/>
                        <a:t>WriteWithoutResponse</a:t>
                      </a:r>
                      <a:endParaRPr lang="en-US" altLang="zh-CN"/>
                    </a:p>
                  </a:txBody>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HID </a:t>
            </a:r>
            <a:r>
              <a:rPr lang="en-US" altLang="zh-CN" sz="2400" b="1" spc="-38" dirty="0">
                <a:solidFill>
                  <a:srgbClr val="3D5663"/>
                </a:solidFill>
                <a:latin typeface="Calibri" panose="020F0502020204030204" pitchFamily="34" charset="0"/>
                <a:cs typeface="Calibri" panose="020F0502020204030204" pitchFamily="34" charset="0"/>
              </a:rPr>
              <a:t>Descriptor</a:t>
            </a:r>
            <a:endParaRPr lang="en-US" altLang="zh-CN"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690880"/>
            <a:ext cx="3048000" cy="645160"/>
          </a:xfrm>
          <a:prstGeom prst="rect">
            <a:avLst/>
          </a:prstGeom>
          <a:noFill/>
        </p:spPr>
        <p:txBody>
          <a:bodyPr wrap="square" rtlCol="0">
            <a:spAutoFit/>
          </a:bodyPr>
          <a:p>
            <a:r>
              <a:rPr lang="en-US" altLang="zh-CN"/>
              <a:t>USB HID</a:t>
            </a:r>
            <a:r>
              <a:rPr lang="zh-CN" altLang="en-US"/>
              <a:t>描述符的</a:t>
            </a:r>
            <a:r>
              <a:rPr lang="zh-CN" altLang="en-US"/>
              <a:t>构成如</a:t>
            </a:r>
            <a:r>
              <a:rPr lang="zh-CN" altLang="en-US"/>
              <a:t>下表</a:t>
            </a:r>
            <a:endParaRPr lang="zh-CN" altLang="en-US"/>
          </a:p>
        </p:txBody>
      </p:sp>
      <p:graphicFrame>
        <p:nvGraphicFramePr>
          <p:cNvPr id="3" name="表格 2"/>
          <p:cNvGraphicFramePr/>
          <p:nvPr/>
        </p:nvGraphicFramePr>
        <p:xfrm>
          <a:off x="215900" y="1059180"/>
          <a:ext cx="4112895" cy="3048000"/>
        </p:xfrm>
        <a:graphic>
          <a:graphicData uri="http://schemas.openxmlformats.org/drawingml/2006/table">
            <a:tbl>
              <a:tblPr firstRow="1" bandRow="1">
                <a:tableStyleId>{5C22544A-7EE6-4342-B048-85BDC9FD1C3A}</a:tableStyleId>
              </a:tblPr>
              <a:tblGrid>
                <a:gridCol w="1590675"/>
                <a:gridCol w="1116965"/>
                <a:gridCol w="1405255"/>
              </a:tblGrid>
              <a:tr h="381000">
                <a:tc>
                  <a:txBody>
                    <a:bodyPr/>
                    <a:p>
                      <a:pPr algn="ctr">
                        <a:buNone/>
                      </a:pPr>
                      <a:r>
                        <a:rPr lang="en-US" altLang="zh-CN"/>
                        <a:t>Part</a:t>
                      </a:r>
                      <a:endParaRPr lang="en-US" altLang="zh-CN"/>
                    </a:p>
                  </a:txBody>
                  <a:tcPr anchor="ctr" anchorCtr="0"/>
                </a:tc>
                <a:tc>
                  <a:txBody>
                    <a:bodyPr/>
                    <a:p>
                      <a:pPr algn="ctr">
                        <a:buNone/>
                      </a:pPr>
                      <a:r>
                        <a:rPr lang="en-US" altLang="zh-CN"/>
                        <a:t>size(bytes)</a:t>
                      </a:r>
                      <a:endParaRPr lang="en-US" altLang="zh-CN"/>
                    </a:p>
                  </a:txBody>
                  <a:tcPr anchor="ctr" anchorCtr="0"/>
                </a:tc>
                <a:tc>
                  <a:txBody>
                    <a:bodyPr/>
                    <a:p>
                      <a:pPr algn="ctr">
                        <a:buNone/>
                      </a:pPr>
                      <a:r>
                        <a:rPr lang="en-US" altLang="zh-CN"/>
                        <a:t>Description</a:t>
                      </a:r>
                      <a:endParaRPr lang="en-US" altLang="zh-CN"/>
                    </a:p>
                  </a:txBody>
                  <a:tcPr anchor="ctr" anchorCtr="0"/>
                </a:tc>
              </a:tr>
              <a:tr h="381000">
                <a:tc>
                  <a:txBody>
                    <a:bodyPr/>
                    <a:p>
                      <a:pPr algn="ctr">
                        <a:buNone/>
                      </a:pPr>
                      <a:r>
                        <a:rPr lang="en-US" altLang="zh-CN">
                          <a:latin typeface="Times New Roman" panose="02020603050405020304" charset="0"/>
                          <a:cs typeface="Times New Roman" panose="02020603050405020304" charset="0"/>
                        </a:rPr>
                        <a:t>blength</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latin typeface="Times New Roman" panose="02020603050405020304" charset="0"/>
                          <a:cs typeface="Times New Roman" panose="02020603050405020304" charset="0"/>
                        </a:rPr>
                        <a:t>1</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描述符长度</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 bDescriptorType</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latin typeface="Times New Roman" panose="02020603050405020304" charset="0"/>
                          <a:cs typeface="Times New Roman" panose="02020603050405020304" charset="0"/>
                        </a:rPr>
                        <a:t>1</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描述符类型</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bcdHID</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latin typeface="Times New Roman" panose="02020603050405020304" charset="0"/>
                          <a:ea typeface="宋体" panose="02010600030101010101" pitchFamily="2" charset="-122"/>
                          <a:cs typeface="Times New Roman" panose="02020603050405020304" charset="0"/>
                        </a:rPr>
                        <a:t>HID</a:t>
                      </a:r>
                      <a:r>
                        <a:rPr lang="zh-CN" altLang="en-US">
                          <a:latin typeface="宋体" panose="02010600030101010101" pitchFamily="2" charset="-122"/>
                          <a:ea typeface="宋体" panose="02010600030101010101" pitchFamily="2" charset="-122"/>
                          <a:cs typeface="宋体" panose="02010600030101010101" pitchFamily="2" charset="-122"/>
                        </a:rPr>
                        <a:t>协议版本</a:t>
                      </a:r>
                      <a:endParaRPr lang="zh-CN" altLang="en-US">
                        <a:latin typeface="宋体" panose="02010600030101010101" pitchFamily="2" charset="-122"/>
                        <a:ea typeface="宋体" panose="02010600030101010101" pitchFamily="2" charset="-122"/>
                        <a:cs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bCountryCode</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latin typeface="Times New Roman" panose="02020603050405020304" charset="0"/>
                          <a:cs typeface="Times New Roman" panose="02020603050405020304" charset="0"/>
                        </a:rPr>
                        <a:t>1</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国家码</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bNumDescriptors</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latin typeface="Times New Roman" panose="02020603050405020304" charset="0"/>
                          <a:cs typeface="Times New Roman" panose="02020603050405020304" charset="0"/>
                        </a:rPr>
                        <a:t>1</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下级描述符数量</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bDescriptorType</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latin typeface="Times New Roman" panose="02020603050405020304" charset="0"/>
                          <a:cs typeface="Times New Roman" panose="02020603050405020304" charset="0"/>
                        </a:rPr>
                        <a:t>1</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下级描述符类型</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wDescriptorLength</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latin typeface="Times New Roman" panose="02020603050405020304" charset="0"/>
                          <a:cs typeface="Times New Roman" panose="02020603050405020304" charset="0"/>
                        </a:rPr>
                        <a:t>2</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下级描述符长度</a:t>
                      </a:r>
                      <a:endParaRPr lang="zh-CN" altLang="en-US">
                        <a:latin typeface="宋体" panose="02010600030101010101" pitchFamily="2" charset="-122"/>
                        <a:ea typeface="宋体" panose="02010600030101010101" pitchFamily="2" charset="-122"/>
                      </a:endParaRPr>
                    </a:p>
                  </a:txBody>
                  <a:tcPr anchor="ctr" anchorCtr="0"/>
                </a:tc>
              </a:tr>
            </a:tbl>
          </a:graphicData>
        </a:graphic>
      </p:graphicFrame>
      <p:sp>
        <p:nvSpPr>
          <p:cNvPr id="4" name="文本框 3"/>
          <p:cNvSpPr txBox="1"/>
          <p:nvPr/>
        </p:nvSpPr>
        <p:spPr>
          <a:xfrm>
            <a:off x="4768850" y="690880"/>
            <a:ext cx="3048000" cy="368300"/>
          </a:xfrm>
          <a:prstGeom prst="rect">
            <a:avLst/>
          </a:prstGeom>
          <a:noFill/>
        </p:spPr>
        <p:txBody>
          <a:bodyPr wrap="square" rtlCol="0">
            <a:spAutoFit/>
          </a:bodyPr>
          <a:p>
            <a:r>
              <a:rPr lang="en-US" altLang="zh-CN"/>
              <a:t>BLE HID Information</a:t>
            </a:r>
            <a:r>
              <a:rPr lang="zh-CN" altLang="en-US"/>
              <a:t>特性</a:t>
            </a:r>
            <a:endParaRPr lang="zh-CN" altLang="en-US"/>
          </a:p>
        </p:txBody>
      </p:sp>
      <p:graphicFrame>
        <p:nvGraphicFramePr>
          <p:cNvPr id="8" name="表格 7"/>
          <p:cNvGraphicFramePr/>
          <p:nvPr/>
        </p:nvGraphicFramePr>
        <p:xfrm>
          <a:off x="4768850" y="1067435"/>
          <a:ext cx="4265295" cy="1905000"/>
        </p:xfrm>
        <a:graphic>
          <a:graphicData uri="http://schemas.openxmlformats.org/drawingml/2006/table">
            <a:tbl>
              <a:tblPr firstRow="1" bandRow="1">
                <a:tableStyleId>{5C22544A-7EE6-4342-B048-85BDC9FD1C3A}</a:tableStyleId>
              </a:tblPr>
              <a:tblGrid>
                <a:gridCol w="1480820"/>
                <a:gridCol w="1032510"/>
                <a:gridCol w="1751965"/>
              </a:tblGrid>
              <a:tr h="381000">
                <a:tc>
                  <a:txBody>
                    <a:bodyPr/>
                    <a:p>
                      <a:pPr algn="ctr">
                        <a:buNone/>
                      </a:pPr>
                      <a:r>
                        <a:rPr lang="en-US" altLang="zh-CN"/>
                        <a:t>Part</a:t>
                      </a:r>
                      <a:endParaRPr lang="en-US" altLang="zh-CN"/>
                    </a:p>
                  </a:txBody>
                  <a:tcPr anchor="ctr" anchorCtr="0"/>
                </a:tc>
                <a:tc>
                  <a:txBody>
                    <a:bodyPr/>
                    <a:p>
                      <a:pPr algn="ctr">
                        <a:buNone/>
                      </a:pPr>
                      <a:r>
                        <a:rPr lang="en-US" altLang="zh-CN"/>
                        <a:t>size(bytes)</a:t>
                      </a:r>
                      <a:endParaRPr lang="en-US" altLang="zh-CN"/>
                    </a:p>
                  </a:txBody>
                  <a:tcPr anchor="ctr" anchorCtr="0"/>
                </a:tc>
                <a:tc>
                  <a:txBody>
                    <a:bodyPr/>
                    <a:p>
                      <a:pPr algn="ctr">
                        <a:buNone/>
                      </a:pPr>
                      <a:r>
                        <a:rPr lang="en-US" altLang="zh-CN"/>
                        <a:t>Description</a:t>
                      </a:r>
                      <a:endParaRPr lang="en-US" altLang="zh-CN"/>
                    </a:p>
                  </a:txBody>
                  <a:tcPr anchor="ctr" anchorCtr="0"/>
                </a:tc>
              </a:tr>
              <a:tr h="381000">
                <a:tc>
                  <a:txBody>
                    <a:bodyPr/>
                    <a:p>
                      <a:pPr algn="ctr">
                        <a:buNone/>
                      </a:pPr>
                      <a:r>
                        <a:rPr lang="en-US" altLang="zh-CN" sz="1350">
                          <a:latin typeface="Times New Roman" panose="02020603050405020304" charset="0"/>
                          <a:cs typeface="Times New Roman" panose="02020603050405020304" charset="0"/>
                          <a:sym typeface="+mn-ea"/>
                        </a:rPr>
                        <a:t>bcdHID</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t>2</a:t>
                      </a:r>
                      <a:endParaRPr lang="en-US" altLang="zh-CN"/>
                    </a:p>
                  </a:txBody>
                  <a:tcPr anchor="ctr" anchorCtr="0"/>
                </a:tc>
                <a:tc>
                  <a:txBody>
                    <a:bodyPr/>
                    <a:p>
                      <a:pPr>
                        <a:buNone/>
                      </a:pPr>
                      <a:r>
                        <a:rPr lang="en-US" altLang="zh-CN" sz="1350">
                          <a:latin typeface="Times New Roman" panose="02020603050405020304" charset="0"/>
                          <a:ea typeface="宋体" panose="02010600030101010101" pitchFamily="2" charset="-122"/>
                          <a:cs typeface="Times New Roman" panose="02020603050405020304" charset="0"/>
                          <a:sym typeface="+mn-ea"/>
                        </a:rPr>
                        <a:t>HID</a:t>
                      </a:r>
                      <a:r>
                        <a:rPr lang="zh-CN" altLang="en-US" sz="1350">
                          <a:latin typeface="宋体" panose="02010600030101010101" pitchFamily="2" charset="-122"/>
                          <a:ea typeface="宋体" panose="02010600030101010101" pitchFamily="2" charset="-122"/>
                          <a:cs typeface="宋体" panose="02010600030101010101" pitchFamily="2" charset="-122"/>
                          <a:sym typeface="+mn-ea"/>
                        </a:rPr>
                        <a:t>协议版本</a:t>
                      </a:r>
                      <a:endParaRPr lang="zh-CN" altLang="en-US"/>
                    </a:p>
                  </a:txBody>
                  <a:tcPr anchor="ctr" anchorCtr="0"/>
                </a:tc>
              </a:tr>
              <a:tr h="381000">
                <a:tc>
                  <a:txBody>
                    <a:bodyPr/>
                    <a:p>
                      <a:pPr algn="ctr">
                        <a:buNone/>
                      </a:pPr>
                      <a:r>
                        <a:rPr lang="en-US" altLang="zh-CN">
                          <a:latin typeface="Times New Roman" panose="02020603050405020304" charset="0"/>
                          <a:cs typeface="Times New Roman" panose="02020603050405020304" charset="0"/>
                        </a:rPr>
                        <a:t> bCountryCode</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t>1</a:t>
                      </a:r>
                      <a:endParaRPr lang="en-US" altLang="zh-CN"/>
                    </a:p>
                  </a:txBody>
                  <a:tcPr anchor="ctr" anchorCtr="0"/>
                </a:tc>
                <a:tc>
                  <a:txBody>
                    <a:bodyPr/>
                    <a:p>
                      <a:pPr>
                        <a:buNone/>
                      </a:pPr>
                      <a:r>
                        <a:rPr lang="zh-CN" altLang="en-US"/>
                        <a:t>国家</a:t>
                      </a:r>
                      <a:r>
                        <a:rPr lang="zh-CN" altLang="en-US"/>
                        <a:t>码</a:t>
                      </a:r>
                      <a:endParaRPr lang="zh-CN" altLang="en-US"/>
                    </a:p>
                  </a:txBody>
                  <a:tcPr anchor="ctr" anchorCtr="0"/>
                </a:tc>
              </a:tr>
              <a:tr h="381000">
                <a:tc>
                  <a:txBody>
                    <a:bodyPr/>
                    <a:p>
                      <a:pPr algn="ctr">
                        <a:buNone/>
                      </a:pPr>
                      <a:r>
                        <a:rPr lang="en-US" altLang="zh-CN">
                          <a:latin typeface="Times New Roman" panose="02020603050405020304" charset="0"/>
                          <a:cs typeface="Times New Roman" panose="02020603050405020304" charset="0"/>
                        </a:rPr>
                        <a:t>F</a:t>
                      </a:r>
                      <a:r>
                        <a:rPr lang="en-US" altLang="zh-CN">
                          <a:latin typeface="Times New Roman" panose="02020603050405020304" charset="0"/>
                          <a:cs typeface="Times New Roman" panose="02020603050405020304" charset="0"/>
                        </a:rPr>
                        <a:t>lags</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t>1</a:t>
                      </a:r>
                      <a:endParaRPr lang="en-US" altLang="zh-CN"/>
                    </a:p>
                  </a:txBody>
                  <a:tcPr anchor="ctr" anchorCtr="0"/>
                </a:tc>
                <a:tc>
                  <a:txBody>
                    <a:bodyPr/>
                    <a:p>
                      <a:pPr>
                        <a:buNone/>
                      </a:pPr>
                      <a:r>
                        <a:rPr lang="en-US" altLang="zh-CN"/>
                        <a:t>bit0</a:t>
                      </a:r>
                      <a:r>
                        <a:rPr lang="zh-CN" altLang="en-US"/>
                        <a:t>：是否支持</a:t>
                      </a:r>
                      <a:r>
                        <a:rPr lang="zh-CN" altLang="en-US"/>
                        <a:t>唤醒</a:t>
                      </a:r>
                      <a:endParaRPr lang="zh-CN" altLang="en-US"/>
                    </a:p>
                    <a:p>
                      <a:pPr>
                        <a:buNone/>
                      </a:pPr>
                      <a:r>
                        <a:rPr lang="en-US" altLang="zh-CN"/>
                        <a:t>bit1</a:t>
                      </a:r>
                      <a:r>
                        <a:rPr lang="zh-CN" altLang="en-US"/>
                        <a:t>：是否通常</a:t>
                      </a:r>
                      <a:r>
                        <a:rPr lang="zh-CN" altLang="en-US"/>
                        <a:t>可连接</a:t>
                      </a:r>
                      <a:endParaRPr lang="zh-CN" altLang="en-US"/>
                    </a:p>
                  </a:txBody>
                  <a:tcPr anchor="ctr" anchorCtr="0"/>
                </a:tc>
              </a:tr>
              <a:tr h="381000">
                <a:tc>
                  <a:txBody>
                    <a:bodyPr/>
                    <a:p>
                      <a:pPr algn="ctr">
                        <a:buNone/>
                      </a:pPr>
                      <a:r>
                        <a:rPr lang="en-US" altLang="zh-CN">
                          <a:latin typeface="Times New Roman" panose="02020603050405020304" charset="0"/>
                          <a:cs typeface="Times New Roman" panose="02020603050405020304" charset="0"/>
                        </a:rPr>
                        <a:t>bDescriptorLength(</a:t>
                      </a:r>
                      <a:r>
                        <a:rPr lang="zh-CN" altLang="en-US">
                          <a:latin typeface="宋体" panose="02010600030101010101" pitchFamily="2" charset="-122"/>
                          <a:ea typeface="宋体" panose="02010600030101010101" pitchFamily="2" charset="-122"/>
                          <a:cs typeface="Times New Roman" panose="02020603050405020304" charset="0"/>
                        </a:rPr>
                        <a:t>可选</a:t>
                      </a:r>
                      <a:r>
                        <a:rPr lang="en-US" altLang="zh-CN">
                          <a:latin typeface="Times New Roman" panose="02020603050405020304" charset="0"/>
                          <a:cs typeface="Times New Roman" panose="02020603050405020304" charset="0"/>
                        </a:rPr>
                        <a:t>) </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t>1</a:t>
                      </a:r>
                      <a:endParaRPr lang="en-US" altLang="zh-CN"/>
                    </a:p>
                  </a:txBody>
                  <a:tcPr anchor="ctr" anchorCtr="0"/>
                </a:tc>
                <a:tc>
                  <a:txBody>
                    <a:bodyPr/>
                    <a:p>
                      <a:pPr>
                        <a:buNone/>
                      </a:pPr>
                      <a:r>
                        <a:rPr lang="zh-CN" altLang="en-US"/>
                        <a:t>报告描述符</a:t>
                      </a:r>
                      <a:r>
                        <a:rPr lang="zh-CN" altLang="en-US"/>
                        <a:t>长度</a:t>
                      </a:r>
                      <a:endParaRPr lang="zh-CN" altLang="en-US"/>
                    </a:p>
                  </a:txBody>
                  <a:tcPr anchor="ctr" anchorCtr="0"/>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en-US" altLang="zh-CN" sz="2400" b="1" spc="-38" dirty="0">
                <a:solidFill>
                  <a:srgbClr val="3D5663"/>
                </a:solidFill>
                <a:latin typeface="Calibri" panose="020F0502020204030204" pitchFamily="34" charset="0"/>
                <a:cs typeface="Calibri" panose="020F0502020204030204" pitchFamily="34" charset="0"/>
              </a:rPr>
              <a:t>Report Descriptor</a:t>
            </a:r>
            <a:endParaRPr lang="en-US" altLang="zh-CN"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704850"/>
            <a:ext cx="4859655" cy="368300"/>
          </a:xfrm>
          <a:prstGeom prst="rect">
            <a:avLst/>
          </a:prstGeom>
          <a:noFill/>
        </p:spPr>
        <p:txBody>
          <a:bodyPr wrap="square" rtlCol="0">
            <a:spAutoFit/>
          </a:bodyPr>
          <a:p>
            <a:r>
              <a:rPr lang="zh-CN" altLang="en-US"/>
              <a:t>报告描述符定义了设备的功能和数据</a:t>
            </a:r>
            <a:r>
              <a:rPr lang="zh-CN" altLang="en-US"/>
              <a:t>格式</a:t>
            </a:r>
            <a:endParaRPr lang="zh-CN" altLang="en-US"/>
          </a:p>
        </p:txBody>
      </p:sp>
      <p:sp>
        <p:nvSpPr>
          <p:cNvPr id="3" name="文本框 2"/>
          <p:cNvSpPr txBox="1"/>
          <p:nvPr/>
        </p:nvSpPr>
        <p:spPr>
          <a:xfrm>
            <a:off x="215900" y="1334770"/>
            <a:ext cx="6620510" cy="368300"/>
          </a:xfrm>
          <a:prstGeom prst="rect">
            <a:avLst/>
          </a:prstGeom>
          <a:noFill/>
        </p:spPr>
        <p:txBody>
          <a:bodyPr wrap="square" rtlCol="0">
            <a:spAutoFit/>
          </a:bodyPr>
          <a:p>
            <a:r>
              <a:rPr lang="zh-CN" altLang="en-US"/>
              <a:t>报告描述符目前有三种项目类型：全局项目、局部项目、</a:t>
            </a:r>
            <a:r>
              <a:rPr lang="zh-CN" altLang="en-US"/>
              <a:t>主项目</a:t>
            </a:r>
            <a:endParaRPr lang="zh-CN" altLang="en-US"/>
          </a:p>
        </p:txBody>
      </p:sp>
      <p:sp>
        <p:nvSpPr>
          <p:cNvPr id="5" name="文本框 4"/>
          <p:cNvSpPr txBox="1"/>
          <p:nvPr/>
        </p:nvSpPr>
        <p:spPr>
          <a:xfrm>
            <a:off x="215900" y="1857375"/>
            <a:ext cx="3708400" cy="2310765"/>
          </a:xfrm>
          <a:prstGeom prst="rect">
            <a:avLst/>
          </a:prstGeom>
          <a:noFill/>
        </p:spPr>
        <p:txBody>
          <a:bodyPr wrap="square" rtlCol="0">
            <a:noAutofit/>
          </a:bodyPr>
          <a:p>
            <a:r>
              <a:rPr lang="zh-CN" altLang="en-US">
                <a:sym typeface="+mn-ea"/>
              </a:rPr>
              <a:t>一个报告描述符必须包含以下项目：</a:t>
            </a:r>
            <a:endParaRPr lang="zh-CN" altLang="en-US"/>
          </a:p>
          <a:p>
            <a:r>
              <a:rPr lang="en-US" altLang="zh-CN">
                <a:latin typeface="Times New Roman" panose="02020603050405020304" charset="0"/>
                <a:cs typeface="Times New Roman" panose="02020603050405020304" charset="0"/>
                <a:sym typeface="+mn-ea"/>
              </a:rPr>
              <a:t>1</a:t>
            </a:r>
            <a:r>
              <a:rPr lang="zh-CN" altLang="en-US">
                <a:latin typeface="Times New Roman" panose="02020603050405020304" charset="0"/>
                <a:cs typeface="Times New Roman" panose="02020603050405020304" charset="0"/>
                <a:sym typeface="+mn-ea"/>
              </a:rPr>
              <a:t>、</a:t>
            </a:r>
            <a:r>
              <a:rPr lang="en-US" altLang="zh-CN">
                <a:latin typeface="Times New Roman" panose="02020603050405020304" charset="0"/>
                <a:cs typeface="Times New Roman" panose="02020603050405020304" charset="0"/>
                <a:sym typeface="+mn-ea"/>
              </a:rPr>
              <a:t>Input (Output or Feature)</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sym typeface="+mn-ea"/>
              </a:rPr>
              <a:t>2</a:t>
            </a:r>
            <a:r>
              <a:rPr lang="zh-CN" altLang="en-US">
                <a:latin typeface="Times New Roman" panose="02020603050405020304" charset="0"/>
                <a:cs typeface="Times New Roman" panose="02020603050405020304" charset="0"/>
                <a:sym typeface="+mn-ea"/>
              </a:rPr>
              <a:t>、</a:t>
            </a:r>
            <a:r>
              <a:rPr lang="en-US" altLang="zh-CN">
                <a:latin typeface="Times New Roman" panose="02020603050405020304" charset="0"/>
                <a:cs typeface="Times New Roman" panose="02020603050405020304" charset="0"/>
                <a:sym typeface="+mn-ea"/>
              </a:rPr>
              <a:t>Usage</a:t>
            </a:r>
            <a:endParaRPr lang="en-US" altLang="zh-CN">
              <a:latin typeface="Times New Roman" panose="02020603050405020304" charset="0"/>
              <a:cs typeface="Times New Roman" panose="02020603050405020304" charset="0"/>
              <a:sym typeface="+mn-ea"/>
            </a:endParaRPr>
          </a:p>
          <a:p>
            <a:r>
              <a:rPr lang="en-US" altLang="zh-CN">
                <a:latin typeface="Times New Roman" panose="02020603050405020304" charset="0"/>
                <a:cs typeface="Times New Roman" panose="02020603050405020304" charset="0"/>
              </a:rPr>
              <a:t>3</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sym typeface="+mn-ea"/>
              </a:rPr>
              <a:t>Usage Page</a:t>
            </a:r>
            <a:endParaRPr lang="en-US" altLang="zh-CN">
              <a:latin typeface="Times New Roman" panose="02020603050405020304" charset="0"/>
              <a:cs typeface="Times New Roman" panose="02020603050405020304" charset="0"/>
              <a:sym typeface="+mn-ea"/>
            </a:endParaRPr>
          </a:p>
          <a:p>
            <a:r>
              <a:rPr lang="en-US" altLang="zh-CN">
                <a:latin typeface="Times New Roman" panose="02020603050405020304" charset="0"/>
                <a:cs typeface="Times New Roman" panose="02020603050405020304" charset="0"/>
                <a:sym typeface="+mn-ea"/>
              </a:rPr>
              <a:t>4</a:t>
            </a:r>
            <a:r>
              <a:rPr lang="zh-CN" altLang="en-US">
                <a:latin typeface="Times New Roman" panose="02020603050405020304" charset="0"/>
                <a:cs typeface="Times New Roman" panose="02020603050405020304" charset="0"/>
                <a:sym typeface="+mn-ea"/>
              </a:rPr>
              <a:t>、</a:t>
            </a:r>
            <a:r>
              <a:rPr lang="en-US" altLang="zh-CN">
                <a:latin typeface="Times New Roman" panose="02020603050405020304" charset="0"/>
                <a:cs typeface="Times New Roman" panose="02020603050405020304" charset="0"/>
                <a:sym typeface="+mn-ea"/>
              </a:rPr>
              <a:t>Logical Minimum</a:t>
            </a:r>
            <a:endParaRPr lang="en-US" altLang="zh-CN">
              <a:latin typeface="Times New Roman" panose="02020603050405020304" charset="0"/>
              <a:cs typeface="Times New Roman" panose="02020603050405020304" charset="0"/>
              <a:sym typeface="+mn-ea"/>
            </a:endParaRPr>
          </a:p>
          <a:p>
            <a:r>
              <a:rPr lang="en-US" altLang="zh-CN">
                <a:latin typeface="Times New Roman" panose="02020603050405020304" charset="0"/>
                <a:cs typeface="Times New Roman" panose="02020603050405020304" charset="0"/>
                <a:sym typeface="+mn-ea"/>
              </a:rPr>
              <a:t>5</a:t>
            </a:r>
            <a:r>
              <a:rPr lang="zh-CN" altLang="en-US">
                <a:latin typeface="Times New Roman" panose="02020603050405020304" charset="0"/>
                <a:cs typeface="Times New Roman" panose="02020603050405020304" charset="0"/>
                <a:sym typeface="+mn-ea"/>
              </a:rPr>
              <a:t>、</a:t>
            </a:r>
            <a:r>
              <a:rPr lang="en-US" altLang="zh-CN">
                <a:latin typeface="Times New Roman" panose="02020603050405020304" charset="0"/>
                <a:cs typeface="Times New Roman" panose="02020603050405020304" charset="0"/>
                <a:sym typeface="+mn-ea"/>
              </a:rPr>
              <a:t>Logical Maximum</a:t>
            </a:r>
            <a:endParaRPr lang="en-US" altLang="zh-CN">
              <a:latin typeface="Times New Roman" panose="02020603050405020304" charset="0"/>
              <a:cs typeface="Times New Roman" panose="02020603050405020304" charset="0"/>
              <a:sym typeface="+mn-ea"/>
            </a:endParaRPr>
          </a:p>
          <a:p>
            <a:r>
              <a:rPr lang="en-US" altLang="zh-CN">
                <a:latin typeface="Times New Roman" panose="02020603050405020304" charset="0"/>
                <a:cs typeface="Times New Roman" panose="02020603050405020304" charset="0"/>
                <a:sym typeface="+mn-ea"/>
              </a:rPr>
              <a:t>6</a:t>
            </a:r>
            <a:r>
              <a:rPr lang="zh-CN" altLang="en-US">
                <a:latin typeface="Times New Roman" panose="02020603050405020304" charset="0"/>
                <a:cs typeface="Times New Roman" panose="02020603050405020304" charset="0"/>
                <a:sym typeface="+mn-ea"/>
              </a:rPr>
              <a:t>、</a:t>
            </a:r>
            <a:r>
              <a:rPr lang="en-US" altLang="zh-CN">
                <a:latin typeface="Times New Roman" panose="02020603050405020304" charset="0"/>
                <a:cs typeface="Times New Roman" panose="02020603050405020304" charset="0"/>
                <a:sym typeface="+mn-ea"/>
              </a:rPr>
              <a:t>Report Size</a:t>
            </a:r>
            <a:endParaRPr lang="en-US" altLang="zh-CN">
              <a:latin typeface="Times New Roman" panose="02020603050405020304" charset="0"/>
              <a:cs typeface="Times New Roman" panose="02020603050405020304" charset="0"/>
              <a:sym typeface="+mn-ea"/>
            </a:endParaRPr>
          </a:p>
          <a:p>
            <a:r>
              <a:rPr lang="en-US" altLang="zh-CN">
                <a:latin typeface="Times New Roman" panose="02020603050405020304" charset="0"/>
                <a:cs typeface="Times New Roman" panose="02020603050405020304" charset="0"/>
                <a:sym typeface="+mn-ea"/>
              </a:rPr>
              <a:t>7</a:t>
            </a:r>
            <a:r>
              <a:rPr lang="zh-CN" altLang="en-US">
                <a:latin typeface="Times New Roman" panose="02020603050405020304" charset="0"/>
                <a:cs typeface="Times New Roman" panose="02020603050405020304" charset="0"/>
                <a:sym typeface="+mn-ea"/>
              </a:rPr>
              <a:t>、</a:t>
            </a:r>
            <a:r>
              <a:rPr lang="en-US" altLang="zh-CN">
                <a:latin typeface="Times New Roman" panose="02020603050405020304" charset="0"/>
                <a:cs typeface="Times New Roman" panose="02020603050405020304" charset="0"/>
                <a:sym typeface="+mn-ea"/>
              </a:rPr>
              <a:t>Report Count</a:t>
            </a:r>
            <a:endParaRPr lang="en-US" altLang="zh-CN">
              <a:latin typeface="Times New Roman" panose="02020603050405020304" charset="0"/>
              <a:cs typeface="Times New Roman" panose="02020603050405020304" charset="0"/>
            </a:endParaRPr>
          </a:p>
          <a:p>
            <a:endParaRPr lang="en-US" altLang="zh-CN"/>
          </a:p>
          <a:p>
            <a:endParaRPr lang="en-US" altLang="zh-CN"/>
          </a:p>
          <a:p>
            <a:endParaRPr lang="en-US" altLang="zh-CN"/>
          </a:p>
          <a:p>
            <a:endParaRPr lang="en-US" altLang="zh-CN"/>
          </a:p>
          <a:p>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Short Item</a:t>
            </a:r>
            <a:r>
              <a:rPr lang="en-US" altLang="zh-TW" sz="2400" b="1" spc="-38" dirty="0">
                <a:solidFill>
                  <a:srgbClr val="3D5663"/>
                </a:solidFill>
                <a:latin typeface="Calibri" panose="020F0502020204030204" pitchFamily="34" charset="0"/>
                <a:cs typeface="Calibri" panose="020F0502020204030204" pitchFamily="34" charset="0"/>
              </a:rPr>
              <a:t>s</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674370"/>
            <a:ext cx="6299200" cy="922020"/>
          </a:xfrm>
          <a:prstGeom prst="rect">
            <a:avLst/>
          </a:prstGeom>
          <a:noFill/>
        </p:spPr>
        <p:txBody>
          <a:bodyPr wrap="square" rtlCol="0">
            <a:spAutoFit/>
          </a:bodyPr>
          <a:p>
            <a:r>
              <a:rPr lang="zh-CN" altLang="en-US"/>
              <a:t>短项目格式将项目大小、类型和标签压缩到第一个字节中，并根据项目大小，后面可有</a:t>
            </a:r>
            <a:r>
              <a:rPr lang="en-US" altLang="zh-CN"/>
              <a:t>0</a:t>
            </a:r>
            <a:r>
              <a:rPr lang="zh-CN" altLang="en-US"/>
              <a:t>、</a:t>
            </a:r>
            <a:r>
              <a:rPr lang="en-US" altLang="zh-CN"/>
              <a:t>1</a:t>
            </a:r>
            <a:r>
              <a:rPr lang="zh-CN" altLang="en-US"/>
              <a:t>、</a:t>
            </a:r>
            <a:r>
              <a:rPr lang="en-US" altLang="zh-CN"/>
              <a:t>2</a:t>
            </a:r>
            <a:r>
              <a:rPr lang="zh-CN" altLang="en-US"/>
              <a:t>或者</a:t>
            </a:r>
            <a:r>
              <a:rPr lang="en-US" altLang="zh-CN"/>
              <a:t>4</a:t>
            </a:r>
            <a:r>
              <a:rPr lang="zh-CN" altLang="en-US"/>
              <a:t>字节的数据段，其数据格式</a:t>
            </a:r>
            <a:r>
              <a:rPr lang="zh-CN" altLang="en-US"/>
              <a:t>如下：</a:t>
            </a:r>
            <a:endParaRPr lang="zh-CN" altLang="en-US"/>
          </a:p>
        </p:txBody>
      </p:sp>
      <p:graphicFrame>
        <p:nvGraphicFramePr>
          <p:cNvPr id="3" name="表格 2"/>
          <p:cNvGraphicFramePr/>
          <p:nvPr/>
        </p:nvGraphicFramePr>
        <p:xfrm>
          <a:off x="215900" y="1841500"/>
          <a:ext cx="6223002" cy="355600"/>
        </p:xfrm>
        <a:graphic>
          <a:graphicData uri="http://schemas.openxmlformats.org/drawingml/2006/table">
            <a:tbl>
              <a:tblPr firstRow="1" bandRow="1">
                <a:tableStyleId>{5940675A-B579-460E-94D1-54222C63F5DA}</a:tableStyleId>
              </a:tblPr>
              <a:tblGrid>
                <a:gridCol w="3111501"/>
                <a:gridCol w="1037167"/>
                <a:gridCol w="1037167"/>
                <a:gridCol w="1037167"/>
              </a:tblGrid>
              <a:tr h="355600">
                <a:tc>
                  <a:txBody>
                    <a:bodyPr/>
                    <a:p>
                      <a:pPr algn="ctr">
                        <a:buNone/>
                      </a:pPr>
                      <a:r>
                        <a:rPr lang="en-US" altLang="zh-CN"/>
                        <a:t>data</a:t>
                      </a:r>
                      <a:endParaRPr lang="en-US" altLang="zh-CN"/>
                    </a:p>
                    <a:p>
                      <a:pPr algn="ctr">
                        <a:buNone/>
                      </a:pPr>
                      <a:r>
                        <a:rPr lang="en-US" altLang="zh-CN"/>
                        <a:t>0</a:t>
                      </a:r>
                      <a:r>
                        <a:rPr lang="zh-CN" altLang="en-US"/>
                        <a:t>、</a:t>
                      </a:r>
                      <a:r>
                        <a:rPr lang="en-US" altLang="zh-CN"/>
                        <a:t>1</a:t>
                      </a:r>
                      <a:r>
                        <a:rPr lang="zh-CN" altLang="en-US"/>
                        <a:t>、</a:t>
                      </a:r>
                      <a:r>
                        <a:rPr lang="en-US" altLang="zh-CN"/>
                        <a:t>2or4</a:t>
                      </a:r>
                      <a:r>
                        <a:rPr lang="en-US" altLang="zh-CN"/>
                        <a:t>bytes</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t>btag</a:t>
                      </a:r>
                      <a:endParaRPr lang="en-US" altLang="zh-CN"/>
                    </a:p>
                    <a:p>
                      <a:pPr algn="ctr">
                        <a:buNone/>
                      </a:pPr>
                      <a:r>
                        <a:rPr lang="en-US" altLang="zh-CN"/>
                        <a:t>bit4-7</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t>btype</a:t>
                      </a:r>
                      <a:endParaRPr lang="en-US" altLang="zh-CN"/>
                    </a:p>
                    <a:p>
                      <a:pPr algn="ctr">
                        <a:buNone/>
                      </a:pPr>
                      <a:r>
                        <a:rPr lang="en-US" altLang="zh-CN"/>
                        <a:t>bit2-3</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r>
                        <a:rPr lang="en-US" altLang="zh-CN"/>
                        <a:t>bsize</a:t>
                      </a:r>
                      <a:endParaRPr lang="en-US" altLang="zh-CN"/>
                    </a:p>
                    <a:p>
                      <a:pPr algn="ctr">
                        <a:buNone/>
                      </a:pPr>
                      <a:r>
                        <a:rPr lang="en-US" altLang="zh-CN"/>
                        <a:t>bit0-1</a:t>
                      </a:r>
                      <a:endParaRPr lang="en-US" altLang="zh-CN"/>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4" name="文本框 3"/>
          <p:cNvSpPr txBox="1"/>
          <p:nvPr/>
        </p:nvSpPr>
        <p:spPr>
          <a:xfrm>
            <a:off x="215900" y="2589530"/>
            <a:ext cx="3048000" cy="1198880"/>
          </a:xfrm>
          <a:prstGeom prst="rect">
            <a:avLst/>
          </a:prstGeom>
          <a:noFill/>
        </p:spPr>
        <p:txBody>
          <a:bodyPr wrap="square" rtlCol="0">
            <a:spAutoFit/>
          </a:bodyPr>
          <a:p>
            <a:r>
              <a:rPr lang="en-US" altLang="zh-CN"/>
              <a:t>bsize</a:t>
            </a:r>
            <a:r>
              <a:rPr lang="zh-CN" altLang="en-US"/>
              <a:t>：</a:t>
            </a:r>
            <a:r>
              <a:rPr lang="en-US" altLang="zh-CN"/>
              <a:t>00--0byte</a:t>
            </a:r>
            <a:r>
              <a:rPr lang="en-US" altLang="zh-CN"/>
              <a:t>s</a:t>
            </a:r>
            <a:endParaRPr lang="en-US" altLang="zh-CN"/>
          </a:p>
          <a:p>
            <a:r>
              <a:rPr lang="en-US" altLang="zh-CN"/>
              <a:t>            01--1</a:t>
            </a:r>
            <a:r>
              <a:rPr lang="en-US" altLang="zh-CN"/>
              <a:t>byte</a:t>
            </a:r>
            <a:endParaRPr lang="en-US" altLang="zh-CN"/>
          </a:p>
          <a:p>
            <a:pPr indent="457200"/>
            <a:r>
              <a:rPr lang="en-US" altLang="zh-CN"/>
              <a:t>     10--2</a:t>
            </a:r>
            <a:r>
              <a:rPr lang="en-US" altLang="zh-CN"/>
              <a:t>bytes</a:t>
            </a:r>
            <a:endParaRPr lang="en-US" altLang="zh-CN"/>
          </a:p>
          <a:p>
            <a:pPr indent="457200"/>
            <a:r>
              <a:rPr lang="en-US" altLang="zh-CN"/>
              <a:t>     11--4</a:t>
            </a:r>
            <a:r>
              <a:rPr lang="en-US" altLang="zh-CN"/>
              <a:t>bytes</a:t>
            </a:r>
            <a:endParaRPr lang="en-US" altLang="zh-CN"/>
          </a:p>
        </p:txBody>
      </p:sp>
      <p:sp>
        <p:nvSpPr>
          <p:cNvPr id="5" name="文本框 4"/>
          <p:cNvSpPr txBox="1"/>
          <p:nvPr/>
        </p:nvSpPr>
        <p:spPr>
          <a:xfrm>
            <a:off x="2908935" y="2589530"/>
            <a:ext cx="3048000" cy="1198880"/>
          </a:xfrm>
          <a:prstGeom prst="rect">
            <a:avLst/>
          </a:prstGeom>
          <a:noFill/>
        </p:spPr>
        <p:txBody>
          <a:bodyPr wrap="square" rtlCol="0">
            <a:spAutoFit/>
          </a:bodyPr>
          <a:p>
            <a:r>
              <a:rPr lang="en-US" altLang="zh-CN"/>
              <a:t>btype</a:t>
            </a:r>
            <a:r>
              <a:rPr lang="zh-CN" altLang="en-US"/>
              <a:t>：</a:t>
            </a:r>
            <a:r>
              <a:rPr lang="en-US" altLang="zh-CN"/>
              <a:t>00--Main</a:t>
            </a:r>
            <a:r>
              <a:rPr lang="zh-CN" altLang="en-US"/>
              <a:t>主项目</a:t>
            </a:r>
            <a:endParaRPr lang="en-US" altLang="zh-CN"/>
          </a:p>
          <a:p>
            <a:r>
              <a:rPr lang="en-US" altLang="zh-CN"/>
              <a:t>             01--Global</a:t>
            </a:r>
            <a:r>
              <a:rPr lang="zh-CN" altLang="en-US"/>
              <a:t>全局</a:t>
            </a:r>
            <a:r>
              <a:rPr lang="zh-CN" altLang="en-US"/>
              <a:t>项目</a:t>
            </a:r>
            <a:endParaRPr lang="zh-CN" altLang="en-US"/>
          </a:p>
          <a:p>
            <a:pPr indent="457200"/>
            <a:r>
              <a:rPr lang="en-US" altLang="zh-CN"/>
              <a:t>      10--Local</a:t>
            </a:r>
            <a:r>
              <a:rPr lang="zh-CN" altLang="en-US"/>
              <a:t>局部项目</a:t>
            </a:r>
            <a:r>
              <a:rPr lang="en-US" altLang="zh-CN"/>
              <a:t>        </a:t>
            </a:r>
            <a:endParaRPr lang="en-US" altLang="zh-CN"/>
          </a:p>
          <a:p>
            <a:pPr indent="457200"/>
            <a:r>
              <a:rPr lang="en-US" altLang="zh-CN"/>
              <a:t>      11--</a:t>
            </a:r>
            <a:r>
              <a:rPr lang="zh-CN" altLang="en-US"/>
              <a:t>预留</a:t>
            </a:r>
            <a:endParaRPr lang="zh-CN" altLang="en-US"/>
          </a:p>
        </p:txBody>
      </p:sp>
      <p:sp>
        <p:nvSpPr>
          <p:cNvPr id="6" name="文本框 5"/>
          <p:cNvSpPr txBox="1"/>
          <p:nvPr/>
        </p:nvSpPr>
        <p:spPr>
          <a:xfrm>
            <a:off x="215900" y="3909060"/>
            <a:ext cx="3048000" cy="368300"/>
          </a:xfrm>
          <a:prstGeom prst="rect">
            <a:avLst/>
          </a:prstGeom>
          <a:noFill/>
        </p:spPr>
        <p:txBody>
          <a:bodyPr wrap="square" rtlCol="0">
            <a:spAutoFit/>
          </a:bodyPr>
          <a:p>
            <a:r>
              <a:rPr lang="en-US" altLang="zh-CN"/>
              <a:t>btag</a:t>
            </a:r>
            <a:r>
              <a:rPr lang="zh-CN" altLang="en-US"/>
              <a:t>：声明项目</a:t>
            </a:r>
            <a:r>
              <a:rPr lang="zh-CN" altLang="en-US"/>
              <a:t>功能</a:t>
            </a: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Main I</a:t>
            </a:r>
            <a:r>
              <a:rPr lang="en-US" altLang="zh-TW" sz="2400" b="1" spc="-38" dirty="0">
                <a:solidFill>
                  <a:srgbClr val="3D5663"/>
                </a:solidFill>
                <a:latin typeface="Calibri" panose="020F0502020204030204" pitchFamily="34" charset="0"/>
                <a:cs typeface="Calibri" panose="020F0502020204030204" pitchFamily="34" charset="0"/>
              </a:rPr>
              <a:t>tem</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1368425"/>
            <a:ext cx="3801110" cy="368300"/>
          </a:xfrm>
          <a:prstGeom prst="rect">
            <a:avLst/>
          </a:prstGeom>
          <a:noFill/>
        </p:spPr>
        <p:txBody>
          <a:bodyPr wrap="square" rtlCol="0">
            <a:spAutoFit/>
          </a:bodyPr>
          <a:p>
            <a:r>
              <a:rPr lang="zh-CN" altLang="en-US"/>
              <a:t>主项目有以下五种</a:t>
            </a:r>
            <a:r>
              <a:rPr lang="en-US" altLang="zh-CN"/>
              <a:t>(btype</a:t>
            </a:r>
            <a:r>
              <a:rPr lang="zh-CN" altLang="en-US"/>
              <a:t>：</a:t>
            </a:r>
            <a:r>
              <a:rPr lang="en-US" altLang="zh-CN"/>
              <a:t>00)</a:t>
            </a:r>
            <a:endParaRPr lang="en-US" altLang="zh-CN"/>
          </a:p>
        </p:txBody>
      </p:sp>
      <p:sp>
        <p:nvSpPr>
          <p:cNvPr id="3" name="文本框 2"/>
          <p:cNvSpPr txBox="1"/>
          <p:nvPr/>
        </p:nvSpPr>
        <p:spPr>
          <a:xfrm>
            <a:off x="215900" y="793750"/>
            <a:ext cx="5182235" cy="368300"/>
          </a:xfrm>
          <a:prstGeom prst="rect">
            <a:avLst/>
          </a:prstGeom>
          <a:noFill/>
        </p:spPr>
        <p:txBody>
          <a:bodyPr wrap="square" rtlCol="0">
            <a:spAutoFit/>
          </a:bodyPr>
          <a:p>
            <a:r>
              <a:rPr lang="zh-CN" altLang="en-US"/>
              <a:t>主项目定义了报告描述符的结构框架和数据用途</a:t>
            </a:r>
            <a:endParaRPr lang="zh-CN" altLang="en-US"/>
          </a:p>
        </p:txBody>
      </p:sp>
      <p:graphicFrame>
        <p:nvGraphicFramePr>
          <p:cNvPr id="4" name="表格 3"/>
          <p:cNvGraphicFramePr/>
          <p:nvPr/>
        </p:nvGraphicFramePr>
        <p:xfrm>
          <a:off x="330200" y="1736725"/>
          <a:ext cx="4324985" cy="2286000"/>
        </p:xfrm>
        <a:graphic>
          <a:graphicData uri="http://schemas.openxmlformats.org/drawingml/2006/table">
            <a:tbl>
              <a:tblPr firstRow="1" bandRow="1">
                <a:tableStyleId>{5C22544A-7EE6-4342-B048-85BDC9FD1C3A}</a:tableStyleId>
              </a:tblPr>
              <a:tblGrid>
                <a:gridCol w="1329055"/>
                <a:gridCol w="709930"/>
                <a:gridCol w="2286000"/>
              </a:tblGrid>
              <a:tr h="381000">
                <a:tc>
                  <a:txBody>
                    <a:bodyPr/>
                    <a:p>
                      <a:pPr algn="ctr">
                        <a:buNone/>
                      </a:pPr>
                      <a:r>
                        <a:rPr lang="en-US" altLang="zh-CN"/>
                        <a:t>type</a:t>
                      </a:r>
                      <a:endParaRPr lang="en-US" altLang="zh-CN"/>
                    </a:p>
                  </a:txBody>
                  <a:tcPr anchor="ctr" anchorCtr="0"/>
                </a:tc>
                <a:tc>
                  <a:txBody>
                    <a:bodyPr/>
                    <a:p>
                      <a:pPr algn="ctr">
                        <a:buNone/>
                      </a:pPr>
                      <a:r>
                        <a:rPr lang="en-US" altLang="zh-CN"/>
                        <a:t>btag</a:t>
                      </a:r>
                      <a:endParaRPr lang="en-US" altLang="zh-CN"/>
                    </a:p>
                  </a:txBody>
                  <a:tcPr anchor="ctr" anchorCtr="0"/>
                </a:tc>
                <a:tc>
                  <a:txBody>
                    <a:bodyPr/>
                    <a:p>
                      <a:pPr algn="ctr">
                        <a:buNone/>
                      </a:pPr>
                      <a:r>
                        <a:rPr lang="en-US" altLang="zh-CN" sz="1350">
                          <a:sym typeface="+mn-ea"/>
                        </a:rPr>
                        <a:t>Description</a:t>
                      </a:r>
                      <a:endParaRPr lang="zh-CN" altLang="en-US"/>
                    </a:p>
                  </a:txBody>
                  <a:tcPr anchor="ctr" anchorCtr="0"/>
                </a:tc>
              </a:tr>
              <a:tr h="381000">
                <a:tc>
                  <a:txBody>
                    <a:bodyPr/>
                    <a:p>
                      <a:pPr algn="ctr">
                        <a:buNone/>
                      </a:pPr>
                      <a:r>
                        <a:rPr lang="en-US" altLang="zh-CN">
                          <a:latin typeface="Times New Roman" panose="02020603050405020304" charset="0"/>
                          <a:cs typeface="Times New Roman" panose="02020603050405020304" charset="0"/>
                        </a:rPr>
                        <a:t>Input</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1000</a:t>
                      </a:r>
                      <a:endParaRPr lang="en-US" altLang="zh-CN">
                        <a:latin typeface="Times New Roman" panose="02020603050405020304" charset="0"/>
                        <a:cs typeface="Times New Roman" panose="02020603050405020304" charset="0"/>
                      </a:endParaRPr>
                    </a:p>
                  </a:txBody>
                  <a:tcPr anchor="ctr" anchorCtr="0"/>
                </a:tc>
                <a:tc>
                  <a:txBody>
                    <a:bodyPr/>
                    <a:p>
                      <a:pPr algn="l">
                        <a:buNone/>
                      </a:pPr>
                      <a:r>
                        <a:rPr lang="zh-CN" altLang="en-US">
                          <a:latin typeface="宋体" panose="02010600030101010101" pitchFamily="2" charset="-122"/>
                          <a:ea typeface="宋体" panose="02010600030101010101" pitchFamily="2" charset="-122"/>
                          <a:cs typeface="宋体" panose="02010600030101010101" pitchFamily="2" charset="-122"/>
                        </a:rPr>
                        <a:t>定义设备</a:t>
                      </a:r>
                      <a:r>
                        <a:rPr lang="en-US" altLang="en-US">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主机的数据字段</a:t>
                      </a:r>
                      <a:endParaRPr lang="zh-CN" altLang="en-US">
                        <a:latin typeface="宋体" panose="02010600030101010101" pitchFamily="2" charset="-122"/>
                        <a:ea typeface="宋体" panose="02010600030101010101" pitchFamily="2" charset="-122"/>
                        <a:cs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Output</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1001</a:t>
                      </a:r>
                      <a:endParaRPr lang="en-US" altLang="zh-CN">
                        <a:latin typeface="Times New Roman" panose="02020603050405020304" charset="0"/>
                        <a:cs typeface="Times New Roman" panose="02020603050405020304" charset="0"/>
                      </a:endParaRPr>
                    </a:p>
                  </a:txBody>
                  <a:tcPr anchor="ctr" anchorCtr="0"/>
                </a:tc>
                <a:tc>
                  <a:txBody>
                    <a:bodyPr/>
                    <a:p>
                      <a:pPr algn="l">
                        <a:buNone/>
                      </a:pPr>
                      <a:r>
                        <a:rPr lang="zh-CN" altLang="en-US">
                          <a:latin typeface="宋体" panose="02010600030101010101" pitchFamily="2" charset="-122"/>
                          <a:ea typeface="宋体" panose="02010600030101010101" pitchFamily="2" charset="-122"/>
                          <a:cs typeface="宋体" panose="02010600030101010101" pitchFamily="2" charset="-122"/>
                        </a:rPr>
                        <a:t>定义主机</a:t>
                      </a:r>
                      <a:r>
                        <a:rPr lang="en-US" altLang="en-US">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设备的数据字段</a:t>
                      </a:r>
                      <a:endParaRPr lang="zh-CN" altLang="en-US">
                        <a:latin typeface="宋体" panose="02010600030101010101" pitchFamily="2" charset="-122"/>
                        <a:ea typeface="宋体" panose="02010600030101010101" pitchFamily="2" charset="-122"/>
                        <a:cs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Feature</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1011</a:t>
                      </a:r>
                      <a:endParaRPr lang="en-US" altLang="zh-CN">
                        <a:latin typeface="Times New Roman" panose="02020603050405020304" charset="0"/>
                        <a:cs typeface="Times New Roman" panose="02020603050405020304" charset="0"/>
                      </a:endParaRPr>
                    </a:p>
                  </a:txBody>
                  <a:tcPr anchor="ctr" anchorCtr="0"/>
                </a:tc>
                <a:tc>
                  <a:txBody>
                    <a:bodyPr/>
                    <a:p>
                      <a:pPr algn="l">
                        <a:buNone/>
                      </a:pPr>
                      <a:r>
                        <a:rPr lang="zh-CN" altLang="en-US">
                          <a:latin typeface="宋体" panose="02010600030101010101" pitchFamily="2" charset="-122"/>
                          <a:ea typeface="宋体" panose="02010600030101010101" pitchFamily="2" charset="-122"/>
                          <a:cs typeface="宋体" panose="02010600030101010101" pitchFamily="2" charset="-122"/>
                        </a:rPr>
                        <a:t>定义双向配置</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控制字段</a:t>
                      </a:r>
                      <a:endParaRPr lang="zh-CN" altLang="en-US">
                        <a:latin typeface="宋体" panose="02010600030101010101" pitchFamily="2" charset="-122"/>
                        <a:ea typeface="宋体" panose="02010600030101010101" pitchFamily="2" charset="-122"/>
                        <a:cs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Collection</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1010</a:t>
                      </a:r>
                      <a:endParaRPr lang="en-US" altLang="zh-CN">
                        <a:latin typeface="Times New Roman" panose="02020603050405020304" charset="0"/>
                        <a:cs typeface="Times New Roman" panose="02020603050405020304" charset="0"/>
                      </a:endParaRPr>
                    </a:p>
                  </a:txBody>
                  <a:tcPr anchor="ctr" anchorCtr="0"/>
                </a:tc>
                <a:tc>
                  <a:txBody>
                    <a:bodyPr/>
                    <a:p>
                      <a:pPr algn="l">
                        <a:buNone/>
                      </a:pPr>
                      <a:r>
                        <a:rPr lang="zh-CN" altLang="en-US">
                          <a:latin typeface="宋体" panose="02010600030101010101" pitchFamily="2" charset="-122"/>
                          <a:ea typeface="宋体" panose="02010600030101010101" pitchFamily="2" charset="-122"/>
                        </a:rPr>
                        <a:t>将相关数据项分组</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End Collection</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1100</a:t>
                      </a:r>
                      <a:endParaRPr lang="en-US" altLang="zh-CN">
                        <a:latin typeface="Times New Roman" panose="02020603050405020304" charset="0"/>
                        <a:cs typeface="Times New Roman" panose="02020603050405020304" charset="0"/>
                      </a:endParaRPr>
                    </a:p>
                  </a:txBody>
                  <a:tcPr anchor="ctr" anchorCtr="0"/>
                </a:tc>
                <a:tc>
                  <a:txBody>
                    <a:bodyPr/>
                    <a:p>
                      <a:pPr algn="l">
                        <a:buNone/>
                      </a:pPr>
                      <a:r>
                        <a:rPr lang="zh-CN" altLang="en-US">
                          <a:latin typeface="宋体" panose="02010600030101010101" pitchFamily="2" charset="-122"/>
                          <a:ea typeface="宋体" panose="02010600030101010101" pitchFamily="2" charset="-122"/>
                          <a:cs typeface="宋体" panose="02010600030101010101" pitchFamily="2" charset="-122"/>
                        </a:rPr>
                        <a:t>结束一个</a:t>
                      </a:r>
                      <a:r>
                        <a:rPr lang="en-US" altLang="zh-CN">
                          <a:latin typeface="Times New Roman" panose="02020603050405020304" charset="0"/>
                          <a:ea typeface="宋体" panose="02010600030101010101" pitchFamily="2" charset="-122"/>
                          <a:cs typeface="Times New Roman" panose="02020603050405020304" charset="0"/>
                        </a:rPr>
                        <a:t>Collection</a:t>
                      </a:r>
                      <a:endParaRPr lang="en-US" altLang="zh-CN">
                        <a:latin typeface="Times New Roman" panose="02020603050405020304" charset="0"/>
                        <a:ea typeface="宋体" panose="02010600030101010101" pitchFamily="2" charset="-122"/>
                        <a:cs typeface="Times New Roman" panose="02020603050405020304" charset="0"/>
                      </a:endParaRPr>
                    </a:p>
                  </a:txBody>
                  <a:tcPr anchor="ctr" anchorCtr="0"/>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en-US" altLang="zh-CN" sz="2400" b="1" spc="-38" dirty="0">
                <a:solidFill>
                  <a:srgbClr val="3D5663"/>
                </a:solidFill>
                <a:latin typeface="Calibri" panose="020F0502020204030204" pitchFamily="34" charset="0"/>
                <a:cs typeface="Calibri" panose="020F0502020204030204" pitchFamily="34" charset="0"/>
              </a:rPr>
              <a:t>Global </a:t>
            </a:r>
            <a:r>
              <a:rPr lang="en-US" altLang="zh-TW" sz="2400" b="1" spc="-38" dirty="0">
                <a:solidFill>
                  <a:srgbClr val="3D5663"/>
                </a:solidFill>
                <a:latin typeface="Calibri" panose="020F0502020204030204" pitchFamily="34" charset="0"/>
                <a:cs typeface="Calibri" panose="020F0502020204030204" pitchFamily="34" charset="0"/>
              </a:rPr>
              <a:t>I</a:t>
            </a:r>
            <a:r>
              <a:rPr lang="en-US" altLang="zh-TW" sz="2400" b="1" spc="-38" dirty="0">
                <a:solidFill>
                  <a:srgbClr val="3D5663"/>
                </a:solidFill>
                <a:latin typeface="Calibri" panose="020F0502020204030204" pitchFamily="34" charset="0"/>
                <a:cs typeface="Calibri" panose="020F0502020204030204" pitchFamily="34" charset="0"/>
              </a:rPr>
              <a:t>tem</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699770"/>
            <a:ext cx="8406765" cy="368300"/>
          </a:xfrm>
          <a:prstGeom prst="rect">
            <a:avLst/>
          </a:prstGeom>
          <a:noFill/>
        </p:spPr>
        <p:txBody>
          <a:bodyPr wrap="square" rtlCol="0">
            <a:spAutoFit/>
          </a:bodyPr>
          <a:p>
            <a:r>
              <a:rPr lang="zh-CN" altLang="en-US"/>
              <a:t>全局项目为其后的所有主项目和局部项目设置一个持续有效的状态或环境</a:t>
            </a:r>
            <a:endParaRPr lang="zh-CN" altLang="en-US"/>
          </a:p>
        </p:txBody>
      </p:sp>
      <p:sp>
        <p:nvSpPr>
          <p:cNvPr id="3" name="文本框 2"/>
          <p:cNvSpPr txBox="1"/>
          <p:nvPr/>
        </p:nvSpPr>
        <p:spPr>
          <a:xfrm>
            <a:off x="215900" y="1169670"/>
            <a:ext cx="5186680" cy="368300"/>
          </a:xfrm>
          <a:prstGeom prst="rect">
            <a:avLst/>
          </a:prstGeom>
          <a:noFill/>
        </p:spPr>
        <p:txBody>
          <a:bodyPr wrap="square" rtlCol="0">
            <a:spAutoFit/>
          </a:bodyPr>
          <a:p>
            <a:r>
              <a:rPr lang="zh-CN" altLang="en-US"/>
              <a:t>全局项目包括但不限于下列类型</a:t>
            </a:r>
            <a:r>
              <a:rPr lang="en-US" altLang="zh-CN"/>
              <a:t>(btype</a:t>
            </a:r>
            <a:r>
              <a:rPr lang="zh-CN" altLang="en-US"/>
              <a:t>：</a:t>
            </a:r>
            <a:r>
              <a:rPr lang="en-US" altLang="zh-CN"/>
              <a:t>01)</a:t>
            </a:r>
            <a:endParaRPr lang="en-US" altLang="zh-CN"/>
          </a:p>
        </p:txBody>
      </p:sp>
      <p:graphicFrame>
        <p:nvGraphicFramePr>
          <p:cNvPr id="4" name="表格 3"/>
          <p:cNvGraphicFramePr/>
          <p:nvPr/>
        </p:nvGraphicFramePr>
        <p:xfrm>
          <a:off x="283210" y="1639570"/>
          <a:ext cx="4570095" cy="2667000"/>
        </p:xfrm>
        <a:graphic>
          <a:graphicData uri="http://schemas.openxmlformats.org/drawingml/2006/table">
            <a:tbl>
              <a:tblPr firstRow="1" bandRow="1">
                <a:tableStyleId>{5C22544A-7EE6-4342-B048-85BDC9FD1C3A}</a:tableStyleId>
              </a:tblPr>
              <a:tblGrid>
                <a:gridCol w="1675765"/>
                <a:gridCol w="770255"/>
                <a:gridCol w="2124075"/>
              </a:tblGrid>
              <a:tr h="381000">
                <a:tc>
                  <a:txBody>
                    <a:bodyPr/>
                    <a:p>
                      <a:pPr algn="ctr">
                        <a:buNone/>
                      </a:pPr>
                      <a:r>
                        <a:rPr lang="en-US" altLang="zh-CN"/>
                        <a:t>type</a:t>
                      </a:r>
                      <a:endParaRPr lang="en-US" altLang="zh-CN"/>
                    </a:p>
                  </a:txBody>
                  <a:tcPr anchor="ctr" anchorCtr="0"/>
                </a:tc>
                <a:tc>
                  <a:txBody>
                    <a:bodyPr/>
                    <a:p>
                      <a:pPr algn="ctr">
                        <a:buNone/>
                      </a:pPr>
                      <a:r>
                        <a:rPr lang="en-US" altLang="zh-CN"/>
                        <a:t>btag</a:t>
                      </a:r>
                      <a:endParaRPr lang="en-US" altLang="zh-CN"/>
                    </a:p>
                  </a:txBody>
                  <a:tcPr anchor="ctr" anchorCtr="0"/>
                </a:tc>
                <a:tc>
                  <a:txBody>
                    <a:bodyPr/>
                    <a:p>
                      <a:pPr algn="ctr">
                        <a:buNone/>
                      </a:pPr>
                      <a:r>
                        <a:rPr lang="en-US" altLang="zh-CN" sz="1350">
                          <a:sym typeface="+mn-ea"/>
                        </a:rPr>
                        <a:t>Description</a:t>
                      </a:r>
                      <a:endParaRPr lang="zh-CN" altLang="en-US"/>
                    </a:p>
                  </a:txBody>
                  <a:tcPr anchor="ctr" anchorCtr="0"/>
                </a:tc>
              </a:tr>
              <a:tr h="381000">
                <a:tc>
                  <a:txBody>
                    <a:bodyPr/>
                    <a:p>
                      <a:pPr algn="ctr">
                        <a:buNone/>
                      </a:pPr>
                      <a:r>
                        <a:rPr lang="en-US" altLang="zh-CN">
                          <a:latin typeface="Times New Roman" panose="02020603050405020304" charset="0"/>
                          <a:cs typeface="Times New Roman" panose="02020603050405020304" charset="0"/>
                        </a:rPr>
                        <a:t>Usage Page</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0000</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设置当前功能页</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Logical Minimum</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0001</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定义字段的逻辑最小值</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Logical Maximum</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0010</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定义逻辑字段的最大值</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Report Size</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0111</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定义每个字段的位宽</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Report ID</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1000</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定义报告标识符</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Report Count</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1001</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定义字段数量</a:t>
                      </a:r>
                      <a:endParaRPr lang="zh-CN" altLang="en-US">
                        <a:latin typeface="宋体" panose="02010600030101010101" pitchFamily="2" charset="-122"/>
                        <a:ea typeface="宋体" panose="02010600030101010101" pitchFamily="2" charset="-122"/>
                      </a:endParaRPr>
                    </a:p>
                  </a:txBody>
                  <a:tcPr anchor="ctr" anchorCtr="0"/>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en-US" altLang="zh-CN" sz="2400" b="1" spc="-38" dirty="0">
                <a:solidFill>
                  <a:srgbClr val="3D5663"/>
                </a:solidFill>
                <a:latin typeface="Calibri" panose="020F0502020204030204" pitchFamily="34" charset="0"/>
                <a:cs typeface="Calibri" panose="020F0502020204030204" pitchFamily="34" charset="0"/>
              </a:rPr>
              <a:t>Local </a:t>
            </a:r>
            <a:r>
              <a:rPr lang="en-US" altLang="zh-TW" sz="2400" b="1" spc="-38" dirty="0">
                <a:solidFill>
                  <a:srgbClr val="3D5663"/>
                </a:solidFill>
                <a:latin typeface="Calibri" panose="020F0502020204030204" pitchFamily="34" charset="0"/>
                <a:cs typeface="Calibri" panose="020F0502020204030204" pitchFamily="34" charset="0"/>
              </a:rPr>
              <a:t>I</a:t>
            </a:r>
            <a:r>
              <a:rPr lang="en-US" altLang="zh-TW" sz="2400" b="1" spc="-38" dirty="0">
                <a:solidFill>
                  <a:srgbClr val="3D5663"/>
                </a:solidFill>
                <a:latin typeface="Calibri" panose="020F0502020204030204" pitchFamily="34" charset="0"/>
                <a:cs typeface="Calibri" panose="020F0502020204030204" pitchFamily="34" charset="0"/>
              </a:rPr>
              <a:t>tem</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587375"/>
            <a:ext cx="8144510" cy="368300"/>
          </a:xfrm>
          <a:prstGeom prst="rect">
            <a:avLst/>
          </a:prstGeom>
          <a:noFill/>
        </p:spPr>
        <p:txBody>
          <a:bodyPr wrap="square" rtlCol="0">
            <a:spAutoFit/>
          </a:bodyPr>
          <a:p>
            <a:r>
              <a:rPr lang="zh-CN" altLang="en-US"/>
              <a:t>局部项目描述了紧随其后的</a:t>
            </a:r>
            <a:r>
              <a:rPr lang="en-US" altLang="zh-CN">
                <a:latin typeface="Times New Roman" panose="02020603050405020304" charset="0"/>
                <a:ea typeface="宋体" panose="02010600030101010101" pitchFamily="2" charset="-122"/>
                <a:cs typeface="Times New Roman" panose="02020603050405020304" charset="0"/>
              </a:rPr>
              <a:t>Input/Output/Feature</a:t>
            </a:r>
            <a:r>
              <a:rPr lang="zh-CN" altLang="en-US">
                <a:latin typeface="Times New Roman" panose="02020603050405020304" charset="0"/>
                <a:ea typeface="宋体" panose="02010600030101010101" pitchFamily="2" charset="-122"/>
                <a:cs typeface="Times New Roman" panose="02020603050405020304" charset="0"/>
              </a:rPr>
              <a:t>等</a:t>
            </a:r>
            <a:r>
              <a:rPr lang="zh-CN" altLang="en-US"/>
              <a:t>主项目的具体用途和特性</a:t>
            </a:r>
            <a:endParaRPr lang="zh-CN" altLang="en-US"/>
          </a:p>
        </p:txBody>
      </p:sp>
      <p:sp>
        <p:nvSpPr>
          <p:cNvPr id="3" name="文本框 2"/>
          <p:cNvSpPr txBox="1"/>
          <p:nvPr/>
        </p:nvSpPr>
        <p:spPr>
          <a:xfrm>
            <a:off x="215900" y="1207770"/>
            <a:ext cx="5122545" cy="368300"/>
          </a:xfrm>
          <a:prstGeom prst="rect">
            <a:avLst/>
          </a:prstGeom>
          <a:noFill/>
        </p:spPr>
        <p:txBody>
          <a:bodyPr wrap="square" rtlCol="0">
            <a:spAutoFit/>
          </a:bodyPr>
          <a:p>
            <a:r>
              <a:rPr lang="zh-CN" altLang="en-US">
                <a:sym typeface="+mn-ea"/>
              </a:rPr>
              <a:t>局部项目包括但不限于下列类型</a:t>
            </a:r>
            <a:r>
              <a:rPr lang="en-US" altLang="zh-CN">
                <a:sym typeface="+mn-ea"/>
              </a:rPr>
              <a:t>(btype</a:t>
            </a:r>
            <a:r>
              <a:rPr lang="zh-CN" altLang="en-US">
                <a:sym typeface="+mn-ea"/>
              </a:rPr>
              <a:t>：</a:t>
            </a:r>
            <a:r>
              <a:rPr lang="en-US" altLang="zh-CN">
                <a:sym typeface="+mn-ea"/>
              </a:rPr>
              <a:t>10)</a:t>
            </a:r>
            <a:endParaRPr lang="zh-CN" altLang="en-US"/>
          </a:p>
        </p:txBody>
      </p:sp>
      <p:graphicFrame>
        <p:nvGraphicFramePr>
          <p:cNvPr id="4" name="表格 3"/>
          <p:cNvGraphicFramePr/>
          <p:nvPr/>
        </p:nvGraphicFramePr>
        <p:xfrm>
          <a:off x="215900" y="1674495"/>
          <a:ext cx="6400165" cy="1524000"/>
        </p:xfrm>
        <a:graphic>
          <a:graphicData uri="http://schemas.openxmlformats.org/drawingml/2006/table">
            <a:tbl>
              <a:tblPr firstRow="1" bandRow="1">
                <a:tableStyleId>{5C22544A-7EE6-4342-B048-85BDC9FD1C3A}</a:tableStyleId>
              </a:tblPr>
              <a:tblGrid>
                <a:gridCol w="1692275"/>
                <a:gridCol w="787400"/>
                <a:gridCol w="3919220"/>
              </a:tblGrid>
              <a:tr h="381000">
                <a:tc>
                  <a:txBody>
                    <a:bodyPr/>
                    <a:p>
                      <a:pPr algn="ctr">
                        <a:buNone/>
                      </a:pPr>
                      <a:r>
                        <a:rPr lang="en-US" altLang="zh-CN"/>
                        <a:t>type</a:t>
                      </a:r>
                      <a:endParaRPr lang="en-US" altLang="zh-CN"/>
                    </a:p>
                  </a:txBody>
                  <a:tcPr anchor="ctr" anchorCtr="0"/>
                </a:tc>
                <a:tc>
                  <a:txBody>
                    <a:bodyPr/>
                    <a:p>
                      <a:pPr algn="ctr">
                        <a:buNone/>
                      </a:pPr>
                      <a:r>
                        <a:rPr lang="en-US" altLang="zh-CN"/>
                        <a:t>btag</a:t>
                      </a:r>
                      <a:endParaRPr lang="en-US" altLang="zh-CN"/>
                    </a:p>
                  </a:txBody>
                  <a:tcPr anchor="ctr" anchorCtr="0"/>
                </a:tc>
                <a:tc>
                  <a:txBody>
                    <a:bodyPr/>
                    <a:p>
                      <a:pPr algn="ctr">
                        <a:buNone/>
                      </a:pPr>
                      <a:r>
                        <a:rPr lang="en-US" altLang="zh-CN" sz="1350">
                          <a:sym typeface="+mn-ea"/>
                        </a:rPr>
                        <a:t>Description</a:t>
                      </a:r>
                      <a:endParaRPr lang="zh-CN" altLang="en-US"/>
                    </a:p>
                  </a:txBody>
                  <a:tcPr anchor="ctr" anchorCtr="0"/>
                </a:tc>
              </a:tr>
              <a:tr h="381000">
                <a:tc>
                  <a:txBody>
                    <a:bodyPr/>
                    <a:p>
                      <a:pPr algn="ctr">
                        <a:buNone/>
                      </a:pPr>
                      <a:r>
                        <a:rPr lang="en-US" altLang="zh-CN">
                          <a:latin typeface="Times New Roman" panose="02020603050405020304" charset="0"/>
                          <a:cs typeface="Times New Roman" panose="02020603050405020304" charset="0"/>
                        </a:rPr>
                        <a:t>Usage</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0000</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为下一个主项目指定具体功能</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Usage Minimum</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0001</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定义用途</a:t>
                      </a:r>
                      <a:r>
                        <a:rPr lang="zh-CN" altLang="en-US">
                          <a:latin typeface="宋体" panose="02010600030101010101" pitchFamily="2" charset="-122"/>
                          <a:ea typeface="宋体" panose="02010600030101010101" pitchFamily="2" charset="-122"/>
                        </a:rPr>
                        <a:t>范围的起始值</a:t>
                      </a:r>
                      <a:endParaRPr lang="zh-CN" altLang="en-US">
                        <a:latin typeface="宋体" panose="02010600030101010101" pitchFamily="2" charset="-122"/>
                        <a:ea typeface="宋体" panose="02010600030101010101" pitchFamily="2" charset="-122"/>
                      </a:endParaRPr>
                    </a:p>
                  </a:txBody>
                  <a:tcPr anchor="ctr" anchorCtr="0"/>
                </a:tc>
              </a:tr>
              <a:tr h="381000">
                <a:tc>
                  <a:txBody>
                    <a:bodyPr/>
                    <a:p>
                      <a:pPr algn="ctr">
                        <a:buNone/>
                      </a:pPr>
                      <a:r>
                        <a:rPr lang="en-US" altLang="zh-CN">
                          <a:latin typeface="Times New Roman" panose="02020603050405020304" charset="0"/>
                          <a:cs typeface="Times New Roman" panose="02020603050405020304" charset="0"/>
                        </a:rPr>
                        <a:t>Usage Maximum</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0010</a:t>
                      </a:r>
                      <a:endParaRPr lang="en-US" altLang="zh-CN">
                        <a:latin typeface="Times New Roman" panose="02020603050405020304" charset="0"/>
                        <a:cs typeface="Times New Roman" panose="02020603050405020304" charset="0"/>
                      </a:endParaRPr>
                    </a:p>
                  </a:txBody>
                  <a:tcPr anchor="ctr" anchorCtr="0"/>
                </a:tc>
                <a:tc>
                  <a:txBody>
                    <a:bodyPr/>
                    <a:p>
                      <a:pPr>
                        <a:buNone/>
                      </a:pPr>
                      <a:r>
                        <a:rPr lang="zh-CN" altLang="en-US">
                          <a:latin typeface="宋体" panose="02010600030101010101" pitchFamily="2" charset="-122"/>
                          <a:ea typeface="宋体" panose="02010600030101010101" pitchFamily="2" charset="-122"/>
                        </a:rPr>
                        <a:t>定义用途范围的结束值</a:t>
                      </a:r>
                      <a:endParaRPr lang="zh-CN" altLang="en-US">
                        <a:latin typeface="宋体" panose="02010600030101010101" pitchFamily="2" charset="-122"/>
                        <a:ea typeface="宋体" panose="02010600030101010101" pitchFamily="2" charset="-122"/>
                      </a:endParaRPr>
                    </a:p>
                  </a:txBody>
                  <a:tcPr anchor="ctr" anchorCtr="0"/>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HOGP</a:t>
            </a:r>
            <a:r>
              <a:rPr lang="zh-CN" altLang="en-US" sz="2400" b="1" spc="-38" dirty="0">
                <a:solidFill>
                  <a:srgbClr val="3D5663"/>
                </a:solidFill>
                <a:latin typeface="Calibri" panose="020F0502020204030204" pitchFamily="34" charset="0"/>
                <a:cs typeface="Calibri" panose="020F0502020204030204" pitchFamily="34" charset="0"/>
              </a:rPr>
              <a:t>实践</a:t>
            </a:r>
            <a:r>
              <a:rPr lang="en-US" altLang="zh-CN" sz="2400" b="1" spc="-38" dirty="0">
                <a:solidFill>
                  <a:srgbClr val="3D5663"/>
                </a:solidFill>
                <a:latin typeface="Calibri" panose="020F0502020204030204" pitchFamily="34" charset="0"/>
                <a:cs typeface="Calibri" panose="020F0502020204030204" pitchFamily="34" charset="0"/>
              </a:rPr>
              <a:t>——</a:t>
            </a:r>
            <a:r>
              <a:rPr lang="zh-CN" altLang="en-US" sz="2400" b="1" spc="-38" dirty="0">
                <a:solidFill>
                  <a:srgbClr val="3D5663"/>
                </a:solidFill>
                <a:latin typeface="Calibri" panose="020F0502020204030204" pitchFamily="34" charset="0"/>
                <a:cs typeface="Calibri" panose="020F0502020204030204" pitchFamily="34" charset="0"/>
              </a:rPr>
              <a:t>键盘</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3" name="文本框 2"/>
          <p:cNvSpPr txBox="1"/>
          <p:nvPr/>
        </p:nvSpPr>
        <p:spPr>
          <a:xfrm>
            <a:off x="215900" y="587375"/>
            <a:ext cx="1276985" cy="368300"/>
          </a:xfrm>
          <a:prstGeom prst="rect">
            <a:avLst/>
          </a:prstGeom>
          <a:noFill/>
        </p:spPr>
        <p:txBody>
          <a:bodyPr wrap="square" rtlCol="0">
            <a:spAutoFit/>
          </a:bodyPr>
          <a:p>
            <a:r>
              <a:rPr lang="zh-CN" altLang="en-US"/>
              <a:t>按键说明</a:t>
            </a:r>
            <a:endParaRPr lang="zh-CN" altLang="en-US"/>
          </a:p>
        </p:txBody>
      </p:sp>
      <p:graphicFrame>
        <p:nvGraphicFramePr>
          <p:cNvPr id="4" name="表格 3"/>
          <p:cNvGraphicFramePr/>
          <p:nvPr>
            <p:custDataLst>
              <p:tags r:id="rId1"/>
            </p:custDataLst>
          </p:nvPr>
        </p:nvGraphicFramePr>
        <p:xfrm>
          <a:off x="292100" y="936625"/>
          <a:ext cx="2741930" cy="2025650"/>
        </p:xfrm>
        <a:graphic>
          <a:graphicData uri="http://schemas.openxmlformats.org/drawingml/2006/table">
            <a:tbl>
              <a:tblPr firstRow="1" bandRow="1">
                <a:tableStyleId>{5C22544A-7EE6-4342-B048-85BDC9FD1C3A}</a:tableStyleId>
              </a:tblPr>
              <a:tblGrid>
                <a:gridCol w="665480"/>
                <a:gridCol w="967740"/>
                <a:gridCol w="1108710"/>
              </a:tblGrid>
              <a:tr h="332740">
                <a:tc>
                  <a:txBody>
                    <a:bodyPr/>
                    <a:p>
                      <a:pPr algn="ctr">
                        <a:buNone/>
                      </a:pPr>
                      <a:r>
                        <a:rPr lang="zh-CN" altLang="en-US"/>
                        <a:t>按键</a:t>
                      </a:r>
                      <a:endParaRPr lang="zh-CN" altLang="en-US"/>
                    </a:p>
                  </a:txBody>
                  <a:tcPr anchor="ctr" anchorCtr="0"/>
                </a:tc>
                <a:tc>
                  <a:txBody>
                    <a:bodyPr/>
                    <a:p>
                      <a:pPr algn="ctr">
                        <a:buNone/>
                      </a:pPr>
                      <a:r>
                        <a:rPr lang="zh-CN" altLang="en-US"/>
                        <a:t>功能</a:t>
                      </a:r>
                      <a:endParaRPr lang="zh-CN" altLang="en-US"/>
                    </a:p>
                  </a:txBody>
                  <a:tcPr anchor="ctr" anchorCtr="0"/>
                </a:tc>
                <a:tc>
                  <a:txBody>
                    <a:bodyPr/>
                    <a:p>
                      <a:pPr algn="ctr">
                        <a:buNone/>
                      </a:pPr>
                      <a:r>
                        <a:rPr lang="en-US" altLang="zh-CN"/>
                        <a:t>Usage ID</a:t>
                      </a:r>
                      <a:endParaRPr lang="en-US" altLang="zh-CN"/>
                    </a:p>
                  </a:txBody>
                  <a:tcPr anchor="ctr" anchorCtr="0"/>
                </a:tc>
              </a:tr>
              <a:tr h="338455">
                <a:tc>
                  <a:txBody>
                    <a:bodyPr/>
                    <a:p>
                      <a:pPr algn="ctr">
                        <a:buNone/>
                      </a:pPr>
                      <a:r>
                        <a:rPr lang="en-US" altLang="zh-CN">
                          <a:latin typeface="Times New Roman" panose="02020603050405020304" charset="0"/>
                          <a:cs typeface="Times New Roman" panose="02020603050405020304" charset="0"/>
                        </a:rPr>
                        <a:t>KEY0</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Shift</a:t>
                      </a:r>
                      <a:r>
                        <a:rPr lang="zh-CN" altLang="en-US">
                          <a:latin typeface="宋体" panose="02010600030101010101" pitchFamily="2" charset="-122"/>
                          <a:ea typeface="宋体" panose="02010600030101010101" pitchFamily="2" charset="-122"/>
                        </a:rPr>
                        <a:t>键</a:t>
                      </a:r>
                      <a:r>
                        <a:rPr lang="en-US" altLang="zh-CN"/>
                        <a:t>(</a:t>
                      </a:r>
                      <a:r>
                        <a:rPr lang="zh-CN" altLang="en-US">
                          <a:latin typeface="宋体" panose="02010600030101010101" pitchFamily="2" charset="-122"/>
                          <a:ea typeface="宋体" panose="02010600030101010101" pitchFamily="2" charset="-122"/>
                        </a:rPr>
                        <a:t>左</a:t>
                      </a:r>
                      <a:r>
                        <a:rPr lang="en-US" altLang="zh-CN"/>
                        <a:t>)</a:t>
                      </a:r>
                      <a:endParaRPr lang="en-US" altLang="zh-CN"/>
                    </a:p>
                  </a:txBody>
                  <a:tcPr anchor="ctr" anchorCtr="0"/>
                </a:tc>
                <a:tc>
                  <a:txBody>
                    <a:bodyPr/>
                    <a:p>
                      <a:pPr algn="ctr">
                        <a:buNone/>
                      </a:pPr>
                      <a:r>
                        <a:rPr lang="en-US" altLang="zh-CN">
                          <a:latin typeface="Times New Roman" panose="02020603050405020304" charset="0"/>
                          <a:cs typeface="Times New Roman" panose="02020603050405020304" charset="0"/>
                        </a:rPr>
                        <a:t>0x02</a:t>
                      </a:r>
                      <a:endParaRPr lang="en-US" altLang="zh-CN">
                        <a:latin typeface="Times New Roman" panose="02020603050405020304" charset="0"/>
                        <a:cs typeface="Times New Roman" panose="02020603050405020304" charset="0"/>
                      </a:endParaRPr>
                    </a:p>
                  </a:txBody>
                  <a:tcPr anchor="ctr" anchorCtr="0"/>
                </a:tc>
              </a:tr>
              <a:tr h="339090">
                <a:tc>
                  <a:txBody>
                    <a:bodyPr/>
                    <a:p>
                      <a:pPr algn="ctr">
                        <a:buNone/>
                      </a:pPr>
                      <a:r>
                        <a:rPr lang="en-US" altLang="zh-CN">
                          <a:latin typeface="Times New Roman" panose="02020603050405020304" charset="0"/>
                          <a:cs typeface="Times New Roman" panose="02020603050405020304" charset="0"/>
                        </a:rPr>
                        <a:t>KEY1</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1</a:t>
                      </a:r>
                      <a:r>
                        <a:rPr lang="zh-CN" altLang="en-US">
                          <a:latin typeface="宋体" panose="02010600030101010101" pitchFamily="2" charset="-122"/>
                          <a:ea typeface="宋体" panose="02010600030101010101" pitchFamily="2" charset="-122"/>
                        </a:rPr>
                        <a:t>键</a:t>
                      </a:r>
                      <a:endParaRPr lang="zh-CN" altLang="en-US">
                        <a:latin typeface="宋体" panose="02010600030101010101" pitchFamily="2" charset="-122"/>
                        <a:ea typeface="宋体" panose="02010600030101010101" pitchFamily="2" charset="-122"/>
                      </a:endParaRPr>
                    </a:p>
                  </a:txBody>
                  <a:tcPr anchor="ctr" anchorCtr="0"/>
                </a:tc>
                <a:tc>
                  <a:txBody>
                    <a:bodyPr/>
                    <a:p>
                      <a:pPr algn="ctr">
                        <a:buNone/>
                      </a:pPr>
                      <a:r>
                        <a:rPr lang="en-US" altLang="zh-CN">
                          <a:latin typeface="Times New Roman" panose="02020603050405020304" charset="0"/>
                          <a:cs typeface="Times New Roman" panose="02020603050405020304" charset="0"/>
                        </a:rPr>
                        <a:t>0x1E</a:t>
                      </a:r>
                      <a:endParaRPr lang="en-US" altLang="zh-CN">
                        <a:latin typeface="Times New Roman" panose="02020603050405020304" charset="0"/>
                        <a:cs typeface="Times New Roman" panose="02020603050405020304" charset="0"/>
                      </a:endParaRPr>
                    </a:p>
                  </a:txBody>
                  <a:tcPr anchor="ctr" anchorCtr="0"/>
                </a:tc>
              </a:tr>
              <a:tr h="338455">
                <a:tc>
                  <a:txBody>
                    <a:bodyPr/>
                    <a:p>
                      <a:pPr algn="ctr">
                        <a:buNone/>
                      </a:pPr>
                      <a:r>
                        <a:rPr lang="en-US" altLang="zh-CN">
                          <a:latin typeface="Times New Roman" panose="02020603050405020304" charset="0"/>
                          <a:cs typeface="Times New Roman" panose="02020603050405020304" charset="0"/>
                        </a:rPr>
                        <a:t>KEY2</a:t>
                      </a:r>
                      <a:endParaRPr lang="en-US" altLang="zh-CN">
                        <a:latin typeface="Times New Roman" panose="02020603050405020304" charset="0"/>
                        <a:cs typeface="Times New Roman" panose="02020603050405020304" charset="0"/>
                      </a:endParaRPr>
                    </a:p>
                  </a:txBody>
                  <a:tcPr anchor="ctr" anchorCtr="0"/>
                </a:tc>
                <a:tc>
                  <a:txBody>
                    <a:bodyPr/>
                    <a:p>
                      <a:pPr algn="ctr">
                        <a:buClrTx/>
                        <a:buSzTx/>
                        <a:buFontTx/>
                        <a:buNone/>
                      </a:pPr>
                      <a:r>
                        <a:rPr lang="en-US" altLang="zh-CN">
                          <a:latin typeface="Times New Roman" panose="02020603050405020304" charset="0"/>
                          <a:cs typeface="Times New Roman" panose="02020603050405020304" charset="0"/>
                        </a:rPr>
                        <a:t>A</a:t>
                      </a:r>
                      <a:r>
                        <a:rPr lang="en-US" altLang="zh-CN">
                          <a:latin typeface="宋体" panose="02010600030101010101" pitchFamily="2" charset="-122"/>
                          <a:ea typeface="宋体" panose="02010600030101010101" pitchFamily="2" charset="-122"/>
                          <a:cs typeface="Times New Roman" panose="02020603050405020304" charset="0"/>
                        </a:rPr>
                        <a:t>键</a:t>
                      </a:r>
                      <a:endParaRPr lang="en-US" altLang="zh-CN">
                        <a:latin typeface="宋体" panose="02010600030101010101" pitchFamily="2" charset="-122"/>
                        <a:ea typeface="宋体" panose="02010600030101010101" pitchFamily="2" charset="-122"/>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0x04</a:t>
                      </a:r>
                      <a:endParaRPr lang="en-US" altLang="zh-CN">
                        <a:latin typeface="Times New Roman" panose="02020603050405020304" charset="0"/>
                        <a:cs typeface="Times New Roman" panose="02020603050405020304" charset="0"/>
                      </a:endParaRPr>
                    </a:p>
                  </a:txBody>
                  <a:tcPr anchor="ctr" anchorCtr="0"/>
                </a:tc>
              </a:tr>
              <a:tr h="338455">
                <a:tc>
                  <a:txBody>
                    <a:bodyPr/>
                    <a:p>
                      <a:pPr algn="ctr">
                        <a:buNone/>
                      </a:pPr>
                      <a:r>
                        <a:rPr lang="en-US" altLang="zh-CN">
                          <a:latin typeface="Times New Roman" panose="02020603050405020304" charset="0"/>
                          <a:cs typeface="Times New Roman" panose="02020603050405020304" charset="0"/>
                        </a:rPr>
                        <a:t>KEY3</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B</a:t>
                      </a:r>
                      <a:r>
                        <a:rPr lang="zh-CN" altLang="en-US">
                          <a:latin typeface="宋体" panose="02010600030101010101" pitchFamily="2" charset="-122"/>
                          <a:ea typeface="宋体" panose="02010600030101010101" pitchFamily="2" charset="-122"/>
                        </a:rPr>
                        <a:t>键</a:t>
                      </a:r>
                      <a:endParaRPr lang="zh-CN" altLang="en-US">
                        <a:latin typeface="宋体" panose="02010600030101010101" pitchFamily="2" charset="-122"/>
                        <a:ea typeface="宋体" panose="02010600030101010101" pitchFamily="2" charset="-122"/>
                      </a:endParaRPr>
                    </a:p>
                  </a:txBody>
                  <a:tcPr anchor="ctr" anchorCtr="0"/>
                </a:tc>
                <a:tc>
                  <a:txBody>
                    <a:bodyPr/>
                    <a:p>
                      <a:pPr algn="ctr">
                        <a:buNone/>
                      </a:pPr>
                      <a:r>
                        <a:rPr lang="en-US" altLang="zh-CN">
                          <a:latin typeface="Times New Roman" panose="02020603050405020304" charset="0"/>
                          <a:cs typeface="Times New Roman" panose="02020603050405020304" charset="0"/>
                        </a:rPr>
                        <a:t>0x05</a:t>
                      </a:r>
                      <a:endParaRPr lang="en-US" altLang="zh-CN">
                        <a:latin typeface="Times New Roman" panose="02020603050405020304" charset="0"/>
                        <a:cs typeface="Times New Roman" panose="02020603050405020304" charset="0"/>
                      </a:endParaRPr>
                    </a:p>
                  </a:txBody>
                  <a:tcPr anchor="ctr" anchorCtr="0"/>
                </a:tc>
              </a:tr>
              <a:tr h="338455">
                <a:tc>
                  <a:txBody>
                    <a:bodyPr/>
                    <a:p>
                      <a:pPr algn="ctr">
                        <a:buNone/>
                      </a:pPr>
                      <a:r>
                        <a:rPr lang="en-US" altLang="zh-CN">
                          <a:latin typeface="Times New Roman" panose="02020603050405020304" charset="0"/>
                          <a:cs typeface="Times New Roman" panose="02020603050405020304" charset="0"/>
                        </a:rPr>
                        <a:t>KET4</a:t>
                      </a:r>
                      <a:endParaRPr lang="en-US" altLang="zh-CN">
                        <a:latin typeface="Times New Roman" panose="02020603050405020304" charset="0"/>
                        <a:cs typeface="Times New Roman" panose="02020603050405020304" charset="0"/>
                      </a:endParaRPr>
                    </a:p>
                  </a:txBody>
                  <a:tcPr anchor="ctr" anchorCtr="0"/>
                </a:tc>
                <a:tc>
                  <a:txBody>
                    <a:bodyPr/>
                    <a:p>
                      <a:pPr algn="ctr">
                        <a:buNone/>
                      </a:pPr>
                      <a:r>
                        <a:rPr lang="en-US" altLang="zh-CN">
                          <a:latin typeface="Times New Roman" panose="02020603050405020304" charset="0"/>
                          <a:cs typeface="Times New Roman" panose="02020603050405020304" charset="0"/>
                        </a:rPr>
                        <a:t>C</a:t>
                      </a:r>
                      <a:r>
                        <a:rPr lang="zh-CN" altLang="en-US">
                          <a:latin typeface="宋体" panose="02010600030101010101" pitchFamily="2" charset="-122"/>
                          <a:ea typeface="宋体" panose="02010600030101010101" pitchFamily="2" charset="-122"/>
                        </a:rPr>
                        <a:t>键</a:t>
                      </a:r>
                      <a:endParaRPr lang="zh-CN" altLang="en-US">
                        <a:latin typeface="宋体" panose="02010600030101010101" pitchFamily="2" charset="-122"/>
                        <a:ea typeface="宋体" panose="02010600030101010101" pitchFamily="2" charset="-122"/>
                      </a:endParaRPr>
                    </a:p>
                  </a:txBody>
                  <a:tcPr anchor="ctr" anchorCtr="0"/>
                </a:tc>
                <a:tc>
                  <a:txBody>
                    <a:bodyPr/>
                    <a:p>
                      <a:pPr algn="ctr">
                        <a:buNone/>
                      </a:pPr>
                      <a:r>
                        <a:rPr lang="en-US" altLang="zh-CN">
                          <a:latin typeface="Times New Roman" panose="02020603050405020304" charset="0"/>
                          <a:cs typeface="Times New Roman" panose="02020603050405020304" charset="0"/>
                        </a:rPr>
                        <a:t>0x06</a:t>
                      </a:r>
                      <a:endParaRPr lang="en-US" altLang="zh-CN">
                        <a:latin typeface="Times New Roman" panose="02020603050405020304" charset="0"/>
                        <a:cs typeface="Times New Roman" panose="02020603050405020304" charset="0"/>
                      </a:endParaRPr>
                    </a:p>
                  </a:txBody>
                  <a:tcPr anchor="ctr" anchorCtr="0"/>
                </a:tc>
              </a:tr>
            </a:tbl>
          </a:graphicData>
        </a:graphic>
      </p:graphicFrame>
      <p:sp>
        <p:nvSpPr>
          <p:cNvPr id="5" name="文本框 4"/>
          <p:cNvSpPr txBox="1"/>
          <p:nvPr/>
        </p:nvSpPr>
        <p:spPr>
          <a:xfrm>
            <a:off x="3536950" y="587375"/>
            <a:ext cx="3048000" cy="368300"/>
          </a:xfrm>
          <a:prstGeom prst="rect">
            <a:avLst/>
          </a:prstGeom>
          <a:noFill/>
        </p:spPr>
        <p:txBody>
          <a:bodyPr wrap="square" rtlCol="0">
            <a:spAutoFit/>
          </a:bodyPr>
          <a:p>
            <a:r>
              <a:rPr lang="zh-CN" altLang="en-US"/>
              <a:t>特征</a:t>
            </a:r>
            <a:r>
              <a:rPr lang="zh-CN" altLang="en-US"/>
              <a:t>值初始化</a:t>
            </a:r>
            <a:endParaRPr lang="zh-CN" altLang="en-US"/>
          </a:p>
        </p:txBody>
      </p:sp>
      <p:graphicFrame>
        <p:nvGraphicFramePr>
          <p:cNvPr id="6" name="表格 5"/>
          <p:cNvGraphicFramePr/>
          <p:nvPr>
            <p:custDataLst>
              <p:tags r:id="rId2"/>
            </p:custDataLst>
          </p:nvPr>
        </p:nvGraphicFramePr>
        <p:xfrm>
          <a:off x="3556000" y="936625"/>
          <a:ext cx="4329430" cy="1880235"/>
        </p:xfrm>
        <a:graphic>
          <a:graphicData uri="http://schemas.openxmlformats.org/drawingml/2006/table">
            <a:tbl>
              <a:tblPr firstRow="1" bandRow="1">
                <a:tableStyleId>{5C22544A-7EE6-4342-B048-85BDC9FD1C3A}</a:tableStyleId>
              </a:tblPr>
              <a:tblGrid>
                <a:gridCol w="1599565"/>
                <a:gridCol w="2729865"/>
              </a:tblGrid>
              <a:tr h="390525">
                <a:tc>
                  <a:txBody>
                    <a:bodyPr/>
                    <a:p>
                      <a:pPr algn="ctr">
                        <a:buNone/>
                      </a:pPr>
                      <a:r>
                        <a:rPr lang="zh-CN" altLang="en-US"/>
                        <a:t>特征</a:t>
                      </a:r>
                      <a:endParaRPr lang="zh-CN" altLang="en-US"/>
                    </a:p>
                  </a:txBody>
                  <a:tcPr anchor="ctr" anchorCtr="0"/>
                </a:tc>
                <a:tc>
                  <a:txBody>
                    <a:bodyPr/>
                    <a:p>
                      <a:pPr algn="ctr">
                        <a:buNone/>
                      </a:pPr>
                      <a:r>
                        <a:rPr lang="zh-CN" altLang="en-US"/>
                        <a:t>值</a:t>
                      </a:r>
                      <a:endParaRPr lang="zh-CN" altLang="en-US"/>
                    </a:p>
                  </a:txBody>
                  <a:tcPr anchor="ctr" anchorCtr="0"/>
                </a:tc>
              </a:tr>
              <a:tr h="390525">
                <a:tc>
                  <a:txBody>
                    <a:bodyPr/>
                    <a:p>
                      <a:pPr algn="ctr">
                        <a:buNone/>
                      </a:pPr>
                      <a:r>
                        <a:rPr lang="en-US" altLang="zh-CN" sz="1350">
                          <a:latin typeface="Times New Roman" panose="02020603050405020304" charset="0"/>
                          <a:cs typeface="Times New Roman" panose="02020603050405020304" charset="0"/>
                          <a:sym typeface="+mn-ea"/>
                        </a:rPr>
                        <a:t>Protocol Mode</a:t>
                      </a:r>
                      <a:endParaRPr lang="en-US" altLang="zh-CN" sz="1350">
                        <a:latin typeface="Times New Roman" panose="02020603050405020304" charset="0"/>
                        <a:cs typeface="Times New Roman" panose="02020603050405020304" charset="0"/>
                        <a:sym typeface="+mn-ea"/>
                      </a:endParaRPr>
                    </a:p>
                  </a:txBody>
                  <a:tcPr anchor="ctr" anchorCtr="0"/>
                </a:tc>
                <a:tc>
                  <a:txBody>
                    <a:bodyPr/>
                    <a:p>
                      <a:pPr>
                        <a:buNone/>
                      </a:pPr>
                      <a:r>
                        <a:rPr lang="en-US" altLang="zh-CN">
                          <a:latin typeface="Times New Roman" panose="02020603050405020304" charset="0"/>
                          <a:cs typeface="Times New Roman" panose="02020603050405020304" charset="0"/>
                        </a:rPr>
                        <a:t>0x01(Report Mode)</a:t>
                      </a:r>
                      <a:endParaRPr lang="zh-CN" altLang="en-US">
                        <a:latin typeface="Times New Roman" panose="02020603050405020304" charset="0"/>
                        <a:cs typeface="Times New Roman" panose="02020603050405020304" charset="0"/>
                      </a:endParaRPr>
                    </a:p>
                  </a:txBody>
                  <a:tcPr anchor="ctr" anchorCtr="0"/>
                </a:tc>
              </a:tr>
              <a:tr h="390525">
                <a:tc>
                  <a:txBody>
                    <a:bodyPr/>
                    <a:p>
                      <a:pPr algn="ctr">
                        <a:buNone/>
                      </a:pPr>
                      <a:r>
                        <a:rPr lang="en-US" altLang="zh-CN" sz="1350">
                          <a:latin typeface="Times New Roman" panose="02020603050405020304" charset="0"/>
                          <a:cs typeface="Times New Roman" panose="02020603050405020304" charset="0"/>
                          <a:sym typeface="+mn-ea"/>
                        </a:rPr>
                        <a:t>HID Control Point</a:t>
                      </a:r>
                      <a:endParaRPr lang="en-US" altLang="zh-CN" sz="1350">
                        <a:latin typeface="Times New Roman" panose="02020603050405020304" charset="0"/>
                        <a:cs typeface="Times New Roman" panose="02020603050405020304" charset="0"/>
                        <a:sym typeface="+mn-ea"/>
                      </a:endParaRPr>
                    </a:p>
                  </a:txBody>
                  <a:tcPr anchor="ctr" anchorCtr="0"/>
                </a:tc>
                <a:tc>
                  <a:txBody>
                    <a:bodyPr/>
                    <a:p>
                      <a:pPr>
                        <a:buNone/>
                      </a:pPr>
                      <a:r>
                        <a:rPr lang="en-US" altLang="zh-CN">
                          <a:latin typeface="Times New Roman" panose="02020603050405020304" charset="0"/>
                          <a:cs typeface="Times New Roman" panose="02020603050405020304" charset="0"/>
                        </a:rPr>
                        <a:t>0x00</a:t>
                      </a:r>
                      <a:r>
                        <a:rPr lang="en-US" altLang="zh-CN"/>
                        <a:t>(</a:t>
                      </a:r>
                      <a:r>
                        <a:rPr lang="zh-CN" altLang="en-US">
                          <a:latin typeface="宋体" panose="02010600030101010101" pitchFamily="2" charset="-122"/>
                          <a:ea typeface="宋体" panose="02010600030101010101" pitchFamily="2" charset="-122"/>
                        </a:rPr>
                        <a:t>进入低功耗</a:t>
                      </a:r>
                      <a:r>
                        <a:rPr lang="en-US" altLang="zh-CN"/>
                        <a:t>)</a:t>
                      </a:r>
                      <a:endParaRPr lang="en-US" altLang="zh-CN"/>
                    </a:p>
                  </a:txBody>
                  <a:tcPr anchor="ctr" anchorCtr="0"/>
                </a:tc>
              </a:tr>
              <a:tr h="390525">
                <a:tc>
                  <a:txBody>
                    <a:bodyPr/>
                    <a:p>
                      <a:pPr algn="ctr">
                        <a:buNone/>
                      </a:pPr>
                      <a:r>
                        <a:rPr lang="en-US" altLang="zh-CN">
                          <a:latin typeface="Times New Roman" panose="02020603050405020304" charset="0"/>
                          <a:cs typeface="Times New Roman" panose="02020603050405020304" charset="0"/>
                        </a:rPr>
                        <a:t>HID Information</a:t>
                      </a:r>
                      <a:endParaRPr lang="en-US" altLang="zh-CN">
                        <a:latin typeface="Times New Roman" panose="02020603050405020304" charset="0"/>
                        <a:cs typeface="Times New Roman" panose="02020603050405020304" charset="0"/>
                      </a:endParaRPr>
                    </a:p>
                  </a:txBody>
                  <a:tcPr anchor="ctr" anchorCtr="0"/>
                </a:tc>
                <a:tc>
                  <a:txBody>
                    <a:bodyPr/>
                    <a:p>
                      <a:pPr>
                        <a:buNone/>
                      </a:pPr>
                      <a:r>
                        <a:rPr lang="en-US" altLang="zh-CN">
                          <a:latin typeface="Times New Roman" panose="02020603050405020304" charset="0"/>
                          <a:cs typeface="Times New Roman" panose="02020603050405020304" charset="0"/>
                        </a:rPr>
                        <a:t>0x11, 0x01,     //version: 1.11</a:t>
                      </a:r>
                      <a:endParaRPr lang="en-US" altLang="zh-CN">
                        <a:latin typeface="Times New Roman" panose="02020603050405020304" charset="0"/>
                        <a:cs typeface="Times New Roman" panose="02020603050405020304" charset="0"/>
                      </a:endParaRPr>
                    </a:p>
                    <a:p>
                      <a:pPr>
                        <a:buNone/>
                      </a:pPr>
                      <a:r>
                        <a:rPr lang="en-US" altLang="zh-CN">
                          <a:latin typeface="Times New Roman" panose="02020603050405020304" charset="0"/>
                          <a:cs typeface="Times New Roman" panose="02020603050405020304" charset="0"/>
                        </a:rPr>
                        <a:t>0x40,               //country</a:t>
                      </a:r>
                      <a:r>
                        <a:rPr lang="zh-CN" altLang="en-US">
                          <a:latin typeface="Times New Roman" panose="02020603050405020304" charset="0"/>
                          <a:cs typeface="Times New Roman" panose="02020603050405020304" charset="0"/>
                        </a:rPr>
                        <a:t>：</a:t>
                      </a:r>
                      <a:r>
                        <a:rPr lang="zh-CN" altLang="en-US">
                          <a:latin typeface="宋体" panose="02010600030101010101" pitchFamily="2" charset="-122"/>
                          <a:ea typeface="宋体" panose="02010600030101010101" pitchFamily="2" charset="-122"/>
                        </a:rPr>
                        <a:t>加拿大</a:t>
                      </a:r>
                      <a:r>
                        <a:rPr lang="en-US" altLang="zh-CN"/>
                        <a:t>      </a:t>
                      </a:r>
                      <a:endParaRPr lang="en-US" altLang="zh-CN"/>
                    </a:p>
                    <a:p>
                      <a:pPr>
                        <a:buNone/>
                      </a:pPr>
                      <a:r>
                        <a:rPr lang="en-US" altLang="zh-CN">
                          <a:latin typeface="Times New Roman" panose="02020603050405020304" charset="0"/>
                          <a:cs typeface="Times New Roman" panose="02020603050405020304" charset="0"/>
                        </a:rPr>
                        <a:t>0x01,      </a:t>
                      </a:r>
                      <a:r>
                        <a:rPr lang="en-US" altLang="zh-CN"/>
                        <a:t>        </a:t>
                      </a:r>
                      <a:r>
                        <a:rPr lang="en-US" altLang="zh-CN">
                          <a:latin typeface="Times New Roman" panose="02020603050405020304" charset="0"/>
                          <a:cs typeface="Times New Roman" panose="02020603050405020304" charset="0"/>
                        </a:rPr>
                        <a:t>//</a:t>
                      </a:r>
                      <a:r>
                        <a:rPr lang="zh-CN" altLang="en-US">
                          <a:latin typeface="宋体" panose="02010600030101010101" pitchFamily="2" charset="-122"/>
                          <a:ea typeface="宋体" panose="02010600030101010101" pitchFamily="2" charset="-122"/>
                        </a:rPr>
                        <a:t>支持唤醒</a:t>
                      </a:r>
                      <a:endParaRPr lang="zh-CN" altLang="en-US">
                        <a:latin typeface="宋体" panose="02010600030101010101" pitchFamily="2" charset="-122"/>
                        <a:ea typeface="宋体" panose="02010600030101010101" pitchFamily="2" charset="-122"/>
                      </a:endParaRPr>
                    </a:p>
                  </a:txBody>
                  <a:tcPr anchor="ctr" anchorCtr="0"/>
                </a:tc>
              </a:tr>
            </a:tbl>
          </a:graphicData>
        </a:graphic>
      </p:graphicFrame>
      <p:pic>
        <p:nvPicPr>
          <p:cNvPr id="8" name="图片 7"/>
          <p:cNvPicPr>
            <a:picLocks noChangeAspect="1"/>
          </p:cNvPicPr>
          <p:nvPr/>
        </p:nvPicPr>
        <p:blipFill>
          <a:blip r:embed="rId3"/>
          <a:stretch>
            <a:fillRect/>
          </a:stretch>
        </p:blipFill>
        <p:spPr>
          <a:xfrm>
            <a:off x="292100" y="3356610"/>
            <a:ext cx="5543550" cy="1447800"/>
          </a:xfrm>
          <a:prstGeom prst="rect">
            <a:avLst/>
          </a:prstGeom>
        </p:spPr>
      </p:pic>
      <p:sp>
        <p:nvSpPr>
          <p:cNvPr id="9" name="文本框 8"/>
          <p:cNvSpPr txBox="1"/>
          <p:nvPr/>
        </p:nvSpPr>
        <p:spPr>
          <a:xfrm>
            <a:off x="292100" y="2988310"/>
            <a:ext cx="5276215" cy="368300"/>
          </a:xfrm>
          <a:prstGeom prst="rect">
            <a:avLst/>
          </a:prstGeom>
          <a:noFill/>
        </p:spPr>
        <p:txBody>
          <a:bodyPr wrap="square" rtlCol="0">
            <a:spAutoFit/>
          </a:bodyPr>
          <a:p>
            <a:r>
              <a:rPr lang="zh-CN" altLang="en-US"/>
              <a:t>按键初始化</a:t>
            </a:r>
            <a:r>
              <a:rPr lang="en-US" altLang="zh-CN"/>
              <a:t>(</a:t>
            </a:r>
            <a:r>
              <a:rPr lang="zh-CN" altLang="en-US"/>
              <a:t>内部上拉、双边沿中断</a:t>
            </a:r>
            <a:r>
              <a:rPr lang="en-US" altLang="zh-CN"/>
              <a:t>)</a:t>
            </a:r>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HOGP</a:t>
            </a:r>
            <a:r>
              <a:rPr lang="zh-CN" altLang="en-US" sz="2400" b="1" spc="-38" dirty="0">
                <a:solidFill>
                  <a:srgbClr val="3D5663"/>
                </a:solidFill>
                <a:latin typeface="Calibri" panose="020F0502020204030204" pitchFamily="34" charset="0"/>
                <a:cs typeface="Calibri" panose="020F0502020204030204" pitchFamily="34" charset="0"/>
              </a:rPr>
              <a:t>实践</a:t>
            </a:r>
            <a:r>
              <a:rPr lang="en-US" altLang="zh-CN" sz="2400" b="1" spc="-38" dirty="0">
                <a:solidFill>
                  <a:srgbClr val="3D5663"/>
                </a:solidFill>
                <a:latin typeface="Calibri" panose="020F0502020204030204" pitchFamily="34" charset="0"/>
                <a:cs typeface="Calibri" panose="020F0502020204030204" pitchFamily="34" charset="0"/>
              </a:rPr>
              <a:t>——</a:t>
            </a:r>
            <a:r>
              <a:rPr lang="zh-CN" altLang="en-US" sz="2400" b="1" spc="-38" dirty="0">
                <a:solidFill>
                  <a:srgbClr val="3D5663"/>
                </a:solidFill>
                <a:latin typeface="Calibri" panose="020F0502020204030204" pitchFamily="34" charset="0"/>
                <a:cs typeface="Calibri" panose="020F0502020204030204" pitchFamily="34" charset="0"/>
              </a:rPr>
              <a:t>键盘</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520700"/>
            <a:ext cx="3048000" cy="368300"/>
          </a:xfrm>
          <a:prstGeom prst="rect">
            <a:avLst/>
          </a:prstGeom>
          <a:noFill/>
        </p:spPr>
        <p:txBody>
          <a:bodyPr wrap="square" rtlCol="0">
            <a:spAutoFit/>
          </a:bodyPr>
          <a:p>
            <a:r>
              <a:rPr lang="zh-CN" altLang="en-US"/>
              <a:t>键盘报告描述</a:t>
            </a:r>
            <a:r>
              <a:rPr lang="zh-CN" altLang="en-US"/>
              <a:t>符</a:t>
            </a:r>
            <a:endParaRPr lang="zh-CN" altLang="en-US"/>
          </a:p>
        </p:txBody>
      </p:sp>
      <p:sp>
        <p:nvSpPr>
          <p:cNvPr id="4" name="文本框 3"/>
          <p:cNvSpPr txBox="1"/>
          <p:nvPr/>
        </p:nvSpPr>
        <p:spPr>
          <a:xfrm>
            <a:off x="215900" y="889000"/>
            <a:ext cx="3982085" cy="3333115"/>
          </a:xfrm>
          <a:prstGeom prst="rect">
            <a:avLst/>
          </a:prstGeom>
          <a:noFill/>
        </p:spPr>
        <p:txBody>
          <a:bodyPr wrap="square" rtlCol="0" anchor="t">
            <a:noAutofit/>
          </a:bodyPr>
          <a:p>
            <a:r>
              <a:rPr lang="en-US" altLang="zh-CN" sz="1200"/>
              <a:t>0x05, 0x01,        // Usage Page (Generic Desktop Ctrls)</a:t>
            </a:r>
            <a:endParaRPr lang="en-US" altLang="zh-CN" sz="1200"/>
          </a:p>
          <a:p>
            <a:r>
              <a:rPr lang="en-US" altLang="zh-CN" sz="1200"/>
              <a:t>0x09, 0x06,        // Usage (Keyboard)</a:t>
            </a:r>
            <a:endParaRPr lang="en-US" altLang="zh-CN" sz="1200"/>
          </a:p>
          <a:p>
            <a:r>
              <a:rPr lang="en-US" altLang="zh-CN" sz="1200"/>
              <a:t>0xA1, 0x01,        // Collection (Application)</a:t>
            </a:r>
            <a:endParaRPr lang="en-US" altLang="zh-CN" sz="1200"/>
          </a:p>
          <a:p>
            <a:r>
              <a:rPr lang="en-US" altLang="zh-CN" sz="1200"/>
              <a:t>0x85, 0x01,        //   Report ID (1)</a:t>
            </a:r>
            <a:endParaRPr lang="en-US" altLang="zh-CN" sz="1200"/>
          </a:p>
          <a:p>
            <a:endParaRPr lang="en-US" altLang="zh-CN" sz="1200"/>
          </a:p>
          <a:p>
            <a:r>
              <a:rPr lang="en-US" altLang="zh-CN" sz="1200"/>
              <a:t>// Modifier keys (</a:t>
            </a:r>
            <a:r>
              <a:rPr lang="zh-CN" altLang="en-US" sz="1200"/>
              <a:t>左</a:t>
            </a:r>
            <a:r>
              <a:rPr lang="en-US" altLang="zh-CN" sz="1200"/>
              <a:t>Ctrl,Shift,Alt,GUI,</a:t>
            </a:r>
            <a:r>
              <a:rPr lang="zh-CN" altLang="en-US" sz="1200"/>
              <a:t>右</a:t>
            </a:r>
            <a:r>
              <a:rPr lang="en-US" altLang="zh-CN" sz="1200"/>
              <a:t>Ctrl,Shift,Alt,GUI)</a:t>
            </a:r>
            <a:endParaRPr lang="en-US" altLang="zh-CN" sz="1200"/>
          </a:p>
          <a:p>
            <a:r>
              <a:rPr lang="en-US" altLang="zh-CN" sz="1200"/>
              <a:t>0x05, 0x07,        //   Usage Page (Kbrd/Keypad)</a:t>
            </a:r>
            <a:endParaRPr lang="en-US" altLang="zh-CN" sz="1200"/>
          </a:p>
          <a:p>
            <a:r>
              <a:rPr lang="en-US" altLang="zh-CN" sz="1200"/>
              <a:t>0x19, 0xE0,        //   Usage Minimum (0xE0)</a:t>
            </a:r>
            <a:endParaRPr lang="en-US" altLang="zh-CN" sz="1200"/>
          </a:p>
          <a:p>
            <a:r>
              <a:rPr lang="en-US" altLang="zh-CN" sz="1200"/>
              <a:t>0x29, 0xE7,        //   Usage Maximum (0xE7)</a:t>
            </a:r>
            <a:endParaRPr lang="en-US" altLang="zh-CN" sz="1200"/>
          </a:p>
          <a:p>
            <a:r>
              <a:rPr lang="en-US" altLang="zh-CN" sz="1200"/>
              <a:t>0x15, 0x00,        //   Logical Minimum (0)</a:t>
            </a:r>
            <a:endParaRPr lang="en-US" altLang="zh-CN" sz="1200"/>
          </a:p>
          <a:p>
            <a:r>
              <a:rPr lang="en-US" altLang="zh-CN" sz="1200"/>
              <a:t>0x25, 0x01,        //   Logical Maximum (1)</a:t>
            </a:r>
            <a:endParaRPr lang="en-US" altLang="zh-CN" sz="1200"/>
          </a:p>
          <a:p>
            <a:r>
              <a:rPr lang="en-US" altLang="zh-CN" sz="1200"/>
              <a:t>0x75, 0x01,        //   Report Size (1)</a:t>
            </a:r>
            <a:endParaRPr lang="en-US" altLang="zh-CN" sz="1200"/>
          </a:p>
          <a:p>
            <a:r>
              <a:rPr lang="en-US" altLang="zh-CN" sz="1200"/>
              <a:t>0x95, 0x08,        //   Report Count (8)</a:t>
            </a:r>
            <a:endParaRPr lang="en-US" altLang="zh-CN" sz="1200"/>
          </a:p>
          <a:p>
            <a:r>
              <a:rPr lang="en-US" altLang="zh-CN" sz="1200"/>
              <a:t>0x81, 0x02,        //  Input (Data, Variable, Absolute)</a:t>
            </a:r>
            <a:endParaRPr lang="en-US" altLang="zh-CN" sz="1200"/>
          </a:p>
          <a:p>
            <a:r>
              <a:rPr lang="en-US" altLang="zh-CN" sz="1200"/>
              <a:t>0x75, 0x08,        //   Report Size (8)</a:t>
            </a:r>
            <a:endParaRPr lang="en-US" altLang="zh-CN" sz="1200"/>
          </a:p>
          <a:p>
            <a:r>
              <a:rPr lang="en-US" altLang="zh-CN" sz="1200"/>
              <a:t>0x95, 0x01,        //   Report Count (1)</a:t>
            </a:r>
            <a:endParaRPr lang="en-US" altLang="zh-CN" sz="1200"/>
          </a:p>
          <a:p>
            <a:r>
              <a:rPr lang="en-US" altLang="zh-CN" sz="1200">
                <a:sym typeface="+mn-ea"/>
              </a:rPr>
              <a:t>0x81, 0x01,        //   Input (Constant)</a:t>
            </a:r>
            <a:endParaRPr lang="en-US" altLang="zh-CN" sz="1200"/>
          </a:p>
          <a:p>
            <a:endParaRPr lang="en-US" altLang="zh-CN" sz="1200"/>
          </a:p>
        </p:txBody>
      </p:sp>
      <p:sp>
        <p:nvSpPr>
          <p:cNvPr id="5" name="文本框 4"/>
          <p:cNvSpPr txBox="1"/>
          <p:nvPr/>
        </p:nvSpPr>
        <p:spPr>
          <a:xfrm>
            <a:off x="4450715" y="831850"/>
            <a:ext cx="4503420" cy="4338320"/>
          </a:xfrm>
          <a:prstGeom prst="rect">
            <a:avLst/>
          </a:prstGeom>
          <a:noFill/>
        </p:spPr>
        <p:txBody>
          <a:bodyPr wrap="square" rtlCol="0">
            <a:spAutoFit/>
          </a:bodyPr>
          <a:p>
            <a:r>
              <a:rPr lang="en-US" altLang="zh-CN" sz="1200"/>
              <a:t>LED report (Num Lock,Caps Lock,Scroll Lock,Compose,Kana)</a:t>
            </a:r>
            <a:endParaRPr lang="en-US" altLang="zh-CN" sz="1200"/>
          </a:p>
          <a:p>
            <a:r>
              <a:rPr lang="en-US" altLang="zh-CN" sz="1200"/>
              <a:t>0x05, 0x08,        //   Usage Page (LEDs)</a:t>
            </a:r>
            <a:endParaRPr lang="en-US" altLang="zh-CN" sz="1200"/>
          </a:p>
          <a:p>
            <a:r>
              <a:rPr lang="en-US" altLang="zh-CN" sz="1200"/>
              <a:t>0x19, 0x01,        //   Usage Minimum (Num Lock)</a:t>
            </a:r>
            <a:endParaRPr lang="en-US" altLang="zh-CN" sz="1200"/>
          </a:p>
          <a:p>
            <a:r>
              <a:rPr lang="en-US" altLang="zh-CN" sz="1200"/>
              <a:t>0x29, 0x05,        //   Usage Maximum (Kana)</a:t>
            </a:r>
            <a:endParaRPr lang="en-US" altLang="zh-CN" sz="1200"/>
          </a:p>
          <a:p>
            <a:r>
              <a:rPr lang="en-US" altLang="zh-CN" sz="1200"/>
              <a:t>0x15, 0x00,        //   Logical Minimum (0)</a:t>
            </a:r>
            <a:endParaRPr lang="en-US" altLang="zh-CN" sz="1200"/>
          </a:p>
          <a:p>
            <a:r>
              <a:rPr lang="en-US" altLang="zh-CN" sz="1200"/>
              <a:t>0x25, 0x01,        //   Logical Maximum (1)</a:t>
            </a:r>
            <a:endParaRPr lang="en-US" altLang="zh-CN" sz="1200"/>
          </a:p>
          <a:p>
            <a:r>
              <a:rPr lang="en-US" altLang="zh-CN" sz="1200"/>
              <a:t>0x75, 0x01,        //   Report Size (1)</a:t>
            </a:r>
            <a:endParaRPr lang="en-US" altLang="zh-CN" sz="1200"/>
          </a:p>
          <a:p>
            <a:r>
              <a:rPr lang="en-US" altLang="zh-CN" sz="1200"/>
              <a:t>0x95, 0x05,        //   Report Count (5)</a:t>
            </a:r>
            <a:endParaRPr lang="en-US" altLang="zh-CN" sz="1200"/>
          </a:p>
          <a:p>
            <a:r>
              <a:rPr lang="en-US" altLang="zh-CN" sz="1200"/>
              <a:t>0x91, 0x02,        //   Output (Data, Variable, Absolute)</a:t>
            </a:r>
            <a:endParaRPr lang="en-US" altLang="zh-CN" sz="1200"/>
          </a:p>
          <a:p>
            <a:r>
              <a:rPr lang="en-US" altLang="zh-CN" sz="1200"/>
              <a:t>0x75, 0x03,        //   Report Size (3)</a:t>
            </a:r>
            <a:endParaRPr lang="en-US" altLang="zh-CN" sz="1200"/>
          </a:p>
          <a:p>
            <a:r>
              <a:rPr lang="en-US" altLang="zh-CN" sz="1200"/>
              <a:t>0x95, 0x01,        //   Report Count (1)</a:t>
            </a:r>
            <a:endParaRPr lang="en-US" altLang="zh-CN" sz="1200"/>
          </a:p>
          <a:p>
            <a:r>
              <a:rPr lang="en-US" altLang="zh-CN" sz="1200"/>
              <a:t>0x91, 0x01,        //   Output</a:t>
            </a:r>
            <a:r>
              <a:rPr lang="en-US" altLang="zh-CN" sz="1200">
                <a:sym typeface="+mn-ea"/>
              </a:rPr>
              <a:t> (Constant)</a:t>
            </a:r>
            <a:endParaRPr lang="en-US" altLang="zh-CN" sz="1200">
              <a:sym typeface="+mn-ea"/>
            </a:endParaRPr>
          </a:p>
          <a:p>
            <a:r>
              <a:rPr lang="en-US" altLang="zh-CN" sz="1200">
                <a:sym typeface="+mn-ea"/>
              </a:rPr>
              <a:t>//Key arrays (</a:t>
            </a:r>
            <a:r>
              <a:rPr lang="zh-CN" altLang="en-US" sz="1200">
                <a:sym typeface="+mn-ea"/>
              </a:rPr>
              <a:t>最多支持</a:t>
            </a:r>
            <a:r>
              <a:rPr lang="en-US" altLang="zh-CN" sz="1200">
                <a:sym typeface="+mn-ea"/>
              </a:rPr>
              <a:t>6</a:t>
            </a:r>
            <a:r>
              <a:rPr lang="zh-CN" altLang="en-US" sz="1200">
                <a:sym typeface="+mn-ea"/>
              </a:rPr>
              <a:t>个按键同时按下</a:t>
            </a:r>
            <a:r>
              <a:rPr lang="en-US" altLang="zh-CN" sz="1200">
                <a:sym typeface="+mn-ea"/>
              </a:rPr>
              <a:t>)</a:t>
            </a:r>
            <a:endParaRPr lang="en-US" altLang="zh-CN" sz="1200"/>
          </a:p>
          <a:p>
            <a:r>
              <a:rPr lang="en-US" altLang="zh-CN" sz="1200">
                <a:sym typeface="+mn-ea"/>
              </a:rPr>
              <a:t>0x05, 0x07,        //   Usage Page (Kbrd/Keypad)</a:t>
            </a:r>
            <a:endParaRPr lang="en-US" altLang="zh-CN" sz="1200"/>
          </a:p>
          <a:p>
            <a:r>
              <a:rPr lang="en-US" altLang="zh-CN" sz="1200">
                <a:sym typeface="+mn-ea"/>
              </a:rPr>
              <a:t>0x19, 0x00,        //   Usage Minimum (0x00)</a:t>
            </a:r>
            <a:endParaRPr lang="en-US" altLang="zh-CN" sz="1200"/>
          </a:p>
          <a:p>
            <a:r>
              <a:rPr lang="en-US" altLang="zh-CN" sz="1200">
                <a:sym typeface="+mn-ea"/>
              </a:rPr>
              <a:t>0x29, 0x65,        //   Usage Maximum (0x65)</a:t>
            </a:r>
            <a:endParaRPr lang="en-US" altLang="zh-CN" sz="1200"/>
          </a:p>
          <a:p>
            <a:r>
              <a:rPr lang="en-US" altLang="zh-CN" sz="1200">
                <a:sym typeface="+mn-ea"/>
              </a:rPr>
              <a:t>0x15, 0x00,        //   Logical Minimum (0)</a:t>
            </a:r>
            <a:endParaRPr lang="en-US" altLang="zh-CN" sz="1200"/>
          </a:p>
          <a:p>
            <a:r>
              <a:rPr lang="en-US" altLang="zh-CN" sz="1200">
                <a:sym typeface="+mn-ea"/>
              </a:rPr>
              <a:t>0x25, 0x65,        //   Logical Maximum (101)</a:t>
            </a:r>
            <a:endParaRPr lang="en-US" altLang="zh-CN" sz="1200"/>
          </a:p>
          <a:p>
            <a:r>
              <a:rPr lang="en-US" altLang="zh-CN" sz="1200">
                <a:sym typeface="+mn-ea"/>
              </a:rPr>
              <a:t>0x75, 0x08,        //   Report Size (8)</a:t>
            </a:r>
            <a:endParaRPr lang="en-US" altLang="zh-CN" sz="1200"/>
          </a:p>
          <a:p>
            <a:r>
              <a:rPr lang="en-US" altLang="zh-CN" sz="1200">
                <a:sym typeface="+mn-ea"/>
              </a:rPr>
              <a:t>0x95, 0x06,        //   Report Count (6)</a:t>
            </a:r>
            <a:endParaRPr lang="en-US" altLang="zh-CN" sz="1200"/>
          </a:p>
          <a:p>
            <a:r>
              <a:rPr lang="en-US" altLang="zh-CN" sz="1200">
                <a:sym typeface="+mn-ea"/>
              </a:rPr>
              <a:t>0x81, 0x00,        //   Input (Data, Array)</a:t>
            </a:r>
            <a:endParaRPr lang="en-US" altLang="zh-CN" sz="1200"/>
          </a:p>
          <a:p>
            <a:r>
              <a:rPr lang="en-US" altLang="zh-CN" sz="1200">
                <a:sym typeface="+mn-ea"/>
              </a:rPr>
              <a:t>0xC0,              // End Collection</a:t>
            </a:r>
            <a:endParaRPr lang="en-US" altLang="zh-CN" sz="1200"/>
          </a:p>
          <a:p>
            <a:endParaRPr lang="en-US" altLang="zh-CN" sz="1200">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HOGP</a:t>
            </a:r>
            <a:r>
              <a:rPr lang="zh-CN" altLang="en-US" sz="2400" b="1" spc="-38" dirty="0">
                <a:solidFill>
                  <a:srgbClr val="3D5663"/>
                </a:solidFill>
                <a:latin typeface="Calibri" panose="020F0502020204030204" pitchFamily="34" charset="0"/>
                <a:cs typeface="Calibri" panose="020F0502020204030204" pitchFamily="34" charset="0"/>
              </a:rPr>
              <a:t>实践</a:t>
            </a:r>
            <a:r>
              <a:rPr lang="en-US" altLang="zh-CN" sz="2400" b="1" spc="-38" dirty="0">
                <a:solidFill>
                  <a:srgbClr val="3D5663"/>
                </a:solidFill>
                <a:latin typeface="Calibri" panose="020F0502020204030204" pitchFamily="34" charset="0"/>
                <a:cs typeface="Calibri" panose="020F0502020204030204" pitchFamily="34" charset="0"/>
              </a:rPr>
              <a:t>——</a:t>
            </a:r>
            <a:r>
              <a:rPr lang="zh-CN" altLang="en-US" sz="2400" b="1" spc="-38" dirty="0">
                <a:solidFill>
                  <a:srgbClr val="3D5663"/>
                </a:solidFill>
                <a:latin typeface="Calibri" panose="020F0502020204030204" pitchFamily="34" charset="0"/>
                <a:cs typeface="Calibri" panose="020F0502020204030204" pitchFamily="34" charset="0"/>
              </a:rPr>
              <a:t>键盘</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43510" y="525780"/>
            <a:ext cx="3048000" cy="368300"/>
          </a:xfrm>
          <a:prstGeom prst="rect">
            <a:avLst/>
          </a:prstGeom>
          <a:noFill/>
        </p:spPr>
        <p:txBody>
          <a:bodyPr wrap="square" rtlCol="0">
            <a:spAutoFit/>
          </a:bodyPr>
          <a:p>
            <a:r>
              <a:rPr lang="zh-CN" altLang="en-US"/>
              <a:t>按键报告</a:t>
            </a:r>
            <a:r>
              <a:rPr lang="zh-CN" altLang="en-US"/>
              <a:t>实现</a:t>
            </a:r>
            <a:endParaRPr lang="zh-CN" altLang="en-US"/>
          </a:p>
        </p:txBody>
      </p:sp>
      <p:sp>
        <p:nvSpPr>
          <p:cNvPr id="5" name="文本框 4"/>
          <p:cNvSpPr txBox="1"/>
          <p:nvPr/>
        </p:nvSpPr>
        <p:spPr>
          <a:xfrm>
            <a:off x="143510" y="1066165"/>
            <a:ext cx="3048000" cy="337185"/>
          </a:xfrm>
          <a:prstGeom prst="rect">
            <a:avLst/>
          </a:prstGeom>
          <a:noFill/>
        </p:spPr>
        <p:txBody>
          <a:bodyPr wrap="square" rtlCol="0">
            <a:spAutoFit/>
          </a:bodyPr>
          <a:p>
            <a:r>
              <a:rPr lang="en-US" altLang="zh-CN" sz="1600">
                <a:latin typeface="Times New Roman" panose="02020603050405020304" charset="0"/>
                <a:cs typeface="Times New Roman" panose="02020603050405020304" charset="0"/>
              </a:rPr>
              <a:t>1</a:t>
            </a:r>
            <a:r>
              <a:rPr lang="zh-CN" altLang="en-US" sz="1600">
                <a:latin typeface="Times New Roman" panose="02020603050405020304" charset="0"/>
                <a:cs typeface="Times New Roman" panose="02020603050405020304" charset="0"/>
              </a:rPr>
              <a:t>、</a:t>
            </a:r>
            <a:r>
              <a:rPr lang="zh-CN" altLang="en-US" sz="1600">
                <a:latin typeface="宋体" panose="02010600030101010101" pitchFamily="2" charset="-122"/>
                <a:ea typeface="宋体" panose="02010600030101010101" pitchFamily="2" charset="-122"/>
              </a:rPr>
              <a:t>按键及报告数据定义</a:t>
            </a:r>
            <a:endParaRPr lang="zh-CN" altLang="en-US" sz="1600">
              <a:latin typeface="宋体" panose="02010600030101010101" pitchFamily="2" charset="-122"/>
              <a:ea typeface="宋体" panose="02010600030101010101" pitchFamily="2" charset="-122"/>
            </a:endParaRPr>
          </a:p>
        </p:txBody>
      </p:sp>
      <p:sp>
        <p:nvSpPr>
          <p:cNvPr id="6" name="文本框 5"/>
          <p:cNvSpPr txBox="1"/>
          <p:nvPr/>
        </p:nvSpPr>
        <p:spPr>
          <a:xfrm>
            <a:off x="3272790" y="1066165"/>
            <a:ext cx="3048000" cy="337185"/>
          </a:xfrm>
          <a:prstGeom prst="rect">
            <a:avLst/>
          </a:prstGeom>
          <a:noFill/>
        </p:spPr>
        <p:txBody>
          <a:bodyPr wrap="square" rtlCol="0">
            <a:spAutoFit/>
          </a:bodyPr>
          <a:p>
            <a:r>
              <a:rPr lang="en-US" altLang="zh-CN" sz="1600">
                <a:latin typeface="Times New Roman" panose="02020603050405020304" charset="0"/>
                <a:cs typeface="Times New Roman" panose="02020603050405020304" charset="0"/>
              </a:rPr>
              <a:t>2</a:t>
            </a:r>
            <a:r>
              <a:rPr lang="zh-CN" altLang="en-US" sz="1600">
                <a:latin typeface="Times New Roman" panose="02020603050405020304" charset="0"/>
                <a:cs typeface="Times New Roman" panose="02020603050405020304" charset="0"/>
              </a:rPr>
              <a:t>、</a:t>
            </a:r>
            <a:r>
              <a:rPr lang="zh-CN" altLang="en-US" sz="1600">
                <a:latin typeface="宋体" panose="02010600030101010101" pitchFamily="2" charset="-122"/>
                <a:ea typeface="宋体" panose="02010600030101010101" pitchFamily="2" charset="-122"/>
              </a:rPr>
              <a:t>获取按键报告</a:t>
            </a:r>
            <a:endParaRPr lang="zh-CN" altLang="en-US" sz="1600">
              <a:latin typeface="宋体" panose="02010600030101010101" pitchFamily="2" charset="-122"/>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3272790" y="1403350"/>
            <a:ext cx="5783580" cy="2157730"/>
          </a:xfrm>
          <a:prstGeom prst="rect">
            <a:avLst/>
          </a:prstGeom>
        </p:spPr>
      </p:pic>
      <p:pic>
        <p:nvPicPr>
          <p:cNvPr id="9" name="图片 8"/>
          <p:cNvPicPr>
            <a:picLocks noChangeAspect="1"/>
          </p:cNvPicPr>
          <p:nvPr/>
        </p:nvPicPr>
        <p:blipFill>
          <a:blip r:embed="rId2"/>
          <a:stretch>
            <a:fillRect/>
          </a:stretch>
        </p:blipFill>
        <p:spPr>
          <a:xfrm>
            <a:off x="143510" y="1403350"/>
            <a:ext cx="2945765" cy="236283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HOGP</a:t>
            </a:r>
            <a:r>
              <a:rPr lang="zh-CN" altLang="en-US" sz="2400" b="1" spc="-38" dirty="0">
                <a:solidFill>
                  <a:srgbClr val="3D5663"/>
                </a:solidFill>
                <a:latin typeface="Calibri" panose="020F0502020204030204" pitchFamily="34" charset="0"/>
                <a:cs typeface="Calibri" panose="020F0502020204030204" pitchFamily="34" charset="0"/>
              </a:rPr>
              <a:t>实践</a:t>
            </a:r>
            <a:r>
              <a:rPr lang="en-US" altLang="zh-CN" sz="2400" b="1" spc="-38" dirty="0">
                <a:solidFill>
                  <a:srgbClr val="3D5663"/>
                </a:solidFill>
                <a:latin typeface="Calibri" panose="020F0502020204030204" pitchFamily="34" charset="0"/>
                <a:cs typeface="Calibri" panose="020F0502020204030204" pitchFamily="34" charset="0"/>
              </a:rPr>
              <a:t>——</a:t>
            </a:r>
            <a:r>
              <a:rPr lang="zh-CN" altLang="en-US" sz="2400" b="1" spc="-38" dirty="0">
                <a:solidFill>
                  <a:srgbClr val="3D5663"/>
                </a:solidFill>
                <a:latin typeface="Calibri" panose="020F0502020204030204" pitchFamily="34" charset="0"/>
                <a:cs typeface="Calibri" panose="020F0502020204030204" pitchFamily="34" charset="0"/>
              </a:rPr>
              <a:t>键盘</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6" name="文本框 5"/>
          <p:cNvSpPr txBox="1"/>
          <p:nvPr/>
        </p:nvSpPr>
        <p:spPr>
          <a:xfrm>
            <a:off x="215900" y="643255"/>
            <a:ext cx="2609850" cy="368300"/>
          </a:xfrm>
          <a:prstGeom prst="rect">
            <a:avLst/>
          </a:prstGeom>
          <a:noFill/>
        </p:spPr>
        <p:txBody>
          <a:bodyPr wrap="square" rtlCol="0">
            <a:spAutoFit/>
          </a:bodyPr>
          <a:p>
            <a:r>
              <a:rPr lang="zh-CN" altLang="en-US" b="1"/>
              <a:t>键盘实现</a:t>
            </a:r>
            <a:r>
              <a:rPr lang="zh-CN" altLang="en-US" b="1"/>
              <a:t>主要逻辑</a:t>
            </a:r>
            <a:endParaRPr lang="zh-CN" altLang="en-US" b="1"/>
          </a:p>
        </p:txBody>
      </p:sp>
      <p:sp>
        <p:nvSpPr>
          <p:cNvPr id="8" name="文本框 7"/>
          <p:cNvSpPr txBox="1"/>
          <p:nvPr/>
        </p:nvSpPr>
        <p:spPr>
          <a:xfrm>
            <a:off x="172085" y="1041400"/>
            <a:ext cx="4173220" cy="92202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1</a:t>
            </a:r>
            <a:r>
              <a:rPr lang="zh-CN" altLang="en-US">
                <a:latin typeface="Times New Roman" panose="02020603050405020304" charset="0"/>
                <a:cs typeface="Times New Roman" panose="02020603050405020304" charset="0"/>
              </a:rPr>
              <a:t>、</a:t>
            </a:r>
            <a:r>
              <a:rPr lang="zh-CN" altLang="en-US">
                <a:latin typeface="宋体" panose="02010600030101010101" pitchFamily="2" charset="-122"/>
                <a:ea typeface="宋体" panose="02010600030101010101" pitchFamily="2" charset="-122"/>
                <a:cs typeface="宋体" panose="02010600030101010101" pitchFamily="2" charset="-122"/>
              </a:rPr>
              <a:t>按下或松开按键，触发中断回调，通过</a:t>
            </a:r>
            <a:r>
              <a:rPr lang="en-US" altLang="zh-CN">
                <a:latin typeface="Times New Roman" panose="02020603050405020304" charset="0"/>
                <a:ea typeface="宋体" panose="02010600030101010101" pitchFamily="2" charset="-122"/>
                <a:cs typeface="Times New Roman" panose="02020603050405020304" charset="0"/>
              </a:rPr>
              <a:t>ble_app_request_set()</a:t>
            </a:r>
            <a:r>
              <a:rPr lang="zh-CN" altLang="en-US">
                <a:latin typeface="宋体" panose="02010600030101010101" pitchFamily="2" charset="-122"/>
                <a:ea typeface="宋体" panose="02010600030101010101" pitchFamily="2" charset="-122"/>
                <a:cs typeface="宋体" panose="02010600030101010101" pitchFamily="2" charset="-122"/>
              </a:rPr>
              <a:t>发送消息到队列</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pic>
        <p:nvPicPr>
          <p:cNvPr id="9" name="图片 8"/>
          <p:cNvPicPr>
            <a:picLocks noChangeAspect="1"/>
          </p:cNvPicPr>
          <p:nvPr/>
        </p:nvPicPr>
        <p:blipFill>
          <a:blip r:embed="rId1"/>
          <a:stretch>
            <a:fillRect/>
          </a:stretch>
        </p:blipFill>
        <p:spPr>
          <a:xfrm>
            <a:off x="215900" y="1906270"/>
            <a:ext cx="4159250" cy="2000250"/>
          </a:xfrm>
          <a:prstGeom prst="rect">
            <a:avLst/>
          </a:prstGeom>
        </p:spPr>
      </p:pic>
      <p:pic>
        <p:nvPicPr>
          <p:cNvPr id="10" name="图片 9"/>
          <p:cNvPicPr>
            <a:picLocks noChangeAspect="1"/>
          </p:cNvPicPr>
          <p:nvPr/>
        </p:nvPicPr>
        <p:blipFill>
          <a:blip r:embed="rId2"/>
          <a:stretch>
            <a:fillRect/>
          </a:stretch>
        </p:blipFill>
        <p:spPr>
          <a:xfrm>
            <a:off x="4572000" y="1906270"/>
            <a:ext cx="4368165" cy="2628265"/>
          </a:xfrm>
          <a:prstGeom prst="rect">
            <a:avLst/>
          </a:prstGeom>
        </p:spPr>
      </p:pic>
      <p:sp>
        <p:nvSpPr>
          <p:cNvPr id="11" name="文本框 10"/>
          <p:cNvSpPr txBox="1"/>
          <p:nvPr/>
        </p:nvSpPr>
        <p:spPr>
          <a:xfrm>
            <a:off x="4562475" y="1062990"/>
            <a:ext cx="4377690" cy="92202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2</a:t>
            </a:r>
            <a:r>
              <a:rPr lang="zh-CN" altLang="en-US">
                <a:latin typeface="Times New Roman" panose="02020603050405020304" charset="0"/>
                <a:cs typeface="Times New Roman" panose="02020603050405020304" charset="0"/>
              </a:rPr>
              <a:t>、</a:t>
            </a:r>
            <a:r>
              <a:rPr lang="zh-CN" altLang="en-US">
                <a:latin typeface="宋体" panose="02010600030101010101" pitchFamily="2" charset="-122"/>
                <a:ea typeface="宋体" panose="02010600030101010101" pitchFamily="2" charset="-122"/>
              </a:rPr>
              <a:t>主函数接收并解析队列收到的消息，执行按键报告发送程序，并通过串口打印出此时按下的按键</a:t>
            </a:r>
            <a:endParaRPr lang="zh-CN" altLang="en-US">
              <a:latin typeface="宋体" panose="02010600030101010101" pitchFamily="2" charset="-122"/>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215900" y="758825"/>
            <a:ext cx="3571240" cy="2298065"/>
          </a:xfrm>
          <a:prstGeom prst="rect">
            <a:avLst/>
          </a:prstGeom>
        </p:spPr>
      </p:pic>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t>
            </a:r>
            <a:r>
              <a:rPr lang="zh-CN" altLang="en-US" sz="2400" b="1" spc="-38" dirty="0">
                <a:solidFill>
                  <a:srgbClr val="3D5663"/>
                </a:solidFill>
                <a:latin typeface="Calibri" panose="020F0502020204030204" pitchFamily="34" charset="0"/>
                <a:cs typeface="Calibri" panose="020F0502020204030204" pitchFamily="34" charset="0"/>
              </a:rPr>
              <a:t>实验</a:t>
            </a:r>
            <a:r>
              <a:rPr lang="zh-CN" altLang="en-US" sz="2400" b="1" spc="-38" dirty="0">
                <a:solidFill>
                  <a:srgbClr val="3D5663"/>
                </a:solidFill>
                <a:latin typeface="Calibri" panose="020F0502020204030204" pitchFamily="34" charset="0"/>
                <a:cs typeface="Calibri" panose="020F0502020204030204" pitchFamily="34" charset="0"/>
              </a:rPr>
              <a:t>分析</a:t>
            </a:r>
            <a:endParaRPr lang="zh-CN" altLang="en-US" sz="2400" b="1" spc="-38" dirty="0">
              <a:solidFill>
                <a:srgbClr val="3D5663"/>
              </a:solidFill>
              <a:latin typeface="Calibri" panose="020F0502020204030204" pitchFamily="34" charset="0"/>
              <a:cs typeface="Calibri" panose="020F0502020204030204" pitchFamily="34" charset="0"/>
            </a:endParaRPr>
          </a:p>
        </p:txBody>
      </p:sp>
      <p:pic>
        <p:nvPicPr>
          <p:cNvPr id="5" name="图片 4"/>
          <p:cNvPicPr>
            <a:picLocks noChangeAspect="1"/>
          </p:cNvPicPr>
          <p:nvPr/>
        </p:nvPicPr>
        <p:blipFill>
          <a:blip r:embed="rId2"/>
          <a:stretch>
            <a:fillRect/>
          </a:stretch>
        </p:blipFill>
        <p:spPr>
          <a:xfrm>
            <a:off x="5821045" y="758825"/>
            <a:ext cx="2534920" cy="3604895"/>
          </a:xfrm>
          <a:prstGeom prst="rect">
            <a:avLst/>
          </a:prstGeom>
        </p:spPr>
      </p:pic>
      <p:cxnSp>
        <p:nvCxnSpPr>
          <p:cNvPr id="6" name="直接箭头连接符 5"/>
          <p:cNvCxnSpPr>
            <a:endCxn id="9" idx="1"/>
          </p:cNvCxnSpPr>
          <p:nvPr/>
        </p:nvCxnSpPr>
        <p:spPr>
          <a:xfrm flipV="1">
            <a:off x="2226945" y="624205"/>
            <a:ext cx="1361440" cy="276225"/>
          </a:xfrm>
          <a:prstGeom prst="straightConnector1">
            <a:avLst/>
          </a:prstGeom>
          <a:ln>
            <a:solidFill>
              <a:srgbClr val="C24E4E"/>
            </a:solidFil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a:endCxn id="9" idx="3"/>
          </p:cNvCxnSpPr>
          <p:nvPr/>
        </p:nvCxnSpPr>
        <p:spPr>
          <a:xfrm flipH="1" flipV="1">
            <a:off x="4874260" y="624205"/>
            <a:ext cx="1085850" cy="304165"/>
          </a:xfrm>
          <a:prstGeom prst="straightConnector1">
            <a:avLst/>
          </a:prstGeom>
          <a:ln>
            <a:solidFill>
              <a:srgbClr val="C24E4E"/>
            </a:solidFill>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3588385" y="455295"/>
            <a:ext cx="1285875" cy="337185"/>
          </a:xfrm>
          <a:prstGeom prst="rect">
            <a:avLst/>
          </a:prstGeom>
          <a:noFill/>
        </p:spPr>
        <p:txBody>
          <a:bodyPr wrap="square" rtlCol="0">
            <a:spAutoFit/>
          </a:bodyPr>
          <a:p>
            <a:pPr algn="ctr"/>
            <a:r>
              <a:rPr lang="zh-CN" altLang="en-US" sz="1600"/>
              <a:t>按下</a:t>
            </a:r>
            <a:r>
              <a:rPr lang="en-US" altLang="zh-CN" sz="1600"/>
              <a:t>KEY1</a:t>
            </a:r>
            <a:endParaRPr lang="en-US" altLang="zh-CN" sz="1600"/>
          </a:p>
        </p:txBody>
      </p:sp>
      <p:cxnSp>
        <p:nvCxnSpPr>
          <p:cNvPr id="10" name="直接箭头连接符 9"/>
          <p:cNvCxnSpPr/>
          <p:nvPr/>
        </p:nvCxnSpPr>
        <p:spPr>
          <a:xfrm flipV="1">
            <a:off x="2088515" y="1126490"/>
            <a:ext cx="1249680" cy="11430"/>
          </a:xfrm>
          <a:prstGeom prst="straightConnector1">
            <a:avLst/>
          </a:prstGeom>
          <a:ln>
            <a:solidFill>
              <a:schemeClr val="accent6"/>
            </a:solidFill>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3338195" y="937260"/>
            <a:ext cx="1309370" cy="337185"/>
          </a:xfrm>
          <a:prstGeom prst="rect">
            <a:avLst/>
          </a:prstGeom>
          <a:noFill/>
        </p:spPr>
        <p:txBody>
          <a:bodyPr wrap="square" rtlCol="0">
            <a:spAutoFit/>
          </a:bodyPr>
          <a:p>
            <a:pPr algn="ctr"/>
            <a:r>
              <a:rPr lang="zh-CN" altLang="en-US" sz="1600"/>
              <a:t>松开</a:t>
            </a:r>
            <a:r>
              <a:rPr lang="en-US" altLang="zh-CN" sz="1600"/>
              <a:t>KEY1</a:t>
            </a:r>
            <a:endParaRPr lang="en-US" altLang="zh-CN" sz="1600"/>
          </a:p>
        </p:txBody>
      </p:sp>
      <p:cxnSp>
        <p:nvCxnSpPr>
          <p:cNvPr id="13" name="直接箭头连接符 12"/>
          <p:cNvCxnSpPr>
            <a:endCxn id="15" idx="3"/>
          </p:cNvCxnSpPr>
          <p:nvPr/>
        </p:nvCxnSpPr>
        <p:spPr>
          <a:xfrm flipH="1" flipV="1">
            <a:off x="4603115" y="1450975"/>
            <a:ext cx="2562860" cy="26536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a:off x="2082800" y="1365885"/>
            <a:ext cx="1255395" cy="939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3338195" y="1282065"/>
            <a:ext cx="1264920" cy="337185"/>
          </a:xfrm>
          <a:prstGeom prst="rect">
            <a:avLst/>
          </a:prstGeom>
          <a:noFill/>
        </p:spPr>
        <p:txBody>
          <a:bodyPr wrap="square" rtlCol="0">
            <a:spAutoFit/>
          </a:bodyPr>
          <a:p>
            <a:pPr algn="ctr"/>
            <a:r>
              <a:rPr lang="zh-CN" altLang="en-US" sz="1600"/>
              <a:t>按下</a:t>
            </a:r>
            <a:r>
              <a:rPr lang="en-US" altLang="zh-CN" sz="1600"/>
              <a:t>KEY0</a:t>
            </a:r>
            <a:endParaRPr lang="en-US" altLang="zh-CN" sz="1600"/>
          </a:p>
        </p:txBody>
      </p:sp>
      <p:sp>
        <p:nvSpPr>
          <p:cNvPr id="16" name="文本框 15"/>
          <p:cNvSpPr txBox="1"/>
          <p:nvPr/>
        </p:nvSpPr>
        <p:spPr>
          <a:xfrm>
            <a:off x="2538730" y="1871980"/>
            <a:ext cx="2064385" cy="337185"/>
          </a:xfrm>
          <a:prstGeom prst="rect">
            <a:avLst/>
          </a:prstGeom>
          <a:noFill/>
        </p:spPr>
        <p:txBody>
          <a:bodyPr wrap="square" rtlCol="0">
            <a:spAutoFit/>
          </a:bodyPr>
          <a:p>
            <a:pPr algn="ctr"/>
            <a:r>
              <a:rPr lang="zh-CN" altLang="en-US" sz="1600"/>
              <a:t>按下</a:t>
            </a:r>
            <a:r>
              <a:rPr lang="en-US" altLang="zh-CN" sz="1600"/>
              <a:t>KEY0</a:t>
            </a:r>
            <a:r>
              <a:rPr lang="zh-CN" altLang="en-US" sz="1600"/>
              <a:t>和</a:t>
            </a:r>
            <a:r>
              <a:rPr lang="en-US" altLang="zh-CN" sz="1600"/>
              <a:t>KEY2</a:t>
            </a:r>
            <a:endParaRPr lang="en-US" altLang="zh-CN" sz="1600"/>
          </a:p>
        </p:txBody>
      </p:sp>
      <p:cxnSp>
        <p:nvCxnSpPr>
          <p:cNvPr id="17" name="直接箭头连接符 16"/>
          <p:cNvCxnSpPr>
            <a:endCxn id="16" idx="3"/>
          </p:cNvCxnSpPr>
          <p:nvPr/>
        </p:nvCxnSpPr>
        <p:spPr>
          <a:xfrm flipH="1">
            <a:off x="4603115" y="1005840"/>
            <a:ext cx="1490980" cy="1035050"/>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a:endCxn id="16" idx="1"/>
          </p:cNvCxnSpPr>
          <p:nvPr/>
        </p:nvCxnSpPr>
        <p:spPr>
          <a:xfrm>
            <a:off x="2082800" y="2032000"/>
            <a:ext cx="455930" cy="8890"/>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2574290" y="2313940"/>
            <a:ext cx="1993265" cy="337185"/>
          </a:xfrm>
          <a:prstGeom prst="rect">
            <a:avLst/>
          </a:prstGeom>
          <a:noFill/>
        </p:spPr>
        <p:txBody>
          <a:bodyPr wrap="square" rtlCol="0">
            <a:spAutoFit/>
          </a:bodyPr>
          <a:p>
            <a:pPr algn="ctr"/>
            <a:r>
              <a:rPr lang="zh-CN" altLang="en-US" sz="1600"/>
              <a:t>松开</a:t>
            </a:r>
            <a:r>
              <a:rPr lang="en-US" altLang="zh-CN" sz="1600"/>
              <a:t>KEY2</a:t>
            </a:r>
            <a:r>
              <a:rPr lang="zh-CN" altLang="en-US" sz="1600"/>
              <a:t>和</a:t>
            </a:r>
            <a:r>
              <a:rPr lang="en-US" altLang="zh-CN" sz="1600"/>
              <a:t>KEY0</a:t>
            </a:r>
            <a:endParaRPr lang="en-US" altLang="zh-CN" sz="1600"/>
          </a:p>
        </p:txBody>
      </p:sp>
      <p:cxnSp>
        <p:nvCxnSpPr>
          <p:cNvPr id="20" name="直接箭头连接符 19"/>
          <p:cNvCxnSpPr>
            <a:endCxn id="19" idx="1"/>
          </p:cNvCxnSpPr>
          <p:nvPr/>
        </p:nvCxnSpPr>
        <p:spPr>
          <a:xfrm>
            <a:off x="2066290" y="2249170"/>
            <a:ext cx="508000" cy="233680"/>
          </a:xfrm>
          <a:prstGeom prst="straightConnector1">
            <a:avLst/>
          </a:prstGeom>
          <a:ln>
            <a:solidFill>
              <a:srgbClr val="7030A0"/>
            </a:solidFill>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a:endCxn id="19" idx="1"/>
          </p:cNvCxnSpPr>
          <p:nvPr/>
        </p:nvCxnSpPr>
        <p:spPr>
          <a:xfrm>
            <a:off x="2032635" y="2482215"/>
            <a:ext cx="541655" cy="635"/>
          </a:xfrm>
          <a:prstGeom prst="straightConnector1">
            <a:avLst/>
          </a:prstGeom>
          <a:ln>
            <a:solidFill>
              <a:srgbClr val="7030A0"/>
            </a:solidFill>
            <a:tailEnd type="arrow"/>
          </a:ln>
        </p:spPr>
        <p:style>
          <a:lnRef idx="2">
            <a:schemeClr val="accent1"/>
          </a:lnRef>
          <a:fillRef idx="0">
            <a:srgbClr val="FFFFFF"/>
          </a:fillRef>
          <a:effectRef idx="0">
            <a:srgbClr val="FFFFFF"/>
          </a:effectRef>
          <a:fontRef idx="minor">
            <a:schemeClr val="tx1"/>
          </a:fontRef>
        </p:style>
      </p:cxnSp>
      <p:sp>
        <p:nvSpPr>
          <p:cNvPr id="22" name="文本框 21"/>
          <p:cNvSpPr txBox="1"/>
          <p:nvPr/>
        </p:nvSpPr>
        <p:spPr>
          <a:xfrm>
            <a:off x="2976245" y="2887345"/>
            <a:ext cx="1189355" cy="337185"/>
          </a:xfrm>
          <a:prstGeom prst="rect">
            <a:avLst/>
          </a:prstGeom>
          <a:noFill/>
        </p:spPr>
        <p:txBody>
          <a:bodyPr wrap="square" rtlCol="0">
            <a:spAutoFit/>
          </a:bodyPr>
          <a:p>
            <a:pPr algn="ctr"/>
            <a:r>
              <a:rPr lang="zh-CN" altLang="en-US" sz="1600"/>
              <a:t>长按</a:t>
            </a:r>
            <a:r>
              <a:rPr lang="en-US" altLang="zh-CN" sz="1600"/>
              <a:t>KEY2</a:t>
            </a:r>
            <a:endParaRPr lang="en-US" altLang="zh-CN" sz="1600"/>
          </a:p>
        </p:txBody>
      </p:sp>
      <p:sp>
        <p:nvSpPr>
          <p:cNvPr id="24" name="左大括号 23"/>
          <p:cNvSpPr/>
          <p:nvPr/>
        </p:nvSpPr>
        <p:spPr>
          <a:xfrm rot="16200000">
            <a:off x="7080250" y="73660"/>
            <a:ext cx="127635" cy="1991360"/>
          </a:xfrm>
          <a:prstGeom prst="leftBrace">
            <a:avLst/>
          </a:prstGeom>
          <a:ln>
            <a:solidFill>
              <a:srgbClr val="FFFF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25" name="直接箭头连接符 24"/>
          <p:cNvCxnSpPr>
            <a:stCxn id="24" idx="1"/>
            <a:endCxn id="22" idx="3"/>
          </p:cNvCxnSpPr>
          <p:nvPr/>
        </p:nvCxnSpPr>
        <p:spPr>
          <a:xfrm flipH="1">
            <a:off x="4165600" y="1133475"/>
            <a:ext cx="2978785" cy="1922780"/>
          </a:xfrm>
          <a:prstGeom prst="straightConnector1">
            <a:avLst/>
          </a:prstGeom>
          <a:ln>
            <a:solidFill>
              <a:srgbClr val="FFFF00"/>
            </a:solidFill>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a:endCxn id="22" idx="1"/>
          </p:cNvCxnSpPr>
          <p:nvPr/>
        </p:nvCxnSpPr>
        <p:spPr>
          <a:xfrm>
            <a:off x="2054860" y="2682240"/>
            <a:ext cx="921385" cy="374015"/>
          </a:xfrm>
          <a:prstGeom prst="straightConnector1">
            <a:avLst/>
          </a:prstGeom>
          <a:ln>
            <a:solidFill>
              <a:srgbClr val="FFFF00"/>
            </a:solidFill>
            <a:tailEnd type="arrow"/>
          </a:ln>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3011170" y="3345815"/>
            <a:ext cx="1154430" cy="337185"/>
          </a:xfrm>
          <a:prstGeom prst="rect">
            <a:avLst/>
          </a:prstGeom>
          <a:noFill/>
        </p:spPr>
        <p:txBody>
          <a:bodyPr wrap="square" rtlCol="0">
            <a:spAutoFit/>
          </a:bodyPr>
          <a:p>
            <a:pPr algn="ctr"/>
            <a:r>
              <a:rPr lang="zh-CN" altLang="en-US" sz="1600"/>
              <a:t>松开</a:t>
            </a:r>
            <a:r>
              <a:rPr lang="en-US" altLang="zh-CN" sz="1600"/>
              <a:t>KEY2</a:t>
            </a:r>
            <a:endParaRPr lang="en-US" altLang="zh-CN" sz="1600"/>
          </a:p>
        </p:txBody>
      </p:sp>
      <p:graphicFrame>
        <p:nvGraphicFramePr>
          <p:cNvPr id="4" name="表格 3"/>
          <p:cNvGraphicFramePr/>
          <p:nvPr>
            <p:custDataLst>
              <p:tags r:id="rId3"/>
            </p:custDataLst>
          </p:nvPr>
        </p:nvGraphicFramePr>
        <p:xfrm>
          <a:off x="215900" y="3180715"/>
          <a:ext cx="2408555" cy="1645920"/>
        </p:xfrm>
        <a:graphic>
          <a:graphicData uri="http://schemas.openxmlformats.org/drawingml/2006/table">
            <a:tbl>
              <a:tblPr firstRow="1" bandRow="1">
                <a:tableStyleId>{5C22544A-7EE6-4342-B048-85BDC9FD1C3A}</a:tableStyleId>
              </a:tblPr>
              <a:tblGrid>
                <a:gridCol w="586740"/>
                <a:gridCol w="920750"/>
                <a:gridCol w="901065"/>
              </a:tblGrid>
              <a:tr h="274320">
                <a:tc>
                  <a:txBody>
                    <a:bodyPr/>
                    <a:p>
                      <a:pPr algn="ctr">
                        <a:buNone/>
                      </a:pPr>
                      <a:r>
                        <a:rPr lang="zh-CN" altLang="en-US" sz="1200"/>
                        <a:t>按键</a:t>
                      </a:r>
                      <a:endParaRPr lang="zh-CN" altLang="en-US" sz="1200"/>
                    </a:p>
                  </a:txBody>
                  <a:tcPr anchor="ctr" anchorCtr="0"/>
                </a:tc>
                <a:tc>
                  <a:txBody>
                    <a:bodyPr/>
                    <a:p>
                      <a:pPr algn="ctr">
                        <a:buNone/>
                      </a:pPr>
                      <a:r>
                        <a:rPr lang="zh-CN" altLang="en-US" sz="1200"/>
                        <a:t>功能</a:t>
                      </a:r>
                      <a:endParaRPr lang="zh-CN" altLang="en-US" sz="1200"/>
                    </a:p>
                  </a:txBody>
                  <a:tcPr anchor="ctr" anchorCtr="0"/>
                </a:tc>
                <a:tc>
                  <a:txBody>
                    <a:bodyPr/>
                    <a:p>
                      <a:pPr algn="ctr">
                        <a:buNone/>
                      </a:pPr>
                      <a:r>
                        <a:rPr lang="en-US" altLang="zh-CN" sz="1200"/>
                        <a:t>Usage ID</a:t>
                      </a:r>
                      <a:endParaRPr lang="en-US" altLang="zh-CN" sz="1200"/>
                    </a:p>
                  </a:txBody>
                  <a:tcPr anchor="ctr" anchorCtr="0"/>
                </a:tc>
              </a:tr>
              <a:tr h="274320">
                <a:tc>
                  <a:txBody>
                    <a:bodyPr/>
                    <a:p>
                      <a:pPr algn="ctr">
                        <a:buNone/>
                      </a:pPr>
                      <a:r>
                        <a:rPr lang="en-US" altLang="zh-CN" sz="1200">
                          <a:latin typeface="Times New Roman" panose="02020603050405020304" charset="0"/>
                          <a:cs typeface="Times New Roman" panose="02020603050405020304" charset="0"/>
                        </a:rPr>
                        <a:t>KEY0</a:t>
                      </a:r>
                      <a:endParaRPr lang="en-US" altLang="zh-CN" sz="1200">
                        <a:latin typeface="Times New Roman" panose="02020603050405020304" charset="0"/>
                        <a:cs typeface="Times New Roman" panose="02020603050405020304" charset="0"/>
                      </a:endParaRPr>
                    </a:p>
                  </a:txBody>
                  <a:tcPr anchor="ctr" anchorCtr="0"/>
                </a:tc>
                <a:tc>
                  <a:txBody>
                    <a:bodyPr/>
                    <a:p>
                      <a:pPr algn="ctr">
                        <a:buNone/>
                      </a:pPr>
                      <a:r>
                        <a:rPr lang="en-US" altLang="zh-CN" sz="1200">
                          <a:latin typeface="Times New Roman" panose="02020603050405020304" charset="0"/>
                          <a:cs typeface="Times New Roman" panose="02020603050405020304" charset="0"/>
                        </a:rPr>
                        <a:t>Shift</a:t>
                      </a:r>
                      <a:r>
                        <a:rPr lang="zh-CN" altLang="en-US" sz="1200">
                          <a:latin typeface="宋体" panose="02010600030101010101" pitchFamily="2" charset="-122"/>
                          <a:ea typeface="宋体" panose="02010600030101010101" pitchFamily="2" charset="-122"/>
                        </a:rPr>
                        <a:t>键</a:t>
                      </a:r>
                      <a:r>
                        <a:rPr lang="en-US" altLang="zh-CN" sz="1200"/>
                        <a:t>(</a:t>
                      </a:r>
                      <a:r>
                        <a:rPr lang="zh-CN" altLang="en-US" sz="1200">
                          <a:latin typeface="宋体" panose="02010600030101010101" pitchFamily="2" charset="-122"/>
                          <a:ea typeface="宋体" panose="02010600030101010101" pitchFamily="2" charset="-122"/>
                        </a:rPr>
                        <a:t>左</a:t>
                      </a:r>
                      <a:r>
                        <a:rPr lang="en-US" altLang="zh-CN" sz="1200"/>
                        <a:t>)</a:t>
                      </a:r>
                      <a:endParaRPr lang="en-US" altLang="zh-CN" sz="1200"/>
                    </a:p>
                  </a:txBody>
                  <a:tcPr anchor="ctr" anchorCtr="0"/>
                </a:tc>
                <a:tc>
                  <a:txBody>
                    <a:bodyPr/>
                    <a:p>
                      <a:pPr algn="ctr">
                        <a:buNone/>
                      </a:pPr>
                      <a:r>
                        <a:rPr lang="en-US" altLang="zh-CN" sz="1200">
                          <a:latin typeface="Times New Roman" panose="02020603050405020304" charset="0"/>
                          <a:cs typeface="Times New Roman" panose="02020603050405020304" charset="0"/>
                        </a:rPr>
                        <a:t>0x02</a:t>
                      </a:r>
                      <a:endParaRPr lang="en-US" altLang="zh-CN" sz="1200">
                        <a:latin typeface="Times New Roman" panose="02020603050405020304" charset="0"/>
                        <a:cs typeface="Times New Roman" panose="02020603050405020304" charset="0"/>
                      </a:endParaRPr>
                    </a:p>
                  </a:txBody>
                  <a:tcPr anchor="ctr" anchorCtr="0"/>
                </a:tc>
              </a:tr>
              <a:tr h="274320">
                <a:tc>
                  <a:txBody>
                    <a:bodyPr/>
                    <a:p>
                      <a:pPr algn="ctr">
                        <a:buNone/>
                      </a:pPr>
                      <a:r>
                        <a:rPr lang="en-US" altLang="zh-CN" sz="1200">
                          <a:latin typeface="Times New Roman" panose="02020603050405020304" charset="0"/>
                          <a:cs typeface="Times New Roman" panose="02020603050405020304" charset="0"/>
                        </a:rPr>
                        <a:t>KEY1</a:t>
                      </a:r>
                      <a:endParaRPr lang="en-US" altLang="zh-CN" sz="1200">
                        <a:latin typeface="Times New Roman" panose="02020603050405020304" charset="0"/>
                        <a:cs typeface="Times New Roman" panose="02020603050405020304" charset="0"/>
                      </a:endParaRPr>
                    </a:p>
                  </a:txBody>
                  <a:tcPr anchor="ctr" anchorCtr="0"/>
                </a:tc>
                <a:tc>
                  <a:txBody>
                    <a:bodyPr/>
                    <a:p>
                      <a:pPr algn="ctr">
                        <a:buNone/>
                      </a:pPr>
                      <a:r>
                        <a:rPr lang="en-US" altLang="zh-CN" sz="1200">
                          <a:latin typeface="Times New Roman" panose="02020603050405020304" charset="0"/>
                          <a:cs typeface="Times New Roman" panose="02020603050405020304" charset="0"/>
                        </a:rPr>
                        <a:t>1</a:t>
                      </a:r>
                      <a:r>
                        <a:rPr lang="zh-CN" altLang="en-US" sz="1200">
                          <a:latin typeface="宋体" panose="02010600030101010101" pitchFamily="2" charset="-122"/>
                          <a:ea typeface="宋体" panose="02010600030101010101" pitchFamily="2" charset="-122"/>
                        </a:rPr>
                        <a:t>键</a:t>
                      </a:r>
                      <a:endParaRPr lang="zh-CN" altLang="en-US" sz="1200">
                        <a:latin typeface="宋体" panose="02010600030101010101" pitchFamily="2" charset="-122"/>
                        <a:ea typeface="宋体" panose="02010600030101010101" pitchFamily="2" charset="-122"/>
                      </a:endParaRPr>
                    </a:p>
                  </a:txBody>
                  <a:tcPr anchor="ctr" anchorCtr="0"/>
                </a:tc>
                <a:tc>
                  <a:txBody>
                    <a:bodyPr/>
                    <a:p>
                      <a:pPr algn="ctr">
                        <a:buNone/>
                      </a:pPr>
                      <a:r>
                        <a:rPr lang="en-US" altLang="zh-CN" sz="1200">
                          <a:latin typeface="Times New Roman" panose="02020603050405020304" charset="0"/>
                          <a:cs typeface="Times New Roman" panose="02020603050405020304" charset="0"/>
                        </a:rPr>
                        <a:t>0x1E</a:t>
                      </a:r>
                      <a:endParaRPr lang="en-US" altLang="zh-CN" sz="1200">
                        <a:latin typeface="Times New Roman" panose="02020603050405020304" charset="0"/>
                        <a:cs typeface="Times New Roman" panose="02020603050405020304" charset="0"/>
                      </a:endParaRPr>
                    </a:p>
                  </a:txBody>
                  <a:tcPr anchor="ctr" anchorCtr="0"/>
                </a:tc>
              </a:tr>
              <a:tr h="274320">
                <a:tc>
                  <a:txBody>
                    <a:bodyPr/>
                    <a:p>
                      <a:pPr algn="ctr">
                        <a:buNone/>
                      </a:pPr>
                      <a:r>
                        <a:rPr lang="en-US" altLang="zh-CN" sz="1200">
                          <a:latin typeface="Times New Roman" panose="02020603050405020304" charset="0"/>
                          <a:cs typeface="Times New Roman" panose="02020603050405020304" charset="0"/>
                        </a:rPr>
                        <a:t>KEY2</a:t>
                      </a:r>
                      <a:endParaRPr lang="en-US" altLang="zh-CN" sz="1200">
                        <a:latin typeface="Times New Roman" panose="02020603050405020304" charset="0"/>
                        <a:cs typeface="Times New Roman" panose="02020603050405020304" charset="0"/>
                      </a:endParaRPr>
                    </a:p>
                  </a:txBody>
                  <a:tcPr anchor="ctr" anchorCtr="0"/>
                </a:tc>
                <a:tc>
                  <a:txBody>
                    <a:bodyPr/>
                    <a:p>
                      <a:pPr algn="ctr">
                        <a:buClrTx/>
                        <a:buSzTx/>
                        <a:buFontTx/>
                        <a:buNone/>
                      </a:pPr>
                      <a:r>
                        <a:rPr lang="en-US" altLang="zh-CN" sz="1200">
                          <a:latin typeface="Times New Roman" panose="02020603050405020304" charset="0"/>
                          <a:cs typeface="Times New Roman" panose="02020603050405020304" charset="0"/>
                        </a:rPr>
                        <a:t>A</a:t>
                      </a:r>
                      <a:r>
                        <a:rPr lang="en-US" altLang="zh-CN" sz="1200">
                          <a:latin typeface="宋体" panose="02010600030101010101" pitchFamily="2" charset="-122"/>
                          <a:ea typeface="宋体" panose="02010600030101010101" pitchFamily="2" charset="-122"/>
                          <a:cs typeface="Times New Roman" panose="02020603050405020304" charset="0"/>
                        </a:rPr>
                        <a:t>键</a:t>
                      </a:r>
                      <a:endParaRPr lang="en-US" altLang="zh-CN" sz="1200">
                        <a:latin typeface="宋体" panose="02010600030101010101" pitchFamily="2" charset="-122"/>
                        <a:ea typeface="宋体" panose="02010600030101010101" pitchFamily="2" charset="-122"/>
                        <a:cs typeface="Times New Roman" panose="02020603050405020304" charset="0"/>
                      </a:endParaRPr>
                    </a:p>
                  </a:txBody>
                  <a:tcPr anchor="ctr" anchorCtr="0"/>
                </a:tc>
                <a:tc>
                  <a:txBody>
                    <a:bodyPr/>
                    <a:p>
                      <a:pPr algn="ctr">
                        <a:buNone/>
                      </a:pPr>
                      <a:r>
                        <a:rPr lang="en-US" altLang="zh-CN" sz="1200">
                          <a:latin typeface="Times New Roman" panose="02020603050405020304" charset="0"/>
                          <a:cs typeface="Times New Roman" panose="02020603050405020304" charset="0"/>
                        </a:rPr>
                        <a:t>0x04</a:t>
                      </a:r>
                      <a:endParaRPr lang="en-US" altLang="zh-CN" sz="1200">
                        <a:latin typeface="Times New Roman" panose="02020603050405020304" charset="0"/>
                        <a:cs typeface="Times New Roman" panose="02020603050405020304" charset="0"/>
                      </a:endParaRPr>
                    </a:p>
                  </a:txBody>
                  <a:tcPr anchor="ctr" anchorCtr="0"/>
                </a:tc>
              </a:tr>
              <a:tr h="274320">
                <a:tc>
                  <a:txBody>
                    <a:bodyPr/>
                    <a:p>
                      <a:pPr algn="ctr">
                        <a:buNone/>
                      </a:pPr>
                      <a:r>
                        <a:rPr lang="en-US" altLang="zh-CN" sz="1200">
                          <a:latin typeface="Times New Roman" panose="02020603050405020304" charset="0"/>
                          <a:cs typeface="Times New Roman" panose="02020603050405020304" charset="0"/>
                        </a:rPr>
                        <a:t>KEY3</a:t>
                      </a:r>
                      <a:endParaRPr lang="en-US" altLang="zh-CN" sz="1200">
                        <a:latin typeface="Times New Roman" panose="02020603050405020304" charset="0"/>
                        <a:cs typeface="Times New Roman" panose="02020603050405020304" charset="0"/>
                      </a:endParaRPr>
                    </a:p>
                  </a:txBody>
                  <a:tcPr anchor="ctr" anchorCtr="0"/>
                </a:tc>
                <a:tc>
                  <a:txBody>
                    <a:bodyPr/>
                    <a:p>
                      <a:pPr algn="ctr">
                        <a:buNone/>
                      </a:pPr>
                      <a:r>
                        <a:rPr lang="en-US" altLang="zh-CN" sz="1200">
                          <a:latin typeface="Times New Roman" panose="02020603050405020304" charset="0"/>
                          <a:cs typeface="Times New Roman" panose="02020603050405020304" charset="0"/>
                        </a:rPr>
                        <a:t>B</a:t>
                      </a:r>
                      <a:r>
                        <a:rPr lang="zh-CN" altLang="en-US" sz="1200">
                          <a:latin typeface="宋体" panose="02010600030101010101" pitchFamily="2" charset="-122"/>
                          <a:ea typeface="宋体" panose="02010600030101010101" pitchFamily="2" charset="-122"/>
                        </a:rPr>
                        <a:t>键</a:t>
                      </a:r>
                      <a:endParaRPr lang="zh-CN" altLang="en-US" sz="1200">
                        <a:latin typeface="宋体" panose="02010600030101010101" pitchFamily="2" charset="-122"/>
                        <a:ea typeface="宋体" panose="02010600030101010101" pitchFamily="2" charset="-122"/>
                      </a:endParaRPr>
                    </a:p>
                  </a:txBody>
                  <a:tcPr anchor="ctr" anchorCtr="0"/>
                </a:tc>
                <a:tc>
                  <a:txBody>
                    <a:bodyPr/>
                    <a:p>
                      <a:pPr algn="ctr">
                        <a:buNone/>
                      </a:pPr>
                      <a:r>
                        <a:rPr lang="en-US" altLang="zh-CN" sz="1200">
                          <a:latin typeface="Times New Roman" panose="02020603050405020304" charset="0"/>
                          <a:cs typeface="Times New Roman" panose="02020603050405020304" charset="0"/>
                        </a:rPr>
                        <a:t>0x05</a:t>
                      </a:r>
                      <a:endParaRPr lang="en-US" altLang="zh-CN" sz="1200">
                        <a:latin typeface="Times New Roman" panose="02020603050405020304" charset="0"/>
                        <a:cs typeface="Times New Roman" panose="02020603050405020304" charset="0"/>
                      </a:endParaRPr>
                    </a:p>
                  </a:txBody>
                  <a:tcPr anchor="ctr" anchorCtr="0"/>
                </a:tc>
              </a:tr>
              <a:tr h="274320">
                <a:tc>
                  <a:txBody>
                    <a:bodyPr/>
                    <a:p>
                      <a:pPr algn="ctr">
                        <a:buNone/>
                      </a:pPr>
                      <a:r>
                        <a:rPr lang="en-US" altLang="zh-CN" sz="1200">
                          <a:latin typeface="Times New Roman" panose="02020603050405020304" charset="0"/>
                          <a:cs typeface="Times New Roman" panose="02020603050405020304" charset="0"/>
                        </a:rPr>
                        <a:t>KET4</a:t>
                      </a:r>
                      <a:endParaRPr lang="en-US" altLang="zh-CN" sz="1200">
                        <a:latin typeface="Times New Roman" panose="02020603050405020304" charset="0"/>
                        <a:cs typeface="Times New Roman" panose="02020603050405020304" charset="0"/>
                      </a:endParaRPr>
                    </a:p>
                  </a:txBody>
                  <a:tcPr anchor="ctr" anchorCtr="0"/>
                </a:tc>
                <a:tc>
                  <a:txBody>
                    <a:bodyPr/>
                    <a:p>
                      <a:pPr algn="ctr">
                        <a:buNone/>
                      </a:pPr>
                      <a:r>
                        <a:rPr lang="en-US" altLang="zh-CN" sz="1200">
                          <a:latin typeface="Times New Roman" panose="02020603050405020304" charset="0"/>
                          <a:cs typeface="Times New Roman" panose="02020603050405020304" charset="0"/>
                        </a:rPr>
                        <a:t>C</a:t>
                      </a:r>
                      <a:r>
                        <a:rPr lang="zh-CN" altLang="en-US" sz="1200">
                          <a:latin typeface="宋体" panose="02010600030101010101" pitchFamily="2" charset="-122"/>
                          <a:ea typeface="宋体" panose="02010600030101010101" pitchFamily="2" charset="-122"/>
                        </a:rPr>
                        <a:t>键</a:t>
                      </a:r>
                      <a:endParaRPr lang="zh-CN" altLang="en-US" sz="1200">
                        <a:latin typeface="宋体" panose="02010600030101010101" pitchFamily="2" charset="-122"/>
                        <a:ea typeface="宋体" panose="02010600030101010101" pitchFamily="2" charset="-122"/>
                      </a:endParaRPr>
                    </a:p>
                  </a:txBody>
                  <a:tcPr anchor="ctr" anchorCtr="0"/>
                </a:tc>
                <a:tc>
                  <a:txBody>
                    <a:bodyPr/>
                    <a:p>
                      <a:pPr algn="ctr">
                        <a:buNone/>
                      </a:pPr>
                      <a:r>
                        <a:rPr lang="en-US" altLang="zh-CN" sz="1200">
                          <a:latin typeface="Times New Roman" panose="02020603050405020304" charset="0"/>
                          <a:cs typeface="Times New Roman" panose="02020603050405020304" charset="0"/>
                        </a:rPr>
                        <a:t>0x06</a:t>
                      </a:r>
                      <a:endParaRPr lang="en-US" altLang="zh-CN" sz="1200">
                        <a:latin typeface="Times New Roman" panose="02020603050405020304" charset="0"/>
                        <a:cs typeface="Times New Roman" panose="02020603050405020304" charset="0"/>
                      </a:endParaRPr>
                    </a:p>
                  </a:txBody>
                  <a:tcPr anchor="ctr" anchorCtr="0"/>
                </a:tc>
              </a:tr>
            </a:tbl>
          </a:graphicData>
        </a:graphic>
      </p:graphicFrame>
      <p:cxnSp>
        <p:nvCxnSpPr>
          <p:cNvPr id="28" name="直接箭头连接符 27"/>
          <p:cNvCxnSpPr>
            <a:endCxn id="27" idx="1"/>
          </p:cNvCxnSpPr>
          <p:nvPr/>
        </p:nvCxnSpPr>
        <p:spPr>
          <a:xfrm>
            <a:off x="2032635" y="2887345"/>
            <a:ext cx="978535" cy="62738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Q&amp;A</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28905" y="859155"/>
            <a:ext cx="7985760" cy="645160"/>
          </a:xfrm>
          <a:prstGeom prst="rect">
            <a:avLst/>
          </a:prstGeom>
          <a:noFill/>
        </p:spPr>
        <p:txBody>
          <a:bodyPr wrap="square" rtlCol="0">
            <a:spAutoFit/>
          </a:bodyPr>
          <a:p>
            <a:r>
              <a:rPr lang="en-US" altLang="zh-CN"/>
              <a:t>1</a:t>
            </a:r>
            <a:r>
              <a:rPr lang="zh-CN" altLang="en-US"/>
              <a:t>、键盘实验中，只能在手机上实现，无法在电脑上实现，是跟哪些参数设置有关</a:t>
            </a:r>
            <a:r>
              <a:rPr lang="zh-CN" altLang="en-US"/>
              <a:t>吗？</a:t>
            </a:r>
            <a:endParaRPr lang="zh-CN" altLang="en-US"/>
          </a:p>
        </p:txBody>
      </p:sp>
      <p:sp>
        <p:nvSpPr>
          <p:cNvPr id="3" name="文本框 2"/>
          <p:cNvSpPr txBox="1"/>
          <p:nvPr/>
        </p:nvSpPr>
        <p:spPr>
          <a:xfrm>
            <a:off x="128905" y="1633855"/>
            <a:ext cx="7578725" cy="368300"/>
          </a:xfrm>
          <a:prstGeom prst="rect">
            <a:avLst/>
          </a:prstGeom>
          <a:noFill/>
        </p:spPr>
        <p:txBody>
          <a:bodyPr wrap="square" rtlCol="0">
            <a:spAutoFit/>
          </a:bodyPr>
          <a:p>
            <a:r>
              <a:rPr lang="en-US" altLang="zh-CN"/>
              <a:t>2</a:t>
            </a:r>
            <a:r>
              <a:rPr lang="zh-CN" altLang="en-US"/>
              <a:t>、无法与电脑保持稳定的连接，时常在连接和断连状态来回</a:t>
            </a:r>
            <a:r>
              <a:rPr lang="zh-CN" altLang="en-US"/>
              <a:t>切换？</a:t>
            </a:r>
            <a:endParaRPr lang="zh-CN" altLang="en-US"/>
          </a:p>
        </p:txBody>
      </p:sp>
      <p:sp>
        <p:nvSpPr>
          <p:cNvPr id="4" name="文本框 3"/>
          <p:cNvSpPr txBox="1"/>
          <p:nvPr/>
        </p:nvSpPr>
        <p:spPr>
          <a:xfrm>
            <a:off x="128905" y="2203450"/>
            <a:ext cx="6466840" cy="368300"/>
          </a:xfrm>
          <a:prstGeom prst="rect">
            <a:avLst/>
          </a:prstGeom>
          <a:noFill/>
        </p:spPr>
        <p:txBody>
          <a:bodyPr wrap="square" rtlCol="0">
            <a:spAutoFit/>
          </a:bodyPr>
          <a:p>
            <a:r>
              <a:rPr lang="en-US" altLang="zh-CN"/>
              <a:t>3</a:t>
            </a:r>
            <a:r>
              <a:rPr lang="zh-CN" altLang="en-US"/>
              <a:t>、</a:t>
            </a:r>
            <a:r>
              <a:rPr lang="en-US" altLang="zh-CN"/>
              <a:t>SDK</a:t>
            </a:r>
            <a:r>
              <a:rPr lang="zh-CN" altLang="en-US"/>
              <a:t>中，</a:t>
            </a:r>
            <a:r>
              <a:rPr lang="en-US" altLang="zh-CN"/>
              <a:t>SMP</a:t>
            </a:r>
            <a:r>
              <a:rPr lang="zh-CN" altLang="en-US"/>
              <a:t>中关于</a:t>
            </a:r>
            <a:r>
              <a:rPr lang="en-US" altLang="zh-CN"/>
              <a:t>AuthReq</a:t>
            </a:r>
            <a:r>
              <a:rPr lang="zh-CN" altLang="en-US"/>
              <a:t>字段的配置</a:t>
            </a:r>
            <a:r>
              <a:rPr lang="zh-CN" altLang="en-US"/>
              <a:t>函数？</a:t>
            </a: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a:t>
            </a:r>
            <a:r>
              <a:rPr lang="zh-CN" altLang="en-US" sz="2400" b="1" spc="-38" dirty="0">
                <a:solidFill>
                  <a:srgbClr val="3D5663"/>
                </a:solidFill>
                <a:latin typeface="Calibri" panose="020F0502020204030204" pitchFamily="34" charset="0"/>
                <a:cs typeface="Calibri" panose="020F0502020204030204" pitchFamily="34" charset="0"/>
              </a:rPr>
              <a:t>引用</a:t>
            </a:r>
            <a:r>
              <a:rPr lang="zh-CN" altLang="en-US" sz="2400" b="1" spc="-38" dirty="0">
                <a:solidFill>
                  <a:srgbClr val="3D5663"/>
                </a:solidFill>
                <a:latin typeface="Calibri" panose="020F0502020204030204" pitchFamily="34" charset="0"/>
                <a:cs typeface="Calibri" panose="020F0502020204030204" pitchFamily="34" charset="0"/>
              </a:rPr>
              <a:t>素材</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96850" y="675640"/>
            <a:ext cx="6562725" cy="2416175"/>
          </a:xfrm>
          <a:prstGeom prst="rect">
            <a:avLst/>
          </a:prstGeom>
          <a:noFill/>
        </p:spPr>
        <p:txBody>
          <a:bodyPr wrap="square" rtlCol="0">
            <a:spAutoFit/>
          </a:bodyPr>
          <a:p>
            <a:pPr>
              <a:lnSpc>
                <a:spcPct val="120000"/>
              </a:lnSpc>
            </a:pPr>
            <a:r>
              <a:rPr lang="en-US" altLang="zh-CN">
                <a:latin typeface="Times New Roman" panose="02020603050405020304" charset="0"/>
                <a:cs typeface="Times New Roman" panose="02020603050405020304" charset="0"/>
              </a:rPr>
              <a:t>[1]ble_Core_amended_2024_06_11_v5.4[PDF].</a:t>
            </a:r>
            <a:endParaRPr lang="en-US" altLang="zh-CN">
              <a:latin typeface="Times New Roman" panose="02020603050405020304" charset="0"/>
              <a:cs typeface="Times New Roman" panose="02020603050405020304" charset="0"/>
            </a:endParaRPr>
          </a:p>
          <a:p>
            <a:pPr>
              <a:lnSpc>
                <a:spcPct val="120000"/>
              </a:lnSpc>
            </a:pPr>
            <a:r>
              <a:rPr lang="en-US" altLang="zh-CN">
                <a:latin typeface="Times New Roman" panose="02020603050405020304" charset="0"/>
                <a:cs typeface="Times New Roman" panose="02020603050405020304" charset="0"/>
              </a:rPr>
              <a:t>[2]HOGP_SPEC_V10[PDF].</a:t>
            </a:r>
            <a:endParaRPr lang="en-US" altLang="zh-CN">
              <a:latin typeface="Times New Roman" panose="02020603050405020304" charset="0"/>
              <a:cs typeface="Times New Roman" panose="02020603050405020304" charset="0"/>
            </a:endParaRPr>
          </a:p>
          <a:p>
            <a:pPr>
              <a:lnSpc>
                <a:spcPct val="120000"/>
              </a:lnSpc>
            </a:pPr>
            <a:r>
              <a:rPr lang="en-US" altLang="zh-CN">
                <a:latin typeface="Times New Roman" panose="02020603050405020304" charset="0"/>
                <a:cs typeface="Times New Roman" panose="02020603050405020304" charset="0"/>
              </a:rPr>
              <a:t>[3]HID_SPEC_V10[PDF].</a:t>
            </a:r>
            <a:endParaRPr lang="en-US" altLang="zh-CN">
              <a:latin typeface="Times New Roman" panose="02020603050405020304" charset="0"/>
              <a:cs typeface="Times New Roman" panose="02020603050405020304" charset="0"/>
            </a:endParaRPr>
          </a:p>
          <a:p>
            <a:pPr>
              <a:lnSpc>
                <a:spcPct val="120000"/>
              </a:lnSpc>
            </a:pPr>
            <a:r>
              <a:rPr lang="en-US" altLang="zh-CN">
                <a:latin typeface="Times New Roman" panose="02020603050405020304" charset="0"/>
                <a:cs typeface="Times New Roman" panose="02020603050405020304" charset="0"/>
              </a:rPr>
              <a:t>[4]hid1_11[PDF].</a:t>
            </a:r>
            <a:endParaRPr lang="en-US" altLang="zh-CN">
              <a:latin typeface="Times New Roman" panose="02020603050405020304" charset="0"/>
              <a:cs typeface="Times New Roman" panose="02020603050405020304" charset="0"/>
            </a:endParaRPr>
          </a:p>
          <a:p>
            <a:pPr>
              <a:lnSpc>
                <a:spcPct val="120000"/>
              </a:lnSpc>
            </a:pPr>
            <a:r>
              <a:rPr lang="en-US" altLang="zh-CN">
                <a:latin typeface="Times New Roman" panose="02020603050405020304" charset="0"/>
                <a:cs typeface="Times New Roman" panose="02020603050405020304" charset="0"/>
              </a:rPr>
              <a:t>[5]HID Usages and Descriptions[PDF]</a:t>
            </a:r>
            <a:endParaRPr lang="en-US" altLang="zh-CN">
              <a:latin typeface="Times New Roman" panose="02020603050405020304" charset="0"/>
              <a:cs typeface="Times New Roman" panose="02020603050405020304" charset="0"/>
            </a:endParaRPr>
          </a:p>
          <a:p>
            <a:pPr>
              <a:lnSpc>
                <a:spcPct val="120000"/>
              </a:lnSpc>
            </a:pPr>
            <a:r>
              <a:rPr lang="en-US" altLang="zh-CN">
                <a:latin typeface="Times New Roman" panose="02020603050405020304" charset="0"/>
                <a:cs typeface="Times New Roman" panose="02020603050405020304" charset="0"/>
              </a:rPr>
              <a:t>[6]HEYDON R.</a:t>
            </a:r>
            <a:r>
              <a:rPr lang="zh-CN" altLang="en-US">
                <a:latin typeface="宋体" panose="02010600030101010101" pitchFamily="2" charset="-122"/>
                <a:ea typeface="宋体" panose="02010600030101010101" pitchFamily="2" charset="-122"/>
              </a:rPr>
              <a:t>低功耗蓝牙权威指南</a:t>
            </a:r>
            <a:r>
              <a:rPr lang="en-US" altLang="zh-CN">
                <a:latin typeface="Times New Roman" panose="02020603050405020304" charset="0"/>
                <a:cs typeface="Times New Roman" panose="02020603050405020304" charset="0"/>
              </a:rPr>
              <a:t>[M].</a:t>
            </a:r>
            <a:r>
              <a:rPr lang="zh-CN" altLang="en-US">
                <a:latin typeface="宋体" panose="02010600030101010101" pitchFamily="2" charset="-122"/>
                <a:ea typeface="宋体" panose="02010600030101010101" pitchFamily="2" charset="-122"/>
              </a:rPr>
              <a:t>陈灿峰</a:t>
            </a:r>
            <a:r>
              <a:rPr lang="en-US" altLang="zh-CN">
                <a:latin typeface="Times New Roman" panose="02020603050405020304" charset="0"/>
                <a:cs typeface="Times New Roman" panose="02020603050405020304" charset="0"/>
              </a:rPr>
              <a:t>,</a:t>
            </a:r>
            <a:r>
              <a:rPr lang="zh-CN" altLang="en-US">
                <a:latin typeface="宋体" panose="02010600030101010101" pitchFamily="2" charset="-122"/>
                <a:ea typeface="宋体" panose="02010600030101010101" pitchFamily="2" charset="-122"/>
              </a:rPr>
              <a:t>刘嘉</a:t>
            </a:r>
            <a:r>
              <a:rPr lang="en-US" altLang="zh-CN">
                <a:latin typeface="Times New Roman" panose="02020603050405020304" charset="0"/>
                <a:cs typeface="Times New Roman" panose="02020603050405020304" charset="0"/>
              </a:rPr>
              <a:t>,</a:t>
            </a:r>
            <a:r>
              <a:rPr lang="zh-CN" altLang="en-US">
                <a:latin typeface="宋体" panose="02010600030101010101" pitchFamily="2" charset="-122"/>
                <a:ea typeface="宋体" panose="02010600030101010101" pitchFamily="2" charset="-122"/>
              </a:rPr>
              <a:t>译</a:t>
            </a:r>
            <a:r>
              <a:rPr lang="en-US" altLang="zh-CN">
                <a:latin typeface="Times New Roman" panose="02020603050405020304" charset="0"/>
                <a:cs typeface="Times New Roman" panose="02020603050405020304" charset="0"/>
              </a:rPr>
              <a:t>.</a:t>
            </a:r>
            <a:r>
              <a:rPr lang="zh-CN" altLang="en-US">
                <a:latin typeface="宋体" panose="02010600030101010101" pitchFamily="2" charset="-122"/>
                <a:ea typeface="宋体" panose="02010600030101010101" pitchFamily="2" charset="-122"/>
              </a:rPr>
              <a:t>北京</a:t>
            </a:r>
            <a:r>
              <a:rPr lang="en-US" altLang="zh-CN">
                <a:latin typeface="Times New Roman" panose="02020603050405020304" charset="0"/>
                <a:cs typeface="Times New Roman" panose="02020603050405020304" charset="0"/>
              </a:rPr>
              <a:t>:</a:t>
            </a:r>
            <a:r>
              <a:rPr lang="zh-CN" altLang="en-US">
                <a:latin typeface="宋体" panose="02010600030101010101" pitchFamily="2" charset="-122"/>
                <a:ea typeface="宋体" panose="02010600030101010101" pitchFamily="2" charset="-122"/>
              </a:rPr>
              <a:t>机械工业出版社</a:t>
            </a:r>
            <a:r>
              <a:rPr lang="en-US" altLang="zh-CN">
                <a:latin typeface="Times New Roman" panose="02020603050405020304" charset="0"/>
                <a:cs typeface="Times New Roman" panose="02020603050405020304" charset="0"/>
              </a:rPr>
              <a:t>,2014.</a:t>
            </a: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150186" y="11929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a:t>
            </a:r>
            <a:r>
              <a:rPr lang="zh-CN" altLang="en-US" sz="2400" b="1" spc="-38" dirty="0">
                <a:solidFill>
                  <a:srgbClr val="3D5663"/>
                </a:solidFill>
                <a:latin typeface="Calibri" panose="020F0502020204030204" pitchFamily="34" charset="0"/>
                <a:cs typeface="Calibri" panose="020F0502020204030204" pitchFamily="34" charset="0"/>
              </a:rPr>
              <a:t>补充</a:t>
            </a:r>
            <a:r>
              <a:rPr lang="en-US" altLang="zh-CN" sz="2400" b="1" spc="-38" dirty="0">
                <a:solidFill>
                  <a:srgbClr val="3D5663"/>
                </a:solidFill>
                <a:latin typeface="Calibri" panose="020F0502020204030204" pitchFamily="34" charset="0"/>
                <a:cs typeface="Calibri" panose="020F0502020204030204" pitchFamily="34" charset="0"/>
              </a:rPr>
              <a:t>1</a:t>
            </a:r>
            <a:endParaRPr lang="en-US" altLang="zh-CN"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649605"/>
            <a:ext cx="6671945" cy="368300"/>
          </a:xfrm>
          <a:prstGeom prst="rect">
            <a:avLst/>
          </a:prstGeom>
          <a:noFill/>
        </p:spPr>
        <p:txBody>
          <a:bodyPr wrap="square" rtlCol="0">
            <a:spAutoFit/>
          </a:bodyPr>
          <a:p>
            <a:r>
              <a:rPr lang="en-US" altLang="zh-CN"/>
              <a:t>GAP</a:t>
            </a:r>
            <a:r>
              <a:rPr lang="zh-CN" altLang="en-US"/>
              <a:t>的安全模式</a:t>
            </a:r>
            <a:r>
              <a:rPr lang="en-US" altLang="zh-CN"/>
              <a:t>(</a:t>
            </a:r>
            <a:r>
              <a:rPr lang="zh-CN" altLang="en-US"/>
              <a:t>数据签名</a:t>
            </a:r>
            <a:r>
              <a:rPr lang="en-US" altLang="zh-CN"/>
              <a:t>)</a:t>
            </a:r>
            <a:r>
              <a:rPr lang="zh-CN" altLang="en-US"/>
              <a:t>的具体工作流程、原理、</a:t>
            </a:r>
            <a:r>
              <a:rPr lang="zh-CN" altLang="en-US"/>
              <a:t>作用</a:t>
            </a:r>
            <a:endParaRPr lang="zh-CN" altLang="en-US"/>
          </a:p>
        </p:txBody>
      </p:sp>
      <p:pic>
        <p:nvPicPr>
          <p:cNvPr id="4" name="图片 3"/>
          <p:cNvPicPr>
            <a:picLocks noChangeAspect="1"/>
          </p:cNvPicPr>
          <p:nvPr/>
        </p:nvPicPr>
        <p:blipFill>
          <a:blip r:embed="rId1"/>
          <a:stretch>
            <a:fillRect/>
          </a:stretch>
        </p:blipFill>
        <p:spPr>
          <a:xfrm>
            <a:off x="215900" y="1357630"/>
            <a:ext cx="4196080" cy="2678430"/>
          </a:xfrm>
          <a:prstGeom prst="rect">
            <a:avLst/>
          </a:prstGeom>
        </p:spPr>
      </p:pic>
      <p:cxnSp>
        <p:nvCxnSpPr>
          <p:cNvPr id="8" name="直接箭头连接符 7"/>
          <p:cNvCxnSpPr/>
          <p:nvPr/>
        </p:nvCxnSpPr>
        <p:spPr>
          <a:xfrm flipH="1">
            <a:off x="355600" y="3194685"/>
            <a:ext cx="628015" cy="10483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50495" y="4243070"/>
            <a:ext cx="4257040" cy="521970"/>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cs typeface="宋体" panose="02010600030101010101" pitchFamily="2" charset="-122"/>
              </a:rPr>
              <a:t>交换密钥中会有一个</a:t>
            </a:r>
            <a:r>
              <a:rPr lang="en-US" altLang="zh-CN" sz="1400">
                <a:latin typeface="宋体" panose="02010600030101010101" pitchFamily="2" charset="-122"/>
                <a:ea typeface="宋体" panose="02010600030101010101" pitchFamily="2" charset="-122"/>
                <a:cs typeface="宋体" panose="02010600030101010101" pitchFamily="2" charset="-122"/>
              </a:rPr>
              <a:t>CSRK</a:t>
            </a:r>
            <a:r>
              <a:rPr lang="zh-CN" altLang="en-US" sz="1400">
                <a:latin typeface="宋体" panose="02010600030101010101" pitchFamily="2" charset="-122"/>
                <a:ea typeface="宋体" panose="02010600030101010101" pitchFamily="2" charset="-122"/>
                <a:cs typeface="宋体" panose="02010600030101010101" pitchFamily="2" charset="-122"/>
              </a:rPr>
              <a:t>，两个设备将保存对方的</a:t>
            </a:r>
            <a:r>
              <a:rPr lang="en-US" altLang="zh-CN" sz="1400">
                <a:latin typeface="宋体" panose="02010600030101010101" pitchFamily="2" charset="-122"/>
                <a:ea typeface="宋体" panose="02010600030101010101" pitchFamily="2" charset="-122"/>
                <a:cs typeface="宋体" panose="02010600030101010101" pitchFamily="2" charset="-122"/>
              </a:rPr>
              <a:t>CSRK</a:t>
            </a:r>
            <a:r>
              <a:rPr lang="zh-CN" altLang="en-US" sz="1400">
                <a:latin typeface="宋体" panose="02010600030101010101" pitchFamily="2" charset="-122"/>
                <a:ea typeface="宋体" panose="02010600030101010101" pitchFamily="2" charset="-122"/>
                <a:cs typeface="宋体" panose="02010600030101010101" pitchFamily="2" charset="-122"/>
              </a:rPr>
              <a:t>进行签名验证，使用自身的</a:t>
            </a:r>
            <a:r>
              <a:rPr lang="en-US" altLang="zh-CN" sz="1400">
                <a:latin typeface="宋体" panose="02010600030101010101" pitchFamily="2" charset="-122"/>
                <a:ea typeface="宋体" panose="02010600030101010101" pitchFamily="2" charset="-122"/>
                <a:cs typeface="宋体" panose="02010600030101010101" pitchFamily="2" charset="-122"/>
              </a:rPr>
              <a:t>CSRK</a:t>
            </a:r>
            <a:r>
              <a:rPr lang="zh-CN" altLang="en-US" sz="1400">
                <a:latin typeface="宋体" panose="02010600030101010101" pitchFamily="2" charset="-122"/>
                <a:ea typeface="宋体" panose="02010600030101010101" pitchFamily="2" charset="-122"/>
                <a:cs typeface="宋体" panose="02010600030101010101" pitchFamily="2" charset="-122"/>
              </a:rPr>
              <a:t>进行签名</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
        <p:nvSpPr>
          <p:cNvPr id="28" name="文本框 27"/>
          <p:cNvSpPr txBox="1"/>
          <p:nvPr/>
        </p:nvSpPr>
        <p:spPr>
          <a:xfrm>
            <a:off x="6550660" y="3074670"/>
            <a:ext cx="2410460" cy="1308735"/>
          </a:xfrm>
          <a:prstGeom prst="rect">
            <a:avLst/>
          </a:prstGeom>
          <a:noFill/>
        </p:spPr>
        <p:txBody>
          <a:bodyPr wrap="square" rtlCol="0">
            <a:noAutofit/>
          </a:bodyPr>
          <a:p>
            <a:pPr algn="ctr">
              <a:lnSpc>
                <a:spcPct val="140000"/>
              </a:lnSpc>
            </a:pPr>
            <a:r>
              <a:rPr lang="zh-CN" altLang="en-US" sz="1200"/>
              <a:t>接收数据</a:t>
            </a:r>
            <a:endParaRPr lang="zh-CN" altLang="en-US" sz="1200"/>
          </a:p>
          <a:p>
            <a:pPr algn="ctr">
              <a:lnSpc>
                <a:spcPct val="150000"/>
              </a:lnSpc>
            </a:pPr>
            <a:r>
              <a:rPr lang="zh-CN" altLang="en-US" sz="1200"/>
              <a:t>检查</a:t>
            </a:r>
            <a:r>
              <a:rPr lang="en-US" altLang="zh-CN" sz="1200"/>
              <a:t>counterA</a:t>
            </a:r>
            <a:endParaRPr lang="en-US" altLang="zh-CN" sz="1200"/>
          </a:p>
          <a:p>
            <a:pPr algn="ctr">
              <a:lnSpc>
                <a:spcPct val="100000"/>
              </a:lnSpc>
            </a:pPr>
            <a:r>
              <a:rPr lang="zh-CN" altLang="en-US" sz="1200"/>
              <a:t>计算签名</a:t>
            </a:r>
            <a:endParaRPr lang="zh-CN" altLang="en-US" sz="1200"/>
          </a:p>
          <a:p>
            <a:pPr algn="ctr">
              <a:lnSpc>
                <a:spcPct val="100000"/>
              </a:lnSpc>
            </a:pPr>
            <a:r>
              <a:rPr lang="en-US" altLang="zh-CN" sz="1200">
                <a:sym typeface="+mn-ea"/>
              </a:rPr>
              <a:t>AES-CMAC(CSRK1,</a:t>
            </a:r>
            <a:r>
              <a:rPr lang="zh-CN" altLang="en-US" sz="1200">
                <a:sym typeface="+mn-ea"/>
              </a:rPr>
              <a:t>输入</a:t>
            </a:r>
            <a:r>
              <a:rPr lang="en-US" altLang="zh-CN" sz="1200">
                <a:sym typeface="+mn-ea"/>
              </a:rPr>
              <a:t>)</a:t>
            </a:r>
            <a:endParaRPr lang="en-US" altLang="zh-CN" sz="1200">
              <a:sym typeface="+mn-ea"/>
            </a:endParaRPr>
          </a:p>
          <a:p>
            <a:pPr algn="ctr">
              <a:lnSpc>
                <a:spcPct val="140000"/>
              </a:lnSpc>
            </a:pPr>
            <a:r>
              <a:rPr lang="zh-CN" altLang="en-US" sz="1200">
                <a:sym typeface="+mn-ea"/>
              </a:rPr>
              <a:t>验证签名</a:t>
            </a:r>
            <a:endParaRPr lang="en-US" altLang="zh-CN" sz="1200"/>
          </a:p>
          <a:p>
            <a:pPr algn="ctr"/>
            <a:endParaRPr lang="en-US" altLang="zh-CN" sz="1200"/>
          </a:p>
        </p:txBody>
      </p:sp>
      <p:grpSp>
        <p:nvGrpSpPr>
          <p:cNvPr id="34" name="组合 33"/>
          <p:cNvGrpSpPr/>
          <p:nvPr/>
        </p:nvGrpSpPr>
        <p:grpSpPr>
          <a:xfrm>
            <a:off x="4138295" y="1115060"/>
            <a:ext cx="4397375" cy="3529965"/>
            <a:chOff x="5958" y="750"/>
            <a:chExt cx="6925" cy="5559"/>
          </a:xfrm>
        </p:grpSpPr>
        <p:sp>
          <p:nvSpPr>
            <p:cNvPr id="10" name="文本框 9"/>
            <p:cNvSpPr txBox="1"/>
            <p:nvPr/>
          </p:nvSpPr>
          <p:spPr>
            <a:xfrm>
              <a:off x="6643" y="750"/>
              <a:ext cx="4800" cy="580"/>
            </a:xfrm>
            <a:prstGeom prst="rect">
              <a:avLst/>
            </a:prstGeom>
            <a:noFill/>
          </p:spPr>
          <p:txBody>
            <a:bodyPr wrap="square" rtlCol="0">
              <a:spAutoFit/>
            </a:bodyPr>
            <a:p>
              <a:r>
                <a:rPr lang="en-US" altLang="zh-CN"/>
                <a:t>(1)</a:t>
              </a:r>
              <a:r>
                <a:rPr lang="zh-CN" altLang="en-US"/>
                <a:t>工作</a:t>
              </a:r>
              <a:r>
                <a:rPr lang="zh-CN" altLang="en-US"/>
                <a:t>流程</a:t>
              </a:r>
              <a:endParaRPr lang="zh-CN" altLang="en-US"/>
            </a:p>
          </p:txBody>
        </p:sp>
        <p:sp>
          <p:nvSpPr>
            <p:cNvPr id="11" name="圆角矩形 10"/>
            <p:cNvSpPr/>
            <p:nvPr/>
          </p:nvSpPr>
          <p:spPr>
            <a:xfrm>
              <a:off x="7290" y="1330"/>
              <a:ext cx="1440" cy="619"/>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initator</a:t>
              </a:r>
              <a:endParaRPr lang="en-US" altLang="zh-CN" sz="1200"/>
            </a:p>
          </p:txBody>
        </p:sp>
        <p:sp>
          <p:nvSpPr>
            <p:cNvPr id="12" name="圆角矩形 11"/>
            <p:cNvSpPr/>
            <p:nvPr/>
          </p:nvSpPr>
          <p:spPr>
            <a:xfrm>
              <a:off x="11443" y="1330"/>
              <a:ext cx="1440" cy="619"/>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responder</a:t>
              </a:r>
              <a:endParaRPr lang="en-US" altLang="zh-CN" sz="1200"/>
            </a:p>
          </p:txBody>
        </p:sp>
        <p:cxnSp>
          <p:nvCxnSpPr>
            <p:cNvPr id="13" name="直接连接符 12"/>
            <p:cNvCxnSpPr>
              <a:stCxn id="11" idx="2"/>
            </p:cNvCxnSpPr>
            <p:nvPr/>
          </p:nvCxnSpPr>
          <p:spPr>
            <a:xfrm flipH="1">
              <a:off x="7997" y="1949"/>
              <a:ext cx="13" cy="4247"/>
            </a:xfrm>
            <a:prstGeom prst="line">
              <a:avLst/>
            </a:prstGeom>
          </p:spPr>
          <p:style>
            <a:lnRef idx="2">
              <a:schemeClr val="accent1"/>
            </a:lnRef>
            <a:fillRef idx="0">
              <a:srgbClr val="FFFFFF"/>
            </a:fillRef>
            <a:effectRef idx="0">
              <a:srgbClr val="FFFFFF"/>
            </a:effectRef>
            <a:fontRef idx="minor">
              <a:schemeClr val="tx1"/>
            </a:fontRef>
          </p:style>
        </p:cxnSp>
        <p:cxnSp>
          <p:nvCxnSpPr>
            <p:cNvPr id="14" name="直接连接符 13"/>
            <p:cNvCxnSpPr/>
            <p:nvPr/>
          </p:nvCxnSpPr>
          <p:spPr>
            <a:xfrm flipH="1">
              <a:off x="12216" y="1949"/>
              <a:ext cx="20" cy="4360"/>
            </a:xfrm>
            <a:prstGeom prst="line">
              <a:avLst/>
            </a:prstGeom>
          </p:spPr>
          <p:style>
            <a:lnRef idx="2">
              <a:schemeClr val="accent1"/>
            </a:lnRef>
            <a:fillRef idx="0">
              <a:srgbClr val="FFFFFF"/>
            </a:fillRef>
            <a:effectRef idx="0">
              <a:srgbClr val="FFFFFF"/>
            </a:effectRef>
            <a:fontRef idx="minor">
              <a:schemeClr val="tx1"/>
            </a:fontRef>
          </p:style>
        </p:cxnSp>
        <p:cxnSp>
          <p:nvCxnSpPr>
            <p:cNvPr id="26" name="直接箭头连接符 25"/>
            <p:cNvCxnSpPr/>
            <p:nvPr/>
          </p:nvCxnSpPr>
          <p:spPr>
            <a:xfrm>
              <a:off x="8010" y="4759"/>
              <a:ext cx="4227"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9423" y="4303"/>
              <a:ext cx="1511" cy="483"/>
            </a:xfrm>
            <a:prstGeom prst="rect">
              <a:avLst/>
            </a:prstGeom>
            <a:noFill/>
          </p:spPr>
          <p:txBody>
            <a:bodyPr wrap="square" rtlCol="0">
              <a:spAutoFit/>
            </a:bodyPr>
            <a:p>
              <a:r>
                <a:rPr lang="zh-CN" altLang="en-US" sz="1400"/>
                <a:t>发送</a:t>
              </a:r>
              <a:endParaRPr lang="en-US" altLang="zh-CN" sz="1400"/>
            </a:p>
          </p:txBody>
        </p:sp>
        <p:sp>
          <p:nvSpPr>
            <p:cNvPr id="30" name="文本框 29"/>
            <p:cNvSpPr txBox="1"/>
            <p:nvPr/>
          </p:nvSpPr>
          <p:spPr>
            <a:xfrm>
              <a:off x="5958" y="2219"/>
              <a:ext cx="4104" cy="2028"/>
            </a:xfrm>
            <a:prstGeom prst="rect">
              <a:avLst/>
            </a:prstGeom>
            <a:noFill/>
          </p:spPr>
          <p:txBody>
            <a:bodyPr wrap="square" rtlCol="0">
              <a:noAutofit/>
            </a:bodyPr>
            <a:p>
              <a:pPr algn="ctr">
                <a:lnSpc>
                  <a:spcPct val="120000"/>
                </a:lnSpc>
              </a:pPr>
              <a:r>
                <a:rPr lang="zh-CN" altLang="en-US" sz="1200">
                  <a:sym typeface="+mn-ea"/>
                </a:rPr>
                <a:t>准备数据</a:t>
              </a:r>
              <a:r>
                <a:rPr lang="en-US" altLang="zh-CN" sz="1200">
                  <a:sym typeface="+mn-ea"/>
                </a:rPr>
                <a:t>M</a:t>
              </a:r>
              <a:endParaRPr lang="en-US" altLang="zh-CN" sz="1200">
                <a:sym typeface="+mn-ea"/>
              </a:endParaRPr>
            </a:p>
            <a:p>
              <a:pPr algn="ctr">
                <a:lnSpc>
                  <a:spcPct val="120000"/>
                </a:lnSpc>
              </a:pPr>
              <a:r>
                <a:rPr lang="zh-CN" altLang="en-US" sz="1200">
                  <a:sym typeface="+mn-ea"/>
                </a:rPr>
                <a:t>计数器</a:t>
              </a:r>
              <a:r>
                <a:rPr lang="en-US" altLang="zh-CN" sz="1200">
                  <a:sym typeface="+mn-ea"/>
                </a:rPr>
                <a:t>++</a:t>
              </a:r>
              <a:r>
                <a:rPr lang="zh-CN" altLang="en-US" sz="1200">
                  <a:sym typeface="+mn-ea"/>
                </a:rPr>
                <a:t>：</a:t>
              </a:r>
              <a:r>
                <a:rPr lang="en-US" altLang="zh-CN" sz="1200">
                  <a:sym typeface="+mn-ea"/>
                </a:rPr>
                <a:t>counterA</a:t>
              </a:r>
              <a:endParaRPr lang="en-US" altLang="zh-CN" sz="1200">
                <a:sym typeface="+mn-ea"/>
              </a:endParaRPr>
            </a:p>
            <a:p>
              <a:pPr algn="ctr">
                <a:lnSpc>
                  <a:spcPct val="120000"/>
                </a:lnSpc>
              </a:pPr>
              <a:r>
                <a:rPr lang="zh-CN" altLang="en-US" sz="1200">
                  <a:sym typeface="+mn-ea"/>
                </a:rPr>
                <a:t>生成随机数</a:t>
              </a:r>
              <a:r>
                <a:rPr lang="en-US" altLang="zh-CN" sz="1200">
                  <a:sym typeface="+mn-ea"/>
                </a:rPr>
                <a:t>Nonce</a:t>
              </a:r>
              <a:endParaRPr lang="en-US" altLang="zh-CN" sz="1200">
                <a:sym typeface="+mn-ea"/>
              </a:endParaRPr>
            </a:p>
            <a:p>
              <a:pPr algn="ctr">
                <a:lnSpc>
                  <a:spcPct val="100000"/>
                </a:lnSpc>
              </a:pPr>
              <a:r>
                <a:rPr lang="zh-CN" altLang="en-US" sz="1200">
                  <a:sym typeface="+mn-ea"/>
                </a:rPr>
                <a:t>输入：</a:t>
              </a:r>
              <a:r>
                <a:rPr lang="en-US" altLang="zh-CN" sz="1200">
                  <a:sym typeface="+mn-ea"/>
                </a:rPr>
                <a:t>M||counterA||Nonce</a:t>
              </a:r>
              <a:endParaRPr lang="en-US" altLang="zh-CN" sz="1200"/>
            </a:p>
            <a:p>
              <a:pPr algn="ctr">
                <a:lnSpc>
                  <a:spcPct val="100000"/>
                </a:lnSpc>
              </a:pPr>
              <a:r>
                <a:rPr lang="zh-CN" altLang="en-US" sz="1200">
                  <a:sym typeface="+mn-ea"/>
                </a:rPr>
                <a:t>生成签名</a:t>
              </a:r>
              <a:endParaRPr lang="zh-CN" altLang="en-US" sz="1200"/>
            </a:p>
            <a:p>
              <a:pPr algn="ctr">
                <a:lnSpc>
                  <a:spcPct val="120000"/>
                </a:lnSpc>
              </a:pPr>
              <a:r>
                <a:rPr lang="en-US" altLang="zh-CN" sz="1200">
                  <a:sym typeface="+mn-ea"/>
                </a:rPr>
                <a:t>AES-CMAC(CSRK1,</a:t>
              </a:r>
              <a:r>
                <a:rPr lang="zh-CN" altLang="en-US" sz="1200">
                  <a:sym typeface="+mn-ea"/>
                </a:rPr>
                <a:t>输入</a:t>
              </a:r>
              <a:r>
                <a:rPr lang="en-US" altLang="zh-CN" sz="1200">
                  <a:sym typeface="+mn-ea"/>
                </a:rPr>
                <a:t>)</a:t>
              </a:r>
              <a:endParaRPr lang="en-US" altLang="zh-CN" sz="1200"/>
            </a:p>
            <a:p>
              <a:pPr algn="ctr"/>
              <a:endParaRPr lang="en-US" altLang="zh-CN" sz="1200"/>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a:t>
            </a:r>
            <a:r>
              <a:rPr lang="zh-CN" altLang="en-US" sz="2400" b="1" spc="-38" dirty="0">
                <a:solidFill>
                  <a:srgbClr val="3D5663"/>
                </a:solidFill>
                <a:latin typeface="Calibri" panose="020F0502020204030204" pitchFamily="34" charset="0"/>
                <a:cs typeface="Calibri" panose="020F0502020204030204" pitchFamily="34" charset="0"/>
              </a:rPr>
              <a:t>补充</a:t>
            </a:r>
            <a:r>
              <a:rPr lang="en-US" altLang="zh-CN" sz="2400" b="1" spc="-38" dirty="0">
                <a:solidFill>
                  <a:srgbClr val="3D5663"/>
                </a:solidFill>
                <a:latin typeface="Calibri" panose="020F0502020204030204" pitchFamily="34" charset="0"/>
                <a:cs typeface="Calibri" panose="020F0502020204030204" pitchFamily="34" charset="0"/>
              </a:rPr>
              <a:t>1</a:t>
            </a:r>
            <a:endParaRPr lang="en-US" altLang="zh-CN"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649605"/>
            <a:ext cx="7254875" cy="368300"/>
          </a:xfrm>
          <a:prstGeom prst="rect">
            <a:avLst/>
          </a:prstGeom>
          <a:noFill/>
        </p:spPr>
        <p:txBody>
          <a:bodyPr wrap="square" rtlCol="0">
            <a:spAutoFit/>
          </a:bodyPr>
          <a:p>
            <a:r>
              <a:rPr lang="en-US" altLang="zh-CN"/>
              <a:t>GAP</a:t>
            </a:r>
            <a:r>
              <a:rPr lang="zh-CN" altLang="en-US"/>
              <a:t>的安全模式</a:t>
            </a:r>
            <a:r>
              <a:rPr lang="en-US" altLang="zh-CN"/>
              <a:t>(</a:t>
            </a:r>
            <a:r>
              <a:rPr lang="zh-CN" altLang="en-US"/>
              <a:t>数据签名</a:t>
            </a:r>
            <a:r>
              <a:rPr lang="en-US" altLang="zh-CN"/>
              <a:t>)</a:t>
            </a:r>
            <a:r>
              <a:rPr lang="zh-CN" altLang="en-US"/>
              <a:t>的具体工作流程、原理、</a:t>
            </a:r>
            <a:r>
              <a:rPr lang="zh-CN" altLang="en-US"/>
              <a:t>作用</a:t>
            </a:r>
            <a:endParaRPr lang="zh-CN" altLang="en-US"/>
          </a:p>
        </p:txBody>
      </p:sp>
      <p:sp>
        <p:nvSpPr>
          <p:cNvPr id="3" name="文本框 2"/>
          <p:cNvSpPr txBox="1"/>
          <p:nvPr/>
        </p:nvSpPr>
        <p:spPr>
          <a:xfrm>
            <a:off x="215900" y="1243330"/>
            <a:ext cx="7503160" cy="922020"/>
          </a:xfrm>
          <a:prstGeom prst="rect">
            <a:avLst/>
          </a:prstGeom>
          <a:noFill/>
        </p:spPr>
        <p:txBody>
          <a:bodyPr wrap="square" rtlCol="0">
            <a:spAutoFit/>
          </a:bodyPr>
          <a:p>
            <a:r>
              <a:rPr lang="en-US" altLang="zh-CN"/>
              <a:t>(2)</a:t>
            </a:r>
            <a:r>
              <a:rPr lang="zh-CN" altLang="en-US"/>
              <a:t>原理：</a:t>
            </a:r>
            <a:r>
              <a:rPr lang="zh-CN" altLang="en-US">
                <a:latin typeface="宋体" panose="02010600030101010101" pitchFamily="2" charset="-122"/>
                <a:ea typeface="宋体" panose="02010600030101010101" pitchFamily="2" charset="-122"/>
                <a:cs typeface="宋体" panose="02010600030101010101" pitchFamily="2" charset="-122"/>
              </a:rPr>
              <a:t>生成固定长度的消息认证码（</a:t>
            </a:r>
            <a:r>
              <a:rPr lang="en-US" altLang="zh-CN">
                <a:latin typeface="宋体" panose="02010600030101010101" pitchFamily="2" charset="-122"/>
                <a:ea typeface="宋体" panose="02010600030101010101" pitchFamily="2" charset="-122"/>
                <a:cs typeface="宋体" panose="02010600030101010101" pitchFamily="2" charset="-122"/>
              </a:rPr>
              <a:t>MAC</a:t>
            </a:r>
            <a:r>
              <a:rPr lang="zh-CN" altLang="en-US">
                <a:latin typeface="宋体" panose="02010600030101010101" pitchFamily="2" charset="-122"/>
                <a:ea typeface="宋体" panose="02010600030101010101" pitchFamily="2" charset="-122"/>
                <a:cs typeface="宋体" panose="02010600030101010101" pitchFamily="2" charset="-122"/>
              </a:rPr>
              <a:t>），随数据一起发送，接收</a:t>
            </a: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方用相同的密钥和算法对接收的数据重新计算</a:t>
            </a:r>
            <a:r>
              <a:rPr lang="en-US" altLang="zh-CN">
                <a:latin typeface="宋体" panose="02010600030101010101" pitchFamily="2" charset="-122"/>
                <a:ea typeface="宋体" panose="02010600030101010101" pitchFamily="2" charset="-122"/>
                <a:cs typeface="宋体" panose="02010600030101010101" pitchFamily="2" charset="-122"/>
              </a:rPr>
              <a:t> MAC</a:t>
            </a:r>
            <a:r>
              <a:rPr lang="zh-CN" altLang="en-US">
                <a:latin typeface="宋体" panose="02010600030101010101" pitchFamily="2" charset="-122"/>
                <a:ea typeface="宋体" panose="02010600030101010101" pitchFamily="2" charset="-122"/>
                <a:cs typeface="宋体" panose="02010600030101010101" pitchFamily="2" charset="-122"/>
              </a:rPr>
              <a:t>，与接收到的签名值对比。</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p:cNvSpPr txBox="1"/>
          <p:nvPr/>
        </p:nvSpPr>
        <p:spPr>
          <a:xfrm>
            <a:off x="215900" y="2115820"/>
            <a:ext cx="5453380" cy="368300"/>
          </a:xfrm>
          <a:prstGeom prst="rect">
            <a:avLst/>
          </a:prstGeom>
          <a:noFill/>
        </p:spPr>
        <p:txBody>
          <a:bodyPr wrap="square" rtlCol="0">
            <a:spAutoFit/>
          </a:bodyPr>
          <a:p>
            <a:r>
              <a:rPr lang="en-US" altLang="zh-CN"/>
              <a:t>(3)</a:t>
            </a:r>
            <a:r>
              <a:rPr lang="zh-CN" altLang="en-US"/>
              <a:t>作用：</a:t>
            </a:r>
            <a:r>
              <a:rPr lang="zh-CN" altLang="en-US">
                <a:latin typeface="宋体" panose="02010600030101010101" pitchFamily="2" charset="-122"/>
                <a:ea typeface="宋体" panose="02010600030101010101" pitchFamily="2" charset="-122"/>
              </a:rPr>
              <a:t>保证数据完整性，防止数据被篡改、伪造</a:t>
            </a:r>
            <a:endParaRPr lang="zh-CN" altLang="en-US">
              <a:latin typeface="宋体" panose="02010600030101010101" pitchFamily="2" charset="-122"/>
              <a:ea typeface="宋体" panose="02010600030101010101" pitchFamily="2" charset="-122"/>
            </a:endParaRPr>
          </a:p>
        </p:txBody>
      </p:sp>
      <p:sp>
        <p:nvSpPr>
          <p:cNvPr id="5" name="文本框 4"/>
          <p:cNvSpPr txBox="1"/>
          <p:nvPr/>
        </p:nvSpPr>
        <p:spPr>
          <a:xfrm>
            <a:off x="215900" y="2658745"/>
            <a:ext cx="5191125" cy="614045"/>
          </a:xfrm>
          <a:prstGeom prst="rect">
            <a:avLst/>
          </a:prstGeom>
          <a:noFill/>
        </p:spPr>
        <p:txBody>
          <a:bodyPr wrap="square" rtlCol="0">
            <a:spAutoFit/>
          </a:bodyPr>
          <a:p>
            <a:r>
              <a:rPr lang="zh-CN" altLang="en-US"/>
              <a:t>注：加密与签名的</a:t>
            </a:r>
            <a:r>
              <a:rPr lang="zh-CN" altLang="en-US"/>
              <a:t>区别</a:t>
            </a:r>
            <a:endParaRPr lang="zh-CN" altLang="en-US"/>
          </a:p>
          <a:p>
            <a:r>
              <a:rPr lang="zh-CN" altLang="en-US" sz="1600"/>
              <a:t>加密的作用：</a:t>
            </a:r>
            <a:r>
              <a:rPr lang="zh-CN" altLang="en-US" sz="1600">
                <a:latin typeface="宋体" panose="02010600030101010101" pitchFamily="2" charset="-122"/>
                <a:ea typeface="宋体" panose="02010600030101010101" pitchFamily="2" charset="-122"/>
              </a:rPr>
              <a:t>为了防止数据被窃听解读</a:t>
            </a:r>
            <a:endParaRPr lang="zh-CN" altLang="en-US" sz="1600">
              <a:latin typeface="宋体" panose="02010600030101010101" pitchFamily="2" charset="-122"/>
              <a:ea typeface="宋体" panose="02010600030101010101" pitchFamily="2" charset="-122"/>
            </a:endParaRPr>
          </a:p>
        </p:txBody>
      </p:sp>
      <p:sp>
        <p:nvSpPr>
          <p:cNvPr id="6" name="文本框 5"/>
          <p:cNvSpPr txBox="1"/>
          <p:nvPr/>
        </p:nvSpPr>
        <p:spPr>
          <a:xfrm>
            <a:off x="255270" y="3369310"/>
            <a:ext cx="6955790" cy="583565"/>
          </a:xfrm>
          <a:prstGeom prst="rect">
            <a:avLst/>
          </a:prstGeom>
          <a:noFill/>
        </p:spPr>
        <p:txBody>
          <a:bodyPr wrap="square" rtlCol="0">
            <a:spAutoFit/>
          </a:bodyPr>
          <a:p>
            <a:r>
              <a:rPr lang="zh-CN" altLang="en-US" sz="1600"/>
              <a:t>区别：</a:t>
            </a:r>
            <a:r>
              <a:rPr lang="zh-CN" altLang="en-US" sz="1600">
                <a:latin typeface="宋体" panose="02010600030101010101" pitchFamily="2" charset="-122"/>
                <a:ea typeface="宋体" panose="02010600030101010101" pitchFamily="2" charset="-122"/>
              </a:rPr>
              <a:t>签名的数据以明文形式传输，可以被第三方捕获到原始内容，但无法修改伪造，加密的数据以密文形式传输，第三方无法解析内容。</a:t>
            </a:r>
            <a:endParaRPr lang="zh-CN" altLang="en-US" sz="1600">
              <a:latin typeface="宋体" panose="02010600030101010101" pitchFamily="2" charset="-122"/>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a:t>
            </a:r>
            <a:r>
              <a:rPr lang="zh-CN" altLang="en-US" sz="2400" b="1" spc="-38" dirty="0">
                <a:solidFill>
                  <a:srgbClr val="3D5663"/>
                </a:solidFill>
                <a:latin typeface="Calibri" panose="020F0502020204030204" pitchFamily="34" charset="0"/>
                <a:cs typeface="Calibri" panose="020F0502020204030204" pitchFamily="34" charset="0"/>
              </a:rPr>
              <a:t>补充</a:t>
            </a:r>
            <a:r>
              <a:rPr lang="en-US" altLang="zh-CN" sz="2400" b="1" spc="-38" dirty="0">
                <a:solidFill>
                  <a:srgbClr val="3D5663"/>
                </a:solidFill>
                <a:latin typeface="Calibri" panose="020F0502020204030204" pitchFamily="34" charset="0"/>
                <a:cs typeface="Calibri" panose="020F0502020204030204" pitchFamily="34" charset="0"/>
              </a:rPr>
              <a:t>2</a:t>
            </a:r>
            <a:endParaRPr lang="en-US" altLang="zh-CN" sz="2400" b="1" spc="-38" dirty="0">
              <a:solidFill>
                <a:srgbClr val="3D5663"/>
              </a:solidFill>
              <a:latin typeface="Calibri" panose="020F0502020204030204" pitchFamily="34" charset="0"/>
              <a:cs typeface="Calibri" panose="020F0502020204030204" pitchFamily="34" charset="0"/>
            </a:endParaRPr>
          </a:p>
        </p:txBody>
      </p:sp>
      <p:sp>
        <p:nvSpPr>
          <p:cNvPr id="3" name="文本框 2"/>
          <p:cNvSpPr txBox="1"/>
          <p:nvPr/>
        </p:nvSpPr>
        <p:spPr>
          <a:xfrm>
            <a:off x="215900" y="783590"/>
            <a:ext cx="3717290" cy="368300"/>
          </a:xfrm>
          <a:prstGeom prst="rect">
            <a:avLst/>
          </a:prstGeom>
          <a:noFill/>
        </p:spPr>
        <p:txBody>
          <a:bodyPr wrap="square" rtlCol="0">
            <a:spAutoFit/>
          </a:bodyPr>
          <a:p>
            <a:r>
              <a:rPr lang="en-US" altLang="zh-CN"/>
              <a:t>2</a:t>
            </a:r>
            <a:r>
              <a:rPr lang="zh-CN" altLang="en-US"/>
              <a:t>、外围设备隐私标识是指</a:t>
            </a:r>
            <a:r>
              <a:rPr lang="zh-CN" altLang="en-US"/>
              <a:t>什么？</a:t>
            </a:r>
            <a:endParaRPr lang="zh-CN" altLang="en-US"/>
          </a:p>
        </p:txBody>
      </p:sp>
      <p:sp>
        <p:nvSpPr>
          <p:cNvPr id="4" name="文本框 3"/>
          <p:cNvSpPr txBox="1"/>
          <p:nvPr/>
        </p:nvSpPr>
        <p:spPr>
          <a:xfrm>
            <a:off x="215900" y="1226185"/>
            <a:ext cx="7917815" cy="645160"/>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cs typeface="宋体" panose="02010600030101010101" pitchFamily="2" charset="-122"/>
              </a:rPr>
              <a:t>外围设备隐私标识是</a:t>
            </a:r>
            <a:r>
              <a:rPr lang="en-US" altLang="zh-CN">
                <a:latin typeface="宋体" panose="02010600030101010101" pitchFamily="2" charset="-122"/>
                <a:ea typeface="宋体" panose="02010600030101010101" pitchFamily="2" charset="-122"/>
                <a:cs typeface="宋体" panose="02010600030101010101" pitchFamily="2" charset="-122"/>
              </a:rPr>
              <a:t>GAP</a:t>
            </a:r>
            <a:r>
              <a:rPr lang="zh-CN" altLang="en-US">
                <a:latin typeface="宋体" panose="02010600030101010101" pitchFamily="2" charset="-122"/>
                <a:ea typeface="宋体" panose="02010600030101010101" pitchFamily="2" charset="-122"/>
                <a:cs typeface="宋体" panose="02010600030101010101" pitchFamily="2" charset="-122"/>
              </a:rPr>
              <a:t>服务中的一个特性，用来标识当前设备是否正在使用隐私保护，该特征特性为可读可写</a:t>
            </a:r>
            <a:r>
              <a:rPr lang="en-US" altLang="zh-CN">
                <a:latin typeface="宋体" panose="02010600030101010101" pitchFamily="2" charset="-122"/>
                <a:ea typeface="宋体" panose="02010600030101010101" pitchFamily="2" charset="-122"/>
                <a:cs typeface="宋体" panose="02010600030101010101" pitchFamily="2" charset="-122"/>
              </a:rPr>
              <a:t>(BLE</a:t>
            </a:r>
            <a:r>
              <a:rPr lang="zh-CN" altLang="en-US">
                <a:latin typeface="宋体" panose="02010600030101010101" pitchFamily="2" charset="-122"/>
                <a:ea typeface="宋体" panose="02010600030101010101" pitchFamily="2" charset="-122"/>
                <a:cs typeface="宋体" panose="02010600030101010101" pitchFamily="2" charset="-122"/>
              </a:rPr>
              <a:t>规范</a:t>
            </a:r>
            <a:r>
              <a:rPr lang="en-US" altLang="zh-CN">
                <a:latin typeface="宋体" panose="02010600030101010101" pitchFamily="2" charset="-122"/>
                <a:ea typeface="宋体" panose="02010600030101010101" pitchFamily="2" charset="-122"/>
                <a:cs typeface="宋体" panose="02010600030101010101" pitchFamily="2" charset="-122"/>
              </a:rPr>
              <a:t>4.1</a:t>
            </a:r>
            <a:r>
              <a:rPr lang="zh-CN" altLang="en-US">
                <a:latin typeface="宋体" panose="02010600030101010101" pitchFamily="2" charset="-122"/>
                <a:ea typeface="宋体" panose="02010600030101010101" pitchFamily="2" charset="-122"/>
                <a:cs typeface="宋体" panose="02010600030101010101" pitchFamily="2" charset="-122"/>
              </a:rPr>
              <a:t>后移除</a:t>
            </a:r>
            <a:r>
              <a:rPr lang="en-US" altLang="zh-CN">
                <a:latin typeface="宋体" panose="02010600030101010101" pitchFamily="2" charset="-122"/>
                <a:ea typeface="宋体" panose="02010600030101010101" pitchFamily="2" charset="-122"/>
                <a:cs typeface="宋体" panose="02010600030101010101" pitchFamily="2" charset="-122"/>
              </a:rPr>
              <a:t>GAP</a:t>
            </a:r>
            <a:r>
              <a:rPr lang="zh-CN" altLang="en-US">
                <a:latin typeface="宋体" panose="02010600030101010101" pitchFamily="2" charset="-122"/>
                <a:ea typeface="宋体" panose="02010600030101010101" pitchFamily="2" charset="-122"/>
                <a:cs typeface="宋体" panose="02010600030101010101" pitchFamily="2" charset="-122"/>
              </a:rPr>
              <a:t>服务强制列表</a:t>
            </a:r>
            <a:r>
              <a:rPr lang="en-US" altLang="zh-CN">
                <a:latin typeface="宋体" panose="02010600030101010101" pitchFamily="2" charset="-122"/>
                <a:ea typeface="宋体" panose="02010600030101010101" pitchFamily="2" charset="-122"/>
                <a:cs typeface="宋体" panose="02010600030101010101" pitchFamily="2" charset="-122"/>
              </a:rPr>
              <a:t>)</a:t>
            </a:r>
            <a:endParaRPr lang="en-US" altLang="zh-CN">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1"/>
          <a:stretch>
            <a:fillRect/>
          </a:stretch>
        </p:blipFill>
        <p:spPr>
          <a:xfrm>
            <a:off x="267970" y="1945640"/>
            <a:ext cx="7851140" cy="356870"/>
          </a:xfrm>
          <a:prstGeom prst="rect">
            <a:avLst/>
          </a:prstGeom>
        </p:spPr>
      </p:pic>
      <p:sp>
        <p:nvSpPr>
          <p:cNvPr id="8" name="文本框 7"/>
          <p:cNvSpPr txBox="1"/>
          <p:nvPr/>
        </p:nvSpPr>
        <p:spPr>
          <a:xfrm>
            <a:off x="267970" y="2472055"/>
            <a:ext cx="6729095" cy="1579880"/>
          </a:xfrm>
          <a:prstGeom prst="rect">
            <a:avLst/>
          </a:prstGeom>
          <a:noFill/>
        </p:spPr>
        <p:txBody>
          <a:bodyPr wrap="square" rtlCol="0">
            <a:spAutoFit/>
          </a:bodyPr>
          <a:p>
            <a:pPr>
              <a:lnSpc>
                <a:spcPct val="110000"/>
              </a:lnSpc>
            </a:pPr>
            <a:r>
              <a:rPr lang="zh-CN" altLang="en-US"/>
              <a:t>特征值</a:t>
            </a:r>
            <a:endParaRPr lang="zh-CN" altLang="en-US"/>
          </a:p>
          <a:p>
            <a:pPr>
              <a:lnSpc>
                <a:spcPct val="110000"/>
              </a:lnSpc>
            </a:pPr>
            <a:r>
              <a:rPr lang="en-US" altLang="zh-CN">
                <a:latin typeface="Times New Roman" panose="02020603050405020304" charset="0"/>
                <a:ea typeface="宋体" panose="02010600030101010101" pitchFamily="2" charset="-122"/>
                <a:cs typeface="Times New Roman" panose="02020603050405020304" charset="0"/>
              </a:rPr>
              <a:t>0x00:</a:t>
            </a:r>
            <a:r>
              <a:rPr lang="zh-CN" altLang="en-US">
                <a:latin typeface="宋体" panose="02010600030101010101" pitchFamily="2" charset="-122"/>
                <a:ea typeface="宋体" panose="02010600030101010101" pitchFamily="2" charset="-122"/>
                <a:cs typeface="宋体" panose="02010600030101010101" pitchFamily="2" charset="-122"/>
              </a:rPr>
              <a:t>表示</a:t>
            </a:r>
            <a:r>
              <a:rPr lang="zh-CN" altLang="en-US">
                <a:latin typeface="宋体" panose="02010600030101010101" pitchFamily="2" charset="-122"/>
                <a:ea typeface="宋体" panose="02010600030101010101" pitchFamily="2" charset="-122"/>
                <a:cs typeface="宋体" panose="02010600030101010101" pitchFamily="2" charset="-122"/>
              </a:rPr>
              <a:t>禁用，设备将使用公有地址或静态随机地址</a:t>
            </a:r>
            <a:endParaRPr lang="zh-CN" altLang="en-US">
              <a:latin typeface="宋体" panose="02010600030101010101" pitchFamily="2" charset="-122"/>
              <a:ea typeface="宋体" panose="02010600030101010101" pitchFamily="2" charset="-122"/>
              <a:cs typeface="宋体" panose="02010600030101010101" pitchFamily="2" charset="-122"/>
            </a:endParaRPr>
          </a:p>
          <a:p>
            <a:pPr>
              <a:lnSpc>
                <a:spcPct val="110000"/>
              </a:lnSpc>
            </a:pPr>
            <a:r>
              <a:rPr lang="en-US" altLang="zh-CN">
                <a:latin typeface="Times New Roman" panose="02020603050405020304" charset="0"/>
                <a:ea typeface="宋体" panose="02010600030101010101" pitchFamily="2" charset="-122"/>
                <a:cs typeface="Times New Roman" panose="02020603050405020304" charset="0"/>
              </a:rPr>
              <a:t>0x01:</a:t>
            </a:r>
            <a:r>
              <a:rPr lang="zh-CN" altLang="en-US">
                <a:latin typeface="宋体" panose="02010600030101010101" pitchFamily="2" charset="-122"/>
                <a:ea typeface="宋体" panose="02010600030101010101" pitchFamily="2" charset="-122"/>
                <a:cs typeface="宋体" panose="02010600030101010101" pitchFamily="2" charset="-122"/>
              </a:rPr>
              <a:t>表示</a:t>
            </a:r>
            <a:r>
              <a:rPr lang="zh-CN" altLang="en-US">
                <a:latin typeface="宋体" panose="02010600030101010101" pitchFamily="2" charset="-122"/>
                <a:ea typeface="宋体" panose="02010600030101010101" pitchFamily="2" charset="-122"/>
                <a:cs typeface="宋体" panose="02010600030101010101" pitchFamily="2" charset="-122"/>
              </a:rPr>
              <a:t>启用，设备将使用可</a:t>
            </a:r>
            <a:r>
              <a:rPr lang="zh-CN" altLang="en-US">
                <a:latin typeface="宋体" panose="02010600030101010101" pitchFamily="2" charset="-122"/>
                <a:ea typeface="宋体" panose="02010600030101010101" pitchFamily="2" charset="-122"/>
                <a:cs typeface="宋体" panose="02010600030101010101" pitchFamily="2" charset="-122"/>
              </a:rPr>
              <a:t>解析私有地址</a:t>
            </a:r>
            <a:endParaRPr lang="zh-CN" altLang="en-US">
              <a:latin typeface="宋体" panose="02010600030101010101" pitchFamily="2" charset="-122"/>
              <a:ea typeface="宋体" panose="02010600030101010101" pitchFamily="2" charset="-122"/>
              <a:cs typeface="宋体" panose="02010600030101010101" pitchFamily="2" charset="-122"/>
            </a:endParaRPr>
          </a:p>
          <a:p>
            <a:pPr>
              <a:lnSpc>
                <a:spcPct val="110000"/>
              </a:lnSpc>
            </a:pPr>
            <a:endParaRPr lang="zh-CN" altLang="en-US">
              <a:latin typeface="宋体" panose="02010600030101010101" pitchFamily="2" charset="-122"/>
              <a:ea typeface="宋体" panose="02010600030101010101" pitchFamily="2" charset="-122"/>
              <a:cs typeface="宋体" panose="02010600030101010101" pitchFamily="2" charset="-122"/>
            </a:endParaRPr>
          </a:p>
          <a:p>
            <a:pPr>
              <a:lnSpc>
                <a:spcPct val="110000"/>
              </a:lnSpc>
            </a:pPr>
            <a:r>
              <a:rPr lang="zh-CN" altLang="en-US" sz="1600">
                <a:latin typeface="宋体" panose="02010600030101010101" pitchFamily="2" charset="-122"/>
                <a:ea typeface="宋体" panose="02010600030101010101" pitchFamily="2" charset="-122"/>
                <a:cs typeface="宋体" panose="02010600030101010101" pitchFamily="2" charset="-122"/>
              </a:rPr>
              <a:t>注：未声明该特征时，等同禁用</a:t>
            </a:r>
            <a:endParaRPr lang="zh-CN" altLang="en-US" sz="16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15900" y="902335"/>
            <a:ext cx="4626610" cy="3374390"/>
          </a:xfrm>
          <a:prstGeom prst="rect">
            <a:avLst/>
          </a:prstGeom>
        </p:spPr>
      </p:pic>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a:t>
            </a:r>
            <a:r>
              <a:rPr lang="zh-CN" altLang="en-US" sz="2400" b="1" spc="-38" dirty="0">
                <a:solidFill>
                  <a:srgbClr val="3D5663"/>
                </a:solidFill>
                <a:latin typeface="Calibri" panose="020F0502020204030204" pitchFamily="34" charset="0"/>
                <a:cs typeface="Calibri" panose="020F0502020204030204" pitchFamily="34" charset="0"/>
              </a:rPr>
              <a:t>补充</a:t>
            </a:r>
            <a:r>
              <a:rPr lang="en-US" altLang="zh-CN" sz="2400" b="1" spc="-38" dirty="0">
                <a:solidFill>
                  <a:srgbClr val="3D5663"/>
                </a:solidFill>
                <a:latin typeface="Calibri" panose="020F0502020204030204" pitchFamily="34" charset="0"/>
                <a:cs typeface="Calibri" panose="020F0502020204030204" pitchFamily="34" charset="0"/>
              </a:rPr>
              <a:t>3</a:t>
            </a:r>
            <a:endParaRPr lang="en-US" altLang="zh-CN" sz="2400" b="1" spc="-38" dirty="0">
              <a:solidFill>
                <a:srgbClr val="3D5663"/>
              </a:solidFill>
              <a:latin typeface="Calibri" panose="020F0502020204030204" pitchFamily="34" charset="0"/>
              <a:cs typeface="Calibri" panose="020F0502020204030204" pitchFamily="34" charset="0"/>
            </a:endParaRPr>
          </a:p>
        </p:txBody>
      </p:sp>
      <p:sp>
        <p:nvSpPr>
          <p:cNvPr id="3" name="文本框 2"/>
          <p:cNvSpPr txBox="1"/>
          <p:nvPr/>
        </p:nvSpPr>
        <p:spPr>
          <a:xfrm>
            <a:off x="215900" y="587375"/>
            <a:ext cx="3048000" cy="368300"/>
          </a:xfrm>
          <a:prstGeom prst="rect">
            <a:avLst/>
          </a:prstGeom>
          <a:noFill/>
        </p:spPr>
        <p:txBody>
          <a:bodyPr wrap="square" rtlCol="0">
            <a:spAutoFit/>
          </a:bodyPr>
          <a:p>
            <a:r>
              <a:rPr lang="en-US" altLang="zh-CN"/>
              <a:t>3</a:t>
            </a:r>
            <a:r>
              <a:rPr lang="zh-CN" altLang="en-US"/>
              <a:t>、</a:t>
            </a:r>
            <a:r>
              <a:rPr lang="en-US" altLang="zh-CN"/>
              <a:t>GAP</a:t>
            </a:r>
            <a:r>
              <a:rPr lang="zh-CN" altLang="en-US"/>
              <a:t>通信流程</a:t>
            </a:r>
            <a:r>
              <a:rPr lang="zh-CN" altLang="en-US"/>
              <a:t>图</a:t>
            </a:r>
            <a:endParaRPr lang="zh-CN" altLang="en-US"/>
          </a:p>
        </p:txBody>
      </p:sp>
      <p:sp>
        <p:nvSpPr>
          <p:cNvPr id="4" name="文本框 3"/>
          <p:cNvSpPr txBox="1"/>
          <p:nvPr/>
        </p:nvSpPr>
        <p:spPr>
          <a:xfrm>
            <a:off x="5130800" y="902335"/>
            <a:ext cx="3578860" cy="306705"/>
          </a:xfrm>
          <a:prstGeom prst="rect">
            <a:avLst/>
          </a:prstGeom>
          <a:noFill/>
        </p:spPr>
        <p:txBody>
          <a:bodyPr wrap="square" rtlCol="0">
            <a:spAutoFit/>
          </a:bodyPr>
          <a:p>
            <a:r>
              <a:rPr lang="zh-CN" altLang="en-US" sz="1400"/>
              <a:t>如需要安全连接，</a:t>
            </a:r>
            <a:r>
              <a:rPr lang="en-US" altLang="zh-CN" sz="1400"/>
              <a:t>GAP</a:t>
            </a:r>
            <a:r>
              <a:rPr lang="zh-CN" altLang="en-US" sz="1400"/>
              <a:t>还会进行配对</a:t>
            </a:r>
            <a:r>
              <a:rPr lang="zh-CN" altLang="en-US" sz="1400"/>
              <a:t>流程</a:t>
            </a:r>
            <a:endParaRPr lang="zh-CN" altLang="en-US" sz="1400"/>
          </a:p>
        </p:txBody>
      </p:sp>
      <p:pic>
        <p:nvPicPr>
          <p:cNvPr id="5" name="图片 4"/>
          <p:cNvPicPr>
            <a:picLocks noChangeAspect="1"/>
          </p:cNvPicPr>
          <p:nvPr/>
        </p:nvPicPr>
        <p:blipFill>
          <a:blip r:embed="rId2"/>
          <a:stretch>
            <a:fillRect/>
          </a:stretch>
        </p:blipFill>
        <p:spPr>
          <a:xfrm>
            <a:off x="5077460" y="1335405"/>
            <a:ext cx="3620770" cy="280416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a:t>
            </a:r>
            <a:r>
              <a:rPr lang="zh-CN" altLang="en-US" sz="2400" b="1" spc="-38" dirty="0">
                <a:solidFill>
                  <a:srgbClr val="3D5663"/>
                </a:solidFill>
                <a:latin typeface="Calibri" panose="020F0502020204030204" pitchFamily="34" charset="0"/>
                <a:cs typeface="Calibri" panose="020F0502020204030204" pitchFamily="34" charset="0"/>
              </a:rPr>
              <a:t>补充</a:t>
            </a:r>
            <a:r>
              <a:rPr lang="en-US" altLang="zh-CN" sz="2400" b="1" spc="-38" dirty="0">
                <a:solidFill>
                  <a:srgbClr val="3D5663"/>
                </a:solidFill>
                <a:latin typeface="Calibri" panose="020F0502020204030204" pitchFamily="34" charset="0"/>
                <a:cs typeface="Calibri" panose="020F0502020204030204" pitchFamily="34" charset="0"/>
              </a:rPr>
              <a:t>4</a:t>
            </a:r>
            <a:endParaRPr lang="en-US" altLang="zh-CN"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684530"/>
            <a:ext cx="4144010" cy="368300"/>
          </a:xfrm>
          <a:prstGeom prst="rect">
            <a:avLst/>
          </a:prstGeom>
          <a:noFill/>
        </p:spPr>
        <p:txBody>
          <a:bodyPr wrap="square" rtlCol="0">
            <a:spAutoFit/>
          </a:bodyPr>
          <a:p>
            <a:r>
              <a:rPr lang="en-US" altLang="zh-CN"/>
              <a:t>4</a:t>
            </a:r>
            <a:r>
              <a:rPr lang="zh-CN" altLang="en-US"/>
              <a:t>、</a:t>
            </a:r>
            <a:r>
              <a:rPr lang="en-US" altLang="zh-CN"/>
              <a:t>HRS(</a:t>
            </a:r>
            <a:r>
              <a:rPr lang="zh-CN" altLang="en-US"/>
              <a:t>心率服务</a:t>
            </a:r>
            <a:r>
              <a:rPr lang="en-US" altLang="zh-CN"/>
              <a:t>)</a:t>
            </a:r>
            <a:r>
              <a:rPr lang="zh-CN" altLang="en-US"/>
              <a:t>的</a:t>
            </a:r>
            <a:r>
              <a:rPr lang="en-US" altLang="zh-CN"/>
              <a:t>GATT</a:t>
            </a:r>
            <a:r>
              <a:rPr lang="zh-CN" altLang="en-US"/>
              <a:t>属性配置</a:t>
            </a:r>
            <a:r>
              <a:rPr lang="zh-CN" altLang="en-US"/>
              <a:t>表</a:t>
            </a:r>
            <a:endParaRPr lang="zh-CN" altLang="en-US"/>
          </a:p>
        </p:txBody>
      </p:sp>
      <p:pic>
        <p:nvPicPr>
          <p:cNvPr id="5" name="图片 4"/>
          <p:cNvPicPr>
            <a:picLocks noChangeAspect="1"/>
          </p:cNvPicPr>
          <p:nvPr/>
        </p:nvPicPr>
        <p:blipFill>
          <a:blip r:embed="rId1"/>
          <a:stretch>
            <a:fillRect/>
          </a:stretch>
        </p:blipFill>
        <p:spPr>
          <a:xfrm>
            <a:off x="215900" y="1052830"/>
            <a:ext cx="5772150" cy="184785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DIAGRAM_VIRTUALLY_FRAME" val="{&quot;height&quot;:115.4807874015748,&quot;left&quot;:137.65771653543305,&quot;top&quot;:240.1231496062992,&quot;width&quot;:141.7322834645669}"/>
</p:tagLst>
</file>

<file path=ppt/tags/tag6.xml><?xml version="1.0" encoding="utf-8"?>
<p:tagLst xmlns:p="http://schemas.openxmlformats.org/presentationml/2006/main">
  <p:tag name="KSO_WM_DIAGRAM_VIRTUALLY_FRAME" val="{&quot;height&quot;:115.4807874015748,&quot;left&quot;:137.65771653543305,&quot;top&quot;:240.1231496062992,&quot;width&quot;:141.7322834645669}"/>
</p:tagLst>
</file>

<file path=ppt/tags/tag7.xml><?xml version="1.0" encoding="utf-8"?>
<p:tagLst xmlns:p="http://schemas.openxmlformats.org/presentationml/2006/main">
  <p:tag name="KSO_WM_DIAGRAM_VIRTUALLY_FRAME" val="{&quot;height&quot;:115.4807874015748,&quot;left&quot;:137.65771653543305,&quot;top&quot;:240.1231496062992,&quot;width&quot;:141.7322834645669}"/>
</p:tagLst>
</file>

<file path=ppt/tags/tag8.xml><?xml version="1.0" encoding="utf-8"?>
<p:tagLst xmlns:p="http://schemas.openxmlformats.org/presentationml/2006/main">
  <p:tag name="KSO_WM_DIAGRAM_VIRTUALLY_FRAME" val="{&quot;height&quot;:115.4807874015748,&quot;left&quot;:137.65771653543305,&quot;top&quot;:240.1231496062992,&quot;width&quot;:141.7322834645669}"/>
</p:tagLst>
</file>

<file path=ppt/tags/tag9.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10.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11.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12.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13.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14.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15.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16.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17.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18.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19.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20.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21.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22.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23.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24.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25.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26.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27.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28.xml><?xml version="1.0" encoding="utf-8"?>
<p:tagLst xmlns:p="http://schemas.openxmlformats.org/presentationml/2006/main">
  <p:tag name="KSO_WM_DIAGRAM_VIRTUALLY_FRAME" val="{&quot;height&quot;:330.2476038178442,&quot;left&quot;:430.4588636690669,&quot;top&quot;:55.20436022865206,&quot;width&quot;:251.7698317169834}"/>
</p:tagLst>
</file>

<file path=ppt/tags/tag29.xml><?xml version="1.0" encoding="utf-8"?>
<p:tagLst xmlns:p="http://schemas.openxmlformats.org/presentationml/2006/main">
  <p:tag name="KSO_WM_DIAGRAM_VIRTUALLY_FRAME" val="{&quot;height&quot;:345.65,&quot;left&quot;:4.35,&quot;top&quot;:117.35,&quot;width&quot;:677.65}"/>
</p:tagLst>
</file>

<file path=ppt/tags/tag30.xml><?xml version="1.0" encoding="utf-8"?>
<p:tagLst xmlns:p="http://schemas.openxmlformats.org/presentationml/2006/main">
  <p:tag name="KSO_WM_DIAGRAM_VIRTUALLY_FRAME" val="{&quot;height&quot;:345.65,&quot;left&quot;:4.35,&quot;top&quot;:117.35,&quot;width&quot;:677.65}"/>
</p:tagLst>
</file>

<file path=ppt/tags/tag31.xml><?xml version="1.0" encoding="utf-8"?>
<p:tagLst xmlns:p="http://schemas.openxmlformats.org/presentationml/2006/main">
  <p:tag name="KSO_WM_DIAGRAM_VIRTUALLY_FRAME" val="{&quot;height&quot;:345.65,&quot;left&quot;:4.35,&quot;top&quot;:117.35,&quot;width&quot;:677.65}"/>
</p:tagLst>
</file>

<file path=ppt/tags/tag32.xml><?xml version="1.0" encoding="utf-8"?>
<p:tagLst xmlns:p="http://schemas.openxmlformats.org/presentationml/2006/main">
  <p:tag name="KSO_WM_DIAGRAM_VIRTUALLY_FRAME" val="{&quot;height&quot;:345.65,&quot;left&quot;:4.35,&quot;top&quot;:117.35,&quot;width&quot;:677.65}"/>
</p:tagLst>
</file>

<file path=ppt/tags/tag33.xml><?xml version="1.0" encoding="utf-8"?>
<p:tagLst xmlns:p="http://schemas.openxmlformats.org/presentationml/2006/main">
  <p:tag name="KSO_WM_DIAGRAM_VIRTUALLY_FRAME" val="{&quot;height&quot;:345.65,&quot;left&quot;:4.35,&quot;top&quot;:117.35,&quot;width&quot;:677.65}"/>
</p:tagLst>
</file>

<file path=ppt/tags/tag34.xml><?xml version="1.0" encoding="utf-8"?>
<p:tagLst xmlns:p="http://schemas.openxmlformats.org/presentationml/2006/main">
  <p:tag name="KSO_WM_DIAGRAM_VIRTUALLY_FRAME" val="{&quot;height&quot;:345.65,&quot;left&quot;:4.35,&quot;top&quot;:117.35,&quot;width&quot;:677.65}"/>
</p:tagLst>
</file>

<file path=ppt/tags/tag35.xml><?xml version="1.0" encoding="utf-8"?>
<p:tagLst xmlns:p="http://schemas.openxmlformats.org/presentationml/2006/main">
  <p:tag name="KSO_WM_DIAGRAM_VIRTUALLY_FRAME" val="{&quot;height&quot;:345.65,&quot;left&quot;:4.35,&quot;top&quot;:117.35,&quot;width&quot;:677.65}"/>
</p:tagLst>
</file>

<file path=ppt/tags/tag36.xml><?xml version="1.0" encoding="utf-8"?>
<p:tagLst xmlns:p="http://schemas.openxmlformats.org/presentationml/2006/main">
  <p:tag name="KSO_WM_DIAGRAM_VIRTUALLY_FRAME" val="{&quot;height&quot;:345.65,&quot;left&quot;:4.35,&quot;top&quot;:117.35,&quot;width&quot;:677.65}"/>
</p:tagLst>
</file>

<file path=ppt/tags/tag37.xml><?xml version="1.0" encoding="utf-8"?>
<p:tagLst xmlns:p="http://schemas.openxmlformats.org/presentationml/2006/main">
  <p:tag name="KSO_WM_DIAGRAM_VIRTUALLY_FRAME" val="{&quot;height&quot;:345.65,&quot;left&quot;:4.35,&quot;top&quot;:117.35,&quot;width&quot;:677.65}"/>
</p:tagLst>
</file>

<file path=ppt/tags/tag38.xml><?xml version="1.0" encoding="utf-8"?>
<p:tagLst xmlns:p="http://schemas.openxmlformats.org/presentationml/2006/main">
  <p:tag name="KSO_WM_DIAGRAM_VIRTUALLY_FRAME" val="{&quot;height&quot;:345.65,&quot;left&quot;:4.35,&quot;top&quot;:117.35,&quot;width&quot;:677.65}"/>
</p:tagLst>
</file>

<file path=ppt/tags/tag39.xml><?xml version="1.0" encoding="utf-8"?>
<p:tagLst xmlns:p="http://schemas.openxmlformats.org/presentationml/2006/main">
  <p:tag name="KSO_WM_DIAGRAM_VIRTUALLY_FRAME" val="{&quot;height&quot;:345.65,&quot;left&quot;:4.35,&quot;top&quot;:117.35,&quot;width&quot;:677.65}"/>
</p:tagLst>
</file>

<file path=ppt/tags/tag40.xml><?xml version="1.0" encoding="utf-8"?>
<p:tagLst xmlns:p="http://schemas.openxmlformats.org/presentationml/2006/main">
  <p:tag name="KSO_WM_DIAGRAM_VIRTUALLY_FRAME" val="{&quot;height&quot;:238.7,&quot;left&quot;:109.24999999999997,&quot;top&quot;:104.4,&quot;width&quot;:550.25}"/>
</p:tagLst>
</file>

<file path=ppt/tags/tag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5*l_h_i*1_4_3"/>
  <p:tag name="KSO_WM_TEMPLATE_CATEGORY" val="diagram"/>
  <p:tag name="KSO_WM_TEMPLATE_INDEX" val="20230924"/>
  <p:tag name="KSO_WM_UNIT_LAYERLEVEL" val="1_1_1"/>
  <p:tag name="KSO_WM_TAG_VERSION" val="3.0"/>
  <p:tag name="KSO_WM_DIAGRAM_GROUP_CODE" val="l1-1"/>
  <p:tag name="KSO_WM_UNIT_TYPE" val="l_h_i"/>
  <p:tag name="KSO_WM_UNIT_INDEX" val="1_4_3"/>
  <p:tag name="KSO_WM_DIAGRAM_VERSION" val="3"/>
  <p:tag name="KSO_WM_DIAGRAM_COLOR_TRICK" val="2"/>
  <p:tag name="KSO_WM_DIAGRAM_COLOR_TEXT_CAN_REMOVE" val="n"/>
  <p:tag name="KSO_WM_DIAGRAM_MAX_ITEMCNT" val="6"/>
  <p:tag name="KSO_WM_DIAGRAM_MIN_ITEMCNT" val="2"/>
  <p:tag name="KSO_WM_DIAGRAM_VIRTUALLY_FRAME" val="{&quot;height&quot;:238.7,&quot;left&quot;:109.24999999999997,&quot;top&quot;:104.4,&quot;width&quot;:550.25}"/>
  <p:tag name="KSO_WM_DIAGRAM_COLOR_MATCH_VALUE" val="{&quot;shape&quot;:{&quot;fill&quot;:{&quot;gradient&quot;:[{&quot;brightness&quot;:0.10000000149011612,&quot;colorType&quot;:1,&quot;foreColorIndex&quot;:6,&quot;pos&quot;:0,&quot;transparency&quot;:0},{&quot;brightness&quot;:0,&quot;colorType&quot;:1,&quot;foreColorIndex&quot;:6,&quot;pos&quot;:1,&quot;transparency&quot;:0}],&quot;type&quot;:3},&quot;glow&quot;:{&quot;colorType&quot;:0},&quot;line&quot;:{&quot;type&quot;:0},&quot;shadow&quot;:{&quot;brightness&quot;:0.800000011920929,&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8"/>
  <p:tag name="KSO_WM_UNIT_TEXT_FILL_FORE_SCHEMECOLOR_INDEX" val="13"/>
  <p:tag name="KSO_WM_UNIT_TEXT_FILL_TYPE" val="1"/>
  <p:tag name="KSO_WM_UNIT_USESOURCEFORMAT_APPLY" val="0"/>
</p:tagLst>
</file>

<file path=ppt/tags/tag4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5*l_h_i*1_3_3"/>
  <p:tag name="KSO_WM_TEMPLATE_CATEGORY" val="diagram"/>
  <p:tag name="KSO_WM_TEMPLATE_INDEX" val="20230924"/>
  <p:tag name="KSO_WM_UNIT_LAYERLEVEL" val="1_1_1"/>
  <p:tag name="KSO_WM_TAG_VERSION" val="3.0"/>
  <p:tag name="KSO_WM_DIAGRAM_GROUP_CODE" val="l1-1"/>
  <p:tag name="KSO_WM_DIAGRAM_VERSION" val="3"/>
  <p:tag name="KSO_WM_DIAGRAM_COLOR_TRICK" val="2"/>
  <p:tag name="KSO_WM_DIAGRAM_COLOR_TEXT_CAN_REMOVE" val="n"/>
  <p:tag name="KSO_WM_UNIT_TYPE" val="l_h_i"/>
  <p:tag name="KSO_WM_UNIT_INDEX" val="1_3_3"/>
  <p:tag name="KSO_WM_DIAGRAM_MAX_ITEMCNT" val="6"/>
  <p:tag name="KSO_WM_DIAGRAM_MIN_ITEMCNT" val="2"/>
  <p:tag name="KSO_WM_DIAGRAM_VIRTUALLY_FRAME" val="{&quot;height&quot;:238.7,&quot;left&quot;:109.24999999999997,&quot;top&quot;:104.4,&quot;width&quot;:550.25}"/>
  <p:tag name="KSO_WM_DIAGRAM_COLOR_MATCH_VALUE" val="{&quot;shape&quot;:{&quot;fill&quot;:{&quot;gradient&quot;:[{&quot;brightness&quot;:0.20000000298023224,&quot;colorType&quot;:1,&quot;foreColorIndex&quot;:5,&quot;pos&quot;:0,&quot;transparency&quot;:0},{&quot;brightness&quot;:0,&quot;colorType&quot;:1,&quot;foreColorIndex&quot;:5,&quot;pos&quot;:1,&quot;transparency&quot;:0}],&quot;type&quot;:3},&quot;glow&quot;:{&quot;colorType&quot;:0},&quot;line&quot;:{&quot;type&quot;:0},&quot;shadow&quot;:{&quot;brightness&quot;:0.800000011920929,&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5"/>
  <p:tag name="KSO_WM_UNIT_TEXT_FILL_FORE_SCHEMECOLOR_INDEX" val="13"/>
  <p:tag name="KSO_WM_UNIT_TEXT_FILL_TYPE" val="1"/>
  <p:tag name="KSO_WM_UNIT_USESOURCEFORMAT_APPLY" val="0"/>
</p:tagLst>
</file>

<file path=ppt/tags/tag4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5*l_h_i*1_2_3"/>
  <p:tag name="KSO_WM_TEMPLATE_CATEGORY" val="diagram"/>
  <p:tag name="KSO_WM_TEMPLATE_INDEX" val="20230924"/>
  <p:tag name="KSO_WM_UNIT_LAYERLEVEL" val="1_1_1"/>
  <p:tag name="KSO_WM_TAG_VERSION" val="3.0"/>
  <p:tag name="KSO_WM_DIAGRAM_GROUP_CODE" val="l1-1"/>
  <p:tag name="KSO_WM_DIAGRAM_VERSION" val="3"/>
  <p:tag name="KSO_WM_DIAGRAM_COLOR_TRICK" val="2"/>
  <p:tag name="KSO_WM_DIAGRAM_COLOR_TEXT_CAN_REMOVE" val="n"/>
  <p:tag name="KSO_WM_UNIT_TYPE" val="l_h_i"/>
  <p:tag name="KSO_WM_UNIT_INDEX" val="1_2_3"/>
  <p:tag name="KSO_WM_DIAGRAM_MAX_ITEMCNT" val="6"/>
  <p:tag name="KSO_WM_DIAGRAM_MIN_ITEMCNT" val="2"/>
  <p:tag name="KSO_WM_DIAGRAM_VIRTUALLY_FRAME" val="{&quot;height&quot;:238.7,&quot;left&quot;:109.24999999999997,&quot;top&quot;:104.4,&quot;width&quot;:550.25}"/>
  <p:tag name="KSO_WM_DIAGRAM_COLOR_MATCH_VALUE" val="{&quot;shape&quot;:{&quot;fill&quot;:{&quot;gradient&quot;:[{&quot;brightness&quot;:0.10000000149011612,&quot;colorType&quot;:1,&quot;foreColorIndex&quot;:6,&quot;pos&quot;:0,&quot;transparency&quot;:0},{&quot;brightness&quot;:0,&quot;colorType&quot;:1,&quot;foreColorIndex&quot;:6,&quot;pos&quot;:1,&quot;transparency&quot;:0}],&quot;type&quot;:3},&quot;glow&quot;:{&quot;colorType&quot;:0},&quot;line&quot;:{&quot;type&quot;:0},&quot;shadow&quot;:{&quot;brightness&quot;:0.800000011920929,&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8"/>
  <p:tag name="KSO_WM_UNIT_TEXT_FILL_FORE_SCHEMECOLOR_INDEX" val="13"/>
  <p:tag name="KSO_WM_UNIT_TEXT_FILL_TYPE" val="1"/>
  <p:tag name="KSO_WM_UNIT_USESOURCEFORMAT_APPLY" val="0"/>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5*l_h_i*1_2_2"/>
  <p:tag name="KSO_WM_TEMPLATE_CATEGORY" val="diagram"/>
  <p:tag name="KSO_WM_TEMPLATE_INDEX" val="20230924"/>
  <p:tag name="KSO_WM_UNIT_LAYERLEVEL" val="1_1_1"/>
  <p:tag name="KSO_WM_TAG_VERSION" val="3.0"/>
  <p:tag name="KSO_WM_DIAGRAM_GROUP_CODE" val="l1-1"/>
  <p:tag name="KSO_WM_DIAGRAM_VERSION" val="3"/>
  <p:tag name="KSO_WM_DIAGRAM_COLOR_TRICK" val="2"/>
  <p:tag name="KSO_WM_DIAGRAM_COLOR_TEXT_CAN_REMOVE" val="n"/>
  <p:tag name="KSO_WM_UNIT_TYPE" val="l_h_i"/>
  <p:tag name="KSO_WM_UNIT_INDEX" val="1_2_2"/>
  <p:tag name="KSO_WM_DIAGRAM_MAX_ITEMCNT" val="6"/>
  <p:tag name="KSO_WM_DIAGRAM_MIN_ITEMCNT" val="2"/>
  <p:tag name="KSO_WM_DIAGRAM_VIRTUALLY_FRAME" val="{&quot;height&quot;:284.7950030517578,&quot;left&quot;:3.591943359375,&quot;top&quot;:66.53,&quot;width&quot;:708.4161132812507}"/>
  <p:tag name="KSO_WM_DIAGRAM_COLOR_MATCH_VALUE" val="{&quot;shape&quot;:{&quot;fill&quot;:{&quot;gradient&quot;:[{&quot;brightness&quot;:0.10000000149011612,&quot;colorType&quot;:1,&quot;foreColorIndex&quot;:6,&quot;pos&quot;:0,&quot;transparency&quot;:0},{&quot;brightness&quot;:0,&quot;colorType&quot;:1,&quot;foreColorIndex&quot;:6,&quot;pos&quot;:1,&quot;transparency&quot;:0}],&quot;type&quot;:3},&quot;glow&quot;:{&quot;colorType&quot;:0},&quot;line&quot;:{&quot;type&quot;:0},&quot;shadow&quot;:{&quot;brightness&quot;:0.800000011920929,&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8"/>
  <p:tag name="KSO_WM_UNIT_TEXT_FILL_FORE_SCHEMECOLOR_INDEX" val="13"/>
  <p:tag name="KSO_WM_UNIT_TEXT_FILL_TYPE" val="1"/>
  <p:tag name="KSO_WM_UNIT_USESOURCEFORMAT_APPLY" val="0"/>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5*l_h_i*1_2_2"/>
  <p:tag name="KSO_WM_TEMPLATE_CATEGORY" val="diagram"/>
  <p:tag name="KSO_WM_TEMPLATE_INDEX" val="20230924"/>
  <p:tag name="KSO_WM_UNIT_LAYERLEVEL" val="1_1_1"/>
  <p:tag name="KSO_WM_TAG_VERSION" val="3.0"/>
  <p:tag name="KSO_WM_DIAGRAM_GROUP_CODE" val="l1-1"/>
  <p:tag name="KSO_WM_DIAGRAM_VERSION" val="3"/>
  <p:tag name="KSO_WM_DIAGRAM_COLOR_TRICK" val="2"/>
  <p:tag name="KSO_WM_DIAGRAM_COLOR_TEXT_CAN_REMOVE" val="n"/>
  <p:tag name="KSO_WM_UNIT_TYPE" val="l_h_i"/>
  <p:tag name="KSO_WM_UNIT_INDEX" val="1_2_2"/>
  <p:tag name="KSO_WM_DIAGRAM_MAX_ITEMCNT" val="6"/>
  <p:tag name="KSO_WM_DIAGRAM_MIN_ITEMCNT" val="2"/>
  <p:tag name="KSO_WM_DIAGRAM_VIRTUALLY_FRAME" val="{&quot;height&quot;:284.7950030517578,&quot;left&quot;:3.591943359375,&quot;top&quot;:66.53,&quot;width&quot;:708.4161132812507}"/>
  <p:tag name="KSO_WM_DIAGRAM_COLOR_MATCH_VALUE" val="{&quot;shape&quot;:{&quot;fill&quot;:{&quot;gradient&quot;:[{&quot;brightness&quot;:0.10000000149011612,&quot;colorType&quot;:1,&quot;foreColorIndex&quot;:6,&quot;pos&quot;:0,&quot;transparency&quot;:0},{&quot;brightness&quot;:0,&quot;colorType&quot;:1,&quot;foreColorIndex&quot;:6,&quot;pos&quot;:1,&quot;transparency&quot;:0}],&quot;type&quot;:3},&quot;glow&quot;:{&quot;colorType&quot;:0},&quot;line&quot;:{&quot;type&quot;:0},&quot;shadow&quot;:{&quot;brightness&quot;:0.800000011920929,&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8"/>
  <p:tag name="KSO_WM_UNIT_TEXT_FILL_FORE_SCHEMECOLOR_INDEX" val="13"/>
  <p:tag name="KSO_WM_UNIT_TEXT_FILL_TYPE" val="1"/>
  <p:tag name="KSO_WM_UNIT_USESOURCEFORMAT_APPLY" val="0"/>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5*l_h_i*1_2_2"/>
  <p:tag name="KSO_WM_TEMPLATE_CATEGORY" val="diagram"/>
  <p:tag name="KSO_WM_TEMPLATE_INDEX" val="20230924"/>
  <p:tag name="KSO_WM_UNIT_LAYERLEVEL" val="1_1_1"/>
  <p:tag name="KSO_WM_TAG_VERSION" val="3.0"/>
  <p:tag name="KSO_WM_DIAGRAM_GROUP_CODE" val="l1-1"/>
  <p:tag name="KSO_WM_DIAGRAM_VERSION" val="3"/>
  <p:tag name="KSO_WM_DIAGRAM_COLOR_TRICK" val="2"/>
  <p:tag name="KSO_WM_DIAGRAM_COLOR_TEXT_CAN_REMOVE" val="n"/>
  <p:tag name="KSO_WM_UNIT_TYPE" val="l_h_i"/>
  <p:tag name="KSO_WM_UNIT_INDEX" val="1_2_2"/>
  <p:tag name="KSO_WM_DIAGRAM_MAX_ITEMCNT" val="6"/>
  <p:tag name="KSO_WM_DIAGRAM_MIN_ITEMCNT" val="2"/>
  <p:tag name="KSO_WM_DIAGRAM_VIRTUALLY_FRAME" val="{&quot;height&quot;:284.7950030517578,&quot;left&quot;:3.591943359375,&quot;top&quot;:66.53,&quot;width&quot;:708.4161132812507}"/>
  <p:tag name="KSO_WM_DIAGRAM_COLOR_MATCH_VALUE" val="{&quot;shape&quot;:{&quot;fill&quot;:{&quot;gradient&quot;:[{&quot;brightness&quot;:0.10000000149011612,&quot;colorType&quot;:1,&quot;foreColorIndex&quot;:6,&quot;pos&quot;:0,&quot;transparency&quot;:0},{&quot;brightness&quot;:0,&quot;colorType&quot;:1,&quot;foreColorIndex&quot;:6,&quot;pos&quot;:1,&quot;transparency&quot;:0}],&quot;type&quot;:3},&quot;glow&quot;:{&quot;colorType&quot;:0},&quot;line&quot;:{&quot;type&quot;:0},&quot;shadow&quot;:{&quot;brightness&quot;:0.800000011920929,&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8"/>
  <p:tag name="KSO_WM_UNIT_TEXT_FILL_FORE_SCHEMECOLOR_INDEX" val="13"/>
  <p:tag name="KSO_WM_UNIT_TEXT_FILL_TYPE" val="1"/>
  <p:tag name="KSO_WM_UNIT_USESOURCEFORMAT_APPLY" val="0"/>
</p:tagLst>
</file>

<file path=ppt/tags/tag47.xml><?xml version="1.0" encoding="utf-8"?>
<p:tagLst xmlns:p="http://schemas.openxmlformats.org/presentationml/2006/main">
  <p:tag name="TABLE_ENDDRAG_ORIGIN_RECT" val="382*322"/>
  <p:tag name="TABLE_ENDDRAG_RECT" val="283*52*382*322"/>
</p:tagLst>
</file>

<file path=ppt/tags/tag48.xml><?xml version="1.0" encoding="utf-8"?>
<p:tagLst xmlns:p="http://schemas.openxmlformats.org/presentationml/2006/main">
  <p:tag name="KSO_WM_DIAGRAM_VIRTUALLY_FRAME" val="{&quot;height&quot;:280.5834086301067,&quot;left&quot;:52,&quot;top&quot;:92.56659136989329,&quot;width&quot;:626.5}"/>
</p:tagLst>
</file>

<file path=ppt/tags/tag49.xml><?xml version="1.0" encoding="utf-8"?>
<p:tagLst xmlns:p="http://schemas.openxmlformats.org/presentationml/2006/main">
  <p:tag name="KSO_WM_DIAGRAM_VIRTUALLY_FRAME" val="{&quot;height&quot;:280.5834086301067,&quot;left&quot;:52,&quot;top&quot;:92.56659136989329,&quot;width&quot;:626.5}"/>
</p:tagLst>
</file>

<file path=ppt/tags/tag50.xml><?xml version="1.0" encoding="utf-8"?>
<p:tagLst xmlns:p="http://schemas.openxmlformats.org/presentationml/2006/main">
  <p:tag name="KSO_WM_DIAGRAM_VIRTUALLY_FRAME" val="{&quot;height&quot;:280.5834086301067,&quot;left&quot;:52,&quot;top&quot;:92.56659136989329,&quot;width&quot;:626.5}"/>
</p:tagLst>
</file>

<file path=ppt/tags/tag51.xml><?xml version="1.0" encoding="utf-8"?>
<p:tagLst xmlns:p="http://schemas.openxmlformats.org/presentationml/2006/main">
  <p:tag name="KSO_WM_DIAGRAM_VIRTUALLY_FRAME" val="{&quot;height&quot;:280.5834086301067,&quot;left&quot;:52,&quot;top&quot;:92.56659136989329,&quot;width&quot;:626.5}"/>
</p:tagLst>
</file>

<file path=ppt/tags/tag52.xml><?xml version="1.0" encoding="utf-8"?>
<p:tagLst xmlns:p="http://schemas.openxmlformats.org/presentationml/2006/main">
  <p:tag name="KSO_WM_DIAGRAM_VIRTUALLY_FRAME" val="{&quot;height&quot;:280.5834086301067,&quot;left&quot;:52,&quot;top&quot;:92.56659136989329,&quot;width&quot;:626.5}"/>
</p:tagLst>
</file>

<file path=ppt/tags/tag53.xml><?xml version="1.0" encoding="utf-8"?>
<p:tagLst xmlns:p="http://schemas.openxmlformats.org/presentationml/2006/main">
  <p:tag name="KSO_WM_DIAGRAM_VIRTUALLY_FRAME" val="{&quot;height&quot;:280.5834086301067,&quot;left&quot;:52,&quot;top&quot;:92.56659136989329,&quot;width&quot;:626.5}"/>
</p:tagLst>
</file>

<file path=ppt/tags/tag54.xml><?xml version="1.0" encoding="utf-8"?>
<p:tagLst xmlns:p="http://schemas.openxmlformats.org/presentationml/2006/main">
  <p:tag name="KSO_WM_DIAGRAM_VIRTUALLY_FRAME" val="{&quot;height&quot;:280.5834086301067,&quot;left&quot;:52,&quot;top&quot;:92.56659136989329,&quot;width&quot;:626.5}"/>
</p:tagLst>
</file>

<file path=ppt/tags/tag55.xml><?xml version="1.0" encoding="utf-8"?>
<p:tagLst xmlns:p="http://schemas.openxmlformats.org/presentationml/2006/main">
  <p:tag name="KSO_WM_DIAGRAM_VIRTUALLY_FRAME" val="{&quot;height&quot;:280.5834086301067,&quot;left&quot;:52,&quot;top&quot;:92.56659136989329,&quot;width&quot;:626.5}"/>
</p:tagLst>
</file>

<file path=ppt/tags/tag56.xml><?xml version="1.0" encoding="utf-8"?>
<p:tagLst xmlns:p="http://schemas.openxmlformats.org/presentationml/2006/main">
  <p:tag name="KSO_WM_DIAGRAM_VIRTUALLY_FRAME" val="{&quot;height&quot;:280.5834086301067,&quot;left&quot;:52,&quot;top&quot;:92.56659136989329,&quot;width&quot;:626.5}"/>
</p:tagLst>
</file>

<file path=ppt/tags/tag57.xml><?xml version="1.0" encoding="utf-8"?>
<p:tagLst xmlns:p="http://schemas.openxmlformats.org/presentationml/2006/main">
  <p:tag name="KSO_WM_DIAGRAM_VIRTUALLY_FRAME" val="{&quot;height&quot;:280.5834086301067,&quot;left&quot;:52,&quot;top&quot;:92.56659136989329,&quot;width&quot;:626.5}"/>
</p:tagLst>
</file>

<file path=ppt/tags/tag58.xml><?xml version="1.0" encoding="utf-8"?>
<p:tagLst xmlns:p="http://schemas.openxmlformats.org/presentationml/2006/main">
  <p:tag name="KSO_WM_DIAGRAM_VIRTUALLY_FRAME" val="{&quot;height&quot;:280.5834086301067,&quot;left&quot;:52,&quot;top&quot;:92.56659136989329,&quot;width&quot;:626.5}"/>
</p:tagLst>
</file>

<file path=ppt/tags/tag59.xml><?xml version="1.0" encoding="utf-8"?>
<p:tagLst xmlns:p="http://schemas.openxmlformats.org/presentationml/2006/main">
  <p:tag name="KSO_WM_DIAGRAM_VIRTUALLY_FRAME" val="{&quot;height&quot;:280.5834086301067,&quot;left&quot;:52,&quot;top&quot;:92.56659136989329,&quot;width&quot;:626.5}"/>
</p:tagLst>
</file>

<file path=ppt/tags/tag60.xml><?xml version="1.0" encoding="utf-8"?>
<p:tagLst xmlns:p="http://schemas.openxmlformats.org/presentationml/2006/main">
  <p:tag name="KSO_WM_DIAGRAM_VIRTUALLY_FRAME" val="{&quot;height&quot;:280.5834086301067,&quot;left&quot;:52,&quot;top&quot;:92.56659136989329,&quot;width&quot;:626.5}"/>
</p:tagLst>
</file>

<file path=ppt/tags/tag61.xml><?xml version="1.0" encoding="utf-8"?>
<p:tagLst xmlns:p="http://schemas.openxmlformats.org/presentationml/2006/main">
  <p:tag name="KSO_WM_DIAGRAM_VIRTUALLY_FRAME" val="{&quot;height&quot;:280.5834315291062,&quot;left&quot;:52,&quot;top&quot;:92.56656847089383,&quot;width&quot;:626.5}"/>
</p:tagLst>
</file>

<file path=ppt/tags/tag62.xml><?xml version="1.0" encoding="utf-8"?>
<p:tagLst xmlns:p="http://schemas.openxmlformats.org/presentationml/2006/main">
  <p:tag name="KSO_WM_DIAGRAM_VIRTUALLY_FRAME" val="{&quot;height&quot;:280.5834315291062,&quot;left&quot;:52,&quot;top&quot;:92.56656847089383,&quot;width&quot;:626.5}"/>
</p:tagLst>
</file>

<file path=ppt/tags/tag63.xml><?xml version="1.0" encoding="utf-8"?>
<p:tagLst xmlns:p="http://schemas.openxmlformats.org/presentationml/2006/main">
  <p:tag name="KSO_WM_DIAGRAM_VIRTUALLY_FRAME" val="{&quot;height&quot;:280.5834315291062,&quot;left&quot;:52,&quot;top&quot;:92.56656847089383,&quot;width&quot;:626.5}"/>
</p:tagLst>
</file>

<file path=ppt/tags/tag64.xml><?xml version="1.0" encoding="utf-8"?>
<p:tagLst xmlns:p="http://schemas.openxmlformats.org/presentationml/2006/main">
  <p:tag name="KSO_WM_DIAGRAM_VIRTUALLY_FRAME" val="{&quot;height&quot;:280.5834315291062,&quot;left&quot;:52,&quot;top&quot;:92.56656847089383,&quot;width&quot;:626.5}"/>
</p:tagLst>
</file>

<file path=ppt/tags/tag65.xml><?xml version="1.0" encoding="utf-8"?>
<p:tagLst xmlns:p="http://schemas.openxmlformats.org/presentationml/2006/main">
  <p:tag name="KSO_WM_DIAGRAM_VIRTUALLY_FRAME" val="{&quot;height&quot;:280.5834315291062,&quot;left&quot;:52,&quot;top&quot;:92.56656847089383,&quot;width&quot;:626.5}"/>
</p:tagLst>
</file>

<file path=ppt/tags/tag66.xml><?xml version="1.0" encoding="utf-8"?>
<p:tagLst xmlns:p="http://schemas.openxmlformats.org/presentationml/2006/main">
  <p:tag name="KSO_WM_DIAGRAM_VIRTUALLY_FRAME" val="{&quot;height&quot;:280.5834315291062,&quot;left&quot;:52,&quot;top&quot;:92.56656847089383,&quot;width&quot;:626.5}"/>
</p:tagLst>
</file>

<file path=ppt/tags/tag67.xml><?xml version="1.0" encoding="utf-8"?>
<p:tagLst xmlns:p="http://schemas.openxmlformats.org/presentationml/2006/main">
  <p:tag name="KSO_WM_DIAGRAM_VIRTUALLY_FRAME" val="{&quot;height&quot;:280.5834315291062,&quot;left&quot;:52,&quot;top&quot;:92.56656847089383,&quot;width&quot;:626.5}"/>
</p:tagLst>
</file>

<file path=ppt/tags/tag68.xml><?xml version="1.0" encoding="utf-8"?>
<p:tagLst xmlns:p="http://schemas.openxmlformats.org/presentationml/2006/main">
  <p:tag name="KSO_WM_DIAGRAM_VIRTUALLY_FRAME" val="{&quot;height&quot;:280.5834315291062,&quot;left&quot;:52,&quot;top&quot;:92.56656847089383,&quot;width&quot;:626.5}"/>
</p:tagLst>
</file>

<file path=ppt/tags/tag69.xml><?xml version="1.0" encoding="utf-8"?>
<p:tagLst xmlns:p="http://schemas.openxmlformats.org/presentationml/2006/main">
  <p:tag name="KSO_WM_DIAGRAM_VIRTUALLY_FRAME" val="{&quot;height&quot;:280.5834315291062,&quot;left&quot;:52,&quot;top&quot;:92.56656847089383,&quot;width&quot;:626.5}"/>
</p:tagLst>
</file>

<file path=ppt/tags/tag70.xml><?xml version="1.0" encoding="utf-8"?>
<p:tagLst xmlns:p="http://schemas.openxmlformats.org/presentationml/2006/main">
  <p:tag name="KSO_WM_DIAGRAM_VIRTUALLY_FRAME" val="{&quot;height&quot;:280.5834315291062,&quot;left&quot;:52,&quot;top&quot;:92.56656847089383,&quot;width&quot;:626.5}"/>
</p:tagLst>
</file>

<file path=ppt/tags/tag71.xml><?xml version="1.0" encoding="utf-8"?>
<p:tagLst xmlns:p="http://schemas.openxmlformats.org/presentationml/2006/main">
  <p:tag name="KSO_WM_DIAGRAM_VIRTUALLY_FRAME" val="{&quot;height&quot;:280.5834315291062,&quot;left&quot;:52,&quot;top&quot;:92.56656847089383,&quot;width&quot;:626.5}"/>
</p:tagLst>
</file>

<file path=ppt/tags/tag72.xml><?xml version="1.0" encoding="utf-8"?>
<p:tagLst xmlns:p="http://schemas.openxmlformats.org/presentationml/2006/main">
  <p:tag name="KSO_WM_DIAGRAM_VIRTUALLY_FRAME" val="{&quot;height&quot;:280.5834315291062,&quot;left&quot;:52,&quot;top&quot;:92.56656847089383,&quot;width&quot;:626.5}"/>
</p:tagLst>
</file>

<file path=ppt/tags/tag73.xml><?xml version="1.0" encoding="utf-8"?>
<p:tagLst xmlns:p="http://schemas.openxmlformats.org/presentationml/2006/main">
  <p:tag name="KSO_WM_DIAGRAM_VIRTUALLY_FRAME" val="{&quot;height&quot;:280.5834315291062,&quot;left&quot;:52,&quot;top&quot;:92.56656847089383,&quot;width&quot;:626.5}"/>
</p:tagLst>
</file>

<file path=ppt/tags/tag74.xml><?xml version="1.0" encoding="utf-8"?>
<p:tagLst xmlns:p="http://schemas.openxmlformats.org/presentationml/2006/main">
  <p:tag name="KSO_WM_DIAGRAM_VIRTUALLY_FRAME" val="{&quot;height&quot;:280.5834315291062,&quot;left&quot;:52,&quot;top&quot;:92.56656847089383,&quot;width&quot;:626.5}"/>
</p:tagLst>
</file>

<file path=ppt/tags/tag75.xml><?xml version="1.0" encoding="utf-8"?>
<p:tagLst xmlns:p="http://schemas.openxmlformats.org/presentationml/2006/main">
  <p:tag name="KSO_WM_DIAGRAM_VIRTUALLY_FRAME" val="{&quot;height&quot;:280.5834315291062,&quot;left&quot;:52,&quot;top&quot;:92.56656847089383,&quot;width&quot;:626.5}"/>
</p:tagLst>
</file>

<file path=ppt/tags/tag76.xml><?xml version="1.0" encoding="utf-8"?>
<p:tagLst xmlns:p="http://schemas.openxmlformats.org/presentationml/2006/main">
  <p:tag name="KSO_WM_DIAGRAM_VIRTUALLY_FRAME" val="{&quot;height&quot;:280.5834315291062,&quot;left&quot;:52,&quot;top&quot;:92.56656847089383,&quot;width&quot;:626.5}"/>
</p:tagLst>
</file>

<file path=ppt/tags/tag77.xml><?xml version="1.0" encoding="utf-8"?>
<p:tagLst xmlns:p="http://schemas.openxmlformats.org/presentationml/2006/main">
  <p:tag name="KSO_WM_DIAGRAM_VIRTUALLY_FRAME" val="{&quot;height&quot;:280.5834315291062,&quot;left&quot;:52,&quot;top&quot;:92.56656847089383,&quot;width&quot;:626.5}"/>
</p:tagLst>
</file>

<file path=ppt/tags/tag78.xml><?xml version="1.0" encoding="utf-8"?>
<p:tagLst xmlns:p="http://schemas.openxmlformats.org/presentationml/2006/main">
  <p:tag name="TABLE_ENDDRAG_ORIGIN_RECT" val="515*266"/>
  <p:tag name="TABLE_ENDDRAG_RECT" val="61*117*515*266"/>
</p:tagLst>
</file>

<file path=ppt/tags/tag79.xml><?xml version="1.0" encoding="utf-8"?>
<p:tagLst xmlns:p="http://schemas.openxmlformats.org/presentationml/2006/main">
  <p:tag name="KSO_WM_DIAGRAM_VIRTUALLY_FRAME" val="{&quot;height&quot;:345.65,&quot;left&quot;:4.35,&quot;top&quot;:117.35,&quot;width&quot;:677.65}"/>
</p:tagLst>
</file>

<file path=ppt/tags/tag80.xml><?xml version="1.0" encoding="utf-8"?>
<p:tagLst xmlns:p="http://schemas.openxmlformats.org/presentationml/2006/main">
  <p:tag name="KSO_WM_DIAGRAM_VIRTUALLY_FRAME" val="{&quot;height&quot;:345.65,&quot;left&quot;:4.35,&quot;top&quot;:117.35,&quot;width&quot;:677.65}"/>
</p:tagLst>
</file>

<file path=ppt/tags/tag81.xml><?xml version="1.0" encoding="utf-8"?>
<p:tagLst xmlns:p="http://schemas.openxmlformats.org/presentationml/2006/main">
  <p:tag name="KSO_WM_DIAGRAM_VIRTUALLY_FRAME" val="{&quot;height&quot;:345.65,&quot;left&quot;:4.35,&quot;top&quot;:117.35,&quot;width&quot;:677.65}"/>
</p:tagLst>
</file>

<file path=ppt/tags/tag82.xml><?xml version="1.0" encoding="utf-8"?>
<p:tagLst xmlns:p="http://schemas.openxmlformats.org/presentationml/2006/main">
  <p:tag name="KSO_WM_DIAGRAM_VIRTUALLY_FRAME" val="{&quot;height&quot;:345.65,&quot;left&quot;:4.35,&quot;top&quot;:117.35,&quot;width&quot;:677.65}"/>
</p:tagLst>
</file>

<file path=ppt/tags/tag83.xml><?xml version="1.0" encoding="utf-8"?>
<p:tagLst xmlns:p="http://schemas.openxmlformats.org/presentationml/2006/main">
  <p:tag name="KSO_WM_DIAGRAM_VIRTUALLY_FRAME" val="{&quot;height&quot;:345.65,&quot;left&quot;:4.35,&quot;top&quot;:117.35,&quot;width&quot;:677.65}"/>
</p:tagLst>
</file>

<file path=ppt/tags/tag84.xml><?xml version="1.0" encoding="utf-8"?>
<p:tagLst xmlns:p="http://schemas.openxmlformats.org/presentationml/2006/main">
  <p:tag name="KSO_WM_DIAGRAM_VIRTUALLY_FRAME" val="{&quot;height&quot;:345.65,&quot;left&quot;:4.35,&quot;top&quot;:117.35,&quot;width&quot;:677.65}"/>
</p:tagLst>
</file>

<file path=ppt/tags/tag85.xml><?xml version="1.0" encoding="utf-8"?>
<p:tagLst xmlns:p="http://schemas.openxmlformats.org/presentationml/2006/main">
  <p:tag name="KSO_WM_DIAGRAM_VIRTUALLY_FRAME" val="{&quot;height&quot;:345.65,&quot;left&quot;:4.35,&quot;top&quot;:117.35,&quot;width&quot;:677.65}"/>
</p:tagLst>
</file>

<file path=ppt/tags/tag86.xml><?xml version="1.0" encoding="utf-8"?>
<p:tagLst xmlns:p="http://schemas.openxmlformats.org/presentationml/2006/main">
  <p:tag name="KSO_WM_DIAGRAM_VIRTUALLY_FRAME" val="{&quot;height&quot;:345.65,&quot;left&quot;:4.35,&quot;top&quot;:117.35,&quot;width&quot;:677.65}"/>
</p:tagLst>
</file>

<file path=ppt/tags/tag87.xml><?xml version="1.0" encoding="utf-8"?>
<p:tagLst xmlns:p="http://schemas.openxmlformats.org/presentationml/2006/main">
  <p:tag name="KSO_WM_DIAGRAM_VIRTUALLY_FRAME" val="{&quot;height&quot;:345.65,&quot;left&quot;:4.35,&quot;top&quot;:117.35,&quot;width&quot;:677.65}"/>
</p:tagLst>
</file>

<file path=ppt/tags/tag88.xml><?xml version="1.0" encoding="utf-8"?>
<p:tagLst xmlns:p="http://schemas.openxmlformats.org/presentationml/2006/main">
  <p:tag name="KSO_WM_DIAGRAM_VIRTUALLY_FRAME" val="{&quot;height&quot;:345.65,&quot;left&quot;:4.35,&quot;top&quot;:117.35,&quot;width&quot;:677.65}"/>
</p:tagLst>
</file>

<file path=ppt/tags/tag89.xml><?xml version="1.0" encoding="utf-8"?>
<p:tagLst xmlns:p="http://schemas.openxmlformats.org/presentationml/2006/main">
  <p:tag name="KSO_WM_DIAGRAM_VIRTUALLY_FRAME" val="{&quot;height&quot;:345.65,&quot;left&quot;:4.35,&quot;top&quot;:117.35,&quot;width&quot;:677.65}"/>
</p:tagLst>
</file>

<file path=ppt/tags/tag90.xml><?xml version="1.0" encoding="utf-8"?>
<p:tagLst xmlns:p="http://schemas.openxmlformats.org/presentationml/2006/main">
  <p:tag name="KSO_WM_DIAGRAM_VIRTUALLY_FRAME" val="{&quot;height&quot;:278.84497087130796,&quot;left&quot;:52,&quot;top&quot;:138.95502912869202,&quot;width&quot;:856}"/>
</p:tagLst>
</file>

<file path=ppt/tags/tag91.xml><?xml version="1.0" encoding="utf-8"?>
<p:tagLst xmlns:p="http://schemas.openxmlformats.org/presentationml/2006/main">
  <p:tag name="KSO_WM_DIAGRAM_VIRTUALLY_FRAME" val="{&quot;height&quot;:278.84497087130796,&quot;left&quot;:52,&quot;top&quot;:138.95502912869202,&quot;width&quot;:856}"/>
</p:tagLst>
</file>

<file path=ppt/tags/tag92.xml><?xml version="1.0" encoding="utf-8"?>
<p:tagLst xmlns:p="http://schemas.openxmlformats.org/presentationml/2006/main">
  <p:tag name="KSO_WM_DIAGRAM_VIRTUALLY_FRAME" val="{&quot;height&quot;:278.84497087130796,&quot;left&quot;:52,&quot;top&quot;:138.95502912869202,&quot;width&quot;:856}"/>
</p:tagLst>
</file>

<file path=ppt/tags/tag93.xml><?xml version="1.0" encoding="utf-8"?>
<p:tagLst xmlns:p="http://schemas.openxmlformats.org/presentationml/2006/main">
  <p:tag name="KSO_WM_DIAGRAM_VIRTUALLY_FRAME" val="{&quot;height&quot;:278.84497087130796,&quot;left&quot;:52,&quot;top&quot;:138.95502912869202,&quot;width&quot;:856}"/>
</p:tagLst>
</file>

<file path=ppt/tags/tag94.xml><?xml version="1.0" encoding="utf-8"?>
<p:tagLst xmlns:p="http://schemas.openxmlformats.org/presentationml/2006/main">
  <p:tag name="KSO_WM_DIAGRAM_VIRTUALLY_FRAME" val="{&quot;height&quot;:278.84497087130796,&quot;left&quot;:52,&quot;top&quot;:138.95502912869202,&quot;width&quot;:856}"/>
</p:tagLst>
</file>

<file path=ppt/tags/tag95.xml><?xml version="1.0" encoding="utf-8"?>
<p:tagLst xmlns:p="http://schemas.openxmlformats.org/presentationml/2006/main">
  <p:tag name="KSO_WM_DIAGRAM_VIRTUALLY_FRAME" val="{&quot;height&quot;:259.0861417322835,&quot;left&quot;:52,&quot;top&quot;:158.70740157480316,&quot;width&quot;:856}"/>
</p:tagLst>
</file>

<file path=ppt/tags/tag96.xml><?xml version="1.0" encoding="utf-8"?>
<p:tagLst xmlns:p="http://schemas.openxmlformats.org/presentationml/2006/main">
  <p:tag name="KSO_WM_DIAGRAM_VIRTUALLY_FRAME" val="{&quot;height&quot;:278.84497087130796,&quot;left&quot;:52,&quot;top&quot;:138.95502912869202,&quot;width&quot;:856}"/>
</p:tagLst>
</file>

<file path=ppt/tags/tag97.xml><?xml version="1.0" encoding="utf-8"?>
<p:tagLst xmlns:p="http://schemas.openxmlformats.org/presentationml/2006/main">
  <p:tag name="KSO_WM_DIAGRAM_VIRTUALLY_FRAME" val="{&quot;height&quot;:278.84497087130796,&quot;left&quot;:52,&quot;top&quot;:138.95502912869202,&quot;width&quot;:856}"/>
</p:tagLst>
</file>

<file path=ppt/tags/tag98.xml><?xml version="1.0" encoding="utf-8"?>
<p:tagLst xmlns:p="http://schemas.openxmlformats.org/presentationml/2006/main">
  <p:tag name="KSO_WM_DIAGRAM_VIRTUALLY_FRAME" val="{&quot;height&quot;:259.0861417322835,&quot;left&quot;:52,&quot;top&quot;:158.70740157480316,&quot;width&quot;:856}"/>
</p:tagLst>
</file>

<file path=ppt/tags/tag99.xml><?xml version="1.0" encoding="utf-8"?>
<p:tagLst xmlns:p="http://schemas.openxmlformats.org/presentationml/2006/main">
  <p:tag name="KSO_WM_DIAGRAM_VIRTUALLY_FRAME" val="{&quot;height&quot;:278.84497087130796,&quot;left&quot;:52,&quot;top&quot;:138.95502912869202,&quot;width&quot;:856}"/>
</p:tagLst>
</file>

<file path=ppt/tags/tag100.xml><?xml version="1.0" encoding="utf-8"?>
<p:tagLst xmlns:p="http://schemas.openxmlformats.org/presentationml/2006/main">
  <p:tag name="KSO_WM_DIAGRAM_VIRTUALLY_FRAME" val="{&quot;height&quot;:278.84497087130796,&quot;left&quot;:52,&quot;top&quot;:138.95502912869202,&quot;width&quot;:856}"/>
</p:tagLst>
</file>

<file path=ppt/tags/tag101.xml><?xml version="1.0" encoding="utf-8"?>
<p:tagLst xmlns:p="http://schemas.openxmlformats.org/presentationml/2006/main">
  <p:tag name="KSO_WM_DIAGRAM_VIRTUALLY_FRAME" val="{&quot;height&quot;:278.84497087130796,&quot;left&quot;:52,&quot;top&quot;:138.95502912869202,&quot;width&quot;:856}"/>
</p:tagLst>
</file>

<file path=ppt/tags/tag102.xml><?xml version="1.0" encoding="utf-8"?>
<p:tagLst xmlns:p="http://schemas.openxmlformats.org/presentationml/2006/main">
  <p:tag name="KSO_WM_DIAGRAM_VIRTUALLY_FRAME" val="{&quot;height&quot;:278.84497087130796,&quot;left&quot;:52,&quot;top&quot;:138.95502912869202,&quot;width&quot;:856}"/>
</p:tagLst>
</file>

<file path=ppt/tags/tag103.xml><?xml version="1.0" encoding="utf-8"?>
<p:tagLst xmlns:p="http://schemas.openxmlformats.org/presentationml/2006/main">
  <p:tag name="KSO_WM_DIAGRAM_VIRTUALLY_FRAME" val="{&quot;height&quot;:278.84497087130796,&quot;left&quot;:52,&quot;top&quot;:138.95502912869202,&quot;width&quot;:856}"/>
</p:tagLst>
</file>

<file path=ppt/tags/tag104.xml><?xml version="1.0" encoding="utf-8"?>
<p:tagLst xmlns:p="http://schemas.openxmlformats.org/presentationml/2006/main">
  <p:tag name="KSO_WM_DIAGRAM_VIRTUALLY_FRAME" val="{&quot;height&quot;:278.84497087130796,&quot;left&quot;:52,&quot;top&quot;:138.95502912869202,&quot;width&quot;:856}"/>
</p:tagLst>
</file>

<file path=ppt/tags/tag105.xml><?xml version="1.0" encoding="utf-8"?>
<p:tagLst xmlns:p="http://schemas.openxmlformats.org/presentationml/2006/main">
  <p:tag name="KSO_WM_DIAGRAM_VIRTUALLY_FRAME" val="{&quot;height&quot;:278.84497087130796,&quot;left&quot;:52,&quot;top&quot;:138.95502912869202,&quot;width&quot;:856}"/>
</p:tagLst>
</file>

<file path=ppt/tags/tag106.xml><?xml version="1.0" encoding="utf-8"?>
<p:tagLst xmlns:p="http://schemas.openxmlformats.org/presentationml/2006/main">
  <p:tag name="KSO_WM_DIAGRAM_VIRTUALLY_FRAME" val="{&quot;height&quot;:278.84497087130796,&quot;left&quot;:52,&quot;top&quot;:138.95502912869202,&quot;width&quot;:856}"/>
</p:tagLst>
</file>

<file path=ppt/tags/tag107.xml><?xml version="1.0" encoding="utf-8"?>
<p:tagLst xmlns:p="http://schemas.openxmlformats.org/presentationml/2006/main">
  <p:tag name="KSO_WM_DIAGRAM_VIRTUALLY_FRAME" val="{&quot;height&quot;:278.84497087130796,&quot;left&quot;:52,&quot;top&quot;:138.95502912869202,&quot;width&quot;:856}"/>
</p:tagLst>
</file>

<file path=ppt/tags/tag108.xml><?xml version="1.0" encoding="utf-8"?>
<p:tagLst xmlns:p="http://schemas.openxmlformats.org/presentationml/2006/main">
  <p:tag name="KSO_WM_DIAGRAM_VIRTUALLY_FRAME" val="{&quot;height&quot;:278.84497087130796,&quot;left&quot;:52,&quot;top&quot;:138.95502912869202,&quot;width&quot;:856}"/>
</p:tagLst>
</file>

<file path=ppt/tags/tag109.xml><?xml version="1.0" encoding="utf-8"?>
<p:tagLst xmlns:p="http://schemas.openxmlformats.org/presentationml/2006/main">
  <p:tag name="KSO_WM_DIAGRAM_VIRTUALLY_FRAME" val="{&quot;height&quot;:278.84497087130796,&quot;left&quot;:52,&quot;top&quot;:138.95502912869202,&quot;width&quot;:856}"/>
</p:tagLst>
</file>

<file path=ppt/tags/tag110.xml><?xml version="1.0" encoding="utf-8"?>
<p:tagLst xmlns:p="http://schemas.openxmlformats.org/presentationml/2006/main">
  <p:tag name="KSO_WM_DIAGRAM_VIRTUALLY_FRAME" val="{&quot;height&quot;:278.84497087130796,&quot;left&quot;:52,&quot;top&quot;:138.95502912869202,&quot;width&quot;:856}"/>
</p:tagLst>
</file>

<file path=ppt/tags/tag111.xml><?xml version="1.0" encoding="utf-8"?>
<p:tagLst xmlns:p="http://schemas.openxmlformats.org/presentationml/2006/main">
  <p:tag name="KSO_WM_DIAGRAM_VIRTUALLY_FRAME" val="{&quot;height&quot;:278.84497087130796,&quot;left&quot;:52,&quot;top&quot;:138.95502912869202,&quot;width&quot;:856}"/>
</p:tagLst>
</file>

<file path=ppt/tags/tag112.xml><?xml version="1.0" encoding="utf-8"?>
<p:tagLst xmlns:p="http://schemas.openxmlformats.org/presentationml/2006/main">
  <p:tag name="KSO_WM_DIAGRAM_VIRTUALLY_FRAME" val="{&quot;height&quot;:278.84497087130796,&quot;left&quot;:52,&quot;top&quot;:138.95502912869202,&quot;width&quot;:856}"/>
</p:tagLst>
</file>

<file path=ppt/tags/tag113.xml><?xml version="1.0" encoding="utf-8"?>
<p:tagLst xmlns:p="http://schemas.openxmlformats.org/presentationml/2006/main">
  <p:tag name="KSO_WM_DIAGRAM_VIRTUALLY_FRAME" val="{&quot;height&quot;:330.72937007874015,&quot;left&quot;:53.106771653543305,&quot;top&quot;:123.40661417322835,&quot;width&quot;:853.7864566929132}"/>
</p:tagLst>
</file>

<file path=ppt/tags/tag114.xml><?xml version="1.0" encoding="utf-8"?>
<p:tagLst xmlns:p="http://schemas.openxmlformats.org/presentationml/2006/main">
  <p:tag name="KSO_WM_DIAGRAM_VIRTUALLY_FRAME" val="{&quot;height&quot;:330.72937007874015,&quot;left&quot;:53.106771653543305,&quot;top&quot;:123.40661417322835,&quot;width&quot;:853.7864566929132}"/>
</p:tagLst>
</file>

<file path=ppt/tags/tag115.xml><?xml version="1.0" encoding="utf-8"?>
<p:tagLst xmlns:p="http://schemas.openxmlformats.org/presentationml/2006/main">
  <p:tag name="KSO_WM_DIAGRAM_VIRTUALLY_FRAME" val="{&quot;height&quot;:330.72937007874015,&quot;left&quot;:53.106771653543305,&quot;top&quot;:123.40661417322835,&quot;width&quot;:853.7864566929132}"/>
</p:tagLst>
</file>

<file path=ppt/tags/tag116.xml><?xml version="1.0" encoding="utf-8"?>
<p:tagLst xmlns:p="http://schemas.openxmlformats.org/presentationml/2006/main">
  <p:tag name="KSO_WM_DIAGRAM_VIRTUALLY_FRAME" val="{&quot;height&quot;:330.72937007874015,&quot;left&quot;:53.106771653543305,&quot;top&quot;:123.40661417322835,&quot;width&quot;:853.7864566929132}"/>
</p:tagLst>
</file>

<file path=ppt/tags/tag117.xml><?xml version="1.0" encoding="utf-8"?>
<p:tagLst xmlns:p="http://schemas.openxmlformats.org/presentationml/2006/main">
  <p:tag name="TABLE_ENDDRAG_ORIGIN_RECT" val="318*30"/>
  <p:tag name="TABLE_ENDDRAG_RECT" val="457*116*318*30"/>
</p:tagLst>
</file>

<file path=ppt/tags/tag118.xml><?xml version="1.0" encoding="utf-8"?>
<p:tagLst xmlns:p="http://schemas.openxmlformats.org/presentationml/2006/main">
  <p:tag name="TABLE_ENDDRAG_ORIGIN_RECT" val="270*204"/>
  <p:tag name="TABLE_ENDDRAG_RECT" val="9*140*270*204"/>
</p:tagLst>
</file>

<file path=ppt/tags/tag119.xml><?xml version="1.0" encoding="utf-8"?>
<p:tagLst xmlns:p="http://schemas.openxmlformats.org/presentationml/2006/main">
  <p:tag name="TABLE_ENDDRAG_ORIGIN_RECT" val="332*271"/>
  <p:tag name="TABLE_ENDDRAG_RECT" val="314*104*332*271"/>
</p:tagLst>
</file>

<file path=ppt/tags/tag120.xml><?xml version="1.0" encoding="utf-8"?>
<p:tagLst xmlns:p="http://schemas.openxmlformats.org/presentationml/2006/main">
  <p:tag name="KSO_WM_DIAGRAM_VIRTUALLY_FRAME" val="{&quot;height&quot;:353.2094488188976,&quot;left&quot;:181.86220472440945,&quot;top&quot;:116.77110236220472,&quot;width&quot;:595.275590551181}"/>
</p:tagLst>
</file>

<file path=ppt/tags/tag121.xml><?xml version="1.0" encoding="utf-8"?>
<p:tagLst xmlns:p="http://schemas.openxmlformats.org/presentationml/2006/main">
  <p:tag name="KSO_WM_DIAGRAM_VIRTUALLY_FRAME" val="{&quot;height&quot;:353.2094488188976,&quot;left&quot;:181.86220472440945,&quot;top&quot;:116.77110236220472,&quot;width&quot;:595.275590551181}"/>
</p:tagLst>
</file>

<file path=ppt/tags/tag122.xml><?xml version="1.0" encoding="utf-8"?>
<p:tagLst xmlns:p="http://schemas.openxmlformats.org/presentationml/2006/main">
  <p:tag name="KSO_WM_DIAGRAM_VIRTUALLY_FRAME" val="{&quot;height&quot;:353.2094488188976,&quot;left&quot;:181.86220472440945,&quot;top&quot;:116.77110236220472,&quot;width&quot;:595.275590551181}"/>
</p:tagLst>
</file>

<file path=ppt/tags/tag123.xml><?xml version="1.0" encoding="utf-8"?>
<p:tagLst xmlns:p="http://schemas.openxmlformats.org/presentationml/2006/main">
  <p:tag name="KSO_WM_DIAGRAM_VIRTUALLY_FRAME" val="{&quot;height&quot;:353.2094488188976,&quot;left&quot;:181.86220472440945,&quot;top&quot;:116.77110236220472,&quot;width&quot;:595.275590551181}"/>
</p:tagLst>
</file>

<file path=ppt/tags/tag124.xml><?xml version="1.0" encoding="utf-8"?>
<p:tagLst xmlns:p="http://schemas.openxmlformats.org/presentationml/2006/main">
  <p:tag name="KSO_WM_DIAGRAM_VIRTUALLY_FRAME" val="{&quot;height&quot;:353.2094488188976,&quot;left&quot;:181.86220472440945,&quot;top&quot;:116.77110236220472,&quot;width&quot;:595.275590551181}"/>
</p:tagLst>
</file>

<file path=ppt/tags/tag125.xml><?xml version="1.0" encoding="utf-8"?>
<p:tagLst xmlns:p="http://schemas.openxmlformats.org/presentationml/2006/main">
  <p:tag name="KSO_WM_DIAGRAM_VIRTUALLY_FRAME" val="{&quot;height&quot;:353.2094488188976,&quot;left&quot;:181.86220472440945,&quot;top&quot;:116.77110236220472,&quot;width&quot;:595.275590551181}"/>
</p:tagLst>
</file>

<file path=ppt/tags/tag126.xml><?xml version="1.0" encoding="utf-8"?>
<p:tagLst xmlns:p="http://schemas.openxmlformats.org/presentationml/2006/main">
  <p:tag name="TABLE_ENDDRAG_ORIGIN_RECT" val="323*184"/>
  <p:tag name="TABLE_ENDDRAG_RECT" val="384*102*323*184"/>
</p:tagLst>
</file>

<file path=ppt/tags/tag127.xml><?xml version="1.0" encoding="utf-8"?>
<p:tagLst xmlns:p="http://schemas.openxmlformats.org/presentationml/2006/main">
  <p:tag name="TABLE_ENDDRAG_ORIGIN_RECT" val="661*245"/>
  <p:tag name="TABLE_ENDDRAG_RECT" val="17*53*661*246"/>
</p:tagLst>
</file>

<file path=ppt/tags/tag128.xml><?xml version="1.0" encoding="utf-8"?>
<p:tagLst xmlns:p="http://schemas.openxmlformats.org/presentationml/2006/main">
  <p:tag name="TABLE_ENDDRAG_ORIGIN_RECT" val="502*232"/>
  <p:tag name="TABLE_ENDDRAG_RECT" val="17*82*502*232"/>
</p:tagLst>
</file>

<file path=ppt/tags/tag129.xml><?xml version="1.0" encoding="utf-8"?>
<p:tagLst xmlns:p="http://schemas.openxmlformats.org/presentationml/2006/main">
  <p:tag name="TABLE_ENDDRAG_ORIGIN_RECT" val="215*159"/>
  <p:tag name="TABLE_ENDDRAG_RECT" val="23*73*215*159"/>
</p:tagLst>
</file>

<file path=ppt/tags/tag130.xml><?xml version="1.0" encoding="utf-8"?>
<p:tagLst xmlns:p="http://schemas.openxmlformats.org/presentationml/2006/main">
  <p:tag name="TABLE_ENDDRAG_ORIGIN_RECT" val="251*61"/>
  <p:tag name="TABLE_ENDDRAG_RECT" val="191*87*251*61"/>
</p:tagLst>
</file>

<file path=ppt/tags/tag131.xml><?xml version="1.0" encoding="utf-8"?>
<p:tagLst xmlns:p="http://schemas.openxmlformats.org/presentationml/2006/main">
  <p:tag name="TABLE_ENDDRAG_ORIGIN_RECT" val="215*114"/>
  <p:tag name="TABLE_ENDDRAG_RECT" val="17*245*215*114"/>
</p:tagLst>
</file>

<file path=ppt/theme/theme1.xml><?xml version="1.0" encoding="utf-8"?>
<a:theme xmlns:a="http://schemas.openxmlformats.org/drawingml/2006/main" name="Office 佈景主題">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10712</Words>
  <Application>WPS 演示</Application>
  <PresentationFormat>如螢幕大小 (16:9)</PresentationFormat>
  <Paragraphs>1477</Paragraphs>
  <Slides>53</Slides>
  <Notes>0</Notes>
  <HiddenSlides>0</HiddenSlides>
  <MMClips>0</MMClips>
  <ScaleCrop>false</ScaleCrop>
  <HeadingPairs>
    <vt:vector size="6" baseType="variant">
      <vt:variant>
        <vt:lpstr>已用的字体</vt:lpstr>
      </vt:variant>
      <vt:variant>
        <vt:i4>33</vt:i4>
      </vt:variant>
      <vt:variant>
        <vt:lpstr>主题</vt:lpstr>
      </vt:variant>
      <vt:variant>
        <vt:i4>1</vt:i4>
      </vt:variant>
      <vt:variant>
        <vt:lpstr>幻灯片标题</vt:lpstr>
      </vt:variant>
      <vt:variant>
        <vt:i4>53</vt:i4>
      </vt:variant>
    </vt:vector>
  </HeadingPairs>
  <TitlesOfParts>
    <vt:vector size="87" baseType="lpstr">
      <vt:lpstr>Arial</vt:lpstr>
      <vt:lpstr>宋体</vt:lpstr>
      <vt:lpstr>Wingdings</vt:lpstr>
      <vt:lpstr>Calibri</vt:lpstr>
      <vt:lpstr>PMingLiU</vt:lpstr>
      <vt:lpstr>PMingLiU-ExtB</vt:lpstr>
      <vt:lpstr>Microsoft JhengHei</vt:lpstr>
      <vt:lpstr>ZapfDingbats</vt:lpstr>
      <vt:lpstr>OPPOSans H</vt:lpstr>
      <vt:lpstr>思源黑体 CN Normal</vt:lpstr>
      <vt:lpstr>Times New Roman</vt:lpstr>
      <vt:lpstr>OPPOSans B</vt:lpstr>
      <vt:lpstr>微软雅黑</vt:lpstr>
      <vt:lpstr>OPPOSans L</vt:lpstr>
      <vt:lpstr>Arial Unicode MS</vt:lpstr>
      <vt:lpstr>等线</vt:lpstr>
      <vt:lpstr>OPPOSans R</vt:lpstr>
      <vt:lpstr>黑体</vt:lpstr>
      <vt:lpstr>Arial Black</vt:lpstr>
      <vt:lpstr>PMingLiU</vt:lpstr>
      <vt:lpstr>Segoe Print</vt:lpstr>
      <vt:lpstr>OPPOSans B</vt:lpstr>
      <vt:lpstr>OPPOSans H</vt:lpstr>
      <vt:lpstr>OPPOSans L</vt:lpstr>
      <vt:lpstr>OPPOSans R</vt:lpstr>
      <vt:lpstr>ZapfDingbats</vt:lpstr>
      <vt:lpstr>思源黑体 CN Normal</vt:lpstr>
      <vt:lpstr>Toots Regular</vt:lpstr>
      <vt:lpstr>H2O</vt:lpstr>
      <vt:lpstr>方正大黑体_GBK</vt:lpstr>
      <vt:lpstr>The best part</vt:lpstr>
      <vt:lpstr>Love Letters</vt:lpstr>
      <vt:lpstr>Retro Cute</vt:lpstr>
      <vt:lpstr>Office 佈景主題</vt:lpstr>
      <vt:lpstr>BLE学习报告</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公司新版政策語錄</dc:title>
  <dc:creator>KW31_陳柏廷(Point.Chen)</dc:creator>
  <cp:lastModifiedBy>黑影</cp:lastModifiedBy>
  <cp:revision>1200</cp:revision>
  <cp:lastPrinted>2023-11-14T06:51:00Z</cp:lastPrinted>
  <dcterms:created xsi:type="dcterms:W3CDTF">2021-05-06T16:03:00Z</dcterms:created>
  <dcterms:modified xsi:type="dcterms:W3CDTF">2026-02-02T06:29:18Z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C16F678DCBD14D92857B7BA57B8F979F_12</vt:lpwstr>
  </property>
</Properties>
</file>