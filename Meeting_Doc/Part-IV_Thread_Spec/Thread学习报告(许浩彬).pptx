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handoutMasterIdLst>
    <p:handoutMasterId r:id="rId35"/>
  </p:handoutMasterIdLst>
  <p:sldIdLst>
    <p:sldId id="721" r:id="rId3"/>
    <p:sldId id="720" r:id="rId4"/>
    <p:sldId id="722" r:id="rId5"/>
    <p:sldId id="723" r:id="rId6"/>
    <p:sldId id="724" r:id="rId7"/>
    <p:sldId id="776" r:id="rId8"/>
    <p:sldId id="777" r:id="rId9"/>
    <p:sldId id="778" r:id="rId10"/>
    <p:sldId id="779" r:id="rId11"/>
    <p:sldId id="813" r:id="rId12"/>
    <p:sldId id="736" r:id="rId13"/>
    <p:sldId id="725" r:id="rId14"/>
    <p:sldId id="805" r:id="rId15"/>
    <p:sldId id="783" r:id="rId16"/>
    <p:sldId id="784" r:id="rId17"/>
    <p:sldId id="785" r:id="rId18"/>
    <p:sldId id="807" r:id="rId19"/>
    <p:sldId id="811" r:id="rId20"/>
    <p:sldId id="814" r:id="rId21"/>
    <p:sldId id="732" r:id="rId22"/>
    <p:sldId id="733" r:id="rId23"/>
    <p:sldId id="808" r:id="rId24"/>
    <p:sldId id="809" r:id="rId25"/>
    <p:sldId id="810" r:id="rId26"/>
    <p:sldId id="741" r:id="rId27"/>
    <p:sldId id="815" r:id="rId28"/>
    <p:sldId id="816" r:id="rId29"/>
    <p:sldId id="818" r:id="rId30"/>
    <p:sldId id="819" r:id="rId31"/>
    <p:sldId id="775" r:id="rId33"/>
    <p:sldId id="761" r:id="rId34"/>
  </p:sldIdLst>
  <p:sldSz cx="9144000" cy="5143500" type="screen16x9"/>
  <p:notesSz cx="6807200" cy="993902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46E78"/>
    <a:srgbClr val="E7EEBA"/>
    <a:srgbClr val="96C9D2"/>
    <a:srgbClr val="C1E0E5"/>
    <a:srgbClr val="DCEDF0"/>
    <a:srgbClr val="C24E4E"/>
    <a:srgbClr val="99B323"/>
    <a:srgbClr val="E8B128"/>
    <a:srgbClr val="AB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6" autoAdjust="0"/>
    <p:restoredTop sz="93219" autoAdjust="0"/>
  </p:normalViewPr>
  <p:slideViewPr>
    <p:cSldViewPr snapToGrid="0" snapToObjects="1">
      <p:cViewPr varScale="1">
        <p:scale>
          <a:sx n="147" d="100"/>
          <a:sy n="147" d="100"/>
        </p:scale>
        <p:origin x="8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3C5B-193A-4BF8-A82E-7EEB60FC9D06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2EFD-17CF-42D6-A0C8-2B54CA1B5FB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A0AF-27EE-2F44-8E2A-D118AC8FD31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F2086-D505-2D44-8947-B67946DAFD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648" r="542" b="24906"/>
          <a:stretch>
            <a:fillRect/>
          </a:stretch>
        </p:blipFill>
        <p:spPr>
          <a:xfrm>
            <a:off x="0" y="-2250"/>
            <a:ext cx="9144000" cy="514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571964" y="2970854"/>
            <a:ext cx="3888134" cy="1550031"/>
          </a:xfrm>
          <a:prstGeom prst="rect">
            <a:avLst/>
          </a:prstGeom>
        </p:spPr>
        <p:txBody>
          <a:bodyPr wrap="square" lIns="36000" tIns="36000" rIns="36000" bIns="36000" anchor="ctr">
            <a:spAutoFit/>
          </a:bodyPr>
          <a:lstStyle/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Michaelango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Leonardo da Vinci and Rafael (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Raffaello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Sanzio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Italian) are the famous three Masters of the Italian Renaissance.</a:t>
            </a: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creatively excelled in both science and art so their works influenced the future of Western culture.</a:t>
            </a: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Radio frequency technology is commonly called RF thus we have adopted Rafael’s name for its R and F.</a:t>
            </a: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標題 83"/>
          <p:cNvSpPr>
            <a:spLocks noGrp="1"/>
          </p:cNvSpPr>
          <p:nvPr>
            <p:ph type="title" hasCustomPrompt="1"/>
          </p:nvPr>
        </p:nvSpPr>
        <p:spPr>
          <a:xfrm>
            <a:off x="679939" y="1401972"/>
            <a:ext cx="7200000" cy="396000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1" i="0" baseline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Edit Report Title</a:t>
            </a:r>
            <a:endParaRPr lang="zh-TW" altLang="en-US" dirty="0"/>
          </a:p>
        </p:txBody>
      </p:sp>
      <p:sp>
        <p:nvSpPr>
          <p:cNvPr id="15" name="文字版面配置區 31"/>
          <p:cNvSpPr>
            <a:spLocks noGrp="1"/>
          </p:cNvSpPr>
          <p:nvPr>
            <p:ph type="body" sz="quarter" idx="23" hasCustomPrompt="1"/>
          </p:nvPr>
        </p:nvSpPr>
        <p:spPr>
          <a:xfrm>
            <a:off x="1748253" y="4228170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zh-TW" altLang="en-US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MMM-DD-YYYY</a:t>
            </a:r>
            <a:endParaRPr lang="zh-TW" altLang="en-US" dirty="0"/>
          </a:p>
        </p:txBody>
      </p:sp>
      <p:sp>
        <p:nvSpPr>
          <p:cNvPr id="20" name="文字版面配置區 31"/>
          <p:cNvSpPr>
            <a:spLocks noGrp="1"/>
          </p:cNvSpPr>
          <p:nvPr>
            <p:ph type="body" sz="quarter" idx="24" hasCustomPrompt="1"/>
          </p:nvPr>
        </p:nvSpPr>
        <p:spPr>
          <a:xfrm>
            <a:off x="1748253" y="3835302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  <a:endParaRPr lang="en-US" altLang="zh-TW" dirty="0"/>
          </a:p>
        </p:txBody>
      </p:sp>
      <p:sp>
        <p:nvSpPr>
          <p:cNvPr id="21" name="文字版面配置區 31"/>
          <p:cNvSpPr>
            <a:spLocks noGrp="1"/>
          </p:cNvSpPr>
          <p:nvPr>
            <p:ph type="body" sz="quarter" idx="20" hasCustomPrompt="1"/>
          </p:nvPr>
        </p:nvSpPr>
        <p:spPr>
          <a:xfrm>
            <a:off x="1748253" y="3049564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kern="120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  <a:endParaRPr lang="en-US" altLang="zh-TW" dirty="0"/>
          </a:p>
        </p:txBody>
      </p:sp>
      <p:sp>
        <p:nvSpPr>
          <p:cNvPr id="22" name="文字版面配置區 31"/>
          <p:cNvSpPr>
            <a:spLocks noGrp="1"/>
          </p:cNvSpPr>
          <p:nvPr>
            <p:ph type="body" sz="quarter" idx="21" hasCustomPrompt="1"/>
          </p:nvPr>
        </p:nvSpPr>
        <p:spPr>
          <a:xfrm>
            <a:off x="1748253" y="3442433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  <a:endParaRPr lang="en-US" altLang="zh-TW" dirty="0"/>
          </a:p>
        </p:txBody>
      </p:sp>
      <p:sp>
        <p:nvSpPr>
          <p:cNvPr id="24" name="Rectangle 15"/>
          <p:cNvSpPr/>
          <p:nvPr userDrawn="1"/>
        </p:nvSpPr>
        <p:spPr>
          <a:xfrm>
            <a:off x="679939" y="3070994"/>
            <a:ext cx="864587" cy="245058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Presented by : </a:t>
            </a:r>
            <a:endParaRPr lang="en-US" altLang="zh-TW" sz="1000" b="1" kern="1200" dirty="0">
              <a:solidFill>
                <a:srgbClr val="F3F3F3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15"/>
          <p:cNvSpPr/>
          <p:nvPr userDrawn="1"/>
        </p:nvSpPr>
        <p:spPr>
          <a:xfrm>
            <a:off x="679939" y="3450348"/>
            <a:ext cx="846954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R="0" lvl="0" indent="0" algn="l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TW" sz="1000" b="1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Reviewed by :</a:t>
            </a:r>
            <a:r>
              <a:rPr lang="en-US" altLang="zh-TW" sz="1000" b="1" baseline="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endParaRPr lang="en-US" altLang="zh-TW" sz="1000" b="1" dirty="0">
              <a:solidFill>
                <a:srgbClr val="F3F3F3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" name="Rectangle 17"/>
          <p:cNvSpPr/>
          <p:nvPr userDrawn="1"/>
        </p:nvSpPr>
        <p:spPr>
          <a:xfrm>
            <a:off x="679939" y="3843230"/>
            <a:ext cx="741156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Created by : </a:t>
            </a:r>
            <a:endParaRPr lang="en-US" altLang="zh-TW" sz="1000" b="1" kern="1200" dirty="0">
              <a:solidFill>
                <a:srgbClr val="F3F3F3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7" name="Rectangle 18"/>
          <p:cNvSpPr/>
          <p:nvPr userDrawn="1"/>
        </p:nvSpPr>
        <p:spPr>
          <a:xfrm>
            <a:off x="679939" y="4243485"/>
            <a:ext cx="1119465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Presentation date : </a:t>
            </a:r>
            <a:endParaRPr lang="zh-TW" altLang="en-US" sz="1000" b="1" kern="1200" dirty="0">
              <a:solidFill>
                <a:srgbClr val="F3F3F3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0" name="圖片 29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>
            <a:fillRect/>
          </a:stretch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31" name="框架 30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" r="9250"/>
          <a:stretch>
            <a:fillRect/>
          </a:stretch>
        </p:blipFill>
        <p:spPr bwMode="auto">
          <a:xfrm>
            <a:off x="0" y="-2250"/>
            <a:ext cx="9144000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框架 4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圖片 6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>
            <a:fillRect/>
          </a:stretch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8" name="標題 9"/>
          <p:cNvSpPr txBox="1"/>
          <p:nvPr userDrawn="1"/>
        </p:nvSpPr>
        <p:spPr>
          <a:xfrm>
            <a:off x="2772000" y="2283750"/>
            <a:ext cx="3600000" cy="5760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+mj-cs"/>
              </a:defRPr>
            </a:lvl1pPr>
          </a:lstStyle>
          <a:p>
            <a:pPr algn="ctr"/>
            <a:r>
              <a:rPr lang="en-US" altLang="zh-TW" sz="1800" b="1" dirty="0">
                <a:solidFill>
                  <a:schemeClr val="bg1"/>
                </a:solidFill>
                <a:effectLst/>
                <a:latin typeface="ZapfDingbats" pitchFamily="18"/>
              </a:rPr>
              <a:t>Thank You</a:t>
            </a:r>
            <a:endParaRPr lang="en-US" altLang="zh-TW" sz="1800" b="1" dirty="0">
              <a:solidFill>
                <a:schemeClr val="bg1"/>
              </a:solidFill>
              <a:effectLst/>
              <a:latin typeface="ZapfDingbats" pitchFamily="18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162125" y="3375855"/>
            <a:ext cx="6819752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lvl="0" algn="ctr"/>
            <a:r>
              <a:rPr lang="en-US" altLang="zh-TW" sz="140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</a:t>
            </a:r>
            <a:r>
              <a:rPr lang="en-US" altLang="zh-TW" sz="1400" baseline="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400" baseline="0" dirty="0">
                <a:solidFill>
                  <a:srgbClr val="99B3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</a:t>
            </a:r>
            <a:r>
              <a:rPr lang="en-US" altLang="zh-TW" sz="1000" dirty="0">
                <a:solidFill>
                  <a:srgbClr val="D3D4D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000" kern="12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 RF integrated circuits with this same aspiration by continuously pursuing innovation and unique creativity.</a:t>
            </a:r>
            <a:endParaRPr lang="en-US" altLang="zh-TW" sz="1000" kern="12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投影片編號版面配置區 3"/>
          <p:cNvSpPr txBox="1"/>
          <p:nvPr userDrawn="1"/>
        </p:nvSpPr>
        <p:spPr>
          <a:xfrm>
            <a:off x="390123" y="4914968"/>
            <a:ext cx="129597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 lvl="0" algn="ctr"/>
            <a:r>
              <a:rPr lang="en-US" altLang="zh-TW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700" baseline="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Box 19"/>
          <p:cNvSpPr txBox="1">
            <a:spLocks noChangeArrowheads="1"/>
          </p:cNvSpPr>
          <p:nvPr userDrawn="1"/>
        </p:nvSpPr>
        <p:spPr bwMode="auto">
          <a:xfrm>
            <a:off x="7609030" y="4914968"/>
            <a:ext cx="1282970" cy="1958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en-US" altLang="zh-TW" sz="800" b="0" i="1" dirty="0">
                <a:solidFill>
                  <a:srgbClr val="F6B9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  <a:endParaRPr lang="en-US" altLang="zh-TW" sz="800" b="0" i="1" dirty="0">
              <a:solidFill>
                <a:srgbClr val="F6B9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群組 30"/>
          <p:cNvGrpSpPr>
            <a:grpSpLocks noChangeAspect="1"/>
          </p:cNvGrpSpPr>
          <p:nvPr userDrawn="1"/>
        </p:nvGrpSpPr>
        <p:grpSpPr>
          <a:xfrm>
            <a:off x="8164750" y="4612872"/>
            <a:ext cx="741426" cy="288000"/>
            <a:chOff x="7965218" y="4546501"/>
            <a:chExt cx="926782" cy="360000"/>
          </a:xfrm>
        </p:grpSpPr>
        <p:grpSp>
          <p:nvGrpSpPr>
            <p:cNvPr id="6" name="群組 5"/>
            <p:cNvGrpSpPr/>
            <p:nvPr userDrawn="1"/>
          </p:nvGrpSpPr>
          <p:grpSpPr>
            <a:xfrm>
              <a:off x="8496408" y="4546501"/>
              <a:ext cx="395592" cy="360000"/>
              <a:chOff x="5469835" y="3003630"/>
              <a:chExt cx="395592" cy="360000"/>
            </a:xfrm>
          </p:grpSpPr>
          <p:pic>
            <p:nvPicPr>
              <p:cNvPr id="28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86" r="72051" b="9655"/>
              <a:stretch>
                <a:fillRect/>
              </a:stretch>
            </p:blipFill>
            <p:spPr bwMode="auto">
              <a:xfrm>
                <a:off x="5469836" y="3003630"/>
                <a:ext cx="395591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矩形 4"/>
              <p:cNvSpPr/>
              <p:nvPr userDrawn="1"/>
            </p:nvSpPr>
            <p:spPr>
              <a:xfrm>
                <a:off x="5469835" y="3003630"/>
                <a:ext cx="395591" cy="360000"/>
              </a:xfrm>
              <a:prstGeom prst="rect">
                <a:avLst/>
              </a:prstGeom>
              <a:solidFill>
                <a:srgbClr val="FFFFFF">
                  <a:alpha val="6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群組 29"/>
            <p:cNvGrpSpPr/>
            <p:nvPr userDrawn="1"/>
          </p:nvGrpSpPr>
          <p:grpSpPr>
            <a:xfrm>
              <a:off x="7965218" y="4798501"/>
              <a:ext cx="642182" cy="108000"/>
              <a:chOff x="4458584" y="2799907"/>
              <a:chExt cx="642182" cy="108000"/>
            </a:xfrm>
          </p:grpSpPr>
          <p:pic>
            <p:nvPicPr>
              <p:cNvPr id="29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72" t="37421" r="5424" b="30389"/>
              <a:stretch>
                <a:fillRect/>
              </a:stretch>
            </p:blipFill>
            <p:spPr bwMode="auto">
              <a:xfrm>
                <a:off x="4458584" y="2799907"/>
                <a:ext cx="642182" cy="1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6"/>
              <p:cNvSpPr/>
              <p:nvPr userDrawn="1"/>
            </p:nvSpPr>
            <p:spPr>
              <a:xfrm>
                <a:off x="4458584" y="2799907"/>
                <a:ext cx="640800" cy="108000"/>
              </a:xfrm>
              <a:prstGeom prst="rect">
                <a:avLst/>
              </a:prstGeom>
              <a:solidFill>
                <a:srgbClr val="FFFFFF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矩形 38"/>
          <p:cNvSpPr/>
          <p:nvPr userDrawn="1"/>
        </p:nvSpPr>
        <p:spPr>
          <a:xfrm rot="5400000">
            <a:off x="324000" y="4972568"/>
            <a:ext cx="126000" cy="10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2000" y="4906501"/>
            <a:ext cx="270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 userDrawn="1"/>
        </p:nvSpPr>
        <p:spPr>
          <a:xfrm flipH="1">
            <a:off x="657000" y="4906501"/>
            <a:ext cx="8235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投影片編號版面配置區 3"/>
          <p:cNvSpPr txBox="1"/>
          <p:nvPr userDrawn="1"/>
        </p:nvSpPr>
        <p:spPr>
          <a:xfrm>
            <a:off x="254280" y="4914968"/>
            <a:ext cx="12732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 lvl="0" algn="ctr"/>
            <a:fld id="{9C5D9D58-E8C0-45B8-84D0-B47AD46CE60E}" type="slidenum">
              <a:rPr lang="zh-TW" altLang="en-US" sz="700" baseline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sz="700" baseline="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</a:t>
            </a:r>
            <a:r>
              <a:rPr lang="zh-CN" altLang="en-US" dirty="0"/>
              <a:t>学习</a:t>
            </a:r>
            <a:r>
              <a:rPr lang="zh-CN" altLang="en-US" dirty="0"/>
              <a:t>报告</a:t>
            </a:r>
            <a:endParaRPr lang="zh-CN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2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M</a:t>
            </a:r>
            <a:r>
              <a:rPr lang="en-US" smtClean="0"/>
              <a:t>ar-18-2026</a:t>
            </a:r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2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许浩彬</a:t>
            </a:r>
            <a:endParaRPr lang="zh-CN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2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许浩彬</a:t>
            </a:r>
            <a:endParaRPr lang="zh-CN" altLang="en-US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2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许浩彬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50516" y="145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Overview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466590" y="761365"/>
            <a:ext cx="1725930" cy="739140"/>
            <a:chOff x="10024" y="6285"/>
            <a:chExt cx="2718" cy="1164"/>
          </a:xfrm>
        </p:grpSpPr>
        <p:sp>
          <p:nvSpPr>
            <p:cNvPr id="63" name="圆角矩形 62"/>
            <p:cNvSpPr/>
            <p:nvPr>
              <p:custDataLst>
                <p:tags r:id="rId2"/>
              </p:custDataLst>
            </p:nvPr>
          </p:nvSpPr>
          <p:spPr>
            <a:xfrm rot="21240000">
              <a:off x="10024" y="6311"/>
              <a:ext cx="2335" cy="1134"/>
            </a:xfrm>
            <a:prstGeom prst="roundRect">
              <a:avLst>
                <a:gd name="adj" fmla="val 55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圆角矩形 63"/>
            <p:cNvSpPr/>
            <p:nvPr>
              <p:custDataLst>
                <p:tags r:id="rId3"/>
              </p:custDataLst>
            </p:nvPr>
          </p:nvSpPr>
          <p:spPr>
            <a:xfrm>
              <a:off x="10046" y="6285"/>
              <a:ext cx="2549" cy="1165"/>
            </a:xfrm>
            <a:prstGeom prst="roundRect">
              <a:avLst>
                <a:gd name="adj" fmla="val 5556"/>
              </a:avLst>
            </a:prstGeom>
            <a:solidFill>
              <a:schemeClr val="bg1"/>
            </a:solidFill>
            <a:ln w="15875">
              <a:solidFill>
                <a:srgbClr val="0000C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64"/>
            <p:cNvSpPr/>
            <p:nvPr>
              <p:custDataLst>
                <p:tags r:id="rId4"/>
              </p:custDataLst>
            </p:nvPr>
          </p:nvSpPr>
          <p:spPr>
            <a:xfrm>
              <a:off x="10304" y="6381"/>
              <a:ext cx="310" cy="304"/>
            </a:xfrm>
            <a:custGeom>
              <a:avLst/>
              <a:gdLst>
                <a:gd name="connsiteX0" fmla="*/ 337768 w 1372282"/>
                <a:gd name="connsiteY0" fmla="*/ 1315328 h 1426949"/>
                <a:gd name="connsiteX1" fmla="*/ 530173 w 1372282"/>
                <a:gd name="connsiteY1" fmla="*/ 1315328 h 1426949"/>
                <a:gd name="connsiteX2" fmla="*/ 842109 w 1372282"/>
                <a:gd name="connsiteY2" fmla="*/ 1315328 h 1426949"/>
                <a:gd name="connsiteX3" fmla="*/ 1034514 w 1372282"/>
                <a:gd name="connsiteY3" fmla="*/ 1315328 h 1426949"/>
                <a:gd name="connsiteX4" fmla="*/ 1090325 w 1372282"/>
                <a:gd name="connsiteY4" fmla="*/ 1371139 h 1426949"/>
                <a:gd name="connsiteX5" fmla="*/ 1034514 w 1372282"/>
                <a:gd name="connsiteY5" fmla="*/ 1426949 h 1426949"/>
                <a:gd name="connsiteX6" fmla="*/ 842109 w 1372282"/>
                <a:gd name="connsiteY6" fmla="*/ 1426949 h 1426949"/>
                <a:gd name="connsiteX7" fmla="*/ 530173 w 1372282"/>
                <a:gd name="connsiteY7" fmla="*/ 1426949 h 1426949"/>
                <a:gd name="connsiteX8" fmla="*/ 337768 w 1372282"/>
                <a:gd name="connsiteY8" fmla="*/ 1426949 h 1426949"/>
                <a:gd name="connsiteX9" fmla="*/ 281957 w 1372282"/>
                <a:gd name="connsiteY9" fmla="*/ 1371139 h 1426949"/>
                <a:gd name="connsiteX10" fmla="*/ 337768 w 1372282"/>
                <a:gd name="connsiteY10" fmla="*/ 1315328 h 1426949"/>
                <a:gd name="connsiteX11" fmla="*/ 686154 w 1372282"/>
                <a:gd name="connsiteY11" fmla="*/ 111621 h 1426949"/>
                <a:gd name="connsiteX12" fmla="*/ 237624 w 1372282"/>
                <a:gd name="connsiteY12" fmla="*/ 560152 h 1426949"/>
                <a:gd name="connsiteX13" fmla="*/ 237624 w 1372282"/>
                <a:gd name="connsiteY13" fmla="*/ 985614 h 1426949"/>
                <a:gd name="connsiteX14" fmla="*/ 229252 w 1372282"/>
                <a:gd name="connsiteY14" fmla="*/ 1014822 h 1426949"/>
                <a:gd name="connsiteX15" fmla="*/ 155768 w 1372282"/>
                <a:gd name="connsiteY15" fmla="*/ 1134814 h 1426949"/>
                <a:gd name="connsiteX16" fmla="*/ 1214680 w 1372282"/>
                <a:gd name="connsiteY16" fmla="*/ 1134814 h 1426949"/>
                <a:gd name="connsiteX17" fmla="*/ 1143429 w 1372282"/>
                <a:gd name="connsiteY17" fmla="*/ 1023565 h 1426949"/>
                <a:gd name="connsiteX18" fmla="*/ 1134685 w 1372282"/>
                <a:gd name="connsiteY18" fmla="*/ 993428 h 1426949"/>
                <a:gd name="connsiteX19" fmla="*/ 1134685 w 1372282"/>
                <a:gd name="connsiteY19" fmla="*/ 560152 h 1426949"/>
                <a:gd name="connsiteX20" fmla="*/ 686154 w 1372282"/>
                <a:gd name="connsiteY20" fmla="*/ 111621 h 1426949"/>
                <a:gd name="connsiteX21" fmla="*/ 686154 w 1372282"/>
                <a:gd name="connsiteY21" fmla="*/ 0 h 1426949"/>
                <a:gd name="connsiteX22" fmla="*/ 903815 w 1372282"/>
                <a:gd name="connsiteY22" fmla="*/ 44276 h 1426949"/>
                <a:gd name="connsiteX23" fmla="*/ 1081851 w 1372282"/>
                <a:gd name="connsiteY23" fmla="*/ 164455 h 1426949"/>
                <a:gd name="connsiteX24" fmla="*/ 1202030 w 1372282"/>
                <a:gd name="connsiteY24" fmla="*/ 342491 h 1426949"/>
                <a:gd name="connsiteX25" fmla="*/ 1246306 w 1372282"/>
                <a:gd name="connsiteY25" fmla="*/ 560152 h 1426949"/>
                <a:gd name="connsiteX26" fmla="*/ 1246306 w 1372282"/>
                <a:gd name="connsiteY26" fmla="*/ 977243 h 1426949"/>
                <a:gd name="connsiteX27" fmla="*/ 1363508 w 1372282"/>
                <a:gd name="connsiteY27" fmla="*/ 1160487 h 1426949"/>
                <a:gd name="connsiteX28" fmla="*/ 1365369 w 1372282"/>
                <a:gd name="connsiteY28" fmla="*/ 1217414 h 1426949"/>
                <a:gd name="connsiteX29" fmla="*/ 1316628 w 1372282"/>
                <a:gd name="connsiteY29" fmla="*/ 1246436 h 1426949"/>
                <a:gd name="connsiteX30" fmla="*/ 55867 w 1372282"/>
                <a:gd name="connsiteY30" fmla="*/ 1246436 h 1426949"/>
                <a:gd name="connsiteX31" fmla="*/ 7126 w 1372282"/>
                <a:gd name="connsiteY31" fmla="*/ 1217786 h 1426949"/>
                <a:gd name="connsiteX32" fmla="*/ 8242 w 1372282"/>
                <a:gd name="connsiteY32" fmla="*/ 1161232 h 1426949"/>
                <a:gd name="connsiteX33" fmla="*/ 126002 w 1372282"/>
                <a:gd name="connsiteY33" fmla="*/ 969801 h 1426949"/>
                <a:gd name="connsiteX34" fmla="*/ 126002 w 1372282"/>
                <a:gd name="connsiteY34" fmla="*/ 560152 h 1426949"/>
                <a:gd name="connsiteX35" fmla="*/ 170279 w 1372282"/>
                <a:gd name="connsiteY35" fmla="*/ 342491 h 1426949"/>
                <a:gd name="connsiteX36" fmla="*/ 290458 w 1372282"/>
                <a:gd name="connsiteY36" fmla="*/ 164455 h 1426949"/>
                <a:gd name="connsiteX37" fmla="*/ 468493 w 1372282"/>
                <a:gd name="connsiteY37" fmla="*/ 44276 h 1426949"/>
                <a:gd name="connsiteX38" fmla="*/ 686154 w 1372282"/>
                <a:gd name="connsiteY38" fmla="*/ 0 h 142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accent1"/>
            </a:solidFill>
            <a:ln w="76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5"/>
              </p:custDataLst>
            </p:nvPr>
          </p:nvSpPr>
          <p:spPr>
            <a:xfrm>
              <a:off x="10046" y="6636"/>
              <a:ext cx="2696" cy="7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+mj-lt"/>
                  <a:cs typeface="+mj-lt"/>
                </a:rPr>
                <a:t>01 MLE</a:t>
              </a:r>
              <a:endParaRPr lang="en-US" altLang="zh-CN" sz="2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cs typeface="+mj-lt"/>
              </a:endParaRPr>
            </a:p>
          </p:txBody>
        </p:sp>
        <p:sp>
          <p:nvSpPr>
            <p:cNvPr id="76" name="任意多边形 75"/>
            <p:cNvSpPr/>
            <p:nvPr>
              <p:custDataLst>
                <p:tags r:id="rId6"/>
              </p:custDataLst>
            </p:nvPr>
          </p:nvSpPr>
          <p:spPr>
            <a:xfrm>
              <a:off x="11956" y="6285"/>
              <a:ext cx="656" cy="575"/>
            </a:xfrm>
            <a:custGeom>
              <a:avLst/>
              <a:gdLst>
                <a:gd name="connsiteX0" fmla="*/ 0 w 1364343"/>
                <a:gd name="connsiteY0" fmla="*/ 0 h 1364343"/>
                <a:gd name="connsiteX1" fmla="*/ 735981 w 1364343"/>
                <a:gd name="connsiteY1" fmla="*/ 0 h 1364343"/>
                <a:gd name="connsiteX2" fmla="*/ 1364343 w 1364343"/>
                <a:gd name="connsiteY2" fmla="*/ 628362 h 1364343"/>
                <a:gd name="connsiteX3" fmla="*/ 1364343 w 1364343"/>
                <a:gd name="connsiteY3" fmla="*/ 1364343 h 1364343"/>
                <a:gd name="connsiteX4" fmla="*/ 0 w 1364343"/>
                <a:gd name="connsiteY4" fmla="*/ 0 h 136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343" h="1364343">
                  <a:moveTo>
                    <a:pt x="0" y="0"/>
                  </a:moveTo>
                  <a:lnTo>
                    <a:pt x="735981" y="0"/>
                  </a:lnTo>
                  <a:cubicBezTo>
                    <a:pt x="735981" y="347035"/>
                    <a:pt x="1017308" y="628362"/>
                    <a:pt x="1364343" y="628362"/>
                  </a:cubicBezTo>
                  <a:lnTo>
                    <a:pt x="1364343" y="1364343"/>
                  </a:lnTo>
                  <a:cubicBezTo>
                    <a:pt x="610837" y="1364343"/>
                    <a:pt x="0" y="753506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>
            <a:off x="4429760" y="1788795"/>
            <a:ext cx="1725930" cy="739140"/>
            <a:chOff x="10024" y="6285"/>
            <a:chExt cx="2718" cy="1164"/>
          </a:xfrm>
        </p:grpSpPr>
        <p:sp>
          <p:nvSpPr>
            <p:cNvPr id="7" name="圆角矩形 6"/>
            <p:cNvSpPr/>
            <p:nvPr>
              <p:custDataLst>
                <p:tags r:id="rId8"/>
              </p:custDataLst>
            </p:nvPr>
          </p:nvSpPr>
          <p:spPr>
            <a:xfrm rot="21240000">
              <a:off x="10024" y="6311"/>
              <a:ext cx="2335" cy="1134"/>
            </a:xfrm>
            <a:prstGeom prst="roundRect">
              <a:avLst>
                <a:gd name="adj" fmla="val 55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圆角矩形 7"/>
            <p:cNvSpPr/>
            <p:nvPr>
              <p:custDataLst>
                <p:tags r:id="rId9"/>
              </p:custDataLst>
            </p:nvPr>
          </p:nvSpPr>
          <p:spPr>
            <a:xfrm>
              <a:off x="10046" y="6285"/>
              <a:ext cx="2549" cy="1165"/>
            </a:xfrm>
            <a:prstGeom prst="roundRect">
              <a:avLst>
                <a:gd name="adj" fmla="val 5556"/>
              </a:avLst>
            </a:prstGeom>
            <a:solidFill>
              <a:schemeClr val="bg1"/>
            </a:solidFill>
            <a:ln w="15875">
              <a:solidFill>
                <a:srgbClr val="0000C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0304" y="6381"/>
              <a:ext cx="310" cy="304"/>
            </a:xfrm>
            <a:custGeom>
              <a:avLst/>
              <a:gdLst>
                <a:gd name="connsiteX0" fmla="*/ 337768 w 1372282"/>
                <a:gd name="connsiteY0" fmla="*/ 1315328 h 1426949"/>
                <a:gd name="connsiteX1" fmla="*/ 530173 w 1372282"/>
                <a:gd name="connsiteY1" fmla="*/ 1315328 h 1426949"/>
                <a:gd name="connsiteX2" fmla="*/ 842109 w 1372282"/>
                <a:gd name="connsiteY2" fmla="*/ 1315328 h 1426949"/>
                <a:gd name="connsiteX3" fmla="*/ 1034514 w 1372282"/>
                <a:gd name="connsiteY3" fmla="*/ 1315328 h 1426949"/>
                <a:gd name="connsiteX4" fmla="*/ 1090325 w 1372282"/>
                <a:gd name="connsiteY4" fmla="*/ 1371139 h 1426949"/>
                <a:gd name="connsiteX5" fmla="*/ 1034514 w 1372282"/>
                <a:gd name="connsiteY5" fmla="*/ 1426949 h 1426949"/>
                <a:gd name="connsiteX6" fmla="*/ 842109 w 1372282"/>
                <a:gd name="connsiteY6" fmla="*/ 1426949 h 1426949"/>
                <a:gd name="connsiteX7" fmla="*/ 530173 w 1372282"/>
                <a:gd name="connsiteY7" fmla="*/ 1426949 h 1426949"/>
                <a:gd name="connsiteX8" fmla="*/ 337768 w 1372282"/>
                <a:gd name="connsiteY8" fmla="*/ 1426949 h 1426949"/>
                <a:gd name="connsiteX9" fmla="*/ 281957 w 1372282"/>
                <a:gd name="connsiteY9" fmla="*/ 1371139 h 1426949"/>
                <a:gd name="connsiteX10" fmla="*/ 337768 w 1372282"/>
                <a:gd name="connsiteY10" fmla="*/ 1315328 h 1426949"/>
                <a:gd name="connsiteX11" fmla="*/ 686154 w 1372282"/>
                <a:gd name="connsiteY11" fmla="*/ 111621 h 1426949"/>
                <a:gd name="connsiteX12" fmla="*/ 237624 w 1372282"/>
                <a:gd name="connsiteY12" fmla="*/ 560152 h 1426949"/>
                <a:gd name="connsiteX13" fmla="*/ 237624 w 1372282"/>
                <a:gd name="connsiteY13" fmla="*/ 985614 h 1426949"/>
                <a:gd name="connsiteX14" fmla="*/ 229252 w 1372282"/>
                <a:gd name="connsiteY14" fmla="*/ 1014822 h 1426949"/>
                <a:gd name="connsiteX15" fmla="*/ 155768 w 1372282"/>
                <a:gd name="connsiteY15" fmla="*/ 1134814 h 1426949"/>
                <a:gd name="connsiteX16" fmla="*/ 1214680 w 1372282"/>
                <a:gd name="connsiteY16" fmla="*/ 1134814 h 1426949"/>
                <a:gd name="connsiteX17" fmla="*/ 1143429 w 1372282"/>
                <a:gd name="connsiteY17" fmla="*/ 1023565 h 1426949"/>
                <a:gd name="connsiteX18" fmla="*/ 1134685 w 1372282"/>
                <a:gd name="connsiteY18" fmla="*/ 993428 h 1426949"/>
                <a:gd name="connsiteX19" fmla="*/ 1134685 w 1372282"/>
                <a:gd name="connsiteY19" fmla="*/ 560152 h 1426949"/>
                <a:gd name="connsiteX20" fmla="*/ 686154 w 1372282"/>
                <a:gd name="connsiteY20" fmla="*/ 111621 h 1426949"/>
                <a:gd name="connsiteX21" fmla="*/ 686154 w 1372282"/>
                <a:gd name="connsiteY21" fmla="*/ 0 h 1426949"/>
                <a:gd name="connsiteX22" fmla="*/ 903815 w 1372282"/>
                <a:gd name="connsiteY22" fmla="*/ 44276 h 1426949"/>
                <a:gd name="connsiteX23" fmla="*/ 1081851 w 1372282"/>
                <a:gd name="connsiteY23" fmla="*/ 164455 h 1426949"/>
                <a:gd name="connsiteX24" fmla="*/ 1202030 w 1372282"/>
                <a:gd name="connsiteY24" fmla="*/ 342491 h 1426949"/>
                <a:gd name="connsiteX25" fmla="*/ 1246306 w 1372282"/>
                <a:gd name="connsiteY25" fmla="*/ 560152 h 1426949"/>
                <a:gd name="connsiteX26" fmla="*/ 1246306 w 1372282"/>
                <a:gd name="connsiteY26" fmla="*/ 977243 h 1426949"/>
                <a:gd name="connsiteX27" fmla="*/ 1363508 w 1372282"/>
                <a:gd name="connsiteY27" fmla="*/ 1160487 h 1426949"/>
                <a:gd name="connsiteX28" fmla="*/ 1365369 w 1372282"/>
                <a:gd name="connsiteY28" fmla="*/ 1217414 h 1426949"/>
                <a:gd name="connsiteX29" fmla="*/ 1316628 w 1372282"/>
                <a:gd name="connsiteY29" fmla="*/ 1246436 h 1426949"/>
                <a:gd name="connsiteX30" fmla="*/ 55867 w 1372282"/>
                <a:gd name="connsiteY30" fmla="*/ 1246436 h 1426949"/>
                <a:gd name="connsiteX31" fmla="*/ 7126 w 1372282"/>
                <a:gd name="connsiteY31" fmla="*/ 1217786 h 1426949"/>
                <a:gd name="connsiteX32" fmla="*/ 8242 w 1372282"/>
                <a:gd name="connsiteY32" fmla="*/ 1161232 h 1426949"/>
                <a:gd name="connsiteX33" fmla="*/ 126002 w 1372282"/>
                <a:gd name="connsiteY33" fmla="*/ 969801 h 1426949"/>
                <a:gd name="connsiteX34" fmla="*/ 126002 w 1372282"/>
                <a:gd name="connsiteY34" fmla="*/ 560152 h 1426949"/>
                <a:gd name="connsiteX35" fmla="*/ 170279 w 1372282"/>
                <a:gd name="connsiteY35" fmla="*/ 342491 h 1426949"/>
                <a:gd name="connsiteX36" fmla="*/ 290458 w 1372282"/>
                <a:gd name="connsiteY36" fmla="*/ 164455 h 1426949"/>
                <a:gd name="connsiteX37" fmla="*/ 468493 w 1372282"/>
                <a:gd name="connsiteY37" fmla="*/ 44276 h 1426949"/>
                <a:gd name="connsiteX38" fmla="*/ 686154 w 1372282"/>
                <a:gd name="connsiteY38" fmla="*/ 0 h 142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accent1"/>
            </a:solidFill>
            <a:ln w="76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10046" y="6636"/>
              <a:ext cx="2696" cy="7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+mj-lt"/>
                  <a:cs typeface="+mj-lt"/>
                </a:rPr>
                <a:t>02 NWK</a:t>
              </a:r>
              <a:endParaRPr lang="en-US" altLang="zh-CN" sz="2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cs typeface="+mj-lt"/>
              </a:endParaRPr>
            </a:p>
          </p:txBody>
        </p:sp>
        <p:sp>
          <p:nvSpPr>
            <p:cNvPr id="11" name="任意多边形 10"/>
            <p:cNvSpPr/>
            <p:nvPr>
              <p:custDataLst>
                <p:tags r:id="rId12"/>
              </p:custDataLst>
            </p:nvPr>
          </p:nvSpPr>
          <p:spPr>
            <a:xfrm>
              <a:off x="11956" y="6285"/>
              <a:ext cx="656" cy="575"/>
            </a:xfrm>
            <a:custGeom>
              <a:avLst/>
              <a:gdLst>
                <a:gd name="connsiteX0" fmla="*/ 0 w 1364343"/>
                <a:gd name="connsiteY0" fmla="*/ 0 h 1364343"/>
                <a:gd name="connsiteX1" fmla="*/ 735981 w 1364343"/>
                <a:gd name="connsiteY1" fmla="*/ 0 h 1364343"/>
                <a:gd name="connsiteX2" fmla="*/ 1364343 w 1364343"/>
                <a:gd name="connsiteY2" fmla="*/ 628362 h 1364343"/>
                <a:gd name="connsiteX3" fmla="*/ 1364343 w 1364343"/>
                <a:gd name="connsiteY3" fmla="*/ 1364343 h 1364343"/>
                <a:gd name="connsiteX4" fmla="*/ 0 w 1364343"/>
                <a:gd name="connsiteY4" fmla="*/ 0 h 136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343" h="1364343">
                  <a:moveTo>
                    <a:pt x="0" y="0"/>
                  </a:moveTo>
                  <a:lnTo>
                    <a:pt x="735981" y="0"/>
                  </a:lnTo>
                  <a:cubicBezTo>
                    <a:pt x="735981" y="347035"/>
                    <a:pt x="1017308" y="628362"/>
                    <a:pt x="1364343" y="628362"/>
                  </a:cubicBezTo>
                  <a:lnTo>
                    <a:pt x="1364343" y="1364343"/>
                  </a:lnTo>
                  <a:cubicBezTo>
                    <a:pt x="610837" y="1364343"/>
                    <a:pt x="0" y="753506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13"/>
            </p:custDataLst>
          </p:nvPr>
        </p:nvGrpSpPr>
        <p:grpSpPr>
          <a:xfrm>
            <a:off x="4429760" y="2782570"/>
            <a:ext cx="1725930" cy="739140"/>
            <a:chOff x="10024" y="6285"/>
            <a:chExt cx="2718" cy="1164"/>
          </a:xfrm>
        </p:grpSpPr>
        <p:sp>
          <p:nvSpPr>
            <p:cNvPr id="14" name="圆角矩形 13"/>
            <p:cNvSpPr/>
            <p:nvPr>
              <p:custDataLst>
                <p:tags r:id="rId14"/>
              </p:custDataLst>
            </p:nvPr>
          </p:nvSpPr>
          <p:spPr>
            <a:xfrm rot="21240000">
              <a:off x="10024" y="6311"/>
              <a:ext cx="2335" cy="1134"/>
            </a:xfrm>
            <a:prstGeom prst="roundRect">
              <a:avLst>
                <a:gd name="adj" fmla="val 55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圆角矩形 14"/>
            <p:cNvSpPr/>
            <p:nvPr>
              <p:custDataLst>
                <p:tags r:id="rId15"/>
              </p:custDataLst>
            </p:nvPr>
          </p:nvSpPr>
          <p:spPr>
            <a:xfrm>
              <a:off x="10046" y="6285"/>
              <a:ext cx="2549" cy="1165"/>
            </a:xfrm>
            <a:prstGeom prst="roundRect">
              <a:avLst>
                <a:gd name="adj" fmla="val 5556"/>
              </a:avLst>
            </a:prstGeom>
            <a:solidFill>
              <a:schemeClr val="bg1"/>
            </a:solidFill>
            <a:ln w="15875">
              <a:solidFill>
                <a:srgbClr val="0000C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5"/>
            <p:cNvSpPr/>
            <p:nvPr>
              <p:custDataLst>
                <p:tags r:id="rId16"/>
              </p:custDataLst>
            </p:nvPr>
          </p:nvSpPr>
          <p:spPr>
            <a:xfrm>
              <a:off x="10304" y="6381"/>
              <a:ext cx="310" cy="304"/>
            </a:xfrm>
            <a:custGeom>
              <a:avLst/>
              <a:gdLst>
                <a:gd name="connsiteX0" fmla="*/ 337768 w 1372282"/>
                <a:gd name="connsiteY0" fmla="*/ 1315328 h 1426949"/>
                <a:gd name="connsiteX1" fmla="*/ 530173 w 1372282"/>
                <a:gd name="connsiteY1" fmla="*/ 1315328 h 1426949"/>
                <a:gd name="connsiteX2" fmla="*/ 842109 w 1372282"/>
                <a:gd name="connsiteY2" fmla="*/ 1315328 h 1426949"/>
                <a:gd name="connsiteX3" fmla="*/ 1034514 w 1372282"/>
                <a:gd name="connsiteY3" fmla="*/ 1315328 h 1426949"/>
                <a:gd name="connsiteX4" fmla="*/ 1090325 w 1372282"/>
                <a:gd name="connsiteY4" fmla="*/ 1371139 h 1426949"/>
                <a:gd name="connsiteX5" fmla="*/ 1034514 w 1372282"/>
                <a:gd name="connsiteY5" fmla="*/ 1426949 h 1426949"/>
                <a:gd name="connsiteX6" fmla="*/ 842109 w 1372282"/>
                <a:gd name="connsiteY6" fmla="*/ 1426949 h 1426949"/>
                <a:gd name="connsiteX7" fmla="*/ 530173 w 1372282"/>
                <a:gd name="connsiteY7" fmla="*/ 1426949 h 1426949"/>
                <a:gd name="connsiteX8" fmla="*/ 337768 w 1372282"/>
                <a:gd name="connsiteY8" fmla="*/ 1426949 h 1426949"/>
                <a:gd name="connsiteX9" fmla="*/ 281957 w 1372282"/>
                <a:gd name="connsiteY9" fmla="*/ 1371139 h 1426949"/>
                <a:gd name="connsiteX10" fmla="*/ 337768 w 1372282"/>
                <a:gd name="connsiteY10" fmla="*/ 1315328 h 1426949"/>
                <a:gd name="connsiteX11" fmla="*/ 686154 w 1372282"/>
                <a:gd name="connsiteY11" fmla="*/ 111621 h 1426949"/>
                <a:gd name="connsiteX12" fmla="*/ 237624 w 1372282"/>
                <a:gd name="connsiteY12" fmla="*/ 560152 h 1426949"/>
                <a:gd name="connsiteX13" fmla="*/ 237624 w 1372282"/>
                <a:gd name="connsiteY13" fmla="*/ 985614 h 1426949"/>
                <a:gd name="connsiteX14" fmla="*/ 229252 w 1372282"/>
                <a:gd name="connsiteY14" fmla="*/ 1014822 h 1426949"/>
                <a:gd name="connsiteX15" fmla="*/ 155768 w 1372282"/>
                <a:gd name="connsiteY15" fmla="*/ 1134814 h 1426949"/>
                <a:gd name="connsiteX16" fmla="*/ 1214680 w 1372282"/>
                <a:gd name="connsiteY16" fmla="*/ 1134814 h 1426949"/>
                <a:gd name="connsiteX17" fmla="*/ 1143429 w 1372282"/>
                <a:gd name="connsiteY17" fmla="*/ 1023565 h 1426949"/>
                <a:gd name="connsiteX18" fmla="*/ 1134685 w 1372282"/>
                <a:gd name="connsiteY18" fmla="*/ 993428 h 1426949"/>
                <a:gd name="connsiteX19" fmla="*/ 1134685 w 1372282"/>
                <a:gd name="connsiteY19" fmla="*/ 560152 h 1426949"/>
                <a:gd name="connsiteX20" fmla="*/ 686154 w 1372282"/>
                <a:gd name="connsiteY20" fmla="*/ 111621 h 1426949"/>
                <a:gd name="connsiteX21" fmla="*/ 686154 w 1372282"/>
                <a:gd name="connsiteY21" fmla="*/ 0 h 1426949"/>
                <a:gd name="connsiteX22" fmla="*/ 903815 w 1372282"/>
                <a:gd name="connsiteY22" fmla="*/ 44276 h 1426949"/>
                <a:gd name="connsiteX23" fmla="*/ 1081851 w 1372282"/>
                <a:gd name="connsiteY23" fmla="*/ 164455 h 1426949"/>
                <a:gd name="connsiteX24" fmla="*/ 1202030 w 1372282"/>
                <a:gd name="connsiteY24" fmla="*/ 342491 h 1426949"/>
                <a:gd name="connsiteX25" fmla="*/ 1246306 w 1372282"/>
                <a:gd name="connsiteY25" fmla="*/ 560152 h 1426949"/>
                <a:gd name="connsiteX26" fmla="*/ 1246306 w 1372282"/>
                <a:gd name="connsiteY26" fmla="*/ 977243 h 1426949"/>
                <a:gd name="connsiteX27" fmla="*/ 1363508 w 1372282"/>
                <a:gd name="connsiteY27" fmla="*/ 1160487 h 1426949"/>
                <a:gd name="connsiteX28" fmla="*/ 1365369 w 1372282"/>
                <a:gd name="connsiteY28" fmla="*/ 1217414 h 1426949"/>
                <a:gd name="connsiteX29" fmla="*/ 1316628 w 1372282"/>
                <a:gd name="connsiteY29" fmla="*/ 1246436 h 1426949"/>
                <a:gd name="connsiteX30" fmla="*/ 55867 w 1372282"/>
                <a:gd name="connsiteY30" fmla="*/ 1246436 h 1426949"/>
                <a:gd name="connsiteX31" fmla="*/ 7126 w 1372282"/>
                <a:gd name="connsiteY31" fmla="*/ 1217786 h 1426949"/>
                <a:gd name="connsiteX32" fmla="*/ 8242 w 1372282"/>
                <a:gd name="connsiteY32" fmla="*/ 1161232 h 1426949"/>
                <a:gd name="connsiteX33" fmla="*/ 126002 w 1372282"/>
                <a:gd name="connsiteY33" fmla="*/ 969801 h 1426949"/>
                <a:gd name="connsiteX34" fmla="*/ 126002 w 1372282"/>
                <a:gd name="connsiteY34" fmla="*/ 560152 h 1426949"/>
                <a:gd name="connsiteX35" fmla="*/ 170279 w 1372282"/>
                <a:gd name="connsiteY35" fmla="*/ 342491 h 1426949"/>
                <a:gd name="connsiteX36" fmla="*/ 290458 w 1372282"/>
                <a:gd name="connsiteY36" fmla="*/ 164455 h 1426949"/>
                <a:gd name="connsiteX37" fmla="*/ 468493 w 1372282"/>
                <a:gd name="connsiteY37" fmla="*/ 44276 h 1426949"/>
                <a:gd name="connsiteX38" fmla="*/ 686154 w 1372282"/>
                <a:gd name="connsiteY38" fmla="*/ 0 h 142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accent1"/>
            </a:solidFill>
            <a:ln w="76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10046" y="6636"/>
              <a:ext cx="2696" cy="7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+mj-lt"/>
                  <a:cs typeface="+mj-lt"/>
                </a:rPr>
                <a:t>03 UDP</a:t>
              </a:r>
              <a:endParaRPr lang="en-US" altLang="zh-CN" sz="2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cs typeface="+mj-lt"/>
              </a:endParaRPr>
            </a:p>
          </p:txBody>
        </p:sp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11956" y="6285"/>
              <a:ext cx="656" cy="575"/>
            </a:xfrm>
            <a:custGeom>
              <a:avLst/>
              <a:gdLst>
                <a:gd name="connsiteX0" fmla="*/ 0 w 1364343"/>
                <a:gd name="connsiteY0" fmla="*/ 0 h 1364343"/>
                <a:gd name="connsiteX1" fmla="*/ 735981 w 1364343"/>
                <a:gd name="connsiteY1" fmla="*/ 0 h 1364343"/>
                <a:gd name="connsiteX2" fmla="*/ 1364343 w 1364343"/>
                <a:gd name="connsiteY2" fmla="*/ 628362 h 1364343"/>
                <a:gd name="connsiteX3" fmla="*/ 1364343 w 1364343"/>
                <a:gd name="connsiteY3" fmla="*/ 1364343 h 1364343"/>
                <a:gd name="connsiteX4" fmla="*/ 0 w 1364343"/>
                <a:gd name="connsiteY4" fmla="*/ 0 h 136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343" h="1364343">
                  <a:moveTo>
                    <a:pt x="0" y="0"/>
                  </a:moveTo>
                  <a:lnTo>
                    <a:pt x="735981" y="0"/>
                  </a:lnTo>
                  <a:cubicBezTo>
                    <a:pt x="735981" y="347035"/>
                    <a:pt x="1017308" y="628362"/>
                    <a:pt x="1364343" y="628362"/>
                  </a:cubicBezTo>
                  <a:lnTo>
                    <a:pt x="1364343" y="1364343"/>
                  </a:lnTo>
                  <a:cubicBezTo>
                    <a:pt x="610837" y="1364343"/>
                    <a:pt x="0" y="753506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9"/>
            </p:custDataLst>
          </p:nvPr>
        </p:nvGrpSpPr>
        <p:grpSpPr>
          <a:xfrm>
            <a:off x="4396105" y="3837305"/>
            <a:ext cx="2323465" cy="739775"/>
            <a:chOff x="9971" y="6285"/>
            <a:chExt cx="3659" cy="1165"/>
          </a:xfrm>
        </p:grpSpPr>
        <p:sp>
          <p:nvSpPr>
            <p:cNvPr id="20" name="圆角矩形 19"/>
            <p:cNvSpPr/>
            <p:nvPr>
              <p:custDataLst>
                <p:tags r:id="rId20"/>
              </p:custDataLst>
            </p:nvPr>
          </p:nvSpPr>
          <p:spPr>
            <a:xfrm rot="21240000">
              <a:off x="10024" y="6311"/>
              <a:ext cx="2335" cy="1134"/>
            </a:xfrm>
            <a:prstGeom prst="roundRect">
              <a:avLst>
                <a:gd name="adj" fmla="val 55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圆角矩形 20"/>
            <p:cNvSpPr/>
            <p:nvPr>
              <p:custDataLst>
                <p:tags r:id="rId21"/>
              </p:custDataLst>
            </p:nvPr>
          </p:nvSpPr>
          <p:spPr>
            <a:xfrm>
              <a:off x="10046" y="6285"/>
              <a:ext cx="2549" cy="1165"/>
            </a:xfrm>
            <a:prstGeom prst="roundRect">
              <a:avLst>
                <a:gd name="adj" fmla="val 5556"/>
              </a:avLst>
            </a:prstGeom>
            <a:solidFill>
              <a:schemeClr val="bg1"/>
            </a:solidFill>
            <a:ln w="15875">
              <a:solidFill>
                <a:srgbClr val="0000C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10304" y="6381"/>
              <a:ext cx="310" cy="304"/>
            </a:xfrm>
            <a:custGeom>
              <a:avLst/>
              <a:gdLst>
                <a:gd name="connsiteX0" fmla="*/ 337768 w 1372282"/>
                <a:gd name="connsiteY0" fmla="*/ 1315328 h 1426949"/>
                <a:gd name="connsiteX1" fmla="*/ 530173 w 1372282"/>
                <a:gd name="connsiteY1" fmla="*/ 1315328 h 1426949"/>
                <a:gd name="connsiteX2" fmla="*/ 842109 w 1372282"/>
                <a:gd name="connsiteY2" fmla="*/ 1315328 h 1426949"/>
                <a:gd name="connsiteX3" fmla="*/ 1034514 w 1372282"/>
                <a:gd name="connsiteY3" fmla="*/ 1315328 h 1426949"/>
                <a:gd name="connsiteX4" fmla="*/ 1090325 w 1372282"/>
                <a:gd name="connsiteY4" fmla="*/ 1371139 h 1426949"/>
                <a:gd name="connsiteX5" fmla="*/ 1034514 w 1372282"/>
                <a:gd name="connsiteY5" fmla="*/ 1426949 h 1426949"/>
                <a:gd name="connsiteX6" fmla="*/ 842109 w 1372282"/>
                <a:gd name="connsiteY6" fmla="*/ 1426949 h 1426949"/>
                <a:gd name="connsiteX7" fmla="*/ 530173 w 1372282"/>
                <a:gd name="connsiteY7" fmla="*/ 1426949 h 1426949"/>
                <a:gd name="connsiteX8" fmla="*/ 337768 w 1372282"/>
                <a:gd name="connsiteY8" fmla="*/ 1426949 h 1426949"/>
                <a:gd name="connsiteX9" fmla="*/ 281957 w 1372282"/>
                <a:gd name="connsiteY9" fmla="*/ 1371139 h 1426949"/>
                <a:gd name="connsiteX10" fmla="*/ 337768 w 1372282"/>
                <a:gd name="connsiteY10" fmla="*/ 1315328 h 1426949"/>
                <a:gd name="connsiteX11" fmla="*/ 686154 w 1372282"/>
                <a:gd name="connsiteY11" fmla="*/ 111621 h 1426949"/>
                <a:gd name="connsiteX12" fmla="*/ 237624 w 1372282"/>
                <a:gd name="connsiteY12" fmla="*/ 560152 h 1426949"/>
                <a:gd name="connsiteX13" fmla="*/ 237624 w 1372282"/>
                <a:gd name="connsiteY13" fmla="*/ 985614 h 1426949"/>
                <a:gd name="connsiteX14" fmla="*/ 229252 w 1372282"/>
                <a:gd name="connsiteY14" fmla="*/ 1014822 h 1426949"/>
                <a:gd name="connsiteX15" fmla="*/ 155768 w 1372282"/>
                <a:gd name="connsiteY15" fmla="*/ 1134814 h 1426949"/>
                <a:gd name="connsiteX16" fmla="*/ 1214680 w 1372282"/>
                <a:gd name="connsiteY16" fmla="*/ 1134814 h 1426949"/>
                <a:gd name="connsiteX17" fmla="*/ 1143429 w 1372282"/>
                <a:gd name="connsiteY17" fmla="*/ 1023565 h 1426949"/>
                <a:gd name="connsiteX18" fmla="*/ 1134685 w 1372282"/>
                <a:gd name="connsiteY18" fmla="*/ 993428 h 1426949"/>
                <a:gd name="connsiteX19" fmla="*/ 1134685 w 1372282"/>
                <a:gd name="connsiteY19" fmla="*/ 560152 h 1426949"/>
                <a:gd name="connsiteX20" fmla="*/ 686154 w 1372282"/>
                <a:gd name="connsiteY20" fmla="*/ 111621 h 1426949"/>
                <a:gd name="connsiteX21" fmla="*/ 686154 w 1372282"/>
                <a:gd name="connsiteY21" fmla="*/ 0 h 1426949"/>
                <a:gd name="connsiteX22" fmla="*/ 903815 w 1372282"/>
                <a:gd name="connsiteY22" fmla="*/ 44276 h 1426949"/>
                <a:gd name="connsiteX23" fmla="*/ 1081851 w 1372282"/>
                <a:gd name="connsiteY23" fmla="*/ 164455 h 1426949"/>
                <a:gd name="connsiteX24" fmla="*/ 1202030 w 1372282"/>
                <a:gd name="connsiteY24" fmla="*/ 342491 h 1426949"/>
                <a:gd name="connsiteX25" fmla="*/ 1246306 w 1372282"/>
                <a:gd name="connsiteY25" fmla="*/ 560152 h 1426949"/>
                <a:gd name="connsiteX26" fmla="*/ 1246306 w 1372282"/>
                <a:gd name="connsiteY26" fmla="*/ 977243 h 1426949"/>
                <a:gd name="connsiteX27" fmla="*/ 1363508 w 1372282"/>
                <a:gd name="connsiteY27" fmla="*/ 1160487 h 1426949"/>
                <a:gd name="connsiteX28" fmla="*/ 1365369 w 1372282"/>
                <a:gd name="connsiteY28" fmla="*/ 1217414 h 1426949"/>
                <a:gd name="connsiteX29" fmla="*/ 1316628 w 1372282"/>
                <a:gd name="connsiteY29" fmla="*/ 1246436 h 1426949"/>
                <a:gd name="connsiteX30" fmla="*/ 55867 w 1372282"/>
                <a:gd name="connsiteY30" fmla="*/ 1246436 h 1426949"/>
                <a:gd name="connsiteX31" fmla="*/ 7126 w 1372282"/>
                <a:gd name="connsiteY31" fmla="*/ 1217786 h 1426949"/>
                <a:gd name="connsiteX32" fmla="*/ 8242 w 1372282"/>
                <a:gd name="connsiteY32" fmla="*/ 1161232 h 1426949"/>
                <a:gd name="connsiteX33" fmla="*/ 126002 w 1372282"/>
                <a:gd name="connsiteY33" fmla="*/ 969801 h 1426949"/>
                <a:gd name="connsiteX34" fmla="*/ 126002 w 1372282"/>
                <a:gd name="connsiteY34" fmla="*/ 560152 h 1426949"/>
                <a:gd name="connsiteX35" fmla="*/ 170279 w 1372282"/>
                <a:gd name="connsiteY35" fmla="*/ 342491 h 1426949"/>
                <a:gd name="connsiteX36" fmla="*/ 290458 w 1372282"/>
                <a:gd name="connsiteY36" fmla="*/ 164455 h 1426949"/>
                <a:gd name="connsiteX37" fmla="*/ 468493 w 1372282"/>
                <a:gd name="connsiteY37" fmla="*/ 44276 h 1426949"/>
                <a:gd name="connsiteX38" fmla="*/ 686154 w 1372282"/>
                <a:gd name="connsiteY38" fmla="*/ 0 h 1426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accent1"/>
            </a:solidFill>
            <a:ln w="763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23"/>
              </p:custDataLst>
            </p:nvPr>
          </p:nvSpPr>
          <p:spPr>
            <a:xfrm>
              <a:off x="9971" y="6636"/>
              <a:ext cx="3659" cy="7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en-US" altLang="zh-CN" sz="240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+mj-lt"/>
                  <a:cs typeface="+mj-lt"/>
                </a:rPr>
                <a:t>04 </a:t>
              </a:r>
              <a:r>
                <a:rPr lang="en-US" altLang="zh-CN" sz="160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  <a:latin typeface="+mj-lt"/>
                  <a:cs typeface="+mj-lt"/>
                </a:rPr>
                <a:t>MeshCoP</a:t>
              </a:r>
              <a:endParaRPr lang="en-US" altLang="zh-CN" sz="16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cs typeface="+mj-lt"/>
              </a:endParaRPr>
            </a:p>
          </p:txBody>
        </p:sp>
        <p:sp>
          <p:nvSpPr>
            <p:cNvPr id="24" name="任意多边形 23"/>
            <p:cNvSpPr/>
            <p:nvPr>
              <p:custDataLst>
                <p:tags r:id="rId24"/>
              </p:custDataLst>
            </p:nvPr>
          </p:nvSpPr>
          <p:spPr>
            <a:xfrm>
              <a:off x="11956" y="6285"/>
              <a:ext cx="656" cy="575"/>
            </a:xfrm>
            <a:custGeom>
              <a:avLst/>
              <a:gdLst>
                <a:gd name="connsiteX0" fmla="*/ 0 w 1364343"/>
                <a:gd name="connsiteY0" fmla="*/ 0 h 1364343"/>
                <a:gd name="connsiteX1" fmla="*/ 735981 w 1364343"/>
                <a:gd name="connsiteY1" fmla="*/ 0 h 1364343"/>
                <a:gd name="connsiteX2" fmla="*/ 1364343 w 1364343"/>
                <a:gd name="connsiteY2" fmla="*/ 628362 h 1364343"/>
                <a:gd name="connsiteX3" fmla="*/ 1364343 w 1364343"/>
                <a:gd name="connsiteY3" fmla="*/ 1364343 h 1364343"/>
                <a:gd name="connsiteX4" fmla="*/ 0 w 1364343"/>
                <a:gd name="connsiteY4" fmla="*/ 0 h 136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343" h="1364343">
                  <a:moveTo>
                    <a:pt x="0" y="0"/>
                  </a:moveTo>
                  <a:lnTo>
                    <a:pt x="735981" y="0"/>
                  </a:lnTo>
                  <a:cubicBezTo>
                    <a:pt x="735981" y="347035"/>
                    <a:pt x="1017308" y="628362"/>
                    <a:pt x="1364343" y="628362"/>
                  </a:cubicBezTo>
                  <a:lnTo>
                    <a:pt x="1364343" y="1364343"/>
                  </a:lnTo>
                  <a:cubicBezTo>
                    <a:pt x="610837" y="1364343"/>
                    <a:pt x="0" y="753506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H" panose="00020600040101010101" pitchFamily="18" charset="-122"/>
                <a:ea typeface="思源黑体 CN Normal"/>
                <a:cs typeface="+mn-cs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207770" y="2046605"/>
            <a:ext cx="26847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60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  <a:sym typeface="+mn-ea"/>
              </a:rPr>
              <a:t>hread</a:t>
            </a:r>
            <a:endParaRPr lang="en-US" altLang="zh-CN" sz="600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charset="0"/>
              <a:ea typeface="OPPOSans H" panose="00020600040101010101" pitchFamily="18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PART 01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203325" y="1275715"/>
            <a:ext cx="6307590" cy="2503805"/>
            <a:chOff x="3272" y="3874"/>
            <a:chExt cx="12612" cy="4373"/>
          </a:xfrm>
        </p:grpSpPr>
        <p:pic>
          <p:nvPicPr>
            <p:cNvPr id="50" name="图片 49" descr="图形用户界面, 应用程序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8" y="3874"/>
              <a:ext cx="6546" cy="4373"/>
            </a:xfrm>
            <a:prstGeom prst="rect">
              <a:avLst/>
            </a:prstGeom>
          </p:spPr>
        </p:pic>
        <p:sp>
          <p:nvSpPr>
            <p:cNvPr id="56" name="圆角矩形 55"/>
            <p:cNvSpPr/>
            <p:nvPr/>
          </p:nvSpPr>
          <p:spPr>
            <a:xfrm>
              <a:off x="3272" y="7403"/>
              <a:ext cx="1134" cy="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endParaRPr lang="zh-CN" altLang="en-US" sz="60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272" y="5709"/>
              <a:ext cx="6666" cy="1581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charset="0"/>
                  <a:ea typeface="OPPOSans H" panose="00020600040101010101" pitchFamily="18" charset="-122"/>
                  <a:cs typeface="Times New Roman" panose="02020603050405020304" charset="0"/>
                </a:rPr>
                <a:t>MLE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272" y="7642"/>
              <a:ext cx="5019" cy="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Mesh Link Establishment</a:t>
              </a:r>
              <a:endParaRPr lang="en-US" altLang="zh-CN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272" y="4070"/>
              <a:ext cx="2915" cy="1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01</a:t>
              </a:r>
              <a:endPara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pic>
          <p:nvPicPr>
            <p:cNvPr id="60" name="图片 59" descr="图片包含 图标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431409">
              <a:off x="13750" y="4000"/>
              <a:ext cx="1158" cy="491"/>
            </a:xfrm>
            <a:prstGeom prst="rect">
              <a:avLst/>
            </a:prstGeom>
          </p:spPr>
        </p:pic>
        <p:pic>
          <p:nvPicPr>
            <p:cNvPr id="61" name="图片 60" descr="形状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8" y="5085"/>
              <a:ext cx="264" cy="252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" y="4497"/>
              <a:ext cx="193" cy="1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、设备</a:t>
            </a:r>
            <a:r>
              <a:rPr lang="zh-CN" altLang="en-US"/>
              <a:t>类型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15900" y="1007745"/>
          <a:ext cx="7136765" cy="2591435"/>
        </p:xfrm>
        <a:graphic>
          <a:graphicData uri="http://schemas.openxmlformats.org/drawingml/2006/table">
            <a:tbl>
              <a:tblPr/>
              <a:tblGrid>
                <a:gridCol w="734695"/>
                <a:gridCol w="829310"/>
                <a:gridCol w="2734945"/>
                <a:gridCol w="1189355"/>
                <a:gridCol w="1648460"/>
              </a:tblGrid>
              <a:tr h="284480"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分类</a:t>
                      </a:r>
                      <a:endParaRPr lang="zh-CN" altLang="en-US" sz="12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设备类型</a:t>
                      </a:r>
                      <a:endParaRPr lang="zh-CN" altLang="en-US" sz="12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核心特性</a:t>
                      </a:r>
                      <a:endParaRPr lang="zh-CN" altLang="en-US" sz="12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200"/>
                        <a:t>rx-on-when-idle</a:t>
                      </a:r>
                      <a:endParaRPr lang="en-US" altLang="zh-CN" sz="12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200"/>
                        <a:t>路由 </a:t>
                      </a:r>
                      <a:r>
                        <a:rPr lang="en-US" altLang="zh-CN" sz="1200"/>
                        <a:t>/ </a:t>
                      </a:r>
                      <a:r>
                        <a:rPr lang="zh-CN" altLang="en-US" sz="1200"/>
                        <a:t>升级能力</a:t>
                      </a:r>
                      <a:endParaRPr lang="zh-CN" altLang="en-US" sz="12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 rowSpan="3">
                  <a:txBody>
                    <a:bodyPr/>
                    <a:p>
                      <a:pPr algn="l"/>
                      <a:r>
                        <a:rPr lang="en-US" altLang="zh-CN" sz="1000"/>
                        <a:t>FTD</a:t>
                      </a:r>
                      <a:endParaRPr lang="en-US" altLang="zh-CN" sz="1000"/>
                    </a:p>
                    <a:p>
                      <a:pPr algn="l"/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Router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订阅多播地址，维护 </a:t>
                      </a:r>
                      <a:r>
                        <a:rPr lang="en-US" altLang="zh-CN" sz="1000"/>
                        <a:t>IPv6 </a:t>
                      </a:r>
                      <a:r>
                        <a:rPr lang="zh-CN" altLang="en-US" sz="1000"/>
                        <a:t>地址映射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>
                          <a:sym typeface="+mn-ea"/>
                        </a:rPr>
                        <a:t>On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完整路由能力，可作为父节点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5925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REED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订阅多播地址，维护 </a:t>
                      </a:r>
                      <a:r>
                        <a:rPr lang="en-US" altLang="zh-CN" sz="1000"/>
                        <a:t>IPv6 </a:t>
                      </a:r>
                      <a:r>
                        <a:rPr lang="zh-CN" altLang="en-US" sz="1000"/>
                        <a:t>地址映射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>
                          <a:sym typeface="+mn-ea"/>
                        </a:rPr>
                        <a:t>On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具备路由能力，可升级为 </a:t>
                      </a:r>
                      <a:r>
                        <a:rPr lang="en-US" altLang="zh-CN" sz="1000"/>
                        <a:t>Router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FED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订阅多播地址，维护 </a:t>
                      </a:r>
                      <a:r>
                        <a:rPr lang="en-US" altLang="zh-CN" sz="1000"/>
                        <a:t>IPv6 </a:t>
                      </a:r>
                      <a:r>
                        <a:rPr lang="zh-CN" altLang="en-US" sz="1000"/>
                        <a:t>地址映射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>
                          <a:sym typeface="+mn-ea"/>
                        </a:rPr>
                        <a:t>On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无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455">
                <a:tc rowSpan="3">
                  <a:txBody>
                    <a:bodyPr/>
                    <a:p>
                      <a:pPr algn="l"/>
                      <a:r>
                        <a:rPr lang="en-US" altLang="zh-CN" sz="1000"/>
                        <a:t>MTD</a:t>
                      </a:r>
                      <a:endParaRPr lang="en-US" altLang="zh-CN" sz="1000"/>
                    </a:p>
                    <a:p>
                      <a:pPr algn="l"/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MED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不订阅多播地址，所有消息发往父节点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On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无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15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SED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不订阅多播地址，所有消息发往父节点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Off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无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SSED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基于</a:t>
                      </a:r>
                      <a:r>
                        <a:rPr lang="en-US" altLang="zh-CN" sz="1000"/>
                        <a:t>IEEE 802.15.4</a:t>
                      </a:r>
                      <a:r>
                        <a:rPr lang="zh-CN" altLang="en-US" sz="1000"/>
                        <a:t>同步机制，按预设时间同步唤醒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Off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无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9398"/>
          <a:stretch>
            <a:fillRect/>
          </a:stretch>
        </p:blipFill>
        <p:spPr>
          <a:xfrm>
            <a:off x="1274445" y="3651250"/>
            <a:ext cx="4133850" cy="12426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5900" y="3711575"/>
            <a:ext cx="1469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FTD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Router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5289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MLE message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215900" y="129984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安全模式</a:t>
            </a:r>
            <a:endParaRPr lang="zh-CN" altLang="en-US" sz="1400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79400" y="1622425"/>
          <a:ext cx="4653280" cy="33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310"/>
                <a:gridCol w="1691005"/>
                <a:gridCol w="1219200"/>
                <a:gridCol w="1167765"/>
              </a:tblGrid>
              <a:tr h="330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Aux Header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MIC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238750" y="129984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无安全模式</a:t>
            </a:r>
            <a:endParaRPr lang="zh-CN" altLang="en-US" sz="1400"/>
          </a:p>
        </p:txBody>
      </p:sp>
      <p:graphicFrame>
        <p:nvGraphicFramePr>
          <p:cNvPr id="15" name="表格 14"/>
          <p:cNvGraphicFramePr/>
          <p:nvPr>
            <p:custDataLst>
              <p:tags r:id="rId2"/>
            </p:custDataLst>
          </p:nvPr>
        </p:nvGraphicFramePr>
        <p:xfrm>
          <a:off x="5325110" y="1622425"/>
          <a:ext cx="4653280" cy="33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310"/>
                <a:gridCol w="1219200"/>
              </a:tblGrid>
              <a:tr h="330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255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215900" y="9791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(1)</a:t>
            </a:r>
            <a:r>
              <a:rPr lang="zh-CN" altLang="en-US"/>
              <a:t>消息格式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15900" y="21691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(2)command</a:t>
            </a:r>
            <a:r>
              <a:rPr lang="zh-CN" altLang="en-US"/>
              <a:t>格式</a:t>
            </a:r>
            <a:endParaRPr lang="zh-CN" altLang="en-US"/>
          </a:p>
        </p:txBody>
      </p:sp>
      <p:graphicFrame>
        <p:nvGraphicFramePr>
          <p:cNvPr id="25" name="表格 24"/>
          <p:cNvGraphicFramePr/>
          <p:nvPr>
            <p:custDataLst>
              <p:tags r:id="rId3"/>
            </p:custDataLst>
          </p:nvPr>
        </p:nvGraphicFramePr>
        <p:xfrm>
          <a:off x="279400" y="2595880"/>
          <a:ext cx="4069280" cy="33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8235"/>
                <a:gridCol w="1195070"/>
                <a:gridCol w="815975"/>
              </a:tblGrid>
              <a:tr h="330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 Type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TLV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215900" y="31165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(3)TLV</a:t>
            </a:r>
            <a:r>
              <a:rPr lang="zh-CN" altLang="en-US"/>
              <a:t>格式</a:t>
            </a:r>
            <a:endParaRPr lang="zh-CN" altLang="en-US"/>
          </a:p>
        </p:txBody>
      </p:sp>
      <p:graphicFrame>
        <p:nvGraphicFramePr>
          <p:cNvPr id="27" name="表格 26"/>
          <p:cNvGraphicFramePr/>
          <p:nvPr>
            <p:custDataLst>
              <p:tags r:id="rId4"/>
            </p:custDataLst>
          </p:nvPr>
        </p:nvGraphicFramePr>
        <p:xfrm>
          <a:off x="279400" y="3769360"/>
          <a:ext cx="3161665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480"/>
                <a:gridCol w="884555"/>
                <a:gridCol w="1357630"/>
              </a:tblGrid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en-US" altLang="zh-CN"/>
                        <a:t>byte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en-US" altLang="zh-CN"/>
                        <a:t>byte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length </a:t>
                      </a:r>
                      <a:r>
                        <a:rPr lang="en-US" altLang="zh-CN"/>
                        <a:t>bytes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</a:t>
                      </a:r>
                      <a:r>
                        <a:rPr lang="en-US" altLang="zh-CN"/>
                        <a:t>ype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</a:t>
                      </a:r>
                      <a:r>
                        <a:rPr lang="en-US" altLang="zh-CN"/>
                        <a:t>ength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value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279400" y="348488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基本</a:t>
            </a:r>
            <a:endParaRPr lang="zh-CN" altLang="en-US" sz="1400"/>
          </a:p>
        </p:txBody>
      </p:sp>
      <p:graphicFrame>
        <p:nvGraphicFramePr>
          <p:cNvPr id="29" name="表格 28"/>
          <p:cNvGraphicFramePr/>
          <p:nvPr>
            <p:custDataLst>
              <p:tags r:id="rId5"/>
            </p:custDataLst>
          </p:nvPr>
        </p:nvGraphicFramePr>
        <p:xfrm>
          <a:off x="3719195" y="3769360"/>
          <a:ext cx="4620260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5065"/>
                <a:gridCol w="1155065"/>
                <a:gridCol w="1155065"/>
                <a:gridCol w="1155065"/>
              </a:tblGrid>
              <a:tr h="210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en-US" altLang="zh-CN"/>
                        <a:t>byte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en-US" altLang="zh-CN"/>
                        <a:t>byte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2byte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length </a:t>
                      </a:r>
                      <a:r>
                        <a:rPr lang="en-US" altLang="zh-CN"/>
                        <a:t>bytes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</a:t>
                      </a:r>
                      <a:r>
                        <a:rPr lang="en-US" altLang="zh-CN"/>
                        <a:t>ype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FF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</a:t>
                      </a:r>
                      <a:r>
                        <a:rPr lang="en-US" altLang="zh-CN"/>
                        <a:t>ength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value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3719195" y="348488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扩展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5295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Command </a:t>
            </a:r>
            <a:r>
              <a:rPr lang="en-US" altLang="zh-CN"/>
              <a:t>type </a:t>
            </a:r>
            <a:endParaRPr lang="en-US" altLang="zh-CN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5410" y="897890"/>
          <a:ext cx="4327525" cy="3606800"/>
        </p:xfrm>
        <a:graphic>
          <a:graphicData uri="http://schemas.openxmlformats.org/drawingml/2006/table">
            <a:tbl>
              <a:tblPr/>
              <a:tblGrid>
                <a:gridCol w="940435"/>
                <a:gridCol w="1636395"/>
                <a:gridCol w="1750695"/>
              </a:tblGrid>
              <a:tr h="147320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command type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命令名称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描述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0x00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Link Request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发起单跳链路建立请求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0x01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Link Accept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响应链路建立请求，确认链路参数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2720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0x02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Link Reject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拒绝链路建立请求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0x03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Advertisement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广播网络信息，用于邻居发现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0x04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Update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链路状态更新与拓扑同步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0x05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Update Request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请求链路状态更新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0x06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Update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子节点链路保活与状态上报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35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0x07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Update Response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父节点响应子节点保活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0x08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Parent Request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父节点切换请求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35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0x09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Parent Response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/>
                        <a:t>父节点切换响应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0x0A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ID Request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ID </a:t>
                      </a:r>
                      <a:r>
                        <a:rPr lang="zh-CN" altLang="en-US" sz="1000"/>
                        <a:t>分配请求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2720">
                <a:tc>
                  <a:txBody>
                    <a:bodyPr/>
                    <a:p>
                      <a:pPr algn="ctr"/>
                      <a:r>
                        <a:rPr lang="en-US" altLang="zh-CN" sz="1000"/>
                        <a:t>0x0B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ID Response</a:t>
                      </a:r>
                      <a:endParaRPr lang="en-US" altLang="zh-CN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/>
                        <a:t>Child ID </a:t>
                      </a:r>
                      <a:r>
                        <a:rPr lang="zh-CN" altLang="en-US" sz="1000"/>
                        <a:t>分配响应</a:t>
                      </a:r>
                      <a:endParaRPr lang="zh-CN" altLang="en-US" sz="10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676140" y="5295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TLV </a:t>
            </a:r>
            <a:r>
              <a:rPr lang="en-US" altLang="zh-CN"/>
              <a:t>type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4718050" y="897890"/>
          <a:ext cx="4119880" cy="3414395"/>
        </p:xfrm>
        <a:graphic>
          <a:graphicData uri="http://schemas.openxmlformats.org/drawingml/2006/table">
            <a:tbl>
              <a:tblPr/>
              <a:tblGrid>
                <a:gridCol w="569595"/>
                <a:gridCol w="1179195"/>
                <a:gridCol w="2371090"/>
              </a:tblGrid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TLV type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TLV </a:t>
                      </a:r>
                      <a:r>
                        <a:rPr lang="zh-CN" altLang="en-US" sz="800"/>
                        <a:t>名称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功能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0x00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Source Address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携带设备的 </a:t>
                      </a:r>
                      <a:r>
                        <a:rPr lang="en-US" altLang="zh-CN" sz="800"/>
                        <a:t>64 </a:t>
                      </a:r>
                      <a:r>
                        <a:rPr lang="zh-CN" altLang="en-US" sz="800"/>
                        <a:t>位扩展 </a:t>
                      </a:r>
                      <a:r>
                        <a:rPr lang="en-US" altLang="zh-CN" sz="800"/>
                        <a:t>MAC </a:t>
                      </a:r>
                      <a:r>
                        <a:rPr lang="zh-CN" altLang="en-US" sz="800"/>
                        <a:t>地址（</a:t>
                      </a:r>
                      <a:r>
                        <a:rPr lang="en-US" altLang="zh-CN" sz="800"/>
                        <a:t>EUI-64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0x01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Mode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标识设备的工作模式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0x02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Timeout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终端设备向父节点声明的最大超时时间（秒）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0x03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Challenge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随机挑战值，用于链路建立时的双向认证，防止重放攻击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0x04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Response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对 </a:t>
                      </a:r>
                      <a:r>
                        <a:rPr lang="en-US" altLang="zh-CN" sz="800"/>
                        <a:t>Challenge </a:t>
                      </a:r>
                      <a:r>
                        <a:rPr lang="zh-CN" altLang="en-US" sz="800"/>
                        <a:t>的响应值，完成双向认证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6075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0x05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Link Layer Frame Counter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链路层帧计数器，用于 </a:t>
                      </a:r>
                      <a:r>
                        <a:rPr lang="en-US" altLang="zh-CN" sz="800"/>
                        <a:t>IEEE 802.15.4 </a:t>
                      </a:r>
                      <a:r>
                        <a:rPr lang="zh-CN" altLang="en-US" sz="800"/>
                        <a:t>安全重放保护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0x06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Network Parameter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携带 </a:t>
                      </a:r>
                      <a:r>
                        <a:rPr lang="en-US" altLang="zh-CN" sz="800"/>
                        <a:t>Thread </a:t>
                      </a:r>
                      <a:r>
                        <a:rPr lang="zh-CN" altLang="en-US" sz="800"/>
                        <a:t>网络核心参数（信道、</a:t>
                      </a:r>
                      <a:r>
                        <a:rPr lang="en-US" altLang="zh-CN" sz="800"/>
                        <a:t>PAN ID</a:t>
                      </a:r>
                      <a:r>
                        <a:rPr lang="zh-CN" altLang="en-US" sz="800"/>
                        <a:t>、网络密钥等）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0x07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Mesh Local Prefix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携带 </a:t>
                      </a:r>
                      <a:r>
                        <a:rPr lang="en-US" altLang="zh-CN" sz="800"/>
                        <a:t>Thread </a:t>
                      </a:r>
                      <a:r>
                        <a:rPr lang="zh-CN" altLang="en-US" sz="800"/>
                        <a:t>网络的 </a:t>
                      </a:r>
                      <a:r>
                        <a:rPr lang="en-US" altLang="zh-CN" sz="800"/>
                        <a:t>Mesh-Local </a:t>
                      </a:r>
                      <a:r>
                        <a:rPr lang="zh-CN" altLang="en-US" sz="800"/>
                        <a:t>前缀），用于 </a:t>
                      </a:r>
                      <a:r>
                        <a:rPr lang="en-US" altLang="zh-CN" sz="800"/>
                        <a:t>IPv6 </a:t>
                      </a:r>
                      <a:r>
                        <a:rPr lang="zh-CN" altLang="en-US" sz="800"/>
                        <a:t>地址分配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0x08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MLE Frame Counter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MLE </a:t>
                      </a:r>
                      <a:r>
                        <a:rPr lang="zh-CN" altLang="en-US" sz="800"/>
                        <a:t>层帧计数器，用于 </a:t>
                      </a:r>
                      <a:r>
                        <a:rPr lang="en-US" altLang="zh-CN" sz="800"/>
                        <a:t>MLE </a:t>
                      </a:r>
                      <a:r>
                        <a:rPr lang="zh-CN" altLang="en-US" sz="800"/>
                        <a:t>消息安全重放保护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0x09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Leader Data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携带 </a:t>
                      </a:r>
                      <a:r>
                        <a:rPr lang="en-US" altLang="zh-CN" sz="800"/>
                        <a:t>Leader </a:t>
                      </a:r>
                      <a:r>
                        <a:rPr lang="zh-CN" altLang="en-US" sz="800"/>
                        <a:t>信息（</a:t>
                      </a:r>
                      <a:r>
                        <a:rPr lang="en-US" altLang="zh-CN" sz="800"/>
                        <a:t>RLOC16</a:t>
                      </a:r>
                      <a:r>
                        <a:rPr lang="zh-CN" altLang="en-US" sz="800"/>
                        <a:t>、分区 </a:t>
                      </a:r>
                      <a:r>
                        <a:rPr lang="en-US" altLang="zh-CN" sz="800"/>
                        <a:t>ID</a:t>
                      </a:r>
                      <a:r>
                        <a:rPr lang="zh-CN" altLang="en-US" sz="800"/>
                        <a:t>、分区权重、网络数据版本等）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40"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0x0A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/>
                        <a:t>Address 16</a:t>
                      </a:r>
                      <a:endParaRPr lang="en-US" altLang="zh-CN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/>
                        <a:t>携带设备的 </a:t>
                      </a:r>
                      <a:r>
                        <a:rPr lang="en-US" altLang="zh-CN" sz="800"/>
                        <a:t>16 </a:t>
                      </a:r>
                      <a:r>
                        <a:rPr lang="zh-CN" altLang="en-US" sz="800"/>
                        <a:t>位 </a:t>
                      </a:r>
                      <a:r>
                        <a:rPr lang="en-US" altLang="zh-CN" sz="800"/>
                        <a:t>RLOC16 </a:t>
                      </a:r>
                      <a:r>
                        <a:rPr lang="zh-CN" altLang="en-US" sz="800"/>
                        <a:t>地址</a:t>
                      </a:r>
                      <a:endParaRPr lang="zh-CN" altLang="en-US" sz="8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6661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Network Attaching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1113155"/>
            <a:ext cx="2824480" cy="34880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015" y="1113155"/>
            <a:ext cx="3625215" cy="3300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113155"/>
            <a:ext cx="2844165" cy="3320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900" y="6832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r>
              <a:rPr lang="zh-CN" altLang="en-US"/>
              <a:t>、邻居链路</a:t>
            </a:r>
            <a:r>
              <a:rPr lang="zh-CN" altLang="en-US"/>
              <a:t>通信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225550"/>
            <a:ext cx="4049395" cy="35509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86275" y="1225550"/>
            <a:ext cx="4146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首次建立链路时，</a:t>
            </a:r>
            <a:r>
              <a:rPr lang="en-US" altLang="zh-CN"/>
              <a:t>Link request</a:t>
            </a:r>
            <a:r>
              <a:rPr lang="zh-CN" altLang="en-US"/>
              <a:t>必须包含</a:t>
            </a:r>
            <a:r>
              <a:rPr lang="en-US" altLang="zh-CN"/>
              <a:t>Leader D</a:t>
            </a:r>
            <a:r>
              <a:rPr lang="en-US" altLang="zh-CN"/>
              <a:t>ata TLV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5900" y="587375"/>
            <a:ext cx="546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Operational Dataset Announcements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159385" y="1418590"/>
          <a:ext cx="7863840" cy="107696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特性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说明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消息内容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Channel TLV, Active TimestampTLV, PAN ID TLV</a:t>
                      </a:r>
                      <a:endParaRPr lang="en-US" altLang="zh-CN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发送</a:t>
                      </a:r>
                      <a:r>
                        <a:rPr lang="zh-CN" altLang="en-US" sz="1100"/>
                        <a:t>设备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由</a:t>
                      </a:r>
                      <a:r>
                        <a:rPr lang="en-US" altLang="zh-CN" sz="1100"/>
                        <a:t>Routers/REEDs </a:t>
                      </a:r>
                      <a:r>
                        <a:rPr lang="zh-CN" altLang="en-US" sz="1100"/>
                        <a:t>强制周期性发送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核心目的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网络配置同步、分区分合并、信道 </a:t>
                      </a:r>
                      <a:r>
                        <a:rPr lang="en-US" altLang="zh-CN" sz="1100"/>
                        <a:t>/ PAN ID </a:t>
                      </a:r>
                      <a:r>
                        <a:rPr lang="zh-CN" altLang="en-US" sz="1100"/>
                        <a:t>冲突自愈</a:t>
                      </a:r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59385" y="9556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Command ID</a:t>
            </a:r>
            <a:r>
              <a:rPr lang="zh-CN" altLang="en-US"/>
              <a:t>：</a:t>
            </a:r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6040" y="2695575"/>
            <a:ext cx="8359140" cy="1352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400"/>
              <a:t>接收</a:t>
            </a:r>
            <a:r>
              <a:rPr lang="zh-CN" altLang="en-US" sz="1400"/>
              <a:t>方处理：对比</a:t>
            </a:r>
            <a:r>
              <a:rPr lang="en-US" altLang="zh-CN" sz="1400">
                <a:sym typeface="+mn-ea"/>
              </a:rPr>
              <a:t>Active Timestamp</a:t>
            </a:r>
            <a:endParaRPr lang="zh-CN" altLang="en-US" sz="1400"/>
          </a:p>
          <a:p>
            <a:pPr>
              <a:lnSpc>
                <a:spcPct val="14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(1)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若自身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Active Timestamp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值小于接收到的，更新差异数据；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(2)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若相同，不做任何处理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(3)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如大于接收到的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Active Timestamp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，发送一次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Announce 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消息纠正发送方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MLE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348105"/>
            <a:ext cx="3943350" cy="31051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5900" y="587375"/>
            <a:ext cx="546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Operational Dataset Announcements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15900" y="104140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Operational Dataset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295" y="1348105"/>
            <a:ext cx="34036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PART 02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3325" y="1275715"/>
            <a:ext cx="6307590" cy="2503805"/>
            <a:chOff x="3272" y="3874"/>
            <a:chExt cx="12612" cy="4373"/>
          </a:xfrm>
        </p:grpSpPr>
        <p:pic>
          <p:nvPicPr>
            <p:cNvPr id="10" name="图片 9" descr="图形用户界面, 应用程序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8" y="3874"/>
              <a:ext cx="6546" cy="4373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3272" y="7403"/>
              <a:ext cx="1134" cy="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endParaRPr lang="zh-CN" altLang="en-US" sz="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72" y="5709"/>
              <a:ext cx="6666" cy="1581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charset="0"/>
                  <a:ea typeface="OPPOSans H" panose="00020600040101010101" pitchFamily="18" charset="-122"/>
                  <a:cs typeface="Times New Roman" panose="02020603050405020304" charset="0"/>
                </a:rPr>
                <a:t>NWK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72" y="7642"/>
              <a:ext cx="5019" cy="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NETWORK LAYER</a:t>
              </a:r>
              <a:endParaRPr lang="en-US" altLang="zh-CN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72" y="4070"/>
              <a:ext cx="2915" cy="1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02</a:t>
              </a:r>
              <a:endPara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pic>
          <p:nvPicPr>
            <p:cNvPr id="15" name="图片 14" descr="图片包含 图标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431409">
              <a:off x="13750" y="4000"/>
              <a:ext cx="1158" cy="491"/>
            </a:xfrm>
            <a:prstGeom prst="rect">
              <a:avLst/>
            </a:prstGeom>
          </p:spPr>
        </p:pic>
        <p:pic>
          <p:nvPicPr>
            <p:cNvPr id="16" name="图片 15" descr="形状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8" y="5085"/>
              <a:ext cx="264" cy="252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" y="4497"/>
              <a:ext cx="193" cy="1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5900" y="955675"/>
            <a:ext cx="5441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(1)</a:t>
            </a:r>
            <a:r>
              <a:rPr lang="zh-CN" altLang="en-US" sz="1600"/>
              <a:t>单播</a:t>
            </a:r>
            <a:r>
              <a:rPr lang="zh-CN" altLang="en-US" sz="1600"/>
              <a:t>地址</a:t>
            </a:r>
            <a:endParaRPr lang="zh-CN" altLang="en-US" sz="1600"/>
          </a:p>
        </p:txBody>
      </p:sp>
      <p:graphicFrame>
        <p:nvGraphicFramePr>
          <p:cNvPr id="9" name="表格 8"/>
          <p:cNvGraphicFramePr/>
          <p:nvPr/>
        </p:nvGraphicFramePr>
        <p:xfrm>
          <a:off x="313055" y="1247140"/>
          <a:ext cx="7313295" cy="1957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405"/>
                <a:gridCol w="1179195"/>
                <a:gridCol w="3401695"/>
              </a:tblGrid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地址</a:t>
                      </a: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前缀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用途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LLA(Link-Local Address)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fe80::/16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用于发现邻居、配置链路和交换路由信息</a:t>
                      </a:r>
                      <a:endParaRPr lang="zh-CN" altLang="en-US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ML-EID(Mesh-Local EID)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fd00::/8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设备在</a:t>
                      </a: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Thread </a:t>
                      </a: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网络内唯一标识</a:t>
                      </a:r>
                      <a:endParaRPr lang="zh-CN" altLang="en-US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RLOC(Routing Locator)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不固定</a:t>
                      </a:r>
                      <a:endParaRPr lang="zh-CN" altLang="en-US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路由定位</a:t>
                      </a:r>
                      <a:endParaRPr lang="zh-CN" altLang="en-US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(GUA)Global Unicast Address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2000::/3</a:t>
                      </a:r>
                      <a:endParaRPr lang="en-US" altLang="zh-CN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访问外网、与非</a:t>
                      </a:r>
                      <a:r>
                        <a:rPr lang="en-US" altLang="zh-CN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 Thread IPv6 </a:t>
                      </a:r>
                      <a:r>
                        <a:rPr lang="zh-CN" altLang="en-US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网络通信</a:t>
                      </a:r>
                      <a:endParaRPr lang="zh-CN" altLang="en-US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15900" y="3265170"/>
            <a:ext cx="8748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RLOC = Mesh-Local Prefix (64 bits) + 0:0:0:ff:fe00:RLOC16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3571875"/>
            <a:ext cx="4015105" cy="831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5900" y="1010285"/>
            <a:ext cx="5441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(2)</a:t>
            </a:r>
            <a:r>
              <a:rPr lang="zh-CN" altLang="en-US" sz="1600"/>
              <a:t>任</a:t>
            </a:r>
            <a:r>
              <a:rPr lang="zh-CN" altLang="en-US" sz="1600"/>
              <a:t>播地址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223520" y="1310005"/>
            <a:ext cx="74841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ALOC =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Mesh-Local Prefix (64 bits) + 0:0:0:ff:fe00:fcxx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23520" y="1638935"/>
          <a:ext cx="7630160" cy="2919095"/>
        </p:xfrm>
        <a:graphic>
          <a:graphicData uri="http://schemas.openxmlformats.org/drawingml/2006/table">
            <a:tbl>
              <a:tblPr/>
              <a:tblGrid>
                <a:gridCol w="1539875"/>
                <a:gridCol w="2157095"/>
                <a:gridCol w="3933190"/>
              </a:tblGrid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黑体" panose="02010609060101010101" charset="-122"/>
                          <a:ea typeface="黑体" panose="02010609060101010101" charset="-122"/>
                        </a:rPr>
                        <a:t>ALOC16 </a:t>
                      </a:r>
                      <a:endParaRPr lang="en-US" altLang="zh-CN" sz="14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latin typeface="黑体" panose="02010609060101010101" charset="-122"/>
                          <a:ea typeface="黑体" panose="02010609060101010101" charset="-122"/>
                        </a:rPr>
                        <a:t>名称</a:t>
                      </a:r>
                      <a:endParaRPr lang="zh-CN" altLang="en-US" sz="14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latin typeface="黑体" panose="02010609060101010101" charset="-122"/>
                          <a:ea typeface="黑体" panose="02010609060101010101" charset="-122"/>
                        </a:rPr>
                        <a:t>描述</a:t>
                      </a:r>
                      <a:endParaRPr lang="zh-CN" altLang="en-US" sz="14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0xFC00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Leader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指向当前分区的 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Leader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0xFC01~0xFC0F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DHCPv6 Agent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指向最近的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DHCPv6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代理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0xFC10~0xFC2F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Service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指向最近的对应服务服务器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0xFC30~0xFC37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Commissioner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指向活跃的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Commissioner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03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0xFC38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Primary Backbone Router 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指向当前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Thread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网络分区中的主骨干路由器</a:t>
                      </a:r>
                      <a:r>
                        <a:rPr lang="en-US" altLang="zh-CN" sz="1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(BR)</a:t>
                      </a:r>
                      <a:endParaRPr lang="en-US" altLang="zh-CN" sz="1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0xFC39~0xFC3F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Reserved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预留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34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0xFC40~0xFC4E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Neighbor Discovery Agent 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指向最近的邻居发现代理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52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0xFC4F~0xFCFF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Reserved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预留</a:t>
                      </a:r>
                      <a:endParaRPr lang="zh-CN" altLang="en-US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5900" y="1010285"/>
            <a:ext cx="54413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(3)</a:t>
            </a:r>
            <a:r>
              <a:rPr lang="zh-CN" altLang="en-US" sz="1600"/>
              <a:t>组播地址</a:t>
            </a:r>
            <a:endParaRPr lang="zh-CN" altLang="en-US" sz="1600"/>
          </a:p>
        </p:txBody>
      </p:sp>
      <p:graphicFrame>
        <p:nvGraphicFramePr>
          <p:cNvPr id="15" name="表格 14"/>
          <p:cNvGraphicFramePr/>
          <p:nvPr/>
        </p:nvGraphicFramePr>
        <p:xfrm>
          <a:off x="185420" y="1495425"/>
          <a:ext cx="5375275" cy="1727200"/>
        </p:xfrm>
        <a:graphic>
          <a:graphicData uri="http://schemas.openxmlformats.org/drawingml/2006/table">
            <a:tbl>
              <a:tblPr/>
              <a:tblGrid>
                <a:gridCol w="1231265"/>
                <a:gridCol w="1403350"/>
                <a:gridCol w="2740660"/>
              </a:tblGrid>
              <a:tr h="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IPv6 </a:t>
                      </a:r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地址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域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黑体" panose="02010609060101010101" charset="-122"/>
                          <a:ea typeface="黑体" panose="02010609060101010101" charset="-122"/>
                        </a:rPr>
                        <a:t>接收设备</a:t>
                      </a:r>
                      <a:endParaRPr lang="zh-CN" altLang="en-US" sz="16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ff02::1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Link-Local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所有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FTD </a:t>
                      </a:r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和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MED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ff02::2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Link-Local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所有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FTD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ff03::1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Mesh-Local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所有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FTD </a:t>
                      </a:r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和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MED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ff03::2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Mesh-Local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所有 </a:t>
                      </a:r>
                      <a:r>
                        <a:rPr lang="en-US" altLang="zh-CN" sz="16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FTD</a:t>
                      </a:r>
                      <a:endParaRPr lang="en-US" altLang="zh-CN" sz="16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DHCP</a:t>
            </a:r>
            <a:r>
              <a:rPr lang="en-US" altLang="zh-CN"/>
              <a:t>v6 Services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215900" y="1018540"/>
            <a:ext cx="8737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DHCPv6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是一个用来配置工作在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IPv6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网络上的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IPv6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主机所需的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地址、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前缀和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/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或其他配置的网络协议，对于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Tthread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设备来说是可选的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663700"/>
            <a:ext cx="6057900" cy="146685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304483" y="3264757"/>
          <a:ext cx="5412740" cy="1311275"/>
        </p:xfrm>
        <a:graphic>
          <a:graphicData uri="http://schemas.openxmlformats.org/drawingml/2006/table">
            <a:tbl>
              <a:tblPr/>
              <a:tblGrid>
                <a:gridCol w="474980"/>
                <a:gridCol w="913130"/>
                <a:gridCol w="4024630"/>
              </a:tblGrid>
              <a:tr h="162560">
                <a:tc>
                  <a:txBody>
                    <a:bodyPr/>
                    <a:p>
                      <a:pPr algn="ctr"/>
                      <a:r>
                        <a:rPr lang="en-US" altLang="zh-CN" sz="1000" b="1">
                          <a:latin typeface="黑体" panose="02010609060101010101" charset="-122"/>
                          <a:ea typeface="黑体" panose="02010609060101010101" charset="-122"/>
                        </a:rPr>
                        <a:t>code</a:t>
                      </a:r>
                      <a:endParaRPr lang="en-US" altLang="zh-CN" sz="10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000" b="1">
                          <a:latin typeface="黑体" panose="02010609060101010101" charset="-122"/>
                          <a:ea typeface="黑体" panose="02010609060101010101" charset="-122"/>
                        </a:rPr>
                        <a:t>类型</a:t>
                      </a:r>
                      <a:endParaRPr lang="zh-CN" altLang="en-US" sz="10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1">
                          <a:latin typeface="黑体" panose="02010609060101010101" charset="-122"/>
                          <a:ea typeface="黑体" panose="02010609060101010101" charset="-122"/>
                        </a:rPr>
                        <a:t>说明</a:t>
                      </a:r>
                      <a:endParaRPr lang="zh-CN" altLang="en-US" sz="10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SOLICIT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客户端向多播地址发送，用于发现 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DHCPv6 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服务器。</a:t>
                      </a:r>
                      <a:endParaRPr lang="zh-CN" altLang="en-US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ADVERTISE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服务器回应 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Solicit 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报文，宣告自身服务能力与可分配地址 </a:t>
                      </a:r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/ </a:t>
                      </a:r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配置。</a:t>
                      </a:r>
                      <a:endParaRPr lang="zh-CN" altLang="en-US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REQUEST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客户端向选定的服务器发送，正式请求地址或配置参数。</a:t>
                      </a:r>
                      <a:endParaRPr lang="zh-CN" altLang="en-US" sz="10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CONFIRM</a:t>
                      </a:r>
                      <a:endParaRPr lang="en-US" altLang="zh-CN" sz="10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客户端向所有服务器发送，确认当前地址在链路上是否依然有效。</a:t>
                      </a:r>
                      <a:endParaRPr lang="zh-CN" altLang="en-US" sz="10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IMCP</a:t>
            </a:r>
            <a:r>
              <a:rPr lang="en-US" altLang="zh-CN"/>
              <a:t>v6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15900" y="1017905"/>
            <a:ext cx="8092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即网络控制信息协议第六版，用于在网络中传递控制和错误消息，同时包含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NDP(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邻居发现协议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174307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报文格式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" y="2044065"/>
            <a:ext cx="7839710" cy="1654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5900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IMCP</a:t>
            </a:r>
            <a:r>
              <a:rPr lang="en-US" altLang="zh-CN"/>
              <a:t>v6</a:t>
            </a:r>
            <a:endParaRPr lang="en-US" altLang="zh-CN"/>
          </a:p>
        </p:txBody>
      </p:sp>
      <p:graphicFrame>
        <p:nvGraphicFramePr>
          <p:cNvPr id="3" name="表格 2"/>
          <p:cNvGraphicFramePr/>
          <p:nvPr/>
        </p:nvGraphicFramePr>
        <p:xfrm>
          <a:off x="215900" y="1112520"/>
          <a:ext cx="4846955" cy="3058160"/>
        </p:xfrm>
        <a:graphic>
          <a:graphicData uri="http://schemas.openxmlformats.org/drawingml/2006/table">
            <a:tbl>
              <a:tblPr/>
              <a:tblGrid>
                <a:gridCol w="909955"/>
                <a:gridCol w="594360"/>
                <a:gridCol w="1205230"/>
                <a:gridCol w="2137410"/>
              </a:tblGrid>
              <a:tr h="0">
                <a:tc>
                  <a:txBody>
                    <a:bodyPr/>
                    <a:p>
                      <a:pPr algn="ctr"/>
                      <a:r>
                        <a:rPr lang="zh-CN" altLang="en-US" sz="1100" b="1">
                          <a:latin typeface="黑体" panose="02010609060101010101" charset="-122"/>
                          <a:ea typeface="黑体" panose="02010609060101010101" charset="-122"/>
                        </a:rPr>
                        <a:t>消息类型</a:t>
                      </a:r>
                      <a:endParaRPr lang="zh-CN" altLang="en-US" sz="11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>
                          <a:latin typeface="黑体" panose="02010609060101010101" charset="-122"/>
                          <a:ea typeface="黑体" panose="02010609060101010101" charset="-122"/>
                        </a:rPr>
                        <a:t>Type</a:t>
                      </a:r>
                      <a:endParaRPr lang="en-US" altLang="zh-CN" sz="11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1">
                          <a:latin typeface="黑体" panose="02010609060101010101" charset="-122"/>
                          <a:ea typeface="黑体" panose="02010609060101010101" charset="-122"/>
                        </a:rPr>
                        <a:t>名称</a:t>
                      </a:r>
                      <a:endParaRPr lang="zh-CN" altLang="en-US" sz="11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>
                          <a:latin typeface="黑体" panose="02010609060101010101" charset="-122"/>
                          <a:ea typeface="黑体" panose="02010609060101010101" charset="-122"/>
                        </a:rPr>
                        <a:t>Code</a:t>
                      </a:r>
                      <a:endParaRPr lang="en-US" altLang="zh-CN" sz="1100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4"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差错消息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目的不可达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无路由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因管理原因禁止访问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未指定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地址不可达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端口不可达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数据包过长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超时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跳数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超时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01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分片重组超时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参数错误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错误的包头字段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无法识别的下一包头类型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无法识别的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IPv6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选项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信息消息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128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Echo Request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129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Echo Reply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0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右大括号 3"/>
          <p:cNvSpPr/>
          <p:nvPr/>
        </p:nvSpPr>
        <p:spPr>
          <a:xfrm>
            <a:off x="5062855" y="3613785"/>
            <a:ext cx="259715" cy="5568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22570" y="37077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ping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" y="587375"/>
            <a:ext cx="4053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Routing Protocol(</a:t>
            </a:r>
            <a:r>
              <a:rPr lang="zh-CN" altLang="en-US"/>
              <a:t>路由协议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6680" y="95567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(1)</a:t>
            </a:r>
            <a:r>
              <a:rPr lang="zh-CN" altLang="en-US" sz="1400"/>
              <a:t>路由数据库</a:t>
            </a:r>
            <a:endParaRPr lang="zh-CN" altLang="en-US" sz="1400"/>
          </a:p>
        </p:txBody>
      </p:sp>
      <p:graphicFrame>
        <p:nvGraphicFramePr>
          <p:cNvPr id="6" name="表格 5"/>
          <p:cNvGraphicFramePr/>
          <p:nvPr/>
        </p:nvGraphicFramePr>
        <p:xfrm>
          <a:off x="106680" y="1262380"/>
          <a:ext cx="6141720" cy="2153920"/>
        </p:xfrm>
        <a:graphic>
          <a:graphicData uri="http://schemas.openxmlformats.org/drawingml/2006/table">
            <a:tbl>
              <a:tblPr/>
              <a:tblGrid>
                <a:gridCol w="955040"/>
                <a:gridCol w="1582420"/>
                <a:gridCol w="3604260"/>
              </a:tblGrid>
              <a:tr h="0">
                <a:tc>
                  <a:txBody>
                    <a:bodyPr/>
                    <a:p>
                      <a:pPr algn="l"/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1"/>
                        <a:t>字段名</a:t>
                      </a:r>
                      <a:endParaRPr lang="zh-CN" altLang="en-US" sz="1100" b="1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1"/>
                        <a:t>说明</a:t>
                      </a:r>
                      <a:endParaRPr lang="zh-CN" altLang="en-US" sz="1100" b="1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 Set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ID_set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当前有效的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集合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ID_sequence_number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该集合的序列号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5"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Link Set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L_router_id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邻居的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L_link_margin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接收信号的链路余量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L_incoming_quality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入向链路质量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L_outgoing_quality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出向链路质量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L_age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距离上次收到该邻居的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MLE Advertisement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报文的时间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6680" y="347980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(2)</a:t>
            </a:r>
            <a:r>
              <a:rPr lang="zh-CN" altLang="en-US" sz="1400"/>
              <a:t>路由</a:t>
            </a:r>
            <a:r>
              <a:rPr lang="zh-CN" altLang="en-US" sz="1400"/>
              <a:t>集</a:t>
            </a:r>
            <a:endParaRPr lang="zh-CN" altLang="en-US" sz="1400"/>
          </a:p>
        </p:txBody>
      </p:sp>
      <p:graphicFrame>
        <p:nvGraphicFramePr>
          <p:cNvPr id="9" name="表格 8"/>
          <p:cNvGraphicFramePr/>
          <p:nvPr/>
        </p:nvGraphicFramePr>
        <p:xfrm>
          <a:off x="106680" y="3777615"/>
          <a:ext cx="3564255" cy="1076960"/>
        </p:xfrm>
        <a:graphic>
          <a:graphicData uri="http://schemas.openxmlformats.org/drawingml/2006/table">
            <a:tbl>
              <a:tblPr/>
              <a:tblGrid>
                <a:gridCol w="1209675"/>
                <a:gridCol w="2354580"/>
              </a:tblGrid>
              <a:tr h="0">
                <a:tc>
                  <a:txBody>
                    <a:bodyPr/>
                    <a:p>
                      <a:pPr algn="l"/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1"/>
                        <a:t>说明</a:t>
                      </a:r>
                      <a:endParaRPr lang="zh-CN" altLang="en-US" sz="1100" b="1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R_destination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目标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R_next_hop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下一跳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R_route_cost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下一跳通告的到目标的路由成本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124960" y="347091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(3)Leader</a:t>
            </a:r>
            <a:r>
              <a:rPr lang="zh-CN" altLang="en-US" sz="1400"/>
              <a:t>数据库</a:t>
            </a:r>
            <a:endParaRPr lang="zh-CN" altLang="en-US" sz="1400"/>
          </a:p>
        </p:txBody>
      </p:sp>
      <p:graphicFrame>
        <p:nvGraphicFramePr>
          <p:cNvPr id="13" name="表格 12"/>
          <p:cNvGraphicFramePr/>
          <p:nvPr/>
        </p:nvGraphicFramePr>
        <p:xfrm>
          <a:off x="4124960" y="3786505"/>
          <a:ext cx="4263390" cy="1076960"/>
        </p:xfrm>
        <a:graphic>
          <a:graphicData uri="http://schemas.openxmlformats.org/drawingml/2006/table">
            <a:tbl>
              <a:tblPr/>
              <a:tblGrid>
                <a:gridCol w="1081405"/>
                <a:gridCol w="3181985"/>
              </a:tblGrid>
              <a:tr h="0">
                <a:tc>
                  <a:txBody>
                    <a:bodyPr/>
                    <a:p>
                      <a:pPr algn="l"/>
                      <a:endParaRPr lang="zh-CN" altLang="en-US" sz="1100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1"/>
                        <a:t>说明</a:t>
                      </a:r>
                      <a:endParaRPr lang="zh-CN" altLang="en-US" sz="1100" b="1"/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ID_id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Router ID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ID_owner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该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当前分配的设备的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IEEE 802.15.4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扩展地址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ID_reuse_time</a:t>
                      </a:r>
                      <a:endParaRPr lang="en-US" altLang="zh-CN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该 </a:t>
                      </a:r>
                      <a:r>
                        <a:rPr lang="en-US" altLang="zh-CN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ID </a:t>
                      </a:r>
                      <a:r>
                        <a:rPr lang="zh-CN" altLang="en-US" sz="1100"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可被重新分配的时间</a:t>
                      </a:r>
                      <a:endParaRPr lang="zh-CN" altLang="en-US" sz="110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NWK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" y="587375"/>
            <a:ext cx="4053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Thread Domain</a:t>
            </a:r>
            <a:r>
              <a:rPr lang="en-US" altLang="zh-CN"/>
              <a:t>s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955675"/>
            <a:ext cx="5038725" cy="2797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5900" y="3752850"/>
            <a:ext cx="8242935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DUA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：设备唯一域地址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TBLP 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：运行在骨干链路上、用于多个骨干路由器（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BBR）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之间进行状态同步的协议。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PART 03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3325" y="1275715"/>
            <a:ext cx="6307590" cy="2503805"/>
            <a:chOff x="3272" y="3874"/>
            <a:chExt cx="12612" cy="4373"/>
          </a:xfrm>
        </p:grpSpPr>
        <p:pic>
          <p:nvPicPr>
            <p:cNvPr id="2" name="图片 1" descr="图形用户界面, 应用程序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8" y="3874"/>
              <a:ext cx="6546" cy="4373"/>
            </a:xfrm>
            <a:prstGeom prst="rect">
              <a:avLst/>
            </a:prstGeom>
          </p:spPr>
        </p:pic>
        <p:sp>
          <p:nvSpPr>
            <p:cNvPr id="3" name="圆角矩形 2"/>
            <p:cNvSpPr/>
            <p:nvPr/>
          </p:nvSpPr>
          <p:spPr>
            <a:xfrm>
              <a:off x="3272" y="7403"/>
              <a:ext cx="1134" cy="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endParaRPr lang="zh-CN" altLang="en-US" sz="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72" y="5709"/>
              <a:ext cx="6666" cy="1581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charset="0"/>
                  <a:ea typeface="OPPOSans H" panose="00020600040101010101" pitchFamily="18" charset="-122"/>
                  <a:cs typeface="Times New Roman" panose="02020603050405020304" charset="0"/>
                </a:rPr>
                <a:t>UDP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272" y="7642"/>
              <a:ext cx="5019" cy="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User Datagram Protocol (</a:t>
              </a:r>
              <a:endParaRPr lang="zh-CN" alt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272" y="4070"/>
              <a:ext cx="2915" cy="1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03</a:t>
              </a:r>
              <a:endPara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pic>
          <p:nvPicPr>
            <p:cNvPr id="6" name="图片 5" descr="图片包含 图标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431409">
              <a:off x="13750" y="4000"/>
              <a:ext cx="1158" cy="491"/>
            </a:xfrm>
            <a:prstGeom prst="rect">
              <a:avLst/>
            </a:prstGeom>
          </p:spPr>
        </p:pic>
        <p:pic>
          <p:nvPicPr>
            <p:cNvPr id="7" name="图片 6" descr="形状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8" y="5085"/>
              <a:ext cx="264" cy="252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" y="4497"/>
              <a:ext cx="193" cy="1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5900" y="684530"/>
            <a:ext cx="7950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UDP</a:t>
            </a:r>
            <a:r>
              <a:rPr lang="zh-CN" altLang="en-US"/>
              <a:t>（</a:t>
            </a:r>
            <a:r>
              <a:rPr lang="en-US" altLang="zh-CN"/>
              <a:t>User Datagram Protocol</a:t>
            </a:r>
            <a:r>
              <a:rPr lang="zh-CN" altLang="en-US"/>
              <a:t>，用户数据报协议）是位于传输层的一个核心协议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5900" y="142684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报文格式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733550"/>
            <a:ext cx="760095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deepseek_mermaid_20260415_4a2f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7405"/>
            <a:ext cx="9144000" cy="815340"/>
          </a:xfrm>
          <a:prstGeom prst="rect">
            <a:avLst/>
          </a:prstGeom>
        </p:spPr>
      </p:pic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775" y="5873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Thread UDP API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7150" y="1642745"/>
            <a:ext cx="3048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UDP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负载：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、直接数据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2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MLE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3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oAP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519045"/>
            <a:ext cx="6821170" cy="176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C</a:t>
            </a:r>
            <a:r>
              <a:rPr lang="en-US" altLang="zh-CN" sz="1600">
                <a:sym typeface="+mn-ea"/>
              </a:rPr>
              <a:t>oAP</a:t>
            </a:r>
            <a:r>
              <a:rPr lang="zh-CN" altLang="en-US" sz="1600">
                <a:sym typeface="+mn-ea"/>
              </a:rPr>
              <a:t>：受限应用协议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报文类型：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CON(Confirmable Message)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：接收者必须确认并回复一个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ACK/RST</a:t>
            </a:r>
            <a:endParaRPr lang="en-US" altLang="zh-CN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2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NON(Non-Confirmable Message)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：接收者无需确认回复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3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ACK(Acknowledgement Message)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：回复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CON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报文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4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RST(Reset Message)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：用于回复无法处理的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CON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报文，负载为空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3120"/>
            <a:ext cx="4608830" cy="13411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420" y="54292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CoAP</a:t>
            </a:r>
            <a:r>
              <a:rPr lang="zh-CN" altLang="en-US" sz="1600"/>
              <a:t>报文格式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0" y="2228215"/>
            <a:ext cx="5138420" cy="2227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Ver(version 2bits)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COAP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协议版本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T(type 2bits)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：消息类型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Code(8bits)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：请求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(Get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Put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Post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Delete)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、响应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(Created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Changed)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、错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	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误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(Bad Request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Not Found)</a:t>
            </a:r>
            <a:endParaRPr lang="en-US" altLang="zh-CN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Message ID(16bits)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：重复检查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Token(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可变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：匹配请求和响应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Options(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可变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Delta(4bits)+Length(4bits)+value(length bits)</a:t>
            </a:r>
            <a:endParaRPr lang="en-US" altLang="zh-CN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xFF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：分隔头部和负载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Payload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：负载</a:t>
            </a:r>
            <a:endParaRPr lang="en-US" altLang="zh-CN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lvl="1" indent="457200">
              <a:lnSpc>
                <a:spcPct val="110000"/>
              </a:lnSpc>
            </a:pPr>
            <a:endParaRPr lang="en-US" altLang="zh-CN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20" y="4278630"/>
            <a:ext cx="3688080" cy="564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otCoapStart()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：启用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CoAP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服务器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otCoapAddResource()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：添加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CoAP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资源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074285" y="325120"/>
            <a:ext cx="2978150" cy="4424045"/>
            <a:chOff x="7991" y="512"/>
            <a:chExt cx="4690" cy="6967"/>
          </a:xfrm>
        </p:grpSpPr>
        <p:sp>
          <p:nvSpPr>
            <p:cNvPr id="9" name="圆角矩形 8"/>
            <p:cNvSpPr/>
            <p:nvPr/>
          </p:nvSpPr>
          <p:spPr>
            <a:xfrm>
              <a:off x="8679" y="512"/>
              <a:ext cx="3314" cy="613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otCoapNewMessage()</a:t>
              </a:r>
              <a:endParaRPr lang="en-US" altLang="zh-CN" sz="1200"/>
            </a:p>
            <a:p>
              <a:pPr algn="ctr"/>
              <a:r>
                <a:rPr lang="zh-CN" altLang="en-US" sz="1200"/>
                <a:t>申请</a:t>
              </a:r>
              <a:r>
                <a:rPr lang="en-US" altLang="zh-CN" sz="1200"/>
                <a:t>CoAP</a:t>
              </a:r>
              <a:r>
                <a:rPr lang="zh-CN" altLang="en-US" sz="1200"/>
                <a:t>消息缓冲区</a:t>
              </a:r>
              <a:endParaRPr lang="zh-CN" altLang="en-US" sz="120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8490" y="1572"/>
              <a:ext cx="3692" cy="61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otCoapMessageInit()</a:t>
              </a:r>
              <a:endParaRPr lang="en-US" altLang="zh-CN" sz="1200"/>
            </a:p>
            <a:p>
              <a:pPr algn="ctr"/>
              <a:r>
                <a:rPr lang="zh-CN" altLang="en-US" sz="1200"/>
                <a:t>设置</a:t>
              </a:r>
              <a:r>
                <a:rPr lang="en-US" altLang="zh-CN" sz="1200"/>
                <a:t>CoAP</a:t>
              </a:r>
              <a:r>
                <a:rPr lang="zh-CN" altLang="en-US" sz="1200"/>
                <a:t>类型、请求方法</a:t>
              </a:r>
              <a:endParaRPr lang="zh-CN" altLang="en-US" sz="12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8357" y="2631"/>
              <a:ext cx="3959" cy="61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otCoapMessageGenerateToken()</a:t>
              </a:r>
              <a:endParaRPr lang="en-US" altLang="zh-CN" sz="1200"/>
            </a:p>
            <a:p>
              <a:pPr algn="ctr"/>
              <a:r>
                <a:rPr lang="zh-CN" altLang="en-US" sz="1200"/>
                <a:t>生成随机</a:t>
              </a:r>
              <a:r>
                <a:rPr lang="en-US" altLang="zh-CN" sz="1200"/>
                <a:t>Token</a:t>
              </a:r>
              <a:endParaRPr lang="en-US" altLang="zh-CN" sz="12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002" y="3690"/>
              <a:ext cx="4669" cy="61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otCoapMessageAppendUriPathOptions()</a:t>
              </a:r>
              <a:endParaRPr lang="en-US" altLang="zh-CN" sz="1200"/>
            </a:p>
            <a:p>
              <a:pPr algn="ctr"/>
              <a:r>
                <a:rPr lang="zh-CN" altLang="en-US" sz="1200"/>
                <a:t>添加</a:t>
              </a:r>
              <a:r>
                <a:rPr lang="en-US" altLang="zh-CN" sz="1200"/>
                <a:t>URL-Path</a:t>
              </a:r>
              <a:endParaRPr lang="en-US" altLang="zh-CN" sz="120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154" y="4749"/>
              <a:ext cx="4365" cy="61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otCoapMessageSetPayloadMarker()</a:t>
              </a:r>
              <a:endParaRPr lang="en-US" altLang="zh-CN" sz="1200"/>
            </a:p>
            <a:p>
              <a:pPr algn="ctr"/>
              <a:r>
                <a:rPr lang="zh-CN" altLang="en-US" sz="1200"/>
                <a:t>添加</a:t>
              </a:r>
              <a:r>
                <a:rPr lang="en-US" altLang="zh-CN" sz="1200"/>
                <a:t>0xFF</a:t>
              </a:r>
              <a:endParaRPr lang="en-US" altLang="zh-CN" sz="120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8835" y="5808"/>
              <a:ext cx="3003" cy="61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otMessageAppend()</a:t>
              </a:r>
              <a:endParaRPr lang="en-US" altLang="zh-CN" sz="1200"/>
            </a:p>
            <a:p>
              <a:pPr algn="ctr"/>
              <a:r>
                <a:rPr lang="zh-CN" altLang="en-US" sz="1200"/>
                <a:t>将消息写入缓冲区</a:t>
              </a:r>
              <a:endParaRPr lang="zh-CN" altLang="en-US" sz="120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7991" y="6867"/>
              <a:ext cx="4691" cy="613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otCoapSendRequestWithParameters()</a:t>
              </a:r>
              <a:endParaRPr lang="en-US" altLang="zh-CN" sz="1200"/>
            </a:p>
            <a:p>
              <a:pPr algn="ctr"/>
              <a:r>
                <a:rPr lang="zh-CN" altLang="en-US" sz="1200"/>
                <a:t>发送</a:t>
              </a:r>
              <a:r>
                <a:rPr lang="en-US" altLang="zh-CN" sz="1200"/>
                <a:t>CoAP</a:t>
              </a:r>
              <a:r>
                <a:rPr lang="zh-CN" altLang="en-US" sz="1200"/>
                <a:t>请求</a:t>
              </a:r>
              <a:endParaRPr lang="zh-CN" altLang="en-US" sz="1200"/>
            </a:p>
          </p:txBody>
        </p:sp>
        <p:cxnSp>
          <p:nvCxnSpPr>
            <p:cNvPr id="17" name="直接箭头连接符 16"/>
            <p:cNvCxnSpPr>
              <a:stCxn id="9" idx="2"/>
              <a:endCxn id="10" idx="0"/>
            </p:cNvCxnSpPr>
            <p:nvPr/>
          </p:nvCxnSpPr>
          <p:spPr>
            <a:xfrm>
              <a:off x="10336" y="1125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0" idx="2"/>
              <a:endCxn id="11" idx="0"/>
            </p:cNvCxnSpPr>
            <p:nvPr/>
          </p:nvCxnSpPr>
          <p:spPr>
            <a:xfrm>
              <a:off x="10336" y="2184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1" idx="2"/>
              <a:endCxn id="12" idx="0"/>
            </p:cNvCxnSpPr>
            <p:nvPr/>
          </p:nvCxnSpPr>
          <p:spPr>
            <a:xfrm>
              <a:off x="10336" y="3243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2" idx="2"/>
              <a:endCxn id="13" idx="0"/>
            </p:cNvCxnSpPr>
            <p:nvPr/>
          </p:nvCxnSpPr>
          <p:spPr>
            <a:xfrm>
              <a:off x="10336" y="4302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3" idx="2"/>
              <a:endCxn id="14" idx="0"/>
            </p:cNvCxnSpPr>
            <p:nvPr/>
          </p:nvCxnSpPr>
          <p:spPr>
            <a:xfrm>
              <a:off x="10336" y="5361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14" idx="2"/>
              <a:endCxn id="15" idx="0"/>
            </p:cNvCxnSpPr>
            <p:nvPr/>
          </p:nvCxnSpPr>
          <p:spPr>
            <a:xfrm>
              <a:off x="10336" y="6420"/>
              <a:ext cx="0" cy="447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61785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IPv6</a:t>
            </a:r>
            <a:r>
              <a:rPr lang="zh-CN" altLang="en-US" sz="1400"/>
              <a:t>头部报文格式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955675"/>
            <a:ext cx="4278630" cy="3260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94530" y="955675"/>
            <a:ext cx="4426585" cy="353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Version(4bits)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IP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版本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Traffic Class(8bits)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：流量分类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Flow Label(20bits)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：流标签，标识需特殊处理的数据流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Payload Length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：负载长度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Next Header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：指示下一个头部的类型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Hop Limit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：跳数限制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Source Address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：源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IPv6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地址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Destination Address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：目标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IPv6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地址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PART 04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3325" y="1275715"/>
            <a:ext cx="6307590" cy="2503805"/>
            <a:chOff x="3272" y="3874"/>
            <a:chExt cx="12612" cy="4373"/>
          </a:xfrm>
        </p:grpSpPr>
        <p:pic>
          <p:nvPicPr>
            <p:cNvPr id="10" name="图片 9" descr="图形用户界面, 应用程序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8" y="3874"/>
              <a:ext cx="6546" cy="4373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3272" y="7403"/>
              <a:ext cx="1134" cy="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endParaRPr lang="zh-CN" altLang="en-US" sz="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72" y="5709"/>
              <a:ext cx="6666" cy="1581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charset="0"/>
                  <a:ea typeface="OPPOSans H" panose="00020600040101010101" pitchFamily="18" charset="-122"/>
                  <a:cs typeface="Times New Roman" panose="02020603050405020304" charset="0"/>
                </a:rPr>
                <a:t>M</a:t>
              </a: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charset="0"/>
                  <a:ea typeface="OPPOSans H" panose="00020600040101010101" pitchFamily="18" charset="-122"/>
                  <a:cs typeface="Times New Roman" panose="02020603050405020304" charset="0"/>
                </a:rPr>
                <a:t>eshCoP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charset="0"/>
                <a:ea typeface="OPPOSans H" panose="00020600040101010101" pitchFamily="18" charset="-122"/>
                <a:cs typeface="Times New Roman" panose="020206030504050203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72" y="7642"/>
              <a:ext cx="6159" cy="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Mesh Commissioning Protocol</a:t>
              </a:r>
              <a:endParaRPr lang="en-US" altLang="zh-CN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72" y="4070"/>
              <a:ext cx="2915" cy="1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04</a:t>
              </a:r>
              <a:endPara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pic>
          <p:nvPicPr>
            <p:cNvPr id="15" name="图片 14" descr="图片包含 图标&#10;&#10;描述已自动生成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431409">
              <a:off x="13750" y="4000"/>
              <a:ext cx="1158" cy="491"/>
            </a:xfrm>
            <a:prstGeom prst="rect">
              <a:avLst/>
            </a:prstGeom>
          </p:spPr>
        </p:pic>
        <p:pic>
          <p:nvPicPr>
            <p:cNvPr id="16" name="图片 15" descr="形状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8" y="5085"/>
              <a:ext cx="264" cy="252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" y="4497"/>
              <a:ext cx="193" cy="1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MeshC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35000"/>
            <a:ext cx="8225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MeshCop</a:t>
            </a:r>
            <a:r>
              <a:rPr lang="zh-CN" altLang="en-US"/>
              <a:t>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Mesh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配网协议，将一个不可信的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Thread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设备加入到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Thread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网络中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00" y="1246505"/>
            <a:ext cx="3048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设备角色：</a:t>
            </a:r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Leader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Border Agent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Commissioner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lvl="1" indent="457200"/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Joiner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lvl="1" indent="457200"/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Joiner Router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MeshC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6661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Commissioner Protoco</a:t>
            </a:r>
            <a:r>
              <a:rPr lang="en-US" altLang="zh-CN"/>
              <a:t>l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15900" y="1098550"/>
            <a:ext cx="8406765" cy="3395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(1)Discovery of Thread Network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Native Commissioners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：使用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MLE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Discovery Messages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发现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Thread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External Ethernet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：使用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mDNS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服务发现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Thread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(2)Commissioner Authentication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连接方式：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DTLS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UDP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端口：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MC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端口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密钥：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PSKc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或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ePSKc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(3)Commissioner Registration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COMM_PET.req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：申请成为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Commissioner 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COMM_KA.req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：保活机制，定期发送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MeshC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6661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J</a:t>
            </a:r>
            <a:r>
              <a:rPr lang="en-US" altLang="zh-CN"/>
              <a:t>oiner Protoco</a:t>
            </a:r>
            <a:r>
              <a:rPr lang="en-US" altLang="zh-CN"/>
              <a:t>l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15900" y="1098550"/>
            <a:ext cx="8406765" cy="3662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(1)Discovery of Thread Network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使用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Discovery Requests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发现网络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60000"/>
              </a:lnSpc>
            </a:pP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(2)Joiner Provisional Join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临时加入、为后续与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Commissioners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建立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DTLS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做准备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50000"/>
              </a:lnSpc>
            </a:pP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(3)Joiner Authentication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连接方式：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DTLS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端口：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MJ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密钥：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PSKd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40000"/>
              </a:lnSpc>
            </a:pP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(4)Joiner Finalization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发送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JOIN_FIN.req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：网络凭据，其它特定配置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MeshC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00" y="666115"/>
            <a:ext cx="4147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Out-of-band Commissioning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15900" y="1098550"/>
            <a:ext cx="8406765" cy="4124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(1)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创建临时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Thread</a:t>
            </a:r>
            <a:r>
              <a:rPr lang="zh-CN" altLang="en-US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网络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40000"/>
              </a:lnSpc>
            </a:pP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(2)Network Form Request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启动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Thread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设备形成一个新的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Thread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网络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参数：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Network Name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Network Key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PSKc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[Channel]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(3)Network Scan Request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扫描附近网络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50000"/>
              </a:lnSpc>
            </a:pP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(4)Network Join Request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Thread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设备通过带外方式加入给定的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Thread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参数：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Network Key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Network Name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Extended PAN ID</a:t>
            </a: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50000"/>
              </a:lnSpc>
            </a:pPr>
            <a:endParaRPr lang="en-US" altLang="zh-CN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(5)Network Leave Request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请求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Thread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设备离开其当前活跃的 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Thread 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网络</a:t>
            </a: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 sz="1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引用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素材</a:t>
            </a:r>
            <a:endParaRPr lang="zh-CN" altLang="en-US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6850" y="675640"/>
            <a:ext cx="656272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[1]Final_17309Thread_v1.4.0_Specification[PDF].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115.4807874015748,&quot;left&quot;:137.65771653543305,&quot;top&quot;:240.1231496062992,&quot;width&quot;:141.7322834645669}"/>
</p:tagLst>
</file>

<file path=ppt/tags/tag6.xml><?xml version="1.0" encoding="utf-8"?>
<p:tagLst xmlns:p="http://schemas.openxmlformats.org/presentationml/2006/main">
  <p:tag name="KSO_WM_DIAGRAM_VIRTUALLY_FRAME" val="{&quot;height&quot;:115.4807874015748,&quot;left&quot;:137.65771653543305,&quot;top&quot;:240.1231496062992,&quot;width&quot;:141.7322834645669}"/>
</p:tagLst>
</file>

<file path=ppt/tags/tag7.xml><?xml version="1.0" encoding="utf-8"?>
<p:tagLst xmlns:p="http://schemas.openxmlformats.org/presentationml/2006/main">
  <p:tag name="KSO_WM_DIAGRAM_VIRTUALLY_FRAME" val="{&quot;height&quot;:115.4807874015748,&quot;left&quot;:137.65771653543305,&quot;top&quot;:240.1231496062992,&quot;width&quot;:141.7322834645669}"/>
</p:tagLst>
</file>

<file path=ppt/tags/tag8.xml><?xml version="1.0" encoding="utf-8"?>
<p:tagLst xmlns:p="http://schemas.openxmlformats.org/presentationml/2006/main">
  <p:tag name="KSO_WM_DIAGRAM_VIRTUALLY_FRAME" val="{&quot;height&quot;:115.4807874015748,&quot;left&quot;:137.65771653543305,&quot;top&quot;:240.1231496062992,&quot;width&quot;:141.7322834645669}"/>
</p:tagLst>
</file>

<file path=ppt/tags/tag9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0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1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2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3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4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5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6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7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8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19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0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1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2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3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4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5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6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7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8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29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30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31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32.xml><?xml version="1.0" encoding="utf-8"?>
<p:tagLst xmlns:p="http://schemas.openxmlformats.org/presentationml/2006/main">
  <p:tag name="KSO_WM_DIAGRAM_VIRTUALLY_FRAME" val="{&quot;height&quot;:322.16986726722604,&quot;left&quot;:309.85886366906686,&quot;top&quot;:46.33209677927025,&quot;width&quot;:374.7911363309331}"/>
</p:tagLst>
</file>

<file path=ppt/tags/tag33.xml><?xml version="1.0" encoding="utf-8"?>
<p:tagLst xmlns:p="http://schemas.openxmlformats.org/presentationml/2006/main">
  <p:tag name="TABLE_ENDDRAG_ORIGIN_RECT" val="561*194"/>
  <p:tag name="TABLE_ENDDRAG_RECT" val="17*79*561*194"/>
</p:tagLst>
</file>

<file path=ppt/tags/tag34.xml><?xml version="1.0" encoding="utf-8"?>
<p:tagLst xmlns:p="http://schemas.openxmlformats.org/presentationml/2006/main">
  <p:tag name="TABLE_ENDDRAG_ORIGIN_RECT" val="432*39"/>
  <p:tag name="TABLE_ENDDRAG_RECT" val="22*145*432*39"/>
</p:tagLst>
</file>

<file path=ppt/tags/tag35.xml><?xml version="1.0" encoding="utf-8"?>
<p:tagLst xmlns:p="http://schemas.openxmlformats.org/presentationml/2006/main">
  <p:tag name="TABLE_ENDDRAG_ORIGIN_RECT" val="432*39"/>
  <p:tag name="TABLE_ENDDRAG_RECT" val="22*145*432*39"/>
</p:tagLst>
</file>

<file path=ppt/tags/tag36.xml><?xml version="1.0" encoding="utf-8"?>
<p:tagLst xmlns:p="http://schemas.openxmlformats.org/presentationml/2006/main">
  <p:tag name="TABLE_ENDDRAG_ORIGIN_RECT" val="432*39"/>
  <p:tag name="TABLE_ENDDRAG_RECT" val="22*145*432*39"/>
</p:tagLst>
</file>

<file path=ppt/tags/tag37.xml><?xml version="1.0" encoding="utf-8"?>
<p:tagLst xmlns:p="http://schemas.openxmlformats.org/presentationml/2006/main">
  <p:tag name="TABLE_ENDDRAG_ORIGIN_RECT" val="320*43"/>
  <p:tag name="TABLE_ENDDRAG_RECT" val="22*318*320*43"/>
</p:tagLst>
</file>

<file path=ppt/tags/tag38.xml><?xml version="1.0" encoding="utf-8"?>
<p:tagLst xmlns:p="http://schemas.openxmlformats.org/presentationml/2006/main">
  <p:tag name="TABLE_ENDDRAG_ORIGIN_RECT" val="363*63"/>
  <p:tag name="TABLE_ENDDRAG_RECT" val="292*318*363*63"/>
</p:tagLst>
</file>

<file path=ppt/tags/tag39.xml><?xml version="1.0" encoding="utf-8"?>
<p:tagLst xmlns:p="http://schemas.openxmlformats.org/presentationml/2006/main">
  <p:tag name="TABLE_ENDDRAG_ORIGIN_RECT" val="336*425"/>
  <p:tag name="TABLE_ENDDRAG_RECT" val="15*86*336*425"/>
</p:tagLst>
</file>

<file path=ppt/tags/tag40.xml><?xml version="1.0" encoding="utf-8"?>
<p:tagLst xmlns:p="http://schemas.openxmlformats.org/presentationml/2006/main">
  <p:tag name="TABLE_ENDDRAG_ORIGIN_RECT" val="324*268"/>
  <p:tag name="TABLE_ENDDRAG_RECT" val="371*70*324*268"/>
</p:tagLst>
</file>

<file path=ppt/tags/tag41.xml><?xml version="1.0" encoding="utf-8"?>
<p:tagLst xmlns:p="http://schemas.openxmlformats.org/presentationml/2006/main">
  <p:tag name="TABLE_ENDDRAG_ORIGIN_RECT" val="474*176"/>
  <p:tag name="TABLE_ENDDRAG_RECT" val="123*91*474*176"/>
</p:tagLst>
</file>

<file path=ppt/theme/theme1.xml><?xml version="1.0" encoding="utf-8"?>
<a:theme xmlns:a="http://schemas.openxmlformats.org/drawingml/2006/main" name="Office 佈景主題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6331</Words>
  <Application>WPS 演示</Application>
  <PresentationFormat>如螢幕大小 (16:9)</PresentationFormat>
  <Paragraphs>885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PMingLiU</vt:lpstr>
      <vt:lpstr>PMingLiU-ExtB</vt:lpstr>
      <vt:lpstr>Microsoft JhengHei</vt:lpstr>
      <vt:lpstr>ZapfDingbats</vt:lpstr>
      <vt:lpstr>OPPOSans H</vt:lpstr>
      <vt:lpstr>思源黑体 CN Normal</vt:lpstr>
      <vt:lpstr>Times New Roman</vt:lpstr>
      <vt:lpstr>微软雅黑</vt:lpstr>
      <vt:lpstr>Arial Unicode MS</vt:lpstr>
      <vt:lpstr>等线</vt:lpstr>
      <vt:lpstr>黑体</vt:lpstr>
      <vt:lpstr>Arial Black</vt:lpstr>
      <vt:lpstr>PMingLiU</vt:lpstr>
      <vt:lpstr>Segoe Print</vt:lpstr>
      <vt:lpstr>OPPOSans H</vt:lpstr>
      <vt:lpstr>ZapfDingbats</vt:lpstr>
      <vt:lpstr>思源黑体 CN Normal</vt:lpstr>
      <vt:lpstr>Zapf Renaissance Antiqua Light</vt:lpstr>
      <vt:lpstr>H2O</vt:lpstr>
      <vt:lpstr>方正大黑体_GBK</vt:lpstr>
      <vt:lpstr>Office 佈景主題</vt:lpstr>
      <vt:lpstr>Thread学习报告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公司新版政策語錄</dc:title>
  <dc:creator>KW31_陳柏廷(Point.Chen)</dc:creator>
  <cp:lastModifiedBy>黑影</cp:lastModifiedBy>
  <cp:revision>1263</cp:revision>
  <cp:lastPrinted>2023-11-14T06:51:00Z</cp:lastPrinted>
  <dcterms:created xsi:type="dcterms:W3CDTF">2021-05-06T16:03:00Z</dcterms:created>
  <dcterms:modified xsi:type="dcterms:W3CDTF">2026-05-22T01:50:49Z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C16F678DCBD14D92857B7BA57B8F979F_12</vt:lpwstr>
  </property>
</Properties>
</file>