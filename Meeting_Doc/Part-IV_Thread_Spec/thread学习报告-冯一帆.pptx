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721" r:id="rId2"/>
    <p:sldId id="720" r:id="rId3"/>
    <p:sldId id="722" r:id="rId4"/>
    <p:sldId id="759" r:id="rId5"/>
    <p:sldId id="723" r:id="rId6"/>
    <p:sldId id="724" r:id="rId7"/>
    <p:sldId id="725" r:id="rId8"/>
    <p:sldId id="726" r:id="rId9"/>
    <p:sldId id="727" r:id="rId10"/>
    <p:sldId id="728" r:id="rId11"/>
    <p:sldId id="729" r:id="rId12"/>
    <p:sldId id="761" r:id="rId13"/>
    <p:sldId id="762" r:id="rId14"/>
    <p:sldId id="730" r:id="rId15"/>
    <p:sldId id="731" r:id="rId16"/>
    <p:sldId id="732" r:id="rId17"/>
    <p:sldId id="738" r:id="rId18"/>
    <p:sldId id="739" r:id="rId19"/>
    <p:sldId id="740" r:id="rId20"/>
    <p:sldId id="741" r:id="rId21"/>
    <p:sldId id="760" r:id="rId22"/>
    <p:sldId id="733" r:id="rId23"/>
    <p:sldId id="734" r:id="rId24"/>
    <p:sldId id="735" r:id="rId25"/>
    <p:sldId id="736" r:id="rId26"/>
    <p:sldId id="737" r:id="rId27"/>
    <p:sldId id="742" r:id="rId28"/>
    <p:sldId id="763" r:id="rId29"/>
    <p:sldId id="743" r:id="rId30"/>
    <p:sldId id="744" r:id="rId31"/>
    <p:sldId id="745" r:id="rId32"/>
    <p:sldId id="746" r:id="rId33"/>
    <p:sldId id="747" r:id="rId34"/>
    <p:sldId id="748" r:id="rId35"/>
    <p:sldId id="764" r:id="rId36"/>
    <p:sldId id="749" r:id="rId37"/>
    <p:sldId id="750" r:id="rId38"/>
    <p:sldId id="751" r:id="rId39"/>
    <p:sldId id="752" r:id="rId40"/>
    <p:sldId id="753" r:id="rId41"/>
    <p:sldId id="754" r:id="rId42"/>
    <p:sldId id="755" r:id="rId43"/>
    <p:sldId id="719" r:id="rId44"/>
  </p:sldIdLst>
  <p:sldSz cx="9144000" cy="5143500" type="screen16x9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46E78"/>
    <a:srgbClr val="E7EEBA"/>
    <a:srgbClr val="96C9D2"/>
    <a:srgbClr val="C1E0E5"/>
    <a:srgbClr val="DCEDF0"/>
    <a:srgbClr val="C24E4E"/>
    <a:srgbClr val="99B323"/>
    <a:srgbClr val="E8B128"/>
    <a:srgbClr val="AB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4" autoAdjust="0"/>
    <p:restoredTop sz="93219" autoAdjust="0"/>
  </p:normalViewPr>
  <p:slideViewPr>
    <p:cSldViewPr snapToGrid="0" snapToObjects="1">
      <p:cViewPr varScale="1">
        <p:scale>
          <a:sx n="108" d="100"/>
          <a:sy n="108" d="100"/>
        </p:scale>
        <p:origin x="3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316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83C5B-193A-4BF8-A82E-7EEB60FC9D06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2EFD-17CF-42D6-A0C8-2B54CA1B5F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6A0AF-27EE-2F44-8E2A-D118AC8FD31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F2086-D505-2D44-8947-B67946DAFD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" t="648" r="542" b="24906"/>
          <a:stretch>
            <a:fillRect/>
          </a:stretch>
        </p:blipFill>
        <p:spPr>
          <a:xfrm>
            <a:off x="0" y="-2250"/>
            <a:ext cx="9144000" cy="514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571964" y="2970854"/>
            <a:ext cx="3888134" cy="1550031"/>
          </a:xfrm>
          <a:prstGeom prst="rect">
            <a:avLst/>
          </a:prstGeom>
        </p:spPr>
        <p:txBody>
          <a:bodyPr wrap="square" lIns="36000" tIns="36000" rIns="36000" bIns="36000" anchor="ctr">
            <a:spAutoFit/>
          </a:bodyPr>
          <a:lstStyle/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Michaelango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Leonardo da Vinci and Rafael (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Raffaello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Sanzio</a:t>
            </a: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Italian) are the famous three Masters of the Italian Renaissance.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creatively excelled in both science and art so their works influenced the future of Western culture.</a:t>
            </a: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000" dirty="0">
              <a:solidFill>
                <a:schemeClr val="bg2">
                  <a:lumMod val="75000"/>
                  <a:alpha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0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Radio frequency technology is commonly called RF thus we have adopted Rafael’s name for its R and F.</a:t>
            </a:r>
          </a:p>
        </p:txBody>
      </p:sp>
      <p:sp>
        <p:nvSpPr>
          <p:cNvPr id="14" name="標題 83"/>
          <p:cNvSpPr>
            <a:spLocks noGrp="1"/>
          </p:cNvSpPr>
          <p:nvPr>
            <p:ph type="title" hasCustomPrompt="1"/>
          </p:nvPr>
        </p:nvSpPr>
        <p:spPr>
          <a:xfrm>
            <a:off x="679939" y="1401972"/>
            <a:ext cx="7200000" cy="396000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1" i="0" baseline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Edit Report Title</a:t>
            </a:r>
            <a:endParaRPr lang="zh-TW" altLang="en-US" dirty="0"/>
          </a:p>
        </p:txBody>
      </p:sp>
      <p:sp>
        <p:nvSpPr>
          <p:cNvPr id="15" name="文字版面配置區 31"/>
          <p:cNvSpPr>
            <a:spLocks noGrp="1"/>
          </p:cNvSpPr>
          <p:nvPr>
            <p:ph type="body" sz="quarter" idx="23" hasCustomPrompt="1"/>
          </p:nvPr>
        </p:nvSpPr>
        <p:spPr>
          <a:xfrm>
            <a:off x="1748253" y="4228170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zh-TW" altLang="en-US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MMM-DD-YYYY</a:t>
            </a:r>
            <a:endParaRPr lang="zh-TW" altLang="en-US" dirty="0"/>
          </a:p>
        </p:txBody>
      </p:sp>
      <p:sp>
        <p:nvSpPr>
          <p:cNvPr id="20" name="文字版面配置區 31"/>
          <p:cNvSpPr>
            <a:spLocks noGrp="1"/>
          </p:cNvSpPr>
          <p:nvPr>
            <p:ph type="body" sz="quarter" idx="24" hasCustomPrompt="1"/>
          </p:nvPr>
        </p:nvSpPr>
        <p:spPr>
          <a:xfrm>
            <a:off x="1748253" y="3835302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1" name="文字版面配置區 31"/>
          <p:cNvSpPr>
            <a:spLocks noGrp="1"/>
          </p:cNvSpPr>
          <p:nvPr>
            <p:ph type="body" sz="quarter" idx="20" hasCustomPrompt="1"/>
          </p:nvPr>
        </p:nvSpPr>
        <p:spPr>
          <a:xfrm>
            <a:off x="1748253" y="3049564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kern="120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2" name="文字版面配置區 31"/>
          <p:cNvSpPr>
            <a:spLocks noGrp="1"/>
          </p:cNvSpPr>
          <p:nvPr>
            <p:ph type="body" sz="quarter" idx="21" hasCustomPrompt="1"/>
          </p:nvPr>
        </p:nvSpPr>
        <p:spPr>
          <a:xfrm>
            <a:off x="1748253" y="3442433"/>
            <a:ext cx="1800000" cy="288000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>
              <a:buFontTx/>
              <a:buNone/>
              <a:defRPr lang="en-US" altLang="zh-TW" sz="1000" b="0" baseline="0" dirty="0">
                <a:solidFill>
                  <a:srgbClr val="E9CA7F"/>
                </a:solidFill>
                <a:latin typeface="Calibri" panose="020F0502020204030204" pitchFamily="34" charset="0"/>
                <a:ea typeface="PMingLiU" panose="02020500000000000000" pitchFamily="18" charset="-120"/>
                <a:cs typeface="Calibri" panose="020F0502020204030204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TW" dirty="0"/>
              <a:t>Name / Title</a:t>
            </a:r>
          </a:p>
        </p:txBody>
      </p:sp>
      <p:sp>
        <p:nvSpPr>
          <p:cNvPr id="24" name="Rectangle 15"/>
          <p:cNvSpPr/>
          <p:nvPr userDrawn="1"/>
        </p:nvSpPr>
        <p:spPr>
          <a:xfrm>
            <a:off x="679939" y="3070994"/>
            <a:ext cx="864587" cy="245058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Presented by : </a:t>
            </a:r>
            <a:endParaRPr lang="en-US" altLang="zh-TW" sz="1000" b="1" kern="1200" dirty="0">
              <a:solidFill>
                <a:srgbClr val="F3F3F3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15"/>
          <p:cNvSpPr/>
          <p:nvPr userDrawn="1"/>
        </p:nvSpPr>
        <p:spPr>
          <a:xfrm>
            <a:off x="679939" y="3450348"/>
            <a:ext cx="846954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R="0" lvl="0" indent="0" algn="l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TW" sz="1000" b="1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Reviewed by :</a:t>
            </a:r>
            <a:r>
              <a:rPr lang="en-US" altLang="zh-TW" sz="1000" b="1" baseline="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endParaRPr lang="en-US" altLang="zh-TW" sz="1000" b="1" dirty="0">
              <a:solidFill>
                <a:srgbClr val="F3F3F3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6" name="Rectangle 17"/>
          <p:cNvSpPr/>
          <p:nvPr userDrawn="1"/>
        </p:nvSpPr>
        <p:spPr>
          <a:xfrm>
            <a:off x="679939" y="3843230"/>
            <a:ext cx="741156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Created by : </a:t>
            </a:r>
          </a:p>
        </p:txBody>
      </p:sp>
      <p:sp>
        <p:nvSpPr>
          <p:cNvPr id="27" name="Rectangle 18"/>
          <p:cNvSpPr/>
          <p:nvPr userDrawn="1"/>
        </p:nvSpPr>
        <p:spPr>
          <a:xfrm>
            <a:off x="679939" y="4243485"/>
            <a:ext cx="1119465" cy="257369"/>
          </a:xfrm>
          <a:prstGeom prst="rect">
            <a:avLst/>
          </a:prstGeom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000" b="1" kern="1200" dirty="0">
                <a:solidFill>
                  <a:srgbClr val="F3F3F3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Presentation date : </a:t>
            </a:r>
            <a:endParaRPr lang="zh-TW" altLang="en-US" sz="1000" b="1" kern="1200" dirty="0">
              <a:solidFill>
                <a:srgbClr val="F3F3F3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0" name="圖片 29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>
            <a:fillRect/>
          </a:stretch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31" name="框架 30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" r="9250"/>
          <a:stretch>
            <a:fillRect/>
          </a:stretch>
        </p:blipFill>
        <p:spPr bwMode="auto">
          <a:xfrm>
            <a:off x="0" y="-2250"/>
            <a:ext cx="9144000" cy="51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-2250"/>
            <a:ext cx="9144000" cy="5148000"/>
          </a:xfrm>
          <a:prstGeom prst="rect">
            <a:avLst/>
          </a:prstGeom>
          <a:solidFill>
            <a:schemeClr val="tx1">
              <a:lumMod val="75000"/>
              <a:lumOff val="2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框架 4"/>
          <p:cNvSpPr/>
          <p:nvPr userDrawn="1"/>
        </p:nvSpPr>
        <p:spPr>
          <a:xfrm>
            <a:off x="0" y="-2250"/>
            <a:ext cx="9144000" cy="5148000"/>
          </a:xfrm>
          <a:prstGeom prst="frame">
            <a:avLst>
              <a:gd name="adj1" fmla="val 582"/>
            </a:avLst>
          </a:prstGeom>
          <a:solidFill>
            <a:srgbClr val="DFC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圖片 6" descr="畫面剪輯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4C4C4C"/>
              </a:clrFrom>
              <a:clrTo>
                <a:srgbClr val="4C4C4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" t="431" r="6450" b="312"/>
          <a:stretch>
            <a:fillRect/>
          </a:stretch>
        </p:blipFill>
        <p:spPr>
          <a:xfrm>
            <a:off x="679939" y="758664"/>
            <a:ext cx="1338182" cy="360000"/>
          </a:xfrm>
          <a:prstGeom prst="rect">
            <a:avLst/>
          </a:prstGeom>
        </p:spPr>
      </p:pic>
      <p:sp>
        <p:nvSpPr>
          <p:cNvPr id="8" name="標題 9"/>
          <p:cNvSpPr txBox="1"/>
          <p:nvPr userDrawn="1"/>
        </p:nvSpPr>
        <p:spPr>
          <a:xfrm>
            <a:off x="2772000" y="2283750"/>
            <a:ext cx="3600000" cy="5760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  <a:cs typeface="+mj-cs"/>
              </a:defRPr>
            </a:lvl1pPr>
          </a:lstStyle>
          <a:p>
            <a:pPr algn="ctr"/>
            <a:r>
              <a:rPr lang="en-US" altLang="zh-TW" sz="1800" b="1" dirty="0">
                <a:solidFill>
                  <a:schemeClr val="bg1"/>
                </a:solidFill>
                <a:effectLst/>
                <a:latin typeface="ZapfDingbats" pitchFamily="18"/>
              </a:rPr>
              <a:t>Thank You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1162125" y="3375855"/>
            <a:ext cx="6819752" cy="21544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lvl="0" algn="ctr"/>
            <a:r>
              <a:rPr lang="en-US" altLang="zh-TW" sz="140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</a:t>
            </a:r>
            <a:r>
              <a:rPr lang="en-US" altLang="zh-TW" sz="1400" baseline="0" dirty="0">
                <a:solidFill>
                  <a:srgbClr val="E8B1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400" baseline="0" dirty="0">
                <a:solidFill>
                  <a:srgbClr val="99B3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</a:t>
            </a:r>
            <a:r>
              <a:rPr lang="en-US" altLang="zh-TW" sz="1000" dirty="0">
                <a:solidFill>
                  <a:srgbClr val="D3D4D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1000" kern="1200" dirty="0">
                <a:solidFill>
                  <a:schemeClr val="bg2">
                    <a:lumMod val="75000"/>
                    <a:alpha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 RF integrated circuits with this same aspiration by continuously pursuing innovation and unique creativity.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投影片編號版面配置區 3"/>
          <p:cNvSpPr txBox="1"/>
          <p:nvPr userDrawn="1"/>
        </p:nvSpPr>
        <p:spPr>
          <a:xfrm>
            <a:off x="390123" y="4914968"/>
            <a:ext cx="129597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 lvl="0" algn="ctr"/>
            <a:r>
              <a:rPr lang="en-US" altLang="zh-TW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4" name="Text Box 19"/>
          <p:cNvSpPr txBox="1">
            <a:spLocks noChangeArrowheads="1"/>
          </p:cNvSpPr>
          <p:nvPr userDrawn="1"/>
        </p:nvSpPr>
        <p:spPr bwMode="auto">
          <a:xfrm>
            <a:off x="7609030" y="4914968"/>
            <a:ext cx="1282970" cy="19581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r" eaLnBrk="1" hangingPunct="1">
              <a:defRPr/>
            </a:pPr>
            <a:r>
              <a:rPr lang="en-US" altLang="zh-TW" sz="800" b="0" i="1" dirty="0">
                <a:solidFill>
                  <a:srgbClr val="F6B9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</a:t>
            </a:r>
          </a:p>
        </p:txBody>
      </p:sp>
      <p:grpSp>
        <p:nvGrpSpPr>
          <p:cNvPr id="31" name="群組 30"/>
          <p:cNvGrpSpPr>
            <a:grpSpLocks noChangeAspect="1"/>
          </p:cNvGrpSpPr>
          <p:nvPr userDrawn="1"/>
        </p:nvGrpSpPr>
        <p:grpSpPr>
          <a:xfrm>
            <a:off x="8164750" y="4612872"/>
            <a:ext cx="741426" cy="288000"/>
            <a:chOff x="7965218" y="4546501"/>
            <a:chExt cx="926782" cy="360000"/>
          </a:xfrm>
        </p:grpSpPr>
        <p:grpSp>
          <p:nvGrpSpPr>
            <p:cNvPr id="6" name="群組 5"/>
            <p:cNvGrpSpPr/>
            <p:nvPr userDrawn="1"/>
          </p:nvGrpSpPr>
          <p:grpSpPr>
            <a:xfrm>
              <a:off x="8496408" y="4546501"/>
              <a:ext cx="395592" cy="360000"/>
              <a:chOff x="5469835" y="3003630"/>
              <a:chExt cx="395592" cy="360000"/>
            </a:xfrm>
          </p:grpSpPr>
          <p:pic>
            <p:nvPicPr>
              <p:cNvPr id="28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86" r="72051" b="9655"/>
              <a:stretch>
                <a:fillRect/>
              </a:stretch>
            </p:blipFill>
            <p:spPr bwMode="auto">
              <a:xfrm>
                <a:off x="5469836" y="3003630"/>
                <a:ext cx="395591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矩形 4"/>
              <p:cNvSpPr/>
              <p:nvPr userDrawn="1"/>
            </p:nvSpPr>
            <p:spPr>
              <a:xfrm>
                <a:off x="5469835" y="3003630"/>
                <a:ext cx="395591" cy="360000"/>
              </a:xfrm>
              <a:prstGeom prst="rect">
                <a:avLst/>
              </a:prstGeom>
              <a:solidFill>
                <a:srgbClr val="FFFFFF">
                  <a:alpha val="6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群組 29"/>
            <p:cNvGrpSpPr/>
            <p:nvPr userDrawn="1"/>
          </p:nvGrpSpPr>
          <p:grpSpPr>
            <a:xfrm>
              <a:off x="7965218" y="4798501"/>
              <a:ext cx="642182" cy="108000"/>
              <a:chOff x="4458584" y="2799907"/>
              <a:chExt cx="642182" cy="108000"/>
            </a:xfrm>
          </p:grpSpPr>
          <p:pic>
            <p:nvPicPr>
              <p:cNvPr id="29" name="Picture 20" descr="logo_rafaelmicro"/>
              <p:cNvPicPr>
                <a:picLocks noChangeAspect="1" noChangeArrowheads="1"/>
              </p:cNvPicPr>
              <p:nvPr userDrawn="1"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572" t="37421" r="5424" b="30389"/>
              <a:stretch>
                <a:fillRect/>
              </a:stretch>
            </p:blipFill>
            <p:spPr bwMode="auto">
              <a:xfrm>
                <a:off x="4458584" y="2799907"/>
                <a:ext cx="642182" cy="1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矩形 6"/>
              <p:cNvSpPr/>
              <p:nvPr userDrawn="1"/>
            </p:nvSpPr>
            <p:spPr>
              <a:xfrm>
                <a:off x="4458584" y="2799907"/>
                <a:ext cx="640800" cy="108000"/>
              </a:xfrm>
              <a:prstGeom prst="rect">
                <a:avLst/>
              </a:prstGeom>
              <a:solidFill>
                <a:srgbClr val="FFFFFF">
                  <a:alpha val="7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矩形 38"/>
          <p:cNvSpPr/>
          <p:nvPr userDrawn="1"/>
        </p:nvSpPr>
        <p:spPr>
          <a:xfrm rot="5400000">
            <a:off x="324000" y="4972568"/>
            <a:ext cx="126000" cy="10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2000" y="4906501"/>
            <a:ext cx="270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 userDrawn="1"/>
        </p:nvSpPr>
        <p:spPr>
          <a:xfrm flipH="1">
            <a:off x="657000" y="4906501"/>
            <a:ext cx="8235000" cy="10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投影片編號版面配置區 3"/>
          <p:cNvSpPr txBox="1"/>
          <p:nvPr userDrawn="1"/>
        </p:nvSpPr>
        <p:spPr>
          <a:xfrm>
            <a:off x="254280" y="4914968"/>
            <a:ext cx="12732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TW"/>
            </a:defPPr>
            <a:lvl1pPr>
              <a:defRPr sz="1000" baseline="0">
                <a:solidFill>
                  <a:srgbClr val="19353F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1pPr>
          </a:lstStyle>
          <a:p>
            <a:pPr lvl="0" algn="ctr"/>
            <a:fld id="{9C5D9D58-E8C0-45B8-84D0-B47AD46CE60E}" type="slidenum">
              <a:rPr lang="zh-TW" altLang="en-US" sz="700" baseline="0" smtClean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zh-TW" altLang="en-US" sz="700" baseline="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threadgroup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</a:t>
            </a:r>
            <a:r>
              <a:rPr lang="zh-CN" altLang="en-US" dirty="0"/>
              <a:t>学习总结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Apr-14-2026</a:t>
            </a:r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冯一帆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/>
              <a:t>冯一帆</a:t>
            </a:r>
            <a:endParaRPr altLang="zh-CN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/>
              <a:t>冯一帆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T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hread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简要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BB4824-76FD-1563-3299-E8ADEF9D7E09}"/>
              </a:ext>
            </a:extLst>
          </p:cNvPr>
          <p:cNvSpPr txBox="1"/>
          <p:nvPr/>
        </p:nvSpPr>
        <p:spPr>
          <a:xfrm>
            <a:off x="215591" y="825573"/>
            <a:ext cx="8485957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200" b="0" i="0" dirty="0">
                <a:solidFill>
                  <a:srgbClr val="1A73E8"/>
                </a:solidFill>
                <a:effectLst/>
                <a:latin typeface="Roboto" panose="02000000000000000000" pitchFamily="2" charset="0"/>
                <a:hlinkClick r:id="rId2"/>
              </a:rPr>
              <a:t>Thread</a:t>
            </a:r>
            <a:r>
              <a:rPr lang="en-US" altLang="zh-CN" sz="1200" b="0" i="0" baseline="30000" dirty="0">
                <a:solidFill>
                  <a:srgbClr val="1A73E8"/>
                </a:solidFill>
                <a:effectLst/>
                <a:latin typeface="Roboto" panose="02000000000000000000" pitchFamily="2" charset="0"/>
                <a:hlinkClick r:id="rId2"/>
              </a:rPr>
              <a:t>®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是一个为低功耗物联网（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IEEE 802.15.4-2006 WPAN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）设备设计的基于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IPv6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的网络协议。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是一个新的网状网络协议，它并不依赖其它的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802.15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网状网络协议（如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ZigBee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、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Z-Wave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和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Bluetooth LE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）。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的主要特性包括：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易于部署和维护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安装、启动和操作相对简单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通信安全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 Thread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网络中的设备都必须通过身份验证，并且所有的通信都经过了加密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稳定可靠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具有自愈能力的网状网络，无单点故障，并且采用扩频技术以提高抗干扰能力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低功耗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 Thread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低功耗设备可以进入休眠并使用电池供电，通常使用一块电池便能工作数年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规模可扩展 </a:t>
            </a:r>
            <a:r>
              <a:rPr lang="en-US" altLang="zh-CN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 Thread </a:t>
            </a:r>
            <a:r>
              <a:rPr lang="zh-CN" altLang="en-US" sz="12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网络的规模可以扩展达数百个设备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D45667-6E01-E032-8A54-BA1C458CD0AA}"/>
              </a:ext>
            </a:extLst>
          </p:cNvPr>
          <p:cNvSpPr txBox="1"/>
          <p:nvPr/>
        </p:nvSpPr>
        <p:spPr>
          <a:xfrm>
            <a:off x="6501088" y="3991536"/>
            <a:ext cx="256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Thread-MLE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15288-0977-ADD0-F23E-8D687F0BD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5BAA7A7-FFFE-2402-9538-99C3BD1C4EE2}"/>
              </a:ext>
            </a:extLst>
          </p:cNvPr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节点角色和类型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A417CD-8D58-834D-0C49-3B4732F3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91" y="1119496"/>
            <a:ext cx="4654592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在 Thread 网络中，节点分成两种转发角色：Router 和 End Device。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 节点的行为如下：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为网络设备转发数据包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为尝试加入网络的设备提供安全的 commissioning 服务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始终打开它的收发器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End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End Device 节点的行为如下：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主要与单个 Router 进行通信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不会为其他网络设备转发数据包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可以关闭它的收发器来降低功耗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03BAE9-CE73-44C4-3260-DF82D14DB933}"/>
              </a:ext>
            </a:extLst>
          </p:cNvPr>
          <p:cNvSpPr txBox="1"/>
          <p:nvPr/>
        </p:nvSpPr>
        <p:spPr>
          <a:xfrm>
            <a:off x="215591" y="587682"/>
            <a:ext cx="45720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转发角色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779F8C-4960-2B67-8F69-12E3D9FC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140" y="776291"/>
            <a:ext cx="3371249" cy="34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9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节点角色和类型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08A9F-008A-320A-9B76-3CFC471C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91" y="889466"/>
            <a:ext cx="5565777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Full Thread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一个 FTD（Full Thread Device）总是打开它的射频收发器，它订阅所有 Router 的多播地址，并维护 IPv6 地址映射。FTD 有三种类型：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REED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（Router Eligible End Device）— 可以升级为 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FED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（Full End Device）— 无法升级为 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FTD 可以作为 Router（父）或 End Device（子）。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Minimal Thread 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MTD（Minimal Thread Device）不会订阅 all-routers 多播地址，并且它会将它的所有消息发送给它的父节点。MTD 有两种类型：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MED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（Minimal End Device）— 始终打开自身的收发器，无需从父节点中轮询消息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SED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（Sleepy End Device）— 通常会关闭自身的收发器（睡眠），偶然会打开收发器（唤醒）以从父节点中轮询消息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MTD 只能作为 End Device（子）。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95D978-3FB9-C1E5-9A62-9CD59989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87" y="824608"/>
            <a:ext cx="3219813" cy="37630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9EC476-3030-BB35-9195-9673D070C22B}"/>
              </a:ext>
            </a:extLst>
          </p:cNvPr>
          <p:cNvSpPr txBox="1"/>
          <p:nvPr/>
        </p:nvSpPr>
        <p:spPr>
          <a:xfrm>
            <a:off x="215591" y="501589"/>
            <a:ext cx="45720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设备类型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节点角色和类型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5515B5-A793-5C4B-F222-31B23975C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914400"/>
            <a:ext cx="5530832" cy="37571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43134D-70DB-1EFE-31A8-29C7311FD84F}"/>
              </a:ext>
            </a:extLst>
          </p:cNvPr>
          <p:cNvSpPr txBox="1"/>
          <p:nvPr/>
        </p:nvSpPr>
        <p:spPr>
          <a:xfrm>
            <a:off x="215591" y="483916"/>
            <a:ext cx="45720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升级和降级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节点角色和类型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18140B-CCEC-CFE9-7A7B-778278C99048}"/>
              </a:ext>
            </a:extLst>
          </p:cNvPr>
          <p:cNvSpPr txBox="1"/>
          <p:nvPr/>
        </p:nvSpPr>
        <p:spPr>
          <a:xfrm>
            <a:off x="215591" y="587682"/>
            <a:ext cx="45720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其他角色和类型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74C951-DF3C-19BC-55D9-C32600BE6801}"/>
              </a:ext>
            </a:extLst>
          </p:cNvPr>
          <p:cNvSpPr txBox="1"/>
          <p:nvPr/>
        </p:nvSpPr>
        <p:spPr>
          <a:xfrm>
            <a:off x="215590" y="964901"/>
            <a:ext cx="47818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202124"/>
                </a:solidFill>
                <a:latin typeface="Roboto" panose="02000000000000000000" pitchFamily="2" charset="0"/>
              </a:rPr>
              <a:t>Thread Leader</a:t>
            </a:r>
          </a:p>
          <a:p>
            <a:endParaRPr lang="en-US" altLang="zh-CN" sz="1400" b="1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Leader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是一个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，它负责管理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网络中的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。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Leader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是动态自选的（提高容错率），它负责汇总和分发全网络的配置信息。</a:t>
            </a:r>
            <a:endParaRPr lang="en-US" altLang="zh-CN" sz="14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endParaRPr lang="en-US" altLang="zh-CN" sz="14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zh-CN" altLang="en-US" sz="1200" dirty="0">
                <a:solidFill>
                  <a:srgbClr val="202124"/>
                </a:solidFill>
                <a:latin typeface="Roboto" panose="02000000000000000000" pitchFamily="2" charset="0"/>
              </a:rPr>
              <a:t>注：每个 </a:t>
            </a:r>
            <a:r>
              <a:rPr lang="en-US" altLang="zh-CN" sz="1200" dirty="0">
                <a:solidFill>
                  <a:srgbClr val="202124"/>
                </a:solidFill>
                <a:latin typeface="Roboto" panose="02000000000000000000" pitchFamily="2" charset="0"/>
              </a:rPr>
              <a:t>Thread </a:t>
            </a:r>
            <a:r>
              <a:rPr lang="zh-CN" altLang="en-US" sz="1200" dirty="0">
                <a:solidFill>
                  <a:srgbClr val="202124"/>
                </a:solidFill>
                <a:latin typeface="Roboto" panose="02000000000000000000" pitchFamily="2" charset="0"/>
              </a:rPr>
              <a:t>网络分区中总是只有一个 </a:t>
            </a:r>
            <a:r>
              <a:rPr lang="en-US" altLang="zh-CN" sz="1200" dirty="0">
                <a:solidFill>
                  <a:srgbClr val="202124"/>
                </a:solidFill>
                <a:latin typeface="Roboto" panose="02000000000000000000" pitchFamily="2" charset="0"/>
              </a:rPr>
              <a:t>Leader</a:t>
            </a:r>
            <a:endParaRPr lang="zh-CN" altLang="en-US" sz="12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F42700F-5914-0C49-780D-6FB9EC3BC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9" y="2642283"/>
            <a:ext cx="4781858" cy="18789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3155" rIns="0" bIns="5078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72000"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b="1" dirty="0">
                <a:solidFill>
                  <a:srgbClr val="202124"/>
                </a:solidFill>
                <a:latin typeface="Roboto" panose="02000000000000000000" pitchFamily="2" charset="0"/>
              </a:rPr>
              <a:t>Border Router</a:t>
            </a:r>
            <a:endParaRPr lang="en-US" altLang="zh-CN" sz="1400" b="1" dirty="0">
              <a:solidFill>
                <a:srgbClr val="202124"/>
              </a:solidFill>
              <a:latin typeface="Roboto" panose="02000000000000000000" pitchFamily="2" charset="0"/>
            </a:endParaRPr>
          </a:p>
          <a:p>
            <a:pPr marL="72000"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1400" b="1" dirty="0">
              <a:solidFill>
                <a:srgbClr val="202124"/>
              </a:solidFill>
              <a:latin typeface="Roboto" panose="02000000000000000000" pitchFamily="2" charset="0"/>
            </a:endParaRPr>
          </a:p>
          <a:p>
            <a:pPr marL="72000"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202124"/>
                </a:solidFill>
                <a:latin typeface="Roboto" panose="02000000000000000000" pitchFamily="2" charset="0"/>
              </a:rPr>
              <a:t>Border Router 是一种可以在 Thread 网络和其他网络（如 Wi-Fi）之间转发信息的设备。它还为外部连接配置 Thread 网络。</a:t>
            </a:r>
          </a:p>
          <a:p>
            <a:pPr marL="72000"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202124"/>
                </a:solidFill>
                <a:latin typeface="Roboto" panose="02000000000000000000" pitchFamily="2" charset="0"/>
              </a:rPr>
              <a:t>任何设备都可以充当 Border Router。</a:t>
            </a:r>
            <a:endParaRPr lang="en-US" altLang="zh-CN" sz="1400" dirty="0">
              <a:solidFill>
                <a:srgbClr val="202124"/>
              </a:solidFill>
              <a:latin typeface="Roboto" panose="02000000000000000000" pitchFamily="2" charset="0"/>
            </a:endParaRPr>
          </a:p>
          <a:p>
            <a:pPr marL="72000"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202124"/>
              </a:solidFill>
              <a:latin typeface="Roboto" panose="02000000000000000000" pitchFamily="2" charset="0"/>
            </a:endParaRPr>
          </a:p>
          <a:p>
            <a:pPr marL="72000" eaLnBrk="1" hangingPunct="1"/>
            <a:r>
              <a:rPr lang="zh-CN" altLang="en-US" sz="1200" dirty="0">
                <a:solidFill>
                  <a:srgbClr val="202124"/>
                </a:solidFill>
                <a:latin typeface="Roboto" panose="02000000000000000000" pitchFamily="2" charset="0"/>
              </a:rPr>
              <a:t>注：一个 </a:t>
            </a:r>
            <a:r>
              <a:rPr lang="en-US" altLang="zh-CN" sz="1200" dirty="0">
                <a:solidFill>
                  <a:srgbClr val="202124"/>
                </a:solidFill>
                <a:latin typeface="Roboto" panose="02000000000000000000" pitchFamily="2" charset="0"/>
              </a:rPr>
              <a:t>Thread </a:t>
            </a:r>
            <a:r>
              <a:rPr lang="zh-CN" altLang="en-US" sz="1200" dirty="0">
                <a:solidFill>
                  <a:srgbClr val="202124"/>
                </a:solidFill>
                <a:latin typeface="Roboto" panose="02000000000000000000" pitchFamily="2" charset="0"/>
              </a:rPr>
              <a:t>网络中可以有多个 </a:t>
            </a:r>
            <a:r>
              <a:rPr lang="en-US" altLang="zh-CN" sz="1200" dirty="0">
                <a:solidFill>
                  <a:srgbClr val="202124"/>
                </a:solidFill>
                <a:latin typeface="Roboto" panose="02000000000000000000" pitchFamily="2" charset="0"/>
              </a:rPr>
              <a:t>Border Router</a:t>
            </a:r>
            <a:endParaRPr lang="zh-CN" altLang="zh-CN" sz="1200" dirty="0">
              <a:solidFill>
                <a:srgbClr val="202124"/>
              </a:solidFill>
              <a:latin typeface="Roboto" panose="02000000000000000000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A388FF9-5D21-9B15-9432-A1257E252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091" y="1104994"/>
            <a:ext cx="3330345" cy="3009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254691-B9F6-AAFC-6511-A03C805BB403}"/>
              </a:ext>
            </a:extLst>
          </p:cNvPr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节点角色和类型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CBFC87-D749-207B-9E4D-1802B6BF325E}"/>
              </a:ext>
            </a:extLst>
          </p:cNvPr>
          <p:cNvSpPr txBox="1"/>
          <p:nvPr/>
        </p:nvSpPr>
        <p:spPr>
          <a:xfrm>
            <a:off x="215591" y="990650"/>
            <a:ext cx="443260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一个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网络可能由多个分区组成。当一组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设备不能再与另一组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设备通信时，会发生这种情况。每个分区在逻辑上均作为独立的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网络来运行，它们具有各自的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Leader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、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 ID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分配和网络数据，同时分区前相同的安全凭证都将被保留下来。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当分区之间可以连通时，它们会自动合并。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058C7-5466-583B-EC08-AA611237FABF}"/>
              </a:ext>
            </a:extLst>
          </p:cNvPr>
          <p:cNvSpPr txBox="1"/>
          <p:nvPr/>
        </p:nvSpPr>
        <p:spPr>
          <a:xfrm>
            <a:off x="215591" y="503541"/>
            <a:ext cx="3111809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分区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B41CAAD-0634-4CAE-1AE9-00AA95025DE8}"/>
              </a:ext>
            </a:extLst>
          </p:cNvPr>
          <p:cNvPicPr>
            <a:picLocks/>
          </p:cNvPicPr>
          <p:nvPr/>
        </p:nvPicPr>
        <p:blipFill>
          <a:blip r:embed="rId2"/>
          <a:srcRect l="2662" t="5350" r="1213"/>
          <a:stretch>
            <a:fillRect/>
          </a:stretch>
        </p:blipFill>
        <p:spPr>
          <a:xfrm>
            <a:off x="4825039" y="764510"/>
            <a:ext cx="4052262" cy="21343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CF2010B-DFB6-7E99-7E01-4E119B0672BC}"/>
              </a:ext>
            </a:extLst>
          </p:cNvPr>
          <p:cNvSpPr txBox="1"/>
          <p:nvPr/>
        </p:nvSpPr>
        <p:spPr>
          <a:xfrm>
            <a:off x="215591" y="2924614"/>
            <a:ext cx="4572000" cy="37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zh-CN" altLang="en-US" b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设备限制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D6E808D-53EF-BEE0-6F22-F31D75CF1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23712"/>
              </p:ext>
            </p:extLst>
          </p:nvPr>
        </p:nvGraphicFramePr>
        <p:xfrm>
          <a:off x="215591" y="3301833"/>
          <a:ext cx="4305610" cy="1233170"/>
        </p:xfrm>
        <a:graphic>
          <a:graphicData uri="http://schemas.openxmlformats.org/drawingml/2006/table">
            <a:tbl>
              <a:tblPr/>
              <a:tblGrid>
                <a:gridCol w="2152805">
                  <a:extLst>
                    <a:ext uri="{9D8B030D-6E8A-4147-A177-3AD203B41FA5}">
                      <a16:colId xmlns:a16="http://schemas.microsoft.com/office/drawing/2014/main" val="4147108350"/>
                    </a:ext>
                  </a:extLst>
                </a:gridCol>
                <a:gridCol w="2152805">
                  <a:extLst>
                    <a:ext uri="{9D8B030D-6E8A-4147-A177-3AD203B41FA5}">
                      <a16:colId xmlns:a16="http://schemas.microsoft.com/office/drawing/2014/main" val="308015714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角色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限制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41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Leader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48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Router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>
                          <a:effectLst/>
                        </a:rPr>
                        <a:t>32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030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End Device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dirty="0">
                          <a:effectLst/>
                        </a:rPr>
                        <a:t>511</a:t>
                      </a:r>
                      <a:r>
                        <a:rPr lang="zh-CN" altLang="en-US" dirty="0">
                          <a:effectLst/>
                        </a:rPr>
                        <a:t>（每个 </a:t>
                      </a:r>
                      <a:r>
                        <a:rPr lang="en-US" dirty="0">
                          <a:effectLst/>
                        </a:rPr>
                        <a:t>Router）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958365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FB020EFE-158B-C019-3808-0296EFC80E61}"/>
              </a:ext>
            </a:extLst>
          </p:cNvPr>
          <p:cNvSpPr txBox="1"/>
          <p:nvPr/>
        </p:nvSpPr>
        <p:spPr>
          <a:xfrm>
            <a:off x="4825039" y="3301833"/>
            <a:ext cx="40522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会尝试将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的数量保持在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16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～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23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之间。如果一个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REED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作为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End Device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加入，并且网络中的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数量低于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16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，那么它将自动升级为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。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Command and TLV Format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97D136-E40B-1FF2-BF59-87CC417EF3ED}"/>
              </a:ext>
            </a:extLst>
          </p:cNvPr>
          <p:cNvSpPr txBox="1"/>
          <p:nvPr/>
        </p:nvSpPr>
        <p:spPr>
          <a:xfrm>
            <a:off x="215591" y="648291"/>
            <a:ext cx="5486709" cy="2848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消息结构：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Command Type +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一个或多个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Type-Length-Value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Command Type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长度：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8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位无符号整数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作用：标识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消息类型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处理规则：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收到包含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1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个或多个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的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命令时</a:t>
            </a: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若存在未在本版规范中定义的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，必须忽略该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endParaRPr lang="zh-CN" altLang="en-US" sz="1400" dirty="0">
              <a:solidFill>
                <a:srgbClr val="000000"/>
              </a:solidFill>
              <a:effectLst/>
              <a:latin typeface="ui-sans-serif"/>
            </a:endParaRPr>
          </a:p>
          <a:p>
            <a:pPr marL="742950" lvl="1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剩余合法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仍按有效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载荷正常处理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设计目的：允许未来通过新增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扩展现有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命令</a:t>
            </a:r>
            <a:endParaRPr lang="en-US" altLang="zh-CN" sz="140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00000"/>
              </a:solidFill>
              <a:effectLst/>
              <a:latin typeface="ui-sans-serif"/>
            </a:endParaRPr>
          </a:p>
          <a:p>
            <a:pPr>
              <a:lnSpc>
                <a:spcPts val="1800"/>
              </a:lnSpc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ui-sans-serif"/>
              </a:rPr>
              <a:t>下面是</a:t>
            </a:r>
            <a:r>
              <a:rPr lang="zh-CN" altLang="en-US" sz="1400" dirty="0"/>
              <a:t>链路配置消息用到的三条命令</a:t>
            </a:r>
            <a:r>
              <a:rPr lang="en-US" altLang="zh-CN" sz="1400" dirty="0"/>
              <a:t>:</a:t>
            </a:r>
            <a:endParaRPr lang="zh-CN" altLang="en-US" sz="140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F3B00C-7B26-222D-B7D4-05078E9CD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819752"/>
              </p:ext>
            </p:extLst>
          </p:nvPr>
        </p:nvGraphicFramePr>
        <p:xfrm>
          <a:off x="215591" y="3436889"/>
          <a:ext cx="8343900" cy="1300108"/>
        </p:xfrm>
        <a:graphic>
          <a:graphicData uri="http://schemas.openxmlformats.org/drawingml/2006/table">
            <a:tbl>
              <a:tblPr/>
              <a:tblGrid>
                <a:gridCol w="1332383">
                  <a:extLst>
                    <a:ext uri="{9D8B030D-6E8A-4147-A177-3AD203B41FA5}">
                      <a16:colId xmlns:a16="http://schemas.microsoft.com/office/drawing/2014/main" val="2097123287"/>
                    </a:ext>
                  </a:extLst>
                </a:gridCol>
                <a:gridCol w="2365286">
                  <a:extLst>
                    <a:ext uri="{9D8B030D-6E8A-4147-A177-3AD203B41FA5}">
                      <a16:colId xmlns:a16="http://schemas.microsoft.com/office/drawing/2014/main" val="1977225457"/>
                    </a:ext>
                  </a:extLst>
                </a:gridCol>
                <a:gridCol w="4646231">
                  <a:extLst>
                    <a:ext uri="{9D8B030D-6E8A-4147-A177-3AD203B41FA5}">
                      <a16:colId xmlns:a16="http://schemas.microsoft.com/office/drawing/2014/main" val="2064325369"/>
                    </a:ext>
                  </a:extLst>
                </a:gridCol>
              </a:tblGrid>
              <a:tr h="26935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命令类型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名称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027575"/>
                  </a:ext>
                </a:extLst>
              </a:tr>
              <a:tr h="272269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Link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请求与邻居建立链路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795869"/>
                  </a:ext>
                </a:extLst>
              </a:tr>
              <a:tr h="272269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Link Accept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接受链路建立请求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99916"/>
                  </a:ext>
                </a:extLst>
              </a:tr>
              <a:tr h="378912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Link Accept and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接受链路请求，并反向向原请求方发起链路请求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0277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DD00EE-AC2F-7AE0-E304-044FB68D93B1}"/>
              </a:ext>
            </a:extLst>
          </p:cNvPr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Command and TLV Format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42CCF1-2B36-5EB1-DF85-E23D09C0D97F}"/>
              </a:ext>
            </a:extLst>
          </p:cNvPr>
          <p:cNvSpPr txBox="1"/>
          <p:nvPr/>
        </p:nvSpPr>
        <p:spPr>
          <a:xfrm>
            <a:off x="199235" y="587682"/>
            <a:ext cx="3921915" cy="253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基础格式（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Base &amp; Extended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基础 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</a:p>
          <a:p>
            <a:pPr algn="l" rtl="0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+--------+--------+-----------------+</a:t>
            </a:r>
          </a:p>
          <a:p>
            <a:pPr algn="l" rtl="0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 Type  | Length |      Value      |</a:t>
            </a:r>
          </a:p>
          <a:p>
            <a:pPr algn="l" rtl="0">
              <a:lnSpc>
                <a:spcPts val="1800"/>
              </a:lnSpc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+--------+--------+-----------------+</a:t>
            </a:r>
          </a:p>
          <a:p>
            <a:pPr algn="l" rt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字节   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字节     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0~254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字节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Type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8bit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，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类型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Length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8bit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，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Value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长度（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0~254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Value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：网络字节序，默认无符号整数</a:t>
            </a:r>
          </a:p>
          <a:p>
            <a:pPr algn="l">
              <a:lnSpc>
                <a:spcPts val="1800"/>
              </a:lnSpc>
              <a:buNone/>
            </a:pPr>
            <a:endParaRPr lang="zh-CN" altLang="en-US" sz="1200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0EA79D-3184-3BB0-710A-35C2FE03C69C}"/>
              </a:ext>
            </a:extLst>
          </p:cNvPr>
          <p:cNvSpPr txBox="1"/>
          <p:nvPr/>
        </p:nvSpPr>
        <p:spPr>
          <a:xfrm>
            <a:off x="3930650" y="683725"/>
            <a:ext cx="5014115" cy="207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扩展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TLV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（长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Value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当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Length = 0xFF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时启用扩展格式：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+--------+--------+------------------+-----------------+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|  Type  |  0xFF  |   Length(16bit)  |      Value      |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+--------+--------+------------------+-----------------+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  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字节  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字节       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字节          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0~65535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字节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Length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16bit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Value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长度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Type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i-sans-serif"/>
                <a:ea typeface="黑体" panose="02010609060101010101" pitchFamily="49" charset="-122"/>
                <a:cs typeface="+mn-cs"/>
              </a:rPr>
              <a:t>与基础格式一致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EE73B1-8D3E-CEDB-7142-D67F32931FDC}"/>
              </a:ext>
            </a:extLst>
          </p:cNvPr>
          <p:cNvSpPr txBox="1"/>
          <p:nvPr/>
        </p:nvSpPr>
        <p:spPr>
          <a:xfrm>
            <a:off x="199235" y="2867727"/>
            <a:ext cx="6788150" cy="184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通用规则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TLV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连续存储，无填充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字节对齐，不按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2/4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字节对齐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同一条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MLE 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消息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ui-sans-serif"/>
              </a:rPr>
              <a:t>不允许出现多个同类型 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endParaRPr lang="zh-CN" altLang="en-US" sz="12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收到长度比规范固定值更长的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：只处理前固定长度部分，不丢弃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兼容旧版短固定长度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ui-sans-serif"/>
              </a:rPr>
              <a:t>TLV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ui-sans-serif"/>
              </a:rPr>
              <a:t>：按旧版解析，缺失字段用当前版本默认值填充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8DEE855-2F68-B135-BC5F-31E1F66BC36E}"/>
              </a:ext>
            </a:extLst>
          </p:cNvPr>
          <p:cNvSpPr txBox="1"/>
          <p:nvPr/>
        </p:nvSpPr>
        <p:spPr>
          <a:xfrm>
            <a:off x="215591" y="5876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关键 </a:t>
            </a:r>
            <a:r>
              <a:rPr lang="en-US" altLang="zh-CN" b="1" dirty="0"/>
              <a:t>TLV </a:t>
            </a:r>
            <a:r>
              <a:rPr lang="zh-CN" altLang="en-US" b="1" dirty="0"/>
              <a:t>格式要点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61A7209-28A4-DAA2-8DC8-0335ED99A0CC}"/>
              </a:ext>
            </a:extLst>
          </p:cNvPr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Command and TLV Format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CD14F0-E9F6-B74A-F22F-3283F8C1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823"/>
            <a:ext cx="3877216" cy="169568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C412A88-8B79-AEEA-19DE-210B4EC7B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37144"/>
            <a:ext cx="340995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MODE TLV</a:t>
            </a: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R1：保留，发 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ui-sans-serif"/>
              </a:rPr>
              <a:t>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：rx-on-when-idle（1 = 常开，0 = 休眠，SED/SSED）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R2：保留，发 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ui-sans-serif"/>
              </a:rPr>
              <a:t>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：1=FTD，0=MTD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ui-sans-serif"/>
              </a:rPr>
              <a:t>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：1 = 需要完整 Network Data，0 = 仅稳定数据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FC0EBC-B5C6-C7EA-EB03-DB33A367CB52}"/>
              </a:ext>
            </a:extLst>
          </p:cNvPr>
          <p:cNvSpPr txBox="1"/>
          <p:nvPr/>
        </p:nvSpPr>
        <p:spPr>
          <a:xfrm>
            <a:off x="4298950" y="843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effectLst/>
                <a:latin typeface="Verdana-Bold"/>
              </a:rPr>
              <a:t>Address Registration TLV</a:t>
            </a:r>
            <a:endParaRPr lang="zh-CN" altLang="en-US" sz="1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8973657-CBD3-AE35-0AED-4BE733D5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2947006"/>
            <a:ext cx="4571999" cy="152683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50B9E7B-00E0-1907-4C2A-9893C62D9421}"/>
              </a:ext>
            </a:extLst>
          </p:cNvPr>
          <p:cNvSpPr txBox="1"/>
          <p:nvPr/>
        </p:nvSpPr>
        <p:spPr>
          <a:xfrm>
            <a:off x="4305300" y="1345324"/>
            <a:ext cx="4572000" cy="12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支持两种地址格式，可混用：</a:t>
            </a: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完整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IPv6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0 +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monospace"/>
              </a:rPr>
              <a:t>保留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+ 16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monospace"/>
              </a:rPr>
              <a:t>字节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IPv6</a:t>
            </a:r>
            <a:endParaRPr lang="zh-CN" altLang="en-US" sz="1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压缩 </a:t>
            </a:r>
            <a:r>
              <a:rPr lang="en-US" altLang="zh-CN" sz="1400" b="1" dirty="0">
                <a:solidFill>
                  <a:srgbClr val="000000"/>
                </a:solidFill>
                <a:effectLst/>
                <a:latin typeface="ui-sans-serif"/>
              </a:rPr>
              <a:t>IPv6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：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1 + 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monospace"/>
              </a:rPr>
              <a:t>保留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+ 4bit CID + 8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monospace"/>
              </a:rPr>
              <a:t>字节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monospace"/>
              </a:rPr>
              <a:t>IID</a:t>
            </a:r>
            <a:endParaRPr lang="zh-CN" altLang="en-US" sz="1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组播地址</a:t>
            </a:r>
            <a:r>
              <a:rPr lang="zh-CN" altLang="en-US" sz="1400" b="1" dirty="0">
                <a:solidFill>
                  <a:srgbClr val="000000"/>
                </a:solidFill>
                <a:effectLst/>
                <a:latin typeface="ui-sans-serif"/>
              </a:rPr>
              <a:t>必须使用完整格式</a:t>
            </a:r>
            <a:endParaRPr lang="zh-CN" altLang="en-US" sz="1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禁止包含链路本地地址 </a:t>
            </a:r>
            <a:r>
              <a:rPr lang="en-US" altLang="zh-CN" sz="1400" b="0" dirty="0">
                <a:solidFill>
                  <a:srgbClr val="000000"/>
                </a:solidFill>
                <a:effectLst/>
                <a:latin typeface="ui-sans-serif"/>
              </a:rPr>
              <a:t>/ RLOC</a:t>
            </a:r>
            <a:r>
              <a:rPr lang="zh-CN" altLang="en-US" sz="1400" b="0" dirty="0">
                <a:solidFill>
                  <a:srgbClr val="000000"/>
                </a:solidFill>
                <a:effectLst/>
                <a:latin typeface="ui-sans-serif"/>
              </a:rPr>
              <a:t>，除非消息特别允许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7FE74-3DAA-BDB3-6F0D-4AC343E0149A}"/>
              </a:ext>
            </a:extLst>
          </p:cNvPr>
          <p:cNvSpPr txBox="1"/>
          <p:nvPr/>
        </p:nvSpPr>
        <p:spPr>
          <a:xfrm>
            <a:off x="199235" y="189931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Thread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9532E8-2E56-7F0C-3683-14003E0A4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42" y="1096266"/>
            <a:ext cx="2720679" cy="24443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944E6E5-4823-CBB1-59EE-F03E30034E16}"/>
              </a:ext>
            </a:extLst>
          </p:cNvPr>
          <p:cNvSpPr txBox="1"/>
          <p:nvPr/>
        </p:nvSpPr>
        <p:spPr>
          <a:xfrm>
            <a:off x="215591" y="715177"/>
            <a:ext cx="66424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网络由三个唯一的标识符标识：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2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字节的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PAN ID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Personal Area Network ID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，个域网标识符）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8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字节的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XPAN ID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Extended Personal Area Network ID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，扩展个域网标识符）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方便人类阅读的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Network Name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（网络名称）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9A850F-2DC4-06DD-1BEE-E82CE22C39A8}"/>
              </a:ext>
            </a:extLst>
          </p:cNvPr>
          <p:cNvSpPr txBox="1"/>
          <p:nvPr/>
        </p:nvSpPr>
        <p:spPr>
          <a:xfrm>
            <a:off x="215592" y="1923576"/>
            <a:ext cx="61970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在创建新的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网络或搜索现有的网络时，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设备会主动扫描射频范围内的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802.15.4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网络：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设备在特定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Channel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上广播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802.15.4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信标请求（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Beacon Request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）。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范围内的所有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Router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或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REED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都会广播包含其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网络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PAN ID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、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XPAN ID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和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Network Name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的信标（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Beacon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），以作为回应。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设备为每个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Channel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重复前两个步骤。</a:t>
            </a:r>
          </a:p>
          <a:p>
            <a:pPr algn="l">
              <a:spcAft>
                <a:spcPts val="600"/>
              </a:spcAft>
            </a:pP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设备发现范围内的所有网络后，可以选择连接到现有的网络，也可以在未发现任何网络的情况下创建新的网络。</a:t>
            </a:r>
          </a:p>
        </p:txBody>
      </p:sp>
    </p:spTree>
    <p:extLst>
      <p:ext uri="{BB962C8B-B14F-4D97-AF65-F5344CB8AC3E}">
        <p14:creationId xmlns:p14="http://schemas.microsoft.com/office/powerpoint/2010/main" val="183191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07A66E-9B34-455C-3E25-D227111EE408}"/>
              </a:ext>
            </a:extLst>
          </p:cNvPr>
          <p:cNvSpPr txBox="1"/>
          <p:nvPr/>
        </p:nvSpPr>
        <p:spPr>
          <a:xfrm>
            <a:off x="199235" y="189931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Thread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D402BF-75C4-2199-ECCE-A75B4556DC3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9235" y="872489"/>
            <a:ext cx="8745530" cy="10572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854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创建新网络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如果设备选择创建新网络，它将选择最不繁忙的 Channel 和其他网络未使用的 PAN ID，然后成为 Router 并选举自己为 Leader。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103EF72-5D1F-322E-8116-8BB9EE04C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4" y="2576098"/>
            <a:ext cx="8726481" cy="1272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8547" rIns="0" bIns="6506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加入现有网络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如果设备选择加入到现有的网络，则会通过 Thread Commissioning 将其 Channel、PAN ID、XPAN ID 和 Network Name 配置为与目标网络相同，然后进行 MLE Attach 过程以作为子节点（End Device）进行加入。此过程用于“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父子链路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（Child-Parent link）”。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2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Network Attaching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B903E8-0A1E-3130-0540-674C87D5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831850"/>
            <a:ext cx="4075910" cy="37737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044AB6-1DEE-D15F-10C8-D1AE3D16B4D2}"/>
              </a:ext>
            </a:extLst>
          </p:cNvPr>
          <p:cNvSpPr txBox="1"/>
          <p:nvPr/>
        </p:nvSpPr>
        <p:spPr>
          <a:xfrm>
            <a:off x="4480296" y="1771531"/>
            <a:ext cx="44481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SED</a:t>
            </a:r>
            <a:r>
              <a:rPr lang="zh-CN" altLang="en-US" sz="1400" dirty="0"/>
              <a:t>设备唤醒后发送多播的父节点请求；</a:t>
            </a:r>
            <a:endParaRPr lang="en-US" altLang="zh-CN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/>
              <a:t>一个或多个父节点回应其父节点请求；</a:t>
            </a:r>
            <a:endParaRPr lang="en-US" altLang="zh-CN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SED</a:t>
            </a:r>
            <a:r>
              <a:rPr lang="zh-CN" altLang="en-US" sz="1400" dirty="0"/>
              <a:t>选择一个最优节点发送子节点</a:t>
            </a:r>
            <a:r>
              <a:rPr lang="en-US" altLang="zh-CN" sz="1400" dirty="0"/>
              <a:t>id</a:t>
            </a:r>
            <a:r>
              <a:rPr lang="zh-CN" altLang="en-US" sz="1400" dirty="0"/>
              <a:t>请求；</a:t>
            </a:r>
            <a:endParaRPr lang="en-US" altLang="zh-CN" sz="1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/>
              <a:t>父节点回应其请求，分配一个</a:t>
            </a:r>
            <a:r>
              <a:rPr lang="en-US" altLang="zh-CN" sz="1400" dirty="0"/>
              <a:t>child id</a:t>
            </a:r>
            <a:r>
              <a:rPr lang="zh-CN" altLang="en-US" sz="1400" dirty="0"/>
              <a:t>；</a:t>
            </a:r>
            <a:br>
              <a:rPr lang="en-US" altLang="zh-CN" sz="1400" dirty="0"/>
            </a:br>
            <a:r>
              <a:rPr lang="zh-CN" altLang="en-US" sz="1400" dirty="0"/>
              <a:t>后面是子节点周期性的向父节点发送更新请求；</a:t>
            </a:r>
            <a:endParaRPr lang="en-US" altLang="zh-CN" sz="1400" dirty="0"/>
          </a:p>
          <a:p>
            <a:pPr>
              <a:spcAft>
                <a:spcPts val="600"/>
              </a:spcAft>
            </a:pPr>
            <a:r>
              <a:rPr lang="zh-CN" altLang="en-US" sz="1400" dirty="0"/>
              <a:t>在</a:t>
            </a:r>
            <a:r>
              <a:rPr lang="en-US" altLang="zh-CN" sz="1400" dirty="0"/>
              <a:t>SED</a:t>
            </a:r>
            <a:r>
              <a:rPr lang="zh-CN" altLang="en-US" sz="1400" dirty="0"/>
              <a:t>设备向父节点请求数据时，要发送</a:t>
            </a:r>
            <a:r>
              <a:rPr lang="en-US" altLang="zh-CN" sz="1400" dirty="0"/>
              <a:t>MAC</a:t>
            </a:r>
            <a:r>
              <a:rPr lang="zh-CN" altLang="en-US" sz="1400" dirty="0"/>
              <a:t> </a:t>
            </a:r>
            <a:r>
              <a:rPr lang="en-US" altLang="zh-CN" sz="1400" dirty="0"/>
              <a:t>DATA REQUEST</a:t>
            </a:r>
            <a:r>
              <a:rPr lang="zh-CN" altLang="en-US" sz="1400" dirty="0"/>
              <a:t>来告诉父节点“我醒了”然后才能获取数据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Network Attaching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27CFC3-701D-4194-36B1-45721E47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421256"/>
            <a:ext cx="3117850" cy="31178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5600515-4344-4EF9-FE28-77EACCE32BA1}"/>
              </a:ext>
            </a:extLst>
          </p:cNvPr>
          <p:cNvSpPr txBox="1"/>
          <p:nvPr/>
        </p:nvSpPr>
        <p:spPr>
          <a:xfrm>
            <a:off x="3546989" y="1716344"/>
            <a:ext cx="4853693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/>
              <a:t>与</a:t>
            </a:r>
            <a:r>
              <a:rPr lang="en-US" altLang="zh-CN" sz="1400" dirty="0"/>
              <a:t>SED</a:t>
            </a:r>
            <a:r>
              <a:rPr lang="zh-CN" altLang="en-US" sz="1400" dirty="0"/>
              <a:t>相比，</a:t>
            </a:r>
            <a:r>
              <a:rPr lang="en-US" altLang="zh-CN" sz="1400" dirty="0"/>
              <a:t>SSED</a:t>
            </a:r>
            <a:r>
              <a:rPr lang="zh-CN" altLang="en-US" sz="1400" dirty="0"/>
              <a:t>多了</a:t>
            </a:r>
            <a:r>
              <a:rPr lang="en-US" altLang="zh-CN" sz="1400" dirty="0"/>
              <a:t>CSL</a:t>
            </a:r>
            <a:r>
              <a:rPr lang="zh-CN" altLang="en-US" sz="1400" dirty="0"/>
              <a:t>机制；</a:t>
            </a:r>
            <a:br>
              <a:rPr lang="en-US" altLang="zh-CN" sz="1400" dirty="0"/>
            </a:br>
            <a:r>
              <a:rPr lang="en-US" altLang="zh-CN" sz="1400" dirty="0"/>
              <a:t>SSED </a:t>
            </a:r>
            <a:r>
              <a:rPr lang="zh-CN" altLang="en-US" sz="1400" dirty="0"/>
              <a:t>发送的 </a:t>
            </a:r>
            <a:r>
              <a:rPr lang="en-US" altLang="zh-CN" sz="1400" dirty="0"/>
              <a:t>Child Update Request </a:t>
            </a:r>
            <a:r>
              <a:rPr lang="zh-CN" altLang="en-US" sz="1400" dirty="0"/>
              <a:t>中携带 </a:t>
            </a:r>
            <a:r>
              <a:rPr lang="en-US" altLang="zh-CN" sz="1400" dirty="0"/>
              <a:t>CSL Synchronized Timeout TLV </a:t>
            </a:r>
            <a:r>
              <a:rPr lang="zh-CN" altLang="en-US" sz="1400" dirty="0"/>
              <a:t>和 </a:t>
            </a:r>
            <a:r>
              <a:rPr lang="en-US" altLang="zh-CN" sz="1400" dirty="0"/>
              <a:t>CSL IEs</a:t>
            </a:r>
            <a:r>
              <a:rPr lang="zh-CN" altLang="en-US" sz="1400" dirty="0"/>
              <a:t>（信息元素）。</a:t>
            </a:r>
          </a:p>
          <a:p>
            <a:pPr>
              <a:spcAft>
                <a:spcPts val="600"/>
              </a:spcAft>
            </a:pPr>
            <a:r>
              <a:rPr lang="en-US" altLang="zh-CN" sz="1400" dirty="0"/>
              <a:t>- </a:t>
            </a:r>
            <a:r>
              <a:rPr lang="zh-CN" altLang="en-US" sz="1400" dirty="0"/>
              <a:t>这些信息告诉父节点：我的 </a:t>
            </a:r>
            <a:r>
              <a:rPr lang="en-US" altLang="zh-CN" sz="1400" dirty="0"/>
              <a:t>CSL </a:t>
            </a:r>
            <a:r>
              <a:rPr lang="zh-CN" altLang="en-US" sz="1400" dirty="0"/>
              <a:t>采样周期、相位、超时时间等参数。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zh-CN" altLang="en-US" sz="1400" dirty="0"/>
              <a:t>父节点据此计算应在何时向 </a:t>
            </a:r>
            <a:r>
              <a:rPr lang="en-US" altLang="zh-CN" sz="1400" dirty="0"/>
              <a:t>SSED </a:t>
            </a:r>
            <a:r>
              <a:rPr lang="zh-CN" altLang="en-US" sz="1400" dirty="0"/>
              <a:t>发送下行数据；</a:t>
            </a:r>
            <a:endParaRPr lang="en-US" altLang="zh-CN" sz="1400" dirty="0"/>
          </a:p>
          <a:p>
            <a:pPr>
              <a:spcAft>
                <a:spcPts val="600"/>
              </a:spcAft>
            </a:pPr>
            <a:r>
              <a:rPr lang="en-US" altLang="zh-CN" sz="1400" dirty="0"/>
              <a:t>SSED </a:t>
            </a:r>
            <a:r>
              <a:rPr lang="zh-CN" altLang="en-US" sz="1400" dirty="0"/>
              <a:t>只需在约定的时间窗口唤醒接收，无需一直监听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Network Attaching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59344B-A5A5-7B35-E60B-DED7C202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1075306"/>
            <a:ext cx="3565058" cy="299288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1CFDA5B-0274-52C5-6432-5BBD1C45DD74}"/>
              </a:ext>
            </a:extLst>
          </p:cNvPr>
          <p:cNvSpPr txBox="1"/>
          <p:nvPr/>
        </p:nvSpPr>
        <p:spPr>
          <a:xfrm>
            <a:off x="3964367" y="2123768"/>
            <a:ext cx="4554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REED</a:t>
            </a:r>
            <a:r>
              <a:rPr lang="zh-CN" altLang="en-US" sz="1400" dirty="0"/>
              <a:t>因为是</a:t>
            </a:r>
            <a:r>
              <a:rPr lang="en-US" altLang="zh-CN" sz="1400" dirty="0" err="1"/>
              <a:t>ftd</a:t>
            </a:r>
            <a:r>
              <a:rPr lang="zh-CN" altLang="en-US" sz="1400" dirty="0"/>
              <a:t>设备无需休眠，所以向父节点请求时无需提前告知父节点“我醒了”这一步骤，直接请求就行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Neighbor Link Communication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6E05538-C116-4ECB-09BD-546A7CA03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22533"/>
            <a:ext cx="5905500" cy="201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升级成 Router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子设备连接到 Thread 网络后，可以选择成为 Router。在开始 MLE Link Request 过程之前，子设备会向 Leader 发送 Address Solicit 消息，以请求一个 Router ID。如果 Leader 同意该请求，则它将响应一个 Router ID 给子设备，并且子设备会将自身升级为 Router。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202124"/>
                </a:solidFill>
                <a:latin typeface="Roboto" panose="02000000000000000000" pitchFamily="2" charset="0"/>
              </a:rPr>
              <a:t>然后，MLE Link Request 过程用于与相邻的 Router 建立双向 Router-Router 链路。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Neighbor Link Communication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E89AF3-B404-B182-51E8-2AD3CA0A9E91}"/>
              </a:ext>
            </a:extLst>
          </p:cNvPr>
          <p:cNvPicPr>
            <a:picLocks/>
          </p:cNvPicPr>
          <p:nvPr/>
        </p:nvPicPr>
        <p:blipFill>
          <a:blip r:embed="rId2"/>
          <a:srcRect l="10468" r="10189"/>
          <a:stretch>
            <a:fillRect/>
          </a:stretch>
        </p:blipFill>
        <p:spPr>
          <a:xfrm>
            <a:off x="4800600" y="673100"/>
            <a:ext cx="4160521" cy="35750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56F0D7D-96A6-1A09-CC0D-E3F42C4B25BD}"/>
              </a:ext>
            </a:extLst>
          </p:cNvPr>
          <p:cNvSpPr txBox="1"/>
          <p:nvPr/>
        </p:nvSpPr>
        <p:spPr>
          <a:xfrm>
            <a:off x="635000" y="174693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lang="zh-CN" altLang="zh-CN" sz="1800" dirty="0">
                <a:solidFill>
                  <a:srgbClr val="202124"/>
                </a:solidFill>
                <a:latin typeface="Roboto" panose="02000000000000000000" pitchFamily="2" charset="0"/>
              </a:rPr>
              <a:t>新 Router 将发送一个多播 Link Request 到相邻的 Router。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Neighbor Link Communication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274467-DA53-A40F-05D2-65480BB00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166" y="1279592"/>
            <a:ext cx="4408955" cy="31546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6EACA9-D068-2FB7-7228-25800C19B351}"/>
              </a:ext>
            </a:extLst>
          </p:cNvPr>
          <p:cNvSpPr txBox="1"/>
          <p:nvPr/>
        </p:nvSpPr>
        <p:spPr>
          <a:xfrm>
            <a:off x="342900" y="165168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lang="zh-CN" altLang="zh-CN" sz="1800" dirty="0">
                <a:solidFill>
                  <a:srgbClr val="202124"/>
                </a:solidFill>
                <a:latin typeface="Roboto" panose="02000000000000000000" pitchFamily="2" charset="0"/>
              </a:rPr>
              <a:t>Router 使用 Link Accept and Request 消息进行响应。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Neighbor Link Communication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45B40D-F231-4631-5383-BCD82FB52571}"/>
              </a:ext>
            </a:extLst>
          </p:cNvPr>
          <p:cNvSpPr txBox="1"/>
          <p:nvPr/>
        </p:nvSpPr>
        <p:spPr>
          <a:xfrm>
            <a:off x="215591" y="172153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lang="zh-CN" altLang="zh-CN" sz="1800" dirty="0">
                <a:solidFill>
                  <a:srgbClr val="202124"/>
                </a:solidFill>
                <a:latin typeface="Roboto" panose="02000000000000000000" pitchFamily="2" charset="0"/>
              </a:rPr>
              <a:t>新 Router 使用单播的 Link Accept 响应每个 Router，以建立 Router-Router 链路。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8020F3-0590-9943-4DE1-9991A0B0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71" y="774638"/>
            <a:ext cx="4092470" cy="31864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9CF4-DFE2-746C-CFA0-1A3A1E1D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05DE24-C28B-1415-1DDA-E8F93BBB1C61}"/>
              </a:ext>
            </a:extLst>
          </p:cNvPr>
          <p:cNvSpPr txBox="1"/>
          <p:nvPr/>
        </p:nvSpPr>
        <p:spPr>
          <a:xfrm>
            <a:off x="5757770" y="3991536"/>
            <a:ext cx="3309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Thread-Network Layer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23722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域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FC4B18-6791-5633-131D-44464A8DB617}"/>
              </a:ext>
            </a:extLst>
          </p:cNvPr>
          <p:cNvSpPr txBox="1"/>
          <p:nvPr/>
        </p:nvSpPr>
        <p:spPr>
          <a:xfrm>
            <a:off x="362810" y="1309225"/>
            <a:ext cx="48345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Thread </a:t>
            </a:r>
            <a:r>
              <a:rPr lang="zh-CN" altLang="en-US" sz="1400" dirty="0"/>
              <a:t>网络中有三种域用于单播寻址：</a:t>
            </a:r>
          </a:p>
          <a:p>
            <a:endParaRPr lang="zh-CN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Link-Local — </a:t>
            </a:r>
            <a:r>
              <a:rPr lang="zh-CN" altLang="en-US" sz="1400" dirty="0"/>
              <a:t>所有通过单次射频传输可访问的接口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Mesh-Local — </a:t>
            </a:r>
            <a:r>
              <a:rPr lang="zh-CN" altLang="en-US" sz="1400" dirty="0"/>
              <a:t>所有在同一 </a:t>
            </a:r>
            <a:r>
              <a:rPr lang="en-US" altLang="zh-CN" sz="1400" dirty="0"/>
              <a:t>Thread </a:t>
            </a:r>
            <a:r>
              <a:rPr lang="zh-CN" altLang="en-US" sz="1400" dirty="0"/>
              <a:t>网络中可访问的接口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Global — </a:t>
            </a:r>
            <a:r>
              <a:rPr lang="zh-CN" altLang="en-US" sz="1400" dirty="0"/>
              <a:t>所有从 </a:t>
            </a:r>
            <a:r>
              <a:rPr lang="en-US" altLang="zh-CN" sz="1400" dirty="0"/>
              <a:t>Thread </a:t>
            </a:r>
            <a:r>
              <a:rPr lang="zh-CN" altLang="en-US" sz="1400" dirty="0"/>
              <a:t>网络外部可以访问的接口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前两个域与 </a:t>
            </a:r>
            <a:r>
              <a:rPr lang="en-US" altLang="zh-CN" sz="1400" dirty="0"/>
              <a:t>Thread </a:t>
            </a:r>
            <a:r>
              <a:rPr lang="zh-CN" altLang="en-US" sz="1400" dirty="0"/>
              <a:t>网络指定的 </a:t>
            </a:r>
            <a:r>
              <a:rPr lang="en-US" altLang="zh-CN" sz="1400" dirty="0"/>
              <a:t>Prefix</a:t>
            </a:r>
            <a:r>
              <a:rPr lang="zh-CN" altLang="en-US" sz="1400" dirty="0"/>
              <a:t>（前缀）相对应。</a:t>
            </a:r>
            <a:r>
              <a:rPr lang="en-US" altLang="zh-CN" sz="1400" dirty="0"/>
              <a:t>Link-Local </a:t>
            </a:r>
            <a:r>
              <a:rPr lang="zh-CN" altLang="en-US" sz="1400" dirty="0"/>
              <a:t>的 </a:t>
            </a:r>
            <a:r>
              <a:rPr lang="en-US" altLang="zh-CN" sz="1400" dirty="0"/>
              <a:t>Prefix </a:t>
            </a:r>
            <a:r>
              <a:rPr lang="zh-CN" altLang="en-US" sz="1400" dirty="0"/>
              <a:t>为 </a:t>
            </a:r>
            <a:r>
              <a:rPr lang="en-US" altLang="zh-CN" sz="1400" dirty="0"/>
              <a:t>fe80::/16</a:t>
            </a:r>
            <a:r>
              <a:rPr lang="zh-CN" altLang="en-US" sz="1400" dirty="0"/>
              <a:t>，</a:t>
            </a:r>
            <a:r>
              <a:rPr lang="en-US" altLang="zh-CN" sz="1400" dirty="0"/>
              <a:t>Mesh-Local </a:t>
            </a:r>
            <a:r>
              <a:rPr lang="zh-CN" altLang="en-US" sz="1400" dirty="0"/>
              <a:t>的 </a:t>
            </a:r>
            <a:r>
              <a:rPr lang="en-US" altLang="zh-CN" sz="1400" dirty="0"/>
              <a:t>Prefix </a:t>
            </a:r>
            <a:r>
              <a:rPr lang="zh-CN" altLang="en-US" sz="1400" dirty="0"/>
              <a:t>为 </a:t>
            </a:r>
            <a:r>
              <a:rPr lang="en-US" altLang="zh-CN" sz="1400" dirty="0"/>
              <a:t>fd00::/8</a:t>
            </a:r>
            <a:r>
              <a:rPr lang="zh-CN" altLang="en-US" sz="1400" dirty="0"/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7F5076-D370-29B0-A9A4-AEC76696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99" y="808211"/>
            <a:ext cx="3293891" cy="31731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寻址方式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1EBC6A-C5E1-EFE2-77AA-663C41B95831}"/>
              </a:ext>
            </a:extLst>
          </p:cNvPr>
          <p:cNvSpPr txBox="1"/>
          <p:nvPr/>
        </p:nvSpPr>
        <p:spPr>
          <a:xfrm>
            <a:off x="215591" y="851674"/>
            <a:ext cx="3913957" cy="387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0F1115"/>
                </a:solidFill>
                <a:effectLst/>
                <a:latin typeface="quote-cjk-patch"/>
              </a:rPr>
              <a:t>单播寻址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Thread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设备使用多种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IPv6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单播地址。对于作用域大于链路本地的地址，定义了三种类型：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路由定位器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(RLOC)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：标识接口在网络分区中的位置。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任播定位器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(ALOC)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：标识一个或多个接口的位置。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端点标识符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(EID)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：唯一标识接口，独立于拓扑变化。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地址作用域分为：链路本地、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Mesh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本地、全球（包括域）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84015FA-1EFB-118C-DE39-787A7F931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9086"/>
              </p:ext>
            </p:extLst>
          </p:nvPr>
        </p:nvGraphicFramePr>
        <p:xfrm>
          <a:off x="4367959" y="2072752"/>
          <a:ext cx="4501455" cy="2310449"/>
        </p:xfrm>
        <a:graphic>
          <a:graphicData uri="http://schemas.openxmlformats.org/drawingml/2006/table">
            <a:tbl>
              <a:tblPr/>
              <a:tblGrid>
                <a:gridCol w="1500485">
                  <a:extLst>
                    <a:ext uri="{9D8B030D-6E8A-4147-A177-3AD203B41FA5}">
                      <a16:colId xmlns:a16="http://schemas.microsoft.com/office/drawing/2014/main" val="3412585991"/>
                    </a:ext>
                  </a:extLst>
                </a:gridCol>
                <a:gridCol w="1500485">
                  <a:extLst>
                    <a:ext uri="{9D8B030D-6E8A-4147-A177-3AD203B41FA5}">
                      <a16:colId xmlns:a16="http://schemas.microsoft.com/office/drawing/2014/main" val="405580980"/>
                    </a:ext>
                  </a:extLst>
                </a:gridCol>
                <a:gridCol w="1500485">
                  <a:extLst>
                    <a:ext uri="{9D8B030D-6E8A-4147-A177-3AD203B41FA5}">
                      <a16:colId xmlns:a16="http://schemas.microsoft.com/office/drawing/2014/main" val="2276198883"/>
                    </a:ext>
                  </a:extLst>
                </a:gridCol>
              </a:tblGrid>
              <a:tr h="392113"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IPv6 </a:t>
                      </a: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地址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域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传递给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51538"/>
                  </a:ext>
                </a:extLst>
              </a:tr>
              <a:tr h="601742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ff02::1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Link-Local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所有 </a:t>
                      </a:r>
                      <a:r>
                        <a:rPr lang="en-US">
                          <a:effectLst/>
                        </a:rPr>
                        <a:t>FTD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MED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07632"/>
                  </a:ext>
                </a:extLst>
              </a:tr>
              <a:tr h="357426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ff02::2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Link-Local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所有 </a:t>
                      </a:r>
                      <a:r>
                        <a:rPr lang="en-US">
                          <a:effectLst/>
                        </a:rPr>
                        <a:t>FTD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A0B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17877"/>
                  </a:ext>
                </a:extLst>
              </a:tr>
              <a:tr h="601742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ff03::1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Mesh-Local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所有 </a:t>
                      </a:r>
                      <a:r>
                        <a:rPr lang="en-US">
                          <a:effectLst/>
                        </a:rPr>
                        <a:t>FTD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MED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92301"/>
                  </a:ext>
                </a:extLst>
              </a:tr>
              <a:tr h="357426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ff03::2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Mesh-Local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dirty="0">
                          <a:effectLst/>
                        </a:rPr>
                        <a:t>所有 </a:t>
                      </a:r>
                      <a:r>
                        <a:rPr lang="en-US" dirty="0">
                          <a:effectLst/>
                        </a:rPr>
                        <a:t>FTD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605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5C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73625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63F0D06-045B-ADEC-18C3-BC09ED472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959" y="851674"/>
            <a:ext cx="4188542" cy="13542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多播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寻址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多播用于一次将信息传达给多个设备。Thread 网络中保留了特定的地址，以提供给不同分组的设备在多播时使用。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RLOC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946052-3E37-1414-1017-E4551429E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458" y="1408392"/>
            <a:ext cx="3881775" cy="23267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C63CC1-6068-5BE2-C5CB-E701CF99D12B}"/>
              </a:ext>
            </a:extLst>
          </p:cNvPr>
          <p:cNvSpPr txBox="1"/>
          <p:nvPr/>
        </p:nvSpPr>
        <p:spPr>
          <a:xfrm>
            <a:off x="215591" y="1733165"/>
            <a:ext cx="4572000" cy="134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地址由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Mesh-Local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前缀和编码了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Router ID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与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Child ID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的接口标识符（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IID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）构成（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Child ID 0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为路由器本身保留）。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RLOC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会随拓扑变化而改变，其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16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位编码称为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RLOC16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，同时被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MAC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层设为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IEEE 802.15.4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短地址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ALOC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6ED4709-9AAB-C24F-7F53-87D48643A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851387"/>
              </p:ext>
            </p:extLst>
          </p:nvPr>
        </p:nvGraphicFramePr>
        <p:xfrm>
          <a:off x="4265234" y="1368871"/>
          <a:ext cx="4878766" cy="2849166"/>
        </p:xfrm>
        <a:graphic>
          <a:graphicData uri="http://schemas.openxmlformats.org/drawingml/2006/table">
            <a:tbl>
              <a:tblPr/>
              <a:tblGrid>
                <a:gridCol w="2439383">
                  <a:extLst>
                    <a:ext uri="{9D8B030D-6E8A-4147-A177-3AD203B41FA5}">
                      <a16:colId xmlns:a16="http://schemas.microsoft.com/office/drawing/2014/main" val="1289421465"/>
                    </a:ext>
                  </a:extLst>
                </a:gridCol>
                <a:gridCol w="2439383">
                  <a:extLst>
                    <a:ext uri="{9D8B030D-6E8A-4147-A177-3AD203B41FA5}">
                      <a16:colId xmlns:a16="http://schemas.microsoft.com/office/drawing/2014/main" val="1662991754"/>
                    </a:ext>
                  </a:extLst>
                </a:gridCol>
              </a:tblGrid>
              <a:tr h="422581"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ALOC16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13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类型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13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614041"/>
                  </a:ext>
                </a:extLst>
              </a:tr>
              <a:tr h="385198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0xfc00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Leader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90607"/>
                  </a:ext>
                </a:extLst>
              </a:tr>
              <a:tr h="385198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0xfc01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0xfc0f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DHCPv6 Agent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900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143031"/>
                  </a:ext>
                </a:extLst>
              </a:tr>
              <a:tr h="385198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0xfc10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0xfc2f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Service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126617"/>
                  </a:ext>
                </a:extLst>
              </a:tr>
              <a:tr h="385198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0xfc30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0xfc37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CB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Commissioner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E0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CB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87795"/>
                  </a:ext>
                </a:extLst>
              </a:tr>
              <a:tr h="385198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0xfc40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0xfc4e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CB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D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Neighbor Discovery Agent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CB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D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875421"/>
                  </a:ext>
                </a:extLst>
              </a:tr>
              <a:tr h="500595"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0xfc38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0xfc3f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0xfc4f</a:t>
                      </a:r>
                      <a:r>
                        <a:rPr lang="en-US">
                          <a:effectLst/>
                        </a:rPr>
                        <a:t> – </a:t>
                      </a: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0xfcff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40D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C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Reserved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40D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CA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6203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AFEDE24-B4CC-75DA-3685-069443BF6281}"/>
              </a:ext>
            </a:extLst>
          </p:cNvPr>
          <p:cNvSpPr txBox="1"/>
          <p:nvPr/>
        </p:nvSpPr>
        <p:spPr>
          <a:xfrm>
            <a:off x="215591" y="1591580"/>
            <a:ext cx="3506902" cy="198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当目的地的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RLOC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未知时，可以使用任播将流量路由到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接口。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ALOC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（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Anycast Locator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）标识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Thread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分区内多个接口的位置。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ALOC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的后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16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位，称为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ALOC16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，其格式为 </a:t>
            </a:r>
            <a:r>
              <a:rPr lang="en-US" altLang="zh-CN" sz="1400" b="0" dirty="0"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0xfc</a:t>
            </a:r>
            <a:r>
              <a:rPr lang="en-US" altLang="zh-CN" sz="1400" b="0" i="1" dirty="0">
                <a:solidFill>
                  <a:srgbClr val="D01884"/>
                </a:solidFill>
                <a:effectLst/>
                <a:latin typeface="Roboto Mono" panose="00000009000000000000" pitchFamily="49" charset="0"/>
              </a:rPr>
              <a:t>XX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，表示 </a:t>
            </a:r>
            <a:r>
              <a:rPr lang="en-US" altLang="zh-CN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ALOC </a:t>
            </a:r>
            <a:r>
              <a:rPr lang="zh-CN" altLang="en-US" sz="1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的类型。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EID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6B9D105-19FB-A5B8-1430-5E1C292DB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5397"/>
              </p:ext>
            </p:extLst>
          </p:nvPr>
        </p:nvGraphicFramePr>
        <p:xfrm>
          <a:off x="401156" y="1199018"/>
          <a:ext cx="8182405" cy="2860040"/>
        </p:xfrm>
        <a:graphic>
          <a:graphicData uri="http://schemas.openxmlformats.org/drawingml/2006/table">
            <a:tbl>
              <a:tblPr/>
              <a:tblGrid>
                <a:gridCol w="2045602">
                  <a:extLst>
                    <a:ext uri="{9D8B030D-6E8A-4147-A177-3AD203B41FA5}">
                      <a16:colId xmlns:a16="http://schemas.microsoft.com/office/drawing/2014/main" val="1444437300"/>
                    </a:ext>
                  </a:extLst>
                </a:gridCol>
                <a:gridCol w="6136803">
                  <a:extLst>
                    <a:ext uri="{9D8B030D-6E8A-4147-A177-3AD203B41FA5}">
                      <a16:colId xmlns:a16="http://schemas.microsoft.com/office/drawing/2014/main" val="1036387107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l" fontAlgn="ctr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Mesh-Local EID (ML-EID)</a:t>
                      </a:r>
                    </a:p>
                  </a:txBody>
                  <a:tcPr marL="50800" marR="50800" marT="50800" marB="508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F3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F3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12686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一种用于标识 </a:t>
                      </a:r>
                      <a:r>
                        <a:rPr lang="en-US">
                          <a:effectLst/>
                        </a:rPr>
                        <a:t>Thread </a:t>
                      </a:r>
                      <a:r>
                        <a:rPr lang="zh-CN" altLang="en-US">
                          <a:effectLst/>
                        </a:rPr>
                        <a:t>接口的 </a:t>
                      </a:r>
                      <a:r>
                        <a:rPr lang="en-US">
                          <a:effectLst/>
                        </a:rPr>
                        <a:t>EID，</a:t>
                      </a:r>
                      <a:r>
                        <a:rPr lang="zh-CN" altLang="en-US">
                          <a:effectLst/>
                        </a:rPr>
                        <a:t>其与网络拓扑无关。用于访问同一 </a:t>
                      </a:r>
                      <a:r>
                        <a:rPr lang="en-US">
                          <a:effectLst/>
                        </a:rPr>
                        <a:t>Thread </a:t>
                      </a:r>
                      <a:r>
                        <a:rPr lang="zh-CN" altLang="en-US">
                          <a:effectLst/>
                        </a:rPr>
                        <a:t>分区内的 </a:t>
                      </a:r>
                      <a:r>
                        <a:rPr lang="en-US">
                          <a:effectLst/>
                        </a:rPr>
                        <a:t>Thread </a:t>
                      </a:r>
                      <a:r>
                        <a:rPr lang="zh-CN" altLang="en-US">
                          <a:effectLst/>
                        </a:rPr>
                        <a:t>接口。也称为 </a:t>
                      </a:r>
                      <a:r>
                        <a:rPr lang="en-US">
                          <a:effectLst/>
                        </a:rPr>
                        <a:t>ULA（Unique Local Address）。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20F3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3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4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示例</a:t>
                      </a:r>
                      <a:endParaRPr lang="zh-CN" alt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603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3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50"/>
                        </a:lnSpc>
                        <a:buNone/>
                      </a:pPr>
                      <a:r>
                        <a:rPr lang="en-US" b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fde5:8dba:82e1:1:416:993c:8399:35ab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603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003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90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>
                          <a:effectLst/>
                        </a:rPr>
                        <a:t>IID</a:t>
                      </a:r>
                      <a:endParaRPr 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003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3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>
                          <a:effectLst/>
                        </a:rPr>
                        <a:t>在 </a:t>
                      </a:r>
                      <a:r>
                        <a:rPr lang="en-US">
                          <a:effectLst/>
                        </a:rPr>
                        <a:t>commissioning </a:t>
                      </a:r>
                      <a:r>
                        <a:rPr lang="zh-CN" altLang="en-US">
                          <a:effectLst/>
                        </a:rPr>
                        <a:t>完成后随机生成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003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3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98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域</a:t>
                      </a:r>
                      <a:endParaRPr lang="zh-CN" alt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803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Mesh-Local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803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306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详情</a:t>
                      </a:r>
                      <a:endParaRPr lang="zh-CN" altLang="en-US">
                        <a:effectLst/>
                      </a:endParaRP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0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9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effectLst/>
                        </a:rPr>
                        <a:t>不会随拓扑变化而变化</a:t>
                      </a:r>
                    </a:p>
                    <a:p>
                      <a:pPr algn="l" fontAlgn="t">
                        <a:spcBef>
                          <a:spcPts val="900"/>
                        </a:spcBef>
                        <a:spcAft>
                          <a:spcPts val="9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effectLst/>
                        </a:rPr>
                        <a:t>应由应用程序使用</a:t>
                      </a:r>
                    </a:p>
                    <a:p>
                      <a:pPr algn="l" fontAlgn="t">
                        <a:lnSpc>
                          <a:spcPts val="1050"/>
                        </a:lnSpc>
                        <a:spcBef>
                          <a:spcPts val="9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>
                          <a:effectLst/>
                        </a:rPr>
                        <a:t>总是带 </a:t>
                      </a:r>
                      <a:r>
                        <a:rPr lang="en-US" altLang="zh-CN" b="0" dirty="0">
                          <a:solidFill>
                            <a:srgbClr val="202124"/>
                          </a:solidFill>
                          <a:effectLst/>
                          <a:latin typeface="Roboto Mono" panose="00000009000000000000" pitchFamily="49" charset="0"/>
                        </a:rPr>
                        <a:t>fd00::/8</a:t>
                      </a:r>
                      <a:r>
                        <a:rPr lang="zh-CN" altLang="en-US" dirty="0">
                          <a:effectLst/>
                        </a:rPr>
                        <a:t> </a:t>
                      </a:r>
                      <a:r>
                        <a:rPr lang="en-US" altLang="zh-CN" dirty="0">
                          <a:effectLst/>
                        </a:rPr>
                        <a:t>Prefix</a:t>
                      </a:r>
                    </a:p>
                  </a:txBody>
                  <a:tcPr marL="50800" marR="50800" marT="44450" marB="50800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0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1267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792A49-6425-5BB4-E78F-938AA17C439E}"/>
              </a:ext>
            </a:extLst>
          </p:cNvPr>
          <p:cNvSpPr txBox="1"/>
          <p:nvPr/>
        </p:nvSpPr>
        <p:spPr>
          <a:xfrm>
            <a:off x="215591" y="862286"/>
            <a:ext cx="8745530" cy="333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UDP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通信主要围绕“套接字”进行，一个典型的流程如下：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创建与打开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：使用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otUdpOpen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函数，并传入一个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otUdpSocket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结构体和用于接收数据的回调函数。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绑定端口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：使用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otUdpBind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为套接字指定一个本地端口号，并绑定到特定的网络接口，例如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Thread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网状网络接口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(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OT_NETIF_THREAD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收发数据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发送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：通过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otUdpNewMessage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创建消息缓冲区，写入负载数据后，调用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otUdpSend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发送到目标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IPv6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地址和端口。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接收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：当有数据到达时，系统会自动调用在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otUdpOpen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时注册的回调函数来处理消息。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通信结束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：调用 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Menlo"/>
              </a:rPr>
              <a:t>otUdpClose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 关闭套接字以释放资源。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405E-B793-9A45-1065-0BEB03F5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A3883B-56FC-06BF-EC49-84C2E13F057D}"/>
              </a:ext>
            </a:extLst>
          </p:cNvPr>
          <p:cNvSpPr txBox="1"/>
          <p:nvPr/>
        </p:nvSpPr>
        <p:spPr>
          <a:xfrm>
            <a:off x="6855050" y="4018706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Thread-</a:t>
            </a:r>
            <a:r>
              <a:rPr lang="zh-CN" altLang="en-US" sz="2400" dirty="0"/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688494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配置入网流程图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54544A-BC4D-E608-DEE9-E5641F07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04" y="587682"/>
            <a:ext cx="1826496" cy="39889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877B18-7765-23E4-0612-6DA7861A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901" y="1912843"/>
            <a:ext cx="3064291" cy="25486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160702C-B5AD-07DE-E82F-BB46AACA2217}"/>
              </a:ext>
            </a:extLst>
          </p:cNvPr>
          <p:cNvSpPr txBox="1"/>
          <p:nvPr/>
        </p:nvSpPr>
        <p:spPr>
          <a:xfrm>
            <a:off x="4240901" y="1150014"/>
            <a:ext cx="274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2.</a:t>
            </a:r>
            <a:r>
              <a:rPr lang="zh-CN" altLang="en-US" sz="1400" dirty="0"/>
              <a:t>创建</a:t>
            </a:r>
            <a:r>
              <a:rPr lang="en-US" altLang="zh-CN" sz="1400" dirty="0" err="1"/>
              <a:t>openthread</a:t>
            </a:r>
            <a:r>
              <a:rPr lang="zh-CN" altLang="en-US" sz="1400" dirty="0"/>
              <a:t>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AD026A-CC5F-C6DA-6945-2E4A2207A470}"/>
              </a:ext>
            </a:extLst>
          </p:cNvPr>
          <p:cNvSpPr txBox="1"/>
          <p:nvPr/>
        </p:nvSpPr>
        <p:spPr>
          <a:xfrm>
            <a:off x="4240901" y="2318940"/>
            <a:ext cx="274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3.</a:t>
            </a:r>
            <a:r>
              <a:rPr lang="zh-CN" altLang="en-US" sz="1400" dirty="0"/>
              <a:t>注册</a:t>
            </a:r>
            <a:r>
              <a:rPr lang="en-US" altLang="zh-CN" sz="1400" dirty="0"/>
              <a:t>CLI</a:t>
            </a:r>
            <a:r>
              <a:rPr lang="zh-CN" altLang="en-US" sz="1400" dirty="0"/>
              <a:t>命令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879832-5DDF-9654-3F7C-19E4A31C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901" y="2679282"/>
            <a:ext cx="3064291" cy="2706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8438EE9-0635-062B-8861-A247E58C55EB}"/>
              </a:ext>
            </a:extLst>
          </p:cNvPr>
          <p:cNvSpPr txBox="1"/>
          <p:nvPr/>
        </p:nvSpPr>
        <p:spPr>
          <a:xfrm>
            <a:off x="233928" y="3013983"/>
            <a:ext cx="274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4.</a:t>
            </a:r>
            <a:r>
              <a:rPr lang="zh-CN" altLang="en-US" sz="1400" dirty="0"/>
              <a:t>配置网络参数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B279A2B-9A31-36DF-0784-EEC2303D4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28" y="3393841"/>
            <a:ext cx="3837106" cy="5085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E62C3C-D684-DB2C-45E3-EB5A17F81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91" y="3938839"/>
            <a:ext cx="4621721" cy="38219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6E7BCC-48B9-164B-AFB5-DB66E62C52A8}"/>
              </a:ext>
            </a:extLst>
          </p:cNvPr>
          <p:cNvPicPr>
            <a:picLocks/>
          </p:cNvPicPr>
          <p:nvPr/>
        </p:nvPicPr>
        <p:blipFill>
          <a:blip r:embed="rId6"/>
          <a:srcRect b="43530"/>
          <a:stretch>
            <a:fillRect/>
          </a:stretch>
        </p:blipFill>
        <p:spPr>
          <a:xfrm>
            <a:off x="233930" y="1598135"/>
            <a:ext cx="2615952" cy="101205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0584BB7-3E68-3AF9-CF5C-3672EF0E47C8}"/>
              </a:ext>
            </a:extLst>
          </p:cNvPr>
          <p:cNvSpPr txBox="1"/>
          <p:nvPr/>
        </p:nvSpPr>
        <p:spPr>
          <a:xfrm>
            <a:off x="233929" y="1111056"/>
            <a:ext cx="274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en-US" sz="1400" dirty="0"/>
              <a:t>硬件和</a:t>
            </a:r>
            <a:r>
              <a:rPr lang="en-US" altLang="zh-CN" sz="1400" dirty="0"/>
              <a:t>thread</a:t>
            </a:r>
            <a:r>
              <a:rPr lang="zh-CN" altLang="en-US" sz="1400" dirty="0"/>
              <a:t>底层初始化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B574A54-6C2B-20AF-6C4E-654A77F42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901" y="1494257"/>
            <a:ext cx="2143424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DD5E71-CACB-76A3-BED8-945CB3483114}"/>
              </a:ext>
            </a:extLst>
          </p:cNvPr>
          <p:cNvSpPr txBox="1"/>
          <p:nvPr/>
        </p:nvSpPr>
        <p:spPr>
          <a:xfrm>
            <a:off x="215591" y="708223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4.</a:t>
            </a:r>
            <a:r>
              <a:rPr lang="zh-CN" altLang="en-US" sz="1400" dirty="0"/>
              <a:t>设置睡眠</a:t>
            </a:r>
            <a:r>
              <a:rPr lang="en-US" altLang="zh-CN" sz="1400" dirty="0"/>
              <a:t>/</a:t>
            </a:r>
            <a:r>
              <a:rPr lang="zh-CN" altLang="en-US" sz="1400" dirty="0"/>
              <a:t>链路模式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6A5128-5C58-7492-56AC-5BAD2999F7CF}"/>
              </a:ext>
            </a:extLst>
          </p:cNvPr>
          <p:cNvPicPr>
            <a:picLocks/>
          </p:cNvPicPr>
          <p:nvPr/>
        </p:nvPicPr>
        <p:blipFill>
          <a:blip r:embed="rId2"/>
          <a:srcRect t="26717"/>
          <a:stretch>
            <a:fillRect/>
          </a:stretch>
        </p:blipFill>
        <p:spPr>
          <a:xfrm>
            <a:off x="290045" y="1016000"/>
            <a:ext cx="1975635" cy="3077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7D14D4-75B6-0CC1-388D-66C9CAC32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45" y="1693422"/>
            <a:ext cx="2763035" cy="9702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ED8820-75AB-EBA6-9215-F68E87283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93422"/>
            <a:ext cx="2530074" cy="100627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813F312-6E89-3218-94EE-DB3F20D0CB01}"/>
              </a:ext>
            </a:extLst>
          </p:cNvPr>
          <p:cNvSpPr txBox="1"/>
          <p:nvPr/>
        </p:nvSpPr>
        <p:spPr>
          <a:xfrm>
            <a:off x="248846" y="1385645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FTD</a:t>
            </a:r>
            <a:r>
              <a:rPr lang="zh-CN" altLang="en-US" sz="1400" dirty="0"/>
              <a:t>设备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05CBEE-A06B-71C2-DCE1-A73833D0A381}"/>
              </a:ext>
            </a:extLst>
          </p:cNvPr>
          <p:cNvSpPr txBox="1"/>
          <p:nvPr/>
        </p:nvSpPr>
        <p:spPr>
          <a:xfrm>
            <a:off x="4343400" y="1323777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MTD</a:t>
            </a:r>
            <a:r>
              <a:rPr lang="zh-CN" altLang="en-US" sz="1400" dirty="0"/>
              <a:t>设备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87E3413-EA05-61E2-16F5-4B0757E97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45" y="3033293"/>
            <a:ext cx="7762240" cy="105962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50D6BDE-8F42-0BEB-E389-93167E9F9362}"/>
              </a:ext>
            </a:extLst>
          </p:cNvPr>
          <p:cNvSpPr txBox="1"/>
          <p:nvPr/>
        </p:nvSpPr>
        <p:spPr>
          <a:xfrm>
            <a:off x="290045" y="268946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参数含义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初始化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BC3AFD-3051-9528-802D-1BF71BCF7467}"/>
              </a:ext>
            </a:extLst>
          </p:cNvPr>
          <p:cNvSpPr txBox="1"/>
          <p:nvPr/>
        </p:nvSpPr>
        <p:spPr>
          <a:xfrm>
            <a:off x="215591" y="708223"/>
            <a:ext cx="3276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5.</a:t>
            </a:r>
            <a:r>
              <a:rPr lang="zh-CN" altLang="en-US" sz="1400" dirty="0"/>
              <a:t>注册</a:t>
            </a:r>
            <a:r>
              <a:rPr lang="en-US" altLang="zh-CN" sz="1400" dirty="0" err="1"/>
              <a:t>udp</a:t>
            </a:r>
            <a:r>
              <a:rPr lang="en-US" altLang="zh-CN" sz="1400" dirty="0"/>
              <a:t> socket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ota</a:t>
            </a:r>
            <a:r>
              <a:rPr lang="zh-CN" altLang="en-US" sz="1400" dirty="0"/>
              <a:t>和状态变更回调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5A3B8B-EEDC-9537-3CE5-7FA0AD8B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1" y="1074976"/>
            <a:ext cx="5465488" cy="3544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7F5B87-F567-CF40-3E4C-02A31BEC0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91" y="1488425"/>
            <a:ext cx="6840037" cy="4622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EDA9EF-44F5-19E0-DB9B-1E2381A4A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91" y="2390749"/>
            <a:ext cx="6792273" cy="3620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6BA1279-055F-6DBD-AB12-9E8D41CF2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91" y="2851449"/>
            <a:ext cx="8887114" cy="2973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0A260C-E2AC-F6BF-545F-7DDE6E9A9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91" y="3192793"/>
            <a:ext cx="7144747" cy="2857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01CEE74-599D-CA97-3B8D-DB090033D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91" y="3550722"/>
            <a:ext cx="8810422" cy="28498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主循环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2BF66E-45DF-8F73-1E53-A4EEF0D6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2" y="642928"/>
            <a:ext cx="2655322" cy="16165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7F60730-366B-1C05-4AE8-37DDF4E244DC}"/>
              </a:ext>
            </a:extLst>
          </p:cNvPr>
          <p:cNvSpPr txBox="1"/>
          <p:nvPr/>
        </p:nvSpPr>
        <p:spPr>
          <a:xfrm>
            <a:off x="262522" y="2677333"/>
            <a:ext cx="80201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otTaskletsProcess</a:t>
            </a:r>
            <a:r>
              <a:rPr lang="en-US" altLang="zh-CN" sz="1400" dirty="0"/>
              <a:t>(instance);     // </a:t>
            </a:r>
            <a:r>
              <a:rPr lang="zh-CN" altLang="en-US" sz="1400" dirty="0"/>
              <a:t>处理 </a:t>
            </a:r>
            <a:r>
              <a:rPr lang="en-US" altLang="zh-CN" sz="1400" dirty="0" err="1"/>
              <a:t>OpenThread</a:t>
            </a:r>
            <a:r>
              <a:rPr lang="en-US" altLang="zh-CN" sz="1400" dirty="0"/>
              <a:t> </a:t>
            </a:r>
            <a:r>
              <a:rPr lang="zh-CN" altLang="en-US" sz="1400" dirty="0"/>
              <a:t>内部任务队列</a:t>
            </a:r>
          </a:p>
          <a:p>
            <a:r>
              <a:rPr lang="en-US" altLang="zh-CN" sz="1400" dirty="0" err="1"/>
              <a:t>otSysProcessDrivers</a:t>
            </a:r>
            <a:r>
              <a:rPr lang="en-US" altLang="zh-CN" sz="1400" dirty="0"/>
              <a:t>(instance);   // </a:t>
            </a:r>
            <a:r>
              <a:rPr lang="zh-CN" altLang="en-US" sz="1400" dirty="0"/>
              <a:t>处理驱动层事件（收包、定时器等）</a:t>
            </a:r>
          </a:p>
          <a:p>
            <a:r>
              <a:rPr lang="en-US" altLang="zh-CN" sz="1400" dirty="0" err="1"/>
              <a:t>app_udp_message_queue_process</a:t>
            </a:r>
            <a:r>
              <a:rPr lang="en-US" altLang="zh-CN" sz="1400" dirty="0"/>
              <a:t>(); // </a:t>
            </a:r>
            <a:r>
              <a:rPr lang="zh-CN" altLang="en-US" sz="1400" dirty="0"/>
              <a:t>消费 </a:t>
            </a:r>
            <a:r>
              <a:rPr lang="en-US" altLang="zh-CN" sz="1400" dirty="0"/>
              <a:t>UDP </a:t>
            </a:r>
            <a:r>
              <a:rPr lang="zh-CN" altLang="en-US" sz="1400" dirty="0"/>
              <a:t>收包队列，交给 </a:t>
            </a:r>
            <a:r>
              <a:rPr lang="en-US" altLang="zh-CN" sz="1400" dirty="0"/>
              <a:t>CLI </a:t>
            </a:r>
            <a:r>
              <a:rPr lang="zh-CN" altLang="en-US" sz="1400" dirty="0"/>
              <a:t>解析或协议分发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563C95-CD51-D851-EE92-8B42EC797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536" y="945674"/>
            <a:ext cx="5099246" cy="131377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应用层功能概述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5FF6C7D-597F-1F11-7733-C73946F99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310659"/>
              </p:ext>
            </p:extLst>
          </p:nvPr>
        </p:nvGraphicFramePr>
        <p:xfrm>
          <a:off x="115302" y="1575528"/>
          <a:ext cx="8792724" cy="2258060"/>
        </p:xfrm>
        <a:graphic>
          <a:graphicData uri="http://schemas.openxmlformats.org/drawingml/2006/table">
            <a:tbl>
              <a:tblPr/>
              <a:tblGrid>
                <a:gridCol w="2383778">
                  <a:extLst>
                    <a:ext uri="{9D8B030D-6E8A-4147-A177-3AD203B41FA5}">
                      <a16:colId xmlns:a16="http://schemas.microsoft.com/office/drawing/2014/main" val="3395056354"/>
                    </a:ext>
                  </a:extLst>
                </a:gridCol>
                <a:gridCol w="6408946">
                  <a:extLst>
                    <a:ext uri="{9D8B030D-6E8A-4147-A177-3AD203B41FA5}">
                      <a16:colId xmlns:a16="http://schemas.microsoft.com/office/drawing/2014/main" val="1625712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模块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602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229" cap="flat" cmpd="sng" algn="ctr">
                      <a:solidFill>
                        <a:srgbClr val="602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关键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API</a:t>
                      </a: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602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A02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82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UDP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发送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E03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2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3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app_udp_send(dstIp6Addr, buf, len)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E03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A02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9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地址解析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A03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34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3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otIp6AddressFromString()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otIp6AddressToString()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A03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20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3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2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获取 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Leader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地址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A03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3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3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otThreadGetLeaderRloc(instance, &amp;addr)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A03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203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4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85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路由表查询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604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3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4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otThreadGetRloc(instance)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604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604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4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690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OTA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605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4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5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ota_start()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ota_send()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ota_stop()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605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04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07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节点表管理（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effectLst/>
                        </a:rPr>
                        <a:t>FTD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205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5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5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net_mgm_node_table_display()</a:t>
                      </a:r>
                      <a:r>
                        <a:rPr lang="nl-NL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nl-NL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net_mgm_node_reset_send()</a:t>
                      </a:r>
                      <a:endParaRPr lang="nl-NL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205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A0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205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7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ctrl 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控制（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FTD）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</a:rPr>
                        <a:t>（自定协议）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>
                      <a:noFill/>
                    </a:lnL>
                    <a:lnR w="4229" cap="flat" cmpd="sng" algn="ctr">
                      <a:solidFill>
                        <a:srgbClr val="A0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205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ctrl_detach_send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ctrl_whitelist_send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ctrl_child_timeout_send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 / 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ctrl_reattach_send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100" marR="38100" marT="25400" marB="25400" anchor="ctr">
                    <a:lnL w="4229" cap="flat" cmpd="sng" algn="ctr">
                      <a:solidFill>
                        <a:srgbClr val="A053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205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304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96AE-7BCC-E296-44F3-84F532FBA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DFE2CD-3D32-2D86-14A9-93CBE3E7A109}"/>
              </a:ext>
            </a:extLst>
          </p:cNvPr>
          <p:cNvSpPr txBox="1"/>
          <p:nvPr/>
        </p:nvSpPr>
        <p:spPr>
          <a:xfrm>
            <a:off x="6389001" y="3991536"/>
            <a:ext cx="2572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Thread-CLI</a:t>
            </a:r>
            <a:r>
              <a:rPr lang="zh-CN" altLang="en-US" sz="2400" dirty="0"/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153405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网络状态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91445D-F74E-22A7-3F8D-C40CC3527EC5}"/>
              </a:ext>
            </a:extLst>
          </p:cNvPr>
          <p:cNvSpPr txBox="1"/>
          <p:nvPr/>
        </p:nvSpPr>
        <p:spPr>
          <a:xfrm>
            <a:off x="284615" y="1910030"/>
            <a:ext cx="84221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state   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查看当前角色 (disabled/detached/child/router/leader)</a:t>
            </a:r>
          </a:p>
          <a:p>
            <a:r>
              <a:rPr lang="zh-CN" altLang="en-US" sz="1600" dirty="0"/>
              <a:t>ipaddr  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查看本机所有 IPv6 地址</a:t>
            </a:r>
          </a:p>
          <a:p>
            <a:r>
              <a:rPr lang="zh-CN" altLang="en-US" sz="1600" dirty="0"/>
              <a:t>rloc16  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 RLOC16 短地址</a:t>
            </a:r>
          </a:p>
          <a:p>
            <a:r>
              <a:rPr lang="zh-CN" altLang="en-US" sz="1600" dirty="0"/>
              <a:t>extaddr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查看扩展 MAC 地址</a:t>
            </a:r>
          </a:p>
          <a:p>
            <a:r>
              <a:rPr lang="zh-CN" altLang="en-US" sz="1600" dirty="0"/>
              <a:t>parent  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 Parent 信息（子节点用）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子节点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邻居表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DB5206-AB88-A04D-4B83-280D9DE9E24F}"/>
              </a:ext>
            </a:extLst>
          </p:cNvPr>
          <p:cNvSpPr txBox="1"/>
          <p:nvPr/>
        </p:nvSpPr>
        <p:spPr>
          <a:xfrm>
            <a:off x="266448" y="2166023"/>
            <a:ext cx="74787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child table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查看所有子节点列表</a:t>
            </a:r>
          </a:p>
          <a:p>
            <a:r>
              <a:rPr lang="zh-CN" altLang="en-US" sz="1600" dirty="0"/>
              <a:t>neighbor table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查看邻居节点列表</a:t>
            </a:r>
          </a:p>
          <a:p>
            <a:r>
              <a:rPr lang="zh-CN" altLang="en-US" sz="1600" dirty="0"/>
              <a:t>childtimeout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查看子节点超时时间（秒）</a:t>
            </a:r>
          </a:p>
          <a:p>
            <a:r>
              <a:rPr lang="zh-CN" altLang="en-US" sz="1600" dirty="0"/>
              <a:t>childtimeout 240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设置子节点超时时间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UDP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通信测试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599848-6876-8C2C-D5AA-D5018E9A9CEE}"/>
              </a:ext>
            </a:extLst>
          </p:cNvPr>
          <p:cNvSpPr txBox="1"/>
          <p:nvPr/>
        </p:nvSpPr>
        <p:spPr>
          <a:xfrm>
            <a:off x="265470" y="2385179"/>
            <a:ext cx="79582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udp open                       </a:t>
            </a:r>
            <a:r>
              <a:rPr lang="en-US" altLang="zh-CN" sz="1600" dirty="0"/>
              <a:t>		</a:t>
            </a:r>
            <a:r>
              <a:rPr lang="zh-CN" altLang="en-US" sz="1600" dirty="0"/>
              <a:t># 打开 UDP socket</a:t>
            </a:r>
          </a:p>
          <a:p>
            <a:r>
              <a:rPr lang="zh-CN" altLang="en-US" sz="1600" dirty="0"/>
              <a:t>udp bind :: 1234               </a:t>
            </a:r>
            <a:r>
              <a:rPr lang="en-US" altLang="zh-CN" sz="1600" dirty="0"/>
              <a:t>		</a:t>
            </a:r>
            <a:r>
              <a:rPr lang="zh-CN" altLang="en-US" sz="1600" dirty="0"/>
              <a:t># 绑定本机所有接口的 1234 端口</a:t>
            </a:r>
          </a:p>
          <a:p>
            <a:r>
              <a:rPr lang="zh-CN" altLang="en-US" sz="1600" dirty="0"/>
              <a:t>udp send &lt;IPv6地址&gt; 1234 hello      </a:t>
            </a:r>
            <a:r>
              <a:rPr lang="en-US" altLang="zh-CN" sz="1600" dirty="0"/>
              <a:t>	</a:t>
            </a:r>
            <a:r>
              <a:rPr lang="zh-CN" altLang="en-US" sz="1600" dirty="0"/>
              <a:t># 发送数据到目标</a:t>
            </a:r>
          </a:p>
          <a:p>
            <a:r>
              <a:rPr lang="zh-CN" altLang="en-US" sz="1600" dirty="0"/>
              <a:t>udp close                      </a:t>
            </a:r>
            <a:r>
              <a:rPr lang="en-US" altLang="zh-CN" sz="1600" dirty="0"/>
              <a:t>		</a:t>
            </a:r>
            <a:r>
              <a:rPr lang="zh-CN" altLang="en-US" sz="1600" dirty="0"/>
              <a:t># 关闭 UDP socket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网络加入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离开和网络扫描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C10FFD-D05D-FEAD-30FC-0DDA7E96363E}"/>
              </a:ext>
            </a:extLst>
          </p:cNvPr>
          <p:cNvSpPr txBox="1"/>
          <p:nvPr/>
        </p:nvSpPr>
        <p:spPr>
          <a:xfrm>
            <a:off x="215591" y="1417956"/>
            <a:ext cx="66424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ifconfig up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启用 IPv6 接口</a:t>
            </a:r>
          </a:p>
          <a:p>
            <a:r>
              <a:rPr lang="zh-CN" altLang="en-US" sz="1600" dirty="0"/>
              <a:t>thread start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启动 Thread 协议栈</a:t>
            </a:r>
          </a:p>
          <a:p>
            <a:r>
              <a:rPr lang="zh-CN" altLang="en-US" sz="1600" dirty="0"/>
              <a:t>thread stop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停止 Thread 协议栈</a:t>
            </a:r>
          </a:p>
          <a:p>
            <a:r>
              <a:rPr lang="zh-CN" altLang="en-US" sz="1600" dirty="0"/>
              <a:t>detach      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主动断开网络</a:t>
            </a:r>
          </a:p>
          <a:p>
            <a:r>
              <a:rPr lang="zh-CN" altLang="en-US" sz="1600" dirty="0"/>
              <a:t>factoryreset                   </a:t>
            </a:r>
            <a:r>
              <a:rPr lang="en-US" altLang="zh-CN" sz="1600" dirty="0"/>
              <a:t>	</a:t>
            </a:r>
            <a:r>
              <a:rPr lang="zh-CN" altLang="en-US" sz="1600" dirty="0"/>
              <a:t># 恢复出厂设置（清除所有配置）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scan                           	# </a:t>
            </a:r>
            <a:r>
              <a:rPr lang="zh-CN" altLang="en-US" sz="1600" dirty="0"/>
              <a:t>扫描附近 </a:t>
            </a:r>
            <a:r>
              <a:rPr lang="en-US" altLang="zh-CN" sz="1600" dirty="0"/>
              <a:t>Thread </a:t>
            </a:r>
            <a:r>
              <a:rPr lang="zh-CN" altLang="en-US" sz="1600" dirty="0"/>
              <a:t>网络</a:t>
            </a:r>
          </a:p>
          <a:p>
            <a:r>
              <a:rPr lang="en-US" altLang="zh-CN" sz="1600" dirty="0"/>
              <a:t>scan energy                    	# </a:t>
            </a:r>
            <a:r>
              <a:rPr lang="zh-CN" altLang="en-US" sz="1600" dirty="0"/>
              <a:t>信道能量扫描（</a:t>
            </a:r>
            <a:r>
              <a:rPr lang="en-US" altLang="zh-CN" sz="1600" dirty="0"/>
              <a:t>RSSI</a:t>
            </a:r>
            <a:r>
              <a:rPr lang="zh-CN" altLang="en-US" sz="1600" dirty="0"/>
              <a:t>）</a:t>
            </a:r>
          </a:p>
          <a:p>
            <a:r>
              <a:rPr lang="en-US" altLang="zh-CN" sz="1600" dirty="0"/>
              <a:t>discover                       	# </a:t>
            </a:r>
            <a:r>
              <a:rPr lang="zh-CN" altLang="en-US" sz="1600" dirty="0"/>
              <a:t>发现可加入的 </a:t>
            </a:r>
            <a:r>
              <a:rPr lang="en-US" altLang="zh-CN" sz="1600" dirty="0"/>
              <a:t>Thread </a:t>
            </a:r>
            <a:r>
              <a:rPr lang="zh-CN" altLang="en-US" sz="1600" dirty="0"/>
              <a:t>网络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网络参数查询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B78482-53CE-22D8-A8AA-7021B764C01B}"/>
              </a:ext>
            </a:extLst>
          </p:cNvPr>
          <p:cNvSpPr txBox="1"/>
          <p:nvPr/>
        </p:nvSpPr>
        <p:spPr>
          <a:xfrm>
            <a:off x="395257" y="1556456"/>
            <a:ext cx="64627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channel                        	# </a:t>
            </a:r>
            <a:r>
              <a:rPr lang="zh-CN" altLang="en-US" sz="1600" dirty="0"/>
              <a:t>查看当前信道</a:t>
            </a:r>
          </a:p>
          <a:p>
            <a:r>
              <a:rPr lang="en-US" altLang="zh-CN" sz="1600" dirty="0" err="1"/>
              <a:t>panid</a:t>
            </a:r>
            <a:r>
              <a:rPr lang="en-US" altLang="zh-CN" sz="1600" dirty="0"/>
              <a:t>                          	# </a:t>
            </a:r>
            <a:r>
              <a:rPr lang="zh-CN" altLang="en-US" sz="1600" dirty="0"/>
              <a:t>查看 </a:t>
            </a:r>
            <a:r>
              <a:rPr lang="en-US" altLang="zh-CN" sz="1600" dirty="0"/>
              <a:t>PAN ID</a:t>
            </a:r>
          </a:p>
          <a:p>
            <a:r>
              <a:rPr lang="en-US" altLang="zh-CN" sz="1600" dirty="0" err="1"/>
              <a:t>networkname</a:t>
            </a:r>
            <a:r>
              <a:rPr lang="en-US" altLang="zh-CN" sz="1600" dirty="0"/>
              <a:t>                    	# </a:t>
            </a:r>
            <a:r>
              <a:rPr lang="zh-CN" altLang="en-US" sz="1600" dirty="0"/>
              <a:t>查看网络名称</a:t>
            </a:r>
          </a:p>
          <a:p>
            <a:r>
              <a:rPr lang="en-US" altLang="zh-CN" sz="1600" dirty="0" err="1"/>
              <a:t>networkkey</a:t>
            </a:r>
            <a:r>
              <a:rPr lang="en-US" altLang="zh-CN" sz="1600" dirty="0"/>
              <a:t>                     	# </a:t>
            </a:r>
            <a:r>
              <a:rPr lang="zh-CN" altLang="en-US" sz="1600" dirty="0"/>
              <a:t>查看网络密钥</a:t>
            </a:r>
          </a:p>
          <a:p>
            <a:r>
              <a:rPr lang="en-US" altLang="zh-CN" sz="1600" dirty="0" err="1"/>
              <a:t>leaderdata</a:t>
            </a:r>
            <a:r>
              <a:rPr lang="en-US" altLang="zh-CN" sz="1600" dirty="0"/>
              <a:t>                     	# </a:t>
            </a:r>
            <a:r>
              <a:rPr lang="zh-CN" altLang="en-US" sz="1600" dirty="0"/>
              <a:t>查看 </a:t>
            </a:r>
            <a:r>
              <a:rPr lang="en-US" altLang="zh-CN" sz="1600" dirty="0"/>
              <a:t>Leader </a:t>
            </a:r>
            <a:r>
              <a:rPr lang="zh-CN" altLang="en-US" sz="1600" dirty="0"/>
              <a:t>数据</a:t>
            </a:r>
          </a:p>
          <a:p>
            <a:r>
              <a:rPr lang="en-US" altLang="zh-CN" sz="1600" dirty="0"/>
              <a:t>netstat                        	# </a:t>
            </a:r>
            <a:r>
              <a:rPr lang="zh-CN" altLang="en-US" sz="1600" dirty="0"/>
              <a:t>查看 </a:t>
            </a:r>
            <a:r>
              <a:rPr lang="en-US" altLang="zh-CN" sz="1600" dirty="0"/>
              <a:t>socket </a:t>
            </a:r>
            <a:r>
              <a:rPr lang="zh-CN" altLang="en-US" sz="1600" dirty="0"/>
              <a:t>连接状态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Ping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连通测试和计数器 </a:t>
            </a:r>
            <a:r>
              <a:rPr lang="en-US" altLang="zh-CN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诊断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717F1B-0EF6-0B00-691D-DA023069B605}"/>
              </a:ext>
            </a:extLst>
          </p:cNvPr>
          <p:cNvSpPr txBox="1"/>
          <p:nvPr/>
        </p:nvSpPr>
        <p:spPr>
          <a:xfrm>
            <a:off x="215591" y="1308411"/>
            <a:ext cx="62680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ping &lt;IPv6</a:t>
            </a:r>
            <a:r>
              <a:rPr lang="zh-CN" altLang="en-US" sz="1600" dirty="0"/>
              <a:t>地址</a:t>
            </a:r>
            <a:r>
              <a:rPr lang="en-US" altLang="zh-CN" sz="1600" dirty="0"/>
              <a:t>&gt;                 # </a:t>
            </a:r>
            <a:r>
              <a:rPr lang="zh-CN" altLang="en-US" sz="1600" dirty="0"/>
              <a:t>发送 </a:t>
            </a:r>
            <a:r>
              <a:rPr lang="en-US" altLang="zh-CN" sz="1600" dirty="0"/>
              <a:t>ICMPv6 ping</a:t>
            </a:r>
          </a:p>
          <a:p>
            <a:r>
              <a:rPr lang="en-US" altLang="zh-CN" sz="1600" dirty="0"/>
              <a:t>ping &lt;IPv6</a:t>
            </a:r>
            <a:r>
              <a:rPr lang="zh-CN" altLang="en-US" sz="1600" dirty="0"/>
              <a:t>地址</a:t>
            </a:r>
            <a:r>
              <a:rPr lang="en-US" altLang="zh-CN" sz="1600" dirty="0"/>
              <a:t>&gt; 64 5 1000       # 64</a:t>
            </a:r>
            <a:r>
              <a:rPr lang="zh-CN" altLang="en-US" sz="1600" dirty="0"/>
              <a:t>字节，发</a:t>
            </a:r>
            <a:r>
              <a:rPr lang="en-US" altLang="zh-CN" sz="1600" dirty="0"/>
              <a:t>5</a:t>
            </a:r>
            <a:r>
              <a:rPr lang="zh-CN" altLang="en-US" sz="1600" dirty="0"/>
              <a:t>次，间隔</a:t>
            </a:r>
            <a:r>
              <a:rPr lang="en-US" altLang="zh-CN" sz="1600" dirty="0"/>
              <a:t>1000ms</a:t>
            </a:r>
          </a:p>
          <a:p>
            <a:r>
              <a:rPr lang="en-US" altLang="zh-CN" sz="1600" dirty="0"/>
              <a:t>ping stop                      # </a:t>
            </a:r>
            <a:r>
              <a:rPr lang="zh-CN" altLang="en-US" sz="1600" dirty="0"/>
              <a:t>停止 </a:t>
            </a:r>
            <a:r>
              <a:rPr lang="en-US" altLang="zh-CN" sz="1600" dirty="0"/>
              <a:t>ping</a:t>
            </a:r>
          </a:p>
          <a:p>
            <a:endParaRPr lang="en-US" altLang="zh-CN" sz="1600" dirty="0"/>
          </a:p>
          <a:p>
            <a:r>
              <a:rPr lang="en-US" altLang="zh-CN" sz="1600" dirty="0"/>
              <a:t>counters mac                   # MAC </a:t>
            </a:r>
            <a:r>
              <a:rPr lang="zh-CN" altLang="en-US" sz="1600" dirty="0"/>
              <a:t>层收发计数</a:t>
            </a:r>
          </a:p>
          <a:p>
            <a:r>
              <a:rPr lang="en-US" altLang="zh-CN" sz="1600" dirty="0"/>
              <a:t>counters </a:t>
            </a:r>
            <a:r>
              <a:rPr lang="en-US" altLang="zh-CN" sz="1600" dirty="0" err="1"/>
              <a:t>mle</a:t>
            </a:r>
            <a:r>
              <a:rPr lang="en-US" altLang="zh-CN" sz="1600" dirty="0"/>
              <a:t>                   # MLE </a:t>
            </a:r>
            <a:r>
              <a:rPr lang="zh-CN" altLang="en-US" sz="1600" dirty="0"/>
              <a:t>层计数</a:t>
            </a:r>
          </a:p>
          <a:p>
            <a:r>
              <a:rPr lang="en-US" altLang="zh-CN" sz="1600" dirty="0" err="1"/>
              <a:t>bufferinfo</a:t>
            </a:r>
            <a:r>
              <a:rPr lang="en-US" altLang="zh-CN" sz="1600" dirty="0"/>
              <a:t>                     # </a:t>
            </a:r>
            <a:r>
              <a:rPr lang="zh-CN" altLang="en-US" sz="1600" dirty="0"/>
              <a:t>消息缓冲区使用情况</a:t>
            </a:r>
          </a:p>
          <a:p>
            <a:r>
              <a:rPr lang="en-US" altLang="zh-CN" sz="1600" dirty="0"/>
              <a:t>mode                           # </a:t>
            </a:r>
            <a:r>
              <a:rPr lang="zh-CN" altLang="en-US" sz="1600" dirty="0"/>
              <a:t>查看设备模式 </a:t>
            </a:r>
            <a:r>
              <a:rPr lang="en-US" altLang="zh-CN" sz="1600" dirty="0"/>
              <a:t>(r/d/n)</a:t>
            </a:r>
          </a:p>
          <a:p>
            <a:r>
              <a:rPr lang="en-US" altLang="zh-CN" sz="1600" dirty="0" err="1"/>
              <a:t>pollperiod</a:t>
            </a:r>
            <a:r>
              <a:rPr lang="en-US" altLang="zh-CN" sz="1600" dirty="0"/>
              <a:t>                     # </a:t>
            </a:r>
            <a:r>
              <a:rPr lang="zh-CN" altLang="en-US" sz="1600" dirty="0"/>
              <a:t>查看</a:t>
            </a:r>
            <a:r>
              <a:rPr lang="en-US" altLang="zh-CN" sz="1600" dirty="0"/>
              <a:t>/</a:t>
            </a:r>
            <a:r>
              <a:rPr lang="zh-CN" altLang="en-US" sz="1600" dirty="0"/>
              <a:t>设置 </a:t>
            </a:r>
            <a:r>
              <a:rPr lang="en-US" altLang="zh-CN" sz="1600" dirty="0"/>
              <a:t>poll </a:t>
            </a:r>
            <a:r>
              <a:rPr lang="zh-CN" altLang="en-US" sz="1600" dirty="0"/>
              <a:t>周期（</a:t>
            </a:r>
            <a:r>
              <a:rPr lang="en-US" altLang="zh-CN" sz="1600" dirty="0"/>
              <a:t>MTD </a:t>
            </a:r>
            <a:r>
              <a:rPr lang="zh-CN" altLang="en-US" sz="1600" dirty="0"/>
              <a:t>节能关键参数）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/>
          <p:nvPr/>
        </p:nvSpPr>
        <p:spPr>
          <a:xfrm>
            <a:off x="215591" y="120567"/>
            <a:ext cx="8745530" cy="4671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400" b="1" spc="-38" dirty="0">
                <a:solidFill>
                  <a:srgbClr val="DFC27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Rafael Micro</a:t>
            </a:r>
            <a:r>
              <a:rPr lang="en-US" altLang="zh-TW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</a:t>
            </a:r>
            <a:r>
              <a:rPr lang="zh-CN" altLang="en-US" sz="2400" b="1" spc="-38" dirty="0">
                <a:solidFill>
                  <a:srgbClr val="3D566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自定义命令</a:t>
            </a:r>
            <a:endParaRPr lang="en-US" altLang="zh-TW" sz="2400" b="1" spc="-38" dirty="0">
              <a:solidFill>
                <a:srgbClr val="3D566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020C70-AF0F-C3E8-2C34-574642DA7CE4}"/>
              </a:ext>
            </a:extLst>
          </p:cNvPr>
          <p:cNvSpPr txBox="1"/>
          <p:nvPr/>
        </p:nvSpPr>
        <p:spPr>
          <a:xfrm>
            <a:off x="215591" y="1792971"/>
            <a:ext cx="64096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led on                         # </a:t>
            </a:r>
            <a:r>
              <a:rPr lang="zh-CN" altLang="en-US" sz="1600" dirty="0"/>
              <a:t>点亮 </a:t>
            </a:r>
            <a:r>
              <a:rPr lang="en-US" altLang="zh-CN" sz="1600" dirty="0"/>
              <a:t>LED</a:t>
            </a:r>
            <a:r>
              <a:rPr lang="zh-CN" altLang="en-US" sz="1600" dirty="0"/>
              <a:t>（需先通过 </a:t>
            </a:r>
            <a:r>
              <a:rPr lang="en-US" altLang="zh-CN" sz="1600" dirty="0"/>
              <a:t>UDP </a:t>
            </a:r>
            <a:r>
              <a:rPr lang="zh-CN" altLang="en-US" sz="1600" dirty="0"/>
              <a:t>接收触发）</a:t>
            </a:r>
          </a:p>
          <a:p>
            <a:r>
              <a:rPr lang="en-US" altLang="zh-CN" sz="1600" dirty="0"/>
              <a:t>led off                        # </a:t>
            </a:r>
            <a:r>
              <a:rPr lang="zh-CN" altLang="en-US" sz="1600" dirty="0"/>
              <a:t>关闭 </a:t>
            </a:r>
            <a:r>
              <a:rPr lang="en-US" altLang="zh-CN" sz="1600" dirty="0"/>
              <a:t>LED</a:t>
            </a:r>
          </a:p>
          <a:p>
            <a:r>
              <a:rPr lang="en-US" altLang="zh-CN" sz="1600" dirty="0"/>
              <a:t>led toggle                     # </a:t>
            </a:r>
            <a:r>
              <a:rPr lang="zh-CN" altLang="en-US" sz="1600" dirty="0"/>
              <a:t>切换 </a:t>
            </a:r>
            <a:r>
              <a:rPr lang="en-US" altLang="zh-CN" sz="1600" dirty="0"/>
              <a:t>LED </a:t>
            </a:r>
            <a:r>
              <a:rPr lang="zh-CN" altLang="en-US" sz="1600" dirty="0"/>
              <a:t>状态</a:t>
            </a:r>
          </a:p>
          <a:p>
            <a:r>
              <a:rPr lang="en-US" altLang="zh-CN" sz="1600" dirty="0"/>
              <a:t>led on ack                     # </a:t>
            </a:r>
            <a:r>
              <a:rPr lang="zh-CN" altLang="en-US" sz="1600" dirty="0"/>
              <a:t>点亮 </a:t>
            </a:r>
            <a:r>
              <a:rPr lang="en-US" altLang="zh-CN" sz="1600" dirty="0"/>
              <a:t>LED </a:t>
            </a:r>
            <a:r>
              <a:rPr lang="zh-CN" altLang="en-US" sz="1600" dirty="0"/>
              <a:t>并回</a:t>
            </a:r>
            <a:r>
              <a:rPr lang="en-US" altLang="zh-CN" sz="1600" dirty="0"/>
              <a:t>ACK</a:t>
            </a:r>
          </a:p>
          <a:p>
            <a:r>
              <a:rPr lang="en-US" altLang="zh-CN" sz="1600" dirty="0" err="1"/>
              <a:t>mcu</a:t>
            </a:r>
            <a:r>
              <a:rPr lang="en-US" altLang="zh-CN" sz="1600" dirty="0"/>
              <a:t> read runtime               # </a:t>
            </a:r>
            <a:r>
              <a:rPr lang="zh-CN" altLang="en-US" sz="1600" dirty="0"/>
              <a:t>回报 </a:t>
            </a:r>
            <a:r>
              <a:rPr lang="en-US" altLang="zh-CN" sz="1600" dirty="0"/>
              <a:t>MCU </a:t>
            </a:r>
            <a:r>
              <a:rPr lang="zh-CN" altLang="en-US" sz="1600" dirty="0"/>
              <a:t>运行时间</a:t>
            </a:r>
          </a:p>
          <a:p>
            <a:r>
              <a:rPr lang="en-US" altLang="zh-CN" sz="1600" dirty="0" err="1"/>
              <a:t>mcu</a:t>
            </a:r>
            <a:r>
              <a:rPr lang="en-US" altLang="zh-CN" sz="1600" dirty="0"/>
              <a:t> read version               # </a:t>
            </a:r>
            <a:r>
              <a:rPr lang="zh-CN" altLang="en-US" sz="1600" dirty="0"/>
              <a:t>回报固件版本</a:t>
            </a:r>
          </a:p>
          <a:p>
            <a:r>
              <a:rPr lang="en-US" altLang="zh-CN" sz="1600" dirty="0" err="1"/>
              <a:t>ledack</a:t>
            </a:r>
            <a:r>
              <a:rPr lang="en-US" altLang="zh-CN" sz="1600" dirty="0"/>
              <a:t> &lt;msg&gt;                   # </a:t>
            </a:r>
            <a:r>
              <a:rPr lang="zh-CN" altLang="en-US" sz="1600" dirty="0"/>
              <a:t>处理 </a:t>
            </a:r>
            <a:r>
              <a:rPr lang="en-US" altLang="zh-CN" sz="1600" dirty="0"/>
              <a:t>LED ACK </a:t>
            </a:r>
            <a:r>
              <a:rPr lang="zh-CN" altLang="en-US" sz="1600" dirty="0"/>
              <a:t>回报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3067</Words>
  <Application>Microsoft Office PowerPoint</Application>
  <PresentationFormat>全屏显示(16:9)</PresentationFormat>
  <Paragraphs>333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Menlo</vt:lpstr>
      <vt:lpstr>quote-cjk-patch</vt:lpstr>
      <vt:lpstr>ui-monospace</vt:lpstr>
      <vt:lpstr>ui-sans-serif</vt:lpstr>
      <vt:lpstr>Verdana-Bold</vt:lpstr>
      <vt:lpstr>ZapfDingbats</vt:lpstr>
      <vt:lpstr>Arial</vt:lpstr>
      <vt:lpstr>Calibri</vt:lpstr>
      <vt:lpstr>Consolas</vt:lpstr>
      <vt:lpstr>Roboto</vt:lpstr>
      <vt:lpstr>Roboto Mono</vt:lpstr>
      <vt:lpstr>Office 佈景主題</vt:lpstr>
      <vt:lpstr>Thread学习总结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公司新版政策語錄</dc:title>
  <dc:creator>KW31_陳柏廷(Point.Chen)</dc:creator>
  <cp:lastModifiedBy>梦 幽</cp:lastModifiedBy>
  <cp:revision>1172</cp:revision>
  <cp:lastPrinted>2023-11-14T06:51:00Z</cp:lastPrinted>
  <dcterms:created xsi:type="dcterms:W3CDTF">2021-05-06T16:03:00Z</dcterms:created>
  <dcterms:modified xsi:type="dcterms:W3CDTF">2026-05-12T07:09:56Z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D9AE0C1BF70A4BCCBFDCEF3FE7FF5A56_12</vt:lpwstr>
  </property>
</Properties>
</file>