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721" r:id="rId2"/>
    <p:sldId id="754" r:id="rId3"/>
    <p:sldId id="720" r:id="rId4"/>
    <p:sldId id="722" r:id="rId5"/>
    <p:sldId id="723" r:id="rId6"/>
    <p:sldId id="724" r:id="rId7"/>
    <p:sldId id="725" r:id="rId8"/>
    <p:sldId id="726" r:id="rId9"/>
    <p:sldId id="727" r:id="rId10"/>
    <p:sldId id="756" r:id="rId11"/>
    <p:sldId id="757" r:id="rId12"/>
    <p:sldId id="728" r:id="rId13"/>
    <p:sldId id="755" r:id="rId14"/>
    <p:sldId id="729" r:id="rId15"/>
    <p:sldId id="730" r:id="rId16"/>
    <p:sldId id="731" r:id="rId17"/>
    <p:sldId id="732" r:id="rId18"/>
    <p:sldId id="733" r:id="rId19"/>
    <p:sldId id="734" r:id="rId20"/>
    <p:sldId id="758" r:id="rId21"/>
    <p:sldId id="735" r:id="rId22"/>
    <p:sldId id="736" r:id="rId23"/>
    <p:sldId id="737" r:id="rId24"/>
    <p:sldId id="738" r:id="rId25"/>
    <p:sldId id="739" r:id="rId26"/>
    <p:sldId id="740" r:id="rId27"/>
    <p:sldId id="759" r:id="rId28"/>
    <p:sldId id="741" r:id="rId29"/>
    <p:sldId id="742" r:id="rId30"/>
    <p:sldId id="743" r:id="rId31"/>
    <p:sldId id="745" r:id="rId32"/>
    <p:sldId id="760" r:id="rId33"/>
    <p:sldId id="744" r:id="rId34"/>
    <p:sldId id="746" r:id="rId35"/>
    <p:sldId id="747" r:id="rId36"/>
    <p:sldId id="748" r:id="rId37"/>
    <p:sldId id="749" r:id="rId38"/>
    <p:sldId id="750" r:id="rId39"/>
    <p:sldId id="761" r:id="rId40"/>
    <p:sldId id="762" r:id="rId41"/>
    <p:sldId id="751" r:id="rId42"/>
    <p:sldId id="752" r:id="rId43"/>
    <p:sldId id="753" r:id="rId44"/>
    <p:sldId id="769" r:id="rId45"/>
    <p:sldId id="719" r:id="rId46"/>
  </p:sldIdLst>
  <p:sldSz cx="9144000" cy="5143500" type="screen16x9"/>
  <p:notesSz cx="6807200" cy="99393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346E78"/>
    <a:srgbClr val="E7EEBA"/>
    <a:srgbClr val="96C9D2"/>
    <a:srgbClr val="C1E0E5"/>
    <a:srgbClr val="DCEDF0"/>
    <a:srgbClr val="C24E4E"/>
    <a:srgbClr val="99B323"/>
    <a:srgbClr val="E8B128"/>
    <a:srgbClr val="ABA7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淺色樣式 1 - 輔色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BDBED569-4797-4DF1-A0F4-6AAB3CD982D8}" styleName="淺色樣式 3 - 輔色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佈景主題樣式 2 - 輔色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淺色樣式 2 - 輔色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A488322-F2BA-4B5B-9748-0D474271808F}" styleName="中等深淺樣式 3 - 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56" autoAdjust="0"/>
    <p:restoredTop sz="93219" autoAdjust="0"/>
  </p:normalViewPr>
  <p:slideViewPr>
    <p:cSldViewPr snapToGrid="0" snapToObjects="1">
      <p:cViewPr>
        <p:scale>
          <a:sx n="125" d="100"/>
          <a:sy n="125" d="100"/>
        </p:scale>
        <p:origin x="44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 snapToGrid="0" snapToObjects="1">
      <p:cViewPr varScale="1">
        <p:scale>
          <a:sx n="61" d="100"/>
          <a:sy n="61" d="100"/>
        </p:scale>
        <p:origin x="3168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F83C5B-193A-4BF8-A82E-7EEB60FC9D06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FA2EFD-17CF-42D6-A0C8-2B54CA1B5FB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55376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36A0AF-27EE-2F44-8E2A-D118AC8FD312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FF2086-D505-2D44-8947-B67946DAF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528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image" Target="../media/image2.tmp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畫面剪輯"/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" t="648" r="542" b="24906"/>
          <a:stretch/>
        </p:blipFill>
        <p:spPr>
          <a:xfrm>
            <a:off x="0" y="-2250"/>
            <a:ext cx="9144000" cy="514800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0" y="-2250"/>
            <a:ext cx="9144000" cy="5148000"/>
          </a:xfrm>
          <a:prstGeom prst="rect">
            <a:avLst/>
          </a:prstGeom>
          <a:solidFill>
            <a:schemeClr val="tx1">
              <a:lumMod val="75000"/>
              <a:lumOff val="25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矩形 11"/>
          <p:cNvSpPr/>
          <p:nvPr userDrawn="1"/>
        </p:nvSpPr>
        <p:spPr>
          <a:xfrm>
            <a:off x="4571964" y="2970854"/>
            <a:ext cx="3888134" cy="1550031"/>
          </a:xfrm>
          <a:prstGeom prst="rect">
            <a:avLst/>
          </a:prstGeom>
        </p:spPr>
        <p:txBody>
          <a:bodyPr wrap="square" lIns="36000" tIns="36000" rIns="36000" bIns="36000" anchor="ctr">
            <a:spAutoFit/>
          </a:bodyPr>
          <a:lstStyle/>
          <a:p>
            <a:pPr marL="0" indent="0" algn="just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1000" dirty="0" err="1">
                <a:solidFill>
                  <a:schemeClr val="bg2">
                    <a:lumMod val="75000"/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Michaelango</a:t>
            </a:r>
            <a:r>
              <a:rPr lang="en-US" sz="1000" dirty="0">
                <a:solidFill>
                  <a:schemeClr val="bg2">
                    <a:lumMod val="75000"/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Leonardo da Vinci and Rafael (</a:t>
            </a:r>
            <a:r>
              <a:rPr lang="en-US" sz="1000" dirty="0" err="1">
                <a:solidFill>
                  <a:schemeClr val="bg2">
                    <a:lumMod val="75000"/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Raffaello</a:t>
            </a:r>
            <a:r>
              <a:rPr lang="en-US" sz="1000" dirty="0">
                <a:solidFill>
                  <a:schemeClr val="bg2">
                    <a:lumMod val="75000"/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000" dirty="0" err="1">
                <a:solidFill>
                  <a:schemeClr val="bg2">
                    <a:lumMod val="75000"/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Sanzio</a:t>
            </a:r>
            <a:r>
              <a:rPr lang="en-US" sz="1000" dirty="0">
                <a:solidFill>
                  <a:schemeClr val="bg2">
                    <a:lumMod val="75000"/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 Italian) are the famous three Masters of the Italian Renaissance.</a:t>
            </a:r>
          </a:p>
          <a:p>
            <a:pPr marL="0" indent="0" algn="just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sz="1000" dirty="0">
              <a:solidFill>
                <a:schemeClr val="bg2">
                  <a:lumMod val="75000"/>
                  <a:alpha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1000" dirty="0">
                <a:solidFill>
                  <a:schemeClr val="bg2">
                    <a:lumMod val="75000"/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They creatively excelled in both science and art so their works influenced the future of Western culture.</a:t>
            </a:r>
          </a:p>
          <a:p>
            <a:pPr marL="0" indent="0" algn="just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sz="1000" dirty="0">
              <a:solidFill>
                <a:schemeClr val="bg2">
                  <a:lumMod val="75000"/>
                  <a:alpha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1000" dirty="0">
                <a:solidFill>
                  <a:schemeClr val="bg2">
                    <a:lumMod val="75000"/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Radio frequency technology is commonly called RF thus we have adopted Rafael’s name for its R and F.</a:t>
            </a:r>
          </a:p>
        </p:txBody>
      </p:sp>
      <p:sp>
        <p:nvSpPr>
          <p:cNvPr id="14" name="標題 83"/>
          <p:cNvSpPr>
            <a:spLocks noGrp="1"/>
          </p:cNvSpPr>
          <p:nvPr>
            <p:ph type="title" hasCustomPrompt="1"/>
          </p:nvPr>
        </p:nvSpPr>
        <p:spPr>
          <a:xfrm>
            <a:off x="679939" y="1401972"/>
            <a:ext cx="7200000" cy="396000"/>
          </a:xfrm>
          <a:prstGeom prst="rect">
            <a:avLst/>
          </a:prstGeom>
        </p:spPr>
        <p:txBody>
          <a:bodyPr lIns="36000" tIns="36000" rIns="36000" bIns="36000" anchor="ctr"/>
          <a:lstStyle>
            <a:lvl1pPr>
              <a:defRPr sz="2400" b="1" i="0" baseline="0">
                <a:solidFill>
                  <a:schemeClr val="bg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defRPr>
            </a:lvl1pPr>
          </a:lstStyle>
          <a:p>
            <a:r>
              <a:rPr lang="en-US" altLang="zh-TW" dirty="0"/>
              <a:t>Edit Report Title</a:t>
            </a:r>
            <a:endParaRPr lang="zh-TW" altLang="en-US" dirty="0"/>
          </a:p>
        </p:txBody>
      </p:sp>
      <p:sp>
        <p:nvSpPr>
          <p:cNvPr id="15" name="文字版面配置區 31"/>
          <p:cNvSpPr>
            <a:spLocks noGrp="1"/>
          </p:cNvSpPr>
          <p:nvPr>
            <p:ph type="body" sz="quarter" idx="23" hasCustomPrompt="1"/>
          </p:nvPr>
        </p:nvSpPr>
        <p:spPr>
          <a:xfrm>
            <a:off x="1748253" y="4228170"/>
            <a:ext cx="1800000" cy="288000"/>
          </a:xfrm>
          <a:prstGeom prst="rect">
            <a:avLst/>
          </a:prstGeom>
        </p:spPr>
        <p:txBody>
          <a:bodyPr lIns="36000" tIns="36000" rIns="36000" bIns="36000" anchor="ctr"/>
          <a:lstStyle>
            <a:lvl1pPr marL="0" indent="0" algn="l">
              <a:buFontTx/>
              <a:buNone/>
              <a:defRPr lang="zh-TW" altLang="en-US" sz="1000" b="0" baseline="0" dirty="0">
                <a:solidFill>
                  <a:srgbClr val="E9CA7F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 altLang="zh-TW" dirty="0"/>
              <a:t>MMM-DD-YYYY</a:t>
            </a:r>
            <a:endParaRPr lang="zh-TW" altLang="en-US" dirty="0"/>
          </a:p>
        </p:txBody>
      </p:sp>
      <p:sp>
        <p:nvSpPr>
          <p:cNvPr id="20" name="文字版面配置區 31"/>
          <p:cNvSpPr>
            <a:spLocks noGrp="1"/>
          </p:cNvSpPr>
          <p:nvPr>
            <p:ph type="body" sz="quarter" idx="24" hasCustomPrompt="1"/>
          </p:nvPr>
        </p:nvSpPr>
        <p:spPr>
          <a:xfrm>
            <a:off x="1748253" y="3835302"/>
            <a:ext cx="1800000" cy="288000"/>
          </a:xfrm>
          <a:prstGeom prst="rect">
            <a:avLst/>
          </a:prstGeom>
        </p:spPr>
        <p:txBody>
          <a:bodyPr lIns="36000" tIns="36000" rIns="36000" bIns="36000" anchor="ctr"/>
          <a:lstStyle>
            <a:lvl1pPr marL="0" indent="0" algn="l">
              <a:buFontTx/>
              <a:buNone/>
              <a:defRPr lang="en-US" altLang="zh-TW" sz="1000" b="0" baseline="0" dirty="0">
                <a:solidFill>
                  <a:srgbClr val="E9CA7F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 altLang="zh-TW" dirty="0"/>
              <a:t>Name / Title</a:t>
            </a:r>
          </a:p>
        </p:txBody>
      </p:sp>
      <p:sp>
        <p:nvSpPr>
          <p:cNvPr id="21" name="文字版面配置區 31"/>
          <p:cNvSpPr>
            <a:spLocks noGrp="1"/>
          </p:cNvSpPr>
          <p:nvPr>
            <p:ph type="body" sz="quarter" idx="20" hasCustomPrompt="1"/>
          </p:nvPr>
        </p:nvSpPr>
        <p:spPr>
          <a:xfrm>
            <a:off x="1748253" y="3049564"/>
            <a:ext cx="1800000" cy="288000"/>
          </a:xfrm>
          <a:prstGeom prst="rect">
            <a:avLst/>
          </a:prstGeom>
        </p:spPr>
        <p:txBody>
          <a:bodyPr lIns="36000" tIns="36000" rIns="36000" bIns="36000" anchor="ctr"/>
          <a:lstStyle>
            <a:lvl1pPr marL="0" indent="0" algn="l">
              <a:buFontTx/>
              <a:buNone/>
              <a:defRPr lang="en-US" altLang="zh-TW" sz="1000" b="0" kern="1200" baseline="0" dirty="0">
                <a:solidFill>
                  <a:srgbClr val="E9CA7F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 altLang="zh-TW" dirty="0"/>
              <a:t>Name / Title</a:t>
            </a:r>
          </a:p>
        </p:txBody>
      </p:sp>
      <p:sp>
        <p:nvSpPr>
          <p:cNvPr id="22" name="文字版面配置區 31"/>
          <p:cNvSpPr>
            <a:spLocks noGrp="1"/>
          </p:cNvSpPr>
          <p:nvPr>
            <p:ph type="body" sz="quarter" idx="21" hasCustomPrompt="1"/>
          </p:nvPr>
        </p:nvSpPr>
        <p:spPr>
          <a:xfrm>
            <a:off x="1748253" y="3442433"/>
            <a:ext cx="1800000" cy="288000"/>
          </a:xfrm>
          <a:prstGeom prst="rect">
            <a:avLst/>
          </a:prstGeom>
        </p:spPr>
        <p:txBody>
          <a:bodyPr lIns="36000" tIns="36000" rIns="36000" bIns="36000" anchor="ctr"/>
          <a:lstStyle>
            <a:lvl1pPr marL="0" indent="0" algn="l">
              <a:buFontTx/>
              <a:buNone/>
              <a:defRPr lang="en-US" altLang="zh-TW" sz="1000" b="0" baseline="0" dirty="0">
                <a:solidFill>
                  <a:srgbClr val="E9CA7F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 altLang="zh-TW" dirty="0"/>
              <a:t>Name / Title</a:t>
            </a:r>
          </a:p>
        </p:txBody>
      </p:sp>
      <p:sp>
        <p:nvSpPr>
          <p:cNvPr id="24" name="Rectangle 15"/>
          <p:cNvSpPr/>
          <p:nvPr userDrawn="1"/>
        </p:nvSpPr>
        <p:spPr>
          <a:xfrm>
            <a:off x="679939" y="3070994"/>
            <a:ext cx="864587" cy="245058"/>
          </a:xfrm>
          <a:prstGeom prst="rect">
            <a:avLst/>
          </a:prstGeom>
        </p:spPr>
        <p:txBody>
          <a:bodyPr wrap="none" lIns="36000" tIns="36000" rIns="36000" bIns="36000" anchor="ctr">
            <a:spAutoFit/>
          </a:bodyPr>
          <a:lstStyle/>
          <a:p>
            <a:pPr marL="0" marR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b="1" kern="1200" dirty="0">
                <a:solidFill>
                  <a:srgbClr val="F3F3F3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Presented by : </a:t>
            </a:r>
            <a:endParaRPr lang="en-US" altLang="zh-TW" sz="1000" b="1" kern="1200" dirty="0">
              <a:solidFill>
                <a:srgbClr val="F3F3F3"/>
              </a:solidFill>
              <a:latin typeface="Calibri" panose="020F0502020204030204" pitchFamily="34" charset="0"/>
              <a:ea typeface="Arial" charset="0"/>
              <a:cs typeface="Calibri" panose="020F0502020204030204" pitchFamily="34" charset="0"/>
            </a:endParaRPr>
          </a:p>
        </p:txBody>
      </p:sp>
      <p:sp>
        <p:nvSpPr>
          <p:cNvPr id="25" name="Rectangle 15"/>
          <p:cNvSpPr/>
          <p:nvPr userDrawn="1"/>
        </p:nvSpPr>
        <p:spPr>
          <a:xfrm>
            <a:off x="679939" y="3450348"/>
            <a:ext cx="846954" cy="257369"/>
          </a:xfrm>
          <a:prstGeom prst="rect">
            <a:avLst/>
          </a:prstGeom>
        </p:spPr>
        <p:txBody>
          <a:bodyPr wrap="none" lIns="36000" tIns="36000" rIns="36000" bIns="36000" anchor="ctr">
            <a:spAutoFit/>
          </a:bodyPr>
          <a:lstStyle/>
          <a:p>
            <a:pPr marR="0" lvl="0" indent="0" algn="l" defTabSz="6858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TW" sz="1000" b="1" dirty="0">
                <a:solidFill>
                  <a:srgbClr val="F3F3F3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Reviewed by :</a:t>
            </a:r>
            <a:r>
              <a:rPr lang="en-US" altLang="zh-TW" sz="1000" b="1" baseline="0" dirty="0">
                <a:solidFill>
                  <a:srgbClr val="F3F3F3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endParaRPr lang="en-US" altLang="zh-TW" sz="1000" b="1" dirty="0">
              <a:solidFill>
                <a:srgbClr val="F3F3F3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6" name="Rectangle 17"/>
          <p:cNvSpPr/>
          <p:nvPr userDrawn="1"/>
        </p:nvSpPr>
        <p:spPr>
          <a:xfrm>
            <a:off x="679939" y="3843230"/>
            <a:ext cx="741156" cy="257369"/>
          </a:xfrm>
          <a:prstGeom prst="rect">
            <a:avLst/>
          </a:prstGeom>
        </p:spPr>
        <p:txBody>
          <a:bodyPr wrap="none" lIns="36000" tIns="36000" rIns="36000" bIns="36000" anchor="ctr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b="1" kern="1200" dirty="0">
                <a:solidFill>
                  <a:srgbClr val="F3F3F3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Created by : </a:t>
            </a:r>
          </a:p>
        </p:txBody>
      </p:sp>
      <p:sp>
        <p:nvSpPr>
          <p:cNvPr id="27" name="Rectangle 18"/>
          <p:cNvSpPr/>
          <p:nvPr userDrawn="1"/>
        </p:nvSpPr>
        <p:spPr>
          <a:xfrm>
            <a:off x="679939" y="4243485"/>
            <a:ext cx="1119465" cy="257369"/>
          </a:xfrm>
          <a:prstGeom prst="rect">
            <a:avLst/>
          </a:prstGeom>
        </p:spPr>
        <p:txBody>
          <a:bodyPr wrap="none" lIns="36000" tIns="36000" rIns="36000" bIns="36000" anchor="ctr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b="1" kern="1200" dirty="0">
                <a:solidFill>
                  <a:srgbClr val="F3F3F3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Presentation date : </a:t>
            </a:r>
            <a:endParaRPr lang="zh-TW" altLang="en-US" sz="1000" b="1" kern="1200" dirty="0">
              <a:solidFill>
                <a:srgbClr val="F3F3F3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30" name="圖片 29" descr="畫面剪輯"/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4C4C4C"/>
              </a:clrFrom>
              <a:clrTo>
                <a:srgbClr val="4C4C4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9" t="431" r="6450" b="312"/>
          <a:stretch/>
        </p:blipFill>
        <p:spPr>
          <a:xfrm>
            <a:off x="679939" y="758664"/>
            <a:ext cx="1338182" cy="360000"/>
          </a:xfrm>
          <a:prstGeom prst="rect">
            <a:avLst/>
          </a:prstGeom>
        </p:spPr>
      </p:pic>
      <p:sp>
        <p:nvSpPr>
          <p:cNvPr id="31" name="框架 30"/>
          <p:cNvSpPr/>
          <p:nvPr userDrawn="1"/>
        </p:nvSpPr>
        <p:spPr>
          <a:xfrm>
            <a:off x="0" y="-2250"/>
            <a:ext cx="9144000" cy="5148000"/>
          </a:xfrm>
          <a:prstGeom prst="frame">
            <a:avLst>
              <a:gd name="adj1" fmla="val 582"/>
            </a:avLst>
          </a:prstGeom>
          <a:solidFill>
            <a:srgbClr val="DFC2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1"/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9" r="9250"/>
          <a:stretch/>
        </p:blipFill>
        <p:spPr bwMode="auto">
          <a:xfrm>
            <a:off x="0" y="-2250"/>
            <a:ext cx="9144000" cy="51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 userDrawn="1"/>
        </p:nvSpPr>
        <p:spPr>
          <a:xfrm>
            <a:off x="0" y="-2250"/>
            <a:ext cx="9144000" cy="5148000"/>
          </a:xfrm>
          <a:prstGeom prst="rect">
            <a:avLst/>
          </a:prstGeom>
          <a:solidFill>
            <a:schemeClr val="tx1">
              <a:lumMod val="75000"/>
              <a:lumOff val="25000"/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框架 4"/>
          <p:cNvSpPr/>
          <p:nvPr userDrawn="1"/>
        </p:nvSpPr>
        <p:spPr>
          <a:xfrm>
            <a:off x="0" y="-2250"/>
            <a:ext cx="9144000" cy="5148000"/>
          </a:xfrm>
          <a:prstGeom prst="frame">
            <a:avLst>
              <a:gd name="adj1" fmla="val 582"/>
            </a:avLst>
          </a:prstGeom>
          <a:solidFill>
            <a:srgbClr val="DFC2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圖片 6" descr="畫面剪輯"/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4C4C4C"/>
              </a:clrFrom>
              <a:clrTo>
                <a:srgbClr val="4C4C4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9" t="431" r="6450" b="312"/>
          <a:stretch/>
        </p:blipFill>
        <p:spPr>
          <a:xfrm>
            <a:off x="679939" y="758664"/>
            <a:ext cx="1338182" cy="360000"/>
          </a:xfrm>
          <a:prstGeom prst="rect">
            <a:avLst/>
          </a:prstGeom>
        </p:spPr>
      </p:pic>
      <p:sp>
        <p:nvSpPr>
          <p:cNvPr id="8" name="標題 9"/>
          <p:cNvSpPr txBox="1">
            <a:spLocks/>
          </p:cNvSpPr>
          <p:nvPr userDrawn="1"/>
        </p:nvSpPr>
        <p:spPr>
          <a:xfrm>
            <a:off x="2772000" y="2283750"/>
            <a:ext cx="3600000" cy="576000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j-cs"/>
              </a:defRPr>
            </a:lvl1pPr>
          </a:lstStyle>
          <a:p>
            <a:pPr algn="ctr"/>
            <a:r>
              <a:rPr lang="en-US" altLang="zh-TW" sz="1800" b="1" dirty="0">
                <a:solidFill>
                  <a:schemeClr val="bg1"/>
                </a:solidFill>
                <a:effectLst/>
                <a:latin typeface="ZapfDingbats" pitchFamily="18"/>
              </a:rPr>
              <a:t>Thank You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1162125" y="3375855"/>
            <a:ext cx="6819752" cy="215444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pPr lvl="0" algn="ctr"/>
            <a:r>
              <a:rPr lang="en-US" altLang="zh-TW" sz="1400" dirty="0">
                <a:solidFill>
                  <a:srgbClr val="E8B1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</a:t>
            </a:r>
            <a:r>
              <a:rPr lang="en-US" altLang="zh-TW" sz="1400" baseline="0" dirty="0">
                <a:solidFill>
                  <a:srgbClr val="E8B1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1400" baseline="0" dirty="0">
                <a:solidFill>
                  <a:srgbClr val="99B3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Micro</a:t>
            </a:r>
            <a:r>
              <a:rPr lang="en-US" altLang="zh-TW" sz="1000" dirty="0">
                <a:solidFill>
                  <a:srgbClr val="D3D4D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1000" kern="1200" dirty="0">
                <a:solidFill>
                  <a:schemeClr val="bg2">
                    <a:lumMod val="75000"/>
                    <a:alpha val="50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create RF integrated circuits with this same aspiration by continuously pursuing innovation and unique creativity.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投影片編號版面配置區 3"/>
          <p:cNvSpPr txBox="1">
            <a:spLocks/>
          </p:cNvSpPr>
          <p:nvPr userDrawn="1"/>
        </p:nvSpPr>
        <p:spPr>
          <a:xfrm>
            <a:off x="390123" y="4914968"/>
            <a:ext cx="129597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TW"/>
            </a:defPPr>
            <a:lvl1pPr>
              <a:defRPr sz="1000" baseline="0">
                <a:solidFill>
                  <a:srgbClr val="19353F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</a:lstStyle>
          <a:p>
            <a:pPr lvl="0" algn="ctr"/>
            <a:r>
              <a:rPr lang="en-US" altLang="zh-TW" sz="700" baseline="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29</a:t>
            </a:r>
            <a:r>
              <a:rPr lang="zh-TW" altLang="en-US" sz="700" baseline="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34" name="Text Box 19"/>
          <p:cNvSpPr txBox="1">
            <a:spLocks noChangeArrowheads="1"/>
          </p:cNvSpPr>
          <p:nvPr userDrawn="1"/>
        </p:nvSpPr>
        <p:spPr bwMode="auto">
          <a:xfrm>
            <a:off x="7609030" y="4914968"/>
            <a:ext cx="1282970" cy="19581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36000" tIns="36000" rIns="36000" bIns="36000" anchor="ctr"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 sz="3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 sz="3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 sz="3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 sz="3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r" eaLnBrk="1" hangingPunct="1">
              <a:defRPr/>
            </a:pPr>
            <a:r>
              <a:rPr lang="en-US" altLang="zh-TW" sz="800" b="0" i="1" dirty="0">
                <a:solidFill>
                  <a:srgbClr val="F6B9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Proprietary and Confidential</a:t>
            </a:r>
          </a:p>
        </p:txBody>
      </p:sp>
      <p:grpSp>
        <p:nvGrpSpPr>
          <p:cNvPr id="31" name="群組 30"/>
          <p:cNvGrpSpPr>
            <a:grpSpLocks noChangeAspect="1"/>
          </p:cNvGrpSpPr>
          <p:nvPr userDrawn="1"/>
        </p:nvGrpSpPr>
        <p:grpSpPr>
          <a:xfrm>
            <a:off x="8164750" y="4612872"/>
            <a:ext cx="741426" cy="288000"/>
            <a:chOff x="7965218" y="4546501"/>
            <a:chExt cx="926782" cy="360000"/>
          </a:xfrm>
        </p:grpSpPr>
        <p:grpSp>
          <p:nvGrpSpPr>
            <p:cNvPr id="6" name="群組 5"/>
            <p:cNvGrpSpPr/>
            <p:nvPr userDrawn="1"/>
          </p:nvGrpSpPr>
          <p:grpSpPr>
            <a:xfrm>
              <a:off x="8496408" y="4546501"/>
              <a:ext cx="395592" cy="360000"/>
              <a:chOff x="5469835" y="3003630"/>
              <a:chExt cx="395592" cy="360000"/>
            </a:xfrm>
          </p:grpSpPr>
          <p:pic>
            <p:nvPicPr>
              <p:cNvPr id="28" name="Picture 20" descr="logo_rafaelmicro"/>
              <p:cNvPicPr>
                <a:picLocks noChangeAspect="1" noChangeArrowheads="1"/>
              </p:cNvPicPr>
              <p:nvPr userDrawn="1"/>
            </p:nvPicPr>
            <p:blipFill rotWithShape="1"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586" r="72051" b="9655"/>
              <a:stretch/>
            </p:blipFill>
            <p:spPr bwMode="auto">
              <a:xfrm>
                <a:off x="5469836" y="3003630"/>
                <a:ext cx="395591" cy="3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" name="矩形 4"/>
              <p:cNvSpPr/>
              <p:nvPr userDrawn="1"/>
            </p:nvSpPr>
            <p:spPr>
              <a:xfrm>
                <a:off x="5469835" y="3003630"/>
                <a:ext cx="395591" cy="360000"/>
              </a:xfrm>
              <a:prstGeom prst="rect">
                <a:avLst/>
              </a:prstGeom>
              <a:solidFill>
                <a:srgbClr val="FFFFFF">
                  <a:alpha val="6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" name="群組 29"/>
            <p:cNvGrpSpPr/>
            <p:nvPr userDrawn="1"/>
          </p:nvGrpSpPr>
          <p:grpSpPr>
            <a:xfrm>
              <a:off x="7965218" y="4798501"/>
              <a:ext cx="642182" cy="108000"/>
              <a:chOff x="4458584" y="2799907"/>
              <a:chExt cx="642182" cy="108000"/>
            </a:xfrm>
          </p:grpSpPr>
          <p:pic>
            <p:nvPicPr>
              <p:cNvPr id="29" name="Picture 20" descr="logo_rafaelmicro"/>
              <p:cNvPicPr>
                <a:picLocks noChangeAspect="1" noChangeArrowheads="1"/>
              </p:cNvPicPr>
              <p:nvPr userDrawn="1"/>
            </p:nvPicPr>
            <p:blipFill rotWithShape="1"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572" t="37421" r="5424" b="30389"/>
              <a:stretch/>
            </p:blipFill>
            <p:spPr bwMode="auto">
              <a:xfrm>
                <a:off x="4458584" y="2799907"/>
                <a:ext cx="642182" cy="108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" name="矩形 6"/>
              <p:cNvSpPr/>
              <p:nvPr userDrawn="1"/>
            </p:nvSpPr>
            <p:spPr>
              <a:xfrm>
                <a:off x="4458584" y="2799907"/>
                <a:ext cx="640800" cy="108000"/>
              </a:xfrm>
              <a:prstGeom prst="rect">
                <a:avLst/>
              </a:prstGeom>
              <a:solidFill>
                <a:srgbClr val="FFFFFF">
                  <a:alpha val="7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9" name="矩形 38"/>
          <p:cNvSpPr/>
          <p:nvPr userDrawn="1"/>
        </p:nvSpPr>
        <p:spPr>
          <a:xfrm rot="5400000">
            <a:off x="324000" y="4972568"/>
            <a:ext cx="126000" cy="108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2000" y="4906501"/>
            <a:ext cx="270000" cy="10800"/>
          </a:xfrm>
          <a:prstGeom prst="rect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/>
          <p:cNvSpPr/>
          <p:nvPr userDrawn="1"/>
        </p:nvSpPr>
        <p:spPr>
          <a:xfrm flipH="1">
            <a:off x="657000" y="4906501"/>
            <a:ext cx="8235000" cy="10800"/>
          </a:xfrm>
          <a:prstGeom prst="rect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投影片編號版面配置區 3"/>
          <p:cNvSpPr txBox="1">
            <a:spLocks/>
          </p:cNvSpPr>
          <p:nvPr userDrawn="1"/>
        </p:nvSpPr>
        <p:spPr>
          <a:xfrm>
            <a:off x="254280" y="4914968"/>
            <a:ext cx="12732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TW"/>
            </a:defPPr>
            <a:lvl1pPr>
              <a:defRPr sz="1000" baseline="0">
                <a:solidFill>
                  <a:srgbClr val="19353F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</a:lstStyle>
          <a:p>
            <a:pPr lvl="0" algn="ctr"/>
            <a:fld id="{9C5D9D58-E8C0-45B8-84D0-B47AD46CE60E}" type="slidenum">
              <a:rPr lang="zh-TW" altLang="en-US" sz="700" baseline="0" smtClean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lvl="0" algn="ctr"/>
              <a:t>‹#›</a:t>
            </a:fld>
            <a:r>
              <a:rPr lang="zh-TW" altLang="en-US" sz="700" baseline="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</p:sldLayoutIdLst>
  <p:hf sldNum="0"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025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9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5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3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52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80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Zigbee</a:t>
            </a:r>
            <a:r>
              <a:rPr lang="zh-CN" altLang="en-US" dirty="0"/>
              <a:t>总结</a:t>
            </a:r>
            <a:endParaRPr 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altLang="zh-CN" dirty="0"/>
              <a:t>Mar</a:t>
            </a:r>
            <a:r>
              <a:rPr lang="en-US" dirty="0"/>
              <a:t>-16-2026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zh-CN" altLang="en-US" dirty="0"/>
              <a:t>冯一帆</a:t>
            </a:r>
            <a:endParaRPr 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zh-CN" altLang="en-US" dirty="0"/>
              <a:t>冯一帆</a:t>
            </a:r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zh-CN" altLang="en-US" dirty="0"/>
              <a:t>冯一帆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277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A7611-1E25-070F-AF49-17F2ABFFC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FA5E9B97-8F4F-902E-ADF8-E2AA31223467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Z</a:t>
            </a:r>
            <a:r>
              <a:rPr lang="en-US" altLang="zh-CN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igbee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协议架构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25ACB7C-89B5-6573-8F8E-0419099BD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696" y="983974"/>
            <a:ext cx="4006133" cy="291216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1D31CA3-88CA-A8C4-2A88-0B0971046C1C}"/>
              </a:ext>
            </a:extLst>
          </p:cNvPr>
          <p:cNvSpPr txBox="1"/>
          <p:nvPr/>
        </p:nvSpPr>
        <p:spPr>
          <a:xfrm>
            <a:off x="4464117" y="719256"/>
            <a:ext cx="4572000" cy="1457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ZigBee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协议栈采用</a:t>
            </a:r>
            <a:r>
              <a:rPr lang="zh-CN" altLang="en-US" sz="1200" b="1" dirty="0">
                <a:solidFill>
                  <a:srgbClr val="000000"/>
                </a:solidFill>
                <a:effectLst/>
                <a:latin typeface="ui-sans-serif"/>
              </a:rPr>
              <a:t>模块化分层设计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，每一层为上层提供两类服务：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rgbClr val="000000"/>
                </a:solidFill>
                <a:effectLst/>
                <a:latin typeface="ui-sans-serif"/>
              </a:rPr>
              <a:t>数据实体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：负责数据传输服务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rgbClr val="000000"/>
                </a:solidFill>
                <a:effectLst/>
                <a:latin typeface="ui-sans-serif"/>
              </a:rPr>
              <a:t>管理实体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：负责除数据传输外的所有管理服务（如配置、同步、安全等）</a:t>
            </a:r>
          </a:p>
          <a:p>
            <a:pPr algn="l">
              <a:lnSpc>
                <a:spcPts val="1800"/>
              </a:lnSpc>
              <a:buNone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层与层之间通过 </a:t>
            </a:r>
            <a:r>
              <a:rPr lang="zh-CN" altLang="en-US" sz="1200" b="1" dirty="0">
                <a:solidFill>
                  <a:srgbClr val="000000"/>
                </a:solidFill>
                <a:effectLst/>
                <a:latin typeface="ui-sans-serif"/>
              </a:rPr>
              <a:t>服务接入点（</a:t>
            </a:r>
            <a:r>
              <a:rPr lang="en-US" altLang="zh-CN" sz="1200" b="1" dirty="0">
                <a:solidFill>
                  <a:srgbClr val="000000"/>
                </a:solidFill>
                <a:effectLst/>
                <a:latin typeface="ui-sans-serif"/>
              </a:rPr>
              <a:t>SAP</a:t>
            </a:r>
            <a:r>
              <a:rPr lang="zh-CN" altLang="en-US" sz="1200" b="1" dirty="0">
                <a:solidFill>
                  <a:srgbClr val="000000"/>
                </a:solidFill>
                <a:effectLst/>
                <a:latin typeface="ui-sans-serif"/>
              </a:rPr>
              <a:t>）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 交互，每个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SAP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支持多种服务原语，实现标准化的功能调用。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5286A8F-8304-5202-349A-B2329EC533A7}"/>
              </a:ext>
            </a:extLst>
          </p:cNvPr>
          <p:cNvSpPr txBox="1"/>
          <p:nvPr/>
        </p:nvSpPr>
        <p:spPr>
          <a:xfrm>
            <a:off x="4464117" y="2394646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安全服务提供商：为 </a:t>
            </a:r>
            <a:r>
              <a:rPr lang="en-US" altLang="zh-CN" sz="1200" dirty="0"/>
              <a:t>APS </a:t>
            </a:r>
            <a:r>
              <a:rPr lang="zh-CN" altLang="en-US" sz="1200" dirty="0"/>
              <a:t>层 和 </a:t>
            </a:r>
            <a:r>
              <a:rPr lang="en-US" altLang="zh-CN" sz="1200" dirty="0"/>
              <a:t>NWK </a:t>
            </a:r>
            <a:r>
              <a:rPr lang="zh-CN" altLang="en-US" sz="1200" dirty="0"/>
              <a:t>层 提供密钥管理、加密 </a:t>
            </a:r>
            <a:r>
              <a:rPr lang="en-US" altLang="zh-CN" sz="1200" dirty="0"/>
              <a:t>/ </a:t>
            </a:r>
            <a:r>
              <a:rPr lang="zh-CN" altLang="en-US" sz="1200" dirty="0"/>
              <a:t>解密服务，保障数据传输安全。</a:t>
            </a:r>
            <a:endParaRPr lang="en-US" altLang="zh-CN" sz="1200" dirty="0"/>
          </a:p>
          <a:p>
            <a:r>
              <a:rPr lang="en-US" altLang="zh-CN" sz="1200" dirty="0"/>
              <a:t>SAP </a:t>
            </a:r>
            <a:r>
              <a:rPr lang="zh-CN" altLang="en-US" sz="1200" dirty="0"/>
              <a:t>接口：所有层都遵循「数据 </a:t>
            </a:r>
            <a:r>
              <a:rPr lang="en-US" altLang="zh-CN" sz="1200" dirty="0"/>
              <a:t>SAP + </a:t>
            </a:r>
            <a:r>
              <a:rPr lang="zh-CN" altLang="en-US" sz="1200" dirty="0"/>
              <a:t>管理 </a:t>
            </a:r>
            <a:r>
              <a:rPr lang="en-US" altLang="zh-CN" sz="1200" dirty="0"/>
              <a:t>SAP</a:t>
            </a:r>
            <a:r>
              <a:rPr lang="zh-CN" altLang="en-US" sz="1200" dirty="0"/>
              <a:t>」的双接口设计，实现层间解耦和标准化通信。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2135D83-FBBB-4F95-89FC-47FC35234121}"/>
              </a:ext>
            </a:extLst>
          </p:cNvPr>
          <p:cNvSpPr txBox="1"/>
          <p:nvPr/>
        </p:nvSpPr>
        <p:spPr>
          <a:xfrm>
            <a:off x="4464117" y="344377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Endpoint 0</a:t>
            </a:r>
            <a:r>
              <a:rPr lang="zh-CN" altLang="en-US" sz="1200" dirty="0"/>
              <a:t>：专属 </a:t>
            </a:r>
            <a:r>
              <a:rPr lang="en-US" altLang="zh-CN" sz="1200" dirty="0"/>
              <a:t>ZDO</a:t>
            </a:r>
            <a:r>
              <a:rPr lang="zh-CN" altLang="en-US" sz="1200" dirty="0"/>
              <a:t>，负责设备管理</a:t>
            </a:r>
            <a:endParaRPr lang="en-US" altLang="zh-CN" sz="1200" dirty="0"/>
          </a:p>
          <a:p>
            <a:r>
              <a:rPr lang="en-US" altLang="zh-CN" sz="1200" dirty="0"/>
              <a:t>Endpoint 1~240</a:t>
            </a:r>
            <a:r>
              <a:rPr lang="zh-CN" altLang="en-US" sz="1200" dirty="0"/>
              <a:t>：供 制造商应用对象 使用，实现多应用并行</a:t>
            </a:r>
          </a:p>
        </p:txBody>
      </p:sp>
    </p:spTree>
    <p:extLst>
      <p:ext uri="{BB962C8B-B14F-4D97-AF65-F5344CB8AC3E}">
        <p14:creationId xmlns:p14="http://schemas.microsoft.com/office/powerpoint/2010/main" val="1258985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5FB39A2-750A-69AD-F6E6-07648EFD2131}"/>
              </a:ext>
            </a:extLst>
          </p:cNvPr>
          <p:cNvSpPr txBox="1"/>
          <p:nvPr/>
        </p:nvSpPr>
        <p:spPr>
          <a:xfrm>
            <a:off x="6241774" y="3882022"/>
            <a:ext cx="25096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Zigbee-APS</a:t>
            </a:r>
            <a:r>
              <a:rPr lang="zh-CN" altLang="en-US" sz="2400" dirty="0"/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2577367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1EFC7-2A55-6864-E9CA-A373AE3E7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228B0771-F3BA-4AC9-71E0-3FB16C09A0F0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Zigbee-APS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FA27443-7F24-5AAB-3C5B-CE1AC05EC96E}"/>
              </a:ext>
            </a:extLst>
          </p:cNvPr>
          <p:cNvSpPr txBox="1"/>
          <p:nvPr/>
        </p:nvSpPr>
        <p:spPr>
          <a:xfrm>
            <a:off x="215591" y="1118153"/>
            <a:ext cx="874553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    APS</a:t>
            </a:r>
            <a:r>
              <a:rPr lang="zh-CN" altLang="en-US" sz="1400" dirty="0"/>
              <a:t>（应用支持子层）是 </a:t>
            </a:r>
            <a:r>
              <a:rPr lang="en-US" altLang="zh-CN" sz="1400" dirty="0"/>
              <a:t>ZigBee </a:t>
            </a:r>
            <a:r>
              <a:rPr lang="zh-CN" altLang="en-US" sz="1400" dirty="0"/>
              <a:t>协议栈应用层的核心组件，位于网络层（</a:t>
            </a:r>
            <a:r>
              <a:rPr lang="en-US" altLang="zh-CN" sz="1400" dirty="0"/>
              <a:t>NWK</a:t>
            </a:r>
            <a:r>
              <a:rPr lang="zh-CN" altLang="en-US" sz="1400" dirty="0"/>
              <a:t>）和应用层（</a:t>
            </a:r>
            <a:r>
              <a:rPr lang="en-US" altLang="zh-CN" sz="1400" dirty="0"/>
              <a:t>APL</a:t>
            </a:r>
            <a:r>
              <a:rPr lang="zh-CN" altLang="en-US" sz="1400" dirty="0"/>
              <a:t>）之间，为 </a:t>
            </a:r>
            <a:r>
              <a:rPr lang="en-US" altLang="zh-CN" sz="1400" dirty="0"/>
              <a:t>ZigBee </a:t>
            </a:r>
            <a:r>
              <a:rPr lang="zh-CN" altLang="en-US" sz="1400" dirty="0"/>
              <a:t>设备对象（</a:t>
            </a:r>
            <a:r>
              <a:rPr lang="en-US" altLang="zh-CN" sz="1400" dirty="0"/>
              <a:t>ZDO</a:t>
            </a:r>
            <a:r>
              <a:rPr lang="zh-CN" altLang="en-US" sz="1400" dirty="0"/>
              <a:t>）和制造商定义的应用对象提供统一服务接口，是设备间数据传输、设备绑定、组管理和安全通信的关键支撑。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CF2CE54-F685-2B20-BF35-6A045CFA3164}"/>
              </a:ext>
            </a:extLst>
          </p:cNvPr>
          <p:cNvSpPr txBox="1"/>
          <p:nvPr/>
        </p:nvSpPr>
        <p:spPr>
          <a:xfrm>
            <a:off x="175835" y="2127957"/>
            <a:ext cx="871281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400" dirty="0">
                <a:solidFill>
                  <a:srgbClr val="000000"/>
                </a:solidFill>
                <a:effectLst/>
                <a:latin typeface="SimSun-Identity-H"/>
              </a:rPr>
              <a:t>  应用支持子层通过一组 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NewRomanPSMT-Identity-H"/>
              </a:rPr>
              <a:t>ZigBee 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SimSun-Identity-H"/>
              </a:rPr>
              <a:t>设备对象（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NewRomanPSMT-Identity-H"/>
              </a:rPr>
              <a:t>ZDO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SimSun-Identity-H"/>
              </a:rPr>
              <a:t>）和制造商定义的应用对象共用的服务，提供了网 </a:t>
            </a:r>
            <a:endParaRPr lang="zh-CN" altLang="en-US" sz="1400" dirty="0"/>
          </a:p>
          <a:p>
            <a:pPr>
              <a:buNone/>
            </a:pPr>
            <a:r>
              <a:rPr lang="zh-CN" altLang="en-US" sz="1400" dirty="0">
                <a:solidFill>
                  <a:srgbClr val="000000"/>
                </a:solidFill>
                <a:effectLst/>
                <a:latin typeface="SimSun-Identity-H"/>
              </a:rPr>
              <a:t>络层和应用层之间的接口。这些服务通过两个实体提供：数据服务和管理服务。</a:t>
            </a:r>
            <a:endParaRPr lang="en-US" altLang="zh-CN" sz="1400" dirty="0">
              <a:solidFill>
                <a:srgbClr val="000000"/>
              </a:solidFill>
              <a:effectLst/>
              <a:latin typeface="SimSun-Identity-H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TimesNewRomanPSMT-Identity-H"/>
              </a:rPr>
              <a:t>APS 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TimesNewRomanPSMT-Identity-H"/>
              </a:rPr>
              <a:t>数据实体（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NewRomanPSMT-Identity-H"/>
              </a:rPr>
              <a:t>APSDE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TimesNewRomanPSMT-Identity-H"/>
              </a:rPr>
              <a:t>）：通过 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NewRomanPSMT-Identity-H"/>
              </a:rPr>
              <a:t>APSDE-SAP 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TimesNewRomanPSMT-Identity-H"/>
              </a:rPr>
              <a:t>提供数据传输服务，支持应用协议数据单元（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NewRomanPSMT-Identity-H"/>
              </a:rPr>
              <a:t>APDU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TimesNewRomanPSMT-Identity-H"/>
              </a:rPr>
              <a:t>）的收发、分段重组、重复过滤等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SimSun-Identity-H"/>
              </a:rPr>
              <a:t>。</a:t>
            </a:r>
            <a:endParaRPr lang="en-US" altLang="zh-CN" sz="1400" dirty="0">
              <a:solidFill>
                <a:srgbClr val="000000"/>
              </a:solidFill>
              <a:effectLst/>
              <a:latin typeface="SimSun-Identity-H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TimesNewRomanPSMT-Identity-H"/>
              </a:rPr>
              <a:t>APS 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TimesNewRomanPSMT-Identity-H"/>
              </a:rPr>
              <a:t>管理实体（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NewRomanPSMT-Identity-H"/>
              </a:rPr>
              <a:t>APSME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TimesNewRomanPSMT-Identity-H"/>
              </a:rPr>
              <a:t>）：通过 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NewRomanPSMT-Identity-H"/>
              </a:rPr>
              <a:t>APSME-SAP 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TimesNewRomanPSMT-Identity-H"/>
              </a:rPr>
              <a:t>提供管理服务，维护 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NewRomanPSMT-Identity-H"/>
              </a:rPr>
              <a:t>APS 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TimesNewRomanPSMT-Identity-H"/>
              </a:rPr>
              <a:t>信息库（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NewRomanPSMT-Identity-H"/>
              </a:rPr>
              <a:t>AIB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TimesNewRomanPSMT-Identity-H"/>
              </a:rPr>
              <a:t>），负责绑定管理、组管理、安全配置等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SimSun-Identity-H"/>
              </a:rPr>
              <a:t>。</a:t>
            </a:r>
            <a:endParaRPr lang="en-US" altLang="zh-CN" sz="1400" dirty="0">
              <a:solidFill>
                <a:srgbClr val="000000"/>
              </a:solidFill>
              <a:effectLst/>
              <a:latin typeface="SimSun-Identity-H"/>
            </a:endParaRPr>
          </a:p>
          <a:p>
            <a:r>
              <a:rPr lang="en-US" altLang="zh-CN" sz="1400" dirty="0">
                <a:solidFill>
                  <a:srgbClr val="000000"/>
                </a:solidFill>
                <a:latin typeface="TimesNewRomanPSMT-Identity-H"/>
              </a:rPr>
              <a:t>APS </a:t>
            </a:r>
            <a:r>
              <a:rPr lang="zh-CN" altLang="en-US" sz="1400" dirty="0">
                <a:solidFill>
                  <a:srgbClr val="000000"/>
                </a:solidFill>
                <a:latin typeface="TimesNewRomanPSMT-Identity-H"/>
              </a:rPr>
              <a:t>信息库（</a:t>
            </a:r>
            <a:r>
              <a:rPr lang="en-US" altLang="zh-CN" sz="1400" dirty="0">
                <a:solidFill>
                  <a:srgbClr val="000000"/>
                </a:solidFill>
                <a:latin typeface="TimesNewRomanPSMT-Identity-H"/>
              </a:rPr>
              <a:t>AIB</a:t>
            </a:r>
            <a:r>
              <a:rPr lang="zh-CN" altLang="en-US" sz="1400" dirty="0">
                <a:solidFill>
                  <a:srgbClr val="000000"/>
                </a:solidFill>
                <a:latin typeface="TimesNewRomanPSMT-Identity-H"/>
              </a:rPr>
              <a:t>）：存储 </a:t>
            </a:r>
            <a:r>
              <a:rPr lang="en-US" altLang="zh-CN" sz="1400" dirty="0">
                <a:solidFill>
                  <a:srgbClr val="000000"/>
                </a:solidFill>
                <a:latin typeface="TimesNewRomanPSMT-Identity-H"/>
              </a:rPr>
              <a:t>APS </a:t>
            </a:r>
            <a:r>
              <a:rPr lang="zh-CN" altLang="en-US" sz="1400" dirty="0">
                <a:solidFill>
                  <a:srgbClr val="000000"/>
                </a:solidFill>
                <a:latin typeface="TimesNewRomanPSMT-Identity-H"/>
              </a:rPr>
              <a:t>子层的配置属性（如绑定表、组表、信道掩码等），支持属性的查询（</a:t>
            </a:r>
            <a:r>
              <a:rPr lang="en-US" altLang="zh-CN" sz="1400" dirty="0">
                <a:solidFill>
                  <a:srgbClr val="000000"/>
                </a:solidFill>
                <a:latin typeface="TimesNewRomanPSMT-Identity-H"/>
              </a:rPr>
              <a:t>GET</a:t>
            </a:r>
            <a:r>
              <a:rPr lang="zh-CN" altLang="en-US" sz="1400" dirty="0">
                <a:solidFill>
                  <a:srgbClr val="000000"/>
                </a:solidFill>
                <a:latin typeface="TimesNewRomanPSMT-Identity-H"/>
              </a:rPr>
              <a:t>）和修改（</a:t>
            </a:r>
            <a:r>
              <a:rPr lang="en-US" altLang="zh-CN" sz="1400" dirty="0">
                <a:solidFill>
                  <a:srgbClr val="000000"/>
                </a:solidFill>
                <a:latin typeface="TimesNewRomanPSMT-Identity-H"/>
              </a:rPr>
              <a:t>SET</a:t>
            </a:r>
            <a:r>
              <a:rPr lang="zh-CN" altLang="en-US" sz="1400" dirty="0">
                <a:solidFill>
                  <a:srgbClr val="000000"/>
                </a:solidFill>
                <a:latin typeface="TimesNewRomanPSMT-Identity-H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952559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D38E5-AA54-86D2-F0C5-68706408C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2D91C593-7F47-8C08-0F28-8D65881556FC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APS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核心功能</a:t>
            </a:r>
            <a:r>
              <a:rPr lang="en-US" altLang="zh-CN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APSDE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4477103-B10E-75B7-C932-9AEE558791C1}"/>
              </a:ext>
            </a:extLst>
          </p:cNvPr>
          <p:cNvSpPr txBox="1"/>
          <p:nvPr/>
        </p:nvSpPr>
        <p:spPr>
          <a:xfrm>
            <a:off x="215591" y="934057"/>
            <a:ext cx="6059156" cy="3103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/>
                <a:latin typeface="TimesNewRomanPSMT-Identity-H"/>
              </a:rPr>
              <a:t>APSDE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SimSun-Identity-H"/>
              </a:rPr>
              <a:t>应该为网络层、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NewRomanPSMT-Identity-H"/>
              </a:rPr>
              <a:t>ZDO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SimSun-Identity-H"/>
              </a:rPr>
              <a:t>和应用对象提供一个数据服务，使得应用程序的 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NewRomanPSMT-Identity-H"/>
              </a:rPr>
              <a:t>PDU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SimSun-Identity-H"/>
              </a:rPr>
              <a:t>在两个或多个设备之间传输。设备本身必须位于同一个网络。 </a:t>
            </a:r>
            <a:endParaRPr lang="zh-CN" altLang="en-US" sz="1200" dirty="0"/>
          </a:p>
          <a:p>
            <a:pPr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/>
                <a:latin typeface="TimesNewRomanPSMT-Identity-H"/>
              </a:rPr>
              <a:t>APSDE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SimSun-Identity-H"/>
              </a:rPr>
              <a:t>将提供以下服务： </a:t>
            </a:r>
            <a:endParaRPr lang="zh-CN" altLang="en-US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effectLst/>
                <a:latin typeface="SimHei-Identity-H"/>
              </a:rPr>
              <a:t>多寻址模式支持：支持单播（正常单播、间接寻址）、广播、组寻址三种传输模式，适配不同通信场景；</a:t>
            </a:r>
            <a:endParaRPr lang="en-US" altLang="zh-CN" sz="1200" dirty="0">
              <a:solidFill>
                <a:srgbClr val="000000"/>
              </a:solidFill>
              <a:effectLst/>
              <a:latin typeface="SimHei-Identity-H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effectLst/>
                <a:latin typeface="SimHei-Identity-H"/>
              </a:rPr>
              <a:t>可靠传输机制：通过端到端重试、确认请求（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SimHei-Identity-H"/>
              </a:rPr>
              <a:t>Ack Request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SimHei-Identity-H"/>
              </a:rPr>
              <a:t>）机制提升传输可靠性，默认重传次数为 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SimHei-Identity-H"/>
              </a:rPr>
              <a:t>3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SimHei-Identity-H"/>
              </a:rPr>
              <a:t>次（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SimHei-Identity-H"/>
              </a:rPr>
              <a:t>apscMaxFrameRetries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SimHei-Identity-H"/>
              </a:rPr>
              <a:t>）；</a:t>
            </a:r>
            <a:endParaRPr lang="en-US" altLang="zh-CN" sz="1200" dirty="0">
              <a:solidFill>
                <a:srgbClr val="000000"/>
              </a:solidFill>
              <a:effectLst/>
              <a:latin typeface="SimHei-Identity-H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effectLst/>
                <a:latin typeface="SimHei-Identity-H"/>
              </a:rPr>
              <a:t>分段与重组：当应用服务数据单元（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SimHei-Identity-H"/>
              </a:rPr>
              <a:t>ASDU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SimHei-Identity-H"/>
              </a:rPr>
              <a:t>）超过 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SimHei-Identity-H"/>
              </a:rPr>
              <a:t>NWK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SimHei-Identity-H"/>
              </a:rPr>
              <a:t>层帧负载上限时，自动分裂为多个块传输，接收端重组，支持最大 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SimHei-Identity-H"/>
              </a:rPr>
              <a:t>256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SimHei-Identity-H"/>
              </a:rPr>
              <a:t>块的分段传输；</a:t>
            </a:r>
            <a:endParaRPr lang="en-US" altLang="zh-CN" sz="1200" dirty="0">
              <a:solidFill>
                <a:srgbClr val="000000"/>
              </a:solidFill>
              <a:effectLst/>
              <a:latin typeface="SimHei-Identity-H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effectLst/>
                <a:latin typeface="SimHei-Identity-H"/>
              </a:rPr>
              <a:t>重复拒绝：维护重复拒绝表，基于源地址和 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SimHei-Identity-H"/>
              </a:rPr>
              <a:t>APS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SimHei-Identity-H"/>
              </a:rPr>
              <a:t>计数器过滤重复帧，避免重复处理；</a:t>
            </a:r>
            <a:endParaRPr lang="en-US" altLang="zh-CN" sz="1200" dirty="0">
              <a:solidFill>
                <a:srgbClr val="000000"/>
              </a:solidFill>
              <a:effectLst/>
              <a:latin typeface="SimHei-Identity-H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effectLst/>
                <a:latin typeface="SimHei-Identity-H"/>
              </a:rPr>
              <a:t>组地址过滤：仅将组寻址帧转发给组表中注册的端点。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846365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6B0A3-C2BB-88A2-4702-51391C0DC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6470248D-0CD5-2D27-0D32-DB20E8E716E9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APSME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487F724-EC77-3330-5AE6-23CAEA3076A7}"/>
              </a:ext>
            </a:extLst>
          </p:cNvPr>
          <p:cNvSpPr txBox="1"/>
          <p:nvPr/>
        </p:nvSpPr>
        <p:spPr>
          <a:xfrm>
            <a:off x="215591" y="1006903"/>
            <a:ext cx="8745530" cy="2635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TimesNewRomanPSMT-Identity-H"/>
              </a:rPr>
              <a:t>APSME 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SimSun-Identity-H"/>
              </a:rPr>
              <a:t>将提供一个管理服务，允许一个应用和栈相互作用。 </a:t>
            </a:r>
            <a:endParaRPr lang="zh-CN" altLang="en-US" sz="1400" dirty="0"/>
          </a:p>
          <a:p>
            <a:pPr>
              <a:lnSpc>
                <a:spcPct val="150000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TimesNewRomanPSMT-Identity-H"/>
              </a:rPr>
              <a:t>APSME 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SimSun-Identity-H"/>
              </a:rPr>
              <a:t>将提供根据其服务和需求一起匹配两个设备的功能。这个服务叫做绑定服务，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NewRomanPSMT-Identity-H"/>
              </a:rPr>
              <a:t>APSME 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SimSun-Identity-H"/>
              </a:rPr>
              <a:t>将 </a:t>
            </a:r>
            <a:endParaRPr lang="zh-CN" altLang="en-US" sz="1400" dirty="0"/>
          </a:p>
          <a:p>
            <a:pPr>
              <a:lnSpc>
                <a:spcPct val="1500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effectLst/>
                <a:latin typeface="SimSun-Identity-H"/>
              </a:rPr>
              <a:t>建立和维护一个表来存储该信息。</a:t>
            </a:r>
            <a:endParaRPr lang="en-US" altLang="zh-CN" sz="1400" dirty="0">
              <a:solidFill>
                <a:srgbClr val="000000"/>
              </a:solidFill>
              <a:effectLst/>
              <a:latin typeface="SimSun-Identity-H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/>
              <a:t>另外，</a:t>
            </a:r>
            <a:r>
              <a:rPr lang="en-US" altLang="zh-CN" sz="1400" dirty="0"/>
              <a:t>APSME </a:t>
            </a:r>
            <a:r>
              <a:rPr lang="zh-CN" altLang="en-US" sz="1400" dirty="0"/>
              <a:t>将提供以下服务：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绑定管理：这是根据其服务和需求一起匹配两个设备的功能。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/>
              <a:t>AIB </a:t>
            </a:r>
            <a:r>
              <a:rPr lang="zh-CN" altLang="en-US" sz="1400" dirty="0"/>
              <a:t>管理：在设备的 </a:t>
            </a:r>
            <a:r>
              <a:rPr lang="en-US" altLang="zh-CN" sz="1400" dirty="0"/>
              <a:t>AIB </a:t>
            </a:r>
            <a:r>
              <a:rPr lang="zh-CN" altLang="en-US" sz="1400" dirty="0"/>
              <a:t>中获取并设置属性的功能。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安全：通过使用安全密钥，与其它设备建立可信关系的功能。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组管理：这提供了宣布多个设备共享一个地址，增加设备到组，以及从组中移除设备的功能。</a:t>
            </a:r>
          </a:p>
        </p:txBody>
      </p:sp>
    </p:spTree>
    <p:extLst>
      <p:ext uri="{BB962C8B-B14F-4D97-AF65-F5344CB8AC3E}">
        <p14:creationId xmlns:p14="http://schemas.microsoft.com/office/powerpoint/2010/main" val="704027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60E57-6390-148A-492E-18EABF667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A8F248A6-A9F9-8349-80D7-C8374D02A832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APSME-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核心功能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18AA6A8-959E-3DBB-D927-0F0319DBE4F4}"/>
              </a:ext>
            </a:extLst>
          </p:cNvPr>
          <p:cNvSpPr txBox="1"/>
          <p:nvPr/>
        </p:nvSpPr>
        <p:spPr>
          <a:xfrm>
            <a:off x="215591" y="910385"/>
            <a:ext cx="8745530" cy="1226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绑定管理（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APSME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核心功能）</a:t>
            </a:r>
          </a:p>
          <a:p>
            <a:pPr algn="l">
              <a:lnSpc>
                <a:spcPts val="1800"/>
              </a:lnSpc>
              <a:buNone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绑定是设备间的逻辑关联机制，使源设备的特定端点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/ Cluster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数据能自动转发到目标设备，无需手动指定地址：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rgbClr val="000000"/>
                </a:solidFill>
                <a:effectLst/>
                <a:latin typeface="ui-sans-serif"/>
              </a:rPr>
              <a:t>绑定表维护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：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APSME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维护绑定表，存储（源地址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+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源端点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+ Cluster ID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）与（目标地址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+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目标端点）的映射关系；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rgbClr val="000000"/>
                </a:solidFill>
                <a:effectLst/>
                <a:latin typeface="ui-sans-serif"/>
              </a:rPr>
              <a:t>绑定操作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：支持绑定创建（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APSME-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ui-sans-serif"/>
              </a:rPr>
              <a:t>BIND.request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）和解除（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APSME-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ui-sans-serif"/>
              </a:rPr>
              <a:t>UNBIND.request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），仅支持绑定表的设备可执行该操作；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rgbClr val="000000"/>
                </a:solidFill>
                <a:effectLst/>
                <a:latin typeface="ui-sans-serif"/>
              </a:rPr>
              <a:t>绑定触发传输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：当源设备发送数据且目标寻址模式为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0x00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时，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APSDE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自动查询绑定表，将数据转发给所有绑定的目标设备。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DF7E972-21BE-BDB9-7925-B30894555AC7}"/>
              </a:ext>
            </a:extLst>
          </p:cNvPr>
          <p:cNvSpPr txBox="1"/>
          <p:nvPr/>
        </p:nvSpPr>
        <p:spPr>
          <a:xfrm>
            <a:off x="215591" y="2532914"/>
            <a:ext cx="8745530" cy="1457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组管理（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APSME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核心功能）</a:t>
            </a:r>
          </a:p>
          <a:p>
            <a:pPr algn="l">
              <a:lnSpc>
                <a:spcPts val="1800"/>
              </a:lnSpc>
              <a:buNone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组管理支持多个设备归属于同一逻辑组，实现一对多通信：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rgbClr val="000000"/>
                </a:solidFill>
                <a:effectLst/>
                <a:latin typeface="ui-sans-serif"/>
              </a:rPr>
              <a:t>组表维护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：记录组地址与设备端点的关联关系，支持组的创建、成员添加（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APSME-ADD-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ui-sans-serif"/>
              </a:rPr>
              <a:t>GROUP.request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）、移除（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APSME-REMOVE-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ui-sans-serif"/>
              </a:rPr>
              <a:t>GROUP.request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）；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rgbClr val="000000"/>
                </a:solidFill>
                <a:effectLst/>
                <a:latin typeface="ui-sans-serif"/>
              </a:rPr>
              <a:t>组寻址转发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：组寻址帧仅传输给组表中注册的端点，减少网络冗余流量；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rgbClr val="000000"/>
                </a:solidFill>
                <a:effectLst/>
                <a:latin typeface="ui-sans-serif"/>
              </a:rPr>
              <a:t>组同步机制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：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APS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组表与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NWK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层组表（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ui-sans-serif"/>
              </a:rPr>
              <a:t>nwkGroupIDTable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）保持同步，确保寻址一致性。</a:t>
            </a:r>
          </a:p>
        </p:txBody>
      </p:sp>
    </p:spTree>
    <p:extLst>
      <p:ext uri="{BB962C8B-B14F-4D97-AF65-F5344CB8AC3E}">
        <p14:creationId xmlns:p14="http://schemas.microsoft.com/office/powerpoint/2010/main" val="2334665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E78ED-552E-54E6-5489-D31A53918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5901387C-F616-5503-3E90-3AAB12C30F78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APS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服务规范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B9AA3F7-E815-6566-D39A-06C554EDCC1F}"/>
              </a:ext>
            </a:extLst>
          </p:cNvPr>
          <p:cNvSpPr txBox="1"/>
          <p:nvPr/>
        </p:nvSpPr>
        <p:spPr>
          <a:xfrm>
            <a:off x="215591" y="587682"/>
            <a:ext cx="8745530" cy="1457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APS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提供两类核心服务，均通过标准化原语实现交互：</a:t>
            </a:r>
          </a:p>
          <a:p>
            <a:pPr algn="l"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1.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数据服务原语（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APSDE-SAP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）</a:t>
            </a:r>
          </a:p>
          <a:p>
            <a:pPr algn="l">
              <a:lnSpc>
                <a:spcPts val="1800"/>
              </a:lnSpc>
              <a:buNone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仅包含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APSDE-DATA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系列原语，涵盖数据传输的完整流程：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rgbClr val="000000"/>
                </a:solidFill>
                <a:effectLst/>
                <a:latin typeface="ui-sans-serif"/>
              </a:rPr>
              <a:t>APSDE-</a:t>
            </a:r>
            <a:r>
              <a:rPr lang="en-US" altLang="zh-CN" sz="1200" b="1" dirty="0" err="1">
                <a:solidFill>
                  <a:srgbClr val="000000"/>
                </a:solidFill>
                <a:effectLst/>
                <a:latin typeface="ui-sans-serif"/>
              </a:rPr>
              <a:t>DATA.request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：发起数据传输请求，参数包括目标寻址模式、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Profile ID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、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Cluster ID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、源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/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目标端点、传输选项等；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rgbClr val="000000"/>
                </a:solidFill>
                <a:effectLst/>
                <a:latin typeface="ui-sans-serif"/>
              </a:rPr>
              <a:t>APSDE-</a:t>
            </a:r>
            <a:r>
              <a:rPr lang="en-US" altLang="zh-CN" sz="1200" b="1" dirty="0" err="1">
                <a:solidFill>
                  <a:srgbClr val="000000"/>
                </a:solidFill>
                <a:effectLst/>
                <a:latin typeface="ui-sans-serif"/>
              </a:rPr>
              <a:t>DATA.confirm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：返回传输结果状态（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SUCCESS/NO_ACK/SECURITY_FAIL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等）；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rgbClr val="000000"/>
                </a:solidFill>
                <a:effectLst/>
                <a:latin typeface="ui-sans-serif"/>
              </a:rPr>
              <a:t>APSDE-</a:t>
            </a:r>
            <a:r>
              <a:rPr lang="en-US" altLang="zh-CN" sz="1200" b="1" dirty="0" err="1">
                <a:solidFill>
                  <a:srgbClr val="000000"/>
                </a:solidFill>
                <a:effectLst/>
                <a:latin typeface="ui-sans-serif"/>
              </a:rPr>
              <a:t>DATA.indication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：通知上层接收数据，携带源地址、数据内容、链路质量（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ui-sans-serif"/>
              </a:rPr>
              <a:t>LinkQuality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）、安全状态等信息。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3629ACA-505F-0463-8BEB-A69FCBBD1F49}"/>
              </a:ext>
            </a:extLst>
          </p:cNvPr>
          <p:cNvSpPr txBox="1"/>
          <p:nvPr/>
        </p:nvSpPr>
        <p:spPr>
          <a:xfrm>
            <a:off x="215591" y="2002718"/>
            <a:ext cx="8745530" cy="533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2.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管理服务原语（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APSME-SAP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）</a:t>
            </a:r>
          </a:p>
          <a:p>
            <a:pPr algn="l">
              <a:lnSpc>
                <a:spcPts val="1800"/>
              </a:lnSpc>
              <a:buNone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涵盖绑定、组管理、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AIB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维护等操作，核心原语包括：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FD2472F2-C422-40C2-331F-7A83301434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552447"/>
              </p:ext>
            </p:extLst>
          </p:nvPr>
        </p:nvGraphicFramePr>
        <p:xfrm>
          <a:off x="215591" y="2536647"/>
          <a:ext cx="8549139" cy="2068850"/>
        </p:xfrm>
        <a:graphic>
          <a:graphicData uri="http://schemas.openxmlformats.org/drawingml/2006/table">
            <a:tbl>
              <a:tblPr/>
              <a:tblGrid>
                <a:gridCol w="1240972">
                  <a:extLst>
                    <a:ext uri="{9D8B030D-6E8A-4147-A177-3AD203B41FA5}">
                      <a16:colId xmlns:a16="http://schemas.microsoft.com/office/drawing/2014/main" val="1516621087"/>
                    </a:ext>
                  </a:extLst>
                </a:gridCol>
                <a:gridCol w="4458454">
                  <a:extLst>
                    <a:ext uri="{9D8B030D-6E8A-4147-A177-3AD203B41FA5}">
                      <a16:colId xmlns:a16="http://schemas.microsoft.com/office/drawing/2014/main" val="1940507643"/>
                    </a:ext>
                  </a:extLst>
                </a:gridCol>
                <a:gridCol w="2849713">
                  <a:extLst>
                    <a:ext uri="{9D8B030D-6E8A-4147-A177-3AD203B41FA5}">
                      <a16:colId xmlns:a16="http://schemas.microsoft.com/office/drawing/2014/main" val="154393688"/>
                    </a:ext>
                  </a:extLst>
                </a:gridCol>
              </a:tblGrid>
              <a:tr h="399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 b="1">
                          <a:effectLst/>
                        </a:rPr>
                        <a:t>原语类别</a:t>
                      </a:r>
                    </a:p>
                  </a:txBody>
                  <a:tcPr marL="3730" marR="3730" marT="3730" marB="373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 b="1" dirty="0">
                          <a:effectLst/>
                        </a:rPr>
                        <a:t>核心原语</a:t>
                      </a:r>
                    </a:p>
                  </a:txBody>
                  <a:tcPr marL="3730" marR="3730" marT="3730" marB="373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 b="1" dirty="0">
                          <a:effectLst/>
                        </a:rPr>
                        <a:t>功能描述</a:t>
                      </a:r>
                    </a:p>
                  </a:txBody>
                  <a:tcPr marL="3730" marR="3730" marT="3730" marB="373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136573"/>
                  </a:ext>
                </a:extLst>
              </a:tr>
              <a:tr h="2353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绑定管理</a:t>
                      </a:r>
                    </a:p>
                  </a:txBody>
                  <a:tcPr marL="3730" marR="3730" marT="3730" marB="373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APSME-BIND.request/confirm</a:t>
                      </a:r>
                    </a:p>
                  </a:txBody>
                  <a:tcPr marL="3730" marR="3730" marT="3730" marB="373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创建绑定关系</a:t>
                      </a:r>
                    </a:p>
                  </a:txBody>
                  <a:tcPr marL="3730" marR="3730" marT="3730" marB="373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2848435"/>
                  </a:ext>
                </a:extLst>
              </a:tr>
              <a:tr h="2531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200">
                        <a:effectLst/>
                      </a:endParaRPr>
                    </a:p>
                  </a:txBody>
                  <a:tcPr marL="3730" marR="3730" marT="3730" marB="373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APSME-UNBIND.request/confirm</a:t>
                      </a:r>
                    </a:p>
                  </a:txBody>
                  <a:tcPr marL="3730" marR="3730" marT="3730" marB="373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解除绑定关系</a:t>
                      </a:r>
                    </a:p>
                  </a:txBody>
                  <a:tcPr marL="3730" marR="3730" marT="3730" marB="373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862971"/>
                  </a:ext>
                </a:extLst>
              </a:tr>
              <a:tr h="2797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组管理</a:t>
                      </a:r>
                    </a:p>
                  </a:txBody>
                  <a:tcPr marL="3730" marR="3730" marT="3730" marB="373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APSME-ADD-GROUP.request/confirm</a:t>
                      </a:r>
                    </a:p>
                  </a:txBody>
                  <a:tcPr marL="3730" marR="3730" marT="3730" marB="373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添加端点到组</a:t>
                      </a:r>
                    </a:p>
                  </a:txBody>
                  <a:tcPr marL="3730" marR="3730" marT="3730" marB="373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888572"/>
                  </a:ext>
                </a:extLst>
              </a:tr>
              <a:tr h="3064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200">
                        <a:effectLst/>
                      </a:endParaRPr>
                    </a:p>
                  </a:txBody>
                  <a:tcPr marL="3730" marR="3730" marT="3730" marB="373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APSME-REMOVE-</a:t>
                      </a:r>
                      <a:r>
                        <a:rPr lang="en-US" sz="1200" dirty="0" err="1">
                          <a:effectLst/>
                        </a:rPr>
                        <a:t>GROUP.request</a:t>
                      </a:r>
                      <a:r>
                        <a:rPr lang="en-US" sz="1200" dirty="0">
                          <a:effectLst/>
                        </a:rPr>
                        <a:t>/confirm</a:t>
                      </a:r>
                    </a:p>
                  </a:txBody>
                  <a:tcPr marL="3730" marR="3730" marT="3730" marB="373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从组中移除端点</a:t>
                      </a:r>
                    </a:p>
                  </a:txBody>
                  <a:tcPr marL="3730" marR="3730" marT="3730" marB="373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6798222"/>
                  </a:ext>
                </a:extLst>
              </a:tr>
              <a:tr h="350849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200">
                        <a:effectLst/>
                      </a:endParaRPr>
                    </a:p>
                  </a:txBody>
                  <a:tcPr marL="3730" marR="3730" marT="3730" marB="373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APSME-REMOVE-ALL-GROUPS.request/confirm</a:t>
                      </a:r>
                    </a:p>
                  </a:txBody>
                  <a:tcPr marL="3730" marR="3730" marT="3730" marB="373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移除端点的所有组关系</a:t>
                      </a:r>
                    </a:p>
                  </a:txBody>
                  <a:tcPr marL="3730" marR="3730" marT="3730" marB="373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5758159"/>
                  </a:ext>
                </a:extLst>
              </a:tr>
              <a:tr h="2264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AIB </a:t>
                      </a:r>
                      <a:r>
                        <a:rPr lang="zh-CN" altLang="en-US" sz="1200">
                          <a:effectLst/>
                        </a:rPr>
                        <a:t>维护</a:t>
                      </a:r>
                    </a:p>
                  </a:txBody>
                  <a:tcPr marL="3730" marR="3730" marT="3730" marB="373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APSME-GET.request/confirm</a:t>
                      </a:r>
                    </a:p>
                  </a:txBody>
                  <a:tcPr marL="3730" marR="3730" marT="3730" marB="373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查询 </a:t>
                      </a:r>
                      <a:r>
                        <a:rPr lang="en-US" sz="1200">
                          <a:effectLst/>
                        </a:rPr>
                        <a:t>AIB </a:t>
                      </a:r>
                      <a:r>
                        <a:rPr lang="zh-CN" altLang="en-US" sz="1200">
                          <a:effectLst/>
                        </a:rPr>
                        <a:t>属性值</a:t>
                      </a:r>
                    </a:p>
                  </a:txBody>
                  <a:tcPr marL="3730" marR="3730" marT="3730" marB="373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2340966"/>
                  </a:ext>
                </a:extLst>
              </a:tr>
              <a:tr h="2264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200">
                        <a:effectLst/>
                      </a:endParaRPr>
                    </a:p>
                  </a:txBody>
                  <a:tcPr marL="3730" marR="3730" marT="3730" marB="373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APSME-SET.request/confirm</a:t>
                      </a:r>
                    </a:p>
                  </a:txBody>
                  <a:tcPr marL="3730" marR="3730" marT="3730" marB="373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 dirty="0">
                          <a:effectLst/>
                        </a:rPr>
                        <a:t>修改 </a:t>
                      </a:r>
                      <a:r>
                        <a:rPr lang="en-US" sz="1200" dirty="0">
                          <a:effectLst/>
                        </a:rPr>
                        <a:t>AIB </a:t>
                      </a:r>
                      <a:r>
                        <a:rPr lang="zh-CN" altLang="en-US" sz="1200" dirty="0">
                          <a:effectLst/>
                        </a:rPr>
                        <a:t>属性值</a:t>
                      </a:r>
                    </a:p>
                  </a:txBody>
                  <a:tcPr marL="3730" marR="3730" marT="3730" marB="373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316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338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56007-6CC3-6BE9-F4CE-DB4BF8964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ED78C3CC-A591-8FC6-26AE-FBD9EDFC752E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APS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帧格式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52D4E27-B1B1-B1C9-D410-66C4556FAB86}"/>
              </a:ext>
            </a:extLst>
          </p:cNvPr>
          <p:cNvSpPr txBox="1"/>
          <p:nvPr/>
        </p:nvSpPr>
        <p:spPr>
          <a:xfrm>
            <a:off x="215591" y="801342"/>
            <a:ext cx="87455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APS </a:t>
            </a:r>
            <a:r>
              <a:rPr lang="zh-CN" altLang="en-US" sz="1200" dirty="0"/>
              <a:t>帧（</a:t>
            </a:r>
            <a:r>
              <a:rPr lang="en-US" altLang="zh-CN" sz="1200" dirty="0"/>
              <a:t>APDU</a:t>
            </a:r>
            <a:r>
              <a:rPr lang="zh-CN" altLang="en-US" sz="1200" dirty="0"/>
              <a:t>）由 </a:t>
            </a:r>
            <a:r>
              <a:rPr lang="en-US" altLang="zh-CN" sz="1200" dirty="0"/>
              <a:t>APS </a:t>
            </a:r>
            <a:r>
              <a:rPr lang="zh-CN" altLang="en-US" sz="1200" dirty="0"/>
              <a:t>头和 </a:t>
            </a:r>
            <a:r>
              <a:rPr lang="en-US" altLang="zh-CN" sz="1200" dirty="0"/>
              <a:t>APS </a:t>
            </a:r>
            <a:r>
              <a:rPr lang="zh-CN" altLang="en-US" sz="1200" dirty="0"/>
              <a:t>负载两部分组成，格式随帧类型变化，核心结构如下：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00A6371-7DE8-B59A-487C-D8C61F6A59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598416"/>
              </p:ext>
            </p:extLst>
          </p:nvPr>
        </p:nvGraphicFramePr>
        <p:xfrm>
          <a:off x="215592" y="1241401"/>
          <a:ext cx="8745531" cy="1938904"/>
        </p:xfrm>
        <a:graphic>
          <a:graphicData uri="http://schemas.openxmlformats.org/drawingml/2006/table">
            <a:tbl>
              <a:tblPr/>
              <a:tblGrid>
                <a:gridCol w="1688572">
                  <a:extLst>
                    <a:ext uri="{9D8B030D-6E8A-4147-A177-3AD203B41FA5}">
                      <a16:colId xmlns:a16="http://schemas.microsoft.com/office/drawing/2014/main" val="2407624071"/>
                    </a:ext>
                  </a:extLst>
                </a:gridCol>
                <a:gridCol w="1818751">
                  <a:extLst>
                    <a:ext uri="{9D8B030D-6E8A-4147-A177-3AD203B41FA5}">
                      <a16:colId xmlns:a16="http://schemas.microsoft.com/office/drawing/2014/main" val="3653091628"/>
                    </a:ext>
                  </a:extLst>
                </a:gridCol>
                <a:gridCol w="5238208">
                  <a:extLst>
                    <a:ext uri="{9D8B030D-6E8A-4147-A177-3AD203B41FA5}">
                      <a16:colId xmlns:a16="http://schemas.microsoft.com/office/drawing/2014/main" val="1225545721"/>
                    </a:ext>
                  </a:extLst>
                </a:gridCol>
              </a:tblGrid>
              <a:tr h="2423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 b="1" dirty="0">
                          <a:effectLst/>
                        </a:rPr>
                        <a:t>字段</a:t>
                      </a:r>
                    </a:p>
                  </a:txBody>
                  <a:tcPr marL="4796" marR="4796" marT="4796" marB="479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 b="1">
                          <a:effectLst/>
                        </a:rPr>
                        <a:t>长度（字节）</a:t>
                      </a:r>
                    </a:p>
                  </a:txBody>
                  <a:tcPr marL="4796" marR="4796" marT="4796" marB="479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 b="1" dirty="0">
                          <a:effectLst/>
                        </a:rPr>
                        <a:t>说明</a:t>
                      </a:r>
                    </a:p>
                  </a:txBody>
                  <a:tcPr marL="4796" marR="4796" marT="4796" marB="479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706634"/>
                  </a:ext>
                </a:extLst>
              </a:tr>
              <a:tr h="2423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帧控制</a:t>
                      </a:r>
                    </a:p>
                  </a:txBody>
                  <a:tcPr marL="4796" marR="4796" marT="4796" marB="479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200" dirty="0">
                          <a:effectLst/>
                        </a:rPr>
                        <a:t>1</a:t>
                      </a:r>
                    </a:p>
                  </a:txBody>
                  <a:tcPr marL="4796" marR="4796" marT="4796" marB="479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包含帧类型、传输模式、安全标志、确认请求等控制位</a:t>
                      </a:r>
                    </a:p>
                  </a:txBody>
                  <a:tcPr marL="4796" marR="4796" marT="4796" marB="479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281488"/>
                  </a:ext>
                </a:extLst>
              </a:tr>
              <a:tr h="2423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寻址域</a:t>
                      </a:r>
                    </a:p>
                  </a:txBody>
                  <a:tcPr marL="4796" marR="4796" marT="4796" marB="479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200">
                          <a:effectLst/>
                        </a:rPr>
                        <a:t>0-5</a:t>
                      </a:r>
                    </a:p>
                  </a:txBody>
                  <a:tcPr marL="4796" marR="4796" marT="4796" marB="479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含目标端点（</a:t>
                      </a:r>
                      <a:r>
                        <a:rPr lang="en-US" altLang="zh-CN" sz="1200">
                          <a:effectLst/>
                        </a:rPr>
                        <a:t>0-1 </a:t>
                      </a:r>
                      <a:r>
                        <a:rPr lang="zh-CN" altLang="en-US" sz="1200">
                          <a:effectLst/>
                        </a:rPr>
                        <a:t>字节）、组地址（</a:t>
                      </a:r>
                      <a:r>
                        <a:rPr lang="en-US" altLang="zh-CN" sz="1200">
                          <a:effectLst/>
                        </a:rPr>
                        <a:t>0-2 </a:t>
                      </a:r>
                      <a:r>
                        <a:rPr lang="zh-CN" altLang="en-US" sz="1200">
                          <a:effectLst/>
                        </a:rPr>
                        <a:t>字节）、源端点（</a:t>
                      </a:r>
                      <a:r>
                        <a:rPr lang="en-US" altLang="zh-CN" sz="1200">
                          <a:effectLst/>
                        </a:rPr>
                        <a:t>1 </a:t>
                      </a:r>
                      <a:r>
                        <a:rPr lang="zh-CN" altLang="en-US" sz="1200">
                          <a:effectLst/>
                        </a:rPr>
                        <a:t>字节），按需出现</a:t>
                      </a:r>
                    </a:p>
                  </a:txBody>
                  <a:tcPr marL="4796" marR="4796" marT="4796" marB="479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024551"/>
                  </a:ext>
                </a:extLst>
              </a:tr>
              <a:tr h="2423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Cluster </a:t>
                      </a:r>
                      <a:r>
                        <a:rPr lang="zh-CN" altLang="en-US" sz="1200">
                          <a:effectLst/>
                        </a:rPr>
                        <a:t>标识符</a:t>
                      </a:r>
                    </a:p>
                  </a:txBody>
                  <a:tcPr marL="4796" marR="4796" marT="4796" marB="479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200">
                          <a:effectLst/>
                        </a:rPr>
                        <a:t>0-2</a:t>
                      </a:r>
                    </a:p>
                  </a:txBody>
                  <a:tcPr marL="4796" marR="4796" marT="4796" marB="479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仅数据帧 </a:t>
                      </a:r>
                      <a:r>
                        <a:rPr lang="en-US" altLang="zh-CN" sz="1200">
                          <a:effectLst/>
                        </a:rPr>
                        <a:t>/ </a:t>
                      </a:r>
                      <a:r>
                        <a:rPr lang="zh-CN" altLang="en-US" sz="1200">
                          <a:effectLst/>
                        </a:rPr>
                        <a:t>确认帧存在，标识帧对应的应用对象</a:t>
                      </a:r>
                    </a:p>
                  </a:txBody>
                  <a:tcPr marL="4796" marR="4796" marT="4796" marB="479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667368"/>
                  </a:ext>
                </a:extLst>
              </a:tr>
              <a:tr h="2423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Profile </a:t>
                      </a:r>
                      <a:r>
                        <a:rPr lang="zh-CN" altLang="en-US" sz="1200">
                          <a:effectLst/>
                        </a:rPr>
                        <a:t>标识符</a:t>
                      </a:r>
                    </a:p>
                  </a:txBody>
                  <a:tcPr marL="4796" marR="4796" marT="4796" marB="479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200">
                          <a:effectLst/>
                        </a:rPr>
                        <a:t>0-2</a:t>
                      </a:r>
                    </a:p>
                  </a:txBody>
                  <a:tcPr marL="4796" marR="4796" marT="4796" marB="479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仅数据帧 </a:t>
                      </a:r>
                      <a:r>
                        <a:rPr lang="en-US" altLang="zh-CN" sz="1200">
                          <a:effectLst/>
                        </a:rPr>
                        <a:t>/ </a:t>
                      </a:r>
                      <a:r>
                        <a:rPr lang="zh-CN" altLang="en-US" sz="1200">
                          <a:effectLst/>
                        </a:rPr>
                        <a:t>确认帧存在，标识帧所属的应用规范</a:t>
                      </a:r>
                    </a:p>
                  </a:txBody>
                  <a:tcPr marL="4796" marR="4796" marT="4796" marB="479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8997525"/>
                  </a:ext>
                </a:extLst>
              </a:tr>
              <a:tr h="2423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APS </a:t>
                      </a:r>
                      <a:r>
                        <a:rPr lang="zh-CN" altLang="en-US" sz="1200">
                          <a:effectLst/>
                        </a:rPr>
                        <a:t>计数器</a:t>
                      </a:r>
                    </a:p>
                  </a:txBody>
                  <a:tcPr marL="4796" marR="4796" marT="4796" marB="479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200">
                          <a:effectLst/>
                        </a:rPr>
                        <a:t>1</a:t>
                      </a:r>
                    </a:p>
                  </a:txBody>
                  <a:tcPr marL="4796" marR="4796" marT="4796" marB="479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 dirty="0">
                          <a:effectLst/>
                        </a:rPr>
                        <a:t>用于重复检测，每次新传输后自增</a:t>
                      </a:r>
                    </a:p>
                  </a:txBody>
                  <a:tcPr marL="4796" marR="4796" marT="4796" marB="479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8890179"/>
                  </a:ext>
                </a:extLst>
              </a:tr>
              <a:tr h="2423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扩展头</a:t>
                      </a:r>
                    </a:p>
                  </a:txBody>
                  <a:tcPr marL="4796" marR="4796" marT="4796" marB="479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200">
                          <a:effectLst/>
                        </a:rPr>
                        <a:t>0 - </a:t>
                      </a:r>
                      <a:r>
                        <a:rPr lang="zh-CN" altLang="en-US" sz="1200">
                          <a:effectLst/>
                        </a:rPr>
                        <a:t>可变</a:t>
                      </a:r>
                    </a:p>
                  </a:txBody>
                  <a:tcPr marL="4796" marR="4796" marT="4796" marB="479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含分段控制、</a:t>
                      </a:r>
                      <a:r>
                        <a:rPr lang="en-US" altLang="zh-CN" sz="1200">
                          <a:effectLst/>
                        </a:rPr>
                        <a:t>ACK </a:t>
                      </a:r>
                      <a:r>
                        <a:rPr lang="zh-CN" altLang="en-US" sz="1200">
                          <a:effectLst/>
                        </a:rPr>
                        <a:t>位图等，仅分段传输时存在</a:t>
                      </a:r>
                    </a:p>
                  </a:txBody>
                  <a:tcPr marL="4796" marR="4796" marT="4796" marB="479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703369"/>
                  </a:ext>
                </a:extLst>
              </a:tr>
              <a:tr h="2423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帧负载</a:t>
                      </a:r>
                    </a:p>
                  </a:txBody>
                  <a:tcPr marL="4796" marR="4796" marT="4796" marB="479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 dirty="0">
                          <a:effectLst/>
                        </a:rPr>
                        <a:t>可变</a:t>
                      </a:r>
                    </a:p>
                  </a:txBody>
                  <a:tcPr marL="4796" marR="4796" marT="4796" marB="479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 dirty="0">
                          <a:effectLst/>
                        </a:rPr>
                        <a:t>数据帧为 </a:t>
                      </a:r>
                      <a:r>
                        <a:rPr lang="en-US" altLang="zh-CN" sz="1200" dirty="0">
                          <a:effectLst/>
                        </a:rPr>
                        <a:t>ASDU </a:t>
                      </a:r>
                      <a:r>
                        <a:rPr lang="zh-CN" altLang="en-US" sz="1200" dirty="0">
                          <a:effectLst/>
                        </a:rPr>
                        <a:t>数据，命令帧为命令参数</a:t>
                      </a:r>
                    </a:p>
                  </a:txBody>
                  <a:tcPr marL="4796" marR="4796" marT="4796" marB="479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4690388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F351AD2B-20A4-F741-D48D-65010E80037F}"/>
              </a:ext>
            </a:extLst>
          </p:cNvPr>
          <p:cNvSpPr txBox="1"/>
          <p:nvPr/>
        </p:nvSpPr>
        <p:spPr>
          <a:xfrm>
            <a:off x="215592" y="3356319"/>
            <a:ext cx="8745531" cy="995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APS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定义三种帧类型，适配不同服务场景：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rgbClr val="000000"/>
                </a:solidFill>
                <a:effectLst/>
                <a:latin typeface="ui-sans-serif"/>
              </a:rPr>
              <a:t>数据帧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：用于应用数据传输，包含完整的寻址域和应用标识；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rgbClr val="000000"/>
                </a:solidFill>
                <a:effectLst/>
                <a:latin typeface="ui-sans-serif"/>
              </a:rPr>
              <a:t>命令帧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：用于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APS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管理命令（如绑定、组操作），帧格式简化，无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Cluster/Profile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标识符；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rgbClr val="000000"/>
                </a:solidFill>
                <a:effectLst/>
                <a:latin typeface="ui-sans-serif"/>
              </a:rPr>
              <a:t>确认帧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：响应带确认请求的数据帧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/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命令帧，携带传输状态信息。</a:t>
            </a:r>
          </a:p>
        </p:txBody>
      </p:sp>
    </p:spTree>
    <p:extLst>
      <p:ext uri="{BB962C8B-B14F-4D97-AF65-F5344CB8AC3E}">
        <p14:creationId xmlns:p14="http://schemas.microsoft.com/office/powerpoint/2010/main" val="1663055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B7469-FD30-E1E1-6049-F9521CA7D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B7E2E78-96ED-6DF8-F95C-B385ED8A28E4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APS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传输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65CB911-27B0-FA3E-46F6-898A18943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78" y="2571750"/>
            <a:ext cx="4205236" cy="149876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B2D4D34-6E86-B82C-2A8B-A30CC6FE018D}"/>
              </a:ext>
            </a:extLst>
          </p:cNvPr>
          <p:cNvSpPr txBox="1"/>
          <p:nvPr/>
        </p:nvSpPr>
        <p:spPr>
          <a:xfrm>
            <a:off x="215591" y="1649048"/>
            <a:ext cx="39394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200" dirty="0">
                <a:solidFill>
                  <a:srgbClr val="000000"/>
                </a:solidFill>
                <a:effectLst/>
                <a:latin typeface="SimSun-Identity-H"/>
              </a:rPr>
              <a:t>一个帧被其预定接收者接收时，其确认请求（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NewRomanPSMT-Identity-H"/>
              </a:rPr>
              <a:t>AR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SimSun-Identity-H"/>
              </a:rPr>
              <a:t>）子域设置为 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NewRomanPSMT-Identity-H"/>
              </a:rPr>
              <a:t>0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SimSun-Identity-H"/>
              </a:rPr>
              <a:t>，就不应该有确认。发出设备应 该假定帧的传输成功</a:t>
            </a:r>
            <a:endParaRPr lang="zh-CN" altLang="en-US" sz="12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5140E23-FD70-BD3B-2056-B8DF1AC54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2571749"/>
            <a:ext cx="4301138" cy="2000529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00713125-6FA2-921E-96AF-82BCAD756860}"/>
              </a:ext>
            </a:extLst>
          </p:cNvPr>
          <p:cNvSpPr txBox="1"/>
          <p:nvPr/>
        </p:nvSpPr>
        <p:spPr>
          <a:xfrm>
            <a:off x="4491614" y="1556086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200" dirty="0">
                <a:solidFill>
                  <a:srgbClr val="000000"/>
                </a:solidFill>
                <a:effectLst/>
                <a:latin typeface="SimSun-Identity-H"/>
              </a:rPr>
              <a:t>一个帧被其预定接收者接收时，其确认请求（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NewRomanPSMT-Identity-H"/>
              </a:rPr>
              <a:t>AR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SimSun-Identity-H"/>
              </a:rPr>
              <a:t>）子域设置为 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NewRomanPSMT-Identity-H"/>
              </a:rPr>
              <a:t>1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SimSun-Identity-H"/>
              </a:rPr>
              <a:t>，应该返回确认。如果预定接收者正确接收该帧，它应该生成并发送一个确认帧给待确认帧的发出者。 </a:t>
            </a:r>
            <a:endParaRPr lang="zh-CN" altLang="en-US" sz="1200" dirty="0"/>
          </a:p>
          <a:p>
            <a:pPr>
              <a:buNone/>
            </a:pPr>
            <a:r>
              <a:rPr lang="zh-CN" altLang="en-US" sz="1200" dirty="0">
                <a:solidFill>
                  <a:srgbClr val="000000"/>
                </a:solidFill>
                <a:effectLst/>
                <a:latin typeface="SimSun-Identity-H"/>
              </a:rPr>
              <a:t>当 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NewRomanPSMT-Identity-H"/>
              </a:rPr>
              <a:t>APS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SimSun-Identity-H"/>
              </a:rPr>
              <a:t>子层确定帧是有效的，确认帧的传输就应该开始了。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743653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902C6-2ECA-B295-B576-7E293BA59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5ACDE287-10A4-355C-426F-881A2F5588AA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APS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分段传输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73C88B0-FF8F-2A42-C6EC-081CE0D93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91" y="2301073"/>
            <a:ext cx="2661191" cy="230484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65EEDB8-1A32-406D-1454-2B9EF537FDF4}"/>
              </a:ext>
            </a:extLst>
          </p:cNvPr>
          <p:cNvSpPr txBox="1"/>
          <p:nvPr/>
        </p:nvSpPr>
        <p:spPr>
          <a:xfrm>
            <a:off x="215591" y="1269499"/>
            <a:ext cx="266119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发起者 </a:t>
            </a:r>
            <a:r>
              <a:rPr lang="en-US" altLang="zh-CN" sz="1400" dirty="0"/>
              <a:t>APS </a:t>
            </a:r>
            <a:r>
              <a:rPr lang="zh-CN" altLang="en-US" sz="1400" dirty="0"/>
              <a:t>先发最后一个分片（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ui-monospace"/>
              </a:rPr>
              <a:t>block number=5</a:t>
            </a:r>
            <a:r>
              <a:rPr lang="zh-CN" altLang="en-US" sz="1400" dirty="0"/>
              <a:t>），告知接收者总分片数为 </a:t>
            </a:r>
            <a:r>
              <a:rPr lang="en-US" altLang="zh-CN" sz="1400" dirty="0"/>
              <a:t>5</a:t>
            </a:r>
            <a:r>
              <a:rPr lang="zh-CN" altLang="en-US" sz="1400" dirty="0"/>
              <a:t>，后续从</a:t>
            </a:r>
            <a:r>
              <a:rPr lang="en-US" altLang="zh-CN" sz="1400" dirty="0"/>
              <a:t>1</a:t>
            </a:r>
            <a:r>
              <a:rPr lang="zh-CN" altLang="en-US" sz="1400" dirty="0"/>
              <a:t>开始按顺序发送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FD8F17E-6E68-4DBA-4AFA-D16483831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6782" y="2301073"/>
            <a:ext cx="2757726" cy="237893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195E5D1A-F57F-B562-751B-AD5C1B28B0AD}"/>
              </a:ext>
            </a:extLst>
          </p:cNvPr>
          <p:cNvSpPr txBox="1"/>
          <p:nvPr/>
        </p:nvSpPr>
        <p:spPr>
          <a:xfrm>
            <a:off x="2876782" y="665149"/>
            <a:ext cx="275772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在 </a:t>
            </a:r>
            <a:r>
              <a:rPr lang="en-US" altLang="zh-CN" sz="1400" dirty="0"/>
              <a:t>Zigbee APS </a:t>
            </a:r>
            <a:r>
              <a:rPr lang="zh-CN" altLang="en-US" sz="1400" dirty="0"/>
              <a:t>分段传输中，</a:t>
            </a:r>
            <a:r>
              <a:rPr lang="en-US" altLang="zh-CN" sz="1400" b="1" dirty="0">
                <a:solidFill>
                  <a:srgbClr val="000000"/>
                </a:solidFill>
                <a:effectLst/>
                <a:latin typeface="ui-sans-serif"/>
              </a:rPr>
              <a:t>Ack bitfield </a:t>
            </a:r>
            <a:r>
              <a:rPr lang="zh-CN" altLang="en-US" sz="1400" b="1" dirty="0">
                <a:solidFill>
                  <a:srgbClr val="000000"/>
                </a:solidFill>
                <a:effectLst/>
                <a:latin typeface="ui-sans-serif"/>
              </a:rPr>
              <a:t>的 </a:t>
            </a:r>
            <a:r>
              <a:rPr lang="en-US" altLang="zh-CN" sz="1400" b="1" dirty="0">
                <a:solidFill>
                  <a:srgbClr val="000000"/>
                </a:solidFill>
                <a:effectLst/>
                <a:latin typeface="ui-sans-serif"/>
              </a:rPr>
              <a:t>bit n </a:t>
            </a:r>
            <a:r>
              <a:rPr lang="zh-CN" altLang="en-US" sz="1400" b="1" dirty="0">
                <a:solidFill>
                  <a:srgbClr val="000000"/>
                </a:solidFill>
                <a:effectLst/>
                <a:latin typeface="ui-sans-serif"/>
              </a:rPr>
              <a:t>对应 </a:t>
            </a:r>
            <a:r>
              <a:rPr lang="en-US" altLang="zh-CN" sz="1400" b="1" dirty="0">
                <a:solidFill>
                  <a:srgbClr val="000000"/>
                </a:solidFill>
                <a:effectLst/>
                <a:latin typeface="ui-sans-serif"/>
              </a:rPr>
              <a:t>block = (</a:t>
            </a:r>
            <a:r>
              <a:rPr lang="zh-CN" altLang="en-US" sz="1400" b="1" dirty="0">
                <a:solidFill>
                  <a:srgbClr val="000000"/>
                </a:solidFill>
                <a:effectLst/>
                <a:latin typeface="ui-sans-serif"/>
              </a:rPr>
              <a:t>基准块号 </a:t>
            </a:r>
            <a:r>
              <a:rPr lang="en-US" altLang="zh-CN" sz="1400" b="1" dirty="0">
                <a:solidFill>
                  <a:srgbClr val="000000"/>
                </a:solidFill>
                <a:effectLst/>
                <a:latin typeface="ui-sans-serif"/>
              </a:rPr>
              <a:t>+ n)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ui-sans-serif"/>
              </a:rPr>
              <a:t>第一次</a:t>
            </a:r>
            <a:r>
              <a:rPr lang="en-US" altLang="zh-CN" sz="1400" dirty="0">
                <a:solidFill>
                  <a:srgbClr val="000000"/>
                </a:solidFill>
                <a:latin typeface="ui-sans-serif"/>
              </a:rPr>
              <a:t>ack</a:t>
            </a:r>
            <a:r>
              <a:rPr lang="zh-CN" altLang="en-US" sz="1400" dirty="0">
                <a:solidFill>
                  <a:srgbClr val="000000"/>
                </a:solidFill>
                <a:latin typeface="ui-sans-serif"/>
              </a:rPr>
              <a:t>中，基准为</a:t>
            </a:r>
            <a:r>
              <a:rPr lang="en-US" altLang="zh-CN" sz="1400" dirty="0">
                <a:solidFill>
                  <a:srgbClr val="000000"/>
                </a:solidFill>
                <a:latin typeface="ui-sans-serif"/>
              </a:rPr>
              <a:t>0</a:t>
            </a:r>
            <a:r>
              <a:rPr lang="zh-CN" altLang="en-US" sz="1400" dirty="0">
                <a:solidFill>
                  <a:srgbClr val="000000"/>
                </a:solidFill>
                <a:latin typeface="ui-sans-serif"/>
              </a:rPr>
              <a:t>，</a:t>
            </a:r>
            <a:r>
              <a:rPr lang="en-US" altLang="zh-CN" sz="1400" dirty="0">
                <a:solidFill>
                  <a:srgbClr val="000000"/>
                </a:solidFill>
                <a:latin typeface="ui-sans-serif"/>
              </a:rPr>
              <a:t>bitfield</a:t>
            </a:r>
            <a:r>
              <a:rPr lang="zh-CN" altLang="en-US" sz="1400" dirty="0">
                <a:solidFill>
                  <a:srgbClr val="000000"/>
                </a:solidFill>
                <a:latin typeface="ui-sans-serif"/>
              </a:rPr>
              <a:t>是</a:t>
            </a:r>
            <a:r>
              <a:rPr lang="en-US" altLang="zh-CN" sz="1400" dirty="0">
                <a:solidFill>
                  <a:srgbClr val="000000"/>
                </a:solidFill>
                <a:latin typeface="ui-sans-serif"/>
              </a:rPr>
              <a:t>1111 1101</a:t>
            </a:r>
            <a:r>
              <a:rPr lang="zh-CN" altLang="en-US" sz="1400" dirty="0">
                <a:solidFill>
                  <a:srgbClr val="000000"/>
                </a:solidFill>
                <a:latin typeface="ui-sans-serif"/>
              </a:rPr>
              <a:t>，即</a:t>
            </a:r>
            <a:r>
              <a:rPr lang="en-US" altLang="zh-CN" sz="1400" dirty="0">
                <a:solidFill>
                  <a:srgbClr val="000000"/>
                </a:solidFill>
                <a:latin typeface="ui-sans-serif"/>
              </a:rPr>
              <a:t>block1</a:t>
            </a:r>
            <a:r>
              <a:rPr lang="zh-CN" altLang="en-US" sz="1400" dirty="0">
                <a:solidFill>
                  <a:srgbClr val="000000"/>
                </a:solidFill>
                <a:latin typeface="ui-sans-serif"/>
              </a:rPr>
              <a:t>为</a:t>
            </a:r>
            <a:r>
              <a:rPr lang="en-US" altLang="zh-CN" sz="1400" dirty="0">
                <a:solidFill>
                  <a:srgbClr val="000000"/>
                </a:solidFill>
                <a:latin typeface="ui-sans-serif"/>
              </a:rPr>
              <a:t>0</a:t>
            </a:r>
            <a:r>
              <a:rPr lang="zh-CN" altLang="en-US" sz="1400" dirty="0">
                <a:solidFill>
                  <a:srgbClr val="000000"/>
                </a:solidFill>
                <a:latin typeface="ui-sans-serif"/>
              </a:rPr>
              <a:t>，所以后面发起者</a:t>
            </a:r>
            <a:r>
              <a:rPr lang="en-US" altLang="zh-CN" sz="1400" dirty="0">
                <a:solidFill>
                  <a:srgbClr val="000000"/>
                </a:solidFill>
                <a:latin typeface="ui-sans-serif"/>
              </a:rPr>
              <a:t>APS</a:t>
            </a:r>
            <a:r>
              <a:rPr lang="zh-CN" altLang="en-US" sz="1400" dirty="0">
                <a:solidFill>
                  <a:srgbClr val="000000"/>
                </a:solidFill>
                <a:latin typeface="ui-sans-serif"/>
              </a:rPr>
              <a:t>重新发了分片</a:t>
            </a:r>
            <a:r>
              <a:rPr lang="en-US" altLang="zh-CN" sz="1400" dirty="0">
                <a:solidFill>
                  <a:srgbClr val="000000"/>
                </a:solidFill>
                <a:latin typeface="ui-sans-serif"/>
              </a:rPr>
              <a:t>1</a:t>
            </a:r>
            <a:r>
              <a:rPr lang="zh-CN" altLang="en-US" sz="1400" dirty="0">
                <a:solidFill>
                  <a:srgbClr val="000000"/>
                </a:solidFill>
                <a:latin typeface="ui-sans-serif"/>
              </a:rPr>
              <a:t>过去</a:t>
            </a:r>
            <a:endParaRPr lang="zh-CN" altLang="en-US" sz="140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D5FB6CB3-FAF5-1786-14C2-4DC1A43A6C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4508" y="2223606"/>
            <a:ext cx="2846961" cy="2456403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42E6427D-910A-8202-7B19-EBADC112653E}"/>
              </a:ext>
            </a:extLst>
          </p:cNvPr>
          <p:cNvSpPr txBox="1"/>
          <p:nvPr/>
        </p:nvSpPr>
        <p:spPr>
          <a:xfrm>
            <a:off x="5634508" y="916078"/>
            <a:ext cx="289392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400" dirty="0">
                <a:solidFill>
                  <a:srgbClr val="000000"/>
                </a:solidFill>
                <a:effectLst/>
                <a:latin typeface="SimSun-Identity-H"/>
              </a:rPr>
              <a:t>网络中丢失了多个帧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NewRomanPSMT-Identity-H"/>
              </a:rPr>
              <a:t>, 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SimSun-Identity-H"/>
              </a:rPr>
              <a:t>包括窗口中含有最大块数的那个帧。在这种情况下需要稍多 的传输量，但是源后退给了系统一个恢复的机会，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NewRomanPSMT-Identity-H"/>
              </a:rPr>
              <a:t>ASDU 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SimSun-Identity-H"/>
              </a:rPr>
              <a:t>被成功地传输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721788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7F1D3-0FA7-C7BD-5BAD-D71E73402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8CA9BFF1-00FC-6BA1-CF85-BB28E64E5980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APS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关键参数及与其他层交互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6AE5741-6B08-F7C5-A648-7CC0B12EB5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8517927"/>
              </p:ext>
            </p:extLst>
          </p:nvPr>
        </p:nvGraphicFramePr>
        <p:xfrm>
          <a:off x="215590" y="1147548"/>
          <a:ext cx="4140369" cy="1739992"/>
        </p:xfrm>
        <a:graphic>
          <a:graphicData uri="http://schemas.openxmlformats.org/drawingml/2006/table">
            <a:tbl>
              <a:tblPr/>
              <a:tblGrid>
                <a:gridCol w="1588089">
                  <a:extLst>
                    <a:ext uri="{9D8B030D-6E8A-4147-A177-3AD203B41FA5}">
                      <a16:colId xmlns:a16="http://schemas.microsoft.com/office/drawing/2014/main" val="3945403362"/>
                    </a:ext>
                  </a:extLst>
                </a:gridCol>
                <a:gridCol w="926445">
                  <a:extLst>
                    <a:ext uri="{9D8B030D-6E8A-4147-A177-3AD203B41FA5}">
                      <a16:colId xmlns:a16="http://schemas.microsoft.com/office/drawing/2014/main" val="2181803506"/>
                    </a:ext>
                  </a:extLst>
                </a:gridCol>
                <a:gridCol w="1625835">
                  <a:extLst>
                    <a:ext uri="{9D8B030D-6E8A-4147-A177-3AD203B41FA5}">
                      <a16:colId xmlns:a16="http://schemas.microsoft.com/office/drawing/2014/main" val="4091679707"/>
                    </a:ext>
                  </a:extLst>
                </a:gridCol>
              </a:tblGrid>
              <a:tr h="20127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常量名称</a:t>
                      </a:r>
                    </a:p>
                  </a:txBody>
                  <a:tcPr marL="9536" marR="9536" marT="9536" marB="953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取值</a:t>
                      </a:r>
                    </a:p>
                  </a:txBody>
                  <a:tcPr marL="9536" marR="9536" marT="9536" marB="953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说明</a:t>
                      </a:r>
                    </a:p>
                  </a:txBody>
                  <a:tcPr marL="9536" marR="9536" marT="9536" marB="953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7069367"/>
                  </a:ext>
                </a:extLst>
              </a:tr>
              <a:tr h="3835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apscMaxDescriptorSize</a:t>
                      </a:r>
                    </a:p>
                  </a:txBody>
                  <a:tcPr marL="9536" marR="9536" marT="9536" marB="953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200">
                          <a:effectLst/>
                        </a:rPr>
                        <a:t>64 </a:t>
                      </a:r>
                      <a:r>
                        <a:rPr lang="zh-CN" altLang="en-US" sz="1200">
                          <a:effectLst/>
                        </a:rPr>
                        <a:t>字节</a:t>
                      </a:r>
                    </a:p>
                  </a:txBody>
                  <a:tcPr marL="9536" marR="9536" marT="9536" marB="953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描述符的最大长度</a:t>
                      </a:r>
                    </a:p>
                  </a:txBody>
                  <a:tcPr marL="9536" marR="9536" marT="9536" marB="953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5022712"/>
                  </a:ext>
                </a:extLst>
              </a:tr>
              <a:tr h="3835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apscAckWaitDuration</a:t>
                      </a:r>
                    </a:p>
                  </a:txBody>
                  <a:tcPr marL="9536" marR="9536" marT="9536" marB="953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动态计算</a:t>
                      </a:r>
                    </a:p>
                  </a:txBody>
                  <a:tcPr marL="9536" marR="9536" marT="9536" marB="953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等待确认的超时时间（含加密延时）</a:t>
                      </a:r>
                    </a:p>
                  </a:txBody>
                  <a:tcPr marL="9536" marR="9536" marT="9536" marB="953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0284366"/>
                  </a:ext>
                </a:extLst>
              </a:tr>
              <a:tr h="3835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apscMinHeaderOverhead</a:t>
                      </a:r>
                    </a:p>
                  </a:txBody>
                  <a:tcPr marL="9536" marR="9536" marT="9536" marB="953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0x0C</a:t>
                      </a:r>
                    </a:p>
                  </a:txBody>
                  <a:tcPr marL="9536" marR="9536" marT="9536" marB="953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200" dirty="0">
                          <a:effectLst/>
                        </a:rPr>
                        <a:t>APS </a:t>
                      </a:r>
                      <a:r>
                        <a:rPr lang="zh-CN" altLang="en-US" sz="1200" dirty="0">
                          <a:effectLst/>
                        </a:rPr>
                        <a:t>头最小开销字节数</a:t>
                      </a:r>
                    </a:p>
                  </a:txBody>
                  <a:tcPr marL="9536" marR="9536" marT="9536" marB="953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024411"/>
                  </a:ext>
                </a:extLst>
              </a:tr>
              <a:tr h="3835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apscMaxWindowSize</a:t>
                      </a:r>
                    </a:p>
                  </a:txBody>
                  <a:tcPr marL="9536" marR="9536" marT="9536" marB="953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200">
                          <a:effectLst/>
                        </a:rPr>
                        <a:t>1-8</a:t>
                      </a:r>
                    </a:p>
                  </a:txBody>
                  <a:tcPr marL="9536" marR="9536" marT="9536" marB="953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 dirty="0">
                          <a:effectLst/>
                        </a:rPr>
                        <a:t>分段传输的窗口大小</a:t>
                      </a:r>
                    </a:p>
                  </a:txBody>
                  <a:tcPr marL="9536" marR="9536" marT="9536" marB="953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260497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E663E31-CA4C-112F-2290-BA7AA886E7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12124"/>
              </p:ext>
            </p:extLst>
          </p:nvPr>
        </p:nvGraphicFramePr>
        <p:xfrm>
          <a:off x="4406203" y="1147549"/>
          <a:ext cx="4554918" cy="1735452"/>
        </p:xfrm>
        <a:graphic>
          <a:graphicData uri="http://schemas.openxmlformats.org/drawingml/2006/table">
            <a:tbl>
              <a:tblPr/>
              <a:tblGrid>
                <a:gridCol w="1518306">
                  <a:extLst>
                    <a:ext uri="{9D8B030D-6E8A-4147-A177-3AD203B41FA5}">
                      <a16:colId xmlns:a16="http://schemas.microsoft.com/office/drawing/2014/main" val="2208732843"/>
                    </a:ext>
                  </a:extLst>
                </a:gridCol>
                <a:gridCol w="692331">
                  <a:extLst>
                    <a:ext uri="{9D8B030D-6E8A-4147-A177-3AD203B41FA5}">
                      <a16:colId xmlns:a16="http://schemas.microsoft.com/office/drawing/2014/main" val="1284708458"/>
                    </a:ext>
                  </a:extLst>
                </a:gridCol>
                <a:gridCol w="2344281">
                  <a:extLst>
                    <a:ext uri="{9D8B030D-6E8A-4147-A177-3AD203B41FA5}">
                      <a16:colId xmlns:a16="http://schemas.microsoft.com/office/drawing/2014/main" val="1171165110"/>
                    </a:ext>
                  </a:extLst>
                </a:gridCol>
              </a:tblGrid>
              <a:tr h="710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状态码</a:t>
                      </a:r>
                    </a:p>
                  </a:txBody>
                  <a:tcPr marL="11117" marR="11117" marT="11117" marB="1111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取值</a:t>
                      </a:r>
                    </a:p>
                  </a:txBody>
                  <a:tcPr marL="11117" marR="11117" marT="11117" marB="1111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说明</a:t>
                      </a:r>
                    </a:p>
                  </a:txBody>
                  <a:tcPr marL="11117" marR="11117" marT="11117" marB="1111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960649"/>
                  </a:ext>
                </a:extLst>
              </a:tr>
              <a:tr h="1526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SUCCESS</a:t>
                      </a:r>
                    </a:p>
                  </a:txBody>
                  <a:tcPr marL="11117" marR="11117" marT="11117" marB="1111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0x00</a:t>
                      </a:r>
                    </a:p>
                  </a:txBody>
                  <a:tcPr marL="11117" marR="11117" marT="11117" marB="1111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操作成功</a:t>
                      </a:r>
                    </a:p>
                  </a:txBody>
                  <a:tcPr marL="11117" marR="11117" marT="11117" marB="1111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5656829"/>
                  </a:ext>
                </a:extLst>
              </a:tr>
              <a:tr h="1322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NO_ACK</a:t>
                      </a:r>
                    </a:p>
                  </a:txBody>
                  <a:tcPr marL="11117" marR="11117" marT="11117" marB="1111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0xA7</a:t>
                      </a:r>
                    </a:p>
                  </a:txBody>
                  <a:tcPr marL="11117" marR="11117" marT="11117" marB="1111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未收到确认帧</a:t>
                      </a:r>
                    </a:p>
                  </a:txBody>
                  <a:tcPr marL="11117" marR="11117" marT="11117" marB="1111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3801329"/>
                  </a:ext>
                </a:extLst>
              </a:tr>
              <a:tr h="31570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SECURITY_FAIL</a:t>
                      </a:r>
                    </a:p>
                  </a:txBody>
                  <a:tcPr marL="11117" marR="11117" marT="11117" marB="1111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0xAD</a:t>
                      </a:r>
                    </a:p>
                  </a:txBody>
                  <a:tcPr marL="11117" marR="11117" marT="11117" marB="1111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安全处理失败（加密 </a:t>
                      </a:r>
                      <a:r>
                        <a:rPr lang="en-US" altLang="zh-CN" sz="1200">
                          <a:effectLst/>
                        </a:rPr>
                        <a:t>/ </a:t>
                      </a:r>
                      <a:r>
                        <a:rPr lang="zh-CN" altLang="en-US" sz="1200">
                          <a:effectLst/>
                        </a:rPr>
                        <a:t>解密错误）</a:t>
                      </a:r>
                    </a:p>
                  </a:txBody>
                  <a:tcPr marL="11117" marR="11117" marT="11117" marB="1111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864977"/>
                  </a:ext>
                </a:extLst>
              </a:tr>
              <a:tr h="21377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TABLE_FULL</a:t>
                      </a:r>
                    </a:p>
                  </a:txBody>
                  <a:tcPr marL="11117" marR="11117" marT="11117" marB="1111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0xAE</a:t>
                      </a:r>
                    </a:p>
                  </a:txBody>
                  <a:tcPr marL="11117" marR="11117" marT="11117" marB="1111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绑定表 </a:t>
                      </a:r>
                      <a:r>
                        <a:rPr lang="en-US" altLang="zh-CN" sz="1200">
                          <a:effectLst/>
                        </a:rPr>
                        <a:t>/ </a:t>
                      </a:r>
                      <a:r>
                        <a:rPr lang="zh-CN" altLang="en-US" sz="1200">
                          <a:effectLst/>
                        </a:rPr>
                        <a:t>组表已满</a:t>
                      </a:r>
                    </a:p>
                  </a:txBody>
                  <a:tcPr marL="11117" marR="11117" marT="11117" marB="1111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433455"/>
                  </a:ext>
                </a:extLst>
              </a:tr>
              <a:tr h="31570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INVALID_BINDING</a:t>
                      </a:r>
                    </a:p>
                  </a:txBody>
                  <a:tcPr marL="11117" marR="11117" marT="11117" marB="1111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0xA4</a:t>
                      </a:r>
                    </a:p>
                  </a:txBody>
                  <a:tcPr marL="11117" marR="11117" marT="11117" marB="1111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绑定关系不存在（解除绑定时）</a:t>
                      </a:r>
                    </a:p>
                  </a:txBody>
                  <a:tcPr marL="11117" marR="11117" marT="11117" marB="1111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9958201"/>
                  </a:ext>
                </a:extLst>
              </a:tr>
              <a:tr h="2749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ASDU_TOO_LONG</a:t>
                      </a:r>
                    </a:p>
                  </a:txBody>
                  <a:tcPr marL="11117" marR="11117" marT="11117" marB="1111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0xA0</a:t>
                      </a:r>
                    </a:p>
                  </a:txBody>
                  <a:tcPr marL="11117" marR="11117" marT="11117" marB="1111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200" dirty="0">
                          <a:effectLst/>
                        </a:rPr>
                        <a:t>ASDU </a:t>
                      </a:r>
                      <a:r>
                        <a:rPr lang="zh-CN" altLang="en-US" sz="1200" dirty="0">
                          <a:effectLst/>
                        </a:rPr>
                        <a:t>过长且不支持分段</a:t>
                      </a:r>
                    </a:p>
                  </a:txBody>
                  <a:tcPr marL="11117" marR="11117" marT="11117" marB="1111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6631850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5E91A5EB-6EBB-0DFD-8E3C-C997B9D18FEF}"/>
              </a:ext>
            </a:extLst>
          </p:cNvPr>
          <p:cNvSpPr txBox="1"/>
          <p:nvPr/>
        </p:nvSpPr>
        <p:spPr>
          <a:xfrm>
            <a:off x="215591" y="821448"/>
            <a:ext cx="12162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/>
              <a:t>核心参数常量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A28911-BAC0-02FA-A678-A47B99649E90}"/>
              </a:ext>
            </a:extLst>
          </p:cNvPr>
          <p:cNvSpPr txBox="1"/>
          <p:nvPr/>
        </p:nvSpPr>
        <p:spPr>
          <a:xfrm>
            <a:off x="4406203" y="835348"/>
            <a:ext cx="12162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/>
              <a:t>核心状态码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0B5E876-B713-B36D-939D-6A610CAB7BA6}"/>
              </a:ext>
            </a:extLst>
          </p:cNvPr>
          <p:cNvSpPr txBox="1"/>
          <p:nvPr/>
        </p:nvSpPr>
        <p:spPr>
          <a:xfrm>
            <a:off x="215590" y="3183275"/>
            <a:ext cx="8745531" cy="995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APS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与其他层的交互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与</a:t>
            </a:r>
            <a:r>
              <a:rPr lang="zh-CN" altLang="en-US" sz="1200" b="1" dirty="0">
                <a:solidFill>
                  <a:srgbClr val="000000"/>
                </a:solidFill>
                <a:effectLst/>
                <a:latin typeface="ui-sans-serif"/>
              </a:rPr>
              <a:t>网络层（</a:t>
            </a:r>
            <a:r>
              <a:rPr lang="en-US" altLang="zh-CN" sz="1200" b="1" dirty="0">
                <a:solidFill>
                  <a:srgbClr val="000000"/>
                </a:solidFill>
                <a:effectLst/>
                <a:latin typeface="ui-sans-serif"/>
              </a:rPr>
              <a:t>NWK</a:t>
            </a:r>
            <a:r>
              <a:rPr lang="zh-CN" altLang="en-US" sz="1200" b="1" dirty="0">
                <a:solidFill>
                  <a:srgbClr val="000000"/>
                </a:solidFill>
                <a:effectLst/>
                <a:latin typeface="ui-sans-serif"/>
              </a:rPr>
              <a:t>）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：通过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NLDE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（上层实体）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-SAP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传输数据帧，通过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NLME-SAP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获取网络配置（如地址映射）；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与</a:t>
            </a:r>
            <a:r>
              <a:rPr lang="en-US" altLang="zh-CN" sz="1200" b="1" dirty="0">
                <a:solidFill>
                  <a:srgbClr val="000000"/>
                </a:solidFill>
                <a:effectLst/>
                <a:latin typeface="ui-sans-serif"/>
              </a:rPr>
              <a:t>ZDO</a:t>
            </a:r>
            <a:r>
              <a:rPr lang="zh-CN" altLang="en-US" sz="1200" b="1" dirty="0">
                <a:solidFill>
                  <a:srgbClr val="000000"/>
                </a:solidFill>
                <a:effectLst/>
                <a:latin typeface="ui-sans-serif"/>
              </a:rPr>
              <a:t>（</a:t>
            </a:r>
            <a:r>
              <a:rPr lang="en-US" altLang="zh-CN" sz="1200" b="1" dirty="0">
                <a:solidFill>
                  <a:srgbClr val="000000"/>
                </a:solidFill>
                <a:effectLst/>
                <a:latin typeface="ui-sans-serif"/>
              </a:rPr>
              <a:t>ZigBee </a:t>
            </a:r>
            <a:r>
              <a:rPr lang="zh-CN" altLang="en-US" sz="1200" b="1" dirty="0">
                <a:solidFill>
                  <a:srgbClr val="000000"/>
                </a:solidFill>
                <a:effectLst/>
                <a:latin typeface="ui-sans-serif"/>
              </a:rPr>
              <a:t>设备对象）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：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ZDO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通过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APSDE-SAP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传输设备发现、服务发现命令，通过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APSME-SAP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配置绑定和安全参数；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与</a:t>
            </a:r>
            <a:r>
              <a:rPr lang="zh-CN" altLang="en-US" sz="1200" b="1" dirty="0">
                <a:solidFill>
                  <a:srgbClr val="000000"/>
                </a:solidFill>
                <a:effectLst/>
                <a:latin typeface="ui-sans-serif"/>
              </a:rPr>
              <a:t>应用对象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：制造商定义的应用对象通过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APS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提供的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SAP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接口收发数据，无需关注底层寻址和安全细节。</a:t>
            </a:r>
          </a:p>
        </p:txBody>
      </p:sp>
    </p:spTree>
    <p:extLst>
      <p:ext uri="{BB962C8B-B14F-4D97-AF65-F5344CB8AC3E}">
        <p14:creationId xmlns:p14="http://schemas.microsoft.com/office/powerpoint/2010/main" val="1241746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957A2-FAB5-4639-B1A9-E3737FF57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74CCDAA-9AAA-EAEE-10F0-2FC50F9FE59C}"/>
              </a:ext>
            </a:extLst>
          </p:cNvPr>
          <p:cNvSpPr txBox="1"/>
          <p:nvPr/>
        </p:nvSpPr>
        <p:spPr>
          <a:xfrm>
            <a:off x="6241774" y="3882022"/>
            <a:ext cx="25096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Zigbee-ZCL</a:t>
            </a:r>
            <a:r>
              <a:rPr lang="zh-CN" altLang="en-US" sz="2400" dirty="0"/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3222368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2B7C6-2AA1-B282-3814-BAB9C96FA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A17ED82F-D0BD-A55D-A571-F9A5B85978C4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ZCL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详解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53532A-94B4-6A7F-9CCC-042D03B73998}"/>
              </a:ext>
            </a:extLst>
          </p:cNvPr>
          <p:cNvSpPr txBox="1"/>
          <p:nvPr/>
        </p:nvSpPr>
        <p:spPr>
          <a:xfrm>
            <a:off x="215591" y="1736104"/>
            <a:ext cx="8745530" cy="1671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en-US" altLang="zh-CN" sz="1400" b="0" dirty="0">
                <a:solidFill>
                  <a:srgbClr val="000000"/>
                </a:solidFill>
                <a:effectLst/>
                <a:latin typeface="ui-sans-serif"/>
              </a:rPr>
              <a:t>ZCL</a:t>
            </a: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（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ui-sans-serif"/>
              </a:rPr>
              <a:t>ZigBee Cluster Library</a:t>
            </a: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，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ui-sans-serif"/>
              </a:rPr>
              <a:t>ZigBee </a:t>
            </a: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集群库）是 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ui-sans-serif"/>
              </a:rPr>
              <a:t>ZigBee </a:t>
            </a: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协议中定义应用层数据交互规则的核心规范，它基于 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ui-sans-serif"/>
              </a:rPr>
              <a:t>APS</a:t>
            </a: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（应用支持子层）提供的服务，通过标准化的 “集群（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ui-sans-serif"/>
              </a:rPr>
              <a:t>Cluster</a:t>
            </a: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）” 定义设备间的通信内容、命令格式和属性交互方式，是实现不同厂商设备兼容性的关键。</a:t>
            </a:r>
          </a:p>
          <a:p>
            <a:pPr algn="l">
              <a:lnSpc>
                <a:spcPct val="150000"/>
              </a:lnSpc>
              <a:buNone/>
            </a:pP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简单来说，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ui-sans-serif"/>
              </a:rPr>
              <a:t>APS </a:t>
            </a: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解决了 “数据如何传” 的问题，而 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ui-sans-serif"/>
              </a:rPr>
              <a:t>ZCL </a:t>
            </a: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解决了 “数据传什么、怎么解析” 的问题，两者共同构成 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ui-sans-serif"/>
              </a:rPr>
              <a:t>ZigBee </a:t>
            </a: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应用层的通信基础。</a:t>
            </a:r>
          </a:p>
        </p:txBody>
      </p:sp>
    </p:spTree>
    <p:extLst>
      <p:ext uri="{BB962C8B-B14F-4D97-AF65-F5344CB8AC3E}">
        <p14:creationId xmlns:p14="http://schemas.microsoft.com/office/powerpoint/2010/main" val="2069377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E9D52-F1D5-E59C-26A8-91ACDEB87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6BBC007E-8EEA-769C-EACE-E352F135ED07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ZCL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核心概念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9A22F39-2FDB-3706-E2A2-A78B8A62B365}"/>
              </a:ext>
            </a:extLst>
          </p:cNvPr>
          <p:cNvSpPr txBox="1"/>
          <p:nvPr/>
        </p:nvSpPr>
        <p:spPr>
          <a:xfrm>
            <a:off x="215591" y="587682"/>
            <a:ext cx="874553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1200" b="1" dirty="0">
                <a:solidFill>
                  <a:srgbClr val="000000"/>
                </a:solidFill>
                <a:effectLst/>
                <a:latin typeface="ui-sans-serif"/>
              </a:rPr>
              <a:t>集群（</a:t>
            </a:r>
            <a:r>
              <a:rPr lang="en-US" altLang="zh-CN" sz="1200" b="1" dirty="0">
                <a:solidFill>
                  <a:srgbClr val="000000"/>
                </a:solidFill>
                <a:effectLst/>
                <a:latin typeface="ui-sans-serif"/>
              </a:rPr>
              <a:t>Cluster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）</a:t>
            </a:r>
          </a:p>
          <a:p>
            <a:pPr algn="l">
              <a:buNone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（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1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）定义与本质</a:t>
            </a:r>
          </a:p>
          <a:p>
            <a:pPr algn="l">
              <a:buNone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集群是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ZCL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的核心单元，是 “一组相关命令和属性的集合”，用于描述设备的某一类特定功能。例如：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“开关集群（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On/Off Cluster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）”：包含 “开灯”“关灯”“切换状态” 等命令，以及 “当前开关状态” 属性；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“温度测量集群（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Temperature Measurement Cluster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）”：包含 “上报温度” 命令和 “当前温度值”“测量精度” 等属性。</a:t>
            </a:r>
          </a:p>
          <a:p>
            <a:pPr algn="l">
              <a:buNone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每个集群通过唯一的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16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位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Cluster ID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标识，在同一应用规范（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Profile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）内唯一。</a:t>
            </a:r>
          </a:p>
          <a:p>
            <a:pPr algn="l">
              <a:buNone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（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2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）分类</a:t>
            </a:r>
          </a:p>
          <a:p>
            <a:pPr algn="l"/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按功能方向分为：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输入集群（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In Cluster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）：设备可接收的命令和属性（如灯泡的 “开关集群” 为输入集群，接收开关控制命令）；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输出集群（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Out Cluster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）：设备可发送的命令和属性（如开关的 “开关集群” 为输出集群，发送开关控制命令）。</a:t>
            </a:r>
          </a:p>
          <a:p>
            <a:pPr algn="l"/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按归属分为：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公共集群（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Public Cluster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）：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ZigBee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联盟预定义的标准集群（如开关、温度测量、亮度控制等），所有厂商均可使用；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私有集群（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Private Cluster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）：制造商自定义的集群，用于实现特有功能，需申请专属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Cluster ID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0E655AD-0000-5094-040A-BEB61B7039FA}"/>
              </a:ext>
            </a:extLst>
          </p:cNvPr>
          <p:cNvSpPr txBox="1"/>
          <p:nvPr/>
        </p:nvSpPr>
        <p:spPr>
          <a:xfrm>
            <a:off x="215591" y="3080672"/>
            <a:ext cx="8745530" cy="1457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effectLst/>
                <a:latin typeface="ui-sans-serif"/>
              </a:rPr>
              <a:t>应用规范（</a:t>
            </a:r>
            <a:r>
              <a:rPr lang="en-US" altLang="zh-CN" sz="1200" b="1" dirty="0">
                <a:solidFill>
                  <a:srgbClr val="000000"/>
                </a:solidFill>
                <a:effectLst/>
                <a:latin typeface="ui-sans-serif"/>
              </a:rPr>
              <a:t>Profile</a:t>
            </a:r>
            <a:r>
              <a:rPr lang="zh-CN" altLang="en-US" sz="1200" b="1" dirty="0">
                <a:solidFill>
                  <a:srgbClr val="000000"/>
                </a:solidFill>
                <a:effectLst/>
                <a:latin typeface="ui-sans-serif"/>
              </a:rPr>
              <a:t>）</a:t>
            </a:r>
          </a:p>
          <a:p>
            <a:pPr algn="l"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Profile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是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ZCL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的 “应用场景容器”，定义了某一应用领域（如智能家居、工业控制）下的设备类型、支持的集群集合和交互规则。例如：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智能家居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Profile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（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0x0104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）：包含开关、灯泡、传感器等设备类型，预定义了开关集群、温度测量集群等公共集群；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工业控制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Profile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（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0x0107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）：包含阀门、控制器等设备类型，定义了相关工业控制集群。</a:t>
            </a:r>
          </a:p>
          <a:p>
            <a:pPr algn="l">
              <a:lnSpc>
                <a:spcPts val="1800"/>
              </a:lnSpc>
              <a:buNone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每个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Profile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通过唯一的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16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位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Profile ID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标识，设备需遵循同一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Profile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的规则才能实现互操作。</a:t>
            </a:r>
          </a:p>
        </p:txBody>
      </p:sp>
    </p:spTree>
    <p:extLst>
      <p:ext uri="{BB962C8B-B14F-4D97-AF65-F5344CB8AC3E}">
        <p14:creationId xmlns:p14="http://schemas.microsoft.com/office/powerpoint/2010/main" val="1057892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2498F-7528-0E06-E296-7D3AFF9E9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FF90A5E4-3ACE-1661-BA5F-CD6BAE752EF5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ZCL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核心概念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5C5080D-6308-264A-55CD-03F1CDB2730B}"/>
              </a:ext>
            </a:extLst>
          </p:cNvPr>
          <p:cNvSpPr txBox="1"/>
          <p:nvPr/>
        </p:nvSpPr>
        <p:spPr>
          <a:xfrm>
            <a:off x="215591" y="583946"/>
            <a:ext cx="8745530" cy="1918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effectLst/>
                <a:latin typeface="ui-sans-serif"/>
              </a:rPr>
              <a:t>属性（</a:t>
            </a:r>
            <a:r>
              <a:rPr lang="en-US" altLang="zh-CN" sz="1200" b="1" dirty="0">
                <a:solidFill>
                  <a:srgbClr val="000000"/>
                </a:solidFill>
                <a:effectLst/>
                <a:latin typeface="ui-sans-serif"/>
              </a:rPr>
              <a:t>Attribute</a:t>
            </a:r>
            <a:r>
              <a:rPr lang="zh-CN" altLang="en-US" sz="1200" b="1" dirty="0">
                <a:solidFill>
                  <a:srgbClr val="000000"/>
                </a:solidFill>
                <a:effectLst/>
                <a:latin typeface="ui-sans-serif"/>
              </a:rPr>
              <a:t>）</a:t>
            </a:r>
          </a:p>
          <a:p>
            <a:pPr algn="l">
              <a:lnSpc>
                <a:spcPts val="1800"/>
              </a:lnSpc>
              <a:buNone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（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1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）定义与作用</a:t>
            </a:r>
          </a:p>
          <a:p>
            <a:pPr algn="l">
              <a:lnSpc>
                <a:spcPts val="1800"/>
              </a:lnSpc>
              <a:buNone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属性是设备状态或配置参数的抽象描述，通过键值对（属性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ID +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属性值）表示，例如：温度传感器的 “当前温度值”（属性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ID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：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0x0000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），值类型为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16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位有符号整数；灯泡的 “亮度值”（属性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ID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：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0x0000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），值类型为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8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位无符号整数（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0-255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）。</a:t>
            </a:r>
          </a:p>
          <a:p>
            <a:pPr algn="l">
              <a:lnSpc>
                <a:spcPts val="1800"/>
              </a:lnSpc>
              <a:buNone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（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2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）核心特性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每个属性有唯一的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16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位属性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ID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，在所属集群内唯一；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支持数据类型标准化（如布尔值、整数、字符串等）；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可配置访问权限（读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/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写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/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报告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/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通知等），例如 “当前温度” 为只读属性，“亮度阈值” 为可写属性。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CCA85D6-D658-8CAF-2B58-57E3472485FD}"/>
              </a:ext>
            </a:extLst>
          </p:cNvPr>
          <p:cNvSpPr txBox="1"/>
          <p:nvPr/>
        </p:nvSpPr>
        <p:spPr>
          <a:xfrm>
            <a:off x="215591" y="2502869"/>
            <a:ext cx="8745530" cy="2380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effectLst/>
                <a:latin typeface="ui-sans-serif"/>
              </a:rPr>
              <a:t>命令（</a:t>
            </a:r>
            <a:r>
              <a:rPr lang="en-US" altLang="zh-CN" sz="1200" b="1" dirty="0">
                <a:solidFill>
                  <a:srgbClr val="000000"/>
                </a:solidFill>
                <a:effectLst/>
                <a:latin typeface="ui-sans-serif"/>
              </a:rPr>
              <a:t>Command</a:t>
            </a:r>
            <a:r>
              <a:rPr lang="zh-CN" altLang="en-US" sz="1200" b="1" dirty="0">
                <a:solidFill>
                  <a:srgbClr val="000000"/>
                </a:solidFill>
                <a:effectLst/>
                <a:latin typeface="ui-sans-serif"/>
              </a:rPr>
              <a:t>）</a:t>
            </a:r>
          </a:p>
          <a:p>
            <a:pPr algn="l">
              <a:lnSpc>
                <a:spcPts val="1800"/>
              </a:lnSpc>
              <a:buNone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（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1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）定义与作用</a:t>
            </a:r>
          </a:p>
          <a:p>
            <a:pPr algn="l">
              <a:lnSpc>
                <a:spcPts val="1800"/>
              </a:lnSpc>
              <a:buNone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命令是设备间主动发起的操作请求或响应，例如：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控制命令：开关发送 “开灯命令”（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0x01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）给灯泡；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响应命令：灯泡收到控制命令后返回 “命令响应”（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0x0B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）；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报告命令：传感器主动发送 “温度报告命令”（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0x0A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）给网关。</a:t>
            </a:r>
          </a:p>
          <a:p>
            <a:pPr algn="l">
              <a:lnSpc>
                <a:spcPts val="1800"/>
              </a:lnSpc>
              <a:buNone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（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2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）编码规则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命令通过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8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位命令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ID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标识，在所属集群内唯一；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支持命令携带参数（如 “设置亮度命令” 携带目标亮度值）；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支持确认机制：关键命令可要求接收方返回确认，确保操作生效。</a:t>
            </a:r>
          </a:p>
        </p:txBody>
      </p:sp>
    </p:spTree>
    <p:extLst>
      <p:ext uri="{BB962C8B-B14F-4D97-AF65-F5344CB8AC3E}">
        <p14:creationId xmlns:p14="http://schemas.microsoft.com/office/powerpoint/2010/main" val="28430029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5FECF-3B80-510F-359E-7E7D9115C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BE8A44EE-52F4-AFA7-AFC3-45C8E5941076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ZCL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核心功能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5C15224-7E7F-FA23-01BA-D9A7B2C63D2C}"/>
              </a:ext>
            </a:extLst>
          </p:cNvPr>
          <p:cNvSpPr txBox="1"/>
          <p:nvPr/>
        </p:nvSpPr>
        <p:spPr>
          <a:xfrm>
            <a:off x="215591" y="794969"/>
            <a:ext cx="8745530" cy="1457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effectLst/>
                <a:latin typeface="ui-sans-serif"/>
              </a:rPr>
              <a:t>属性交互</a:t>
            </a:r>
          </a:p>
          <a:p>
            <a:pPr algn="l"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ZCL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定义了属性的四种核心交互方式，适配不同状态同步需求：</a:t>
            </a: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读取属性（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Read Attribute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）：设备主动查询另一设备的属性值（如网关查询传感器的当前温度）；</a:t>
            </a: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写入属性（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Write Attribute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）：设备修改另一设备的属性值（如网关设置灯泡的亮度值）；</a:t>
            </a: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属性报告（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Attribute Report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）：设备主动上报属性变化（如传感器温度超过阈值时上报）；</a:t>
            </a: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属性通知（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Attribute Notification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）：设备实时推送属性状态（如开关状态变化时通知关联设备）。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9A0C6CF-2A20-BE77-9ECD-E8C9F4432E2F}"/>
              </a:ext>
            </a:extLst>
          </p:cNvPr>
          <p:cNvSpPr txBox="1"/>
          <p:nvPr/>
        </p:nvSpPr>
        <p:spPr>
          <a:xfrm>
            <a:off x="215590" y="2891273"/>
            <a:ext cx="8745529" cy="995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effectLst/>
                <a:latin typeface="ui-sans-serif"/>
              </a:rPr>
              <a:t>命令交互</a:t>
            </a:r>
          </a:p>
          <a:p>
            <a:pPr algn="l">
              <a:lnSpc>
                <a:spcPts val="1800"/>
              </a:lnSpc>
              <a:buNone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命令交互支持 “请求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-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响应” 和 “单向通知” 两种模式：</a:t>
            </a: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请求 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-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响应模式：发起方发送命令后，接收方需返回响应（成功 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/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失败 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/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状态），适用于关键操作（如开锁命令）；</a:t>
            </a: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单向通知模式：发起方发送命令后无需接收方响应，适用于非关键操作（如状态同步通知）。</a:t>
            </a:r>
          </a:p>
        </p:txBody>
      </p:sp>
    </p:spTree>
    <p:extLst>
      <p:ext uri="{BB962C8B-B14F-4D97-AF65-F5344CB8AC3E}">
        <p14:creationId xmlns:p14="http://schemas.microsoft.com/office/powerpoint/2010/main" val="14410440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2B355-C6F6-7DC6-C164-907FD8B45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33C67318-2AD1-B283-0851-0E2AF835D938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ZCL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核心功能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215C9ED-E505-5809-E294-66B56333F9A4}"/>
              </a:ext>
            </a:extLst>
          </p:cNvPr>
          <p:cNvSpPr txBox="1"/>
          <p:nvPr/>
        </p:nvSpPr>
        <p:spPr>
          <a:xfrm>
            <a:off x="215591" y="763985"/>
            <a:ext cx="8745530" cy="1226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effectLst/>
                <a:latin typeface="ui-sans-serif"/>
              </a:rPr>
              <a:t>事件与报告机制</a:t>
            </a:r>
          </a:p>
          <a:p>
            <a:pPr algn="l"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ZCL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支持基于事件的属性报告，核心特性包括：</a:t>
            </a: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可配置报告触发条件（如属性变化量超过阈值、定时报告）；</a:t>
            </a: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支持报告抑制（避免频繁上报导致网络拥堵）；</a:t>
            </a: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报告数据包含属性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ID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、属性值、时间戳等关键信息。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19E687C-99E5-5B92-3336-26405AB1DE0D}"/>
              </a:ext>
            </a:extLst>
          </p:cNvPr>
          <p:cNvSpPr txBox="1"/>
          <p:nvPr/>
        </p:nvSpPr>
        <p:spPr>
          <a:xfrm>
            <a:off x="215590" y="2446927"/>
            <a:ext cx="8079323" cy="995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effectLst/>
                <a:latin typeface="ui-sans-serif"/>
              </a:rPr>
              <a:t>兼容性扩展</a:t>
            </a: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制造商扩展：支持在标准集群中添加制造商自定义属性和命令，扩展特有功能；</a:t>
            </a: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集群组合：设备可支持多个集群（如智能灯泡同时支持 “开关集群”“亮度控制集群”“色温控制集群”）；</a:t>
            </a: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版本兼容：支持集群版本升级，新设备可向下兼容旧设备的命令和属性。</a:t>
            </a:r>
          </a:p>
        </p:txBody>
      </p:sp>
    </p:spTree>
    <p:extLst>
      <p:ext uri="{BB962C8B-B14F-4D97-AF65-F5344CB8AC3E}">
        <p14:creationId xmlns:p14="http://schemas.microsoft.com/office/powerpoint/2010/main" val="11964474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44420-37EB-8269-3F86-F280DB780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50FBEAFC-24B4-DD7A-2C95-5618EACEC12A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APS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与</a:t>
            </a:r>
            <a:r>
              <a:rPr lang="en-US" altLang="zh-CN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ZCL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的关联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3D5074C-ECA8-57D9-FA64-5E8F06C8555A}"/>
              </a:ext>
            </a:extLst>
          </p:cNvPr>
          <p:cNvSpPr txBox="1"/>
          <p:nvPr/>
        </p:nvSpPr>
        <p:spPr>
          <a:xfrm>
            <a:off x="215591" y="1412939"/>
            <a:ext cx="8745530" cy="2640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en-US" altLang="zh-CN" sz="1400" b="0" dirty="0">
                <a:solidFill>
                  <a:srgbClr val="000000"/>
                </a:solidFill>
                <a:effectLst/>
                <a:latin typeface="ui-sans-serif"/>
              </a:rPr>
              <a:t>ZCL </a:t>
            </a: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依赖 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ui-sans-serif"/>
              </a:rPr>
              <a:t>APS </a:t>
            </a: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提供的底层服务实现通信，两者的协作流程如下：</a:t>
            </a:r>
            <a:endParaRPr lang="en-US" altLang="zh-CN" sz="1400" b="0" dirty="0">
              <a:solidFill>
                <a:srgbClr val="000000"/>
              </a:solidFill>
              <a:effectLst/>
              <a:latin typeface="ui-sans-serif"/>
            </a:endParaRPr>
          </a:p>
          <a:p>
            <a:pPr algn="l">
              <a:lnSpc>
                <a:spcPct val="150000"/>
              </a:lnSpc>
              <a:buNone/>
            </a:pPr>
            <a:endParaRPr lang="zh-CN" altLang="en-US" sz="1400" b="0" dirty="0">
              <a:solidFill>
                <a:srgbClr val="000000"/>
              </a:solidFill>
              <a:effectLst/>
              <a:latin typeface="ui-sans-serif"/>
            </a:endParaRP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应用层通过 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ui-sans-serif"/>
              </a:rPr>
              <a:t>ZCL </a:t>
            </a: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定义命令和属性，封装为 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ui-sans-serif"/>
              </a:rPr>
              <a:t>ZCL </a:t>
            </a: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帧；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400" b="0" dirty="0">
                <a:solidFill>
                  <a:srgbClr val="000000"/>
                </a:solidFill>
                <a:effectLst/>
                <a:latin typeface="ui-sans-serif"/>
              </a:rPr>
              <a:t>ZCL </a:t>
            </a: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帧作为 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ui-sans-serif"/>
              </a:rPr>
              <a:t>APS </a:t>
            </a: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的应用服务数据单元（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ui-sans-serif"/>
              </a:rPr>
              <a:t>ASDU</a:t>
            </a: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），传递给 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ui-sans-serif"/>
              </a:rPr>
              <a:t>APS </a:t>
            </a: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子层；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400" b="0" dirty="0">
                <a:solidFill>
                  <a:srgbClr val="000000"/>
                </a:solidFill>
                <a:effectLst/>
                <a:latin typeface="ui-sans-serif"/>
              </a:rPr>
              <a:t>APS </a:t>
            </a: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子层添加 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ui-sans-serif"/>
              </a:rPr>
              <a:t>APS </a:t>
            </a: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头（含 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ui-sans-serif"/>
              </a:rPr>
              <a:t>Profile ID</a:t>
            </a: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、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ui-sans-serif"/>
              </a:rPr>
              <a:t>Cluster ID</a:t>
            </a: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、端点信息），通过 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ui-sans-serif"/>
              </a:rPr>
              <a:t>NWK </a:t>
            </a: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层传输；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接收方 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ui-sans-serif"/>
              </a:rPr>
              <a:t>APS </a:t>
            </a: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子层解析 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ui-sans-serif"/>
              </a:rPr>
              <a:t>APS </a:t>
            </a: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头，提取 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ui-sans-serif"/>
              </a:rPr>
              <a:t>ZCL </a:t>
            </a: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帧并传递给应用层；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应用层通过 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ui-sans-serif"/>
              </a:rPr>
              <a:t>ZCL </a:t>
            </a: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解析命令和属性，执行对应操作。</a:t>
            </a:r>
          </a:p>
          <a:p>
            <a:pPr algn="l">
              <a:lnSpc>
                <a:spcPct val="150000"/>
              </a:lnSpc>
              <a:buNone/>
            </a:pP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简单来说：</a:t>
            </a:r>
            <a:r>
              <a:rPr lang="en-US" altLang="zh-CN" sz="1400" b="1" dirty="0">
                <a:solidFill>
                  <a:srgbClr val="000000"/>
                </a:solidFill>
                <a:effectLst/>
                <a:latin typeface="ui-sans-serif"/>
              </a:rPr>
              <a:t>APS </a:t>
            </a:r>
            <a:r>
              <a:rPr lang="zh-CN" altLang="en-US" sz="1400" b="1" dirty="0">
                <a:solidFill>
                  <a:srgbClr val="000000"/>
                </a:solidFill>
                <a:effectLst/>
                <a:latin typeface="ui-sans-serif"/>
              </a:rPr>
              <a:t>负责 “把数据送到正确的设备端点”，</a:t>
            </a:r>
            <a:r>
              <a:rPr lang="en-US" altLang="zh-CN" sz="1400" b="1" dirty="0">
                <a:solidFill>
                  <a:srgbClr val="000000"/>
                </a:solidFill>
                <a:effectLst/>
                <a:latin typeface="ui-sans-serif"/>
              </a:rPr>
              <a:t>ZCL </a:t>
            </a:r>
            <a:r>
              <a:rPr lang="zh-CN" altLang="en-US" sz="1400" b="1" dirty="0">
                <a:solidFill>
                  <a:srgbClr val="000000"/>
                </a:solidFill>
                <a:effectLst/>
                <a:latin typeface="ui-sans-serif"/>
              </a:rPr>
              <a:t>负责 “让设备理解数据的含义和操作”</a:t>
            </a:r>
            <a:endParaRPr lang="zh-CN" altLang="en-US" sz="1400" b="0" dirty="0">
              <a:solidFill>
                <a:srgbClr val="000000"/>
              </a:solidFill>
              <a:effectLst/>
              <a:latin typeface="ui-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2805062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32327-3CAE-2E33-1770-A496A9BFA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DFF4447-7E74-37C1-9187-5D6CCB075976}"/>
              </a:ext>
            </a:extLst>
          </p:cNvPr>
          <p:cNvSpPr txBox="1"/>
          <p:nvPr/>
        </p:nvSpPr>
        <p:spPr>
          <a:xfrm>
            <a:off x="6241774" y="3882022"/>
            <a:ext cx="25096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Zigbee-ZDO</a:t>
            </a:r>
            <a:r>
              <a:rPr lang="zh-CN" altLang="en-US" sz="2400" dirty="0"/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31811443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52667-B911-117F-7A86-5A48F6978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EC367E1C-1AB6-6A57-9FFA-547C442005A3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ZDO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详解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DAC62FB-CDBA-B071-B061-0D4BF8290AB3}"/>
              </a:ext>
            </a:extLst>
          </p:cNvPr>
          <p:cNvSpPr txBox="1"/>
          <p:nvPr/>
        </p:nvSpPr>
        <p:spPr>
          <a:xfrm>
            <a:off x="215591" y="1864279"/>
            <a:ext cx="8745530" cy="1671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en-US" altLang="zh-CN" sz="1400" b="0" dirty="0">
                <a:solidFill>
                  <a:srgbClr val="000000"/>
                </a:solidFill>
                <a:effectLst/>
                <a:latin typeface="ui-sans-serif"/>
              </a:rPr>
              <a:t>ZDO</a:t>
            </a: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（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ui-sans-serif"/>
              </a:rPr>
              <a:t>ZigBee Device Object</a:t>
            </a: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，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ui-sans-serif"/>
              </a:rPr>
              <a:t>ZigBee </a:t>
            </a: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设备对象）是 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ui-sans-serif"/>
              </a:rPr>
              <a:t>ZigBee </a:t>
            </a: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应用层的核心管理组件，位于应用框架与 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ui-sans-serif"/>
              </a:rPr>
              <a:t>APS </a:t>
            </a: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子层之间，负责设备的网络角色定义、网络管理、服务发现、绑定管理和安全关系建立，是 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ui-sans-serif"/>
              </a:rPr>
              <a:t>ZigBee </a:t>
            </a: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设备实现互联互通的 “中枢大脑”。</a:t>
            </a:r>
          </a:p>
          <a:p>
            <a:pPr algn="l">
              <a:lnSpc>
                <a:spcPct val="150000"/>
              </a:lnSpc>
              <a:buNone/>
            </a:pP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简单来说，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ui-sans-serif"/>
              </a:rPr>
              <a:t>ZDO </a:t>
            </a: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的核心作用是 “管理设备的网络生命周期”，从设备入网、能力宣告到通信关系建立，均由 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ui-sans-serif"/>
              </a:rPr>
              <a:t>ZDO </a:t>
            </a: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统筹协调。</a:t>
            </a:r>
          </a:p>
        </p:txBody>
      </p:sp>
    </p:spTree>
    <p:extLst>
      <p:ext uri="{BB962C8B-B14F-4D97-AF65-F5344CB8AC3E}">
        <p14:creationId xmlns:p14="http://schemas.microsoft.com/office/powerpoint/2010/main" val="12511745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E1CBB-29C2-0375-02F8-2516F01B7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6EE3C470-7567-C348-BAE4-8492418146C6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ZDO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的核心定位与职责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4658083-B443-96FE-63E7-AF732B5C8F9F}"/>
              </a:ext>
            </a:extLst>
          </p:cNvPr>
          <p:cNvSpPr txBox="1"/>
          <p:nvPr/>
        </p:nvSpPr>
        <p:spPr>
          <a:xfrm>
            <a:off x="215591" y="593435"/>
            <a:ext cx="8745530" cy="1688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effectLst/>
                <a:latin typeface="ui-sans-serif"/>
              </a:rPr>
              <a:t>核心定位</a:t>
            </a:r>
          </a:p>
          <a:p>
            <a:pPr algn="l"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ZDO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是设备的 “网络管理员” 和 “通信中介”，向上对接应用层，向下通过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APS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子层与网络层、安全层交互，核心职责包括：</a:t>
            </a: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定义设备在网络中的角色（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ZigBee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协调器、路由器、终端设备）；</a:t>
            </a: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初始化协议栈各层（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APS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、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NWK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、安全服务）；</a:t>
            </a: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管理设备发现、服务发现和地址映射；</a:t>
            </a: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维护绑定关系和安全密钥；</a:t>
            </a: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处理网络管理命令（如入网、退网、地址分配）。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EDDEE24-802F-DBC9-C574-CC5A06043975}"/>
              </a:ext>
            </a:extLst>
          </p:cNvPr>
          <p:cNvSpPr txBox="1"/>
          <p:nvPr/>
        </p:nvSpPr>
        <p:spPr>
          <a:xfrm>
            <a:off x="215591" y="2447470"/>
            <a:ext cx="8704888" cy="2149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effectLst/>
                <a:latin typeface="ui-sans-serif"/>
              </a:rPr>
              <a:t>关键职责拆解</a:t>
            </a: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网络初始化与角色管理：协调器启动时，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ZDO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触发网络创建（分配 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PAN ID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、信道、网络密钥）；路由器 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/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终端设备启动时，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ZDO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触发网络扫描和入网请求。</a:t>
            </a: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地址管理：维护 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64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位 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IEEE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地址与 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16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位 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NWK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短地址的映射关系，处理地址查询请求（如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ui-sans-serif"/>
              </a:rPr>
              <a:t>NWK_addr_req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、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ui-sans-serif"/>
              </a:rPr>
              <a:t>IEEE_addr_req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）。</a:t>
            </a: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服务发现：通过描述符（节点描述符、简单描述符等）宣告设备能力，响应其他设备的服务查询（如活动端点查询、集群支持查询）。</a:t>
            </a: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绑定管理：发起或响应绑定请求，维护设备间的逻辑通信关系，配合 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APS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层完成绑定表配置。</a:t>
            </a: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安全管理：与信任中心交互，获取网络密钥和链路密钥，建立设备间的安全通信关系。</a:t>
            </a: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网络管理：处理网络退网、设备更新、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PAN ID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冲突解决等网络级命令。</a:t>
            </a:r>
          </a:p>
        </p:txBody>
      </p:sp>
    </p:spTree>
    <p:extLst>
      <p:ext uri="{BB962C8B-B14F-4D97-AF65-F5344CB8AC3E}">
        <p14:creationId xmlns:p14="http://schemas.microsoft.com/office/powerpoint/2010/main" val="15406837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2F988-AB09-CF92-AA94-580264F16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583F87C6-3763-1515-E884-60D08CFBFD75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ZDO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的核心功能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5D3315F-9AEA-994E-1158-B28C3752FBD1}"/>
              </a:ext>
            </a:extLst>
          </p:cNvPr>
          <p:cNvSpPr txBox="1"/>
          <p:nvPr/>
        </p:nvSpPr>
        <p:spPr>
          <a:xfrm>
            <a:off x="215591" y="482909"/>
            <a:ext cx="8745530" cy="1684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zh-CN" altLang="en-US" sz="1100" b="1" dirty="0">
                <a:solidFill>
                  <a:srgbClr val="000000"/>
                </a:solidFill>
                <a:effectLst/>
                <a:latin typeface="ui-sans-serif"/>
              </a:rPr>
              <a:t>设备发现与地址管理</a:t>
            </a:r>
          </a:p>
          <a:p>
            <a:pPr algn="l">
              <a:lnSpc>
                <a:spcPts val="1800"/>
              </a:lnSpc>
              <a:buNone/>
            </a:pPr>
            <a:r>
              <a:rPr lang="zh-CN" altLang="en-US" sz="1100" b="0" dirty="0">
                <a:solidFill>
                  <a:srgbClr val="000000"/>
                </a:solidFill>
                <a:effectLst/>
                <a:latin typeface="ui-sans-serif"/>
              </a:rPr>
              <a:t>设备发现是 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ui-sans-serif"/>
              </a:rPr>
              <a:t>ZDO </a:t>
            </a:r>
            <a:r>
              <a:rPr lang="zh-CN" altLang="en-US" sz="1100" b="0" dirty="0">
                <a:solidFill>
                  <a:srgbClr val="000000"/>
                </a:solidFill>
                <a:effectLst/>
                <a:latin typeface="ui-sans-serif"/>
              </a:rPr>
              <a:t>最基础的功能，用于实现网络中设备的相互识别，核心流程包括：</a:t>
            </a:r>
          </a:p>
          <a:p>
            <a:pPr algn="l">
              <a:lnSpc>
                <a:spcPts val="1800"/>
              </a:lnSpc>
            </a:pPr>
            <a:r>
              <a:rPr lang="zh-CN" altLang="en-US" sz="1100" dirty="0">
                <a:solidFill>
                  <a:srgbClr val="000000"/>
                </a:solidFill>
                <a:effectLst/>
                <a:latin typeface="ui-sans-serif"/>
              </a:rPr>
              <a:t>地址查询：支持两种地址映射查询：</a:t>
            </a:r>
          </a:p>
          <a:p>
            <a:pPr marL="628650" lvl="1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zh-CN" sz="1100" dirty="0" err="1">
                <a:solidFill>
                  <a:srgbClr val="000000"/>
                </a:solidFill>
                <a:effectLst/>
                <a:latin typeface="ui-sans-serif"/>
              </a:rPr>
              <a:t>NWK_addr_req</a:t>
            </a:r>
            <a:r>
              <a:rPr lang="zh-CN" altLang="en-US" sz="1100" dirty="0">
                <a:solidFill>
                  <a:srgbClr val="000000"/>
                </a:solidFill>
                <a:effectLst/>
                <a:latin typeface="ui-sans-serif"/>
              </a:rPr>
              <a:t>：通过 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ui-sans-serif"/>
              </a:rPr>
              <a:t>64 </a:t>
            </a:r>
            <a:r>
              <a:rPr lang="zh-CN" altLang="en-US" sz="1100" dirty="0">
                <a:solidFill>
                  <a:srgbClr val="000000"/>
                </a:solidFill>
                <a:effectLst/>
                <a:latin typeface="ui-sans-serif"/>
              </a:rPr>
              <a:t>位 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ui-sans-serif"/>
              </a:rPr>
              <a:t>IEEE </a:t>
            </a:r>
            <a:r>
              <a:rPr lang="zh-CN" altLang="en-US" sz="1100" dirty="0">
                <a:solidFill>
                  <a:srgbClr val="000000"/>
                </a:solidFill>
                <a:effectLst/>
                <a:latin typeface="ui-sans-serif"/>
              </a:rPr>
              <a:t>地址查询 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ui-sans-serif"/>
              </a:rPr>
              <a:t>16 </a:t>
            </a:r>
            <a:r>
              <a:rPr lang="zh-CN" altLang="en-US" sz="1100" dirty="0">
                <a:solidFill>
                  <a:srgbClr val="000000"/>
                </a:solidFill>
                <a:effectLst/>
                <a:latin typeface="ui-sans-serif"/>
              </a:rPr>
              <a:t>位 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ui-sans-serif"/>
              </a:rPr>
              <a:t>NWK </a:t>
            </a:r>
            <a:r>
              <a:rPr lang="zh-CN" altLang="en-US" sz="1100" dirty="0">
                <a:solidFill>
                  <a:srgbClr val="000000"/>
                </a:solidFill>
                <a:effectLst/>
                <a:latin typeface="ui-sans-serif"/>
              </a:rPr>
              <a:t>短地址，</a:t>
            </a:r>
            <a:r>
              <a:rPr lang="zh-CN" altLang="en-US" sz="1100" dirty="0"/>
              <a:t>支持单播 </a:t>
            </a:r>
            <a:r>
              <a:rPr lang="en-US" altLang="zh-CN" sz="1100" dirty="0"/>
              <a:t>/ </a:t>
            </a:r>
            <a:r>
              <a:rPr lang="zh-CN" altLang="en-US" sz="1100" dirty="0"/>
              <a:t>广播寻址，响应包含目标设备的 </a:t>
            </a:r>
            <a:r>
              <a:rPr lang="en-US" altLang="zh-CN" sz="1100" dirty="0"/>
              <a:t>NWK </a:t>
            </a:r>
            <a:r>
              <a:rPr lang="zh-CN" altLang="en-US" sz="1100" dirty="0"/>
              <a:t>地址及关联设备列表</a:t>
            </a:r>
            <a:r>
              <a:rPr lang="zh-CN" altLang="en-US" sz="1100" dirty="0">
                <a:solidFill>
                  <a:srgbClr val="000000"/>
                </a:solidFill>
                <a:effectLst/>
                <a:latin typeface="ui-sans-serif"/>
              </a:rPr>
              <a:t>；</a:t>
            </a:r>
          </a:p>
          <a:p>
            <a:pPr marL="628650" lvl="1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zh-CN" sz="1100" dirty="0" err="1">
                <a:solidFill>
                  <a:srgbClr val="000000"/>
                </a:solidFill>
                <a:effectLst/>
                <a:latin typeface="ui-sans-serif"/>
              </a:rPr>
              <a:t>IEEE_addr_req</a:t>
            </a:r>
            <a:r>
              <a:rPr lang="zh-CN" altLang="en-US" sz="1100" dirty="0">
                <a:solidFill>
                  <a:srgbClr val="000000"/>
                </a:solidFill>
                <a:effectLst/>
                <a:latin typeface="ui-sans-serif"/>
              </a:rPr>
              <a:t>：通过 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ui-sans-serif"/>
              </a:rPr>
              <a:t>16 </a:t>
            </a:r>
            <a:r>
              <a:rPr lang="zh-CN" altLang="en-US" sz="1100" dirty="0">
                <a:solidFill>
                  <a:srgbClr val="000000"/>
                </a:solidFill>
                <a:effectLst/>
                <a:latin typeface="ui-sans-serif"/>
              </a:rPr>
              <a:t>位 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ui-sans-serif"/>
              </a:rPr>
              <a:t>NWK </a:t>
            </a:r>
            <a:r>
              <a:rPr lang="zh-CN" altLang="en-US" sz="1100" dirty="0">
                <a:solidFill>
                  <a:srgbClr val="000000"/>
                </a:solidFill>
                <a:effectLst/>
                <a:latin typeface="ui-sans-serif"/>
              </a:rPr>
              <a:t>短地址查询 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ui-sans-serif"/>
              </a:rPr>
              <a:t>64 </a:t>
            </a:r>
            <a:r>
              <a:rPr lang="zh-CN" altLang="en-US" sz="1100" dirty="0">
                <a:solidFill>
                  <a:srgbClr val="000000"/>
                </a:solidFill>
                <a:effectLst/>
                <a:latin typeface="ui-sans-serif"/>
              </a:rPr>
              <a:t>位 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ui-sans-serif"/>
              </a:rPr>
              <a:t>IEEE </a:t>
            </a:r>
            <a:r>
              <a:rPr lang="zh-CN" altLang="en-US" sz="1100" dirty="0">
                <a:solidFill>
                  <a:srgbClr val="000000"/>
                </a:solidFill>
                <a:effectLst/>
                <a:latin typeface="ui-sans-serif"/>
              </a:rPr>
              <a:t>地址，</a:t>
            </a:r>
            <a:r>
              <a:rPr lang="zh-CN" altLang="en-US" sz="1100" dirty="0"/>
              <a:t>仅支持单播寻址；</a:t>
            </a:r>
            <a:endParaRPr lang="zh-CN" altLang="en-US" sz="1100" dirty="0">
              <a:solidFill>
                <a:srgbClr val="000000"/>
              </a:solidFill>
              <a:effectLst/>
              <a:latin typeface="ui-sans-serif"/>
            </a:endParaRP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000000"/>
                </a:solidFill>
                <a:effectLst/>
                <a:latin typeface="ui-sans-serif"/>
              </a:rPr>
              <a:t>设备宣告：设备入网后，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ui-sans-serif"/>
              </a:rPr>
              <a:t>ZDO </a:t>
            </a:r>
            <a:r>
              <a:rPr lang="zh-CN" altLang="en-US" sz="1100" dirty="0">
                <a:solidFill>
                  <a:srgbClr val="000000"/>
                </a:solidFill>
                <a:effectLst/>
                <a:latin typeface="ui-sans-serif"/>
              </a:rPr>
              <a:t>发送 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ui-sans-serif"/>
              </a:rPr>
              <a:t>Device_annce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ui-sans-serif"/>
              </a:rPr>
              <a:t> </a:t>
            </a:r>
            <a:r>
              <a:rPr lang="zh-CN" altLang="en-US" sz="1100" dirty="0">
                <a:solidFill>
                  <a:srgbClr val="000000"/>
                </a:solidFill>
                <a:effectLst/>
                <a:latin typeface="ui-sans-serif"/>
              </a:rPr>
              <a:t>命令，向网络广播自身的 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ui-sans-serif"/>
              </a:rPr>
              <a:t>IEEE </a:t>
            </a:r>
            <a:r>
              <a:rPr lang="zh-CN" altLang="en-US" sz="1100" dirty="0">
                <a:solidFill>
                  <a:srgbClr val="000000"/>
                </a:solidFill>
                <a:effectLst/>
                <a:latin typeface="ui-sans-serif"/>
              </a:rPr>
              <a:t>地址、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ui-sans-serif"/>
              </a:rPr>
              <a:t>NWK </a:t>
            </a:r>
            <a:r>
              <a:rPr lang="zh-CN" altLang="en-US" sz="1100" dirty="0">
                <a:solidFill>
                  <a:srgbClr val="000000"/>
                </a:solidFill>
                <a:effectLst/>
                <a:latin typeface="ui-sans-serif"/>
              </a:rPr>
              <a:t>地址和设备能力，更新其他设备的地址映射表。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A941230-C6A8-FAF2-70FC-1632BDF86EEF}"/>
              </a:ext>
            </a:extLst>
          </p:cNvPr>
          <p:cNvSpPr txBox="1"/>
          <p:nvPr/>
        </p:nvSpPr>
        <p:spPr>
          <a:xfrm>
            <a:off x="215591" y="2097518"/>
            <a:ext cx="8745530" cy="2839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zh-CN" altLang="en-US" sz="1100" b="1" dirty="0">
                <a:solidFill>
                  <a:srgbClr val="000000"/>
                </a:solidFill>
                <a:effectLst/>
                <a:latin typeface="ui-sans-serif"/>
              </a:rPr>
              <a:t>服务发现</a:t>
            </a:r>
          </a:p>
          <a:p>
            <a:pPr algn="l">
              <a:lnSpc>
                <a:spcPts val="1800"/>
              </a:lnSpc>
              <a:buNone/>
            </a:pPr>
            <a:r>
              <a:rPr lang="zh-CN" altLang="en-US" sz="1100" b="0" dirty="0">
                <a:solidFill>
                  <a:srgbClr val="000000"/>
                </a:solidFill>
                <a:effectLst/>
                <a:latin typeface="ui-sans-serif"/>
              </a:rPr>
              <a:t>服务发现用于让设备相互识别对方的功能能力（支持的 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ui-sans-serif"/>
              </a:rPr>
              <a:t>Profile</a:t>
            </a:r>
            <a:r>
              <a:rPr lang="zh-CN" altLang="en-US" sz="1100" b="0" dirty="0">
                <a:solidFill>
                  <a:srgbClr val="000000"/>
                </a:solidFill>
                <a:effectLst/>
                <a:latin typeface="ui-sans-serif"/>
              </a:rPr>
              <a:t>、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ui-sans-serif"/>
              </a:rPr>
              <a:t>Cluster</a:t>
            </a:r>
            <a:r>
              <a:rPr lang="zh-CN" altLang="en-US" sz="1100" b="0" dirty="0">
                <a:solidFill>
                  <a:srgbClr val="000000"/>
                </a:solidFill>
                <a:effectLst/>
                <a:latin typeface="ui-sans-serif"/>
              </a:rPr>
              <a:t>、端点），核心依赖 “描述符” 机制：</a:t>
            </a: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000000"/>
                </a:solidFill>
                <a:effectLst/>
                <a:latin typeface="ui-sans-serif"/>
              </a:rPr>
              <a:t>描述符管理：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ui-sans-serif"/>
              </a:rPr>
              <a:t>ZDO </a:t>
            </a:r>
            <a:r>
              <a:rPr lang="zh-CN" altLang="en-US" sz="1100" dirty="0">
                <a:solidFill>
                  <a:srgbClr val="000000"/>
                </a:solidFill>
                <a:effectLst/>
                <a:latin typeface="ui-sans-serif"/>
              </a:rPr>
              <a:t>维护 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ui-sans-serif"/>
              </a:rPr>
              <a:t>5 </a:t>
            </a:r>
            <a:r>
              <a:rPr lang="zh-CN" altLang="en-US" sz="1100" dirty="0">
                <a:solidFill>
                  <a:srgbClr val="000000"/>
                </a:solidFill>
                <a:effectLst/>
                <a:latin typeface="ui-sans-serif"/>
              </a:rPr>
              <a:t>类描述符，用于描述设备能力：</a:t>
            </a:r>
          </a:p>
          <a:p>
            <a:pPr marL="628650" lvl="1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000000"/>
                </a:solidFill>
                <a:effectLst/>
                <a:latin typeface="ui-sans-serif"/>
              </a:rPr>
              <a:t>节点描述符（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ui-sans-serif"/>
              </a:rPr>
              <a:t>Node Descriptor</a:t>
            </a:r>
            <a:r>
              <a:rPr lang="zh-CN" altLang="en-US" sz="1100" dirty="0">
                <a:solidFill>
                  <a:srgbClr val="000000"/>
                </a:solidFill>
                <a:effectLst/>
                <a:latin typeface="ui-sans-serif"/>
              </a:rPr>
              <a:t>）：设备的网络角色、频段、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ui-sans-serif"/>
              </a:rPr>
              <a:t>MAC </a:t>
            </a:r>
            <a:r>
              <a:rPr lang="zh-CN" altLang="en-US" sz="1100" dirty="0">
                <a:solidFill>
                  <a:srgbClr val="000000"/>
                </a:solidFill>
                <a:effectLst/>
                <a:latin typeface="ui-sans-serif"/>
              </a:rPr>
              <a:t>功能、最大传输大小等；</a:t>
            </a:r>
          </a:p>
          <a:p>
            <a:pPr marL="628650" lvl="1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000000"/>
                </a:solidFill>
                <a:effectLst/>
                <a:latin typeface="ui-sans-serif"/>
              </a:rPr>
              <a:t>电源描述符（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ui-sans-serif"/>
              </a:rPr>
              <a:t>Power Descriptor</a:t>
            </a:r>
            <a:r>
              <a:rPr lang="zh-CN" altLang="en-US" sz="1100" dirty="0">
                <a:solidFill>
                  <a:srgbClr val="000000"/>
                </a:solidFill>
                <a:effectLst/>
                <a:latin typeface="ui-sans-serif"/>
              </a:rPr>
              <a:t>）：设备的电源模式、供电来源、电量状态；</a:t>
            </a:r>
          </a:p>
          <a:p>
            <a:pPr marL="628650" lvl="1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000000"/>
                </a:solidFill>
                <a:effectLst/>
                <a:latin typeface="ui-sans-serif"/>
              </a:rPr>
              <a:t>简单描述符（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ui-sans-serif"/>
              </a:rPr>
              <a:t>Simple Descriptor</a:t>
            </a:r>
            <a:r>
              <a:rPr lang="zh-CN" altLang="en-US" sz="1100" dirty="0">
                <a:solidFill>
                  <a:srgbClr val="000000"/>
                </a:solidFill>
                <a:effectLst/>
                <a:latin typeface="ui-sans-serif"/>
              </a:rPr>
              <a:t>）：端点支持的 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ui-sans-serif"/>
              </a:rPr>
              <a:t>Profile ID</a:t>
            </a:r>
            <a:r>
              <a:rPr lang="zh-CN" altLang="en-US" sz="1100" dirty="0">
                <a:solidFill>
                  <a:srgbClr val="000000"/>
                </a:solidFill>
                <a:effectLst/>
                <a:latin typeface="ui-sans-serif"/>
              </a:rPr>
              <a:t>、设备 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ui-sans-serif"/>
              </a:rPr>
              <a:t>ID</a:t>
            </a:r>
            <a:r>
              <a:rPr lang="zh-CN" altLang="en-US" sz="1100" dirty="0">
                <a:solidFill>
                  <a:srgbClr val="000000"/>
                </a:solidFill>
                <a:effectLst/>
                <a:latin typeface="ui-sans-serif"/>
              </a:rPr>
              <a:t>、输入 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ui-sans-serif"/>
              </a:rPr>
              <a:t>/ </a:t>
            </a:r>
            <a:r>
              <a:rPr lang="zh-CN" altLang="en-US" sz="1100" dirty="0">
                <a:solidFill>
                  <a:srgbClr val="000000"/>
                </a:solidFill>
                <a:effectLst/>
                <a:latin typeface="ui-sans-serif"/>
              </a:rPr>
              <a:t>输出 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ui-sans-serif"/>
              </a:rPr>
              <a:t>Cluster </a:t>
            </a:r>
            <a:r>
              <a:rPr lang="zh-CN" altLang="en-US" sz="1100" dirty="0">
                <a:solidFill>
                  <a:srgbClr val="000000"/>
                </a:solidFill>
                <a:effectLst/>
                <a:latin typeface="ui-sans-serif"/>
              </a:rPr>
              <a:t>列表；</a:t>
            </a:r>
          </a:p>
          <a:p>
            <a:pPr marL="628650" lvl="1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000000"/>
                </a:solidFill>
                <a:effectLst/>
                <a:latin typeface="ui-sans-serif"/>
              </a:rPr>
              <a:t>用户描述符（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ui-sans-serif"/>
              </a:rPr>
              <a:t>User Descriptor</a:t>
            </a:r>
            <a:r>
              <a:rPr lang="zh-CN" altLang="en-US" sz="1100" dirty="0">
                <a:solidFill>
                  <a:srgbClr val="000000"/>
                </a:solidFill>
                <a:effectLst/>
                <a:latin typeface="ui-sans-serif"/>
              </a:rPr>
              <a:t>）：用户自定义设备名称（如 “卧室灯泡”，可选）。</a:t>
            </a:r>
            <a:endParaRPr lang="en-US" altLang="zh-CN" sz="1100" dirty="0">
              <a:solidFill>
                <a:srgbClr val="000000"/>
              </a:solidFill>
              <a:effectLst/>
              <a:latin typeface="ui-sans-serif"/>
            </a:endParaRPr>
          </a:p>
          <a:p>
            <a:pPr marL="628650" lvl="1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复杂描述符（</a:t>
            </a:r>
            <a:r>
              <a:rPr lang="en-US" altLang="zh-CN" sz="1100" dirty="0"/>
              <a:t>Complex Descriptor</a:t>
            </a:r>
            <a:r>
              <a:rPr lang="zh-CN" altLang="en-US" sz="1100" dirty="0"/>
              <a:t>）：可选实现，包含制造商名称、型号、序列号、设备 </a:t>
            </a:r>
            <a:r>
              <a:rPr lang="en-US" altLang="zh-CN" sz="1100" dirty="0"/>
              <a:t>URL </a:t>
            </a:r>
            <a:r>
              <a:rPr lang="zh-CN" altLang="en-US" sz="1100" dirty="0"/>
              <a:t>等信息，采用压缩 </a:t>
            </a:r>
            <a:r>
              <a:rPr lang="en-US" altLang="zh-CN" sz="1100" dirty="0"/>
              <a:t>XML </a:t>
            </a:r>
            <a:r>
              <a:rPr lang="zh-CN" altLang="en-US" sz="1100" dirty="0"/>
              <a:t>标记格式</a:t>
            </a:r>
            <a:endParaRPr lang="zh-CN" altLang="en-US" sz="1100" dirty="0">
              <a:solidFill>
                <a:srgbClr val="000000"/>
              </a:solidFill>
              <a:effectLst/>
              <a:latin typeface="ui-sans-serif"/>
            </a:endParaRP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000000"/>
                </a:solidFill>
                <a:effectLst/>
                <a:latin typeface="ui-sans-serif"/>
              </a:rPr>
              <a:t>服务查询命令：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ui-sans-serif"/>
              </a:rPr>
              <a:t>ZDO </a:t>
            </a:r>
            <a:r>
              <a:rPr lang="zh-CN" altLang="en-US" sz="1100" dirty="0">
                <a:solidFill>
                  <a:srgbClr val="000000"/>
                </a:solidFill>
                <a:effectLst/>
                <a:latin typeface="ui-sans-serif"/>
              </a:rPr>
              <a:t>支持多种服务查询命令，例如：</a:t>
            </a:r>
          </a:p>
          <a:p>
            <a:pPr marL="628650" lvl="1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zh-CN" sz="1100" dirty="0" err="1">
                <a:solidFill>
                  <a:srgbClr val="000000"/>
                </a:solidFill>
                <a:effectLst/>
                <a:latin typeface="ui-sans-serif"/>
              </a:rPr>
              <a:t>Active_EP_req</a:t>
            </a:r>
            <a:r>
              <a:rPr lang="zh-CN" altLang="en-US" sz="1100" dirty="0">
                <a:solidFill>
                  <a:srgbClr val="000000"/>
                </a:solidFill>
                <a:effectLst/>
                <a:latin typeface="ui-sans-serif"/>
              </a:rPr>
              <a:t>：查询设备的活动端点（支持应用功能的端点）；</a:t>
            </a:r>
          </a:p>
          <a:p>
            <a:pPr marL="628650" lvl="1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zh-CN" sz="1100" dirty="0" err="1">
                <a:solidFill>
                  <a:srgbClr val="000000"/>
                </a:solidFill>
                <a:effectLst/>
                <a:latin typeface="ui-sans-serif"/>
              </a:rPr>
              <a:t>Simple_Desc_req</a:t>
            </a:r>
            <a:r>
              <a:rPr lang="zh-CN" altLang="en-US" sz="1100" dirty="0">
                <a:solidFill>
                  <a:srgbClr val="000000"/>
                </a:solidFill>
                <a:effectLst/>
                <a:latin typeface="ui-sans-serif"/>
              </a:rPr>
              <a:t>：查询指定端点的简单描述符（支持的 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ui-sans-serif"/>
              </a:rPr>
              <a:t>Cluster</a:t>
            </a:r>
            <a:r>
              <a:rPr lang="zh-CN" altLang="en-US" sz="1100" dirty="0">
                <a:solidFill>
                  <a:srgbClr val="000000"/>
                </a:solidFill>
                <a:effectLst/>
                <a:latin typeface="ui-sans-serif"/>
              </a:rPr>
              <a:t>）；</a:t>
            </a:r>
          </a:p>
          <a:p>
            <a:pPr marL="628650" lvl="1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zh-CN" sz="1100" dirty="0" err="1">
                <a:solidFill>
                  <a:srgbClr val="000000"/>
                </a:solidFill>
                <a:effectLst/>
                <a:latin typeface="ui-sans-serif"/>
              </a:rPr>
              <a:t>Match_Desc_req</a:t>
            </a:r>
            <a:r>
              <a:rPr lang="zh-CN" altLang="en-US" sz="1100" dirty="0">
                <a:solidFill>
                  <a:srgbClr val="000000"/>
                </a:solidFill>
                <a:effectLst/>
                <a:latin typeface="ui-sans-serif"/>
              </a:rPr>
              <a:t>：查询支持特定 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ui-sans-serif"/>
              </a:rPr>
              <a:t>Profile </a:t>
            </a:r>
            <a:r>
              <a:rPr lang="zh-CN" altLang="en-US" sz="1100" dirty="0">
                <a:solidFill>
                  <a:srgbClr val="000000"/>
                </a:solidFill>
                <a:effectLst/>
                <a:latin typeface="ui-sans-serif"/>
              </a:rPr>
              <a:t>和 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ui-sans-serif"/>
              </a:rPr>
              <a:t>Cluster </a:t>
            </a:r>
            <a:r>
              <a:rPr lang="zh-CN" altLang="en-US" sz="1100" dirty="0">
                <a:solidFill>
                  <a:srgbClr val="000000"/>
                </a:solidFill>
                <a:effectLst/>
                <a:latin typeface="ui-sans-serif"/>
              </a:rPr>
              <a:t>的设备端点。</a:t>
            </a:r>
          </a:p>
        </p:txBody>
      </p:sp>
    </p:spTree>
    <p:extLst>
      <p:ext uri="{BB962C8B-B14F-4D97-AF65-F5344CB8AC3E}">
        <p14:creationId xmlns:p14="http://schemas.microsoft.com/office/powerpoint/2010/main" val="3855559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17C54-C455-AD41-D172-4746AC3F7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8B7AAA3F-A91C-B541-772E-BB7B091A9F43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ZDO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核心功能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378EC56-415C-E025-57E4-3F554AFF0411}"/>
              </a:ext>
            </a:extLst>
          </p:cNvPr>
          <p:cNvSpPr txBox="1"/>
          <p:nvPr/>
        </p:nvSpPr>
        <p:spPr>
          <a:xfrm>
            <a:off x="215591" y="587682"/>
            <a:ext cx="8745530" cy="1688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effectLst/>
                <a:latin typeface="ui-sans-serif"/>
              </a:rPr>
              <a:t>绑定管理</a:t>
            </a:r>
          </a:p>
          <a:p>
            <a:pPr algn="l"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ZDO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是绑定关系的发起者和维护者，与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APS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层协同完成设备间逻辑通信关系的建立：</a:t>
            </a: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绑定流程：</a:t>
            </a:r>
          </a:p>
          <a:p>
            <a:pPr marL="628650" lvl="1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应用层通过 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ZDO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发起绑定请求（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ui-sans-serif"/>
              </a:rPr>
              <a:t>Bind_req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）；</a:t>
            </a:r>
          </a:p>
          <a:p>
            <a:pPr marL="628650" lvl="1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ZDO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验证设备能力（如源设备的输出 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Cluster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与目标设备的输入 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Cluster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是否匹配）；</a:t>
            </a:r>
          </a:p>
          <a:p>
            <a:pPr marL="628650" lvl="1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通知 </a:t>
            </a:r>
            <a:r>
              <a:rPr lang="en-US" altLang="zh-CN" sz="1200" dirty="0"/>
              <a:t>APS </a:t>
            </a:r>
            <a:r>
              <a:rPr lang="zh-CN" altLang="en-US" sz="1200" dirty="0"/>
              <a:t>层（通过 </a:t>
            </a:r>
            <a:r>
              <a:rPr lang="en-US" altLang="zh-CN" sz="1200" dirty="0"/>
              <a:t>APSME-</a:t>
            </a:r>
            <a:r>
              <a:rPr lang="en-US" altLang="zh-CN" sz="1200" dirty="0" err="1"/>
              <a:t>BIND.request</a:t>
            </a:r>
            <a:r>
              <a:rPr lang="zh-CN" altLang="en-US" sz="1200" dirty="0"/>
              <a:t>）创建 </a:t>
            </a:r>
            <a:r>
              <a:rPr lang="en-US" altLang="zh-CN" sz="1200" dirty="0"/>
              <a:t>/ </a:t>
            </a:r>
            <a:r>
              <a:rPr lang="zh-CN" altLang="en-US" sz="1200" dirty="0"/>
              <a:t>删除绑定表条目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；</a:t>
            </a:r>
          </a:p>
          <a:p>
            <a:pPr marL="628650" lvl="1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返回绑定结果（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SUCCESS/INVALID_BINDING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等）。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5FEE222-3BE3-6E18-F7C3-95F8E89E51D0}"/>
              </a:ext>
            </a:extLst>
          </p:cNvPr>
          <p:cNvSpPr txBox="1"/>
          <p:nvPr/>
        </p:nvSpPr>
        <p:spPr>
          <a:xfrm>
            <a:off x="215591" y="2571750"/>
            <a:ext cx="7737679" cy="1918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effectLst/>
                <a:latin typeface="ui-sans-serif"/>
              </a:rPr>
              <a:t>网络管理</a:t>
            </a:r>
          </a:p>
          <a:p>
            <a:pPr algn="l"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ZDO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处理网络级的配置和控制命令，确保网络稳定运行：</a:t>
            </a: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入网与退网：</a:t>
            </a:r>
          </a:p>
          <a:p>
            <a:pPr marL="628650" lvl="1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发起入网请求（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NLME-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ui-sans-serif"/>
              </a:rPr>
              <a:t>JOIN.request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），获取网络参数和地址；</a:t>
            </a:r>
          </a:p>
          <a:p>
            <a:pPr marL="628650" lvl="1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处理退网命令（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ui-sans-serif"/>
              </a:rPr>
              <a:t>Mgmt_Leave_req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，</a:t>
            </a:r>
            <a:r>
              <a:rPr lang="en-US" altLang="zh-CN" sz="1200" dirty="0"/>
              <a:t> </a:t>
            </a:r>
            <a:r>
              <a:rPr lang="zh-CN" altLang="en-US" sz="1200" dirty="0"/>
              <a:t>（</a:t>
            </a:r>
            <a:r>
              <a:rPr lang="en-US" altLang="zh-CN" sz="1200" dirty="0"/>
              <a:t>ClusterID=0x0034</a:t>
            </a:r>
            <a:r>
              <a:rPr lang="zh-CN" altLang="en-US" sz="1200" dirty="0"/>
              <a:t>）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），清除网络配置和密钥。</a:t>
            </a:r>
          </a:p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网络参数更新：</a:t>
            </a:r>
            <a:r>
              <a:rPr lang="zh-CN" altLang="en-US" sz="1200" dirty="0"/>
              <a:t>支持 </a:t>
            </a:r>
            <a:r>
              <a:rPr lang="en-US" altLang="zh-CN" sz="1200" dirty="0" err="1"/>
              <a:t>Mgmt_NWK_Disc_req</a:t>
            </a:r>
            <a:r>
              <a:rPr lang="zh-CN" altLang="en-US" sz="1200" dirty="0"/>
              <a:t>（</a:t>
            </a:r>
            <a:r>
              <a:rPr lang="en-US" altLang="zh-CN" sz="1200" dirty="0"/>
              <a:t>ClusterID=0x0030</a:t>
            </a:r>
            <a:r>
              <a:rPr lang="zh-CN" altLang="en-US" sz="1200" dirty="0"/>
              <a:t>），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响应网络更新命令（如 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PAN ID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变更、信道切换），同步更新设备的网络配置。</a:t>
            </a: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设备管理：处理设备上线 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/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下线通知，维护网络中的设备列表。</a:t>
            </a:r>
          </a:p>
        </p:txBody>
      </p:sp>
    </p:spTree>
    <p:extLst>
      <p:ext uri="{BB962C8B-B14F-4D97-AF65-F5344CB8AC3E}">
        <p14:creationId xmlns:p14="http://schemas.microsoft.com/office/powerpoint/2010/main" val="28910674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12BC6-CC7B-2845-0DF7-591451C4D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331C3483-0B52-9098-C965-D97EAC17A5B0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ZDO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命令交互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339C516-15D9-DD40-8CC9-B22DE49A45EE}"/>
              </a:ext>
            </a:extLst>
          </p:cNvPr>
          <p:cNvSpPr txBox="1"/>
          <p:nvPr/>
        </p:nvSpPr>
        <p:spPr>
          <a:xfrm>
            <a:off x="215591" y="587682"/>
            <a:ext cx="874553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ZDO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通过标准化的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ZDP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（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ZigBee Device Profile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）命令实现设备间的交互，所有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ZDP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命令通过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APS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子层传输，核心特点包括：</a:t>
            </a: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命令格式：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ZDP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命令帧包含事务序列号（用于匹配请求与响应）、命令 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ID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和命令负载；</a:t>
            </a: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交互模式：支持 “请求 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-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响应” 模式，所有请求命令均有对应的响应命令（如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ui-sans-serif"/>
              </a:rPr>
              <a:t>NWK_addr_req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对应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ui-sans-serif"/>
              </a:rPr>
              <a:t>NWK_addr_rsp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）；</a:t>
            </a:r>
            <a:endParaRPr lang="en-US" altLang="zh-CN" sz="1200" dirty="0">
              <a:solidFill>
                <a:srgbClr val="000000"/>
              </a:solidFill>
              <a:effectLst/>
              <a:latin typeface="ui-sans-serif"/>
            </a:endParaRPr>
          </a:p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命令寻址支持单播和广播：广播命令仅发送给 </a:t>
            </a:r>
            <a:r>
              <a:rPr lang="en-US" altLang="zh-CN" sz="1200" dirty="0" err="1"/>
              <a:t>macRxOnWhenIdle</a:t>
            </a:r>
            <a:r>
              <a:rPr lang="en-US" altLang="zh-CN" sz="1200" dirty="0"/>
              <a:t>=TRUE </a:t>
            </a:r>
            <a:r>
              <a:rPr lang="zh-CN" altLang="en-US" sz="1200" dirty="0"/>
              <a:t>的设备（协调器、路由器），单播命令直接发送至目标设备</a:t>
            </a:r>
            <a:endParaRPr lang="zh-CN" altLang="en-US" sz="1200" dirty="0">
              <a:solidFill>
                <a:srgbClr val="000000"/>
              </a:solidFill>
              <a:effectLst/>
              <a:latin typeface="ui-sans-serif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CCFF129-1B1F-6F2C-343D-D7427EB01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418215"/>
              </p:ext>
            </p:extLst>
          </p:nvPr>
        </p:nvGraphicFramePr>
        <p:xfrm>
          <a:off x="698360" y="1834177"/>
          <a:ext cx="7606602" cy="2880000"/>
        </p:xfrm>
        <a:graphic>
          <a:graphicData uri="http://schemas.openxmlformats.org/drawingml/2006/table">
            <a:tbl>
              <a:tblPr/>
              <a:tblGrid>
                <a:gridCol w="1691533">
                  <a:extLst>
                    <a:ext uri="{9D8B030D-6E8A-4147-A177-3AD203B41FA5}">
                      <a16:colId xmlns:a16="http://schemas.microsoft.com/office/drawing/2014/main" val="2504177743"/>
                    </a:ext>
                  </a:extLst>
                </a:gridCol>
                <a:gridCol w="3379535">
                  <a:extLst>
                    <a:ext uri="{9D8B030D-6E8A-4147-A177-3AD203B41FA5}">
                      <a16:colId xmlns:a16="http://schemas.microsoft.com/office/drawing/2014/main" val="314334568"/>
                    </a:ext>
                  </a:extLst>
                </a:gridCol>
                <a:gridCol w="2535534">
                  <a:extLst>
                    <a:ext uri="{9D8B030D-6E8A-4147-A177-3AD203B41FA5}">
                      <a16:colId xmlns:a16="http://schemas.microsoft.com/office/drawing/2014/main" val="3922253589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命令类别</a:t>
                      </a:r>
                    </a:p>
                  </a:txBody>
                  <a:tcPr marL="4049" marR="4049" marT="4049" marB="404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核心命令示例</a:t>
                      </a:r>
                    </a:p>
                  </a:txBody>
                  <a:tcPr marL="4049" marR="4049" marT="4049" marB="404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功能描述</a:t>
                      </a:r>
                    </a:p>
                  </a:txBody>
                  <a:tcPr marL="4049" marR="4049" marT="4049" marB="404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668913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设备发现命令</a:t>
                      </a:r>
                    </a:p>
                  </a:txBody>
                  <a:tcPr marL="4049" marR="4049" marT="4049" marB="404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NWK_addr_req、IEEE_addr_req</a:t>
                      </a:r>
                    </a:p>
                  </a:txBody>
                  <a:tcPr marL="4049" marR="4049" marT="4049" marB="404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地址映射查询</a:t>
                      </a:r>
                    </a:p>
                  </a:txBody>
                  <a:tcPr marL="4049" marR="4049" marT="4049" marB="404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09337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200">
                        <a:effectLst/>
                      </a:endParaRPr>
                    </a:p>
                  </a:txBody>
                  <a:tcPr marL="4049" marR="4049" marT="4049" marB="404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Device_annce</a:t>
                      </a:r>
                    </a:p>
                  </a:txBody>
                  <a:tcPr marL="4049" marR="4049" marT="4049" marB="404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设备入网宣告</a:t>
                      </a:r>
                    </a:p>
                  </a:txBody>
                  <a:tcPr marL="4049" marR="4049" marT="4049" marB="404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1164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服务发现命令</a:t>
                      </a:r>
                    </a:p>
                  </a:txBody>
                  <a:tcPr marL="4049" marR="4049" marT="4049" marB="404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>
                          <a:effectLst/>
                        </a:rPr>
                        <a:t>Active_EP_req、Simple_Desc_req</a:t>
                      </a:r>
                    </a:p>
                  </a:txBody>
                  <a:tcPr marL="4049" marR="4049" marT="4049" marB="404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活动端点、简单描述符查询</a:t>
                      </a:r>
                    </a:p>
                  </a:txBody>
                  <a:tcPr marL="4049" marR="4049" marT="4049" marB="404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73579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200">
                        <a:effectLst/>
                      </a:endParaRPr>
                    </a:p>
                  </a:txBody>
                  <a:tcPr marL="4049" marR="4049" marT="4049" marB="404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Match_Desc_req</a:t>
                      </a:r>
                    </a:p>
                  </a:txBody>
                  <a:tcPr marL="4049" marR="4049" marT="4049" marB="404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匹配特定 </a:t>
                      </a:r>
                      <a:r>
                        <a:rPr lang="en-US" sz="1200">
                          <a:effectLst/>
                        </a:rPr>
                        <a:t>Profile/Cluster </a:t>
                      </a:r>
                      <a:r>
                        <a:rPr lang="zh-CN" altLang="en-US" sz="1200">
                          <a:effectLst/>
                        </a:rPr>
                        <a:t>的端点查询</a:t>
                      </a:r>
                    </a:p>
                  </a:txBody>
                  <a:tcPr marL="4049" marR="4049" marT="4049" marB="404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11935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绑定命令</a:t>
                      </a:r>
                    </a:p>
                  </a:txBody>
                  <a:tcPr marL="4049" marR="4049" marT="4049" marB="404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</a:rPr>
                        <a:t>Bind_req、Unbind_req</a:t>
                      </a:r>
                      <a:endParaRPr lang="en-US" sz="1200" dirty="0">
                        <a:effectLst/>
                      </a:endParaRPr>
                    </a:p>
                  </a:txBody>
                  <a:tcPr marL="4049" marR="4049" marT="4049" marB="404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绑定 </a:t>
                      </a:r>
                      <a:r>
                        <a:rPr lang="en-US" altLang="zh-CN" sz="1200">
                          <a:effectLst/>
                        </a:rPr>
                        <a:t>/ </a:t>
                      </a:r>
                      <a:r>
                        <a:rPr lang="zh-CN" altLang="en-US" sz="1200">
                          <a:effectLst/>
                        </a:rPr>
                        <a:t>取消绑定请求</a:t>
                      </a:r>
                    </a:p>
                  </a:txBody>
                  <a:tcPr marL="4049" marR="4049" marT="4049" marB="404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184319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200">
                        <a:effectLst/>
                      </a:endParaRPr>
                    </a:p>
                  </a:txBody>
                  <a:tcPr marL="4049" marR="4049" marT="4049" marB="404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End_Device_Bind_req</a:t>
                      </a:r>
                    </a:p>
                  </a:txBody>
                  <a:tcPr marL="4049" marR="4049" marT="4049" marB="404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终端设备快速绑定请求</a:t>
                      </a:r>
                    </a:p>
                  </a:txBody>
                  <a:tcPr marL="4049" marR="4049" marT="4049" marB="404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955722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网络管理命令</a:t>
                      </a:r>
                    </a:p>
                  </a:txBody>
                  <a:tcPr marL="4049" marR="4049" marT="4049" marB="404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Mgmt_Leave_req</a:t>
                      </a:r>
                    </a:p>
                  </a:txBody>
                  <a:tcPr marL="4049" marR="4049" marT="4049" marB="404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设备退网请求</a:t>
                      </a:r>
                    </a:p>
                  </a:txBody>
                  <a:tcPr marL="4049" marR="4049" marT="4049" marB="404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703523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200">
                        <a:effectLst/>
                      </a:endParaRPr>
                    </a:p>
                  </a:txBody>
                  <a:tcPr marL="4049" marR="4049" marT="4049" marB="404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Mgmt_NWK_Disc_req</a:t>
                      </a:r>
                    </a:p>
                  </a:txBody>
                  <a:tcPr marL="4049" marR="4049" marT="4049" marB="404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网络发现请求</a:t>
                      </a:r>
                    </a:p>
                  </a:txBody>
                  <a:tcPr marL="4049" marR="4049" marT="4049" marB="404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99316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描述符查询命令</a:t>
                      </a:r>
                    </a:p>
                  </a:txBody>
                  <a:tcPr marL="4049" marR="4049" marT="4049" marB="404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</a:rPr>
                        <a:t>Node_Desc_req、Power_Desc_req</a:t>
                      </a:r>
                      <a:endParaRPr lang="en-US" sz="1200" dirty="0">
                        <a:effectLst/>
                      </a:endParaRPr>
                    </a:p>
                  </a:txBody>
                  <a:tcPr marL="4049" marR="4049" marT="4049" marB="404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 dirty="0">
                          <a:effectLst/>
                        </a:rPr>
                        <a:t>节点、电源描述符查询</a:t>
                      </a:r>
                    </a:p>
                  </a:txBody>
                  <a:tcPr marL="4049" marR="4049" marT="4049" marB="404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3273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70689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08197-738A-0F7D-D4BA-7950C76F6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591DF2C4-F32C-E81E-B25E-3A267EAD94A8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ZDO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与其他层的联系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42FA40-D606-8F24-0CB5-FD22D65F0592}"/>
              </a:ext>
            </a:extLst>
          </p:cNvPr>
          <p:cNvSpPr txBox="1"/>
          <p:nvPr/>
        </p:nvSpPr>
        <p:spPr>
          <a:xfrm>
            <a:off x="215591" y="1197602"/>
            <a:ext cx="8745530" cy="3287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ui-sans-serif"/>
              </a:rPr>
              <a:t>ZDO 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ui-sans-serif"/>
              </a:rPr>
              <a:t>是协议栈的 “中枢枢纽”，与应用层、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ui-sans-serif"/>
              </a:rPr>
              <a:t>APS 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ui-sans-serif"/>
              </a:rPr>
              <a:t>层、网络层、安全层均有紧密交互：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000000"/>
                </a:solidFill>
                <a:effectLst/>
                <a:latin typeface="ui-sans-serif"/>
              </a:rPr>
              <a:t>与应用层：应用层通过 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ui-sans-serif"/>
              </a:rPr>
              <a:t>ZDO 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ui-sans-serif"/>
              </a:rPr>
              <a:t>的公共接口（如绑定请求、服务查询）发起网络操作，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ui-sans-serif"/>
              </a:rPr>
              <a:t>ZDO 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ui-sans-serif"/>
              </a:rPr>
              <a:t>将网络事件（如设备发现、绑定成功）通知给应用层。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000000"/>
                </a:solidFill>
                <a:effectLst/>
                <a:latin typeface="ui-sans-serif"/>
              </a:rPr>
              <a:t>与 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ui-sans-serif"/>
              </a:rPr>
              <a:t>APS 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ui-sans-serif"/>
              </a:rPr>
              <a:t>层：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ui-sans-serif"/>
              </a:rPr>
              <a:t>ZDO 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ui-sans-serif"/>
              </a:rPr>
              <a:t>通过 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ui-sans-serif"/>
              </a:rPr>
              <a:t>APSME-SAP 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ui-sans-serif"/>
              </a:rPr>
              <a:t>和 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ui-sans-serif"/>
              </a:rPr>
              <a:t>APSDE-SAP 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ui-sans-serif"/>
              </a:rPr>
              <a:t>接口，获取数据传输服务、绑定管理服务和安全服务，例如：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000000"/>
                </a:solidFill>
                <a:effectLst/>
                <a:latin typeface="ui-sans-serif"/>
              </a:rPr>
              <a:t>调用 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ui-sans-serif"/>
              </a:rPr>
              <a:t>APSME-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ui-sans-serif"/>
              </a:rPr>
              <a:t>BIND.request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ui-sans-serif"/>
              </a:rPr>
              <a:t> 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ui-sans-serif"/>
              </a:rPr>
              <a:t>创建绑定表；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000000"/>
                </a:solidFill>
                <a:effectLst/>
                <a:latin typeface="ui-sans-serif"/>
              </a:rPr>
              <a:t>通过 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ui-sans-serif"/>
              </a:rPr>
              <a:t>APSDE-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ui-sans-serif"/>
              </a:rPr>
              <a:t>DATA.request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ui-sans-serif"/>
              </a:rPr>
              <a:t> 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ui-sans-serif"/>
              </a:rPr>
              <a:t>发送 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ui-sans-serif"/>
              </a:rPr>
              <a:t>ZDP 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ui-sans-serif"/>
              </a:rPr>
              <a:t>命令。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000000"/>
                </a:solidFill>
                <a:effectLst/>
                <a:latin typeface="ui-sans-serif"/>
              </a:rPr>
              <a:t>与网络层：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ui-sans-serif"/>
              </a:rPr>
              <a:t>ZDO 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ui-sans-serif"/>
              </a:rPr>
              <a:t>通过 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ui-sans-serif"/>
              </a:rPr>
              <a:t>NLME-SAP 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ui-sans-serif"/>
              </a:rPr>
              <a:t>接口，获取网络管理服务，例如：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000000"/>
                </a:solidFill>
                <a:effectLst/>
                <a:latin typeface="ui-sans-serif"/>
              </a:rPr>
              <a:t>调用 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ui-sans-serif"/>
              </a:rPr>
              <a:t>NLME-NETWORK-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ui-sans-serif"/>
              </a:rPr>
              <a:t>DISCOVERY.request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ui-sans-serif"/>
              </a:rPr>
              <a:t> 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ui-sans-serif"/>
              </a:rPr>
              <a:t>扫描网络；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000000"/>
                </a:solidFill>
                <a:effectLst/>
                <a:latin typeface="ui-sans-serif"/>
              </a:rPr>
              <a:t>调用 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ui-sans-serif"/>
              </a:rPr>
              <a:t>NLME-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ui-sans-serif"/>
              </a:rPr>
              <a:t>JOIN.request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ui-sans-serif"/>
              </a:rPr>
              <a:t> 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ui-sans-serif"/>
              </a:rPr>
              <a:t>发起入网。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000000"/>
                </a:solidFill>
                <a:effectLst/>
                <a:latin typeface="ui-sans-serif"/>
              </a:rPr>
              <a:t>与安全层：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ui-sans-serif"/>
              </a:rPr>
              <a:t>ZDO 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ui-sans-serif"/>
              </a:rPr>
              <a:t>请求安全密钥，验证密钥有效性，确保数据传输的加密和解密。</a:t>
            </a:r>
          </a:p>
        </p:txBody>
      </p:sp>
    </p:spTree>
    <p:extLst>
      <p:ext uri="{BB962C8B-B14F-4D97-AF65-F5344CB8AC3E}">
        <p14:creationId xmlns:p14="http://schemas.microsoft.com/office/powerpoint/2010/main" val="3770310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2CCFB-2182-7D81-ADC3-D4D12A1F0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F3874DF-1F15-67CE-D617-4D6881749B7A}"/>
              </a:ext>
            </a:extLst>
          </p:cNvPr>
          <p:cNvSpPr txBox="1"/>
          <p:nvPr/>
        </p:nvSpPr>
        <p:spPr>
          <a:xfrm>
            <a:off x="6194810" y="3882022"/>
            <a:ext cx="25565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Zigbee-NWK</a:t>
            </a:r>
            <a:r>
              <a:rPr lang="zh-CN" altLang="en-US" sz="2400" dirty="0"/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4490824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55F28-2357-66B5-4038-87E5BA90A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90FE3339-0603-7C48-DEB8-B31EF433594E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NWK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核心定位与职责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7DC52EC-A7AD-DF43-30AA-658B284ED26E}"/>
              </a:ext>
            </a:extLst>
          </p:cNvPr>
          <p:cNvSpPr txBox="1"/>
          <p:nvPr/>
        </p:nvSpPr>
        <p:spPr>
          <a:xfrm>
            <a:off x="215591" y="929217"/>
            <a:ext cx="8745530" cy="764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effectLst/>
                <a:latin typeface="ui-sans-serif"/>
              </a:rPr>
              <a:t>核心定位</a:t>
            </a:r>
          </a:p>
          <a:p>
            <a:pPr algn="l"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NWK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是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ZigBee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网络的 “通信骨架”，向上为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APS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层提供统一的网络服务接口（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NLDE-SAP/NLME-SAP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），向下基于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IEEE 802.15.4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的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MAC/PHY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层实现底层数据传输，是保障设备间跨节点通信的关键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994AC7-8971-A940-C249-82217B4204A8}"/>
              </a:ext>
            </a:extLst>
          </p:cNvPr>
          <p:cNvSpPr txBox="1"/>
          <p:nvPr/>
        </p:nvSpPr>
        <p:spPr>
          <a:xfrm>
            <a:off x="215591" y="2187364"/>
            <a:ext cx="8745530" cy="1918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effectLst/>
                <a:latin typeface="ui-sans-serif"/>
              </a:rPr>
              <a:t>协议规范明确的核心职责</a:t>
            </a: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网络组建与设备入网：支持协调器创建网络（分配 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PAN ID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、信道），路由器 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/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终端设备加入网络，处理设备关联与地址分配。</a:t>
            </a: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地址管理：为入网设备分配 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16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位短地址（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NWK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地址），维护 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64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位 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IEEE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地址与 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16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位 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NWK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地址的映射关系（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NIB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属性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ui-sans-serif"/>
              </a:rPr>
              <a:t>nwkAddressMap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）。</a:t>
            </a: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路由管理：支持星型、树型、网状（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Mesh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）三种拓扑的路由计算与转发，维护路由表，实现多跳数据传输。</a:t>
            </a: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数据转发：接收 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APS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层的数据帧，通过路由表转发至目标设备，支持广播、组播、单播传输。</a:t>
            </a: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网络维护：处理 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PAN ID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冲突、信道干扰、设备离线等网络事件，支持频率捷变、路由修复等维护机制。</a:t>
            </a: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安全支持：配合安全服务层，使用网络密钥（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NWK Key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）对网络层数据帧进行加密与完整性校验。</a:t>
            </a:r>
          </a:p>
        </p:txBody>
      </p:sp>
    </p:spTree>
    <p:extLst>
      <p:ext uri="{BB962C8B-B14F-4D97-AF65-F5344CB8AC3E}">
        <p14:creationId xmlns:p14="http://schemas.microsoft.com/office/powerpoint/2010/main" val="3253117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60207-61C7-9BD7-13A2-C04842D17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A3EEF1A9-490B-D821-BDA4-698AC3D1372E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NWK 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的服务规范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761BA40-F64E-8CAE-1A46-84493658444A}"/>
              </a:ext>
            </a:extLst>
          </p:cNvPr>
          <p:cNvSpPr txBox="1"/>
          <p:nvPr/>
        </p:nvSpPr>
        <p:spPr>
          <a:xfrm>
            <a:off x="215590" y="583380"/>
            <a:ext cx="8782708" cy="1226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effectLst/>
                <a:latin typeface="ui-sans-serif"/>
              </a:rPr>
              <a:t>网络层数据实体服务（</a:t>
            </a:r>
            <a:r>
              <a:rPr lang="en-US" altLang="zh-CN" sz="1200" b="1" dirty="0">
                <a:solidFill>
                  <a:srgbClr val="000000"/>
                </a:solidFill>
                <a:effectLst/>
                <a:latin typeface="ui-sans-serif"/>
              </a:rPr>
              <a:t>NLDE-SAP</a:t>
            </a:r>
            <a:r>
              <a:rPr lang="zh-CN" altLang="en-US" sz="1200" b="1" dirty="0">
                <a:solidFill>
                  <a:srgbClr val="000000"/>
                </a:solidFill>
                <a:effectLst/>
                <a:latin typeface="ui-sans-serif"/>
              </a:rPr>
              <a:t>）</a:t>
            </a:r>
          </a:p>
          <a:p>
            <a:pPr algn="l">
              <a:lnSpc>
                <a:spcPts val="180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提供数据传输服务，核心原语为 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NLDE-DATA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系列：</a:t>
            </a: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NLDE-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ui-sans-serif"/>
              </a:rPr>
              <a:t>DATA.request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：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APS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层发起数据传输请求，参数包括目标地址、传输模式、路由发现标志、跳数限制（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ui-sans-serif"/>
              </a:rPr>
              <a:t>RadiusCounter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）等。</a:t>
            </a: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NLDE-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ui-sans-serif"/>
              </a:rPr>
              <a:t>DATA.confirm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：返回数据传输结果状态（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SUCCESS/CHANNEL_ACCESS_FAILURE/NO_ROUTE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等）。</a:t>
            </a: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NLDE-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ui-sans-serif"/>
              </a:rPr>
              <a:t>DATA.indication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：通知 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APS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层接收来自其他设备的数据，携带源地址、数据内容、链路质量（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ui-sans-serif"/>
              </a:rPr>
              <a:t>LQI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ui-sans-serif"/>
              </a:rPr>
              <a:t>）等信息。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7496772-B5AE-2DC7-F306-365D6C6712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386468"/>
              </p:ext>
            </p:extLst>
          </p:nvPr>
        </p:nvGraphicFramePr>
        <p:xfrm>
          <a:off x="215590" y="2325695"/>
          <a:ext cx="8745528" cy="2016000"/>
        </p:xfrm>
        <a:graphic>
          <a:graphicData uri="http://schemas.openxmlformats.org/drawingml/2006/table">
            <a:tbl>
              <a:tblPr/>
              <a:tblGrid>
                <a:gridCol w="1804129">
                  <a:extLst>
                    <a:ext uri="{9D8B030D-6E8A-4147-A177-3AD203B41FA5}">
                      <a16:colId xmlns:a16="http://schemas.microsoft.com/office/drawing/2014/main" val="2593518814"/>
                    </a:ext>
                  </a:extLst>
                </a:gridCol>
                <a:gridCol w="3647551">
                  <a:extLst>
                    <a:ext uri="{9D8B030D-6E8A-4147-A177-3AD203B41FA5}">
                      <a16:colId xmlns:a16="http://schemas.microsoft.com/office/drawing/2014/main" val="4148688527"/>
                    </a:ext>
                  </a:extLst>
                </a:gridCol>
                <a:gridCol w="3293848">
                  <a:extLst>
                    <a:ext uri="{9D8B030D-6E8A-4147-A177-3AD203B41FA5}">
                      <a16:colId xmlns:a16="http://schemas.microsoft.com/office/drawing/2014/main" val="300800762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原语类别</a:t>
                      </a:r>
                    </a:p>
                  </a:txBody>
                  <a:tcPr marL="5052" marR="5052" marT="5052" marB="505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核心原语</a:t>
                      </a:r>
                    </a:p>
                  </a:txBody>
                  <a:tcPr marL="5052" marR="5052" marT="5052" marB="505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功能描述</a:t>
                      </a:r>
                    </a:p>
                  </a:txBody>
                  <a:tcPr marL="5052" marR="5052" marT="5052" marB="505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92858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 dirty="0">
                          <a:effectLst/>
                        </a:rPr>
                        <a:t>网络组建</a:t>
                      </a:r>
                    </a:p>
                  </a:txBody>
                  <a:tcPr marL="5052" marR="5052" marT="5052" marB="505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NLME-NETWORK-CREATE.request</a:t>
                      </a:r>
                    </a:p>
                  </a:txBody>
                  <a:tcPr marL="5052" marR="5052" marT="5052" marB="505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协调器创建网络（分配 </a:t>
                      </a:r>
                      <a:r>
                        <a:rPr lang="en-US" altLang="zh-CN" sz="1200">
                          <a:effectLst/>
                        </a:rPr>
                        <a:t>PAN ID</a:t>
                      </a:r>
                      <a:r>
                        <a:rPr lang="zh-CN" altLang="en-US" sz="1200">
                          <a:effectLst/>
                        </a:rPr>
                        <a:t>、信道）</a:t>
                      </a:r>
                    </a:p>
                  </a:txBody>
                  <a:tcPr marL="5052" marR="5052" marT="5052" marB="505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76575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设备入网</a:t>
                      </a:r>
                    </a:p>
                  </a:txBody>
                  <a:tcPr marL="5052" marR="5052" marT="5052" marB="505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NLME-JOIN.request</a:t>
                      </a:r>
                    </a:p>
                  </a:txBody>
                  <a:tcPr marL="5052" marR="5052" marT="5052" marB="505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设备发起入网请求，获取网络参数与地址</a:t>
                      </a:r>
                    </a:p>
                  </a:txBody>
                  <a:tcPr marL="5052" marR="5052" marT="5052" marB="505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86818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地址管理</a:t>
                      </a:r>
                    </a:p>
                  </a:txBody>
                  <a:tcPr marL="5052" marR="5052" marT="5052" marB="505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NLME-ASSOCIATE.request/response</a:t>
                      </a:r>
                    </a:p>
                  </a:txBody>
                  <a:tcPr marL="5052" marR="5052" marT="5052" marB="505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设备关联与地址分配</a:t>
                      </a:r>
                    </a:p>
                  </a:txBody>
                  <a:tcPr marL="5052" marR="5052" marT="5052" marB="505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046999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路由管理</a:t>
                      </a:r>
                    </a:p>
                  </a:txBody>
                  <a:tcPr marL="5052" marR="5052" marT="5052" marB="505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NLME-ROUTE-DISCOVERY.request</a:t>
                      </a:r>
                    </a:p>
                  </a:txBody>
                  <a:tcPr marL="5052" marR="5052" marT="5052" marB="505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发起路由发现</a:t>
                      </a:r>
                    </a:p>
                  </a:txBody>
                  <a:tcPr marL="5052" marR="5052" marT="5052" marB="505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943389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网络维护</a:t>
                      </a:r>
                    </a:p>
                  </a:txBody>
                  <a:tcPr marL="5052" marR="5052" marT="5052" marB="505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NLME-NETWORK-DISCOVERY.request</a:t>
                      </a:r>
                    </a:p>
                  </a:txBody>
                  <a:tcPr marL="5052" marR="5052" marT="5052" marB="505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扫描并发现可用网络</a:t>
                      </a:r>
                    </a:p>
                  </a:txBody>
                  <a:tcPr marL="5052" marR="5052" marT="5052" marB="505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24717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200">
                        <a:effectLst/>
                      </a:endParaRPr>
                    </a:p>
                  </a:txBody>
                  <a:tcPr marL="5052" marR="5052" marT="5052" marB="505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NLME-LEAVE.request</a:t>
                      </a:r>
                    </a:p>
                  </a:txBody>
                  <a:tcPr marL="5052" marR="5052" marT="5052" marB="505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 dirty="0">
                          <a:effectLst/>
                        </a:rPr>
                        <a:t>设备发起退网请求，清除网络配置</a:t>
                      </a:r>
                    </a:p>
                  </a:txBody>
                  <a:tcPr marL="5052" marR="5052" marT="5052" marB="505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7893251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0519DF8C-7905-E295-F499-47F50089C1DB}"/>
              </a:ext>
            </a:extLst>
          </p:cNvPr>
          <p:cNvSpPr txBox="1"/>
          <p:nvPr/>
        </p:nvSpPr>
        <p:spPr>
          <a:xfrm>
            <a:off x="215590" y="1929251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/>
              <a:t>网络层管理实体服务（</a:t>
            </a:r>
            <a:r>
              <a:rPr lang="en-US" altLang="zh-CN" sz="1200" b="1" dirty="0"/>
              <a:t>NLME-SAP</a:t>
            </a:r>
            <a:r>
              <a:rPr lang="zh-CN" altLang="en-US" sz="1200" b="1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2762891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6552E-7F03-DA5A-E12F-B870D2150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725CFDCC-60CB-D5C7-B2F1-85491FC384A6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  <a:r>
              <a:rPr lang="en-US" altLang="zh-CN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NWK 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的关键数据结构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B228D0E-28AD-B724-F008-80F7B1A803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298975"/>
              </p:ext>
            </p:extLst>
          </p:nvPr>
        </p:nvGraphicFramePr>
        <p:xfrm>
          <a:off x="301451" y="1740919"/>
          <a:ext cx="8450664" cy="2520000"/>
        </p:xfrm>
        <a:graphic>
          <a:graphicData uri="http://schemas.openxmlformats.org/drawingml/2006/table">
            <a:tbl>
              <a:tblPr/>
              <a:tblGrid>
                <a:gridCol w="2833635">
                  <a:extLst>
                    <a:ext uri="{9D8B030D-6E8A-4147-A177-3AD203B41FA5}">
                      <a16:colId xmlns:a16="http://schemas.microsoft.com/office/drawing/2014/main" val="385419824"/>
                    </a:ext>
                  </a:extLst>
                </a:gridCol>
                <a:gridCol w="5617029">
                  <a:extLst>
                    <a:ext uri="{9D8B030D-6E8A-4147-A177-3AD203B41FA5}">
                      <a16:colId xmlns:a16="http://schemas.microsoft.com/office/drawing/2014/main" val="329112502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属性名称</a:t>
                      </a:r>
                    </a:p>
                  </a:txBody>
                  <a:tcPr marL="6525" marR="6525" marT="6525" marB="652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功能描述</a:t>
                      </a:r>
                    </a:p>
                  </a:txBody>
                  <a:tcPr marL="6525" marR="6525" marT="6525" marB="652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22645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nwkAddressMap</a:t>
                      </a:r>
                    </a:p>
                  </a:txBody>
                  <a:tcPr marL="6525" marR="6525" marT="6525" marB="652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200">
                          <a:effectLst/>
                        </a:rPr>
                        <a:t>64 </a:t>
                      </a:r>
                      <a:r>
                        <a:rPr lang="zh-CN" altLang="en-US" sz="1200">
                          <a:effectLst/>
                        </a:rPr>
                        <a:t>位 </a:t>
                      </a:r>
                      <a:r>
                        <a:rPr lang="en-US" sz="1200">
                          <a:effectLst/>
                        </a:rPr>
                        <a:t>IEEE </a:t>
                      </a:r>
                      <a:r>
                        <a:rPr lang="zh-CN" altLang="en-US" sz="1200">
                          <a:effectLst/>
                        </a:rPr>
                        <a:t>地址与 </a:t>
                      </a:r>
                      <a:r>
                        <a:rPr lang="en-US" altLang="zh-CN" sz="1200">
                          <a:effectLst/>
                        </a:rPr>
                        <a:t>16 </a:t>
                      </a:r>
                      <a:r>
                        <a:rPr lang="zh-CN" altLang="en-US" sz="1200">
                          <a:effectLst/>
                        </a:rPr>
                        <a:t>位 </a:t>
                      </a:r>
                      <a:r>
                        <a:rPr lang="en-US" sz="1200">
                          <a:effectLst/>
                        </a:rPr>
                        <a:t>NWK </a:t>
                      </a:r>
                      <a:r>
                        <a:rPr lang="zh-CN" altLang="en-US" sz="1200">
                          <a:effectLst/>
                        </a:rPr>
                        <a:t>地址的映射表</a:t>
                      </a:r>
                    </a:p>
                  </a:txBody>
                  <a:tcPr marL="6525" marR="6525" marT="6525" marB="652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075954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</a:rPr>
                        <a:t>nwkGroupIDTable</a:t>
                      </a:r>
                      <a:endParaRPr lang="en-US" sz="1200" dirty="0">
                        <a:effectLst/>
                      </a:endParaRPr>
                    </a:p>
                  </a:txBody>
                  <a:tcPr marL="6525" marR="6525" marT="6525" marB="652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网络支持的组地址列表，与 </a:t>
                      </a:r>
                      <a:r>
                        <a:rPr lang="en-US" altLang="zh-CN" sz="1200">
                          <a:effectLst/>
                        </a:rPr>
                        <a:t>APS </a:t>
                      </a:r>
                      <a:r>
                        <a:rPr lang="zh-CN" altLang="en-US" sz="1200">
                          <a:effectLst/>
                        </a:rPr>
                        <a:t>层组表同步</a:t>
                      </a:r>
                    </a:p>
                  </a:txBody>
                  <a:tcPr marL="6525" marR="6525" marT="6525" marB="652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00540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nwkUseMulticast</a:t>
                      </a:r>
                    </a:p>
                  </a:txBody>
                  <a:tcPr marL="6525" marR="6525" marT="6525" marB="652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组播使能标志，控制组寻址的传输模式（广播 </a:t>
                      </a:r>
                      <a:r>
                        <a:rPr lang="en-US" altLang="zh-CN" sz="1200">
                          <a:effectLst/>
                        </a:rPr>
                        <a:t>/ </a:t>
                      </a:r>
                      <a:r>
                        <a:rPr lang="zh-CN" altLang="en-US" sz="1200">
                          <a:effectLst/>
                        </a:rPr>
                        <a:t>单播）</a:t>
                      </a:r>
                    </a:p>
                  </a:txBody>
                  <a:tcPr marL="6525" marR="6525" marT="6525" marB="652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379543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nwkMaxDepth</a:t>
                      </a:r>
                    </a:p>
                  </a:txBody>
                  <a:tcPr marL="6525" marR="6525" marT="6525" marB="652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树型拓扑的最大深度，限制网络层级</a:t>
                      </a:r>
                    </a:p>
                  </a:txBody>
                  <a:tcPr marL="6525" marR="6525" marT="6525" marB="652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6859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nwkChannelMask</a:t>
                      </a:r>
                    </a:p>
                  </a:txBody>
                  <a:tcPr marL="6525" marR="6525" marT="6525" marB="652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网络支持的信道掩码，用于信道扫描与切换</a:t>
                      </a:r>
                    </a:p>
                  </a:txBody>
                  <a:tcPr marL="6525" marR="6525" marT="6525" marB="652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33291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nwkPanId</a:t>
                      </a:r>
                    </a:p>
                  </a:txBody>
                  <a:tcPr marL="6525" marR="6525" marT="6525" marB="652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 dirty="0">
                          <a:effectLst/>
                        </a:rPr>
                        <a:t>网络的 </a:t>
                      </a:r>
                      <a:r>
                        <a:rPr lang="en-US" altLang="zh-CN" sz="1200" dirty="0">
                          <a:effectLst/>
                        </a:rPr>
                        <a:t>PAN ID</a:t>
                      </a:r>
                      <a:r>
                        <a:rPr lang="zh-CN" altLang="en-US" sz="1200" dirty="0">
                          <a:effectLst/>
                        </a:rPr>
                        <a:t>，唯一标识网络</a:t>
                      </a:r>
                    </a:p>
                  </a:txBody>
                  <a:tcPr marL="6525" marR="6525" marT="6525" marB="652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6614154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593B0CB4-C56F-9ED9-C96C-61E3577CE721}"/>
              </a:ext>
            </a:extLst>
          </p:cNvPr>
          <p:cNvSpPr txBox="1"/>
          <p:nvPr/>
        </p:nvSpPr>
        <p:spPr>
          <a:xfrm>
            <a:off x="301451" y="1282952"/>
            <a:ext cx="84506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NWK </a:t>
            </a:r>
            <a:r>
              <a:rPr lang="zh-CN" altLang="en-US" sz="1200" dirty="0"/>
              <a:t>维护网络层信息库（</a:t>
            </a:r>
            <a:r>
              <a:rPr lang="en-US" altLang="zh-CN" sz="1200" dirty="0"/>
              <a:t>NIB</a:t>
            </a:r>
            <a:r>
              <a:rPr lang="zh-CN" altLang="en-US" sz="1200" dirty="0"/>
              <a:t>），存储网络配置、设备状态、路由信息等关键数据，核心 </a:t>
            </a:r>
            <a:r>
              <a:rPr lang="en-US" altLang="zh-CN" sz="1200" dirty="0"/>
              <a:t>NIB </a:t>
            </a:r>
            <a:r>
              <a:rPr lang="zh-CN" altLang="en-US" sz="1200" dirty="0"/>
              <a:t>属性包括：</a:t>
            </a:r>
          </a:p>
        </p:txBody>
      </p:sp>
    </p:spTree>
    <p:extLst>
      <p:ext uri="{BB962C8B-B14F-4D97-AF65-F5344CB8AC3E}">
        <p14:creationId xmlns:p14="http://schemas.microsoft.com/office/powerpoint/2010/main" val="28671897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1AD55-D15F-F214-8364-A6E75FC02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D4A1A45A-E268-9BB2-7462-CB21E8CB042F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  <a:r>
              <a:rPr lang="en-US" altLang="zh-CN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NWK 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与其他层的交互关系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2EFF1F-D5EB-2C9D-D245-7B172BC1F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847" y="1322889"/>
            <a:ext cx="8785274" cy="2223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与 MAC/PHY 层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：基于 IEEE 802.15.4 的 MAC 层提供的 CSMA-CA 机制、信标同步、数据传输服务，实现底层数据收发与信道访问。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ui-sans-serif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与 APS 层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：通过 NLDE-SAP/NLME-SAP 接口，为 APS 层提供数据转发、路由、地址映射等服务；接收 APS 层的传输请求，返回传输结果。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ui-sans-serif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与 ZDO 层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：ZDO 层通过 NLME-SAP 调用网络管理服务（如创建网络、入网、退网），NWK 层将网络事件（如地址分配成功、路由失效）通知 ZDO 层。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ui-sans-serif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与安全层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：接收安全层的加密 / 解密服务，对网络层数据帧进行安全处理，确保传输安全。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148483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A11D8-ED4C-545E-3E78-F3A8FB19C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4443375-BCD6-3A29-B801-2BA6407A06A3}"/>
              </a:ext>
            </a:extLst>
          </p:cNvPr>
          <p:cNvSpPr txBox="1"/>
          <p:nvPr/>
        </p:nvSpPr>
        <p:spPr>
          <a:xfrm>
            <a:off x="6194810" y="3882022"/>
            <a:ext cx="25565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Zigbee-</a:t>
            </a:r>
            <a:r>
              <a:rPr lang="zh-CN" altLang="en-US" sz="2400" dirty="0"/>
              <a:t>入网流程</a:t>
            </a:r>
          </a:p>
        </p:txBody>
      </p:sp>
    </p:spTree>
    <p:extLst>
      <p:ext uri="{BB962C8B-B14F-4D97-AF65-F5344CB8AC3E}">
        <p14:creationId xmlns:p14="http://schemas.microsoft.com/office/powerpoint/2010/main" val="24692669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4E4A3-691D-32F7-8FCB-3EEB9F67C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95CCEAB7-47E9-1D98-3CFA-2B8D294CB4F5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入网流程图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B387BFA-2D77-10C4-531B-DD4CF9635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25" y="682873"/>
            <a:ext cx="2111803" cy="399351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147835B-16D8-17EC-6887-97CE1C62C5BB}"/>
              </a:ext>
            </a:extLst>
          </p:cNvPr>
          <p:cNvSpPr txBox="1"/>
          <p:nvPr/>
        </p:nvSpPr>
        <p:spPr>
          <a:xfrm>
            <a:off x="3840480" y="1880523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ZigBee </a:t>
            </a:r>
            <a:r>
              <a:rPr lang="zh-CN" altLang="en-US" sz="1200" dirty="0"/>
              <a:t>设备入网的核心是 “多层协同、参数同步、能力宣告”：</a:t>
            </a:r>
            <a:r>
              <a:rPr lang="en-US" altLang="zh-CN" sz="1200" dirty="0"/>
              <a:t>NWK </a:t>
            </a:r>
            <a:r>
              <a:rPr lang="zh-CN" altLang="en-US" sz="1200" dirty="0"/>
              <a:t>层负责网络接入与路由，</a:t>
            </a:r>
            <a:r>
              <a:rPr lang="en-US" altLang="zh-CN" sz="1200" dirty="0"/>
              <a:t>APS </a:t>
            </a:r>
            <a:r>
              <a:rPr lang="zh-CN" altLang="en-US" sz="1200" dirty="0"/>
              <a:t>层负责数据传输与绑定管理，</a:t>
            </a:r>
            <a:r>
              <a:rPr lang="en-US" altLang="zh-CN" sz="1200" dirty="0"/>
              <a:t>ZDO </a:t>
            </a:r>
            <a:r>
              <a:rPr lang="zh-CN" altLang="en-US" sz="1200" dirty="0"/>
              <a:t>层负责全局协调与配置，</a:t>
            </a:r>
            <a:r>
              <a:rPr lang="en-US" altLang="zh-CN" sz="1200" dirty="0"/>
              <a:t>ZCL </a:t>
            </a:r>
            <a:r>
              <a:rPr lang="zh-CN" altLang="en-US" sz="1200" dirty="0"/>
              <a:t>层负责标准化通信能力。整个流程从物理上电到通信就绪，所有操作均遵循协议规范的标准化接口（</a:t>
            </a:r>
            <a:r>
              <a:rPr lang="en-US" altLang="zh-CN" sz="1200" dirty="0"/>
              <a:t>SAP</a:t>
            </a:r>
            <a:r>
              <a:rPr lang="zh-CN" altLang="en-US" sz="1200" dirty="0"/>
              <a:t>）和命令（</a:t>
            </a:r>
            <a:r>
              <a:rPr lang="en-US" altLang="zh-CN" sz="1200" dirty="0"/>
              <a:t>ZDP/ZCL</a:t>
            </a:r>
            <a:r>
              <a:rPr lang="zh-CN" altLang="en-US" sz="1200" dirty="0"/>
              <a:t>），确保不同厂商设备的兼容性与网络稳定性。</a:t>
            </a:r>
          </a:p>
        </p:txBody>
      </p:sp>
    </p:spTree>
    <p:extLst>
      <p:ext uri="{BB962C8B-B14F-4D97-AF65-F5344CB8AC3E}">
        <p14:creationId xmlns:p14="http://schemas.microsoft.com/office/powerpoint/2010/main" val="6868611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7F1FF-B075-DD88-CD0A-A3E55976D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23319686-3584-98E6-220C-77ABAC186B1E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入网流程详解</a:t>
            </a:r>
            <a:r>
              <a:rPr lang="en-US" altLang="zh-CN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初始化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18703A8-36F2-3D8B-C1BE-AB782CA234CE}"/>
              </a:ext>
            </a:extLst>
          </p:cNvPr>
          <p:cNvSpPr txBox="1"/>
          <p:nvPr/>
        </p:nvSpPr>
        <p:spPr>
          <a:xfrm>
            <a:off x="215591" y="571578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/>
              <a:t>协议栈核心注册</a:t>
            </a:r>
          </a:p>
          <a:p>
            <a:endParaRPr lang="en-US" altLang="zh-CN" sz="1200" dirty="0"/>
          </a:p>
          <a:p>
            <a:r>
              <a:rPr lang="zh-CN" altLang="en-US" sz="1200" dirty="0"/>
              <a:t>两个工程的 </a:t>
            </a:r>
            <a:r>
              <a:rPr lang="en-US" altLang="zh-CN" sz="1200" dirty="0" err="1"/>
              <a:t>zigbee_app_init</a:t>
            </a:r>
            <a:r>
              <a:rPr lang="en-US" altLang="zh-CN" sz="1200" dirty="0"/>
              <a:t>() </a:t>
            </a:r>
            <a:r>
              <a:rPr lang="zh-CN" altLang="en-US" sz="1200" dirty="0"/>
              <a:t>函数完成相同的初始化流程：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86003BF-1B28-1313-EF73-3C45118EB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40" y="1310299"/>
            <a:ext cx="5359400" cy="2766492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EC726226-010C-AF1A-6752-6F7CC02270D6}"/>
              </a:ext>
            </a:extLst>
          </p:cNvPr>
          <p:cNvSpPr txBox="1"/>
          <p:nvPr/>
        </p:nvSpPr>
        <p:spPr>
          <a:xfrm>
            <a:off x="215592" y="4110257"/>
            <a:ext cx="87455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/>
              <a:t>zigbee_stack_init</a:t>
            </a:r>
            <a:r>
              <a:rPr lang="en-US" altLang="zh-CN" sz="1200" dirty="0"/>
              <a:t>() </a:t>
            </a:r>
            <a:r>
              <a:rPr lang="zh-CN" altLang="en-US" sz="1200" dirty="0"/>
              <a:t>是入口总开关，其内部对应协议栈各层的 </a:t>
            </a:r>
            <a:r>
              <a:rPr lang="en-US" altLang="zh-CN" sz="1200" dirty="0"/>
              <a:t>NLME-RESET</a:t>
            </a:r>
            <a:r>
              <a:rPr lang="zh-CN" altLang="en-US" sz="1200" dirty="0"/>
              <a:t>、</a:t>
            </a:r>
            <a:r>
              <a:rPr lang="en-US" altLang="zh-CN" sz="1200" dirty="0"/>
              <a:t>APSME-RESET </a:t>
            </a:r>
            <a:r>
              <a:rPr lang="zh-CN" altLang="en-US" sz="1200" dirty="0"/>
              <a:t>等原语，也清空了 </a:t>
            </a:r>
            <a:r>
              <a:rPr lang="en-US" altLang="zh-CN" sz="1200" dirty="0"/>
              <a:t>NIB</a:t>
            </a:r>
            <a:r>
              <a:rPr lang="zh-CN" altLang="en-US" sz="1200" dirty="0"/>
              <a:t>（</a:t>
            </a:r>
            <a:r>
              <a:rPr lang="en-US" altLang="zh-CN" sz="1200" dirty="0"/>
              <a:t>NWK </a:t>
            </a:r>
            <a:r>
              <a:rPr lang="zh-CN" altLang="en-US" sz="1200" dirty="0"/>
              <a:t>信息库）和 </a:t>
            </a:r>
            <a:r>
              <a:rPr lang="en-US" altLang="zh-CN" sz="1200" dirty="0"/>
              <a:t>AIB</a:t>
            </a:r>
            <a:r>
              <a:rPr lang="zh-CN" altLang="en-US" sz="1200" dirty="0"/>
              <a:t>（</a:t>
            </a:r>
            <a:r>
              <a:rPr lang="en-US" altLang="zh-CN" sz="1200" dirty="0"/>
              <a:t>APS </a:t>
            </a:r>
            <a:r>
              <a:rPr lang="zh-CN" altLang="en-US" sz="1200" dirty="0"/>
              <a:t>信息库</a:t>
            </a:r>
          </a:p>
        </p:txBody>
      </p:sp>
    </p:spTree>
    <p:extLst>
      <p:ext uri="{BB962C8B-B14F-4D97-AF65-F5344CB8AC3E}">
        <p14:creationId xmlns:p14="http://schemas.microsoft.com/office/powerpoint/2010/main" val="3308904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C163B-20A6-4826-E017-B1A796B9B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8232752C-64E6-F50A-7EF2-51674CB5C691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入网流程</a:t>
            </a:r>
            <a:r>
              <a:rPr lang="en-US" altLang="zh-CN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初始化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89508A0-04EC-4B31-F6A4-FBB961C0C11F}"/>
              </a:ext>
            </a:extLst>
          </p:cNvPr>
          <p:cNvSpPr txBox="1"/>
          <p:nvPr/>
        </p:nvSpPr>
        <p:spPr>
          <a:xfrm>
            <a:off x="215591" y="645914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/>
              <a:t>ZCL </a:t>
            </a:r>
            <a:r>
              <a:rPr lang="zh-CN" altLang="en-US" sz="1200" b="1" dirty="0"/>
              <a:t>端点与描述符注册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EC459C2-CE02-26F4-8018-4674846422A6}"/>
              </a:ext>
            </a:extLst>
          </p:cNvPr>
          <p:cNvPicPr>
            <a:picLocks/>
          </p:cNvPicPr>
          <p:nvPr/>
        </p:nvPicPr>
        <p:blipFill>
          <a:blip r:embed="rId2"/>
          <a:srcRect r="8133"/>
          <a:stretch>
            <a:fillRect/>
          </a:stretch>
        </p:blipFill>
        <p:spPr>
          <a:xfrm>
            <a:off x="215591" y="1117600"/>
            <a:ext cx="4137968" cy="36219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4B8BD09-8201-4C6B-7248-70F9F9369437}"/>
              </a:ext>
            </a:extLst>
          </p:cNvPr>
          <p:cNvPicPr>
            <a:picLocks/>
          </p:cNvPicPr>
          <p:nvPr/>
        </p:nvPicPr>
        <p:blipFill>
          <a:blip r:embed="rId3"/>
          <a:srcRect r="29576"/>
          <a:stretch>
            <a:fillRect/>
          </a:stretch>
        </p:blipFill>
        <p:spPr>
          <a:xfrm>
            <a:off x="4588356" y="1117600"/>
            <a:ext cx="4374551" cy="362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7120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A57C5-4FBE-5C73-5821-1DE6869E6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C9D15A55-7E84-AE23-1332-4F86FD0CB16E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入网流程</a:t>
            </a:r>
            <a:r>
              <a:rPr lang="en-US" altLang="zh-CN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网络发现与创建阶段（</a:t>
            </a:r>
            <a:r>
              <a:rPr lang="en-US" altLang="zh-CN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NWK + ZDO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A7C2C7A-AA56-8601-10DA-A9FFF1690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91" y="858679"/>
            <a:ext cx="4423191" cy="168776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340A6B8-119F-9943-DA49-3B0F96ED9483}"/>
              </a:ext>
            </a:extLst>
          </p:cNvPr>
          <p:cNvSpPr txBox="1"/>
          <p:nvPr/>
        </p:nvSpPr>
        <p:spPr>
          <a:xfrm>
            <a:off x="215591" y="2817443"/>
            <a:ext cx="882681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ZBOSS </a:t>
            </a:r>
            <a:r>
              <a:rPr lang="zh-CN" altLang="en-US" sz="1200" dirty="0"/>
              <a:t>协议栈内部触发：</a:t>
            </a:r>
          </a:p>
          <a:p>
            <a:endParaRPr lang="zh-CN" altLang="en-US" sz="1200" dirty="0"/>
          </a:p>
          <a:p>
            <a:pPr marL="228600" indent="-228600">
              <a:buFont typeface="+mj-lt"/>
              <a:buAutoNum type="arabicPeriod"/>
            </a:pPr>
            <a:r>
              <a:rPr lang="en-US" altLang="zh-CN" sz="1200" dirty="0"/>
              <a:t>NLME-NETWORK-</a:t>
            </a:r>
            <a:r>
              <a:rPr lang="en-US" altLang="zh-CN" sz="1200" dirty="0" err="1"/>
              <a:t>DISCOVERY.request</a:t>
            </a:r>
            <a:r>
              <a:rPr lang="zh-CN" altLang="en-US" sz="1200" dirty="0"/>
              <a:t>：在所有信道发送 </a:t>
            </a:r>
            <a:r>
              <a:rPr lang="en-US" altLang="zh-CN" sz="1200" dirty="0"/>
              <a:t>Beacon Request</a:t>
            </a:r>
          </a:p>
          <a:p>
            <a:pPr marL="228600" indent="-228600">
              <a:buFont typeface="+mj-lt"/>
              <a:buAutoNum type="arabicPeriod"/>
            </a:pPr>
            <a:r>
              <a:rPr lang="zh-CN" altLang="en-US" sz="1200" dirty="0"/>
              <a:t>收到 </a:t>
            </a:r>
            <a:r>
              <a:rPr lang="en-US" altLang="zh-CN" sz="1200" dirty="0"/>
              <a:t>Gateway </a:t>
            </a:r>
            <a:r>
              <a:rPr lang="zh-CN" altLang="en-US" sz="1200" dirty="0"/>
              <a:t>在信道 </a:t>
            </a:r>
            <a:r>
              <a:rPr lang="en-US" altLang="zh-CN" sz="1200" dirty="0"/>
              <a:t>16 </a:t>
            </a:r>
            <a:r>
              <a:rPr lang="zh-CN" altLang="en-US" sz="1200" dirty="0"/>
              <a:t>的 </a:t>
            </a:r>
            <a:r>
              <a:rPr lang="en-US" altLang="zh-CN" sz="1200" dirty="0"/>
              <a:t>Beacon </a:t>
            </a:r>
            <a:r>
              <a:rPr lang="zh-CN" altLang="en-US" sz="1200" dirty="0"/>
              <a:t>响应（包含 </a:t>
            </a:r>
            <a:r>
              <a:rPr lang="en-US" altLang="zh-CN" sz="1200" dirty="0"/>
              <a:t>PAN ID=0x123</a:t>
            </a:r>
            <a:r>
              <a:rPr lang="zh-CN" altLang="en-US" sz="1200" dirty="0"/>
              <a:t>）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zh-CN" sz="1200" dirty="0"/>
              <a:t>ZDO </a:t>
            </a:r>
            <a:r>
              <a:rPr lang="zh-CN" altLang="en-US" sz="1200" dirty="0"/>
              <a:t>层选择目标网络，触发 </a:t>
            </a:r>
            <a:r>
              <a:rPr lang="en-US" altLang="zh-CN" sz="1200" dirty="0"/>
              <a:t>NLME-</a:t>
            </a:r>
            <a:r>
              <a:rPr lang="en-US" altLang="zh-CN" sz="1200" dirty="0" err="1"/>
              <a:t>JOIN.request</a:t>
            </a:r>
            <a:r>
              <a:rPr lang="zh-CN" altLang="en-US" sz="1200" dirty="0"/>
              <a:t>（关联请求）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zh-CN" sz="1200" dirty="0"/>
              <a:t>Gateway </a:t>
            </a:r>
            <a:r>
              <a:rPr lang="zh-CN" altLang="en-US" sz="1200" dirty="0"/>
              <a:t>的 </a:t>
            </a:r>
            <a:r>
              <a:rPr lang="en-US" altLang="zh-CN" sz="1200" dirty="0"/>
              <a:t>MAC </a:t>
            </a:r>
            <a:r>
              <a:rPr lang="zh-CN" altLang="en-US" sz="1200" dirty="0"/>
              <a:t>层接收 </a:t>
            </a:r>
            <a:r>
              <a:rPr lang="en-US" altLang="zh-CN" sz="1200" dirty="0"/>
              <a:t>Association Request </a:t>
            </a:r>
            <a:r>
              <a:rPr lang="zh-CN" altLang="en-US" sz="1200" dirty="0"/>
              <a:t>帧，验证通过后分配 </a:t>
            </a:r>
            <a:r>
              <a:rPr lang="en-US" altLang="zh-CN" sz="1200" dirty="0"/>
              <a:t>NWK </a:t>
            </a:r>
            <a:r>
              <a:rPr lang="zh-CN" altLang="en-US" sz="1200" dirty="0"/>
              <a:t>短地址</a:t>
            </a:r>
          </a:p>
          <a:p>
            <a:pPr marL="228600" indent="-228600">
              <a:buFont typeface="+mj-lt"/>
              <a:buAutoNum type="arabicPeriod"/>
            </a:pPr>
            <a:r>
              <a:rPr lang="zh-CN" altLang="en-US" sz="1200" dirty="0"/>
              <a:t>结果通过 </a:t>
            </a:r>
            <a:r>
              <a:rPr lang="en-US" altLang="zh-CN" sz="1200" dirty="0"/>
              <a:t>ZIGBEE_EVT_TYPE_START_IDC </a:t>
            </a:r>
            <a:r>
              <a:rPr lang="zh-CN" altLang="en-US" sz="1200" dirty="0"/>
              <a:t>事件上报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83293E5-FC94-E05D-1177-FB6F002CF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3311" y="858680"/>
            <a:ext cx="4127810" cy="168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1535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03592-96D3-3AAB-EB01-560DD5BF5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C07E1263-169F-A1BF-B496-AC0D0DFB04E0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入网流程</a:t>
            </a:r>
            <a:r>
              <a:rPr lang="en-US" altLang="zh-CN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入网结果处理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62C7E4F-5EE9-C9ED-72A4-9E6CE3B92A62}"/>
              </a:ext>
            </a:extLst>
          </p:cNvPr>
          <p:cNvPicPr>
            <a:picLocks/>
          </p:cNvPicPr>
          <p:nvPr/>
        </p:nvPicPr>
        <p:blipFill>
          <a:blip r:embed="rId2"/>
          <a:srcRect r="17433"/>
          <a:stretch>
            <a:fillRect/>
          </a:stretch>
        </p:blipFill>
        <p:spPr>
          <a:xfrm>
            <a:off x="215591" y="768959"/>
            <a:ext cx="3980489" cy="171427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48EAF91-B02F-BD73-1D3F-358C0DB8A6DF}"/>
              </a:ext>
            </a:extLst>
          </p:cNvPr>
          <p:cNvSpPr txBox="1"/>
          <p:nvPr/>
        </p:nvSpPr>
        <p:spPr>
          <a:xfrm>
            <a:off x="4429760" y="841267"/>
            <a:ext cx="453136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入网成功时，</a:t>
            </a:r>
            <a:r>
              <a:rPr lang="en-US" altLang="zh-CN" sz="1200" dirty="0"/>
              <a:t>ZBOSS </a:t>
            </a:r>
            <a:r>
              <a:rPr lang="zh-CN" altLang="en-US" sz="1200" dirty="0"/>
              <a:t>内部已完成：</a:t>
            </a:r>
          </a:p>
          <a:p>
            <a:endParaRPr lang="zh-CN" altLang="en-US" sz="1200" dirty="0"/>
          </a:p>
          <a:p>
            <a:r>
              <a:rPr lang="en-US" altLang="zh-CN" sz="1200" dirty="0"/>
              <a:t>NWK </a:t>
            </a:r>
            <a:r>
              <a:rPr lang="zh-CN" altLang="en-US" sz="1200" dirty="0"/>
              <a:t>层：</a:t>
            </a:r>
            <a:r>
              <a:rPr lang="en-US" altLang="zh-CN" sz="1200" dirty="0"/>
              <a:t>NIB </a:t>
            </a:r>
            <a:r>
              <a:rPr lang="zh-CN" altLang="en-US" sz="1200" dirty="0"/>
              <a:t>更新（获得 </a:t>
            </a:r>
            <a:r>
              <a:rPr lang="en-US" altLang="zh-CN" sz="1200" dirty="0"/>
              <a:t>NWK </a:t>
            </a:r>
            <a:r>
              <a:rPr lang="zh-CN" altLang="en-US" sz="1200" dirty="0"/>
              <a:t>短地址、</a:t>
            </a:r>
            <a:r>
              <a:rPr lang="en-US" altLang="zh-CN" sz="1200" dirty="0"/>
              <a:t>PAN ID</a:t>
            </a:r>
            <a:r>
              <a:rPr lang="zh-CN" altLang="en-US" sz="1200" dirty="0"/>
              <a:t>、信道、路由表条目初始化）</a:t>
            </a:r>
          </a:p>
          <a:p>
            <a:r>
              <a:rPr lang="en-US" altLang="zh-CN" sz="1200" dirty="0"/>
              <a:t>APS </a:t>
            </a:r>
            <a:r>
              <a:rPr lang="zh-CN" altLang="en-US" sz="1200" dirty="0"/>
              <a:t>层：</a:t>
            </a:r>
            <a:r>
              <a:rPr lang="en-US" altLang="zh-CN" sz="1200" dirty="0"/>
              <a:t>AIB </a:t>
            </a:r>
            <a:r>
              <a:rPr lang="zh-CN" altLang="en-US" sz="1200" dirty="0"/>
              <a:t>更新（</a:t>
            </a:r>
            <a:r>
              <a:rPr lang="en-US" altLang="zh-CN" sz="1200" dirty="0" err="1"/>
              <a:t>apsChannelMask</a:t>
            </a:r>
            <a:r>
              <a:rPr lang="zh-CN" altLang="en-US" sz="1200" dirty="0"/>
              <a:t>、</a:t>
            </a:r>
            <a:r>
              <a:rPr lang="en-US" altLang="zh-CN" sz="1200" dirty="0" err="1"/>
              <a:t>apsUseExtendedPANID</a:t>
            </a:r>
            <a:r>
              <a:rPr lang="en-US" altLang="zh-CN" sz="1200" dirty="0"/>
              <a:t> </a:t>
            </a:r>
            <a:r>
              <a:rPr lang="zh-CN" altLang="en-US" sz="1200" dirty="0"/>
              <a:t>等）</a:t>
            </a:r>
          </a:p>
          <a:p>
            <a:r>
              <a:rPr lang="zh-CN" altLang="en-US" sz="1200" dirty="0"/>
              <a:t>安全层：接收并存储网络密钥（</a:t>
            </a:r>
            <a:r>
              <a:rPr lang="en-US" altLang="zh-CN" sz="1200" dirty="0"/>
              <a:t>NWK Key</a:t>
            </a:r>
            <a:r>
              <a:rPr lang="zh-CN" altLang="en-US" sz="1200" dirty="0"/>
              <a:t>），后续帧启用 </a:t>
            </a:r>
            <a:r>
              <a:rPr lang="en-US" altLang="zh-CN" sz="1200" dirty="0"/>
              <a:t>MIC </a:t>
            </a:r>
            <a:r>
              <a:rPr lang="zh-CN" altLang="en-US" sz="1200" dirty="0"/>
              <a:t>校验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363C7F8-4477-9BD0-B393-713D1DC8C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91" y="3175076"/>
            <a:ext cx="3980489" cy="1160643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AE75D02-93D3-70F4-B59B-5DFBBF4C2C27}"/>
              </a:ext>
            </a:extLst>
          </p:cNvPr>
          <p:cNvSpPr txBox="1"/>
          <p:nvPr/>
        </p:nvSpPr>
        <p:spPr>
          <a:xfrm>
            <a:off x="4429760" y="3369856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/>
              <a:t>zigbee_join_request</a:t>
            </a:r>
            <a:r>
              <a:rPr lang="en-US" altLang="zh-CN" sz="1200" dirty="0"/>
              <a:t>() </a:t>
            </a:r>
            <a:r>
              <a:rPr lang="zh-CN" altLang="en-US" sz="1200" dirty="0"/>
              <a:t>内部发送 </a:t>
            </a:r>
            <a:r>
              <a:rPr lang="en-US" altLang="zh-CN" sz="1200" dirty="0"/>
              <a:t>ZIGBEE_EVT_TYPE_NWK_JOIN_REQ</a:t>
            </a:r>
            <a:r>
              <a:rPr lang="zh-CN" altLang="en-US" sz="1200" dirty="0"/>
              <a:t>，触发 </a:t>
            </a:r>
            <a:r>
              <a:rPr lang="en-US" altLang="zh-CN" sz="1200" dirty="0"/>
              <a:t>ZBOSS </a:t>
            </a:r>
            <a:r>
              <a:rPr lang="zh-CN" altLang="en-US" sz="1200" dirty="0"/>
              <a:t>的 </a:t>
            </a:r>
            <a:r>
              <a:rPr lang="en-US" altLang="zh-CN" sz="1200" dirty="0"/>
              <a:t>BDB Rejoin </a:t>
            </a:r>
            <a:r>
              <a:rPr lang="zh-CN" altLang="en-US" sz="1200" dirty="0"/>
              <a:t>流程（尝试以已知 </a:t>
            </a:r>
            <a:r>
              <a:rPr lang="en-US" altLang="zh-CN" sz="1200" dirty="0"/>
              <a:t>PAN ID </a:t>
            </a:r>
            <a:r>
              <a:rPr lang="zh-CN" altLang="en-US" sz="1200" dirty="0"/>
              <a:t>快速重入）</a:t>
            </a:r>
          </a:p>
        </p:txBody>
      </p:sp>
    </p:spTree>
    <p:extLst>
      <p:ext uri="{BB962C8B-B14F-4D97-AF65-F5344CB8AC3E}">
        <p14:creationId xmlns:p14="http://schemas.microsoft.com/office/powerpoint/2010/main" val="15171027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8673A-91E9-DC70-62D4-B9C55EB45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9EEC3322-B291-4503-82A7-EBB29B9BA953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入网流程</a:t>
            </a:r>
            <a:r>
              <a:rPr lang="en-US" altLang="zh-CN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设备宣告与服务发现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F42224A-AEE4-A446-B525-62F77CF668F5}"/>
              </a:ext>
            </a:extLst>
          </p:cNvPr>
          <p:cNvSpPr txBox="1"/>
          <p:nvPr/>
        </p:nvSpPr>
        <p:spPr>
          <a:xfrm>
            <a:off x="215591" y="587682"/>
            <a:ext cx="87455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Switch </a:t>
            </a:r>
            <a:r>
              <a:rPr lang="zh-CN" altLang="en-US" sz="1200" dirty="0"/>
              <a:t>入网成功后，</a:t>
            </a:r>
            <a:r>
              <a:rPr lang="en-US" altLang="zh-CN" sz="1200" dirty="0"/>
              <a:t>ZBOSS </a:t>
            </a:r>
            <a:r>
              <a:rPr lang="zh-CN" altLang="en-US" sz="1200" dirty="0"/>
              <a:t>自动广播 </a:t>
            </a:r>
            <a:r>
              <a:rPr lang="en-US" altLang="zh-CN" sz="1200" dirty="0" err="1"/>
              <a:t>Device_annce</a:t>
            </a:r>
            <a:r>
              <a:rPr lang="zh-CN" altLang="en-US" sz="1200" dirty="0"/>
              <a:t>（</a:t>
            </a:r>
            <a:r>
              <a:rPr lang="en-US" altLang="zh-CN" sz="1200" dirty="0"/>
              <a:t>ClusterID=0x0013</a:t>
            </a:r>
            <a:r>
              <a:rPr lang="zh-CN" altLang="en-US" sz="1200" dirty="0"/>
              <a:t>），</a:t>
            </a:r>
            <a:r>
              <a:rPr lang="en-US" altLang="zh-CN" sz="1200" dirty="0"/>
              <a:t>Gateway </a:t>
            </a:r>
            <a:r>
              <a:rPr lang="zh-CN" altLang="en-US" sz="1200" dirty="0"/>
              <a:t>接收并触发服务发现流程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9A070D3-435F-F2A7-DC86-78227AD07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91" y="864680"/>
            <a:ext cx="5644147" cy="365144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B921A57-74D3-A313-CA02-AE41F242CF98}"/>
              </a:ext>
            </a:extLst>
          </p:cNvPr>
          <p:cNvSpPr txBox="1"/>
          <p:nvPr/>
        </p:nvSpPr>
        <p:spPr>
          <a:xfrm>
            <a:off x="6050280" y="2562066"/>
            <a:ext cx="29797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/>
              <a:t>zigbee_act_ep_req</a:t>
            </a:r>
            <a:r>
              <a:rPr lang="en-US" altLang="zh-CN" sz="1200" dirty="0"/>
              <a:t>() </a:t>
            </a:r>
            <a:r>
              <a:rPr lang="zh-CN" altLang="en-US" sz="1200" dirty="0"/>
              <a:t>对应协议标准中的 </a:t>
            </a:r>
            <a:r>
              <a:rPr lang="en-US" altLang="zh-CN" sz="1200" dirty="0" err="1"/>
              <a:t>Active_EP_req</a:t>
            </a:r>
            <a:r>
              <a:rPr lang="zh-CN" altLang="en-US" sz="1200" dirty="0"/>
              <a:t>（</a:t>
            </a:r>
            <a:r>
              <a:rPr lang="en-US" altLang="zh-CN" sz="1200" dirty="0"/>
              <a:t>ClusterID=0x0005</a:t>
            </a:r>
            <a:r>
              <a:rPr lang="zh-CN" altLang="en-US" sz="12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4624054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343D2-0FC8-A83A-0731-092D9CACC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7AB0E30D-92ED-1FD7-CC3C-FE4AC56D2FD8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入网流程</a:t>
            </a:r>
            <a:r>
              <a:rPr lang="en-US" altLang="zh-CN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设备宣告与服务发现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9DEE92D-B729-3CB9-F87B-1AC8AC792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90" y="869864"/>
            <a:ext cx="5894833" cy="344813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AE4C9EF-6CE3-8FE4-A5F5-8069AF003E8B}"/>
              </a:ext>
            </a:extLst>
          </p:cNvPr>
          <p:cNvSpPr txBox="1"/>
          <p:nvPr/>
        </p:nvSpPr>
        <p:spPr>
          <a:xfrm>
            <a:off x="6110423" y="2211518"/>
            <a:ext cx="28506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/>
              <a:t>zigbee_simple_desc_req</a:t>
            </a:r>
            <a:r>
              <a:rPr lang="en-US" altLang="zh-CN" sz="1200" dirty="0"/>
              <a:t>() </a:t>
            </a:r>
            <a:r>
              <a:rPr lang="zh-CN" altLang="en-US" sz="1200" dirty="0"/>
              <a:t>对应 </a:t>
            </a:r>
            <a:r>
              <a:rPr lang="en-US" altLang="zh-CN" sz="1200" dirty="0" err="1"/>
              <a:t>Simple_Desc_req</a:t>
            </a:r>
            <a:r>
              <a:rPr lang="zh-CN" altLang="en-US" sz="1200" dirty="0"/>
              <a:t>（</a:t>
            </a:r>
            <a:r>
              <a:rPr lang="en-US" altLang="zh-CN" sz="1200" dirty="0"/>
              <a:t>ClusterID=0x0004</a:t>
            </a:r>
            <a:r>
              <a:rPr lang="zh-CN" altLang="en-US" sz="12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1000090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1F36D-E9B3-69A4-CBA4-4C95A6869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6D43C292-763B-89CF-9732-8051F2495372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入网流程</a:t>
            </a:r>
            <a:r>
              <a:rPr lang="en-US" altLang="zh-CN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设备宣告与服务发现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E39C5AC-1950-D70E-D45D-22BE5C429924}"/>
              </a:ext>
            </a:extLst>
          </p:cNvPr>
          <p:cNvSpPr txBox="1"/>
          <p:nvPr/>
        </p:nvSpPr>
        <p:spPr>
          <a:xfrm>
            <a:off x="6219961" y="2340917"/>
            <a:ext cx="28506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/>
              <a:t>此时 </a:t>
            </a:r>
            <a:r>
              <a:rPr lang="en-US" altLang="zh-CN" sz="1200"/>
              <a:t>Gateway </a:t>
            </a:r>
            <a:r>
              <a:rPr lang="zh-CN" altLang="en-US" sz="1200"/>
              <a:t>的 </a:t>
            </a:r>
            <a:r>
              <a:rPr lang="en-US" altLang="zh-CN" sz="1200"/>
              <a:t>device_table </a:t>
            </a:r>
            <a:r>
              <a:rPr lang="zh-CN" altLang="en-US" sz="1200"/>
              <a:t>中已记录 </a:t>
            </a:r>
            <a:r>
              <a:rPr lang="en-US" altLang="zh-CN" sz="1200"/>
              <a:t>Switch </a:t>
            </a:r>
            <a:r>
              <a:rPr lang="zh-CN" altLang="en-US" sz="1200"/>
              <a:t>的完整能力信息</a:t>
            </a:r>
            <a:endParaRPr lang="zh-CN" altLang="en-US" sz="12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CEC3E65-6DB9-22F0-43D2-EDD71E823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90" y="824710"/>
            <a:ext cx="6004371" cy="3310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7146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7ACDB-B54E-EA49-8C5F-47D7ACDCF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BE18E9FA-64AA-D9FB-FBA8-FC89C2FB389F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  <a:r>
              <a:rPr lang="en-US" altLang="zh-CN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ZCL 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通信就绪阶段（</a:t>
            </a:r>
            <a:r>
              <a:rPr lang="en-US" altLang="zh-CN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APS + ZCL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56D990A-00F1-A413-963A-06791E323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91" y="777240"/>
            <a:ext cx="4381583" cy="398018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D18797B-DAA0-552D-5C56-72F4D29FEDAD}"/>
              </a:ext>
            </a:extLst>
          </p:cNvPr>
          <p:cNvSpPr txBox="1"/>
          <p:nvPr/>
        </p:nvSpPr>
        <p:spPr>
          <a:xfrm>
            <a:off x="4588356" y="1736219"/>
            <a:ext cx="437276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/>
              <a:t>zigbee_zcl_request</a:t>
            </a:r>
            <a:r>
              <a:rPr lang="en-US" altLang="zh-CN" sz="1200" dirty="0"/>
              <a:t>() </a:t>
            </a:r>
            <a:r>
              <a:rPr lang="zh-CN" altLang="en-US" sz="1200" dirty="0"/>
              <a:t>将 </a:t>
            </a:r>
            <a:r>
              <a:rPr lang="en-US" altLang="zh-CN" sz="1200" dirty="0" err="1"/>
              <a:t>zigbee_zcl_data_req_t</a:t>
            </a:r>
            <a:r>
              <a:rPr lang="en-US" altLang="zh-CN" sz="1200" dirty="0"/>
              <a:t> </a:t>
            </a:r>
            <a:r>
              <a:rPr lang="zh-CN" altLang="en-US" sz="1200" dirty="0"/>
              <a:t>封装为 </a:t>
            </a:r>
            <a:r>
              <a:rPr lang="en-US" altLang="zh-CN" sz="1200" dirty="0"/>
              <a:t>TLV </a:t>
            </a:r>
            <a:r>
              <a:rPr lang="zh-CN" altLang="en-US" sz="1200" dirty="0"/>
              <a:t>发送到协议栈，内部流程：</a:t>
            </a:r>
          </a:p>
          <a:p>
            <a:endParaRPr lang="zh-CN" altLang="en-US" sz="1200" dirty="0"/>
          </a:p>
          <a:p>
            <a:pPr marL="228600" indent="-228600">
              <a:buFont typeface="+mj-lt"/>
              <a:buAutoNum type="arabicPeriod"/>
            </a:pPr>
            <a:r>
              <a:rPr lang="en-US" altLang="zh-CN" sz="1200" dirty="0"/>
              <a:t>APS </a:t>
            </a:r>
            <a:r>
              <a:rPr lang="zh-CN" altLang="en-US" sz="1200" dirty="0"/>
              <a:t>层 → </a:t>
            </a:r>
            <a:r>
              <a:rPr lang="en-US" altLang="zh-CN" sz="1200" dirty="0"/>
              <a:t>APSDE-</a:t>
            </a:r>
            <a:r>
              <a:rPr lang="en-US" altLang="zh-CN" sz="1200" dirty="0" err="1"/>
              <a:t>DATA.request</a:t>
            </a:r>
            <a:r>
              <a:rPr lang="zh-CN" altLang="en-US" sz="1200" dirty="0"/>
              <a:t>，封装为 </a:t>
            </a:r>
            <a:r>
              <a:rPr lang="en-US" altLang="zh-CN" sz="1200" dirty="0"/>
              <a:t>APDU</a:t>
            </a:r>
            <a:r>
              <a:rPr lang="zh-CN" altLang="en-US" sz="1200" dirty="0"/>
              <a:t>（应用协议数据单元）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zh-CN" sz="1200" dirty="0"/>
              <a:t>NWK </a:t>
            </a:r>
            <a:r>
              <a:rPr lang="zh-CN" altLang="en-US" sz="1200" dirty="0"/>
              <a:t>层 → 单播路由到 </a:t>
            </a:r>
            <a:r>
              <a:rPr lang="en-US" altLang="zh-CN" sz="1200" dirty="0"/>
              <a:t>0x0000</a:t>
            </a:r>
            <a:r>
              <a:rPr lang="zh-CN" altLang="en-US" sz="1200" dirty="0"/>
              <a:t>（协调器），若需多跳则查路由表</a:t>
            </a:r>
          </a:p>
          <a:p>
            <a:pPr marL="228600" indent="-228600">
              <a:buFont typeface="+mj-lt"/>
              <a:buAutoNum type="arabicPeriod"/>
            </a:pPr>
            <a:r>
              <a:rPr lang="zh-CN" altLang="en-US" sz="1200" dirty="0"/>
              <a:t>安全层 → 用 </a:t>
            </a:r>
            <a:r>
              <a:rPr lang="en-US" altLang="zh-CN" sz="1200" dirty="0"/>
              <a:t>NWK Key </a:t>
            </a:r>
            <a:r>
              <a:rPr lang="zh-CN" altLang="en-US" sz="1200" dirty="0"/>
              <a:t>加密数据帧，附加 </a:t>
            </a:r>
            <a:r>
              <a:rPr lang="en-US" altLang="zh-CN" sz="1200" dirty="0"/>
              <a:t>MIC </a:t>
            </a:r>
            <a:r>
              <a:rPr lang="zh-CN" altLang="en-US" sz="1200" dirty="0"/>
              <a:t>完整性码</a:t>
            </a:r>
          </a:p>
        </p:txBody>
      </p:sp>
    </p:spTree>
    <p:extLst>
      <p:ext uri="{BB962C8B-B14F-4D97-AF65-F5344CB8AC3E}">
        <p14:creationId xmlns:p14="http://schemas.microsoft.com/office/powerpoint/2010/main" val="6719820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7D7F3-888E-C424-F62A-935A5B6AE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EA71622-B486-CF54-97AC-95C37C95BBE5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  <a:r>
              <a:rPr lang="en-US" altLang="zh-CN" sz="2400" b="1" spc="-38" dirty="0" err="1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和原语对照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36ACB7AE-BF45-5202-ECDA-95D97BAF26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2980770"/>
              </p:ext>
            </p:extLst>
          </p:nvPr>
        </p:nvGraphicFramePr>
        <p:xfrm>
          <a:off x="215590" y="624840"/>
          <a:ext cx="8496000" cy="399795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67490">
                  <a:extLst>
                    <a:ext uri="{9D8B030D-6E8A-4147-A177-3AD203B41FA5}">
                      <a16:colId xmlns:a16="http://schemas.microsoft.com/office/drawing/2014/main" val="3142186214"/>
                    </a:ext>
                  </a:extLst>
                </a:gridCol>
                <a:gridCol w="2997200">
                  <a:extLst>
                    <a:ext uri="{9D8B030D-6E8A-4147-A177-3AD203B41FA5}">
                      <a16:colId xmlns:a16="http://schemas.microsoft.com/office/drawing/2014/main" val="4048014333"/>
                    </a:ext>
                  </a:extLst>
                </a:gridCol>
                <a:gridCol w="1807310">
                  <a:extLst>
                    <a:ext uri="{9D8B030D-6E8A-4147-A177-3AD203B41FA5}">
                      <a16:colId xmlns:a16="http://schemas.microsoft.com/office/drawing/2014/main" val="3724901329"/>
                    </a:ext>
                  </a:extLst>
                </a:gridCol>
                <a:gridCol w="2124000">
                  <a:extLst>
                    <a:ext uri="{9D8B030D-6E8A-4147-A177-3AD203B41FA5}">
                      <a16:colId xmlns:a16="http://schemas.microsoft.com/office/drawing/2014/main" val="2874294638"/>
                    </a:ext>
                  </a:extLst>
                </a:gridCol>
              </a:tblGrid>
              <a:tr h="317084"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zh-CN" alt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阶段</a:t>
                      </a:r>
                    </a:p>
                  </a:txBody>
                  <a:tcPr marL="27820" marR="27820" marT="18546" marB="1854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Switch API</a:t>
                      </a:r>
                    </a:p>
                  </a:txBody>
                  <a:tcPr marL="27820" marR="27820" marT="18546" marB="1854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Gateway API</a:t>
                      </a:r>
                    </a:p>
                  </a:txBody>
                  <a:tcPr marL="27820" marR="27820" marT="18546" marB="1854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zh-CN" alt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协议层对应原语</a:t>
                      </a:r>
                    </a:p>
                  </a:txBody>
                  <a:tcPr marL="27820" marR="27820" marT="18546" marB="1854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5099830"/>
                  </a:ext>
                </a:extLst>
              </a:tr>
              <a:tr h="317084"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协议栈初始化</a:t>
                      </a:r>
                    </a:p>
                  </a:txBody>
                  <a:tcPr marL="27820" marR="27820" marT="18546" marB="1854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en-US" sz="1000" u="non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zigbee_stack_init</a:t>
                      </a:r>
                      <a:r>
                        <a:rPr lang="en-US" sz="100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27820" marR="27820" marT="18546" marB="1854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en-US" sz="100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zigbee_stack_init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27820" marR="27820" marT="18546" marB="1854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en-US" sz="10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PHY/MAC/NWK/APS/ZDO RESET</a:t>
                      </a:r>
                    </a:p>
                  </a:txBody>
                  <a:tcPr marL="27820" marR="27820" marT="18546" marB="1854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7231861"/>
                  </a:ext>
                </a:extLst>
              </a:tr>
              <a:tr h="572101"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创建</a:t>
                      </a:r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扫描网络</a:t>
                      </a:r>
                    </a:p>
                  </a:txBody>
                  <a:tcPr marL="27820" marR="27820" marT="18546" marB="1854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en-US" sz="100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zigbee_ed_nwk_start_request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27820" marR="27820" marT="18546" marB="1854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en-US" sz="100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zigbee_nwk_start_request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27820" marR="27820" marT="18546" marB="1854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en-US" sz="10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NLME-JOIN.req / NLME-NETWORK-FORMATION.req</a:t>
                      </a:r>
                    </a:p>
                  </a:txBody>
                  <a:tcPr marL="27820" marR="27820" marT="18546" marB="1854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675731"/>
                  </a:ext>
                </a:extLst>
              </a:tr>
              <a:tr h="317084"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en-US" sz="10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Rejoin </a:t>
                      </a:r>
                      <a:r>
                        <a:rPr lang="zh-CN" altLang="en-US" sz="10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重试</a:t>
                      </a:r>
                    </a:p>
                  </a:txBody>
                  <a:tcPr marL="27820" marR="27820" marT="18546" marB="1854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en-US" sz="100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zigbee_join_request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27820" marR="27820" marT="18546" marB="1854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marL="27820" marR="27820" marT="18546" marB="1854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en-US" sz="10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NLME-JOIN.req (Rejoin)</a:t>
                      </a:r>
                    </a:p>
                  </a:txBody>
                  <a:tcPr marL="27820" marR="27820" marT="18546" marB="1854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58411612"/>
                  </a:ext>
                </a:extLst>
              </a:tr>
              <a:tr h="317084"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zh-CN" altLang="en-US" sz="10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允许入网</a:t>
                      </a:r>
                    </a:p>
                  </a:txBody>
                  <a:tcPr marL="27820" marR="27820" marT="18546" marB="1854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marL="27820" marR="27820" marT="18546" marB="1854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en-US" sz="100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zigbee_permit_join_req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27820" marR="27820" marT="18546" marB="1854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en-US" sz="100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Mgmt_Permit_Joining_req</a:t>
                      </a:r>
                      <a:endParaRPr lang="en-US" sz="100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7820" marR="27820" marT="18546" marB="1854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2834924"/>
                  </a:ext>
                </a:extLst>
              </a:tr>
              <a:tr h="317084"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zh-CN" altLang="en-US" sz="10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设备宣告（自动）</a:t>
                      </a:r>
                    </a:p>
                  </a:txBody>
                  <a:tcPr marL="27820" marR="27820" marT="18546" marB="1854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en-US" sz="10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ZBOSS </a:t>
                      </a:r>
                      <a:r>
                        <a:rPr lang="zh-CN" altLang="en-US" sz="10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内部</a:t>
                      </a:r>
                    </a:p>
                  </a:txBody>
                  <a:tcPr marL="27820" marR="27820" marT="18546" marB="1854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_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zdo_evt_device_announce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27820" marR="27820" marT="18546" marB="1854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en-US" sz="10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Device_annce (0x0013)</a:t>
                      </a:r>
                    </a:p>
                  </a:txBody>
                  <a:tcPr marL="27820" marR="27820" marT="18546" marB="1854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43459266"/>
                  </a:ext>
                </a:extLst>
              </a:tr>
              <a:tr h="317084"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zh-CN" altLang="en-US" sz="10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查询活跃端点</a:t>
                      </a:r>
                    </a:p>
                  </a:txBody>
                  <a:tcPr marL="27820" marR="27820" marT="18546" marB="1854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en-US" altLang="zh-CN" sz="10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marL="27820" marR="27820" marT="18546" marB="1854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en-US" sz="100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zigbee_act_ep_req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27820" marR="27820" marT="18546" marB="1854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en-US" sz="10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Active_EP_req (0x0005)</a:t>
                      </a:r>
                    </a:p>
                  </a:txBody>
                  <a:tcPr marL="27820" marR="27820" marT="18546" marB="1854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67863778"/>
                  </a:ext>
                </a:extLst>
              </a:tr>
              <a:tr h="317084"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zh-CN" altLang="en-US" sz="10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查询简单描述符</a:t>
                      </a:r>
                    </a:p>
                  </a:txBody>
                  <a:tcPr marL="27820" marR="27820" marT="18546" marB="1854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en-US" altLang="zh-CN" sz="10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marL="27820" marR="27820" marT="18546" marB="1854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en-US" sz="100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zigbee_simple_desc_req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27820" marR="27820" marT="18546" marB="1854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en-US" sz="10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Simple_Desc_req (0x0004)</a:t>
                      </a:r>
                    </a:p>
                  </a:txBody>
                  <a:tcPr marL="27820" marR="27820" marT="18546" marB="1854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60226890"/>
                  </a:ext>
                </a:extLst>
              </a:tr>
              <a:tr h="572101"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en-US" sz="10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ZCL </a:t>
                      </a:r>
                      <a:r>
                        <a:rPr lang="zh-CN" altLang="en-US" sz="10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控制命令</a:t>
                      </a:r>
                    </a:p>
                  </a:txBody>
                  <a:tcPr marL="27820" marR="27820" marT="18546" marB="1854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ZIGBEE_ZCL_DATA_REQ + 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zigbee_zcl_request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27820" marR="27820" marT="18546" marB="1854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en-US" altLang="zh-CN" sz="10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marL="27820" marR="27820" marT="18546" marB="1854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en-US" sz="10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APSDE-DATA.req → ZCL Frame</a:t>
                      </a:r>
                    </a:p>
                  </a:txBody>
                  <a:tcPr marL="27820" marR="27820" marT="18546" marB="1854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360919"/>
                  </a:ext>
                </a:extLst>
              </a:tr>
              <a:tr h="317084"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en-US" sz="10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ZCL </a:t>
                      </a:r>
                      <a:r>
                        <a:rPr lang="zh-CN" altLang="en-US" sz="10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属性读取</a:t>
                      </a:r>
                    </a:p>
                  </a:txBody>
                  <a:tcPr marL="27820" marR="27820" marT="18546" marB="1854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en-US" sz="10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ZB_ZCL_CMD_READ_ATTRIB</a:t>
                      </a:r>
                    </a:p>
                  </a:txBody>
                  <a:tcPr marL="27820" marR="27820" marT="18546" marB="1854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zh-CN" altLang="en-US" sz="10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自动响应（</a:t>
                      </a:r>
                      <a:r>
                        <a:rPr lang="en-US" altLang="zh-CN" sz="10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ZBOSS</a:t>
                      </a:r>
                      <a:r>
                        <a:rPr lang="zh-CN" altLang="en-US" sz="10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marL="27820" marR="27820" marT="18546" marB="1854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en-US" sz="10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Read Attributes (0x00)</a:t>
                      </a:r>
                    </a:p>
                  </a:txBody>
                  <a:tcPr marL="27820" marR="27820" marT="18546" marB="1854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02399215"/>
                  </a:ext>
                </a:extLst>
              </a:tr>
              <a:tr h="317084"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zh-CN" altLang="en-US" sz="10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绑定配置</a:t>
                      </a:r>
                    </a:p>
                  </a:txBody>
                  <a:tcPr marL="27820" marR="27820" marT="18546" marB="1854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en-US" altLang="zh-CN" sz="10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marL="27820" marR="27820" marT="18546" marB="1854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en-US" sz="100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zigbee_bind_req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27820" marR="27820" marT="18546" marB="1854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APSME-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BIND.req</a:t>
                      </a:r>
                      <a:endParaRPr lang="en-US" sz="100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7820" marR="27820" marT="18546" marB="1854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77377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91811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6C67E-010A-7361-9247-877DD7AE2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FFF9A304-E2D2-B68B-C16A-CC11D75BECEF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实验结果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CBB9FA1-81E9-941B-3C46-26D93DAFE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40" y="942537"/>
            <a:ext cx="6751320" cy="325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6194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17627C6-57C9-0CE2-D98A-2D54D1D545C3}"/>
              </a:ext>
            </a:extLst>
          </p:cNvPr>
          <p:cNvSpPr txBox="1"/>
          <p:nvPr/>
        </p:nvSpPr>
        <p:spPr>
          <a:xfrm>
            <a:off x="215591" y="3420003"/>
            <a:ext cx="87455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引用书籍</a:t>
            </a:r>
            <a:endParaRPr lang="en-US" altLang="zh-CN" sz="1200" b="1" dirty="0"/>
          </a:p>
          <a:p>
            <a:r>
              <a:rPr lang="en-US" altLang="zh-CN" sz="1200" dirty="0"/>
              <a:t>[1] IEEE 802.15.4-2003 </a:t>
            </a:r>
            <a:r>
              <a:rPr lang="zh-CN" altLang="en-US" sz="1200" dirty="0"/>
              <a:t>标准</a:t>
            </a:r>
            <a:endParaRPr lang="en-US" altLang="zh-CN" sz="1200" dirty="0"/>
          </a:p>
          <a:p>
            <a:r>
              <a:rPr lang="en-US" altLang="zh-CN" sz="1200" dirty="0"/>
              <a:t>[2] ZigBee Specification</a:t>
            </a:r>
            <a:r>
              <a:rPr lang="zh-CN" altLang="en-US" sz="1200" dirty="0"/>
              <a:t>（</a:t>
            </a:r>
            <a:r>
              <a:rPr lang="en-US" altLang="zh-CN" sz="1200" dirty="0"/>
              <a:t>ZigBee </a:t>
            </a:r>
            <a:r>
              <a:rPr lang="zh-CN" altLang="en-US" sz="1200" dirty="0"/>
              <a:t>协议规范）</a:t>
            </a:r>
            <a:endParaRPr lang="en-US" altLang="zh-CN" sz="1200" dirty="0"/>
          </a:p>
          <a:p>
            <a:r>
              <a:rPr lang="en-US" altLang="zh-CN" sz="1200" dirty="0"/>
              <a:t>[3] ZigBee Cluster Library Specification</a:t>
            </a:r>
            <a:r>
              <a:rPr lang="zh-CN" altLang="en-US" sz="1200" dirty="0"/>
              <a:t>（</a:t>
            </a:r>
            <a:r>
              <a:rPr lang="en-US" altLang="zh-CN" sz="1200" dirty="0"/>
              <a:t>ZigBee </a:t>
            </a:r>
            <a:r>
              <a:rPr lang="zh-CN" altLang="en-US" sz="1200" dirty="0"/>
              <a:t>集群库规范）</a:t>
            </a: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AD12E8B7-7A87-EDF3-B192-D245F573E4C1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zh-CN" altLang="en-US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资料引用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19693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9765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29913</TotalTime>
  <Words>5839</Words>
  <Application>Microsoft Office PowerPoint</Application>
  <PresentationFormat>全屏显示(16:9)</PresentationFormat>
  <Paragraphs>474</Paragraphs>
  <Slides>45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4" baseType="lpstr">
      <vt:lpstr>SimHei-Identity-H</vt:lpstr>
      <vt:lpstr>SimSun-Identity-H</vt:lpstr>
      <vt:lpstr>TimesNewRomanPSMT-Identity-H</vt:lpstr>
      <vt:lpstr>ui-monospace</vt:lpstr>
      <vt:lpstr>ui-sans-serif</vt:lpstr>
      <vt:lpstr>ZapfDingbats</vt:lpstr>
      <vt:lpstr>Arial</vt:lpstr>
      <vt:lpstr>Calibri</vt:lpstr>
      <vt:lpstr>Office 佈景主題</vt:lpstr>
      <vt:lpstr>Zigbee总结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公司新版政策語錄</dc:title>
  <dc:creator>KW31_陳柏廷(Point.Chen)</dc:creator>
  <cp:lastModifiedBy>梦 幽</cp:lastModifiedBy>
  <cp:revision>1182</cp:revision>
  <cp:lastPrinted>2023-11-14T06:51:44Z</cp:lastPrinted>
  <dcterms:created xsi:type="dcterms:W3CDTF">2021-05-06T16:03:29Z</dcterms:created>
  <dcterms:modified xsi:type="dcterms:W3CDTF">2026-03-17T09:50:06Z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1028-1.9.1.2994</vt:lpwstr>
  </property>
</Properties>
</file>