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1"/>
  </p:notesMasterIdLst>
  <p:handoutMasterIdLst>
    <p:handoutMasterId r:id="rId52"/>
  </p:handoutMasterIdLst>
  <p:sldIdLst>
    <p:sldId id="721" r:id="rId3"/>
    <p:sldId id="720" r:id="rId4"/>
    <p:sldId id="722" r:id="rId5"/>
    <p:sldId id="723" r:id="rId6"/>
    <p:sldId id="724" r:id="rId7"/>
    <p:sldId id="776" r:id="rId8"/>
    <p:sldId id="777" r:id="rId9"/>
    <p:sldId id="778" r:id="rId10"/>
    <p:sldId id="779" r:id="rId11"/>
    <p:sldId id="780" r:id="rId12"/>
    <p:sldId id="781" r:id="rId13"/>
    <p:sldId id="736" r:id="rId14"/>
    <p:sldId id="725" r:id="rId15"/>
    <p:sldId id="782" r:id="rId16"/>
    <p:sldId id="783" r:id="rId17"/>
    <p:sldId id="784" r:id="rId18"/>
    <p:sldId id="805" r:id="rId19"/>
    <p:sldId id="785" r:id="rId20"/>
    <p:sldId id="732" r:id="rId21"/>
    <p:sldId id="733" r:id="rId22"/>
    <p:sldId id="789" r:id="rId23"/>
    <p:sldId id="814" r:id="rId24"/>
    <p:sldId id="815" r:id="rId25"/>
    <p:sldId id="816" r:id="rId26"/>
    <p:sldId id="822" r:id="rId27"/>
    <p:sldId id="820" r:id="rId28"/>
    <p:sldId id="823" r:id="rId29"/>
    <p:sldId id="817" r:id="rId30"/>
    <p:sldId id="741" r:id="rId31"/>
    <p:sldId id="808" r:id="rId32"/>
    <p:sldId id="809" r:id="rId33"/>
    <p:sldId id="811" r:id="rId34"/>
    <p:sldId id="810" r:id="rId35"/>
    <p:sldId id="812" r:id="rId36"/>
    <p:sldId id="792" r:id="rId37"/>
    <p:sldId id="793" r:id="rId38"/>
    <p:sldId id="813" r:id="rId39"/>
    <p:sldId id="748" r:id="rId40"/>
    <p:sldId id="791" r:id="rId41"/>
    <p:sldId id="795" r:id="rId42"/>
    <p:sldId id="796" r:id="rId43"/>
    <p:sldId id="799" r:id="rId44"/>
    <p:sldId id="800" r:id="rId45"/>
    <p:sldId id="801" r:id="rId46"/>
    <p:sldId id="803" r:id="rId47"/>
    <p:sldId id="774" r:id="rId48"/>
    <p:sldId id="775" r:id="rId49"/>
    <p:sldId id="761" r:id="rId50"/>
  </p:sldIdLst>
  <p:sldSz cx="9144000" cy="5143500" type="screen16x9"/>
  <p:notesSz cx="6807200" cy="993902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0"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346E78"/>
    <a:srgbClr val="E7EEBA"/>
    <a:srgbClr val="96C9D2"/>
    <a:srgbClr val="C1E0E5"/>
    <a:srgbClr val="DCEDF0"/>
    <a:srgbClr val="C24E4E"/>
    <a:srgbClr val="99B323"/>
    <a:srgbClr val="E8B128"/>
    <a:srgbClr val="AB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56" autoAdjust="0"/>
    <p:restoredTop sz="93219" autoAdjust="0"/>
  </p:normalViewPr>
  <p:slideViewPr>
    <p:cSldViewPr snapToGrid="0" snapToObjects="1">
      <p:cViewPr varScale="1">
        <p:scale>
          <a:sx n="147" d="100"/>
          <a:sy n="147" d="100"/>
        </p:scale>
        <p:origin x="840" y="126"/>
      </p:cViewPr>
      <p:guideLst/>
    </p:cSldViewPr>
  </p:slideViewPr>
  <p:notesTextViewPr>
    <p:cViewPr>
      <p:scale>
        <a:sx n="1" d="1"/>
        <a:sy n="1" d="1"/>
      </p:scale>
      <p:origin x="0" y="0"/>
    </p:cViewPr>
  </p:notesTextViewPr>
  <p:sorterViewPr>
    <p:cViewPr>
      <p:scale>
        <a:sx n="120" d="100"/>
        <a:sy n="120" d="100"/>
      </p:scale>
      <p:origin x="0" y="0"/>
    </p:cViewPr>
  </p:sorterViewPr>
  <p:notesViewPr>
    <p:cSldViewPr snapToGrid="0" snapToObjects="1">
      <p:cViewPr varScale="1">
        <p:scale>
          <a:sx n="61" d="100"/>
          <a:sy n="61" d="100"/>
        </p:scale>
        <p:origin x="3168" y="3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commentAuthors" Target="commentAuthors.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5838" y="0"/>
            <a:ext cx="2949787" cy="498693"/>
          </a:xfrm>
          <a:prstGeom prst="rect">
            <a:avLst/>
          </a:prstGeom>
        </p:spPr>
        <p:txBody>
          <a:bodyPr vert="horz" lIns="91440" tIns="45720" rIns="91440" bIns="45720" rtlCol="0"/>
          <a:lstStyle>
            <a:lvl1pPr algn="r">
              <a:defRPr sz="1200"/>
            </a:lvl1pPr>
          </a:lstStyle>
          <a:p>
            <a:fld id="{25F83C5B-193A-4BF8-A82E-7EEB60FC9D06}" type="datetimeFigureOut">
              <a:rPr lang="zh-TW" altLang="en-US" smtClean="0"/>
            </a:fld>
            <a:endParaRPr lang="zh-TW" altLang="en-US"/>
          </a:p>
        </p:txBody>
      </p:sp>
      <p:sp>
        <p:nvSpPr>
          <p:cNvPr id="4" name="頁尾版面配置區 3"/>
          <p:cNvSpPr>
            <a:spLocks noGrp="1"/>
          </p:cNvSpPr>
          <p:nvPr>
            <p:ph type="ftr" sz="quarter" idx="2"/>
          </p:nvPr>
        </p:nvSpPr>
        <p:spPr>
          <a:xfrm>
            <a:off x="0" y="9440647"/>
            <a:ext cx="2949787" cy="498692"/>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838" y="9440647"/>
            <a:ext cx="2949787" cy="498692"/>
          </a:xfrm>
          <a:prstGeom prst="rect">
            <a:avLst/>
          </a:prstGeom>
        </p:spPr>
        <p:txBody>
          <a:bodyPr vert="horz" lIns="91440" tIns="45720" rIns="91440" bIns="45720" rtlCol="0" anchor="b"/>
          <a:lstStyle>
            <a:lvl1pPr algn="r">
              <a:defRPr sz="1200"/>
            </a:lvl1pPr>
          </a:lstStyle>
          <a:p>
            <a:fld id="{BAFA2EFD-17CF-42D6-A0C8-2B54CA1B5FB2}" type="slidenum">
              <a:rPr lang="zh-TW" altLang="en-US" smtClean="0"/>
            </a:fld>
            <a:endParaRPr lang="zh-TW"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CB36A0AF-27EE-2F44-8E2A-D118AC8FD312}" type="datetimeFigureOut">
              <a:rPr lang="en-US" smtClean="0"/>
            </a:fld>
            <a:endParaRPr lang="en-US"/>
          </a:p>
        </p:txBody>
      </p:sp>
      <p:sp>
        <p:nvSpPr>
          <p:cNvPr id="4" name="Slide Image Placeholder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C5FF2086-D505-2D44-8947-B67946DAFD0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圖片 3" descr="畫面剪輯"/>
          <p:cNvPicPr/>
          <p:nvPr userDrawn="1"/>
        </p:nvPicPr>
        <p:blipFill rotWithShape="1">
          <a:blip r:embed="rId2">
            <a:extLst>
              <a:ext uri="{28A0092B-C50C-407E-A947-70E740481C1C}">
                <a14:useLocalDpi xmlns:a14="http://schemas.microsoft.com/office/drawing/2010/main" val="0"/>
              </a:ext>
            </a:extLst>
          </a:blip>
          <a:srcRect l="245" t="648" r="542" b="24906"/>
          <a:stretch>
            <a:fillRect/>
          </a:stretch>
        </p:blipFill>
        <p:spPr>
          <a:xfrm>
            <a:off x="0" y="-2250"/>
            <a:ext cx="9144000" cy="5148000"/>
          </a:xfrm>
          <a:prstGeom prst="rect">
            <a:avLst/>
          </a:prstGeom>
        </p:spPr>
      </p:pic>
      <p:sp>
        <p:nvSpPr>
          <p:cNvPr id="11" name="矩形 10"/>
          <p:cNvSpPr/>
          <p:nvPr userDrawn="1"/>
        </p:nvSpPr>
        <p:spPr>
          <a:xfrm>
            <a:off x="0" y="-2250"/>
            <a:ext cx="9144000" cy="5148000"/>
          </a:xfrm>
          <a:prstGeom prst="rect">
            <a:avLst/>
          </a:prstGeom>
          <a:solidFill>
            <a:schemeClr val="tx1">
              <a:lumMod val="75000"/>
              <a:lumOff val="25000"/>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矩形 11"/>
          <p:cNvSpPr/>
          <p:nvPr userDrawn="1"/>
        </p:nvSpPr>
        <p:spPr>
          <a:xfrm>
            <a:off x="4571964" y="2970854"/>
            <a:ext cx="3888134" cy="1550031"/>
          </a:xfrm>
          <a:prstGeom prst="rect">
            <a:avLst/>
          </a:prstGeom>
        </p:spPr>
        <p:txBody>
          <a:bodyPr wrap="square" lIns="36000" tIns="36000" rIns="36000" bIns="36000" anchor="ctr">
            <a:spAutoFit/>
          </a:bodyPr>
          <a:lstStyle/>
          <a:p>
            <a:pPr marL="0" indent="0" algn="just">
              <a:lnSpc>
                <a:spcPct val="120000"/>
              </a:lnSpc>
              <a:buFont typeface="Arial" panose="020B0604020202020204" pitchFamily="34" charset="0"/>
              <a:buNone/>
            </a:pPr>
            <a:r>
              <a:rPr lang="en-US" sz="1000" dirty="0" err="1">
                <a:solidFill>
                  <a:schemeClr val="bg2">
                    <a:lumMod val="75000"/>
                    <a:alpha val="50000"/>
                  </a:schemeClr>
                </a:solidFill>
                <a:latin typeface="Calibri" panose="020F0502020204030204" pitchFamily="34" charset="0"/>
                <a:cs typeface="Calibri" panose="020F0502020204030204" pitchFamily="34" charset="0"/>
              </a:rPr>
              <a:t>Michaelango</a:t>
            </a:r>
            <a:r>
              <a:rPr lang="en-US" sz="1000" dirty="0">
                <a:solidFill>
                  <a:schemeClr val="bg2">
                    <a:lumMod val="75000"/>
                    <a:alpha val="50000"/>
                  </a:schemeClr>
                </a:solidFill>
                <a:latin typeface="Calibri" panose="020F0502020204030204" pitchFamily="34" charset="0"/>
                <a:cs typeface="Calibri" panose="020F0502020204030204" pitchFamily="34" charset="0"/>
              </a:rPr>
              <a:t>, Leonardo da Vinci and Rafael (</a:t>
            </a:r>
            <a:r>
              <a:rPr lang="en-US" sz="1000" dirty="0" err="1">
                <a:solidFill>
                  <a:schemeClr val="bg2">
                    <a:lumMod val="75000"/>
                    <a:alpha val="50000"/>
                  </a:schemeClr>
                </a:solidFill>
                <a:latin typeface="Calibri" panose="020F0502020204030204" pitchFamily="34" charset="0"/>
                <a:cs typeface="Calibri" panose="020F0502020204030204" pitchFamily="34" charset="0"/>
              </a:rPr>
              <a:t>Raffaello</a:t>
            </a:r>
            <a:r>
              <a:rPr lang="en-US" sz="1000" dirty="0">
                <a:solidFill>
                  <a:schemeClr val="bg2">
                    <a:lumMod val="75000"/>
                    <a:alpha val="50000"/>
                  </a:schemeClr>
                </a:solidFill>
                <a:latin typeface="Calibri" panose="020F0502020204030204" pitchFamily="34" charset="0"/>
                <a:cs typeface="Calibri" panose="020F0502020204030204" pitchFamily="34" charset="0"/>
              </a:rPr>
              <a:t> </a:t>
            </a:r>
            <a:r>
              <a:rPr lang="en-US" sz="1000" dirty="0" err="1">
                <a:solidFill>
                  <a:schemeClr val="bg2">
                    <a:lumMod val="75000"/>
                    <a:alpha val="50000"/>
                  </a:schemeClr>
                </a:solidFill>
                <a:latin typeface="Calibri" panose="020F0502020204030204" pitchFamily="34" charset="0"/>
                <a:cs typeface="Calibri" panose="020F0502020204030204" pitchFamily="34" charset="0"/>
              </a:rPr>
              <a:t>Sanzio</a:t>
            </a:r>
            <a:r>
              <a:rPr lang="en-US" sz="1000" dirty="0">
                <a:solidFill>
                  <a:schemeClr val="bg2">
                    <a:lumMod val="75000"/>
                    <a:alpha val="50000"/>
                  </a:schemeClr>
                </a:solidFill>
                <a:latin typeface="Calibri" panose="020F0502020204030204" pitchFamily="34" charset="0"/>
                <a:cs typeface="Calibri" panose="020F0502020204030204" pitchFamily="34" charset="0"/>
              </a:rPr>
              <a:t> in Italian) are the famous three Masters of the Italian Renaissance.</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They creatively excelled in both science and art so their works influenced the future of Western culture.</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endParaRPr lang="en-US" sz="1000" dirty="0">
              <a:solidFill>
                <a:schemeClr val="bg2">
                  <a:lumMod val="75000"/>
                  <a:alpha val="50000"/>
                </a:schemeClr>
              </a:solidFill>
              <a:latin typeface="Calibri" panose="020F0502020204030204" pitchFamily="34" charset="0"/>
              <a:cs typeface="Calibri" panose="020F0502020204030204" pitchFamily="34" charset="0"/>
            </a:endParaRPr>
          </a:p>
          <a:p>
            <a:pPr marL="0" indent="0" algn="just">
              <a:lnSpc>
                <a:spcPct val="120000"/>
              </a:lnSpc>
              <a:buFont typeface="Arial" panose="020B0604020202020204" pitchFamily="34" charset="0"/>
              <a:buNone/>
            </a:pPr>
            <a:r>
              <a:rPr lang="en-US" sz="1000" dirty="0">
                <a:solidFill>
                  <a:schemeClr val="bg2">
                    <a:lumMod val="75000"/>
                    <a:alpha val="50000"/>
                  </a:schemeClr>
                </a:solidFill>
                <a:latin typeface="Calibri" panose="020F0502020204030204" pitchFamily="34" charset="0"/>
                <a:cs typeface="Calibri" panose="020F0502020204030204" pitchFamily="34" charset="0"/>
              </a:rPr>
              <a:t>Radio frequency technology is commonly called RF thus we have adopted Rafael’s name for its R and F.</a:t>
            </a:r>
            <a:endParaRPr lang="en-US" sz="1000" dirty="0">
              <a:solidFill>
                <a:schemeClr val="bg2">
                  <a:lumMod val="75000"/>
                  <a:alpha val="50000"/>
                </a:schemeClr>
              </a:solidFill>
              <a:latin typeface="Calibri" panose="020F0502020204030204" pitchFamily="34" charset="0"/>
              <a:cs typeface="Calibri" panose="020F0502020204030204" pitchFamily="34" charset="0"/>
            </a:endParaRPr>
          </a:p>
        </p:txBody>
      </p:sp>
      <p:sp>
        <p:nvSpPr>
          <p:cNvPr id="14" name="標題 83"/>
          <p:cNvSpPr>
            <a:spLocks noGrp="1"/>
          </p:cNvSpPr>
          <p:nvPr>
            <p:ph type="title" hasCustomPrompt="1"/>
          </p:nvPr>
        </p:nvSpPr>
        <p:spPr>
          <a:xfrm>
            <a:off x="679939" y="1401972"/>
            <a:ext cx="7200000" cy="396000"/>
          </a:xfrm>
          <a:prstGeom prst="rect">
            <a:avLst/>
          </a:prstGeom>
        </p:spPr>
        <p:txBody>
          <a:bodyPr lIns="36000" tIns="36000" rIns="36000" bIns="36000" anchor="ctr"/>
          <a:lstStyle>
            <a:lvl1pPr>
              <a:defRPr sz="2400" b="1" i="0" baseline="0">
                <a:solidFill>
                  <a:schemeClr val="bg1"/>
                </a:solidFill>
                <a:latin typeface="Calibri" panose="020F0502020204030204" pitchFamily="34" charset="0"/>
                <a:ea typeface="PMingLiU" panose="02020500000000000000" pitchFamily="18" charset="-120"/>
                <a:cs typeface="Calibri" panose="020F0502020204030204" pitchFamily="34" charset="0"/>
              </a:defRPr>
            </a:lvl1pPr>
          </a:lstStyle>
          <a:p>
            <a:r>
              <a:rPr lang="en-US" altLang="zh-TW" dirty="0"/>
              <a:t>Edit Report Title</a:t>
            </a:r>
            <a:endParaRPr lang="zh-TW" altLang="en-US" dirty="0"/>
          </a:p>
        </p:txBody>
      </p:sp>
      <p:sp>
        <p:nvSpPr>
          <p:cNvPr id="15" name="文字版面配置區 31"/>
          <p:cNvSpPr>
            <a:spLocks noGrp="1"/>
          </p:cNvSpPr>
          <p:nvPr>
            <p:ph type="body" sz="quarter" idx="23" hasCustomPrompt="1"/>
          </p:nvPr>
        </p:nvSpPr>
        <p:spPr>
          <a:xfrm>
            <a:off x="1748253" y="4228170"/>
            <a:ext cx="1800000" cy="288000"/>
          </a:xfrm>
          <a:prstGeom prst="rect">
            <a:avLst/>
          </a:prstGeom>
        </p:spPr>
        <p:txBody>
          <a:bodyPr lIns="36000" tIns="36000" rIns="36000" bIns="36000" anchor="ctr"/>
          <a:lstStyle>
            <a:lvl1pPr marL="0" indent="0" algn="l">
              <a:buFontTx/>
              <a:buNone/>
              <a:defRPr lang="zh-TW" altLang="en-US"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MMM-DD-YYYY</a:t>
            </a:r>
            <a:endParaRPr lang="zh-TW" altLang="en-US" dirty="0"/>
          </a:p>
        </p:txBody>
      </p:sp>
      <p:sp>
        <p:nvSpPr>
          <p:cNvPr id="20" name="文字版面配置區 31"/>
          <p:cNvSpPr>
            <a:spLocks noGrp="1"/>
          </p:cNvSpPr>
          <p:nvPr>
            <p:ph type="body" sz="quarter" idx="24" hasCustomPrompt="1"/>
          </p:nvPr>
        </p:nvSpPr>
        <p:spPr>
          <a:xfrm>
            <a:off x="1748253" y="3835302"/>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1" name="文字版面配置區 31"/>
          <p:cNvSpPr>
            <a:spLocks noGrp="1"/>
          </p:cNvSpPr>
          <p:nvPr>
            <p:ph type="body" sz="quarter" idx="20" hasCustomPrompt="1"/>
          </p:nvPr>
        </p:nvSpPr>
        <p:spPr>
          <a:xfrm>
            <a:off x="1748253" y="3049564"/>
            <a:ext cx="1800000" cy="288000"/>
          </a:xfrm>
          <a:prstGeom prst="rect">
            <a:avLst/>
          </a:prstGeom>
        </p:spPr>
        <p:txBody>
          <a:bodyPr lIns="36000" tIns="36000" rIns="36000" bIns="36000" anchor="ctr"/>
          <a:lstStyle>
            <a:lvl1pPr marL="0" indent="0" algn="l">
              <a:buFontTx/>
              <a:buNone/>
              <a:defRPr lang="en-US" altLang="zh-TW" sz="1000" b="0" kern="120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2" name="文字版面配置區 31"/>
          <p:cNvSpPr>
            <a:spLocks noGrp="1"/>
          </p:cNvSpPr>
          <p:nvPr>
            <p:ph type="body" sz="quarter" idx="21" hasCustomPrompt="1"/>
          </p:nvPr>
        </p:nvSpPr>
        <p:spPr>
          <a:xfrm>
            <a:off x="1748253" y="3442433"/>
            <a:ext cx="1800000" cy="288000"/>
          </a:xfrm>
          <a:prstGeom prst="rect">
            <a:avLst/>
          </a:prstGeom>
        </p:spPr>
        <p:txBody>
          <a:bodyPr lIns="36000" tIns="36000" rIns="36000" bIns="36000" anchor="ctr"/>
          <a:lstStyle>
            <a:lvl1pPr marL="0" indent="0" algn="l">
              <a:buFontTx/>
              <a:buNone/>
              <a:defRPr lang="en-US" altLang="zh-TW" sz="1000" b="0" baseline="0" dirty="0">
                <a:solidFill>
                  <a:srgbClr val="E9CA7F"/>
                </a:solidFill>
                <a:latin typeface="Calibri" panose="020F0502020204030204" pitchFamily="34" charset="0"/>
                <a:ea typeface="PMingLiU" panose="02020500000000000000" pitchFamily="18" charset="-120"/>
                <a:cs typeface="Calibri" panose="020F0502020204030204" pitchFamily="34" charset="0"/>
              </a:defRPr>
            </a:lvl1pPr>
          </a:lstStyle>
          <a:p>
            <a:pPr lvl="0">
              <a:spcBef>
                <a:spcPct val="0"/>
              </a:spcBef>
              <a:buNone/>
            </a:pPr>
            <a:r>
              <a:rPr lang="en-US" altLang="zh-TW" dirty="0"/>
              <a:t>Name / Title</a:t>
            </a:r>
            <a:endParaRPr lang="en-US" altLang="zh-TW" dirty="0"/>
          </a:p>
        </p:txBody>
      </p:sp>
      <p:sp>
        <p:nvSpPr>
          <p:cNvPr id="24" name="Rectangle 15"/>
          <p:cNvSpPr/>
          <p:nvPr userDrawn="1"/>
        </p:nvSpPr>
        <p:spPr>
          <a:xfrm>
            <a:off x="679939" y="3070994"/>
            <a:ext cx="864587" cy="245058"/>
          </a:xfrm>
          <a:prstGeom prst="rect">
            <a:avLst/>
          </a:prstGeom>
        </p:spPr>
        <p:txBody>
          <a:bodyPr wrap="none" lIns="36000" tIns="36000" rIns="36000" bIns="36000" anchor="ctr">
            <a:spAutoFit/>
          </a:bodyPr>
          <a:lstStyle/>
          <a:p>
            <a:pPr marL="0" marR="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Presented by : </a:t>
            </a:r>
            <a:endParaRPr lang="en-US" altLang="zh-TW" sz="1000" b="1" kern="1200" dirty="0">
              <a:solidFill>
                <a:srgbClr val="F3F3F3"/>
              </a:solidFill>
              <a:latin typeface="Calibri" panose="020F0502020204030204" pitchFamily="34" charset="0"/>
              <a:ea typeface="Arial" panose="020B0604020202020204" pitchFamily="34" charset="0"/>
              <a:cs typeface="Calibri" panose="020F0502020204030204" pitchFamily="34" charset="0"/>
            </a:endParaRPr>
          </a:p>
        </p:txBody>
      </p:sp>
      <p:sp>
        <p:nvSpPr>
          <p:cNvPr id="25" name="Rectangle 15"/>
          <p:cNvSpPr/>
          <p:nvPr userDrawn="1"/>
        </p:nvSpPr>
        <p:spPr>
          <a:xfrm>
            <a:off x="679939" y="3450348"/>
            <a:ext cx="846954" cy="257369"/>
          </a:xfrm>
          <a:prstGeom prst="rect">
            <a:avLst/>
          </a:prstGeom>
        </p:spPr>
        <p:txBody>
          <a:bodyPr wrap="none" lIns="36000" tIns="36000" rIns="36000" bIns="36000" anchor="ctr">
            <a:spAutoFit/>
          </a:bodyPr>
          <a:lstStyle/>
          <a:p>
            <a:pPr marR="0" lvl="0" indent="0" algn="l" defTabSz="685800" fontAlgn="auto">
              <a:lnSpc>
                <a:spcPct val="120000"/>
              </a:lnSpc>
              <a:spcBef>
                <a:spcPts val="0"/>
              </a:spcBef>
              <a:spcAft>
                <a:spcPts val="0"/>
              </a:spcAft>
              <a:buClrTx/>
              <a:buSzTx/>
              <a:buFontTx/>
              <a:buNone/>
            </a:pPr>
            <a:r>
              <a:rPr lang="en-US" altLang="zh-TW" sz="1000" b="1"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Reviewed by :</a:t>
            </a:r>
            <a:r>
              <a:rPr lang="en-US" altLang="zh-TW" sz="1000" b="1" baseline="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 </a:t>
            </a:r>
            <a:endParaRPr lang="en-US" altLang="zh-TW" sz="1000" b="1"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sp>
        <p:nvSpPr>
          <p:cNvPr id="26" name="Rectangle 17"/>
          <p:cNvSpPr/>
          <p:nvPr userDrawn="1"/>
        </p:nvSpPr>
        <p:spPr>
          <a:xfrm>
            <a:off x="679939" y="3843230"/>
            <a:ext cx="741156"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Created by : </a:t>
            </a:r>
            <a:endPar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sp>
        <p:nvSpPr>
          <p:cNvPr id="27" name="Rectangle 18"/>
          <p:cNvSpPr/>
          <p:nvPr userDrawn="1"/>
        </p:nvSpPr>
        <p:spPr>
          <a:xfrm>
            <a:off x="679939" y="4243485"/>
            <a:ext cx="1119465" cy="257369"/>
          </a:xfrm>
          <a:prstGeom prst="rect">
            <a:avLst/>
          </a:prstGeom>
        </p:spPr>
        <p:txBody>
          <a:bodyPr wrap="none" lIns="36000" tIns="36000" rIns="36000" bIns="36000" anchor="ctr">
            <a:spAutoFit/>
          </a:bodyPr>
          <a:lstStyle/>
          <a:p>
            <a:pPr marL="0" marR="0" lvl="0" indent="0" algn="l" defTabSz="685800" rtl="0" eaLnBrk="1" fontAlgn="auto" latinLnBrk="0" hangingPunct="1">
              <a:lnSpc>
                <a:spcPct val="120000"/>
              </a:lnSpc>
              <a:spcBef>
                <a:spcPts val="0"/>
              </a:spcBef>
              <a:spcAft>
                <a:spcPts val="0"/>
              </a:spcAft>
              <a:buClrTx/>
              <a:buSzTx/>
              <a:buFontTx/>
              <a:buNone/>
              <a:defRPr/>
            </a:pPr>
            <a:r>
              <a:rPr lang="en-US" altLang="zh-TW"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rPr>
              <a:t>Presentation date : </a:t>
            </a:r>
            <a:endParaRPr lang="zh-TW" altLang="en-US" sz="1000" b="1" kern="1200" dirty="0">
              <a:solidFill>
                <a:srgbClr val="F3F3F3"/>
              </a:solidFill>
              <a:latin typeface="Calibri" panose="020F0502020204030204" pitchFamily="34" charset="0"/>
              <a:ea typeface="Microsoft JhengHei" panose="020B0604030504040204" pitchFamily="34" charset="-120"/>
              <a:cs typeface="Calibri" panose="020F0502020204030204" pitchFamily="34" charset="0"/>
            </a:endParaRPr>
          </a:p>
        </p:txBody>
      </p:sp>
      <p:pic>
        <p:nvPicPr>
          <p:cNvPr id="30" name="圖片 29"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a:fillRect/>
          </a:stretch>
        </p:blipFill>
        <p:spPr>
          <a:xfrm>
            <a:off x="679939" y="758664"/>
            <a:ext cx="1338182" cy="360000"/>
          </a:xfrm>
          <a:prstGeom prst="rect">
            <a:avLst/>
          </a:prstGeom>
        </p:spPr>
      </p:pic>
      <p:sp>
        <p:nvSpPr>
          <p:cNvPr id="31" name="框架 30"/>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圖片 1"/>
          <p:cNvPicPr/>
          <p:nvPr userDrawn="1"/>
        </p:nvPicPr>
        <p:blipFill rotWithShape="1">
          <a:blip r:embed="rId2">
            <a:extLst>
              <a:ext uri="{28A0092B-C50C-407E-A947-70E740481C1C}">
                <a14:useLocalDpi xmlns:a14="http://schemas.microsoft.com/office/drawing/2010/main" val="0"/>
              </a:ext>
            </a:extLst>
          </a:blip>
          <a:srcRect l="1429" r="9250"/>
          <a:stretch>
            <a:fillRect/>
          </a:stretch>
        </p:blipFill>
        <p:spPr bwMode="auto">
          <a:xfrm>
            <a:off x="0" y="-2250"/>
            <a:ext cx="9144000" cy="51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userDrawn="1"/>
        </p:nvSpPr>
        <p:spPr>
          <a:xfrm>
            <a:off x="0" y="-2250"/>
            <a:ext cx="9144000" cy="5148000"/>
          </a:xfrm>
          <a:prstGeom prst="rect">
            <a:avLst/>
          </a:prstGeom>
          <a:solidFill>
            <a:schemeClr val="tx1">
              <a:lumMod val="75000"/>
              <a:lumOff val="25000"/>
              <a:alpha val="9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框架 4"/>
          <p:cNvSpPr/>
          <p:nvPr userDrawn="1"/>
        </p:nvSpPr>
        <p:spPr>
          <a:xfrm>
            <a:off x="0" y="-2250"/>
            <a:ext cx="9144000" cy="5148000"/>
          </a:xfrm>
          <a:prstGeom prst="frame">
            <a:avLst>
              <a:gd name="adj1" fmla="val 582"/>
            </a:avLst>
          </a:prstGeom>
          <a:solidFill>
            <a:srgbClr val="DFC2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7" name="圖片 6" descr="畫面剪輯"/>
          <p:cNvPicPr>
            <a:picLocks noChangeAspect="1"/>
          </p:cNvPicPr>
          <p:nvPr userDrawn="1"/>
        </p:nvPicPr>
        <p:blipFill rotWithShape="1">
          <a:blip r:embed="rId3">
            <a:clrChange>
              <a:clrFrom>
                <a:srgbClr val="4C4C4C"/>
              </a:clrFrom>
              <a:clrTo>
                <a:srgbClr val="4C4C4C">
                  <a:alpha val="0"/>
                </a:srgbClr>
              </a:clrTo>
            </a:clrChange>
            <a:extLst>
              <a:ext uri="{28A0092B-C50C-407E-A947-70E740481C1C}">
                <a14:useLocalDpi xmlns:a14="http://schemas.microsoft.com/office/drawing/2010/main" val="0"/>
              </a:ext>
            </a:extLst>
          </a:blip>
          <a:srcRect l="-49" t="431" r="6450" b="312"/>
          <a:stretch>
            <a:fillRect/>
          </a:stretch>
        </p:blipFill>
        <p:spPr>
          <a:xfrm>
            <a:off x="679939" y="758664"/>
            <a:ext cx="1338182" cy="360000"/>
          </a:xfrm>
          <a:prstGeom prst="rect">
            <a:avLst/>
          </a:prstGeom>
        </p:spPr>
      </p:pic>
      <p:sp>
        <p:nvSpPr>
          <p:cNvPr id="8" name="標題 9"/>
          <p:cNvSpPr txBox="1"/>
          <p:nvPr userDrawn="1"/>
        </p:nvSpPr>
        <p:spPr>
          <a:xfrm>
            <a:off x="2772000" y="2283750"/>
            <a:ext cx="3600000" cy="576000"/>
          </a:xfrm>
          <a:prstGeom prst="rect">
            <a:avLst/>
          </a:prstGeom>
        </p:spPr>
        <p:txBody>
          <a:bodyPr lIns="0" tIns="0" rIns="0" bIns="0" anchor="ctr"/>
          <a:lstStyle>
            <a:lvl1pPr algn="l" defTabSz="914400" rtl="0" eaLnBrk="1" latinLnBrk="0" hangingPunct="1">
              <a:lnSpc>
                <a:spcPct val="90000"/>
              </a:lnSpc>
              <a:spcBef>
                <a:spcPct val="0"/>
              </a:spcBef>
              <a:buNone/>
              <a:defRPr sz="2400" b="1" i="0" kern="1200" baseline="0">
                <a:solidFill>
                  <a:schemeClr val="tx1"/>
                </a:solidFill>
                <a:latin typeface="Calibri" panose="020F0502020204030204" pitchFamily="34" charset="0"/>
                <a:ea typeface="PMingLiU" panose="02020500000000000000" pitchFamily="18" charset="-120"/>
                <a:cs typeface="+mj-cs"/>
              </a:defRPr>
            </a:lvl1pPr>
          </a:lstStyle>
          <a:p>
            <a:pPr algn="ctr"/>
            <a:r>
              <a:rPr lang="en-US" altLang="zh-TW" sz="1800" b="1" dirty="0">
                <a:solidFill>
                  <a:schemeClr val="bg1"/>
                </a:solidFill>
                <a:effectLst/>
                <a:latin typeface="ZapfDingbats" pitchFamily="18"/>
              </a:rPr>
              <a:t>Thank You</a:t>
            </a:r>
            <a:endParaRPr lang="en-US" altLang="zh-TW" sz="1800" b="1" dirty="0">
              <a:solidFill>
                <a:schemeClr val="bg1"/>
              </a:solidFill>
              <a:effectLst/>
              <a:latin typeface="ZapfDingbats" pitchFamily="18"/>
            </a:endParaRPr>
          </a:p>
        </p:txBody>
      </p:sp>
      <p:sp>
        <p:nvSpPr>
          <p:cNvPr id="9" name="矩形 8"/>
          <p:cNvSpPr/>
          <p:nvPr userDrawn="1"/>
        </p:nvSpPr>
        <p:spPr>
          <a:xfrm>
            <a:off x="1162125" y="3375855"/>
            <a:ext cx="6819752" cy="215444"/>
          </a:xfrm>
          <a:prstGeom prst="rect">
            <a:avLst/>
          </a:prstGeom>
        </p:spPr>
        <p:txBody>
          <a:bodyPr wrap="none" lIns="0" tIns="0" rIns="0" bIns="0" anchor="ctr" anchorCtr="0">
            <a:spAutoFit/>
          </a:bodyPr>
          <a:lstStyle/>
          <a:p>
            <a:pPr lvl="0" algn="ctr"/>
            <a:r>
              <a:rPr lang="en-US" altLang="zh-TW" sz="1400" dirty="0">
                <a:solidFill>
                  <a:srgbClr val="E8B128"/>
                </a:solidFill>
                <a:latin typeface="Calibri" panose="020F0502020204030204" pitchFamily="34" charset="0"/>
                <a:cs typeface="Calibri" panose="020F0502020204030204" pitchFamily="34" charset="0"/>
              </a:rPr>
              <a:t>Rafael</a:t>
            </a:r>
            <a:r>
              <a:rPr lang="en-US" altLang="zh-TW" sz="1400" baseline="0" dirty="0">
                <a:solidFill>
                  <a:srgbClr val="E8B128"/>
                </a:solidFill>
                <a:latin typeface="Calibri" panose="020F0502020204030204" pitchFamily="34" charset="0"/>
                <a:cs typeface="Calibri" panose="020F0502020204030204" pitchFamily="34" charset="0"/>
              </a:rPr>
              <a:t> </a:t>
            </a:r>
            <a:r>
              <a:rPr lang="en-US" altLang="zh-TW" sz="1400" baseline="0" dirty="0">
                <a:solidFill>
                  <a:srgbClr val="99B323"/>
                </a:solidFill>
                <a:latin typeface="Calibri" panose="020F0502020204030204" pitchFamily="34" charset="0"/>
                <a:cs typeface="Calibri" panose="020F0502020204030204" pitchFamily="34" charset="0"/>
              </a:rPr>
              <a:t>Micro</a:t>
            </a:r>
            <a:r>
              <a:rPr lang="en-US" altLang="zh-TW" sz="1000" dirty="0">
                <a:solidFill>
                  <a:srgbClr val="D3D4D6"/>
                </a:solidFill>
                <a:latin typeface="Calibri" panose="020F0502020204030204" pitchFamily="34" charset="0"/>
                <a:cs typeface="Calibri" panose="020F0502020204030204" pitchFamily="34" charset="0"/>
              </a:rPr>
              <a:t> </a:t>
            </a:r>
            <a:r>
              <a:rPr lang="en-US" altLang="zh-TW" sz="1000" kern="1200" dirty="0">
                <a:solidFill>
                  <a:schemeClr val="bg2">
                    <a:lumMod val="75000"/>
                    <a:alpha val="50000"/>
                  </a:schemeClr>
                </a:solidFill>
                <a:latin typeface="Calibri" panose="020F0502020204030204" pitchFamily="34" charset="0"/>
                <a:ea typeface="+mn-ea"/>
                <a:cs typeface="Calibri" panose="020F0502020204030204" pitchFamily="34" charset="0"/>
              </a:rPr>
              <a:t>create RF integrated circuits with this same aspiration by continuously pursuing innovation and unique creativity.</a:t>
            </a:r>
            <a:endParaRPr lang="en-US" altLang="zh-TW" sz="1000" kern="1200" dirty="0">
              <a:solidFill>
                <a:schemeClr val="bg2">
                  <a:lumMod val="75000"/>
                  <a:alpha val="50000"/>
                </a:schemeClr>
              </a:solidFill>
              <a:latin typeface="Calibri" panose="020F0502020204030204" pitchFamily="34" charset="0"/>
              <a:ea typeface="+mn-ea"/>
              <a:cs typeface="Calibri" panose="020F050202020403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21970" y="270000"/>
            <a:ext cx="8100000" cy="540000"/>
          </a:xfrm>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521970" y="4767263"/>
            <a:ext cx="2057400" cy="273844"/>
          </a:xfrm>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3028950" y="4767263"/>
            <a:ext cx="3086100" cy="273844"/>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565487" y="4767263"/>
            <a:ext cx="2057400" cy="273844"/>
          </a:xfrm>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4.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投影片編號版面配置區 3"/>
          <p:cNvSpPr txBox="1"/>
          <p:nvPr userDrawn="1"/>
        </p:nvSpPr>
        <p:spPr>
          <a:xfrm>
            <a:off x="390123" y="4914968"/>
            <a:ext cx="129597"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PMingLiU" panose="02020500000000000000" pitchFamily="18" charset="-120"/>
              </a:defRPr>
            </a:lvl1pPr>
          </a:lstStyle>
          <a:p>
            <a:pPr lvl="0" algn="ctr"/>
            <a:r>
              <a:rPr lang="en-US" altLang="zh-TW" sz="700" baseline="0" dirty="0">
                <a:solidFill>
                  <a:schemeClr val="bg1">
                    <a:lumMod val="65000"/>
                  </a:schemeClr>
                </a:solidFill>
                <a:latin typeface="Calibri" panose="020F0502020204030204" pitchFamily="34" charset="0"/>
                <a:cs typeface="Calibri" panose="020F0502020204030204" pitchFamily="34" charset="0"/>
              </a:rPr>
              <a:t>29</a:t>
            </a:r>
            <a:r>
              <a:rPr lang="zh-TW" altLang="en-US" sz="700" baseline="0" dirty="0">
                <a:solidFill>
                  <a:schemeClr val="bg1">
                    <a:lumMod val="65000"/>
                  </a:schemeClr>
                </a:solidFill>
                <a:latin typeface="Calibri" panose="020F0502020204030204" pitchFamily="34" charset="0"/>
                <a:cs typeface="Calibri" panose="020F0502020204030204" pitchFamily="34" charset="0"/>
              </a:rPr>
              <a:t> </a:t>
            </a:r>
            <a:endParaRPr lang="zh-TW" altLang="en-US" sz="700" baseline="0" dirty="0">
              <a:solidFill>
                <a:schemeClr val="bg1">
                  <a:lumMod val="65000"/>
                </a:schemeClr>
              </a:solidFill>
              <a:latin typeface="Calibri" panose="020F0502020204030204" pitchFamily="34" charset="0"/>
              <a:cs typeface="Calibri" panose="020F0502020204030204" pitchFamily="34" charset="0"/>
            </a:endParaRPr>
          </a:p>
        </p:txBody>
      </p:sp>
      <p:sp>
        <p:nvSpPr>
          <p:cNvPr id="34" name="Text Box 19"/>
          <p:cNvSpPr txBox="1">
            <a:spLocks noChangeArrowheads="1"/>
          </p:cNvSpPr>
          <p:nvPr userDrawn="1"/>
        </p:nvSpPr>
        <p:spPr bwMode="auto">
          <a:xfrm>
            <a:off x="7609030" y="4914968"/>
            <a:ext cx="1282970" cy="195814"/>
          </a:xfrm>
          <a:prstGeom prst="rect">
            <a:avLst/>
          </a:prstGeom>
          <a:noFill/>
          <a:ln>
            <a:noFill/>
          </a:ln>
          <a:effectLst/>
        </p:spPr>
        <p:txBody>
          <a:bodyPr wrap="none" lIns="36000" tIns="36000" rIns="36000" bIns="36000" anchor="ctr">
            <a:spAutoFit/>
          </a:bodyPr>
          <a:lstStyle>
            <a:lvl1pPr eaLnBrk="0" hangingPunct="0">
              <a:defRPr kumimoji="1" sz="3600">
                <a:solidFill>
                  <a:schemeClr val="tx1"/>
                </a:solidFill>
                <a:latin typeface="Arial" panose="020B0604020202020204" pitchFamily="34" charset="0"/>
                <a:ea typeface="PMingLiU" panose="02020500000000000000" pitchFamily="18" charset="-120"/>
              </a:defRPr>
            </a:lvl1pPr>
            <a:lvl2pPr marL="742950" indent="-285750" eaLnBrk="0" hangingPunct="0">
              <a:defRPr kumimoji="1" sz="3600">
                <a:solidFill>
                  <a:schemeClr val="tx1"/>
                </a:solidFill>
                <a:latin typeface="Arial" panose="020B0604020202020204" pitchFamily="34" charset="0"/>
                <a:ea typeface="PMingLiU" panose="02020500000000000000" pitchFamily="18" charset="-120"/>
              </a:defRPr>
            </a:lvl2pPr>
            <a:lvl3pPr marL="1143000" indent="-228600" eaLnBrk="0" hangingPunct="0">
              <a:defRPr kumimoji="1" sz="3600">
                <a:solidFill>
                  <a:schemeClr val="tx1"/>
                </a:solidFill>
                <a:latin typeface="Arial" panose="020B0604020202020204" pitchFamily="34" charset="0"/>
                <a:ea typeface="PMingLiU" panose="02020500000000000000" pitchFamily="18" charset="-120"/>
              </a:defRPr>
            </a:lvl3pPr>
            <a:lvl4pPr marL="1600200" indent="-228600" eaLnBrk="0" hangingPunct="0">
              <a:defRPr kumimoji="1" sz="3600">
                <a:solidFill>
                  <a:schemeClr val="tx1"/>
                </a:solidFill>
                <a:latin typeface="Arial" panose="020B0604020202020204" pitchFamily="34" charset="0"/>
                <a:ea typeface="PMingLiU" panose="02020500000000000000" pitchFamily="18" charset="-120"/>
              </a:defRPr>
            </a:lvl4pPr>
            <a:lvl5pPr marL="2057400" indent="-228600" eaLnBrk="0" hangingPunct="0">
              <a:defRPr kumimoji="1" sz="3600">
                <a:solidFill>
                  <a:schemeClr val="tx1"/>
                </a:solidFill>
                <a:latin typeface="Arial" panose="020B0604020202020204" pitchFamily="34" charset="0"/>
                <a:ea typeface="PMingLiU" panose="02020500000000000000" pitchFamily="18" charset="-120"/>
              </a:defRPr>
            </a:lvl5pPr>
            <a:lvl6pPr marL="25146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6pPr>
            <a:lvl7pPr marL="29718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7pPr>
            <a:lvl8pPr marL="34290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8pPr>
            <a:lvl9pPr marL="3886200" indent="-228600" algn="ctr" eaLnBrk="0" fontAlgn="base" hangingPunct="0">
              <a:spcBef>
                <a:spcPct val="0"/>
              </a:spcBef>
              <a:spcAft>
                <a:spcPct val="0"/>
              </a:spcAft>
              <a:defRPr kumimoji="1" sz="3600">
                <a:solidFill>
                  <a:schemeClr val="tx1"/>
                </a:solidFill>
                <a:latin typeface="Arial" panose="020B0604020202020204" pitchFamily="34" charset="0"/>
                <a:ea typeface="PMingLiU" panose="02020500000000000000" pitchFamily="18" charset="-120"/>
              </a:defRPr>
            </a:lvl9pPr>
          </a:lstStyle>
          <a:p>
            <a:pPr algn="r" eaLnBrk="1" hangingPunct="1">
              <a:defRPr/>
            </a:pPr>
            <a:r>
              <a:rPr lang="en-US" altLang="zh-TW" sz="800" b="0" i="1" dirty="0">
                <a:solidFill>
                  <a:srgbClr val="F6B982"/>
                </a:solidFill>
                <a:latin typeface="Calibri" panose="020F0502020204030204" pitchFamily="34" charset="0"/>
                <a:cs typeface="Calibri" panose="020F0502020204030204" pitchFamily="34" charset="0"/>
              </a:rPr>
              <a:t>Proprietary and Confidential</a:t>
            </a:r>
            <a:endParaRPr lang="en-US" altLang="zh-TW" sz="800" b="0" i="1" dirty="0">
              <a:solidFill>
                <a:srgbClr val="F6B982"/>
              </a:solidFill>
              <a:latin typeface="Calibri" panose="020F0502020204030204" pitchFamily="34" charset="0"/>
              <a:cs typeface="Calibri" panose="020F0502020204030204" pitchFamily="34" charset="0"/>
            </a:endParaRPr>
          </a:p>
        </p:txBody>
      </p:sp>
      <p:grpSp>
        <p:nvGrpSpPr>
          <p:cNvPr id="31" name="群組 30"/>
          <p:cNvGrpSpPr>
            <a:grpSpLocks noChangeAspect="1"/>
          </p:cNvGrpSpPr>
          <p:nvPr userDrawn="1"/>
        </p:nvGrpSpPr>
        <p:grpSpPr>
          <a:xfrm>
            <a:off x="8164750" y="4612872"/>
            <a:ext cx="741426" cy="288000"/>
            <a:chOff x="7965218" y="4546501"/>
            <a:chExt cx="926782" cy="360000"/>
          </a:xfrm>
        </p:grpSpPr>
        <p:grpSp>
          <p:nvGrpSpPr>
            <p:cNvPr id="6" name="群組 5"/>
            <p:cNvGrpSpPr/>
            <p:nvPr userDrawn="1"/>
          </p:nvGrpSpPr>
          <p:grpSpPr>
            <a:xfrm>
              <a:off x="8496408" y="4546501"/>
              <a:ext cx="395592" cy="360000"/>
              <a:chOff x="5469835" y="3003630"/>
              <a:chExt cx="395592" cy="360000"/>
            </a:xfrm>
          </p:grpSpPr>
          <p:pic>
            <p:nvPicPr>
              <p:cNvPr id="28"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16586" r="72051" b="9655"/>
              <a:stretch>
                <a:fillRect/>
              </a:stretch>
            </p:blipFill>
            <p:spPr bwMode="auto">
              <a:xfrm>
                <a:off x="5469836" y="3003630"/>
                <a:ext cx="395591" cy="3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5469835" y="3003630"/>
                <a:ext cx="395591" cy="360000"/>
              </a:xfrm>
              <a:prstGeom prst="rect">
                <a:avLst/>
              </a:prstGeom>
              <a:solidFill>
                <a:srgbClr val="FFFFFF">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群組 29"/>
            <p:cNvGrpSpPr/>
            <p:nvPr userDrawn="1"/>
          </p:nvGrpSpPr>
          <p:grpSpPr>
            <a:xfrm>
              <a:off x="7965218" y="4798501"/>
              <a:ext cx="642182" cy="108000"/>
              <a:chOff x="4458584" y="2799907"/>
              <a:chExt cx="642182" cy="108000"/>
            </a:xfrm>
          </p:grpSpPr>
          <p:pic>
            <p:nvPicPr>
              <p:cNvPr id="29" name="Picture 20" descr="logo_rafaelmicro"/>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28572" t="37421" r="5424" b="30389"/>
              <a:stretch>
                <a:fillRect/>
              </a:stretch>
            </p:blipFill>
            <p:spPr bwMode="auto">
              <a:xfrm>
                <a:off x="4458584" y="2799907"/>
                <a:ext cx="642182" cy="1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6"/>
              <p:cNvSpPr/>
              <p:nvPr userDrawn="1"/>
            </p:nvSpPr>
            <p:spPr>
              <a:xfrm>
                <a:off x="4458584" y="2799907"/>
                <a:ext cx="640800" cy="108000"/>
              </a:xfrm>
              <a:prstGeom prst="rect">
                <a:avLst/>
              </a:prstGeom>
              <a:solidFill>
                <a:srgbClr val="FFFFFF">
                  <a:alpha val="7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9" name="矩形 38"/>
          <p:cNvSpPr/>
          <p:nvPr userDrawn="1"/>
        </p:nvSpPr>
        <p:spPr>
          <a:xfrm rot="5400000">
            <a:off x="324000" y="4972568"/>
            <a:ext cx="126000" cy="10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252000" y="4906501"/>
            <a:ext cx="270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矩形 23"/>
          <p:cNvSpPr/>
          <p:nvPr userDrawn="1"/>
        </p:nvSpPr>
        <p:spPr>
          <a:xfrm flipH="1">
            <a:off x="657000" y="4906501"/>
            <a:ext cx="8235000" cy="10800"/>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8" name="投影片編號版面配置區 3"/>
          <p:cNvSpPr txBox="1"/>
          <p:nvPr userDrawn="1"/>
        </p:nvSpPr>
        <p:spPr>
          <a:xfrm>
            <a:off x="254280" y="4914968"/>
            <a:ext cx="127320" cy="144000"/>
          </a:xfrm>
          <a:prstGeom prst="rect">
            <a:avLst/>
          </a:prstGeom>
        </p:spPr>
        <p:txBody>
          <a:bodyPr vert="horz" lIns="0" tIns="0" rIns="0" bIns="0" rtlCol="0" anchor="ctr"/>
          <a:lstStyle>
            <a:defPPr>
              <a:defRPr lang="zh-TW"/>
            </a:defPPr>
            <a:lvl1pPr>
              <a:defRPr sz="1000" baseline="0">
                <a:solidFill>
                  <a:srgbClr val="19353F"/>
                </a:solidFill>
                <a:latin typeface="Calibri" panose="020F0502020204030204" pitchFamily="34" charset="0"/>
                <a:ea typeface="PMingLiU" panose="02020500000000000000" pitchFamily="18" charset="-120"/>
              </a:defRPr>
            </a:lvl1pPr>
          </a:lstStyle>
          <a:p>
            <a:pPr lvl="0" algn="ctr"/>
            <a:fld id="{9C5D9D58-E8C0-45B8-84D0-B47AD46CE60E}" type="slidenum">
              <a:rPr lang="zh-TW" altLang="en-US" sz="700" baseline="0" smtClean="0">
                <a:solidFill>
                  <a:schemeClr val="bg1">
                    <a:lumMod val="65000"/>
                  </a:schemeClr>
                </a:solidFill>
                <a:latin typeface="Calibri" panose="020F0502020204030204" pitchFamily="34" charset="0"/>
                <a:cs typeface="Calibri" panose="020F0502020204030204" pitchFamily="34" charset="0"/>
              </a:rPr>
            </a:fld>
            <a:r>
              <a:rPr lang="zh-TW" altLang="en-US" sz="700" baseline="0" dirty="0">
                <a:solidFill>
                  <a:schemeClr val="bg1">
                    <a:lumMod val="65000"/>
                  </a:schemeClr>
                </a:solidFill>
                <a:latin typeface="Calibri" panose="020F0502020204030204" pitchFamily="34" charset="0"/>
                <a:cs typeface="Calibri" panose="020F0502020204030204" pitchFamily="34" charset="0"/>
              </a:rPr>
              <a:t> </a:t>
            </a:r>
            <a:endParaRPr lang="zh-TW" altLang="en-US" sz="700" baseline="0" dirty="0">
              <a:solidFill>
                <a:schemeClr val="bg1">
                  <a:lumMod val="65000"/>
                </a:schemeClr>
              </a:solidFill>
              <a:latin typeface="Calibri" panose="020F0502020204030204" pitchFamily="34" charset="0"/>
              <a:cs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p:txStyles>
    <p:titleStyle>
      <a:lvl1pPr algn="l" defTabSz="685800" rtl="0" eaLnBrk="1" latinLnBrk="0" hangingPunct="1">
        <a:lnSpc>
          <a:spcPct val="90000"/>
        </a:lnSpc>
        <a:spcBef>
          <a:spcPct val="0"/>
        </a:spcBef>
        <a:buNone/>
        <a:defRPr sz="2025" kern="1200">
          <a:solidFill>
            <a:schemeClr val="tx1"/>
          </a:solidFill>
          <a:latin typeface="+mn-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2.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1" Type="http://schemas.openxmlformats.org/officeDocument/2006/relationships/slideLayout" Target="../slideLayouts/slideLayout2.xml"/><Relationship Id="rId30" Type="http://schemas.openxmlformats.org/officeDocument/2006/relationships/tags" Target="../tags/tag38.xml"/><Relationship Id="rId3" Type="http://schemas.openxmlformats.org/officeDocument/2006/relationships/tags" Target="../tags/tag11.xml"/><Relationship Id="rId29" Type="http://schemas.openxmlformats.org/officeDocument/2006/relationships/tags" Target="../tags/tag37.xml"/><Relationship Id="rId28" Type="http://schemas.openxmlformats.org/officeDocument/2006/relationships/tags" Target="../tags/tag36.xml"/><Relationship Id="rId27" Type="http://schemas.openxmlformats.org/officeDocument/2006/relationships/tags" Target="../tags/tag35.xml"/><Relationship Id="rId26" Type="http://schemas.openxmlformats.org/officeDocument/2006/relationships/tags" Target="../tags/tag34.xml"/><Relationship Id="rId25" Type="http://schemas.openxmlformats.org/officeDocument/2006/relationships/tags" Target="../tags/tag33.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image" Target="../media/image10.png"/><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6" Type="http://schemas.openxmlformats.org/officeDocument/2006/relationships/slideLayout" Target="../slideLayouts/slideLayout2.xml"/><Relationship Id="rId15" Type="http://schemas.openxmlformats.org/officeDocument/2006/relationships/image" Target="../media/image12.png"/><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image" Target="../media/image11.png"/><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9" Type="http://schemas.openxmlformats.org/officeDocument/2006/relationships/image" Target="../media/image32.png"/><Relationship Id="rId8" Type="http://schemas.openxmlformats.org/officeDocument/2006/relationships/image" Target="../media/image31.png"/><Relationship Id="rId7" Type="http://schemas.openxmlformats.org/officeDocument/2006/relationships/image" Target="../media/image30.png"/><Relationship Id="rId6" Type="http://schemas.openxmlformats.org/officeDocument/2006/relationships/image" Target="../media/image29.png"/><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image" Target="../media/image28.png"/><Relationship Id="rId2" Type="http://schemas.openxmlformats.org/officeDocument/2006/relationships/tags" Target="../tags/tag52.xml"/><Relationship Id="rId10" Type="http://schemas.openxmlformats.org/officeDocument/2006/relationships/slideLayout" Target="../slideLayouts/slideLayout2.xml"/><Relationship Id="rId1" Type="http://schemas.openxmlformats.org/officeDocument/2006/relationships/tags" Target="../tags/tag5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tags" Target="../tags/tag55.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tags" Target="../tags/tag59.xml"/><Relationship Id="rId5" Type="http://schemas.openxmlformats.org/officeDocument/2006/relationships/image" Target="../media/image10.png"/><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5" Type="http://schemas.openxmlformats.org/officeDocument/2006/relationships/slideLayout" Target="../slideLayouts/slideLayout2.xml"/><Relationship Id="rId14" Type="http://schemas.openxmlformats.org/officeDocument/2006/relationships/image" Target="../media/image12.png"/><Relationship Id="rId13" Type="http://schemas.openxmlformats.org/officeDocument/2006/relationships/tags" Target="../tags/tag65.xml"/><Relationship Id="rId12" Type="http://schemas.openxmlformats.org/officeDocument/2006/relationships/image" Target="../media/image11.png"/><Relationship Id="rId11" Type="http://schemas.openxmlformats.org/officeDocument/2006/relationships/tags" Target="../tags/tag64.xml"/><Relationship Id="rId10" Type="http://schemas.openxmlformats.org/officeDocument/2006/relationships/tags" Target="../tags/tag63.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2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image" Target="../media/image46.pn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5.png"/><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image" Target="../media/image52.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3.png"/><Relationship Id="rId1" Type="http://schemas.openxmlformats.org/officeDocument/2006/relationships/image" Target="../media/image62.pn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9.png"/><Relationship Id="rId1" Type="http://schemas.openxmlformats.org/officeDocument/2006/relationships/image" Target="../media/image6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1.png"/><Relationship Id="rId1" Type="http://schemas.openxmlformats.org/officeDocument/2006/relationships/image" Target="../media/image7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7.png"/><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9.png"/><Relationship Id="rId1" Type="http://schemas.openxmlformats.org/officeDocument/2006/relationships/image" Target="../media/image78.png"/></Relationships>
</file>

<file path=ppt/slides/_rels/slide3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2.png"/><Relationship Id="rId1" Type="http://schemas.openxmlformats.org/officeDocument/2006/relationships/image" Target="../media/image81.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CN" dirty="0"/>
              <a:t>Zigbee</a:t>
            </a:r>
            <a:r>
              <a:rPr lang="zh-CN" altLang="en-US" dirty="0"/>
              <a:t>学习</a:t>
            </a:r>
            <a:r>
              <a:rPr lang="zh-CN" altLang="en-US" dirty="0"/>
              <a:t>报告</a:t>
            </a:r>
            <a:endParaRPr lang="zh-CN" altLang="en-US" dirty="0"/>
          </a:p>
        </p:txBody>
      </p:sp>
      <p:sp>
        <p:nvSpPr>
          <p:cNvPr id="3" name="文字版面配置區 2"/>
          <p:cNvSpPr>
            <a:spLocks noGrp="1"/>
          </p:cNvSpPr>
          <p:nvPr>
            <p:ph type="body" sz="quarter" idx="23"/>
            <p:custDataLst>
              <p:tags r:id="rId1"/>
            </p:custDataLst>
          </p:nvPr>
        </p:nvSpPr>
        <p:spPr/>
        <p:txBody>
          <a:bodyPr/>
          <a:lstStyle/>
          <a:p>
            <a:r>
              <a:rPr lang="en-US" smtClean="0"/>
              <a:t>M</a:t>
            </a:r>
            <a:r>
              <a:rPr lang="en-US" smtClean="0"/>
              <a:t>ar-18-2026</a:t>
            </a:r>
            <a:endParaRPr lang="en-US" dirty="0"/>
          </a:p>
        </p:txBody>
      </p:sp>
      <p:sp>
        <p:nvSpPr>
          <p:cNvPr id="4" name="文字版面配置區 3"/>
          <p:cNvSpPr>
            <a:spLocks noGrp="1"/>
          </p:cNvSpPr>
          <p:nvPr>
            <p:ph type="body" sz="quarter" idx="24"/>
            <p:custDataLst>
              <p:tags r:id="rId2"/>
            </p:custDataLst>
          </p:nvPr>
        </p:nvSpPr>
        <p:spPr/>
        <p:txBody>
          <a:bodyPr/>
          <a:lstStyle/>
          <a:p>
            <a:r>
              <a:rPr lang="zh-CN" altLang="en-US" dirty="0"/>
              <a:t>许浩彬</a:t>
            </a:r>
            <a:endParaRPr lang="zh-CN" altLang="en-US" dirty="0"/>
          </a:p>
        </p:txBody>
      </p:sp>
      <p:sp>
        <p:nvSpPr>
          <p:cNvPr id="5" name="文字版面配置區 4"/>
          <p:cNvSpPr>
            <a:spLocks noGrp="1"/>
          </p:cNvSpPr>
          <p:nvPr>
            <p:ph type="body" sz="quarter" idx="20"/>
            <p:custDataLst>
              <p:tags r:id="rId3"/>
            </p:custDataLst>
          </p:nvPr>
        </p:nvSpPr>
        <p:spPr/>
        <p:txBody>
          <a:bodyPr/>
          <a:lstStyle/>
          <a:p>
            <a:r>
              <a:rPr lang="zh-CN" altLang="en-US"/>
              <a:t>许浩彬</a:t>
            </a:r>
            <a:endParaRPr lang="zh-CN" altLang="en-US"/>
          </a:p>
        </p:txBody>
      </p:sp>
      <p:sp>
        <p:nvSpPr>
          <p:cNvPr id="6" name="文字版面配置區 5"/>
          <p:cNvSpPr>
            <a:spLocks noGrp="1"/>
          </p:cNvSpPr>
          <p:nvPr>
            <p:ph type="body" sz="quarter" idx="21"/>
            <p:custDataLst>
              <p:tags r:id="rId4"/>
            </p:custDataLst>
          </p:nvPr>
        </p:nvSpPr>
        <p:spPr/>
        <p:txBody>
          <a:bodyPr/>
          <a:lstStyle/>
          <a:p>
            <a:r>
              <a:rPr lang="zh-CN" altLang="en-US"/>
              <a:t>许浩彬</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p:nvPr/>
        </p:nvSpPr>
        <p:spPr>
          <a:xfrm>
            <a:off x="250516" y="1459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Overview</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3" name="组合 2"/>
          <p:cNvGrpSpPr/>
          <p:nvPr>
            <p:custDataLst>
              <p:tags r:id="rId1"/>
            </p:custDataLst>
          </p:nvPr>
        </p:nvGrpSpPr>
        <p:grpSpPr>
          <a:xfrm>
            <a:off x="4499610" y="1003935"/>
            <a:ext cx="1725930" cy="739140"/>
            <a:chOff x="10024" y="6285"/>
            <a:chExt cx="2718" cy="1164"/>
          </a:xfrm>
        </p:grpSpPr>
        <p:sp>
          <p:nvSpPr>
            <p:cNvPr id="63" name="圆角矩形 62"/>
            <p:cNvSpPr/>
            <p:nvPr>
              <p:custDataLst>
                <p:tags r:id="rId2"/>
              </p:custDataLst>
            </p:nvPr>
          </p:nvSpPr>
          <p:spPr>
            <a:xfrm rot="21240000">
              <a:off x="10024" y="6311"/>
              <a:ext cx="2335" cy="1134"/>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 name="圆角矩形 63"/>
            <p:cNvSpPr/>
            <p:nvPr>
              <p:custDataLst>
                <p:tags r:id="rId3"/>
              </p:custDataLst>
            </p:nvPr>
          </p:nvSpPr>
          <p:spPr>
            <a:xfrm>
              <a:off x="10046" y="6285"/>
              <a:ext cx="2549" cy="116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5" name="任意多边形 64"/>
            <p:cNvSpPr/>
            <p:nvPr>
              <p:custDataLst>
                <p:tags r:id="rId4"/>
              </p:custDataLst>
            </p:nvPr>
          </p:nvSpPr>
          <p:spPr>
            <a:xfrm>
              <a:off x="10304" y="6381"/>
              <a:ext cx="310" cy="30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75" name="文本框 74"/>
            <p:cNvSpPr txBox="1"/>
            <p:nvPr>
              <p:custDataLst>
                <p:tags r:id="rId5"/>
              </p:custDataLst>
            </p:nvPr>
          </p:nvSpPr>
          <p:spPr>
            <a:xfrm>
              <a:off x="10046" y="6636"/>
              <a:ext cx="2696" cy="756"/>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01 APS</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76" name="任意多边形 75"/>
            <p:cNvSpPr/>
            <p:nvPr>
              <p:custDataLst>
                <p:tags r:id="rId6"/>
              </p:custDataLst>
            </p:nvPr>
          </p:nvSpPr>
          <p:spPr>
            <a:xfrm>
              <a:off x="11956" y="6285"/>
              <a:ext cx="656" cy="575"/>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grpSp>
      <p:grpSp>
        <p:nvGrpSpPr>
          <p:cNvPr id="6" name="组合 5"/>
          <p:cNvGrpSpPr/>
          <p:nvPr>
            <p:custDataLst>
              <p:tags r:id="rId7"/>
            </p:custDataLst>
          </p:nvPr>
        </p:nvGrpSpPr>
        <p:grpSpPr>
          <a:xfrm>
            <a:off x="4499610" y="2366645"/>
            <a:ext cx="1725930" cy="739140"/>
            <a:chOff x="10024" y="6285"/>
            <a:chExt cx="2718" cy="1164"/>
          </a:xfrm>
        </p:grpSpPr>
        <p:sp>
          <p:nvSpPr>
            <p:cNvPr id="7" name="圆角矩形 6"/>
            <p:cNvSpPr/>
            <p:nvPr>
              <p:custDataLst>
                <p:tags r:id="rId8"/>
              </p:custDataLst>
            </p:nvPr>
          </p:nvSpPr>
          <p:spPr>
            <a:xfrm rot="21240000">
              <a:off x="10024" y="6311"/>
              <a:ext cx="2335" cy="1134"/>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圆角矩形 7"/>
            <p:cNvSpPr/>
            <p:nvPr>
              <p:custDataLst>
                <p:tags r:id="rId9"/>
              </p:custDataLst>
            </p:nvPr>
          </p:nvSpPr>
          <p:spPr>
            <a:xfrm>
              <a:off x="10046" y="6285"/>
              <a:ext cx="2549" cy="116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8"/>
            <p:cNvSpPr/>
            <p:nvPr>
              <p:custDataLst>
                <p:tags r:id="rId10"/>
              </p:custDataLst>
            </p:nvPr>
          </p:nvSpPr>
          <p:spPr>
            <a:xfrm>
              <a:off x="10304" y="6381"/>
              <a:ext cx="310" cy="30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10" name="文本框 9"/>
            <p:cNvSpPr txBox="1"/>
            <p:nvPr>
              <p:custDataLst>
                <p:tags r:id="rId11"/>
              </p:custDataLst>
            </p:nvPr>
          </p:nvSpPr>
          <p:spPr>
            <a:xfrm>
              <a:off x="10046" y="6636"/>
              <a:ext cx="2696" cy="756"/>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02 ZCL</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11" name="任意多边形 10"/>
            <p:cNvSpPr/>
            <p:nvPr>
              <p:custDataLst>
                <p:tags r:id="rId12"/>
              </p:custDataLst>
            </p:nvPr>
          </p:nvSpPr>
          <p:spPr>
            <a:xfrm>
              <a:off x="11956" y="6285"/>
              <a:ext cx="656" cy="575"/>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grpSp>
      <p:grpSp>
        <p:nvGrpSpPr>
          <p:cNvPr id="12" name="组合 11"/>
          <p:cNvGrpSpPr/>
          <p:nvPr>
            <p:custDataLst>
              <p:tags r:id="rId13"/>
            </p:custDataLst>
          </p:nvPr>
        </p:nvGrpSpPr>
        <p:grpSpPr>
          <a:xfrm>
            <a:off x="4500245" y="3656965"/>
            <a:ext cx="1725930" cy="739140"/>
            <a:chOff x="10024" y="6285"/>
            <a:chExt cx="2718" cy="1164"/>
          </a:xfrm>
        </p:grpSpPr>
        <p:sp>
          <p:nvSpPr>
            <p:cNvPr id="14" name="圆角矩形 13"/>
            <p:cNvSpPr/>
            <p:nvPr>
              <p:custDataLst>
                <p:tags r:id="rId14"/>
              </p:custDataLst>
            </p:nvPr>
          </p:nvSpPr>
          <p:spPr>
            <a:xfrm rot="21240000">
              <a:off x="10024" y="6311"/>
              <a:ext cx="2335" cy="1134"/>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圆角矩形 14"/>
            <p:cNvSpPr/>
            <p:nvPr>
              <p:custDataLst>
                <p:tags r:id="rId15"/>
              </p:custDataLst>
            </p:nvPr>
          </p:nvSpPr>
          <p:spPr>
            <a:xfrm>
              <a:off x="10046" y="6285"/>
              <a:ext cx="2549" cy="116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任意多边形 15"/>
            <p:cNvSpPr/>
            <p:nvPr>
              <p:custDataLst>
                <p:tags r:id="rId16"/>
              </p:custDataLst>
            </p:nvPr>
          </p:nvSpPr>
          <p:spPr>
            <a:xfrm>
              <a:off x="10304" y="6381"/>
              <a:ext cx="310" cy="30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17" name="文本框 16"/>
            <p:cNvSpPr txBox="1"/>
            <p:nvPr>
              <p:custDataLst>
                <p:tags r:id="rId17"/>
              </p:custDataLst>
            </p:nvPr>
          </p:nvSpPr>
          <p:spPr>
            <a:xfrm>
              <a:off x="10046" y="6636"/>
              <a:ext cx="2696" cy="756"/>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03 NWK</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18" name="任意多边形 17"/>
            <p:cNvSpPr/>
            <p:nvPr>
              <p:custDataLst>
                <p:tags r:id="rId18"/>
              </p:custDataLst>
            </p:nvPr>
          </p:nvSpPr>
          <p:spPr>
            <a:xfrm>
              <a:off x="11956" y="6285"/>
              <a:ext cx="656" cy="575"/>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grpSp>
      <p:grpSp>
        <p:nvGrpSpPr>
          <p:cNvPr id="19" name="组合 18"/>
          <p:cNvGrpSpPr/>
          <p:nvPr>
            <p:custDataLst>
              <p:tags r:id="rId19"/>
            </p:custDataLst>
          </p:nvPr>
        </p:nvGrpSpPr>
        <p:grpSpPr>
          <a:xfrm>
            <a:off x="6357620" y="1663700"/>
            <a:ext cx="1725930" cy="739140"/>
            <a:chOff x="10024" y="6285"/>
            <a:chExt cx="2718" cy="1164"/>
          </a:xfrm>
        </p:grpSpPr>
        <p:sp>
          <p:nvSpPr>
            <p:cNvPr id="20" name="圆角矩形 19"/>
            <p:cNvSpPr/>
            <p:nvPr>
              <p:custDataLst>
                <p:tags r:id="rId20"/>
              </p:custDataLst>
            </p:nvPr>
          </p:nvSpPr>
          <p:spPr>
            <a:xfrm rot="21240000">
              <a:off x="10024" y="6311"/>
              <a:ext cx="2335" cy="1134"/>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圆角矩形 20"/>
            <p:cNvSpPr/>
            <p:nvPr>
              <p:custDataLst>
                <p:tags r:id="rId21"/>
              </p:custDataLst>
            </p:nvPr>
          </p:nvSpPr>
          <p:spPr>
            <a:xfrm>
              <a:off x="10046" y="6285"/>
              <a:ext cx="2549" cy="116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 name="任意多边形 21"/>
            <p:cNvSpPr/>
            <p:nvPr>
              <p:custDataLst>
                <p:tags r:id="rId22"/>
              </p:custDataLst>
            </p:nvPr>
          </p:nvSpPr>
          <p:spPr>
            <a:xfrm>
              <a:off x="10304" y="6381"/>
              <a:ext cx="310" cy="30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23" name="文本框 22"/>
            <p:cNvSpPr txBox="1"/>
            <p:nvPr>
              <p:custDataLst>
                <p:tags r:id="rId23"/>
              </p:custDataLst>
            </p:nvPr>
          </p:nvSpPr>
          <p:spPr>
            <a:xfrm>
              <a:off x="10046" y="6636"/>
              <a:ext cx="2696" cy="756"/>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04 ZDO</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24" name="任意多边形 23"/>
            <p:cNvSpPr/>
            <p:nvPr>
              <p:custDataLst>
                <p:tags r:id="rId24"/>
              </p:custDataLst>
            </p:nvPr>
          </p:nvSpPr>
          <p:spPr>
            <a:xfrm>
              <a:off x="11956" y="6285"/>
              <a:ext cx="656" cy="575"/>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grpSp>
      <p:grpSp>
        <p:nvGrpSpPr>
          <p:cNvPr id="25" name="组合 24"/>
          <p:cNvGrpSpPr/>
          <p:nvPr>
            <p:custDataLst>
              <p:tags r:id="rId25"/>
            </p:custDataLst>
          </p:nvPr>
        </p:nvGrpSpPr>
        <p:grpSpPr>
          <a:xfrm>
            <a:off x="6309995" y="3059430"/>
            <a:ext cx="1725930" cy="739140"/>
            <a:chOff x="10024" y="6285"/>
            <a:chExt cx="2718" cy="1164"/>
          </a:xfrm>
        </p:grpSpPr>
        <p:sp>
          <p:nvSpPr>
            <p:cNvPr id="26" name="圆角矩形 25"/>
            <p:cNvSpPr/>
            <p:nvPr>
              <p:custDataLst>
                <p:tags r:id="rId26"/>
              </p:custDataLst>
            </p:nvPr>
          </p:nvSpPr>
          <p:spPr>
            <a:xfrm rot="21240000">
              <a:off x="10024" y="6311"/>
              <a:ext cx="2335" cy="1134"/>
            </a:xfrm>
            <a:prstGeom prst="roundRect">
              <a:avLst>
                <a:gd name="adj" fmla="val 5556"/>
              </a:avLst>
            </a:prstGeom>
            <a:solidFill>
              <a:schemeClr val="accent5">
                <a:lumMod val="40000"/>
                <a:lumOff val="6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圆角矩形 26"/>
            <p:cNvSpPr/>
            <p:nvPr>
              <p:custDataLst>
                <p:tags r:id="rId27"/>
              </p:custDataLst>
            </p:nvPr>
          </p:nvSpPr>
          <p:spPr>
            <a:xfrm>
              <a:off x="10046" y="6285"/>
              <a:ext cx="2549" cy="1165"/>
            </a:xfrm>
            <a:prstGeom prst="roundRect">
              <a:avLst>
                <a:gd name="adj" fmla="val 5556"/>
              </a:avLst>
            </a:prstGeom>
            <a:solidFill>
              <a:schemeClr val="bg1"/>
            </a:solidFill>
            <a:ln w="15875">
              <a:solidFill>
                <a:srgbClr val="0000CC"/>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任意多边形 27"/>
            <p:cNvSpPr/>
            <p:nvPr>
              <p:custDataLst>
                <p:tags r:id="rId28"/>
              </p:custDataLst>
            </p:nvPr>
          </p:nvSpPr>
          <p:spPr>
            <a:xfrm>
              <a:off x="10304" y="6381"/>
              <a:ext cx="310" cy="304"/>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solidFill>
            <a:ln w="763" cap="flat">
              <a:noFill/>
              <a:prstDash val="solid"/>
              <a:miter/>
            </a:ln>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sp>
          <p:nvSpPr>
            <p:cNvPr id="29" name="文本框 28"/>
            <p:cNvSpPr txBox="1"/>
            <p:nvPr>
              <p:custDataLst>
                <p:tags r:id="rId29"/>
              </p:custDataLst>
            </p:nvPr>
          </p:nvSpPr>
          <p:spPr>
            <a:xfrm>
              <a:off x="10046" y="6636"/>
              <a:ext cx="2696" cy="756"/>
            </a:xfrm>
            <a:prstGeom prst="rect">
              <a:avLst/>
            </a:prstGeom>
            <a:noFill/>
          </p:spPr>
          <p:txBody>
            <a:bodyPr wrap="square" rtlCol="0">
              <a:noAutofit/>
            </a:bodyPr>
            <a:p>
              <a:r>
                <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rPr>
                <a:t>05 SMP</a:t>
              </a:r>
              <a:endParaRPr lang="en-US" altLang="zh-CN" sz="240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mj-lt"/>
                <a:cs typeface="+mj-lt"/>
              </a:endParaRPr>
            </a:p>
          </p:txBody>
        </p:sp>
        <p:sp>
          <p:nvSpPr>
            <p:cNvPr id="30" name="任意多边形 29"/>
            <p:cNvSpPr/>
            <p:nvPr>
              <p:custDataLst>
                <p:tags r:id="rId30"/>
              </p:custDataLst>
            </p:nvPr>
          </p:nvSpPr>
          <p:spPr>
            <a:xfrm>
              <a:off x="11956" y="6285"/>
              <a:ext cx="656" cy="575"/>
            </a:xfrm>
            <a:custGeom>
              <a:avLst/>
              <a:gdLst>
                <a:gd name="connsiteX0" fmla="*/ 0 w 1364343"/>
                <a:gd name="connsiteY0" fmla="*/ 0 h 1364343"/>
                <a:gd name="connsiteX1" fmla="*/ 735981 w 1364343"/>
                <a:gd name="connsiteY1" fmla="*/ 0 h 1364343"/>
                <a:gd name="connsiteX2" fmla="*/ 1364343 w 1364343"/>
                <a:gd name="connsiteY2" fmla="*/ 628362 h 1364343"/>
                <a:gd name="connsiteX3" fmla="*/ 1364343 w 1364343"/>
                <a:gd name="connsiteY3" fmla="*/ 1364343 h 1364343"/>
                <a:gd name="connsiteX4" fmla="*/ 0 w 1364343"/>
                <a:gd name="connsiteY4" fmla="*/ 0 h 13643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343" h="1364343">
                  <a:moveTo>
                    <a:pt x="0" y="0"/>
                  </a:moveTo>
                  <a:lnTo>
                    <a:pt x="735981" y="0"/>
                  </a:lnTo>
                  <a:cubicBezTo>
                    <a:pt x="735981" y="347035"/>
                    <a:pt x="1017308" y="628362"/>
                    <a:pt x="1364343" y="628362"/>
                  </a:cubicBezTo>
                  <a:lnTo>
                    <a:pt x="1364343" y="1364343"/>
                  </a:lnTo>
                  <a:cubicBezTo>
                    <a:pt x="610837" y="1364343"/>
                    <a:pt x="0" y="753506"/>
                    <a:pt x="0" y="0"/>
                  </a:cubicBez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OPPOSans H" panose="00020600040101010101" pitchFamily="18" charset="-122"/>
                <a:ea typeface="思源黑体 CN Normal"/>
                <a:cs typeface="+mn-cs"/>
              </a:endParaRPr>
            </a:p>
          </p:txBody>
        </p:sp>
      </p:grpSp>
      <p:sp>
        <p:nvSpPr>
          <p:cNvPr id="31" name="文本框 30"/>
          <p:cNvSpPr txBox="1"/>
          <p:nvPr/>
        </p:nvSpPr>
        <p:spPr>
          <a:xfrm>
            <a:off x="1207770" y="2046605"/>
            <a:ext cx="4572000" cy="1014730"/>
          </a:xfrm>
          <a:prstGeom prst="rect">
            <a:avLst/>
          </a:prstGeom>
          <a:noFill/>
        </p:spPr>
        <p:txBody>
          <a:bodyPr wrap="square" rtlCol="0" anchor="t">
            <a:spAutoFit/>
          </a:bodyPr>
          <a:p>
            <a:pPr marL="0" marR="0" lvl="0" indent="0" defTabSz="914400" rtl="0" eaLnBrk="1" fontAlgn="auto" latinLnBrk="0" hangingPunct="1">
              <a:lnSpc>
                <a:spcPct val="100000"/>
              </a:lnSpc>
              <a:spcBef>
                <a:spcPts val="0"/>
              </a:spcBef>
              <a:spcAft>
                <a:spcPts val="0"/>
              </a:spcAft>
              <a:buClrTx/>
              <a:buSzTx/>
              <a:buFontTx/>
              <a:buNone/>
              <a:defRPr/>
            </a:pPr>
            <a:r>
              <a:rPr lang="en-US" altLang="zh-CN" sz="600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sym typeface="+mn-ea"/>
              </a:rPr>
              <a:t>Z</a:t>
            </a:r>
            <a:r>
              <a:rPr lang="en-US" altLang="zh-CN" sz="600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sym typeface="+mn-ea"/>
              </a:rPr>
              <a:t>igbee</a:t>
            </a:r>
            <a:endParaRPr lang="en-US" altLang="zh-CN" sz="600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01</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63" name="组合 62"/>
          <p:cNvGrpSpPr/>
          <p:nvPr/>
        </p:nvGrpSpPr>
        <p:grpSpPr>
          <a:xfrm>
            <a:off x="1203325" y="1275715"/>
            <a:ext cx="6307590" cy="2503805"/>
            <a:chOff x="3272" y="3874"/>
            <a:chExt cx="12612" cy="4373"/>
          </a:xfrm>
        </p:grpSpPr>
        <p:pic>
          <p:nvPicPr>
            <p:cNvPr id="50" name="图片 4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56" name="圆角矩形 55"/>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57" name="文本框 56"/>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APS</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58" name="矩形 57"/>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应用支持</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子层</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59" name="文本框 58"/>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01</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60" name="图片 59"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61" name="图片 60"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62" name="图片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圆角矩形 2"/>
          <p:cNvSpPr/>
          <p:nvPr/>
        </p:nvSpPr>
        <p:spPr>
          <a:xfrm>
            <a:off x="2552700" y="726440"/>
            <a:ext cx="3792855" cy="48260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8002" y="681138"/>
            <a:ext cx="749569" cy="567531"/>
          </a:xfrm>
          <a:prstGeom prst="rect">
            <a:avLst/>
          </a:prstGeom>
        </p:spPr>
      </p:pic>
      <p:sp>
        <p:nvSpPr>
          <p:cNvPr id="2" name="文本框 1"/>
          <p:cNvSpPr txBox="1"/>
          <p:nvPr/>
        </p:nvSpPr>
        <p:spPr>
          <a:xfrm>
            <a:off x="4066540" y="748665"/>
            <a:ext cx="1010285" cy="460375"/>
          </a:xfrm>
          <a:prstGeom prst="rect">
            <a:avLst/>
          </a:prstGeom>
          <a:noFill/>
        </p:spPr>
        <p:txBody>
          <a:bodyPr wrap="square" rtlCol="0">
            <a:spAutoFit/>
          </a:bodyPr>
          <a:p>
            <a:r>
              <a:rPr lang="en-US" altLang="zh-CN" sz="2400" b="1" i="1">
                <a:latin typeface="宋体" panose="02010600030101010101" pitchFamily="2" charset="-122"/>
                <a:ea typeface="宋体" panose="02010600030101010101" pitchFamily="2" charset="-122"/>
                <a:cs typeface="宋体" panose="02010600030101010101" pitchFamily="2" charset="-122"/>
              </a:rPr>
              <a:t>APS</a:t>
            </a:r>
            <a:endParaRPr lang="en-US" altLang="zh-CN" sz="2400" b="1" i="1">
              <a:latin typeface="宋体" panose="02010600030101010101" pitchFamily="2" charset="-122"/>
              <a:ea typeface="宋体" panose="02010600030101010101" pitchFamily="2" charset="-122"/>
              <a:cs typeface="宋体" panose="02010600030101010101" pitchFamily="2" charset="-122"/>
            </a:endParaRPr>
          </a:p>
        </p:txBody>
      </p:sp>
      <p:sp>
        <p:nvSpPr>
          <p:cNvPr id="21" name="剪去对角的矩形 20"/>
          <p:cNvSpPr/>
          <p:nvPr>
            <p:custDataLst>
              <p:tags r:id="rId2"/>
            </p:custDataLst>
          </p:nvPr>
        </p:nvSpPr>
        <p:spPr>
          <a:xfrm>
            <a:off x="4711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6" name="剪去对角的矩形 25"/>
          <p:cNvSpPr/>
          <p:nvPr>
            <p:custDataLst>
              <p:tags r:id="rId3"/>
            </p:custDataLst>
          </p:nvPr>
        </p:nvSpPr>
        <p:spPr>
          <a:xfrm>
            <a:off x="3346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28" name="图片 27" descr="形状&#10;&#10;低可信度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334645" y="1490345"/>
            <a:ext cx="3768725" cy="445770"/>
          </a:xfrm>
          <a:prstGeom prst="rect">
            <a:avLst/>
          </a:prstGeom>
        </p:spPr>
      </p:pic>
      <p:sp>
        <p:nvSpPr>
          <p:cNvPr id="40" name="文本框 39"/>
          <p:cNvSpPr txBox="1"/>
          <p:nvPr>
            <p:custDataLst>
              <p:tags r:id="rId6"/>
            </p:custDataLst>
          </p:nvPr>
        </p:nvSpPr>
        <p:spPr>
          <a:xfrm>
            <a:off x="1896110" y="1558925"/>
            <a:ext cx="656590"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概念</a:t>
            </a:r>
            <a:endParaRPr lang="zh-CN" altLang="en-US" sz="2000" dirty="0"/>
          </a:p>
        </p:txBody>
      </p:sp>
      <p:sp>
        <p:nvSpPr>
          <p:cNvPr id="53" name="剪去对角的矩形 52"/>
          <p:cNvSpPr/>
          <p:nvPr>
            <p:custDataLst>
              <p:tags r:id="rId7"/>
            </p:custDataLst>
          </p:nvPr>
        </p:nvSpPr>
        <p:spPr>
          <a:xfrm>
            <a:off x="49923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54" name="剪去对角的矩形 53"/>
          <p:cNvSpPr/>
          <p:nvPr>
            <p:custDataLst>
              <p:tags r:id="rId8"/>
            </p:custDataLst>
          </p:nvPr>
        </p:nvSpPr>
        <p:spPr>
          <a:xfrm>
            <a:off x="48558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低功耗：纽扣电池可续航数</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月</a:t>
            </a:r>
            <a:endParaRPr lang="zh-CN" altLang="en-US" b="1">
              <a:latin typeface="宋体" panose="02010600030101010101" pitchFamily="2" charset="-122"/>
              <a:ea typeface="宋体" panose="02010600030101010101" pitchFamily="2" charset="-122"/>
            </a:endParaRPr>
          </a:p>
          <a:p>
            <a:pPr>
              <a:lnSpc>
                <a:spcPct val="120000"/>
              </a:lnSpc>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快速连接：通常在几毫秒内</a:t>
            </a:r>
            <a:endParaRPr lang="zh-CN" altLang="en-US" b="1"/>
          </a:p>
          <a:p>
            <a:pPr>
              <a:lnSpc>
                <a:spcPct val="120000"/>
              </a:lnSpc>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协议栈简单：简洁的协议栈降低了开发复杂性和制造成本</a:t>
            </a:r>
            <a:endParaRPr lang="en-US" altLang="zh-CN" dirty="0">
              <a:solidFill>
                <a:schemeClr val="lt1"/>
              </a:solidFill>
            </a:endParaRPr>
          </a:p>
        </p:txBody>
      </p:sp>
      <p:pic>
        <p:nvPicPr>
          <p:cNvPr id="55" name="图片 54" descr="形状&#10;&#10;低可信度描述已自动生成"/>
          <p:cNvPicPr>
            <a:picLocks noChangeAspect="1"/>
          </p:cNvPicPr>
          <p:nvPr>
            <p:custDataLst>
              <p:tags r:id="rId9"/>
            </p:custDataLst>
          </p:nvPr>
        </p:nvPicPr>
        <p:blipFill>
          <a:blip r:embed="rId5">
            <a:extLst>
              <a:ext uri="{28A0092B-C50C-407E-A947-70E740481C1C}">
                <a14:useLocalDpi xmlns:a14="http://schemas.microsoft.com/office/drawing/2010/main" val="0"/>
              </a:ext>
            </a:extLst>
          </a:blip>
          <a:stretch>
            <a:fillRect/>
          </a:stretch>
        </p:blipFill>
        <p:spPr>
          <a:xfrm>
            <a:off x="4855845" y="1490345"/>
            <a:ext cx="3768725" cy="445770"/>
          </a:xfrm>
          <a:prstGeom prst="rect">
            <a:avLst/>
          </a:prstGeom>
        </p:spPr>
      </p:pic>
      <p:sp>
        <p:nvSpPr>
          <p:cNvPr id="56" name="文本框 55"/>
          <p:cNvSpPr txBox="1"/>
          <p:nvPr>
            <p:custDataLst>
              <p:tags r:id="rId10"/>
            </p:custDataLst>
          </p:nvPr>
        </p:nvSpPr>
        <p:spPr>
          <a:xfrm>
            <a:off x="6504305" y="1558925"/>
            <a:ext cx="771525"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功能</a:t>
            </a:r>
            <a:endParaRPr lang="zh-CN" altLang="en-US" sz="2000" dirty="0"/>
          </a:p>
        </p:txBody>
      </p:sp>
      <p:pic>
        <p:nvPicPr>
          <p:cNvPr id="51" name="图片 50" descr="卡通人物&#10;&#10;中度可信度描述已自动生成"/>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1295620" y="3536024"/>
            <a:ext cx="1847266" cy="870770"/>
          </a:xfrm>
          <a:prstGeom prst="rect">
            <a:avLst/>
          </a:prstGeom>
        </p:spPr>
      </p:pic>
      <p:sp>
        <p:nvSpPr>
          <p:cNvPr id="57" name="文本框 56"/>
          <p:cNvSpPr txBox="1"/>
          <p:nvPr>
            <p:custDataLst>
              <p:tags r:id="rId13"/>
            </p:custDataLst>
          </p:nvPr>
        </p:nvSpPr>
        <p:spPr>
          <a:xfrm>
            <a:off x="687705" y="2259965"/>
            <a:ext cx="3155950" cy="1460500"/>
          </a:xfrm>
          <a:prstGeom prst="rect">
            <a:avLst/>
          </a:prstGeom>
          <a:noFill/>
        </p:spPr>
        <p:txBody>
          <a:bodyPr wrap="square" rtlCol="0">
            <a:noAutofit/>
          </a:bodyPr>
          <a:p>
            <a:r>
              <a:rPr lang="zh-CN" altLang="en-US" b="1">
                <a:latin typeface="宋体" panose="02010600030101010101" pitchFamily="2" charset="-122"/>
                <a:ea typeface="宋体" panose="02010600030101010101" pitchFamily="2" charset="-122"/>
              </a:rPr>
              <a:t>应用层和网络层之间的一个接口，通过两个实体提供</a:t>
            </a:r>
            <a:r>
              <a:rPr lang="zh-CN" altLang="en-US" b="1">
                <a:latin typeface="宋体" panose="02010600030101010101" pitchFamily="2" charset="-122"/>
                <a:ea typeface="宋体" panose="02010600030101010101" pitchFamily="2" charset="-122"/>
              </a:rPr>
              <a:t>服务</a:t>
            </a:r>
            <a:endParaRPr lang="zh-CN" altLang="en-US" b="1">
              <a:latin typeface="宋体" panose="02010600030101010101" pitchFamily="2" charset="-122"/>
              <a:ea typeface="宋体" panose="02010600030101010101" pitchFamily="2" charset="-122"/>
            </a:endParaRPr>
          </a:p>
        </p:txBody>
      </p:sp>
      <p:pic>
        <p:nvPicPr>
          <p:cNvPr id="46" name="图片 45" descr="卡通人物&#10;&#10;描述已自动生成"/>
          <p:cNvPicPr>
            <a:picLocks noChangeAspect="1"/>
          </p:cNvPicPr>
          <p:nvPr>
            <p:custDataLst>
              <p:tags r:id="rId14"/>
            </p:custDataLst>
          </p:nvPr>
        </p:nvPicPr>
        <p:blipFill>
          <a:blip r:embed="rId15">
            <a:extLst>
              <a:ext uri="{28A0092B-C50C-407E-A947-70E740481C1C}">
                <a14:useLocalDpi xmlns:a14="http://schemas.microsoft.com/office/drawing/2010/main" val="0"/>
              </a:ext>
            </a:extLst>
          </a:blip>
          <a:stretch>
            <a:fillRect/>
          </a:stretch>
        </p:blipFill>
        <p:spPr>
          <a:xfrm>
            <a:off x="5953125" y="3923030"/>
            <a:ext cx="1747520" cy="483870"/>
          </a:xfrm>
          <a:prstGeom prst="rect">
            <a:avLst/>
          </a:prstGeom>
        </p:spPr>
      </p:pic>
      <p:sp>
        <p:nvSpPr>
          <p:cNvPr id="59" name="文本框 58"/>
          <p:cNvSpPr txBox="1"/>
          <p:nvPr/>
        </p:nvSpPr>
        <p:spPr>
          <a:xfrm>
            <a:off x="5218430" y="1936115"/>
            <a:ext cx="3216275" cy="1917065"/>
          </a:xfrm>
          <a:prstGeom prst="rect">
            <a:avLst/>
          </a:prstGeom>
          <a:noFill/>
        </p:spPr>
        <p:txBody>
          <a:bodyPr wrap="square" rtlCol="0" anchor="t">
            <a:noAutofit/>
          </a:bodyPr>
          <a:p>
            <a:pPr>
              <a:lnSpc>
                <a:spcPct val="120000"/>
              </a:lnSpc>
            </a:pPr>
            <a:r>
              <a:rPr lang="en-US" altLang="zh-CN" b="1">
                <a:latin typeface="宋体" panose="02010600030101010101" pitchFamily="2" charset="-122"/>
                <a:ea typeface="宋体" panose="02010600030101010101" pitchFamily="2" charset="-122"/>
                <a:sym typeface="+mn-ea"/>
              </a:rPr>
              <a:t>APSDE</a:t>
            </a:r>
            <a:r>
              <a:rPr lang="zh-CN" altLang="en-US" b="1">
                <a:latin typeface="宋体" panose="02010600030101010101" pitchFamily="2" charset="-122"/>
                <a:ea typeface="宋体" panose="02010600030101010101" pitchFamily="2" charset="-122"/>
                <a:sym typeface="+mn-ea"/>
              </a:rPr>
              <a:t>：提供数据传输</a:t>
            </a:r>
            <a:r>
              <a:rPr lang="zh-CN" altLang="en-US" b="1">
                <a:latin typeface="宋体" panose="02010600030101010101" pitchFamily="2" charset="-122"/>
                <a:ea typeface="宋体" panose="02010600030101010101" pitchFamily="2" charset="-122"/>
                <a:sym typeface="+mn-ea"/>
              </a:rPr>
              <a:t>服务</a:t>
            </a:r>
            <a:endParaRPr lang="zh-CN" altLang="en-US" b="1">
              <a:latin typeface="宋体" panose="02010600030101010101" pitchFamily="2" charset="-122"/>
              <a:ea typeface="宋体" panose="02010600030101010101" pitchFamily="2" charset="-122"/>
              <a:sym typeface="+mn-ea"/>
            </a:endParaRPr>
          </a:p>
          <a:p>
            <a:pPr>
              <a:lnSpc>
                <a:spcPct val="120000"/>
              </a:lnSpc>
            </a:pPr>
            <a:r>
              <a:rPr lang="en-US" altLang="zh-CN" b="1">
                <a:latin typeface="宋体" panose="02010600030101010101" pitchFamily="2" charset="-122"/>
                <a:ea typeface="宋体" panose="02010600030101010101" pitchFamily="2" charset="-122"/>
                <a:sym typeface="+mn-ea"/>
              </a:rPr>
              <a:t>APSME</a:t>
            </a:r>
            <a:r>
              <a:rPr lang="zh-CN" altLang="en-US" b="1">
                <a:latin typeface="宋体" panose="02010600030101010101" pitchFamily="2" charset="-122"/>
                <a:ea typeface="宋体" panose="02010600030101010101" pitchFamily="2" charset="-122"/>
                <a:sym typeface="+mn-ea"/>
              </a:rPr>
              <a:t>：提供管理</a:t>
            </a:r>
            <a:r>
              <a:rPr lang="zh-CN" altLang="en-US" b="1">
                <a:latin typeface="宋体" panose="02010600030101010101" pitchFamily="2" charset="-122"/>
                <a:ea typeface="宋体" panose="02010600030101010101" pitchFamily="2" charset="-122"/>
                <a:sym typeface="+mn-ea"/>
              </a:rPr>
              <a:t>服务</a:t>
            </a:r>
            <a:endParaRPr lang="zh-CN" altLang="en-US" b="1">
              <a:latin typeface="宋体" panose="02010600030101010101" pitchFamily="2" charset="-122"/>
              <a:ea typeface="宋体" panose="02010600030101010101" pitchFamily="2"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APSDE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9" name="文本框 8"/>
          <p:cNvSpPr txBox="1"/>
          <p:nvPr/>
        </p:nvSpPr>
        <p:spPr>
          <a:xfrm>
            <a:off x="238760" y="539115"/>
            <a:ext cx="8722360" cy="368300"/>
          </a:xfrm>
          <a:prstGeom prst="rect">
            <a:avLst/>
          </a:prstGeom>
          <a:noFill/>
        </p:spPr>
        <p:txBody>
          <a:bodyPr wrap="square" rtlCol="0">
            <a:spAutoFit/>
          </a:bodyPr>
          <a:p>
            <a:r>
              <a:rPr lang="en-US" altLang="zh-CN">
                <a:sym typeface="+mn-ea"/>
              </a:rPr>
              <a:t>APSDE</a:t>
            </a:r>
            <a:r>
              <a:rPr lang="zh-CN" altLang="en-US">
                <a:sym typeface="+mn-ea"/>
              </a:rPr>
              <a:t>服务：数据传输</a:t>
            </a:r>
            <a:endParaRPr lang="en-US" altLang="zh-CN"/>
          </a:p>
        </p:txBody>
      </p:sp>
      <p:sp>
        <p:nvSpPr>
          <p:cNvPr id="10" name="文本框 9"/>
          <p:cNvSpPr txBox="1"/>
          <p:nvPr/>
        </p:nvSpPr>
        <p:spPr>
          <a:xfrm>
            <a:off x="215900" y="959485"/>
            <a:ext cx="5662295" cy="337185"/>
          </a:xfrm>
          <a:prstGeom prst="rect">
            <a:avLst/>
          </a:prstGeom>
          <a:noFill/>
        </p:spPr>
        <p:txBody>
          <a:bodyPr wrap="square" rtlCol="0">
            <a:spAutoFit/>
          </a:bodyPr>
          <a:p>
            <a:r>
              <a:rPr lang="en-US" altLang="zh-CN" sz="1600"/>
              <a:t>1</a:t>
            </a:r>
            <a:r>
              <a:rPr lang="zh-CN" altLang="en-US" sz="1600"/>
              <a:t>、</a:t>
            </a:r>
            <a:r>
              <a:rPr lang="en-US" altLang="zh-CN" sz="1600"/>
              <a:t>zb_apsde_data_request(zb_uint8_t param)</a:t>
            </a:r>
            <a:endParaRPr lang="en-US" altLang="zh-CN" sz="1600"/>
          </a:p>
        </p:txBody>
      </p:sp>
      <p:sp>
        <p:nvSpPr>
          <p:cNvPr id="13" name="文本框 12"/>
          <p:cNvSpPr txBox="1"/>
          <p:nvPr/>
        </p:nvSpPr>
        <p:spPr>
          <a:xfrm>
            <a:off x="262255" y="1399540"/>
            <a:ext cx="3048000" cy="368300"/>
          </a:xfrm>
          <a:prstGeom prst="rect">
            <a:avLst/>
          </a:prstGeom>
          <a:noFill/>
        </p:spPr>
        <p:txBody>
          <a:bodyPr wrap="square" rtlCol="0">
            <a:spAutoFit/>
          </a:bodyPr>
          <a:p>
            <a:r>
              <a:rPr lang="zh-CN" altLang="en-US"/>
              <a:t>数据</a:t>
            </a:r>
            <a:r>
              <a:rPr lang="zh-CN" altLang="en-US"/>
              <a:t>结构</a:t>
            </a:r>
            <a:endParaRPr lang="zh-CN" altLang="en-US"/>
          </a:p>
        </p:txBody>
      </p:sp>
      <p:sp>
        <p:nvSpPr>
          <p:cNvPr id="14" name="文本框 13"/>
          <p:cNvSpPr txBox="1"/>
          <p:nvPr/>
        </p:nvSpPr>
        <p:spPr>
          <a:xfrm>
            <a:off x="215900" y="1767840"/>
            <a:ext cx="3932555" cy="3148965"/>
          </a:xfrm>
          <a:prstGeom prst="rect">
            <a:avLst/>
          </a:prstGeom>
        </p:spPr>
        <p:txBody>
          <a:bodyPr>
            <a:noAutofit/>
          </a:bodyPr>
          <a:p>
            <a:pPr>
              <a:lnSpc>
                <a:spcPts val="950"/>
              </a:lnSpc>
            </a:pPr>
            <a:r>
              <a:rPr lang="en-US" altLang="zh-CN" sz="1600">
                <a:solidFill>
                  <a:schemeClr val="tx1"/>
                </a:solidFill>
                <a:latin typeface="Consolas" panose="020B0609020204030204"/>
                <a:ea typeface="Consolas" panose="020B0609020204030204"/>
              </a:rPr>
              <a:t>typedef structzb_apsde_data_req_s</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r>
              <a:rPr lang="en-US" altLang="zh-CN" sz="1600">
                <a:solidFill>
                  <a:schemeClr val="tx1"/>
                </a:solidFill>
                <a:latin typeface="Consolas" panose="020B0609020204030204"/>
                <a:ea typeface="Consolas" panose="020B0609020204030204"/>
              </a:rPr>
              <a:t>{</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zb_uint8_t   addr_mode;</a:t>
            </a:r>
            <a:endParaRPr lang="en-US" altLang="zh-CN" sz="1600">
              <a:latin typeface="Consolas" panose="020B0609020204030204"/>
              <a:ea typeface="Consolas" panose="020B0609020204030204"/>
              <a:sym typeface="+mn-ea"/>
            </a:endParaRPr>
          </a:p>
          <a:p>
            <a:pPr indent="457200">
              <a:lnSpc>
                <a:spcPts val="950"/>
              </a:lnSpc>
            </a:pPr>
            <a:endParaRPr lang="en-US" altLang="zh-CN" sz="1600">
              <a:solidFill>
                <a:schemeClr val="tx1"/>
              </a:solidFill>
              <a:latin typeface="Consolas" panose="020B0609020204030204"/>
              <a:ea typeface="Consolas" panose="020B0609020204030204"/>
              <a:sym typeface="+mn-ea"/>
            </a:endParaRPr>
          </a:p>
          <a:p>
            <a:pPr indent="457200">
              <a:lnSpc>
                <a:spcPts val="950"/>
              </a:lnSpc>
            </a:pPr>
            <a:r>
              <a:rPr lang="en-US" altLang="zh-CN" sz="1600">
                <a:solidFill>
                  <a:schemeClr val="tx1"/>
                </a:solidFill>
                <a:latin typeface="Consolas" panose="020B0609020204030204"/>
                <a:ea typeface="Consolas" panose="020B0609020204030204"/>
              </a:rPr>
              <a:t>zb_addr_u    dst_addr;</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zb_uint8_t   dst_endpoint;</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zb_uint16_t  profileid;</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zb_uint16_t  clusterid;</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zb_uint8_t   src_endpoint;</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zb_uint16_t  adsu_lenth;</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zb_uint8_t   adsu;</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zb_uint8_t   tx_options;</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latin typeface="Consolas" panose="020B0609020204030204"/>
                <a:ea typeface="Consolas" panose="020B0609020204030204"/>
                <a:sym typeface="+mn-ea"/>
              </a:rPr>
              <a:t>zb_uint8_t   radius;</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r>
              <a:rPr lang="en-US" altLang="zh-CN" sz="1600">
                <a:solidFill>
                  <a:schemeClr val="tx1"/>
                </a:solidFill>
                <a:latin typeface="Consolas" panose="020B0609020204030204"/>
                <a:ea typeface="Consolas" panose="020B0609020204030204"/>
              </a:rPr>
              <a:t>}zb_apsde_data_req_t;</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p:txBody>
      </p:sp>
      <p:pic>
        <p:nvPicPr>
          <p:cNvPr id="16" name="图片 15"/>
          <p:cNvPicPr>
            <a:picLocks noChangeAspect="1"/>
          </p:cNvPicPr>
          <p:nvPr/>
        </p:nvPicPr>
        <p:blipFill>
          <a:blip r:embed="rId1"/>
          <a:stretch>
            <a:fillRect/>
          </a:stretch>
        </p:blipFill>
        <p:spPr>
          <a:xfrm>
            <a:off x="4802505" y="1116965"/>
            <a:ext cx="4222750" cy="933450"/>
          </a:xfrm>
          <a:prstGeom prst="rect">
            <a:avLst/>
          </a:prstGeom>
        </p:spPr>
      </p:pic>
      <p:cxnSp>
        <p:nvCxnSpPr>
          <p:cNvPr id="17" name="直接箭头连接符 16"/>
          <p:cNvCxnSpPr/>
          <p:nvPr/>
        </p:nvCxnSpPr>
        <p:spPr>
          <a:xfrm flipV="1">
            <a:off x="3310255" y="1525270"/>
            <a:ext cx="1492250" cy="81407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18" name="图片 17"/>
          <p:cNvPicPr>
            <a:picLocks noChangeAspect="1"/>
          </p:cNvPicPr>
          <p:nvPr/>
        </p:nvPicPr>
        <p:blipFill>
          <a:blip r:embed="rId2"/>
          <a:srcRect r="50000"/>
          <a:stretch>
            <a:fillRect/>
          </a:stretch>
        </p:blipFill>
        <p:spPr>
          <a:xfrm>
            <a:off x="4680585" y="3814445"/>
            <a:ext cx="3987800" cy="933450"/>
          </a:xfrm>
          <a:prstGeom prst="rect">
            <a:avLst/>
          </a:prstGeom>
        </p:spPr>
      </p:pic>
      <p:cxnSp>
        <p:nvCxnSpPr>
          <p:cNvPr id="19" name="直接箭头连接符 18"/>
          <p:cNvCxnSpPr>
            <a:endCxn id="18" idx="1"/>
          </p:cNvCxnSpPr>
          <p:nvPr/>
        </p:nvCxnSpPr>
        <p:spPr>
          <a:xfrm flipV="1">
            <a:off x="3453130" y="4281170"/>
            <a:ext cx="1227455" cy="127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20" name="图片 19"/>
          <p:cNvPicPr>
            <a:picLocks noChangeAspect="1"/>
          </p:cNvPicPr>
          <p:nvPr/>
        </p:nvPicPr>
        <p:blipFill>
          <a:blip r:embed="rId3"/>
          <a:stretch>
            <a:fillRect/>
          </a:stretch>
        </p:blipFill>
        <p:spPr>
          <a:xfrm>
            <a:off x="4715510" y="2505075"/>
            <a:ext cx="2914650" cy="1085850"/>
          </a:xfrm>
          <a:prstGeom prst="rect">
            <a:avLst/>
          </a:prstGeom>
        </p:spPr>
      </p:pic>
      <p:cxnSp>
        <p:nvCxnSpPr>
          <p:cNvPr id="21" name="直接箭头连接符 20"/>
          <p:cNvCxnSpPr>
            <a:endCxn id="20" idx="1"/>
          </p:cNvCxnSpPr>
          <p:nvPr/>
        </p:nvCxnSpPr>
        <p:spPr>
          <a:xfrm>
            <a:off x="3310255" y="2624455"/>
            <a:ext cx="1405255" cy="4235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APSDE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9" name="文本框 8"/>
          <p:cNvSpPr txBox="1"/>
          <p:nvPr/>
        </p:nvSpPr>
        <p:spPr>
          <a:xfrm>
            <a:off x="215900" y="631825"/>
            <a:ext cx="8722360" cy="368300"/>
          </a:xfrm>
          <a:prstGeom prst="rect">
            <a:avLst/>
          </a:prstGeom>
          <a:noFill/>
        </p:spPr>
        <p:txBody>
          <a:bodyPr wrap="square" rtlCol="0">
            <a:spAutoFit/>
          </a:bodyPr>
          <a:p>
            <a:r>
              <a:rPr lang="en-US" altLang="zh-CN"/>
              <a:t>APSDE</a:t>
            </a:r>
            <a:r>
              <a:rPr lang="zh-CN" altLang="en-US"/>
              <a:t>服务：数据传输</a:t>
            </a:r>
            <a:endParaRPr lang="en-US" altLang="zh-CN"/>
          </a:p>
        </p:txBody>
      </p:sp>
      <p:sp>
        <p:nvSpPr>
          <p:cNvPr id="10" name="文本框 9"/>
          <p:cNvSpPr txBox="1"/>
          <p:nvPr/>
        </p:nvSpPr>
        <p:spPr>
          <a:xfrm>
            <a:off x="215900" y="1087120"/>
            <a:ext cx="5662295" cy="337185"/>
          </a:xfrm>
          <a:prstGeom prst="rect">
            <a:avLst/>
          </a:prstGeom>
          <a:noFill/>
        </p:spPr>
        <p:txBody>
          <a:bodyPr wrap="square" rtlCol="0">
            <a:spAutoFit/>
          </a:bodyPr>
          <a:p>
            <a:r>
              <a:rPr lang="en-US" altLang="zh-CN" sz="1600">
                <a:sym typeface="+mn-ea"/>
              </a:rPr>
              <a:t>2</a:t>
            </a:r>
            <a:r>
              <a:rPr lang="zh-CN" altLang="en-US" sz="1600">
                <a:sym typeface="+mn-ea"/>
              </a:rPr>
              <a:t>、</a:t>
            </a:r>
            <a:r>
              <a:rPr lang="en-US" altLang="zh-CN" sz="1600">
                <a:sym typeface="+mn-ea"/>
              </a:rPr>
              <a:t>zb_apsde_data_confirm(zb_uint8_t param)</a:t>
            </a:r>
            <a:endParaRPr lang="en-US" altLang="zh-CN" sz="1600"/>
          </a:p>
        </p:txBody>
      </p:sp>
      <p:sp>
        <p:nvSpPr>
          <p:cNvPr id="13" name="文本框 12"/>
          <p:cNvSpPr txBox="1"/>
          <p:nvPr/>
        </p:nvSpPr>
        <p:spPr>
          <a:xfrm>
            <a:off x="215900" y="1631315"/>
            <a:ext cx="3048000" cy="368300"/>
          </a:xfrm>
          <a:prstGeom prst="rect">
            <a:avLst/>
          </a:prstGeom>
          <a:noFill/>
        </p:spPr>
        <p:txBody>
          <a:bodyPr wrap="square" rtlCol="0">
            <a:spAutoFit/>
          </a:bodyPr>
          <a:p>
            <a:r>
              <a:rPr lang="zh-CN" altLang="en-US"/>
              <a:t>数据</a:t>
            </a:r>
            <a:r>
              <a:rPr lang="zh-CN" altLang="en-US"/>
              <a:t>结构</a:t>
            </a:r>
            <a:endParaRPr lang="zh-CN" altLang="en-US"/>
          </a:p>
        </p:txBody>
      </p:sp>
      <p:sp>
        <p:nvSpPr>
          <p:cNvPr id="14" name="文本框 13"/>
          <p:cNvSpPr txBox="1"/>
          <p:nvPr/>
        </p:nvSpPr>
        <p:spPr>
          <a:xfrm>
            <a:off x="215900" y="1999615"/>
            <a:ext cx="6116320" cy="2748280"/>
          </a:xfrm>
          <a:prstGeom prst="rect">
            <a:avLst/>
          </a:prstGeom>
        </p:spPr>
        <p:txBody>
          <a:bodyPr>
            <a:noAutofit/>
          </a:bodyPr>
          <a:p>
            <a:pPr>
              <a:lnSpc>
                <a:spcPts val="950"/>
              </a:lnSpc>
            </a:pPr>
            <a:r>
              <a:rPr lang="en-US" altLang="zh-CN" sz="1600">
                <a:solidFill>
                  <a:schemeClr val="tx1"/>
                </a:solidFill>
                <a:latin typeface="Consolas" panose="020B0609020204030204"/>
                <a:ea typeface="Consolas" panose="020B0609020204030204"/>
              </a:rPr>
              <a:t>typedef ZB_PACKED_PRE struct zb_apsde_data_confirm_s</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r>
              <a:rPr lang="en-US" altLang="zh-CN" sz="1600">
                <a:solidFill>
                  <a:schemeClr val="tx1"/>
                </a:solidFill>
                <a:latin typeface="Consolas" panose="020B0609020204030204"/>
                <a:ea typeface="Consolas" panose="020B0609020204030204"/>
              </a:rPr>
              <a:t>{</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zb_addr_u      dst_addr;</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zb_uint8_t     dst_endpoint;</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zb_uint8_t     src_endpoint;</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zb_time_t      tx_time;</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zb_uint8_t     addr_mode;</a:t>
            </a: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r>
              <a:rPr lang="en-US" altLang="zh-CN" sz="1600">
                <a:solidFill>
                  <a:schemeClr val="tx1"/>
                </a:solidFill>
                <a:latin typeface="Consolas" panose="020B0609020204030204"/>
                <a:ea typeface="Consolas" panose="020B0609020204030204"/>
              </a:rPr>
              <a:t>zb_ret_t       status;</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r>
              <a:rPr lang="en-US" altLang="zh-CN" sz="1600">
                <a:solidFill>
                  <a:schemeClr val="tx1"/>
                </a:solidFill>
                <a:latin typeface="Consolas" panose="020B0609020204030204"/>
                <a:ea typeface="Consolas" panose="020B0609020204030204"/>
              </a:rPr>
              <a:t>}</a:t>
            </a: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a:lnSpc>
                <a:spcPts val="950"/>
              </a:lnSpc>
            </a:pPr>
            <a:endParaRPr lang="en-US" altLang="zh-CN" sz="1600">
              <a:solidFill>
                <a:schemeClr val="tx1"/>
              </a:solidFill>
              <a:latin typeface="Consolas" panose="020B0609020204030204"/>
              <a:ea typeface="Consolas" panose="020B0609020204030204"/>
            </a:endParaRPr>
          </a:p>
          <a:p>
            <a:pPr indent="457200">
              <a:lnSpc>
                <a:spcPts val="950"/>
              </a:lnSpc>
            </a:pPr>
            <a:endParaRPr lang="en-US" altLang="zh-CN" sz="1600">
              <a:solidFill>
                <a:schemeClr val="tx1"/>
              </a:solidFill>
              <a:latin typeface="Consolas" panose="020B0609020204030204"/>
              <a:ea typeface="Consolas" panose="020B060902020403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APSDE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9" name="文本框 8"/>
          <p:cNvSpPr txBox="1"/>
          <p:nvPr/>
        </p:nvSpPr>
        <p:spPr>
          <a:xfrm>
            <a:off x="215900" y="631825"/>
            <a:ext cx="8722360" cy="368300"/>
          </a:xfrm>
          <a:prstGeom prst="rect">
            <a:avLst/>
          </a:prstGeom>
          <a:noFill/>
        </p:spPr>
        <p:txBody>
          <a:bodyPr wrap="square" rtlCol="0">
            <a:spAutoFit/>
          </a:bodyPr>
          <a:p>
            <a:r>
              <a:rPr lang="en-US" altLang="zh-CN">
                <a:sym typeface="+mn-ea"/>
              </a:rPr>
              <a:t>APSDE</a:t>
            </a:r>
            <a:r>
              <a:rPr lang="zh-CN" altLang="en-US">
                <a:sym typeface="+mn-ea"/>
              </a:rPr>
              <a:t>服务：数据传输</a:t>
            </a:r>
            <a:endParaRPr lang="en-US" altLang="zh-CN"/>
          </a:p>
        </p:txBody>
      </p:sp>
      <p:sp>
        <p:nvSpPr>
          <p:cNvPr id="10" name="文本框 9"/>
          <p:cNvSpPr txBox="1"/>
          <p:nvPr/>
        </p:nvSpPr>
        <p:spPr>
          <a:xfrm>
            <a:off x="215900" y="1087120"/>
            <a:ext cx="5662295" cy="337185"/>
          </a:xfrm>
          <a:prstGeom prst="rect">
            <a:avLst/>
          </a:prstGeom>
          <a:noFill/>
        </p:spPr>
        <p:txBody>
          <a:bodyPr wrap="square" rtlCol="0">
            <a:spAutoFit/>
          </a:bodyPr>
          <a:p>
            <a:r>
              <a:rPr lang="en-US" altLang="zh-CN" sz="1600">
                <a:sym typeface="+mn-ea"/>
              </a:rPr>
              <a:t>3</a:t>
            </a:r>
            <a:r>
              <a:rPr lang="zh-CN" altLang="en-US" sz="1600">
                <a:sym typeface="+mn-ea"/>
              </a:rPr>
              <a:t>、</a:t>
            </a:r>
            <a:r>
              <a:rPr lang="en-US" altLang="zh-CN" sz="1600">
                <a:sym typeface="+mn-ea"/>
              </a:rPr>
              <a:t>zb_apsde_data_indication(zb_uint8_t param);</a:t>
            </a:r>
            <a:endParaRPr lang="en-US" altLang="zh-CN" sz="1600"/>
          </a:p>
        </p:txBody>
      </p:sp>
      <p:sp>
        <p:nvSpPr>
          <p:cNvPr id="3" name="文本框 2"/>
          <p:cNvSpPr txBox="1"/>
          <p:nvPr/>
        </p:nvSpPr>
        <p:spPr>
          <a:xfrm>
            <a:off x="215900" y="1529715"/>
            <a:ext cx="3048000" cy="368300"/>
          </a:xfrm>
          <a:prstGeom prst="rect">
            <a:avLst/>
          </a:prstGeom>
          <a:noFill/>
        </p:spPr>
        <p:txBody>
          <a:bodyPr wrap="square" rtlCol="0">
            <a:spAutoFit/>
          </a:bodyPr>
          <a:p>
            <a:r>
              <a:rPr lang="zh-CN" altLang="en-US"/>
              <a:t>数据</a:t>
            </a:r>
            <a:r>
              <a:rPr lang="zh-CN" altLang="en-US"/>
              <a:t>结构</a:t>
            </a:r>
            <a:endParaRPr lang="zh-CN" altLang="en-US"/>
          </a:p>
        </p:txBody>
      </p:sp>
      <p:graphicFrame>
        <p:nvGraphicFramePr>
          <p:cNvPr id="5" name="表格 4"/>
          <p:cNvGraphicFramePr/>
          <p:nvPr/>
        </p:nvGraphicFramePr>
        <p:xfrm>
          <a:off x="215900" y="1847215"/>
          <a:ext cx="3156585" cy="3048000"/>
        </p:xfrm>
        <a:graphic>
          <a:graphicData uri="http://schemas.openxmlformats.org/drawingml/2006/table">
            <a:tbl>
              <a:tblPr firstRow="1" bandRow="1">
                <a:tableStyleId>{5C22544A-7EE6-4342-B048-85BDC9FD1C3A}</a:tableStyleId>
              </a:tblPr>
              <a:tblGrid>
                <a:gridCol w="1557655"/>
                <a:gridCol w="1598930"/>
              </a:tblGrid>
              <a:tr h="381000">
                <a:tc gridSpan="2">
                  <a:txBody>
                    <a:bodyPr/>
                    <a:p>
                      <a:pPr algn="ctr">
                        <a:buNone/>
                      </a:pPr>
                      <a:r>
                        <a:rPr lang="zh-CN" altLang="en-US"/>
                        <a:t>参数</a:t>
                      </a:r>
                      <a:endParaRPr lang="zh-CN" altLang="en-US"/>
                    </a:p>
                  </a:txBody>
                  <a:tcPr anchor="ctr" anchorCtr="0"/>
                </a:tc>
                <a:tc hMerge="1">
                  <a:tcPr/>
                </a:tc>
              </a:tr>
              <a:tr h="381000">
                <a:tc>
                  <a:txBody>
                    <a:bodyPr/>
                    <a:p>
                      <a:pPr algn="ctr">
                        <a:buNone/>
                      </a:pPr>
                      <a:r>
                        <a:rPr lang="en-US" altLang="zh-CN"/>
                        <a:t>DstAddrMode</a:t>
                      </a:r>
                      <a:endParaRPr lang="en-US" altLang="zh-CN"/>
                    </a:p>
                  </a:txBody>
                  <a:tcPr anchor="ctr" anchorCtr="0"/>
                </a:tc>
                <a:tc>
                  <a:txBody>
                    <a:bodyPr/>
                    <a:p>
                      <a:pPr algn="ctr">
                        <a:buNone/>
                      </a:pPr>
                      <a:r>
                        <a:rPr lang="en-US" altLang="zh-CN" sz="1350">
                          <a:sym typeface="+mn-ea"/>
                        </a:rPr>
                        <a:t>ClusterId</a:t>
                      </a:r>
                      <a:endParaRPr lang="en-US" altLang="zh-CN"/>
                    </a:p>
                  </a:txBody>
                  <a:tcPr anchor="ctr" anchorCtr="0"/>
                </a:tc>
              </a:tr>
              <a:tr h="381000">
                <a:tc>
                  <a:txBody>
                    <a:bodyPr/>
                    <a:p>
                      <a:pPr algn="ctr">
                        <a:buNone/>
                      </a:pPr>
                      <a:r>
                        <a:rPr lang="en-US" altLang="zh-CN"/>
                        <a:t>DstAddress</a:t>
                      </a:r>
                      <a:endParaRPr lang="en-US" altLang="zh-CN"/>
                    </a:p>
                  </a:txBody>
                  <a:tcPr anchor="ctr" anchorCtr="0"/>
                </a:tc>
                <a:tc>
                  <a:txBody>
                    <a:bodyPr/>
                    <a:p>
                      <a:pPr algn="ctr">
                        <a:buNone/>
                      </a:pPr>
                      <a:r>
                        <a:rPr lang="en-US" altLang="zh-CN" sz="1350">
                          <a:sym typeface="+mn-ea"/>
                        </a:rPr>
                        <a:t>asduLength</a:t>
                      </a:r>
                      <a:endParaRPr lang="en-US" altLang="zh-CN"/>
                    </a:p>
                  </a:txBody>
                  <a:tcPr anchor="ctr" anchorCtr="0"/>
                </a:tc>
              </a:tr>
              <a:tr h="381000">
                <a:tc>
                  <a:txBody>
                    <a:bodyPr/>
                    <a:p>
                      <a:pPr algn="ctr">
                        <a:buNone/>
                      </a:pPr>
                      <a:r>
                        <a:rPr lang="en-US" altLang="zh-CN"/>
                        <a:t>DstEndpoint</a:t>
                      </a:r>
                      <a:endParaRPr lang="en-US" altLang="zh-CN"/>
                    </a:p>
                  </a:txBody>
                  <a:tcPr anchor="ctr" anchorCtr="0"/>
                </a:tc>
                <a:tc>
                  <a:txBody>
                    <a:bodyPr/>
                    <a:p>
                      <a:pPr algn="ctr">
                        <a:buNone/>
                      </a:pPr>
                      <a:r>
                        <a:rPr lang="en-US" altLang="zh-CN" sz="1350">
                          <a:sym typeface="+mn-ea"/>
                        </a:rPr>
                        <a:t>asdu</a:t>
                      </a:r>
                      <a:endParaRPr lang="en-US" altLang="zh-CN"/>
                    </a:p>
                  </a:txBody>
                  <a:tcPr anchor="ctr" anchorCtr="0"/>
                </a:tc>
              </a:tr>
              <a:tr h="381000">
                <a:tc>
                  <a:txBody>
                    <a:bodyPr/>
                    <a:p>
                      <a:pPr algn="ctr">
                        <a:buNone/>
                      </a:pPr>
                      <a:r>
                        <a:rPr lang="en-US" altLang="zh-CN"/>
                        <a:t>SrcAddrMode</a:t>
                      </a:r>
                      <a:endParaRPr lang="en-US" altLang="zh-CN"/>
                    </a:p>
                  </a:txBody>
                  <a:tcPr anchor="ctr" anchorCtr="0"/>
                </a:tc>
                <a:tc>
                  <a:txBody>
                    <a:bodyPr/>
                    <a:p>
                      <a:pPr algn="ctr">
                        <a:buNone/>
                      </a:pPr>
                      <a:r>
                        <a:rPr lang="en-US" altLang="zh-CN" sz="1350">
                          <a:sym typeface="+mn-ea"/>
                        </a:rPr>
                        <a:t>Status</a:t>
                      </a:r>
                      <a:endParaRPr lang="en-US" altLang="zh-CN"/>
                    </a:p>
                  </a:txBody>
                  <a:tcPr anchor="ctr" anchorCtr="0"/>
                </a:tc>
              </a:tr>
              <a:tr h="381000">
                <a:tc>
                  <a:txBody>
                    <a:bodyPr/>
                    <a:p>
                      <a:pPr algn="ctr">
                        <a:buNone/>
                      </a:pPr>
                      <a:r>
                        <a:rPr lang="en-US" altLang="zh-CN"/>
                        <a:t>SrcAddress</a:t>
                      </a:r>
                      <a:endParaRPr lang="en-US" altLang="zh-CN"/>
                    </a:p>
                  </a:txBody>
                  <a:tcPr anchor="ctr" anchorCtr="0"/>
                </a:tc>
                <a:tc>
                  <a:txBody>
                    <a:bodyPr/>
                    <a:p>
                      <a:pPr algn="ctr">
                        <a:buNone/>
                      </a:pPr>
                      <a:r>
                        <a:rPr lang="en-US" altLang="zh-CN"/>
                        <a:t>SecurityStatus</a:t>
                      </a:r>
                      <a:endParaRPr lang="en-US" altLang="zh-CN"/>
                    </a:p>
                  </a:txBody>
                  <a:tcPr anchor="ctr" anchorCtr="0"/>
                </a:tc>
              </a:tr>
              <a:tr h="381000">
                <a:tc>
                  <a:txBody>
                    <a:bodyPr/>
                    <a:p>
                      <a:pPr algn="ctr">
                        <a:buNone/>
                      </a:pPr>
                      <a:r>
                        <a:rPr lang="en-US" altLang="zh-CN"/>
                        <a:t>SrcEndpoint</a:t>
                      </a:r>
                      <a:endParaRPr lang="en-US" altLang="zh-CN"/>
                    </a:p>
                  </a:txBody>
                  <a:tcPr anchor="ctr" anchorCtr="0"/>
                </a:tc>
                <a:tc>
                  <a:txBody>
                    <a:bodyPr/>
                    <a:p>
                      <a:pPr algn="ctr">
                        <a:buNone/>
                      </a:pPr>
                      <a:r>
                        <a:rPr lang="en-US" altLang="zh-CN"/>
                        <a:t>LinkQuality</a:t>
                      </a:r>
                      <a:endParaRPr lang="en-US" altLang="zh-CN"/>
                    </a:p>
                  </a:txBody>
                  <a:tcPr anchor="ctr" anchorCtr="0"/>
                </a:tc>
              </a:tr>
              <a:tr h="381000">
                <a:tc>
                  <a:txBody>
                    <a:bodyPr/>
                    <a:p>
                      <a:pPr algn="ctr">
                        <a:buNone/>
                      </a:pPr>
                      <a:r>
                        <a:rPr lang="en-US" altLang="zh-CN" sz="1350">
                          <a:sym typeface="+mn-ea"/>
                        </a:rPr>
                        <a:t>ProfileId</a:t>
                      </a:r>
                      <a:endParaRPr lang="zh-CN" altLang="en-US"/>
                    </a:p>
                  </a:txBody>
                  <a:tcPr anchor="ctr" anchorCtr="0"/>
                </a:tc>
                <a:tc>
                  <a:txBody>
                    <a:bodyPr/>
                    <a:p>
                      <a:pPr algn="ctr">
                        <a:buNone/>
                      </a:pPr>
                      <a:r>
                        <a:rPr lang="en-US" altLang="zh-CN"/>
                        <a:t>RxTime</a:t>
                      </a:r>
                      <a:endParaRPr lang="en-US" altLang="zh-CN"/>
                    </a:p>
                  </a:txBody>
                  <a:tcPr anchor="ctr" anchorCtr="0"/>
                </a:tc>
              </a:tr>
            </a:tbl>
          </a:graphicData>
        </a:graphic>
      </p:graphicFrame>
      <p:sp>
        <p:nvSpPr>
          <p:cNvPr id="6" name="文本框 5"/>
          <p:cNvSpPr txBox="1"/>
          <p:nvPr/>
        </p:nvSpPr>
        <p:spPr>
          <a:xfrm>
            <a:off x="3449320" y="1847215"/>
            <a:ext cx="5605145" cy="1747520"/>
          </a:xfrm>
          <a:prstGeom prst="rect">
            <a:avLst/>
          </a:prstGeom>
          <a:noFill/>
        </p:spPr>
        <p:txBody>
          <a:bodyPr wrap="square" rtlCol="0">
            <a:spAutoFit/>
          </a:bodyPr>
          <a:p>
            <a:pPr>
              <a:lnSpc>
                <a:spcPct val="110000"/>
              </a:lnSpc>
            </a:pPr>
            <a:r>
              <a:rPr lang="en-US" altLang="zh-CN" sz="1400">
                <a:sym typeface="+mn-ea"/>
              </a:rPr>
              <a:t>DstAddrMode</a:t>
            </a:r>
            <a:r>
              <a:rPr lang="zh-CN" altLang="en-US" sz="1400">
                <a:sym typeface="+mn-ea"/>
              </a:rPr>
              <a:t>：</a:t>
            </a:r>
            <a:r>
              <a:rPr lang="en-US" altLang="zh-CN" sz="1400">
                <a:sym typeface="+mn-ea"/>
              </a:rPr>
              <a:t>0x01 DstAddress</a:t>
            </a:r>
            <a:r>
              <a:rPr lang="zh-CN" altLang="en-US" sz="1400">
                <a:sym typeface="+mn-ea"/>
              </a:rPr>
              <a:t>为组地址，</a:t>
            </a:r>
            <a:r>
              <a:rPr lang="en-US" altLang="zh-CN" sz="1400">
                <a:sym typeface="+mn-ea"/>
              </a:rPr>
              <a:t>DstEndpoint</a:t>
            </a:r>
            <a:r>
              <a:rPr lang="zh-CN" altLang="en-US" sz="1400">
                <a:sym typeface="+mn-ea"/>
              </a:rPr>
              <a:t>不存在</a:t>
            </a:r>
            <a:r>
              <a:rPr lang="en-US" altLang="zh-CN" sz="1400">
                <a:sym typeface="+mn-ea"/>
              </a:rPr>
              <a:t> </a:t>
            </a:r>
            <a:endParaRPr lang="en-US" altLang="zh-CN" sz="1400">
              <a:sym typeface="+mn-ea"/>
            </a:endParaRPr>
          </a:p>
          <a:p>
            <a:pPr>
              <a:lnSpc>
                <a:spcPct val="110000"/>
              </a:lnSpc>
            </a:pPr>
            <a:r>
              <a:rPr lang="en-US" altLang="zh-CN" sz="1400">
                <a:sym typeface="+mn-ea"/>
              </a:rPr>
              <a:t>                          0x03 </a:t>
            </a:r>
            <a:r>
              <a:rPr lang="en-US" altLang="zh-CN" sz="1400">
                <a:sym typeface="+mn-ea"/>
              </a:rPr>
              <a:t>DstAddress</a:t>
            </a:r>
            <a:r>
              <a:rPr lang="zh-CN" altLang="en-US" sz="1400">
                <a:sym typeface="+mn-ea"/>
              </a:rPr>
              <a:t>为</a:t>
            </a:r>
            <a:r>
              <a:rPr lang="en-US" altLang="zh-CN" sz="1400">
                <a:sym typeface="+mn-ea"/>
              </a:rPr>
              <a:t>16</a:t>
            </a:r>
            <a:r>
              <a:rPr lang="zh-CN" altLang="en-US" sz="1400">
                <a:sym typeface="+mn-ea"/>
              </a:rPr>
              <a:t>位地址且</a:t>
            </a:r>
            <a:r>
              <a:rPr lang="en-US" altLang="zh-CN" sz="1400">
                <a:sym typeface="+mn-ea"/>
              </a:rPr>
              <a:t>DstEndpoint</a:t>
            </a:r>
            <a:r>
              <a:rPr lang="zh-CN" altLang="en-US" sz="1400">
                <a:sym typeface="+mn-ea"/>
              </a:rPr>
              <a:t>存在</a:t>
            </a:r>
            <a:endParaRPr lang="en-US" altLang="zh-CN" sz="1400"/>
          </a:p>
          <a:p>
            <a:pPr>
              <a:lnSpc>
                <a:spcPct val="110000"/>
              </a:lnSpc>
            </a:pPr>
            <a:r>
              <a:rPr lang="en-US" altLang="zh-CN" sz="1400">
                <a:sym typeface="+mn-ea"/>
              </a:rPr>
              <a:t>SrcAddrMode</a:t>
            </a:r>
            <a:r>
              <a:rPr lang="zh-CN" altLang="en-US" sz="1400">
                <a:sym typeface="+mn-ea"/>
              </a:rPr>
              <a:t>：</a:t>
            </a:r>
            <a:r>
              <a:rPr lang="en-US" altLang="zh-CN" sz="1400">
                <a:sym typeface="+mn-ea"/>
              </a:rPr>
              <a:t>0x02 SrcAddress(</a:t>
            </a:r>
            <a:r>
              <a:rPr lang="zh-CN" altLang="en-US" sz="1400">
                <a:sym typeface="+mn-ea"/>
              </a:rPr>
              <a:t>短地址</a:t>
            </a:r>
            <a:r>
              <a:rPr lang="en-US" altLang="zh-CN" sz="1400">
                <a:sym typeface="+mn-ea"/>
              </a:rPr>
              <a:t>)</a:t>
            </a:r>
            <a:r>
              <a:rPr lang="zh-CN" altLang="en-US" sz="1400">
                <a:sym typeface="+mn-ea"/>
              </a:rPr>
              <a:t>和</a:t>
            </a:r>
            <a:r>
              <a:rPr lang="en-US" altLang="zh-CN" sz="1400">
                <a:sym typeface="+mn-ea"/>
              </a:rPr>
              <a:t>SrcEndpoint </a:t>
            </a:r>
            <a:r>
              <a:rPr lang="zh-CN" altLang="en-US" sz="1400">
                <a:sym typeface="+mn-ea"/>
              </a:rPr>
              <a:t>都存在</a:t>
            </a:r>
            <a:endParaRPr lang="zh-CN" altLang="en-US" sz="1400">
              <a:sym typeface="+mn-ea"/>
            </a:endParaRPr>
          </a:p>
          <a:p>
            <a:pPr>
              <a:lnSpc>
                <a:spcPct val="110000"/>
              </a:lnSpc>
            </a:pPr>
            <a:r>
              <a:rPr lang="en-US" altLang="zh-CN" sz="1400">
                <a:sym typeface="+mn-ea"/>
              </a:rPr>
              <a:t>                         0x03  SrcAddress(IEEE</a:t>
            </a:r>
            <a:r>
              <a:rPr lang="zh-CN" altLang="en-US" sz="1400">
                <a:sym typeface="+mn-ea"/>
              </a:rPr>
              <a:t>地址</a:t>
            </a:r>
            <a:r>
              <a:rPr lang="en-US" altLang="zh-CN" sz="1400">
                <a:sym typeface="+mn-ea"/>
              </a:rPr>
              <a:t>)</a:t>
            </a:r>
            <a:r>
              <a:rPr lang="zh-CN" altLang="en-US" sz="1400">
                <a:sym typeface="+mn-ea"/>
              </a:rPr>
              <a:t>和</a:t>
            </a:r>
            <a:r>
              <a:rPr lang="en-US" altLang="zh-CN" sz="1400">
                <a:sym typeface="+mn-ea"/>
              </a:rPr>
              <a:t>SrcEndpoint </a:t>
            </a:r>
            <a:r>
              <a:rPr lang="zh-CN" altLang="en-US" sz="1400">
                <a:sym typeface="+mn-ea"/>
              </a:rPr>
              <a:t>都存在</a:t>
            </a:r>
            <a:endParaRPr lang="zh-CN" altLang="en-US" sz="1400">
              <a:sym typeface="+mn-ea"/>
            </a:endParaRPr>
          </a:p>
          <a:p>
            <a:pPr>
              <a:lnSpc>
                <a:spcPct val="110000"/>
              </a:lnSpc>
            </a:pPr>
            <a:r>
              <a:rPr lang="en-US" altLang="zh-CN" sz="1400">
                <a:sym typeface="+mn-ea"/>
              </a:rPr>
              <a:t>SecurityStatus</a:t>
            </a:r>
            <a:r>
              <a:rPr lang="zh-CN" altLang="en-US" sz="1400">
                <a:sym typeface="+mn-ea"/>
              </a:rPr>
              <a:t>：</a:t>
            </a:r>
            <a:r>
              <a:rPr lang="zh-CN" altLang="en-US" sz="1400">
                <a:sym typeface="+mn-ea"/>
              </a:rPr>
              <a:t>无安全</a:t>
            </a:r>
            <a:endParaRPr lang="zh-CN" altLang="en-US" sz="1400">
              <a:sym typeface="+mn-ea"/>
            </a:endParaRPr>
          </a:p>
          <a:p>
            <a:pPr marL="457200" lvl="1" indent="457200">
              <a:lnSpc>
                <a:spcPct val="110000"/>
              </a:lnSpc>
            </a:pPr>
            <a:r>
              <a:rPr lang="en-US" altLang="zh-CN" sz="1400">
                <a:sym typeface="+mn-ea"/>
              </a:rPr>
              <a:t>        </a:t>
            </a:r>
            <a:r>
              <a:rPr lang="zh-CN" altLang="en-US" sz="1400">
                <a:sym typeface="+mn-ea"/>
              </a:rPr>
              <a:t>网络密钥</a:t>
            </a:r>
            <a:r>
              <a:rPr lang="zh-CN" altLang="en-US" sz="1400">
                <a:sym typeface="+mn-ea"/>
              </a:rPr>
              <a:t>加密</a:t>
            </a:r>
            <a:endParaRPr lang="zh-CN" altLang="en-US" sz="1400">
              <a:sym typeface="+mn-ea"/>
            </a:endParaRPr>
          </a:p>
          <a:p>
            <a:pPr marL="457200" lvl="1" indent="457200">
              <a:lnSpc>
                <a:spcPct val="110000"/>
              </a:lnSpc>
            </a:pPr>
            <a:r>
              <a:rPr lang="zh-CN" altLang="en-US" sz="1400">
                <a:sym typeface="+mn-ea"/>
              </a:rPr>
              <a:t> </a:t>
            </a:r>
            <a:r>
              <a:rPr lang="en-US" altLang="zh-CN" sz="1400">
                <a:sym typeface="+mn-ea"/>
              </a:rPr>
              <a:t>       </a:t>
            </a:r>
            <a:r>
              <a:rPr lang="zh-CN" altLang="en-US" sz="1400">
                <a:sym typeface="+mn-ea"/>
              </a:rPr>
              <a:t>连接密钥</a:t>
            </a:r>
            <a:r>
              <a:rPr lang="zh-CN" altLang="en-US" sz="1400">
                <a:sym typeface="+mn-ea"/>
              </a:rPr>
              <a:t>加密</a:t>
            </a:r>
            <a:endParaRPr lang="zh-CN" altLang="en-US" sz="14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APSME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74370"/>
            <a:ext cx="5265420" cy="368300"/>
          </a:xfrm>
          <a:prstGeom prst="rect">
            <a:avLst/>
          </a:prstGeom>
          <a:noFill/>
        </p:spPr>
        <p:txBody>
          <a:bodyPr wrap="square" rtlCol="0">
            <a:spAutoFit/>
          </a:bodyPr>
          <a:p>
            <a:r>
              <a:rPr lang="en-US" altLang="zh-CN"/>
              <a:t>APSME</a:t>
            </a:r>
            <a:r>
              <a:rPr lang="zh-CN" altLang="en-US"/>
              <a:t>服务：绑定管理、</a:t>
            </a:r>
            <a:r>
              <a:rPr lang="en-US" altLang="zh-CN"/>
              <a:t>AIB</a:t>
            </a:r>
            <a:r>
              <a:rPr lang="zh-CN" altLang="en-US"/>
              <a:t>管理、组管理</a:t>
            </a:r>
            <a:endParaRPr lang="zh-CN" altLang="en-US"/>
          </a:p>
        </p:txBody>
      </p:sp>
      <p:sp>
        <p:nvSpPr>
          <p:cNvPr id="3" name="文本框 2"/>
          <p:cNvSpPr txBox="1"/>
          <p:nvPr/>
        </p:nvSpPr>
        <p:spPr>
          <a:xfrm>
            <a:off x="215900" y="1129665"/>
            <a:ext cx="4289425" cy="2938145"/>
          </a:xfrm>
          <a:prstGeom prst="rect">
            <a:avLst/>
          </a:prstGeom>
          <a:noFill/>
        </p:spPr>
        <p:txBody>
          <a:bodyPr wrap="square" rtlCol="0">
            <a:noAutofit/>
          </a:bodyPr>
          <a:p>
            <a:r>
              <a:rPr lang="en-US" altLang="zh-CN"/>
              <a:t>1</a:t>
            </a:r>
            <a:r>
              <a:rPr lang="zh-CN" altLang="en-US"/>
              <a:t>、绑定</a:t>
            </a:r>
            <a:r>
              <a:rPr lang="zh-CN" altLang="en-US"/>
              <a:t>管理</a:t>
            </a:r>
            <a:endParaRPr lang="zh-CN" altLang="en-US"/>
          </a:p>
          <a:p>
            <a:r>
              <a:rPr lang="en-US" altLang="zh-CN">
                <a:latin typeface="Times New Roman" panose="02020603050405020304" charset="0"/>
                <a:cs typeface="Times New Roman" panose="02020603050405020304" charset="0"/>
              </a:rPr>
              <a:t>void zigbee_bind_req(uint8_t bind,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uint8_t srcEP,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uint8_t *srcIeee,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uint8_t dstEP,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uint8_t *dstAddr,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uint8_t dstAddrMode,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uint16_t clusterID, </a:t>
            </a:r>
            <a:endParaRPr lang="en-US" altLang="zh-CN">
              <a:latin typeface="Times New Roman" panose="02020603050405020304" charset="0"/>
              <a:cs typeface="Times New Roman" panose="02020603050405020304" charset="0"/>
            </a:endParaRPr>
          </a:p>
          <a:p>
            <a:r>
              <a:rPr lang="en-US" altLang="zh-CN">
                <a:latin typeface="Times New Roman" panose="02020603050405020304" charset="0"/>
                <a:cs typeface="Times New Roman" panose="02020603050405020304" charset="0"/>
              </a:rPr>
              <a:t>                                    uint16_t reqDstAddr)</a:t>
            </a:r>
            <a:endParaRPr lang="en-US" altLang="zh-CN">
              <a:latin typeface="Times New Roman" panose="02020603050405020304" charset="0"/>
              <a:cs typeface="Times New Roman" panose="02020603050405020304" charset="0"/>
            </a:endParaRPr>
          </a:p>
        </p:txBody>
      </p:sp>
      <p:graphicFrame>
        <p:nvGraphicFramePr>
          <p:cNvPr id="7" name="表格 6"/>
          <p:cNvGraphicFramePr/>
          <p:nvPr>
            <p:custDataLst>
              <p:tags r:id="rId1"/>
            </p:custDataLst>
          </p:nvPr>
        </p:nvGraphicFramePr>
        <p:xfrm>
          <a:off x="4464685" y="1428750"/>
          <a:ext cx="4597400" cy="1386840"/>
        </p:xfrm>
        <a:graphic>
          <a:graphicData uri="http://schemas.openxmlformats.org/drawingml/2006/table">
            <a:tbl>
              <a:tblPr firstRow="1" bandRow="1">
                <a:tableStyleId>{5C22544A-7EE6-4342-B048-85BDC9FD1C3A}</a:tableStyleId>
              </a:tblPr>
              <a:tblGrid>
                <a:gridCol w="1200785"/>
                <a:gridCol w="3396615"/>
              </a:tblGrid>
              <a:tr h="381000">
                <a:tc>
                  <a:txBody>
                    <a:bodyPr/>
                    <a:p>
                      <a:pPr algn="ctr">
                        <a:buNone/>
                      </a:pPr>
                      <a:r>
                        <a:rPr lang="zh-CN" altLang="en-US"/>
                        <a:t>参数</a:t>
                      </a:r>
                      <a:endParaRPr lang="zh-CN" altLang="en-US"/>
                    </a:p>
                  </a:txBody>
                  <a:tcPr anchor="ctr" anchorCtr="0"/>
                </a:tc>
                <a:tc>
                  <a:txBody>
                    <a:bodyPr/>
                    <a:p>
                      <a:pPr algn="ctr">
                        <a:buNone/>
                      </a:pPr>
                      <a:r>
                        <a:rPr lang="zh-CN" altLang="en-US"/>
                        <a:t>说明</a:t>
                      </a:r>
                      <a:endParaRPr lang="zh-CN" altLang="en-US"/>
                    </a:p>
                  </a:txBody>
                  <a:tcPr anchor="ctr" anchorCtr="0"/>
                </a:tc>
              </a:tr>
              <a:tr h="381000">
                <a:tc>
                  <a:txBody>
                    <a:bodyPr/>
                    <a:p>
                      <a:pPr algn="ctr">
                        <a:buNone/>
                      </a:pPr>
                      <a:r>
                        <a:rPr lang="en-US" altLang="zh-CN"/>
                        <a:t>bind</a:t>
                      </a:r>
                      <a:endParaRPr lang="en-US" altLang="zh-CN"/>
                    </a:p>
                  </a:txBody>
                  <a:tcPr anchor="ctr" anchorCtr="0"/>
                </a:tc>
                <a:tc>
                  <a:txBody>
                    <a:bodyPr/>
                    <a:p>
                      <a:pPr>
                        <a:buNone/>
                      </a:pPr>
                      <a:r>
                        <a:rPr lang="en-US" altLang="zh-CN"/>
                        <a:t>0</a:t>
                      </a:r>
                      <a:r>
                        <a:rPr lang="zh-CN" altLang="en-US"/>
                        <a:t>：建立绑定</a:t>
                      </a:r>
                      <a:r>
                        <a:rPr lang="zh-CN" altLang="en-US"/>
                        <a:t>关系</a:t>
                      </a:r>
                      <a:endParaRPr lang="zh-CN" altLang="en-US"/>
                    </a:p>
                    <a:p>
                      <a:pPr>
                        <a:buNone/>
                      </a:pPr>
                      <a:r>
                        <a:rPr lang="en-US" altLang="zh-CN"/>
                        <a:t>1</a:t>
                      </a:r>
                      <a:r>
                        <a:rPr lang="zh-CN" altLang="en-US"/>
                        <a:t>：解除绑定</a:t>
                      </a:r>
                      <a:r>
                        <a:rPr lang="zh-CN" altLang="en-US"/>
                        <a:t>关系</a:t>
                      </a:r>
                      <a:endParaRPr lang="zh-CN" altLang="en-US"/>
                    </a:p>
                  </a:txBody>
                  <a:tcPr anchor="ctr" anchorCtr="0"/>
                </a:tc>
              </a:tr>
              <a:tr h="381000">
                <a:tc>
                  <a:txBody>
                    <a:bodyPr/>
                    <a:p>
                      <a:pPr algn="ctr">
                        <a:buNone/>
                      </a:pPr>
                      <a:r>
                        <a:rPr lang="en-US" altLang="zh-CN" sz="1350">
                          <a:latin typeface="Times New Roman" panose="02020603050405020304" charset="0"/>
                          <a:cs typeface="Times New Roman" panose="02020603050405020304" charset="0"/>
                          <a:sym typeface="+mn-ea"/>
                        </a:rPr>
                        <a:t>dstAddrMode</a:t>
                      </a:r>
                      <a:endParaRPr lang="zh-CN" altLang="en-US"/>
                    </a:p>
                  </a:txBody>
                  <a:tcPr anchor="ctr" anchorCtr="0"/>
                </a:tc>
                <a:tc>
                  <a:txBody>
                    <a:bodyPr/>
                    <a:p>
                      <a:pPr algn="l">
                        <a:buNone/>
                      </a:pPr>
                      <a:r>
                        <a:rPr lang="en-US" altLang="zh-CN" sz="1350">
                          <a:latin typeface="Times New Roman" panose="02020603050405020304" charset="0"/>
                          <a:cs typeface="Times New Roman" panose="02020603050405020304" charset="0"/>
                          <a:sym typeface="+mn-ea"/>
                        </a:rPr>
                        <a:t>0x01</a:t>
                      </a:r>
                      <a:r>
                        <a:rPr lang="zh-CN" altLang="en-US" sz="1350">
                          <a:latin typeface="Times New Roman" panose="02020603050405020304" charset="0"/>
                          <a:cs typeface="Times New Roman" panose="02020603050405020304" charset="0"/>
                          <a:sym typeface="+mn-ea"/>
                        </a:rPr>
                        <a:t>：</a:t>
                      </a:r>
                      <a:r>
                        <a:rPr lang="en-US" altLang="zh-CN" sz="1350">
                          <a:latin typeface="Times New Roman" panose="02020603050405020304" charset="0"/>
                          <a:cs typeface="Times New Roman" panose="02020603050405020304" charset="0"/>
                          <a:sym typeface="+mn-ea"/>
                        </a:rPr>
                        <a:t>dstAddr</a:t>
                      </a:r>
                      <a:r>
                        <a:rPr lang="zh-CN" altLang="en-US" sz="1350">
                          <a:latin typeface="Times New Roman" panose="02020603050405020304" charset="0"/>
                          <a:cs typeface="Times New Roman" panose="02020603050405020304" charset="0"/>
                          <a:sym typeface="+mn-ea"/>
                        </a:rPr>
                        <a:t>为</a:t>
                      </a:r>
                      <a:r>
                        <a:rPr lang="en-US" altLang="zh-CN" sz="1350">
                          <a:latin typeface="Times New Roman" panose="02020603050405020304" charset="0"/>
                          <a:cs typeface="Times New Roman" panose="02020603050405020304" charset="0"/>
                          <a:sym typeface="+mn-ea"/>
                        </a:rPr>
                        <a:t>16</a:t>
                      </a:r>
                      <a:r>
                        <a:rPr lang="zh-CN" altLang="en-US" sz="1350">
                          <a:latin typeface="Times New Roman" panose="02020603050405020304" charset="0"/>
                          <a:cs typeface="Times New Roman" panose="02020603050405020304" charset="0"/>
                          <a:sym typeface="+mn-ea"/>
                        </a:rPr>
                        <a:t>为组地址，</a:t>
                      </a:r>
                      <a:r>
                        <a:rPr lang="en-US" altLang="zh-CN" sz="1350">
                          <a:latin typeface="Times New Roman" panose="02020603050405020304" charset="0"/>
                          <a:cs typeface="Times New Roman" panose="02020603050405020304" charset="0"/>
                          <a:sym typeface="+mn-ea"/>
                        </a:rPr>
                        <a:t>dstEP</a:t>
                      </a:r>
                      <a:r>
                        <a:rPr lang="zh-CN" altLang="en-US" sz="1350">
                          <a:latin typeface="Times New Roman" panose="02020603050405020304" charset="0"/>
                          <a:cs typeface="Times New Roman" panose="02020603050405020304" charset="0"/>
                          <a:sym typeface="+mn-ea"/>
                        </a:rPr>
                        <a:t>不存在</a:t>
                      </a:r>
                      <a:endParaRPr lang="zh-CN" altLang="en-US" sz="1350">
                        <a:latin typeface="Times New Roman" panose="02020603050405020304" charset="0"/>
                        <a:cs typeface="Times New Roman" panose="02020603050405020304" charset="0"/>
                        <a:sym typeface="+mn-ea"/>
                      </a:endParaRPr>
                    </a:p>
                    <a:p>
                      <a:pPr algn="l">
                        <a:buNone/>
                      </a:pPr>
                      <a:r>
                        <a:rPr lang="en-US" altLang="zh-CN" sz="1350">
                          <a:latin typeface="Times New Roman" panose="02020603050405020304" charset="0"/>
                          <a:cs typeface="Times New Roman" panose="02020603050405020304" charset="0"/>
                          <a:sym typeface="+mn-ea"/>
                        </a:rPr>
                        <a:t>0x03</a:t>
                      </a:r>
                      <a:r>
                        <a:rPr lang="zh-CN" altLang="en-US" sz="1350">
                          <a:latin typeface="Times New Roman" panose="02020603050405020304" charset="0"/>
                          <a:cs typeface="Times New Roman" panose="02020603050405020304" charset="0"/>
                          <a:sym typeface="+mn-ea"/>
                        </a:rPr>
                        <a:t>：</a:t>
                      </a:r>
                      <a:r>
                        <a:rPr lang="en-US" altLang="zh-CN" sz="1350">
                          <a:latin typeface="Times New Roman" panose="02020603050405020304" charset="0"/>
                          <a:cs typeface="Times New Roman" panose="02020603050405020304" charset="0"/>
                          <a:sym typeface="+mn-ea"/>
                        </a:rPr>
                        <a:t>dstAddr</a:t>
                      </a:r>
                      <a:r>
                        <a:rPr lang="zh-CN" altLang="en-US" sz="1350">
                          <a:latin typeface="Times New Roman" panose="02020603050405020304" charset="0"/>
                          <a:cs typeface="Times New Roman" panose="02020603050405020304" charset="0"/>
                          <a:sym typeface="+mn-ea"/>
                        </a:rPr>
                        <a:t>为</a:t>
                      </a:r>
                      <a:r>
                        <a:rPr lang="en-US" altLang="zh-CN" sz="1350">
                          <a:latin typeface="Times New Roman" panose="02020603050405020304" charset="0"/>
                          <a:cs typeface="Times New Roman" panose="02020603050405020304" charset="0"/>
                          <a:sym typeface="+mn-ea"/>
                        </a:rPr>
                        <a:t>64</a:t>
                      </a:r>
                      <a:r>
                        <a:rPr lang="zh-CN" altLang="en-US" sz="1350">
                          <a:latin typeface="Times New Roman" panose="02020603050405020304" charset="0"/>
                          <a:cs typeface="Times New Roman" panose="02020603050405020304" charset="0"/>
                          <a:sym typeface="+mn-ea"/>
                        </a:rPr>
                        <a:t>位</a:t>
                      </a:r>
                      <a:r>
                        <a:rPr lang="en-US" altLang="zh-CN" sz="1350">
                          <a:latin typeface="Times New Roman" panose="02020603050405020304" charset="0"/>
                          <a:cs typeface="Times New Roman" panose="02020603050405020304" charset="0"/>
                          <a:sym typeface="+mn-ea"/>
                        </a:rPr>
                        <a:t>IEEE</a:t>
                      </a:r>
                      <a:r>
                        <a:rPr lang="zh-CN" altLang="en-US" sz="1350">
                          <a:latin typeface="Times New Roman" panose="02020603050405020304" charset="0"/>
                          <a:cs typeface="Times New Roman" panose="02020603050405020304" charset="0"/>
                          <a:sym typeface="+mn-ea"/>
                        </a:rPr>
                        <a:t>地址，</a:t>
                      </a:r>
                      <a:r>
                        <a:rPr lang="en-US" altLang="zh-CN" sz="1350">
                          <a:latin typeface="Times New Roman" panose="02020603050405020304" charset="0"/>
                          <a:cs typeface="Times New Roman" panose="02020603050405020304" charset="0"/>
                          <a:sym typeface="+mn-ea"/>
                        </a:rPr>
                        <a:t>dstEP</a:t>
                      </a:r>
                      <a:r>
                        <a:rPr lang="zh-CN" altLang="en-US" sz="1350">
                          <a:latin typeface="Times New Roman" panose="02020603050405020304" charset="0"/>
                          <a:cs typeface="Times New Roman" panose="02020603050405020304" charset="0"/>
                          <a:sym typeface="+mn-ea"/>
                        </a:rPr>
                        <a:t>存在</a:t>
                      </a:r>
                      <a:endParaRPr lang="zh-CN" altLang="en-US" sz="1350">
                        <a:latin typeface="Times New Roman" panose="02020603050405020304" charset="0"/>
                        <a:cs typeface="Times New Roman" panose="02020603050405020304" charset="0"/>
                        <a:sym typeface="+mn-ea"/>
                      </a:endParaRPr>
                    </a:p>
                  </a:txBody>
                  <a:tcPr anchor="ctr" anchorCtr="0"/>
                </a:tc>
              </a:tr>
            </a:tbl>
          </a:graphicData>
        </a:graphic>
      </p:graphicFrame>
      <p:sp>
        <p:nvSpPr>
          <p:cNvPr id="5" name="文本框 4"/>
          <p:cNvSpPr txBox="1"/>
          <p:nvPr/>
        </p:nvSpPr>
        <p:spPr>
          <a:xfrm>
            <a:off x="215900" y="3797935"/>
            <a:ext cx="8592185" cy="975995"/>
          </a:xfrm>
          <a:prstGeom prst="rect">
            <a:avLst/>
          </a:prstGeom>
        </p:spPr>
        <p:txBody>
          <a:bodyPr wrap="square">
            <a:spAutoFit/>
          </a:bodyPr>
          <a:p>
            <a:pPr>
              <a:lnSpc>
                <a:spcPct val="120000"/>
              </a:lnSpc>
            </a:pPr>
            <a:r>
              <a:rPr lang="en-US" altLang="zh-CN" sz="1600">
                <a:solidFill>
                  <a:srgbClr val="000000"/>
                </a:solidFill>
                <a:latin typeface="Times New Roman" panose="02020603050405020304" charset="0"/>
                <a:ea typeface="TimesNewRomanPSMT-Identity-H"/>
                <a:cs typeface="Times New Roman" panose="02020603050405020304" charset="0"/>
              </a:rPr>
              <a:t>APSME-BIND.request { SrcAddr, SrcEndpoint, ClusterId, DstAddrMode,DstAddr,DstEndpoint }</a:t>
            </a:r>
            <a:endParaRPr lang="en-US" altLang="zh-CN" sz="1600">
              <a:solidFill>
                <a:srgbClr val="000000"/>
              </a:solidFill>
              <a:latin typeface="Times New Roman" panose="02020603050405020304" charset="0"/>
              <a:ea typeface="TimesNewRomanPSMT-Identity-H"/>
              <a:cs typeface="Times New Roman" panose="02020603050405020304" charset="0"/>
            </a:endParaRPr>
          </a:p>
          <a:p>
            <a:pPr>
              <a:lnSpc>
                <a:spcPct val="120000"/>
              </a:lnSpc>
            </a:pPr>
            <a:r>
              <a:rPr lang="en-US" altLang="zh-CN" sz="1600">
                <a:solidFill>
                  <a:srgbClr val="000000"/>
                </a:solidFill>
                <a:latin typeface="Times New Roman" panose="02020603050405020304" charset="0"/>
                <a:ea typeface="TimesNewRomanPSMT-Identity-H"/>
                <a:cs typeface="Times New Roman" panose="02020603050405020304" charset="0"/>
                <a:sym typeface="+mn-ea"/>
              </a:rPr>
              <a:t>APSME-UNBIND.request { SrcAddr, SrcEndpoint, ClusterId, DstAddrMode,DstAddr,DstEndpoint }</a:t>
            </a:r>
            <a:endParaRPr lang="en-US" altLang="zh-CN" sz="1600">
              <a:solidFill>
                <a:srgbClr val="000000"/>
              </a:solidFill>
              <a:latin typeface="Times New Roman" panose="02020603050405020304" charset="0"/>
              <a:ea typeface="TimesNewRomanPSMT-Identity-H"/>
              <a:cs typeface="Times New Roman" panose="02020603050405020304" charset="0"/>
            </a:endParaRPr>
          </a:p>
          <a:p>
            <a:pPr>
              <a:lnSpc>
                <a:spcPct val="120000"/>
              </a:lnSpc>
            </a:pPr>
            <a:endParaRPr lang="en-US" altLang="zh-CN" sz="1600">
              <a:solidFill>
                <a:srgbClr val="000000"/>
              </a:solidFill>
              <a:latin typeface="Times New Roman" panose="02020603050405020304" charset="0"/>
              <a:ea typeface="TimesNewRomanPSMT-Identity-H"/>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APSME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74370"/>
            <a:ext cx="5265420" cy="368300"/>
          </a:xfrm>
          <a:prstGeom prst="rect">
            <a:avLst/>
          </a:prstGeom>
          <a:noFill/>
        </p:spPr>
        <p:txBody>
          <a:bodyPr wrap="square" rtlCol="0">
            <a:spAutoFit/>
          </a:bodyPr>
          <a:p>
            <a:r>
              <a:rPr lang="en-US" altLang="zh-CN"/>
              <a:t>APSME</a:t>
            </a:r>
            <a:r>
              <a:rPr lang="zh-CN" altLang="en-US"/>
              <a:t>服务：绑定管理、</a:t>
            </a:r>
            <a:r>
              <a:rPr lang="en-US" altLang="zh-CN"/>
              <a:t>AIB</a:t>
            </a:r>
            <a:r>
              <a:rPr lang="zh-CN" altLang="en-US"/>
              <a:t>管理、组管理</a:t>
            </a:r>
            <a:endParaRPr lang="zh-CN" altLang="en-US"/>
          </a:p>
        </p:txBody>
      </p:sp>
      <p:sp>
        <p:nvSpPr>
          <p:cNvPr id="3" name="文本框 2"/>
          <p:cNvSpPr txBox="1"/>
          <p:nvPr/>
        </p:nvSpPr>
        <p:spPr>
          <a:xfrm>
            <a:off x="0" y="1129665"/>
            <a:ext cx="5240655" cy="2938145"/>
          </a:xfrm>
          <a:prstGeom prst="rect">
            <a:avLst/>
          </a:prstGeom>
          <a:noFill/>
        </p:spPr>
        <p:txBody>
          <a:bodyPr wrap="square" rtlCol="0">
            <a:noAutofit/>
          </a:bodyPr>
          <a:p>
            <a:r>
              <a:rPr lang="en-US" altLang="zh-CN"/>
              <a:t>1</a:t>
            </a:r>
            <a:r>
              <a:rPr lang="zh-CN" altLang="en-US"/>
              <a:t>、</a:t>
            </a:r>
            <a:r>
              <a:rPr lang="en-US" altLang="zh-CN"/>
              <a:t>AIB</a:t>
            </a:r>
            <a:r>
              <a:rPr lang="zh-CN" altLang="en-US"/>
              <a:t>管理</a:t>
            </a:r>
            <a:endParaRPr lang="zh-CN" altLang="en-US"/>
          </a:p>
          <a:p>
            <a:pPr>
              <a:lnSpc>
                <a:spcPct val="120000"/>
              </a:lnSpc>
            </a:pPr>
            <a:r>
              <a:rPr lang="en-US" altLang="zh-CN">
                <a:latin typeface="Times New Roman" panose="02020603050405020304" charset="0"/>
                <a:cs typeface="Times New Roman" panose="02020603050405020304" charset="0"/>
              </a:rPr>
              <a:t>void zb_apsme_get_request(zb_uint8_t param)</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void zb_apsme_set_request(zb_uint8_t param)</a:t>
            </a:r>
            <a:endParaRPr lang="en-US" altLang="zh-CN">
              <a:latin typeface="Times New Roman" panose="02020603050405020304" charset="0"/>
              <a:cs typeface="Times New Roman" panose="02020603050405020304" charset="0"/>
            </a:endParaRPr>
          </a:p>
        </p:txBody>
      </p:sp>
      <p:pic>
        <p:nvPicPr>
          <p:cNvPr id="5" name="图片 4"/>
          <p:cNvPicPr>
            <a:picLocks noChangeAspect="1"/>
          </p:cNvPicPr>
          <p:nvPr/>
        </p:nvPicPr>
        <p:blipFill>
          <a:blip r:embed="rId1"/>
          <a:stretch>
            <a:fillRect/>
          </a:stretch>
        </p:blipFill>
        <p:spPr>
          <a:xfrm>
            <a:off x="111125" y="2131695"/>
            <a:ext cx="3848100" cy="2647950"/>
          </a:xfrm>
          <a:prstGeom prst="rect">
            <a:avLst/>
          </a:prstGeom>
        </p:spPr>
      </p:pic>
      <p:pic>
        <p:nvPicPr>
          <p:cNvPr id="6" name="图片 5"/>
          <p:cNvPicPr>
            <a:picLocks noChangeAspect="1"/>
          </p:cNvPicPr>
          <p:nvPr/>
        </p:nvPicPr>
        <p:blipFill>
          <a:blip r:embed="rId2"/>
          <a:stretch>
            <a:fillRect/>
          </a:stretch>
        </p:blipFill>
        <p:spPr>
          <a:xfrm>
            <a:off x="4409440" y="2131695"/>
            <a:ext cx="3803650" cy="2646045"/>
          </a:xfrm>
          <a:prstGeom prst="rect">
            <a:avLst/>
          </a:prstGeom>
        </p:spPr>
      </p:pic>
      <p:sp>
        <p:nvSpPr>
          <p:cNvPr id="7" name="文本框 6"/>
          <p:cNvSpPr txBox="1"/>
          <p:nvPr/>
        </p:nvSpPr>
        <p:spPr>
          <a:xfrm>
            <a:off x="4409440" y="1363345"/>
            <a:ext cx="5013325" cy="768350"/>
          </a:xfrm>
          <a:prstGeom prst="rect">
            <a:avLst/>
          </a:prstGeom>
          <a:noFill/>
        </p:spPr>
        <p:txBody>
          <a:bodyPr wrap="square" rtlCol="0">
            <a:spAutoFit/>
          </a:bodyPr>
          <a:p>
            <a:r>
              <a:rPr lang="en-US" altLang="zh-CN" sz="1400">
                <a:latin typeface="Times New Roman" panose="02020603050405020304" charset="0"/>
                <a:cs typeface="Times New Roman" panose="02020603050405020304" charset="0"/>
              </a:rPr>
              <a:t>APSME-GET.request {AIBAttribute</a:t>
            </a:r>
            <a:r>
              <a:rPr lang="en-US" altLang="zh-CN" sz="1600"/>
              <a:t>}</a:t>
            </a:r>
            <a:endParaRPr lang="en-US" altLang="zh-CN" sz="1600"/>
          </a:p>
          <a:p>
            <a:r>
              <a:rPr lang="en-US" altLang="zh-CN" sz="1400">
                <a:latin typeface="Times New Roman" panose="02020603050405020304" charset="0"/>
                <a:cs typeface="Times New Roman" panose="02020603050405020304" charset="0"/>
              </a:rPr>
              <a:t>APSME-SET.request {AIBAttribute,AIBAttributeLength,AIBAttributeValue}</a:t>
            </a:r>
            <a:endParaRPr lang="en-US" altLang="zh-CN" sz="140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APSME</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74370"/>
            <a:ext cx="5265420" cy="368300"/>
          </a:xfrm>
          <a:prstGeom prst="rect">
            <a:avLst/>
          </a:prstGeom>
          <a:noFill/>
        </p:spPr>
        <p:txBody>
          <a:bodyPr wrap="square" rtlCol="0">
            <a:spAutoFit/>
          </a:bodyPr>
          <a:p>
            <a:r>
              <a:rPr lang="en-US" altLang="zh-CN"/>
              <a:t>APSME</a:t>
            </a:r>
            <a:r>
              <a:rPr lang="zh-CN" altLang="en-US"/>
              <a:t>服务：绑定管理、</a:t>
            </a:r>
            <a:r>
              <a:rPr lang="en-US" altLang="zh-CN"/>
              <a:t>AIB</a:t>
            </a:r>
            <a:r>
              <a:rPr lang="zh-CN" altLang="en-US"/>
              <a:t>管理、组管理</a:t>
            </a:r>
            <a:endParaRPr lang="zh-CN" altLang="en-US"/>
          </a:p>
        </p:txBody>
      </p:sp>
      <p:sp>
        <p:nvSpPr>
          <p:cNvPr id="3" name="文本框 2"/>
          <p:cNvSpPr txBox="1"/>
          <p:nvPr/>
        </p:nvSpPr>
        <p:spPr>
          <a:xfrm>
            <a:off x="215900" y="1129665"/>
            <a:ext cx="8728075" cy="1138555"/>
          </a:xfrm>
          <a:prstGeom prst="rect">
            <a:avLst/>
          </a:prstGeom>
          <a:noFill/>
        </p:spPr>
        <p:txBody>
          <a:bodyPr wrap="square" rtlCol="0">
            <a:noAutofit/>
          </a:bodyPr>
          <a:p>
            <a:r>
              <a:rPr lang="en-US" altLang="zh-CN"/>
              <a:t>1</a:t>
            </a:r>
            <a:r>
              <a:rPr lang="zh-CN" altLang="en-US"/>
              <a:t>、组管理（</a:t>
            </a:r>
            <a:r>
              <a:rPr lang="en-US" altLang="zh-CN"/>
              <a:t>Cluster ID</a:t>
            </a:r>
            <a:r>
              <a:rPr lang="zh-CN" altLang="en-US"/>
              <a:t>：</a:t>
            </a:r>
            <a:r>
              <a:rPr lang="en-US" altLang="zh-CN"/>
              <a:t>0x0004</a:t>
            </a:r>
            <a:r>
              <a:rPr lang="zh-CN" altLang="en-US"/>
              <a:t>）</a:t>
            </a:r>
            <a:endParaRPr lang="zh-CN" altLang="en-US"/>
          </a:p>
          <a:p>
            <a:pPr>
              <a:lnSpc>
                <a:spcPct val="120000"/>
              </a:lnSpc>
            </a:pPr>
            <a:r>
              <a:rPr lang="zh-CN" altLang="en-US">
                <a:latin typeface="Times New Roman" panose="02020603050405020304" charset="0"/>
                <a:cs typeface="Times New Roman" panose="02020603050405020304" charset="0"/>
              </a:rPr>
              <a:t>添加、移除、查看</a:t>
            </a:r>
            <a:r>
              <a:rPr lang="zh-CN" altLang="en-US">
                <a:latin typeface="Times New Roman" panose="02020603050405020304" charset="0"/>
                <a:cs typeface="Times New Roman" panose="02020603050405020304" charset="0"/>
              </a:rPr>
              <a:t>等</a:t>
            </a:r>
            <a:endParaRPr lang="zh-CN" altLang="en-US">
              <a:latin typeface="Times New Roman" panose="02020603050405020304" charset="0"/>
              <a:cs typeface="Times New Roman" panose="02020603050405020304" charset="0"/>
            </a:endParaRPr>
          </a:p>
        </p:txBody>
      </p:sp>
      <p:pic>
        <p:nvPicPr>
          <p:cNvPr id="10" name="图片 9"/>
          <p:cNvPicPr>
            <a:picLocks noChangeAspect="1"/>
          </p:cNvPicPr>
          <p:nvPr/>
        </p:nvPicPr>
        <p:blipFill>
          <a:blip r:embed="rId1"/>
          <a:stretch>
            <a:fillRect/>
          </a:stretch>
        </p:blipFill>
        <p:spPr>
          <a:xfrm>
            <a:off x="70485" y="1910080"/>
            <a:ext cx="4000500" cy="2019300"/>
          </a:xfrm>
          <a:prstGeom prst="rect">
            <a:avLst/>
          </a:prstGeom>
        </p:spPr>
      </p:pic>
      <p:sp>
        <p:nvSpPr>
          <p:cNvPr id="5" name="文本框 4"/>
          <p:cNvSpPr txBox="1"/>
          <p:nvPr/>
        </p:nvSpPr>
        <p:spPr>
          <a:xfrm>
            <a:off x="4000500" y="1910080"/>
            <a:ext cx="5080000" cy="306705"/>
          </a:xfrm>
          <a:prstGeom prst="rect">
            <a:avLst/>
          </a:prstGeom>
        </p:spPr>
        <p:txBody>
          <a:bodyPr>
            <a:spAutoFit/>
          </a:bodyPr>
          <a:p>
            <a:r>
              <a:rPr lang="en-US" altLang="zh-CN" sz="1400">
                <a:solidFill>
                  <a:srgbClr val="000000"/>
                </a:solidFill>
                <a:latin typeface="TimesNewRomanPSMT-Identity-H"/>
                <a:ea typeface="TimesNewRomanPSMT-Identity-H"/>
              </a:rPr>
              <a:t>APSME-ADD-GROUP.request { GroupAddress, Endpoint }</a:t>
            </a:r>
            <a:endParaRPr lang="en-US" altLang="zh-CN" sz="1400">
              <a:solidFill>
                <a:srgbClr val="000000"/>
              </a:solidFill>
              <a:latin typeface="TimesNewRomanPSMT-Identity-H"/>
              <a:ea typeface="TimesNewRomanPSMT-Identity-H"/>
            </a:endParaRPr>
          </a:p>
        </p:txBody>
      </p:sp>
      <p:sp>
        <p:nvSpPr>
          <p:cNvPr id="6" name="文本框 5"/>
          <p:cNvSpPr txBox="1"/>
          <p:nvPr/>
        </p:nvSpPr>
        <p:spPr>
          <a:xfrm>
            <a:off x="4000500" y="2868295"/>
            <a:ext cx="5080000" cy="306705"/>
          </a:xfrm>
          <a:prstGeom prst="rect">
            <a:avLst/>
          </a:prstGeom>
        </p:spPr>
        <p:txBody>
          <a:bodyPr>
            <a:spAutoFit/>
          </a:bodyPr>
          <a:p>
            <a:r>
              <a:rPr lang="en-US" altLang="zh-CN" sz="1400">
                <a:solidFill>
                  <a:srgbClr val="000000"/>
                </a:solidFill>
                <a:latin typeface="TimesNewRomanPSMT-Identity-H"/>
                <a:ea typeface="TimesNewRomanPSMT-Identity-H"/>
              </a:rPr>
              <a:t>APSME-REMOVE-ALL-GROUPS.request {Endpoint}</a:t>
            </a:r>
            <a:endParaRPr lang="en-US" altLang="zh-CN" sz="1400">
              <a:solidFill>
                <a:srgbClr val="000000"/>
              </a:solidFill>
              <a:latin typeface="TimesNewRomanPSMT-Identity-H"/>
              <a:ea typeface="TimesNewRomanPSMT-Identity-H"/>
            </a:endParaRPr>
          </a:p>
        </p:txBody>
      </p:sp>
      <p:sp>
        <p:nvSpPr>
          <p:cNvPr id="7" name="文本框 6"/>
          <p:cNvSpPr txBox="1"/>
          <p:nvPr/>
        </p:nvSpPr>
        <p:spPr>
          <a:xfrm>
            <a:off x="4000500" y="2355215"/>
            <a:ext cx="5529580" cy="306705"/>
          </a:xfrm>
          <a:prstGeom prst="rect">
            <a:avLst/>
          </a:prstGeom>
        </p:spPr>
        <p:txBody>
          <a:bodyPr wrap="square">
            <a:spAutoFit/>
          </a:bodyPr>
          <a:p>
            <a:r>
              <a:rPr lang="en-US" altLang="zh-CN" sz="1400">
                <a:solidFill>
                  <a:srgbClr val="000000"/>
                </a:solidFill>
                <a:latin typeface="TimesNewRomanPSMT-Identity-H"/>
                <a:ea typeface="TimesNewRomanPSMT-Identity-H"/>
              </a:rPr>
              <a:t>APSME-REMOVE-GROUP.request { GroupAddress, Endpoint }</a:t>
            </a:r>
            <a:endParaRPr lang="en-US" altLang="zh-CN" sz="1400">
              <a:solidFill>
                <a:srgbClr val="000000"/>
              </a:solidFill>
              <a:latin typeface="TimesNewRomanPSMT-Identity-H"/>
              <a:ea typeface="TimesNewRomanPSMT-Identity-H"/>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APS</a:t>
            </a:r>
            <a:r>
              <a:rPr lang="zh-CN" altLang="en-US" sz="2400" b="1" spc="-38" dirty="0">
                <a:solidFill>
                  <a:srgbClr val="3D5663"/>
                </a:solidFill>
                <a:latin typeface="Calibri" panose="020F0502020204030204" pitchFamily="34" charset="0"/>
                <a:cs typeface="Calibri" panose="020F0502020204030204" pitchFamily="34" charset="0"/>
              </a:rPr>
              <a:t>帧</a:t>
            </a:r>
            <a:r>
              <a:rPr lang="zh-CN" altLang="en-US" sz="2400" b="1" spc="-38" dirty="0">
                <a:solidFill>
                  <a:srgbClr val="3D5663"/>
                </a:solidFill>
                <a:latin typeface="Calibri" panose="020F0502020204030204" pitchFamily="34" charset="0"/>
                <a:cs typeface="Calibri" panose="020F0502020204030204" pitchFamily="34" charset="0"/>
              </a:rPr>
              <a:t>格式</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179070" y="967105"/>
            <a:ext cx="5269230" cy="1767840"/>
          </a:xfrm>
          <a:prstGeom prst="rect">
            <a:avLst/>
          </a:prstGeom>
          <a:noFill/>
          <a:ln>
            <a:noFill/>
          </a:ln>
        </p:spPr>
      </p:pic>
      <p:pic>
        <p:nvPicPr>
          <p:cNvPr id="3" name="图片 2"/>
          <p:cNvPicPr>
            <a:picLocks noChangeAspect="1"/>
          </p:cNvPicPr>
          <p:nvPr/>
        </p:nvPicPr>
        <p:blipFill>
          <a:blip r:embed="rId2"/>
          <a:stretch>
            <a:fillRect/>
          </a:stretch>
        </p:blipFill>
        <p:spPr>
          <a:xfrm>
            <a:off x="167005" y="3211513"/>
            <a:ext cx="5265420" cy="1312545"/>
          </a:xfrm>
          <a:prstGeom prst="rect">
            <a:avLst/>
          </a:prstGeom>
          <a:noFill/>
          <a:ln>
            <a:noFill/>
          </a:ln>
        </p:spPr>
      </p:pic>
      <p:sp>
        <p:nvSpPr>
          <p:cNvPr id="5" name="文本框 4"/>
          <p:cNvSpPr txBox="1"/>
          <p:nvPr/>
        </p:nvSpPr>
        <p:spPr>
          <a:xfrm>
            <a:off x="215900" y="587375"/>
            <a:ext cx="3048000" cy="368300"/>
          </a:xfrm>
          <a:prstGeom prst="rect">
            <a:avLst/>
          </a:prstGeom>
          <a:noFill/>
        </p:spPr>
        <p:txBody>
          <a:bodyPr wrap="square" rtlCol="0">
            <a:spAutoFit/>
          </a:bodyPr>
          <a:p>
            <a:r>
              <a:rPr lang="zh-CN" altLang="en-US"/>
              <a:t>帧</a:t>
            </a:r>
            <a:r>
              <a:rPr lang="zh-CN" altLang="en-US"/>
              <a:t>格式</a:t>
            </a:r>
            <a:endParaRPr lang="zh-CN" altLang="en-US"/>
          </a:p>
        </p:txBody>
      </p:sp>
      <p:sp>
        <p:nvSpPr>
          <p:cNvPr id="6" name="文本框 5"/>
          <p:cNvSpPr txBox="1"/>
          <p:nvPr/>
        </p:nvSpPr>
        <p:spPr>
          <a:xfrm>
            <a:off x="215900" y="2843530"/>
            <a:ext cx="3048000" cy="368300"/>
          </a:xfrm>
          <a:prstGeom prst="rect">
            <a:avLst/>
          </a:prstGeom>
          <a:noFill/>
        </p:spPr>
        <p:txBody>
          <a:bodyPr wrap="square" rtlCol="0">
            <a:spAutoFit/>
          </a:bodyPr>
          <a:p>
            <a:r>
              <a:rPr lang="zh-CN" altLang="en-US"/>
              <a:t>帧</a:t>
            </a:r>
            <a:r>
              <a:rPr lang="zh-CN" altLang="en-US"/>
              <a:t>控制</a:t>
            </a:r>
            <a:endParaRPr lang="zh-CN" altLang="en-US"/>
          </a:p>
        </p:txBody>
      </p:sp>
      <p:sp>
        <p:nvSpPr>
          <p:cNvPr id="7" name="文本框 6"/>
          <p:cNvSpPr txBox="1"/>
          <p:nvPr/>
        </p:nvSpPr>
        <p:spPr>
          <a:xfrm>
            <a:off x="5555615" y="3059430"/>
            <a:ext cx="3350895" cy="1617345"/>
          </a:xfrm>
          <a:prstGeom prst="rect">
            <a:avLst/>
          </a:prstGeom>
        </p:spPr>
        <p:txBody>
          <a:bodyPr wrap="square">
            <a:spAutoFit/>
          </a:bodyPr>
          <a:p>
            <a:pPr algn="l" defTabSz="266700">
              <a:lnSpc>
                <a:spcPct val="120000"/>
              </a:lnSpc>
              <a:spcAft>
                <a:spcPts val="100"/>
              </a:spcAft>
            </a:pPr>
            <a:r>
              <a:rPr lang="zh-CN" altLang="en-US" sz="1600">
                <a:latin typeface="Calibri" panose="020F0502020204030204"/>
                <a:ea typeface="宋体" panose="02010600030101010101" pitchFamily="2" charset="-122"/>
              </a:rPr>
              <a:t>帧类型 </a:t>
            </a:r>
            <a:r>
              <a:rPr lang="en-US" altLang="zh-CN" sz="1600">
                <a:latin typeface="Calibri" panose="020F0502020204030204"/>
                <a:ea typeface="宋体" panose="02010600030101010101" pitchFamily="2" charset="-122"/>
              </a:rPr>
              <a:t>            </a:t>
            </a:r>
            <a:r>
              <a:rPr lang="zh-CN" altLang="en-US" sz="1600">
                <a:latin typeface="Calibri" panose="020F0502020204030204"/>
                <a:ea typeface="宋体" panose="02010600030101010101" pitchFamily="2" charset="-122"/>
              </a:rPr>
              <a:t>传送模式</a:t>
            </a:r>
            <a:endParaRPr lang="zh-CN" altLang="en-US" sz="1600">
              <a:latin typeface="Calibri" panose="020F0502020204030204"/>
              <a:ea typeface="宋体" panose="02010600030101010101" pitchFamily="2" charset="-122"/>
            </a:endParaRPr>
          </a:p>
          <a:p>
            <a:pPr algn="l" defTabSz="266700">
              <a:lnSpc>
                <a:spcPct val="120000"/>
              </a:lnSpc>
              <a:spcAft>
                <a:spcPts val="100"/>
              </a:spcAft>
            </a:pPr>
            <a:r>
              <a:rPr lang="en-US" altLang="zh-CN" sz="1600">
                <a:latin typeface="Calibri" panose="020F0502020204030204"/>
                <a:ea typeface="Calibri" panose="020F0502020204030204"/>
              </a:rPr>
              <a:t>00</a:t>
            </a:r>
            <a:r>
              <a:rPr lang="zh-CN" altLang="en-US" sz="1600">
                <a:latin typeface="Calibri" panose="020F0502020204030204"/>
                <a:ea typeface="宋体" panose="02010600030101010101" pitchFamily="2" charset="-122"/>
              </a:rPr>
              <a:t>：数据 </a:t>
            </a: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00</a:t>
            </a:r>
            <a:r>
              <a:rPr lang="zh-CN" altLang="en-US" sz="1600">
                <a:latin typeface="Calibri" panose="020F0502020204030204"/>
                <a:ea typeface="宋体" panose="02010600030101010101" pitchFamily="2" charset="-122"/>
              </a:rPr>
              <a:t>：单播</a:t>
            </a:r>
            <a:endParaRPr lang="zh-CN" altLang="en-US" sz="1600">
              <a:latin typeface="Calibri" panose="020F0502020204030204"/>
              <a:ea typeface="宋体" panose="02010600030101010101" pitchFamily="2" charset="-122"/>
            </a:endParaRPr>
          </a:p>
          <a:p>
            <a:pPr algn="l" defTabSz="266700">
              <a:lnSpc>
                <a:spcPct val="120000"/>
              </a:lnSpc>
              <a:spcAft>
                <a:spcPts val="100"/>
              </a:spcAft>
              <a:tabLst>
                <a:tab pos="1298575" algn="l"/>
              </a:tabLst>
            </a:pPr>
            <a:r>
              <a:rPr lang="en-US" altLang="zh-CN" sz="1600">
                <a:latin typeface="Calibri" panose="020F0502020204030204"/>
                <a:ea typeface="Calibri" panose="020F0502020204030204"/>
              </a:rPr>
              <a:t>01</a:t>
            </a:r>
            <a:r>
              <a:rPr lang="zh-CN" altLang="en-US" sz="1600">
                <a:latin typeface="Calibri" panose="020F0502020204030204"/>
                <a:ea typeface="宋体" panose="02010600030101010101" pitchFamily="2" charset="-122"/>
              </a:rPr>
              <a:t>：命令 </a:t>
            </a: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01</a:t>
            </a:r>
            <a:r>
              <a:rPr lang="zh-CN" altLang="en-US" sz="1600">
                <a:latin typeface="Calibri" panose="020F0502020204030204"/>
                <a:ea typeface="宋体" panose="02010600030101010101" pitchFamily="2" charset="-122"/>
              </a:rPr>
              <a:t>：间接寻址</a:t>
            </a:r>
            <a:endParaRPr lang="zh-CN" altLang="en-US" sz="1600">
              <a:latin typeface="Calibri" panose="020F0502020204030204"/>
              <a:ea typeface="宋体" panose="02010600030101010101" pitchFamily="2" charset="-122"/>
            </a:endParaRPr>
          </a:p>
          <a:p>
            <a:pPr algn="l" defTabSz="266700">
              <a:lnSpc>
                <a:spcPct val="120000"/>
              </a:lnSpc>
              <a:spcAft>
                <a:spcPts val="100"/>
              </a:spcAft>
            </a:pPr>
            <a:r>
              <a:rPr lang="en-US" altLang="zh-CN" sz="1600">
                <a:latin typeface="Calibri" panose="020F0502020204030204"/>
                <a:ea typeface="Calibri" panose="020F0502020204030204"/>
              </a:rPr>
              <a:t>10</a:t>
            </a:r>
            <a:r>
              <a:rPr lang="zh-CN" altLang="en-US" sz="1600">
                <a:latin typeface="Calibri" panose="020F0502020204030204"/>
                <a:ea typeface="宋体" panose="02010600030101010101" pitchFamily="2" charset="-122"/>
              </a:rPr>
              <a:t>：确认 </a:t>
            </a: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10</a:t>
            </a:r>
            <a:r>
              <a:rPr lang="zh-CN" altLang="en-US" sz="1600">
                <a:latin typeface="Calibri" panose="020F0502020204030204"/>
                <a:ea typeface="宋体" panose="02010600030101010101" pitchFamily="2" charset="-122"/>
              </a:rPr>
              <a:t>：广播</a:t>
            </a:r>
            <a:endParaRPr lang="zh-CN" altLang="en-US" sz="1600">
              <a:latin typeface="Calibri" panose="020F0502020204030204"/>
              <a:ea typeface="宋体" panose="02010600030101010101" pitchFamily="2" charset="-122"/>
            </a:endParaRPr>
          </a:p>
          <a:p>
            <a:pPr algn="l" defTabSz="266700">
              <a:lnSpc>
                <a:spcPct val="120000"/>
              </a:lnSpc>
              <a:spcAft>
                <a:spcPts val="100"/>
              </a:spcAft>
            </a:pPr>
            <a:r>
              <a:rPr lang="en-US" altLang="zh-CN" sz="1600">
                <a:latin typeface="Calibri" panose="020F0502020204030204"/>
                <a:ea typeface="Calibri" panose="020F0502020204030204"/>
              </a:rPr>
              <a:t>11</a:t>
            </a:r>
            <a:r>
              <a:rPr lang="zh-CN" altLang="en-US" sz="1600">
                <a:latin typeface="Calibri" panose="020F0502020204030204"/>
                <a:ea typeface="宋体" panose="02010600030101010101" pitchFamily="2" charset="-122"/>
              </a:rPr>
              <a:t>：预留</a:t>
            </a:r>
            <a:r>
              <a:rPr lang="en-US" altLang="zh-CN" sz="1600">
                <a:latin typeface="Calibri" panose="020F0502020204030204"/>
                <a:ea typeface="宋体" panose="02010600030101010101" pitchFamily="2" charset="-122"/>
              </a:rPr>
              <a:t>           </a:t>
            </a:r>
            <a:r>
              <a:rPr lang="en-US" altLang="zh-CN" sz="1600">
                <a:latin typeface="Calibri" panose="020F0502020204030204"/>
                <a:ea typeface="Calibri" panose="020F0502020204030204"/>
              </a:rPr>
              <a:t>11</a:t>
            </a:r>
            <a:r>
              <a:rPr lang="zh-CN" altLang="en-US" sz="1600">
                <a:latin typeface="Calibri" panose="020F0502020204030204"/>
                <a:ea typeface="宋体" panose="02010600030101010101" pitchFamily="2" charset="-122"/>
              </a:rPr>
              <a:t>：组播</a:t>
            </a:r>
            <a:endParaRPr lang="zh-CN" altLang="en-US" sz="1600">
              <a:latin typeface="Calibri" panose="020F0502020204030204"/>
              <a:ea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02</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ZCL</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Zigbee Cluster Library</a:t>
              </a:r>
              <a:endParaRPr lang="en-US" altLang="zh-CN"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02</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3510" y="906145"/>
            <a:ext cx="5080635" cy="368300"/>
          </a:xfrm>
          <a:prstGeom prst="rect">
            <a:avLst/>
          </a:prstGeom>
          <a:noFill/>
        </p:spPr>
        <p:txBody>
          <a:bodyPr wrap="square" rtlCol="0">
            <a:spAutoFit/>
          </a:bodyPr>
          <a:p>
            <a:r>
              <a:rPr lang="en-US" altLang="zh-CN"/>
              <a:t>ZCL</a:t>
            </a:r>
            <a:r>
              <a:rPr lang="zh-CN" altLang="en-US"/>
              <a:t>：定义设备之间通信的标准化命令和</a:t>
            </a:r>
            <a:r>
              <a:rPr lang="zh-CN" altLang="en-US"/>
              <a:t>属性</a:t>
            </a:r>
            <a:endParaRPr lang="zh-CN" altLang="en-US"/>
          </a:p>
        </p:txBody>
      </p:sp>
      <p:pic>
        <p:nvPicPr>
          <p:cNvPr id="3" name="图片 2"/>
          <p:cNvPicPr>
            <a:picLocks noChangeAspect="1"/>
          </p:cNvPicPr>
          <p:nvPr/>
        </p:nvPicPr>
        <p:blipFill>
          <a:blip r:embed="rId1"/>
          <a:stretch>
            <a:fillRect/>
          </a:stretch>
        </p:blipFill>
        <p:spPr>
          <a:xfrm>
            <a:off x="215900" y="2118360"/>
            <a:ext cx="3810000" cy="1803400"/>
          </a:xfrm>
          <a:prstGeom prst="rect">
            <a:avLst/>
          </a:prstGeom>
        </p:spPr>
      </p:pic>
      <p:sp>
        <p:nvSpPr>
          <p:cNvPr id="5" name="文本框 4"/>
          <p:cNvSpPr txBox="1"/>
          <p:nvPr/>
        </p:nvSpPr>
        <p:spPr>
          <a:xfrm>
            <a:off x="215900" y="1621790"/>
            <a:ext cx="3048000" cy="368300"/>
          </a:xfrm>
          <a:prstGeom prst="rect">
            <a:avLst/>
          </a:prstGeom>
          <a:noFill/>
        </p:spPr>
        <p:txBody>
          <a:bodyPr wrap="square" rtlCol="0">
            <a:spAutoFit/>
          </a:bodyPr>
          <a:p>
            <a:r>
              <a:rPr lang="zh-CN" altLang="en-US"/>
              <a:t>通信</a:t>
            </a:r>
            <a:r>
              <a:rPr lang="zh-CN" altLang="en-US"/>
              <a:t>模型</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666750"/>
            <a:ext cx="3048000" cy="368300"/>
          </a:xfrm>
          <a:prstGeom prst="rect">
            <a:avLst/>
          </a:prstGeom>
          <a:noFill/>
        </p:spPr>
        <p:txBody>
          <a:bodyPr wrap="square" rtlCol="0">
            <a:spAutoFit/>
          </a:bodyPr>
          <a:p>
            <a:r>
              <a:rPr lang="en-US" altLang="zh-CN"/>
              <a:t>ZCL</a:t>
            </a:r>
            <a:r>
              <a:rPr lang="zh-CN" altLang="en-US"/>
              <a:t>帧</a:t>
            </a:r>
            <a:r>
              <a:rPr lang="zh-CN" altLang="en-US"/>
              <a:t>格式</a:t>
            </a:r>
            <a:endParaRPr lang="zh-CN" altLang="en-US"/>
          </a:p>
        </p:txBody>
      </p:sp>
      <p:pic>
        <p:nvPicPr>
          <p:cNvPr id="5" name="图片 4"/>
          <p:cNvPicPr>
            <a:picLocks noChangeAspect="1"/>
          </p:cNvPicPr>
          <p:nvPr/>
        </p:nvPicPr>
        <p:blipFill>
          <a:blip r:embed="rId1"/>
          <a:stretch>
            <a:fillRect/>
          </a:stretch>
        </p:blipFill>
        <p:spPr>
          <a:xfrm>
            <a:off x="215900" y="1114425"/>
            <a:ext cx="5638800" cy="1085850"/>
          </a:xfrm>
          <a:prstGeom prst="rect">
            <a:avLst/>
          </a:prstGeom>
        </p:spPr>
      </p:pic>
      <p:sp>
        <p:nvSpPr>
          <p:cNvPr id="6" name="文本框 5"/>
          <p:cNvSpPr txBox="1"/>
          <p:nvPr/>
        </p:nvSpPr>
        <p:spPr>
          <a:xfrm>
            <a:off x="215900" y="2390140"/>
            <a:ext cx="3048000" cy="368300"/>
          </a:xfrm>
          <a:prstGeom prst="rect">
            <a:avLst/>
          </a:prstGeom>
          <a:noFill/>
        </p:spPr>
        <p:txBody>
          <a:bodyPr wrap="square" rtlCol="0">
            <a:spAutoFit/>
          </a:bodyPr>
          <a:p>
            <a:r>
              <a:rPr lang="zh-CN" altLang="en-US"/>
              <a:t>帧</a:t>
            </a:r>
            <a:r>
              <a:rPr lang="zh-CN" altLang="en-US"/>
              <a:t>控制</a:t>
            </a:r>
            <a:endParaRPr lang="zh-CN" altLang="en-US"/>
          </a:p>
        </p:txBody>
      </p:sp>
      <p:pic>
        <p:nvPicPr>
          <p:cNvPr id="7" name="图片 6"/>
          <p:cNvPicPr>
            <a:picLocks noChangeAspect="1"/>
          </p:cNvPicPr>
          <p:nvPr/>
        </p:nvPicPr>
        <p:blipFill>
          <a:blip r:embed="rId2"/>
          <a:stretch>
            <a:fillRect/>
          </a:stretch>
        </p:blipFill>
        <p:spPr>
          <a:xfrm>
            <a:off x="215900" y="2727325"/>
            <a:ext cx="5219700" cy="647700"/>
          </a:xfrm>
          <a:prstGeom prst="rect">
            <a:avLst/>
          </a:prstGeom>
        </p:spPr>
      </p:pic>
      <p:sp>
        <p:nvSpPr>
          <p:cNvPr id="8" name="文本框 7"/>
          <p:cNvSpPr txBox="1"/>
          <p:nvPr/>
        </p:nvSpPr>
        <p:spPr>
          <a:xfrm>
            <a:off x="215900" y="3497580"/>
            <a:ext cx="5193030" cy="953135"/>
          </a:xfrm>
          <a:prstGeom prst="rect">
            <a:avLst/>
          </a:prstGeom>
          <a:noFill/>
        </p:spPr>
        <p:txBody>
          <a:bodyPr wrap="square" rtlCol="0">
            <a:spAutoFit/>
          </a:bodyPr>
          <a:p>
            <a:r>
              <a:rPr lang="en-US" altLang="zh-CN" sz="1400"/>
              <a:t>Frame type</a:t>
            </a:r>
            <a:r>
              <a:rPr lang="zh-CN" altLang="en-US" sz="1400"/>
              <a:t>：</a:t>
            </a:r>
            <a:r>
              <a:rPr lang="en-US" altLang="zh-CN" sz="1400"/>
              <a:t>0  </a:t>
            </a:r>
            <a:r>
              <a:rPr lang="zh-CN" altLang="en-US" sz="1400"/>
              <a:t>全局命令，如进行读、写属性等操作</a:t>
            </a:r>
            <a:endParaRPr lang="zh-CN" altLang="en-US" sz="1400"/>
          </a:p>
          <a:p>
            <a:r>
              <a:rPr lang="en-US" altLang="zh-CN" sz="1400"/>
              <a:t>                      1  cluster</a:t>
            </a:r>
            <a:r>
              <a:rPr lang="zh-CN" altLang="en-US" sz="1400"/>
              <a:t>特定命令，如发送</a:t>
            </a:r>
            <a:r>
              <a:rPr lang="en-US" altLang="zh-CN" sz="1400"/>
              <a:t>onoff</a:t>
            </a:r>
            <a:r>
              <a:rPr lang="zh-CN" altLang="en-US" sz="1400"/>
              <a:t>命令等</a:t>
            </a:r>
            <a:endParaRPr lang="zh-CN" altLang="en-US" sz="1400"/>
          </a:p>
          <a:p>
            <a:r>
              <a:rPr lang="en-US" altLang="zh-CN" sz="1400"/>
              <a:t>Direction</a:t>
            </a:r>
            <a:r>
              <a:rPr lang="zh-CN" altLang="en-US" sz="1400"/>
              <a:t>：</a:t>
            </a:r>
            <a:r>
              <a:rPr lang="en-US" altLang="zh-CN" sz="1400"/>
              <a:t>0  </a:t>
            </a:r>
            <a:r>
              <a:rPr lang="zh-CN" altLang="en-US" sz="1400"/>
              <a:t>客户端</a:t>
            </a:r>
            <a:r>
              <a:rPr lang="en-US" altLang="zh-CN" sz="1400"/>
              <a:t>           </a:t>
            </a:r>
            <a:r>
              <a:rPr lang="zh-CN" altLang="en-US" sz="1400"/>
              <a:t>服务端</a:t>
            </a:r>
            <a:endParaRPr lang="zh-CN" altLang="en-US" sz="1400"/>
          </a:p>
          <a:p>
            <a:pPr indent="457200"/>
            <a:r>
              <a:rPr lang="en-US" altLang="zh-CN" sz="1400"/>
              <a:t>         1 </a:t>
            </a:r>
            <a:r>
              <a:rPr lang="zh-CN" altLang="en-US" sz="1400"/>
              <a:t>服务端</a:t>
            </a:r>
            <a:r>
              <a:rPr lang="en-US" altLang="zh-CN" sz="1400"/>
              <a:t>            </a:t>
            </a:r>
            <a:r>
              <a:rPr lang="zh-CN" altLang="en-US" sz="1400"/>
              <a:t>客户端</a:t>
            </a:r>
            <a:endParaRPr lang="zh-CN" altLang="en-US" sz="1400"/>
          </a:p>
        </p:txBody>
      </p:sp>
      <p:cxnSp>
        <p:nvCxnSpPr>
          <p:cNvPr id="9" name="直接箭头连接符 8"/>
          <p:cNvCxnSpPr/>
          <p:nvPr/>
        </p:nvCxnSpPr>
        <p:spPr>
          <a:xfrm>
            <a:off x="1967865" y="4073525"/>
            <a:ext cx="436880" cy="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10" name="直接箭头连接符 9"/>
          <p:cNvCxnSpPr/>
          <p:nvPr/>
        </p:nvCxnSpPr>
        <p:spPr>
          <a:xfrm>
            <a:off x="1967865" y="4300220"/>
            <a:ext cx="436880" cy="0"/>
          </a:xfrm>
          <a:prstGeom prst="straightConnector1">
            <a:avLst/>
          </a:prstGeom>
          <a:ln w="28575" cmpd="sng">
            <a:solidFill>
              <a:schemeClr val="tx1"/>
            </a:solidFill>
            <a:prstDash val="solid"/>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3048000" cy="368300"/>
          </a:xfrm>
          <a:prstGeom prst="rect">
            <a:avLst/>
          </a:prstGeom>
          <a:noFill/>
        </p:spPr>
        <p:txBody>
          <a:bodyPr wrap="square" rtlCol="0">
            <a:spAutoFit/>
          </a:bodyPr>
          <a:p>
            <a:r>
              <a:rPr lang="zh-CN" altLang="en-US"/>
              <a:t>主要</a:t>
            </a:r>
            <a:r>
              <a:rPr lang="zh-CN" altLang="en-US"/>
              <a:t>概念</a:t>
            </a:r>
            <a:endParaRPr lang="zh-CN" altLang="en-US"/>
          </a:p>
        </p:txBody>
      </p:sp>
      <p:sp>
        <p:nvSpPr>
          <p:cNvPr id="3" name="文本框 2"/>
          <p:cNvSpPr txBox="1"/>
          <p:nvPr/>
        </p:nvSpPr>
        <p:spPr>
          <a:xfrm>
            <a:off x="169545" y="920750"/>
            <a:ext cx="3741420" cy="368300"/>
          </a:xfrm>
          <a:prstGeom prst="rect">
            <a:avLst/>
          </a:prstGeom>
          <a:noFill/>
        </p:spPr>
        <p:txBody>
          <a:bodyPr wrap="square" rtlCol="0">
            <a:spAutoFit/>
          </a:bodyPr>
          <a:p>
            <a:r>
              <a:rPr lang="en-US" altLang="zh-CN" sz="1400"/>
              <a:t>1</a:t>
            </a:r>
            <a:r>
              <a:rPr lang="zh-CN" altLang="en-US" sz="1400"/>
              <a:t>、</a:t>
            </a:r>
            <a:r>
              <a:rPr lang="en-US" altLang="zh-CN" sz="1400"/>
              <a:t>Profile Identifier</a:t>
            </a:r>
            <a:r>
              <a:rPr lang="zh-CN" altLang="en-US"/>
              <a:t>：描述应用</a:t>
            </a:r>
            <a:r>
              <a:rPr lang="zh-CN" altLang="en-US"/>
              <a:t>场景</a:t>
            </a:r>
            <a:endParaRPr lang="zh-CN" altLang="en-US"/>
          </a:p>
        </p:txBody>
      </p:sp>
      <p:pic>
        <p:nvPicPr>
          <p:cNvPr id="5" name="图片 4"/>
          <p:cNvPicPr>
            <a:picLocks noChangeAspect="1"/>
          </p:cNvPicPr>
          <p:nvPr/>
        </p:nvPicPr>
        <p:blipFill>
          <a:blip r:embed="rId1"/>
          <a:stretch>
            <a:fillRect/>
          </a:stretch>
        </p:blipFill>
        <p:spPr>
          <a:xfrm>
            <a:off x="169545" y="1266825"/>
            <a:ext cx="4133850" cy="1219200"/>
          </a:xfrm>
          <a:prstGeom prst="rect">
            <a:avLst/>
          </a:prstGeom>
        </p:spPr>
      </p:pic>
      <p:sp>
        <p:nvSpPr>
          <p:cNvPr id="6" name="文本框 5"/>
          <p:cNvSpPr txBox="1"/>
          <p:nvPr/>
        </p:nvSpPr>
        <p:spPr>
          <a:xfrm>
            <a:off x="4631055" y="960120"/>
            <a:ext cx="4142105" cy="306705"/>
          </a:xfrm>
          <a:prstGeom prst="rect">
            <a:avLst/>
          </a:prstGeom>
          <a:noFill/>
        </p:spPr>
        <p:txBody>
          <a:bodyPr wrap="square" rtlCol="0">
            <a:spAutoFit/>
          </a:bodyPr>
          <a:p>
            <a:r>
              <a:rPr lang="en-US" altLang="zh-CN" sz="1400"/>
              <a:t>2</a:t>
            </a:r>
            <a:r>
              <a:rPr lang="zh-CN" altLang="en-US" sz="1400"/>
              <a:t>、</a:t>
            </a:r>
            <a:r>
              <a:rPr lang="en-US" altLang="zh-CN" sz="1400"/>
              <a:t>Device Identifier</a:t>
            </a:r>
            <a:r>
              <a:rPr lang="zh-CN" altLang="en-US" sz="1400"/>
              <a:t>：描述设备类型</a:t>
            </a:r>
            <a:endParaRPr lang="zh-CN" altLang="en-US" sz="1400"/>
          </a:p>
        </p:txBody>
      </p:sp>
      <p:pic>
        <p:nvPicPr>
          <p:cNvPr id="7" name="图片 6"/>
          <p:cNvPicPr>
            <a:picLocks noChangeAspect="1"/>
          </p:cNvPicPr>
          <p:nvPr/>
        </p:nvPicPr>
        <p:blipFill>
          <a:blip r:embed="rId2"/>
          <a:stretch>
            <a:fillRect/>
          </a:stretch>
        </p:blipFill>
        <p:spPr>
          <a:xfrm>
            <a:off x="4631055" y="1289050"/>
            <a:ext cx="4038600" cy="933450"/>
          </a:xfrm>
          <a:prstGeom prst="rect">
            <a:avLst/>
          </a:prstGeom>
        </p:spPr>
      </p:pic>
      <p:sp>
        <p:nvSpPr>
          <p:cNvPr id="8" name="文本框 7"/>
          <p:cNvSpPr txBox="1"/>
          <p:nvPr/>
        </p:nvSpPr>
        <p:spPr>
          <a:xfrm>
            <a:off x="169545" y="2757170"/>
            <a:ext cx="3048000" cy="306705"/>
          </a:xfrm>
          <a:prstGeom prst="rect">
            <a:avLst/>
          </a:prstGeom>
          <a:noFill/>
        </p:spPr>
        <p:txBody>
          <a:bodyPr wrap="square" rtlCol="0">
            <a:spAutoFit/>
          </a:bodyPr>
          <a:p>
            <a:r>
              <a:rPr lang="en-US" altLang="zh-CN" sz="1400"/>
              <a:t>3</a:t>
            </a:r>
            <a:r>
              <a:rPr lang="zh-CN" altLang="en-US" sz="1400"/>
              <a:t>、</a:t>
            </a:r>
            <a:r>
              <a:rPr lang="en-US" altLang="zh-CN" sz="1400"/>
              <a:t>Cluster Identifier</a:t>
            </a:r>
            <a:r>
              <a:rPr lang="zh-CN" altLang="en-US" sz="1400"/>
              <a:t>：定义具体</a:t>
            </a:r>
            <a:r>
              <a:rPr lang="zh-CN" altLang="en-US" sz="1400"/>
              <a:t>功能</a:t>
            </a:r>
            <a:endParaRPr lang="zh-CN" altLang="en-US" sz="1400"/>
          </a:p>
        </p:txBody>
      </p:sp>
      <p:pic>
        <p:nvPicPr>
          <p:cNvPr id="9" name="图片 8"/>
          <p:cNvPicPr>
            <a:picLocks noChangeAspect="1"/>
          </p:cNvPicPr>
          <p:nvPr/>
        </p:nvPicPr>
        <p:blipFill>
          <a:blip r:embed="rId3"/>
          <a:stretch>
            <a:fillRect/>
          </a:stretch>
        </p:blipFill>
        <p:spPr>
          <a:xfrm>
            <a:off x="169545" y="3063875"/>
            <a:ext cx="4041140" cy="1238250"/>
          </a:xfrm>
          <a:prstGeom prst="rect">
            <a:avLst/>
          </a:prstGeom>
        </p:spPr>
      </p:pic>
      <p:pic>
        <p:nvPicPr>
          <p:cNvPr id="10" name="图片 9"/>
          <p:cNvPicPr>
            <a:picLocks noChangeAspect="1"/>
          </p:cNvPicPr>
          <p:nvPr/>
        </p:nvPicPr>
        <p:blipFill>
          <a:blip r:embed="rId4"/>
          <a:stretch>
            <a:fillRect/>
          </a:stretch>
        </p:blipFill>
        <p:spPr>
          <a:xfrm>
            <a:off x="4511675" y="3063875"/>
            <a:ext cx="4381500" cy="12763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3048000" cy="368300"/>
          </a:xfrm>
          <a:prstGeom prst="rect">
            <a:avLst/>
          </a:prstGeom>
          <a:noFill/>
        </p:spPr>
        <p:txBody>
          <a:bodyPr wrap="square" rtlCol="0">
            <a:spAutoFit/>
          </a:bodyPr>
          <a:p>
            <a:r>
              <a:rPr lang="zh-CN" altLang="en-US"/>
              <a:t>主要</a:t>
            </a:r>
            <a:r>
              <a:rPr lang="zh-CN" altLang="en-US"/>
              <a:t>概念</a:t>
            </a:r>
            <a:endParaRPr lang="zh-CN" altLang="en-US"/>
          </a:p>
        </p:txBody>
      </p:sp>
      <p:sp>
        <p:nvSpPr>
          <p:cNvPr id="10" name="文本框 9"/>
          <p:cNvSpPr txBox="1"/>
          <p:nvPr>
            <p:custDataLst>
              <p:tags r:id="rId1"/>
            </p:custDataLst>
          </p:nvPr>
        </p:nvSpPr>
        <p:spPr>
          <a:xfrm>
            <a:off x="229235" y="2821305"/>
            <a:ext cx="3048000" cy="306705"/>
          </a:xfrm>
          <a:prstGeom prst="rect">
            <a:avLst/>
          </a:prstGeom>
          <a:noFill/>
        </p:spPr>
        <p:txBody>
          <a:bodyPr wrap="square" rtlCol="0">
            <a:spAutoFit/>
          </a:bodyPr>
          <a:p>
            <a:r>
              <a:rPr lang="en-US" altLang="zh-CN" sz="1400"/>
              <a:t>5</a:t>
            </a:r>
            <a:r>
              <a:rPr lang="zh-CN" altLang="en-US" sz="1400"/>
              <a:t>、</a:t>
            </a:r>
            <a:r>
              <a:rPr lang="en-US" altLang="zh-CN" sz="1400"/>
              <a:t>Command Identifier</a:t>
            </a:r>
            <a:endParaRPr lang="en-US" altLang="zh-CN" sz="1400"/>
          </a:p>
        </p:txBody>
      </p:sp>
      <p:pic>
        <p:nvPicPr>
          <p:cNvPr id="12" name="图片 11"/>
          <p:cNvPicPr>
            <a:picLocks noChangeAspect="1"/>
          </p:cNvPicPr>
          <p:nvPr>
            <p:custDataLst>
              <p:tags r:id="rId2"/>
            </p:custDataLst>
          </p:nvPr>
        </p:nvPicPr>
        <p:blipFill>
          <a:blip r:embed="rId3"/>
          <a:stretch>
            <a:fillRect/>
          </a:stretch>
        </p:blipFill>
        <p:spPr>
          <a:xfrm>
            <a:off x="215900" y="3128010"/>
            <a:ext cx="3467100" cy="1371600"/>
          </a:xfrm>
          <a:prstGeom prst="rect">
            <a:avLst/>
          </a:prstGeom>
        </p:spPr>
      </p:pic>
      <p:sp>
        <p:nvSpPr>
          <p:cNvPr id="16" name="文本框 15"/>
          <p:cNvSpPr txBox="1"/>
          <p:nvPr>
            <p:custDataLst>
              <p:tags r:id="rId4"/>
            </p:custDataLst>
          </p:nvPr>
        </p:nvSpPr>
        <p:spPr>
          <a:xfrm>
            <a:off x="229235" y="955675"/>
            <a:ext cx="3048000" cy="306705"/>
          </a:xfrm>
          <a:prstGeom prst="rect">
            <a:avLst/>
          </a:prstGeom>
          <a:noFill/>
        </p:spPr>
        <p:txBody>
          <a:bodyPr wrap="square" rtlCol="0">
            <a:spAutoFit/>
          </a:bodyPr>
          <a:p>
            <a:r>
              <a:rPr lang="en-US" altLang="zh-CN" sz="1400"/>
              <a:t>4</a:t>
            </a:r>
            <a:r>
              <a:rPr lang="zh-CN" altLang="en-US" sz="1400"/>
              <a:t>、</a:t>
            </a:r>
            <a:r>
              <a:rPr lang="en-US" altLang="zh-CN" sz="1400"/>
              <a:t>Attribute Identifier</a:t>
            </a:r>
            <a:endParaRPr lang="en-US" altLang="zh-CN" sz="1400"/>
          </a:p>
        </p:txBody>
      </p:sp>
      <p:pic>
        <p:nvPicPr>
          <p:cNvPr id="17" name="图片 16"/>
          <p:cNvPicPr>
            <a:picLocks noChangeAspect="1"/>
          </p:cNvPicPr>
          <p:nvPr>
            <p:custDataLst>
              <p:tags r:id="rId5"/>
            </p:custDataLst>
          </p:nvPr>
        </p:nvPicPr>
        <p:blipFill>
          <a:blip r:embed="rId6"/>
          <a:stretch>
            <a:fillRect/>
          </a:stretch>
        </p:blipFill>
        <p:spPr>
          <a:xfrm>
            <a:off x="215900" y="1286510"/>
            <a:ext cx="3238500" cy="1333500"/>
          </a:xfrm>
          <a:prstGeom prst="rect">
            <a:avLst/>
          </a:prstGeom>
        </p:spPr>
      </p:pic>
      <p:pic>
        <p:nvPicPr>
          <p:cNvPr id="3" name="图片 2"/>
          <p:cNvPicPr>
            <a:picLocks noChangeAspect="1"/>
          </p:cNvPicPr>
          <p:nvPr/>
        </p:nvPicPr>
        <p:blipFill>
          <a:blip r:embed="rId7"/>
          <a:stretch>
            <a:fillRect/>
          </a:stretch>
        </p:blipFill>
        <p:spPr>
          <a:xfrm>
            <a:off x="3854450" y="1262380"/>
            <a:ext cx="4648200" cy="781050"/>
          </a:xfrm>
          <a:prstGeom prst="rect">
            <a:avLst/>
          </a:prstGeom>
        </p:spPr>
      </p:pic>
      <p:pic>
        <p:nvPicPr>
          <p:cNvPr id="5" name="图片 4"/>
          <p:cNvPicPr>
            <a:picLocks noChangeAspect="1"/>
          </p:cNvPicPr>
          <p:nvPr/>
        </p:nvPicPr>
        <p:blipFill>
          <a:blip r:embed="rId8"/>
          <a:stretch>
            <a:fillRect/>
          </a:stretch>
        </p:blipFill>
        <p:spPr>
          <a:xfrm>
            <a:off x="3854450" y="2218690"/>
            <a:ext cx="4286250" cy="438150"/>
          </a:xfrm>
          <a:prstGeom prst="rect">
            <a:avLst/>
          </a:prstGeom>
        </p:spPr>
      </p:pic>
      <p:pic>
        <p:nvPicPr>
          <p:cNvPr id="8" name="图片 7"/>
          <p:cNvPicPr>
            <a:picLocks noChangeAspect="1"/>
          </p:cNvPicPr>
          <p:nvPr/>
        </p:nvPicPr>
        <p:blipFill>
          <a:blip r:embed="rId9"/>
          <a:stretch>
            <a:fillRect/>
          </a:stretch>
        </p:blipFill>
        <p:spPr>
          <a:xfrm>
            <a:off x="3854450" y="3128010"/>
            <a:ext cx="4457700" cy="15811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87375"/>
            <a:ext cx="3048000" cy="368300"/>
          </a:xfrm>
          <a:prstGeom prst="rect">
            <a:avLst/>
          </a:prstGeom>
          <a:noFill/>
        </p:spPr>
        <p:txBody>
          <a:bodyPr wrap="square" rtlCol="0">
            <a:spAutoFit/>
          </a:bodyPr>
          <a:p>
            <a:r>
              <a:rPr lang="zh-CN" altLang="en-US"/>
              <a:t>主要</a:t>
            </a:r>
            <a:r>
              <a:rPr lang="zh-CN" altLang="en-US"/>
              <a:t>概念</a:t>
            </a:r>
            <a:endParaRPr lang="zh-CN" altLang="en-US"/>
          </a:p>
        </p:txBody>
      </p:sp>
      <p:sp>
        <p:nvSpPr>
          <p:cNvPr id="14" name="文本框 13"/>
          <p:cNvSpPr txBox="1"/>
          <p:nvPr/>
        </p:nvSpPr>
        <p:spPr>
          <a:xfrm>
            <a:off x="215900" y="955675"/>
            <a:ext cx="3048000" cy="306705"/>
          </a:xfrm>
          <a:prstGeom prst="rect">
            <a:avLst/>
          </a:prstGeom>
          <a:noFill/>
        </p:spPr>
        <p:txBody>
          <a:bodyPr wrap="square" rtlCol="0">
            <a:spAutoFit/>
          </a:bodyPr>
          <a:p>
            <a:r>
              <a:rPr lang="en-US" altLang="zh-CN" sz="1400"/>
              <a:t>6</a:t>
            </a:r>
            <a:r>
              <a:rPr lang="zh-CN" altLang="en-US" sz="1400"/>
              <a:t>、</a:t>
            </a:r>
            <a:r>
              <a:rPr lang="en-US" altLang="zh-CN" sz="1400"/>
              <a:t>Data Types</a:t>
            </a:r>
            <a:endParaRPr lang="en-US" altLang="zh-CN" sz="1400"/>
          </a:p>
        </p:txBody>
      </p:sp>
      <p:graphicFrame>
        <p:nvGraphicFramePr>
          <p:cNvPr id="15" name="表格 14"/>
          <p:cNvGraphicFramePr/>
          <p:nvPr>
            <p:custDataLst>
              <p:tags r:id="rId1"/>
            </p:custDataLst>
          </p:nvPr>
        </p:nvGraphicFramePr>
        <p:xfrm>
          <a:off x="263525" y="1292860"/>
          <a:ext cx="2803525" cy="1615440"/>
        </p:xfrm>
        <a:graphic>
          <a:graphicData uri="http://schemas.openxmlformats.org/drawingml/2006/table">
            <a:tbl>
              <a:tblPr/>
              <a:tblGrid>
                <a:gridCol w="655320"/>
                <a:gridCol w="1224915"/>
                <a:gridCol w="923290"/>
              </a:tblGrid>
              <a:tr h="269240">
                <a:tc>
                  <a:txBody>
                    <a:bodyPr/>
                    <a:p>
                      <a:pPr algn="l"/>
                      <a:r>
                        <a:rPr lang="zh-CN" altLang="en-US" sz="1100"/>
                        <a:t>类型 </a:t>
                      </a:r>
                      <a:r>
                        <a:rPr lang="en-US" altLang="zh-CN" sz="1100"/>
                        <a:t>ID</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zh-CN" altLang="en-US" sz="1100"/>
                        <a:t>类型名称</a:t>
                      </a:r>
                      <a:endParaRPr lang="zh-CN" altLang="en-US"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zh-CN" altLang="en-US" sz="1100"/>
                        <a:t>长度 </a:t>
                      </a:r>
                      <a:r>
                        <a:rPr lang="en-US" altLang="zh-CN" sz="1100"/>
                        <a:t>(</a:t>
                      </a:r>
                      <a:r>
                        <a:rPr lang="zh-CN" altLang="en-US" sz="1100"/>
                        <a:t>字节</a:t>
                      </a:r>
                      <a:r>
                        <a:rPr lang="en-US" altLang="zh-CN" sz="1100"/>
                        <a:t>)</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240">
                <a:tc>
                  <a:txBody>
                    <a:bodyPr/>
                    <a:p>
                      <a:pPr algn="l"/>
                      <a:r>
                        <a:rPr lang="en-US" altLang="zh-CN" sz="1100"/>
                        <a:t>0x10</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Boolean</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1</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240">
                <a:tc>
                  <a:txBody>
                    <a:bodyPr/>
                    <a:p>
                      <a:pPr algn="l"/>
                      <a:r>
                        <a:rPr lang="en-US" altLang="zh-CN" sz="1100"/>
                        <a:t>0x20</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uint8</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1</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240">
                <a:tc>
                  <a:txBody>
                    <a:bodyPr/>
                    <a:p>
                      <a:pPr algn="l"/>
                      <a:r>
                        <a:rPr lang="en-US" altLang="zh-CN" sz="1100"/>
                        <a:t>0x21</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uint16</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2</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240">
                <a:tc>
                  <a:txBody>
                    <a:bodyPr/>
                    <a:p>
                      <a:pPr algn="l"/>
                      <a:r>
                        <a:rPr lang="en-US" altLang="zh-CN" sz="1100"/>
                        <a:t>0x28</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int8</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1</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269240">
                <a:tc>
                  <a:txBody>
                    <a:bodyPr/>
                    <a:p>
                      <a:pPr algn="l"/>
                      <a:r>
                        <a:rPr lang="en-US" altLang="zh-CN" sz="1100"/>
                        <a:t>0x29</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int16</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l"/>
                      <a:r>
                        <a:rPr lang="en-US" altLang="zh-CN" sz="1100"/>
                        <a:t>2</a:t>
                      </a:r>
                      <a:endParaRPr lang="en-US" altLang="zh-CN" sz="1100"/>
                    </a:p>
                  </a:txBody>
                  <a:tcPr marL="51117" marR="51117" marT="51117" marB="511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pic>
        <p:nvPicPr>
          <p:cNvPr id="3" name="图片 2"/>
          <p:cNvPicPr>
            <a:picLocks noChangeAspect="1"/>
          </p:cNvPicPr>
          <p:nvPr/>
        </p:nvPicPr>
        <p:blipFill>
          <a:blip r:embed="rId2"/>
          <a:stretch>
            <a:fillRect/>
          </a:stretch>
        </p:blipFill>
        <p:spPr>
          <a:xfrm>
            <a:off x="215900" y="3148330"/>
            <a:ext cx="6572250" cy="1409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ZCL</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501015"/>
            <a:ext cx="3048000" cy="368300"/>
          </a:xfrm>
          <a:prstGeom prst="rect">
            <a:avLst/>
          </a:prstGeom>
          <a:noFill/>
        </p:spPr>
        <p:txBody>
          <a:bodyPr wrap="square" rtlCol="0">
            <a:spAutoFit/>
          </a:bodyPr>
          <a:p>
            <a:r>
              <a:rPr lang="zh-CN" altLang="en-US"/>
              <a:t>发送</a:t>
            </a:r>
            <a:r>
              <a:rPr lang="en-US" altLang="zh-CN"/>
              <a:t>ZCL</a:t>
            </a:r>
            <a:r>
              <a:rPr lang="zh-CN" altLang="en-US"/>
              <a:t>命令</a:t>
            </a:r>
            <a:endParaRPr lang="zh-CN" altLang="en-US"/>
          </a:p>
        </p:txBody>
      </p:sp>
      <p:pic>
        <p:nvPicPr>
          <p:cNvPr id="9" name="图片 8"/>
          <p:cNvPicPr>
            <a:picLocks noChangeAspect="1"/>
          </p:cNvPicPr>
          <p:nvPr/>
        </p:nvPicPr>
        <p:blipFill>
          <a:blip r:embed="rId1"/>
          <a:stretch>
            <a:fillRect/>
          </a:stretch>
        </p:blipFill>
        <p:spPr>
          <a:xfrm>
            <a:off x="215900" y="1237615"/>
            <a:ext cx="6724650" cy="2400300"/>
          </a:xfrm>
          <a:prstGeom prst="rect">
            <a:avLst/>
          </a:prstGeom>
        </p:spPr>
      </p:pic>
      <p:sp>
        <p:nvSpPr>
          <p:cNvPr id="10" name="文本框 9"/>
          <p:cNvSpPr txBox="1"/>
          <p:nvPr/>
        </p:nvSpPr>
        <p:spPr>
          <a:xfrm>
            <a:off x="215900" y="869315"/>
            <a:ext cx="8744585" cy="368300"/>
          </a:xfrm>
          <a:prstGeom prst="rect">
            <a:avLst/>
          </a:prstGeom>
          <a:noFill/>
        </p:spPr>
        <p:txBody>
          <a:bodyPr wrap="square" rtlCol="0">
            <a:spAutoFit/>
          </a:bodyPr>
          <a:p>
            <a:r>
              <a:rPr lang="en-US" altLang="zh-CN"/>
              <a:t>void zigbee_zcl_request(zigbee_zcl_data_req_t *pt_data_req, uint16_t data_len)</a:t>
            </a:r>
            <a:endParaRPr lang="zh-CN" altLang="en-US"/>
          </a:p>
        </p:txBody>
      </p:sp>
      <p:pic>
        <p:nvPicPr>
          <p:cNvPr id="11" name="图片 10"/>
          <p:cNvPicPr>
            <a:picLocks noChangeAspect="1"/>
          </p:cNvPicPr>
          <p:nvPr/>
        </p:nvPicPr>
        <p:blipFill>
          <a:blip r:embed="rId2"/>
          <a:stretch>
            <a:fillRect/>
          </a:stretch>
        </p:blipFill>
        <p:spPr>
          <a:xfrm>
            <a:off x="215900" y="3728085"/>
            <a:ext cx="3905250" cy="104775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03</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2" name="图片 1"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3" name="圆角矩形 2"/>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NWK</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4" name="矩形 3"/>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网络层</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5" name="文本框 4"/>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03</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6" name="图片 5"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7" name="图片 6"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NWK</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17" name="组合 16"/>
          <p:cNvGrpSpPr/>
          <p:nvPr/>
        </p:nvGrpSpPr>
        <p:grpSpPr>
          <a:xfrm>
            <a:off x="2458085" y="681355"/>
            <a:ext cx="3887470" cy="567690"/>
            <a:chOff x="3871" y="1073"/>
            <a:chExt cx="6122" cy="894"/>
          </a:xfrm>
        </p:grpSpPr>
        <p:sp>
          <p:nvSpPr>
            <p:cNvPr id="2" name="圆角矩形 1"/>
            <p:cNvSpPr/>
            <p:nvPr/>
          </p:nvSpPr>
          <p:spPr>
            <a:xfrm>
              <a:off x="4020" y="1144"/>
              <a:ext cx="5973" cy="760"/>
            </a:xfrm>
            <a:prstGeom prst="roundRect">
              <a:avLst>
                <a:gd name="adj" fmla="val 50000"/>
              </a:avLst>
            </a:prstGeom>
            <a:solidFill>
              <a:schemeClr val="bg1"/>
            </a:solid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 name="图片 9" descr="图标&#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871" y="1073"/>
              <a:ext cx="1180" cy="894"/>
            </a:xfrm>
            <a:prstGeom prst="rect">
              <a:avLst/>
            </a:prstGeom>
          </p:spPr>
        </p:pic>
        <p:sp>
          <p:nvSpPr>
            <p:cNvPr id="5" name="文本框 4"/>
            <p:cNvSpPr txBox="1"/>
            <p:nvPr/>
          </p:nvSpPr>
          <p:spPr>
            <a:xfrm>
              <a:off x="6520" y="1179"/>
              <a:ext cx="1516" cy="725"/>
            </a:xfrm>
            <a:prstGeom prst="rect">
              <a:avLst/>
            </a:prstGeom>
            <a:noFill/>
          </p:spPr>
          <p:txBody>
            <a:bodyPr wrap="square" rtlCol="0">
              <a:spAutoFit/>
            </a:bodyPr>
            <a:p>
              <a:r>
                <a:rPr lang="en-US" altLang="zh-CN" sz="2400" b="1" i="1">
                  <a:latin typeface="宋体" panose="02010600030101010101" pitchFamily="2" charset="-122"/>
                  <a:ea typeface="宋体" panose="02010600030101010101" pitchFamily="2" charset="-122"/>
                  <a:cs typeface="宋体" panose="02010600030101010101" pitchFamily="2" charset="-122"/>
                </a:rPr>
                <a:t>NWK</a:t>
              </a:r>
              <a:endParaRPr lang="en-US" altLang="zh-CN" sz="2400" b="1" i="1">
                <a:latin typeface="宋体" panose="02010600030101010101" pitchFamily="2" charset="-122"/>
                <a:ea typeface="宋体" panose="02010600030101010101" pitchFamily="2" charset="-122"/>
                <a:cs typeface="宋体" panose="02010600030101010101" pitchFamily="2" charset="-122"/>
              </a:endParaRPr>
            </a:p>
          </p:txBody>
        </p:sp>
      </p:grpSp>
      <p:sp>
        <p:nvSpPr>
          <p:cNvPr id="21" name="剪去对角的矩形 20"/>
          <p:cNvSpPr/>
          <p:nvPr>
            <p:custDataLst>
              <p:tags r:id="rId2"/>
            </p:custDataLst>
          </p:nvPr>
        </p:nvSpPr>
        <p:spPr>
          <a:xfrm>
            <a:off x="4711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26" name="剪去对角的矩形 25"/>
          <p:cNvSpPr/>
          <p:nvPr>
            <p:custDataLst>
              <p:tags r:id="rId3"/>
            </p:custDataLst>
          </p:nvPr>
        </p:nvSpPr>
        <p:spPr>
          <a:xfrm>
            <a:off x="3346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pic>
        <p:nvPicPr>
          <p:cNvPr id="28" name="图片 27" descr="形状&#10;&#10;低可信度描述已自动生成"/>
          <p:cNvPicPr>
            <a:picLocks noChangeAspect="1"/>
          </p:cNvPicPr>
          <p:nvPr>
            <p:custDataLst>
              <p:tags r:id="rId4"/>
            </p:custDataLst>
          </p:nvPr>
        </p:nvPicPr>
        <p:blipFill>
          <a:blip r:embed="rId5">
            <a:extLst>
              <a:ext uri="{28A0092B-C50C-407E-A947-70E740481C1C}">
                <a14:useLocalDpi xmlns:a14="http://schemas.microsoft.com/office/drawing/2010/main" val="0"/>
              </a:ext>
            </a:extLst>
          </a:blip>
          <a:stretch>
            <a:fillRect/>
          </a:stretch>
        </p:blipFill>
        <p:spPr>
          <a:xfrm>
            <a:off x="334645" y="1490345"/>
            <a:ext cx="3768725" cy="445770"/>
          </a:xfrm>
          <a:prstGeom prst="rect">
            <a:avLst/>
          </a:prstGeom>
        </p:spPr>
      </p:pic>
      <p:sp>
        <p:nvSpPr>
          <p:cNvPr id="6" name="文本框 5"/>
          <p:cNvSpPr txBox="1"/>
          <p:nvPr>
            <p:custDataLst>
              <p:tags r:id="rId6"/>
            </p:custDataLst>
          </p:nvPr>
        </p:nvSpPr>
        <p:spPr>
          <a:xfrm>
            <a:off x="1896110" y="1558925"/>
            <a:ext cx="656590"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概念</a:t>
            </a:r>
            <a:endParaRPr lang="zh-CN" altLang="en-US" sz="2000" dirty="0"/>
          </a:p>
        </p:txBody>
      </p:sp>
      <p:sp>
        <p:nvSpPr>
          <p:cNvPr id="7" name="剪去对角的矩形 6"/>
          <p:cNvSpPr/>
          <p:nvPr>
            <p:custDataLst>
              <p:tags r:id="rId7"/>
            </p:custDataLst>
          </p:nvPr>
        </p:nvSpPr>
        <p:spPr>
          <a:xfrm>
            <a:off x="4992370" y="1833880"/>
            <a:ext cx="3669030" cy="2657475"/>
          </a:xfrm>
          <a:prstGeom prst="snip2DiagRect">
            <a:avLst>
              <a:gd name="adj1" fmla="val 0"/>
              <a:gd name="adj2" fmla="val 8363"/>
            </a:avLst>
          </a:prstGeom>
          <a:solidFill>
            <a:schemeClr val="accent2"/>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
        <p:nvSpPr>
          <p:cNvPr id="9" name="剪去对角的矩形 8"/>
          <p:cNvSpPr/>
          <p:nvPr>
            <p:custDataLst>
              <p:tags r:id="rId8"/>
            </p:custDataLst>
          </p:nvPr>
        </p:nvSpPr>
        <p:spPr>
          <a:xfrm>
            <a:off x="4855845" y="1764665"/>
            <a:ext cx="3669665" cy="2642235"/>
          </a:xfrm>
          <a:prstGeom prst="snip2DiagRect">
            <a:avLst>
              <a:gd name="adj1" fmla="val 0"/>
              <a:gd name="adj2" fmla="val 10200"/>
            </a:avLst>
          </a:prstGeom>
          <a:solidFill>
            <a:schemeClr val="bg1"/>
          </a:solidFill>
          <a:ln w="15875">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0000"/>
              </a:lnSpc>
            </a:pPr>
            <a:r>
              <a:rPr lang="en-US" altLang="zh-CN" b="1">
                <a:latin typeface="Times New Roman" panose="02020603050405020304" charset="0"/>
                <a:cs typeface="Times New Roman" panose="02020603050405020304" charset="0"/>
                <a:sym typeface="+mn-ea"/>
              </a:rPr>
              <a:t>1</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低功耗：纽扣电池可续航数</a:t>
            </a:r>
            <a:r>
              <a:rPr lang="en-US" altLang="zh-CN" b="1">
                <a:latin typeface="宋体" panose="02010600030101010101" pitchFamily="2" charset="-122"/>
                <a:ea typeface="宋体" panose="02010600030101010101" pitchFamily="2" charset="-122"/>
                <a:sym typeface="+mn-ea"/>
              </a:rPr>
              <a:t>     </a:t>
            </a:r>
            <a:r>
              <a:rPr lang="zh-CN" altLang="en-US" b="1">
                <a:latin typeface="宋体" panose="02010600030101010101" pitchFamily="2" charset="-122"/>
                <a:ea typeface="宋体" panose="02010600030101010101" pitchFamily="2" charset="-122"/>
                <a:sym typeface="+mn-ea"/>
              </a:rPr>
              <a:t>月</a:t>
            </a:r>
            <a:endParaRPr lang="zh-CN" altLang="en-US" b="1">
              <a:latin typeface="宋体" panose="02010600030101010101" pitchFamily="2" charset="-122"/>
              <a:ea typeface="宋体" panose="02010600030101010101" pitchFamily="2" charset="-122"/>
            </a:endParaRPr>
          </a:p>
          <a:p>
            <a:pPr>
              <a:lnSpc>
                <a:spcPct val="120000"/>
              </a:lnSpc>
            </a:pPr>
            <a:r>
              <a:rPr lang="en-US" altLang="zh-CN" b="1">
                <a:latin typeface="Times New Roman" panose="02020603050405020304" charset="0"/>
                <a:cs typeface="Times New Roman" panose="02020603050405020304" charset="0"/>
                <a:sym typeface="+mn-ea"/>
              </a:rPr>
              <a:t>2</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快速连接：通常在几毫秒内</a:t>
            </a:r>
            <a:endParaRPr lang="zh-CN" altLang="en-US" b="1"/>
          </a:p>
          <a:p>
            <a:pPr>
              <a:lnSpc>
                <a:spcPct val="120000"/>
              </a:lnSpc>
            </a:pPr>
            <a:r>
              <a:rPr lang="en-US" altLang="zh-CN" b="1">
                <a:latin typeface="Times New Roman" panose="02020603050405020304" charset="0"/>
                <a:cs typeface="Times New Roman" panose="02020603050405020304" charset="0"/>
                <a:sym typeface="+mn-ea"/>
              </a:rPr>
              <a:t>3</a:t>
            </a:r>
            <a:r>
              <a:rPr lang="zh-CN" altLang="en-US" b="1">
                <a:latin typeface="Times New Roman" panose="02020603050405020304" charset="0"/>
                <a:cs typeface="Times New Roman" panose="02020603050405020304" charset="0"/>
                <a:sym typeface="+mn-ea"/>
              </a:rPr>
              <a:t>、</a:t>
            </a:r>
            <a:r>
              <a:rPr lang="zh-CN" altLang="en-US" b="1">
                <a:latin typeface="宋体" panose="02010600030101010101" pitchFamily="2" charset="-122"/>
                <a:ea typeface="宋体" panose="02010600030101010101" pitchFamily="2" charset="-122"/>
                <a:sym typeface="+mn-ea"/>
              </a:rPr>
              <a:t>协议栈简单：简洁的协议栈降低了开发复杂性和制造成本</a:t>
            </a:r>
            <a:endParaRPr lang="en-US" altLang="zh-CN" dirty="0">
              <a:solidFill>
                <a:schemeClr val="lt1"/>
              </a:solidFill>
            </a:endParaRPr>
          </a:p>
        </p:txBody>
      </p:sp>
      <p:pic>
        <p:nvPicPr>
          <p:cNvPr id="11" name="图片 10" descr="形状&#10;&#10;低可信度描述已自动生成"/>
          <p:cNvPicPr>
            <a:picLocks noChangeAspect="1"/>
          </p:cNvPicPr>
          <p:nvPr>
            <p:custDataLst>
              <p:tags r:id="rId9"/>
            </p:custDataLst>
          </p:nvPr>
        </p:nvPicPr>
        <p:blipFill>
          <a:blip r:embed="rId5">
            <a:extLst>
              <a:ext uri="{28A0092B-C50C-407E-A947-70E740481C1C}">
                <a14:useLocalDpi xmlns:a14="http://schemas.microsoft.com/office/drawing/2010/main" val="0"/>
              </a:ext>
            </a:extLst>
          </a:blip>
          <a:stretch>
            <a:fillRect/>
          </a:stretch>
        </p:blipFill>
        <p:spPr>
          <a:xfrm>
            <a:off x="4855845" y="1490345"/>
            <a:ext cx="3768725" cy="445770"/>
          </a:xfrm>
          <a:prstGeom prst="rect">
            <a:avLst/>
          </a:prstGeom>
        </p:spPr>
      </p:pic>
      <p:sp>
        <p:nvSpPr>
          <p:cNvPr id="12" name="文本框 11"/>
          <p:cNvSpPr txBox="1"/>
          <p:nvPr>
            <p:custDataLst>
              <p:tags r:id="rId10"/>
            </p:custDataLst>
          </p:nvPr>
        </p:nvSpPr>
        <p:spPr>
          <a:xfrm>
            <a:off x="6504305" y="1558925"/>
            <a:ext cx="1165225" cy="236220"/>
          </a:xfrm>
          <a:prstGeom prst="rect">
            <a:avLst/>
          </a:prstGeom>
          <a:noFill/>
        </p:spPr>
        <p:txBody>
          <a:bodyPr wrap="square" lIns="0" tIns="0" rIns="0" bIns="0" rtlCol="0">
            <a:noAutofit/>
          </a:bodyPr>
          <a:lstStyle>
            <a:defPPr>
              <a:defRPr lang="zh-CN"/>
            </a:defPPr>
            <a:lvl1pPr marR="0" lvl="0" indent="0" fontAlgn="auto">
              <a:lnSpc>
                <a:spcPct val="100000"/>
              </a:lnSpc>
              <a:spcBef>
                <a:spcPts val="0"/>
              </a:spcBef>
              <a:spcAft>
                <a:spcPts val="0"/>
              </a:spcAft>
              <a:buClrTx/>
              <a:buSzTx/>
              <a:buFontTx/>
              <a:buNone/>
              <a:defRPr kumimoji="0" sz="2200" i="0" u="none" strike="noStrike" cap="none" spc="0" normalizeH="0" baseline="0">
                <a:ln>
                  <a:noFill/>
                </a:ln>
                <a:solidFill>
                  <a:schemeClr val="accent1"/>
                </a:solidFill>
                <a:effectLst/>
                <a:uLnTx/>
                <a:uFillTx/>
                <a:latin typeface="OPPOSans B" panose="00020600040101010101" pitchFamily="18" charset="-122"/>
                <a:ea typeface="OPPOSans B" panose="00020600040101010101" pitchFamily="18" charset="-122"/>
                <a:cs typeface="OPPOSans B" panose="00020600040101010101" pitchFamily="18" charset="-122"/>
              </a:defRPr>
            </a:lvl1pPr>
          </a:lstStyle>
          <a:p>
            <a:r>
              <a:rPr lang="zh-CN" altLang="en-US" sz="2000" dirty="0"/>
              <a:t>功能</a:t>
            </a:r>
            <a:endParaRPr lang="zh-CN" altLang="en-US" sz="2000" dirty="0"/>
          </a:p>
        </p:txBody>
      </p:sp>
      <p:pic>
        <p:nvPicPr>
          <p:cNvPr id="13" name="图片 12" descr="卡通人物&#10;&#10;中度可信度描述已自动生成"/>
          <p:cNvPicPr>
            <a:picLocks noChangeAspect="1"/>
          </p:cNvPicPr>
          <p:nvPr>
            <p:custDataLst>
              <p:tags r:id="rId11"/>
            </p:custDataLst>
          </p:nvPr>
        </p:nvPicPr>
        <p:blipFill>
          <a:blip r:embed="rId12">
            <a:extLst>
              <a:ext uri="{28A0092B-C50C-407E-A947-70E740481C1C}">
                <a14:useLocalDpi xmlns:a14="http://schemas.microsoft.com/office/drawing/2010/main" val="0"/>
              </a:ext>
            </a:extLst>
          </a:blip>
          <a:stretch>
            <a:fillRect/>
          </a:stretch>
        </p:blipFill>
        <p:spPr>
          <a:xfrm>
            <a:off x="1295620" y="3536024"/>
            <a:ext cx="1847266" cy="870770"/>
          </a:xfrm>
          <a:prstGeom prst="rect">
            <a:avLst/>
          </a:prstGeom>
        </p:spPr>
      </p:pic>
      <p:pic>
        <p:nvPicPr>
          <p:cNvPr id="15" name="图片 14" descr="卡通人物&#10;&#10;描述已自动生成"/>
          <p:cNvPicPr>
            <a:picLocks noChangeAspect="1"/>
          </p:cNvPicPr>
          <p:nvPr>
            <p:custDataLst>
              <p:tags r:id="rId13"/>
            </p:custDataLst>
          </p:nvPr>
        </p:nvPicPr>
        <p:blipFill>
          <a:blip r:embed="rId14">
            <a:extLst>
              <a:ext uri="{28A0092B-C50C-407E-A947-70E740481C1C}">
                <a14:useLocalDpi xmlns:a14="http://schemas.microsoft.com/office/drawing/2010/main" val="0"/>
              </a:ext>
            </a:extLst>
          </a:blip>
          <a:stretch>
            <a:fillRect/>
          </a:stretch>
        </p:blipFill>
        <p:spPr>
          <a:xfrm>
            <a:off x="5953125" y="3923030"/>
            <a:ext cx="1747520" cy="483870"/>
          </a:xfrm>
          <a:prstGeom prst="rect">
            <a:avLst/>
          </a:prstGeom>
        </p:spPr>
      </p:pic>
      <p:sp>
        <p:nvSpPr>
          <p:cNvPr id="3" name="文本框 2"/>
          <p:cNvSpPr txBox="1"/>
          <p:nvPr/>
        </p:nvSpPr>
        <p:spPr>
          <a:xfrm>
            <a:off x="471170" y="2105025"/>
            <a:ext cx="3048000" cy="922020"/>
          </a:xfrm>
          <a:prstGeom prst="rect">
            <a:avLst/>
          </a:prstGeom>
          <a:noFill/>
        </p:spPr>
        <p:txBody>
          <a:bodyPr wrap="square" rtlCol="0">
            <a:spAutoFit/>
          </a:bodyPr>
          <a:p>
            <a:r>
              <a:rPr lang="zh-CN" altLang="en-US"/>
              <a:t>网络层通过</a:t>
            </a:r>
            <a:r>
              <a:rPr lang="en-US" altLang="zh-CN"/>
              <a:t>APS</a:t>
            </a:r>
            <a:r>
              <a:rPr lang="zh-CN" altLang="en-US"/>
              <a:t>为应用层提供一个服务接口，并控制</a:t>
            </a:r>
            <a:r>
              <a:rPr lang="en-US" altLang="zh-CN"/>
              <a:t>MAC</a:t>
            </a:r>
            <a:r>
              <a:rPr lang="zh-CN" altLang="en-US"/>
              <a:t>进行正确的</a:t>
            </a:r>
            <a:r>
              <a:rPr lang="zh-CN" altLang="en-US"/>
              <a:t>操作</a:t>
            </a:r>
            <a:endParaRPr lang="zh-CN" altLang="en-US"/>
          </a:p>
        </p:txBody>
      </p:sp>
      <p:sp>
        <p:nvSpPr>
          <p:cNvPr id="4" name="文本框 3"/>
          <p:cNvSpPr txBox="1"/>
          <p:nvPr/>
        </p:nvSpPr>
        <p:spPr>
          <a:xfrm>
            <a:off x="4992370" y="2105025"/>
            <a:ext cx="3048000" cy="755650"/>
          </a:xfrm>
          <a:prstGeom prst="rect">
            <a:avLst/>
          </a:prstGeom>
          <a:noFill/>
        </p:spPr>
        <p:txBody>
          <a:bodyPr wrap="square" rtlCol="0">
            <a:spAutoFit/>
          </a:bodyPr>
          <a:p>
            <a:pPr>
              <a:lnSpc>
                <a:spcPct val="120000"/>
              </a:lnSpc>
            </a:pPr>
            <a:r>
              <a:rPr lang="en-US" altLang="zh-CN"/>
              <a:t>1</a:t>
            </a:r>
            <a:r>
              <a:rPr lang="zh-CN" altLang="en-US"/>
              <a:t>、</a:t>
            </a:r>
            <a:r>
              <a:rPr lang="en-US" altLang="zh-CN"/>
              <a:t>NLDE</a:t>
            </a:r>
            <a:r>
              <a:rPr lang="zh-CN" altLang="en-US"/>
              <a:t>：网络层数据</a:t>
            </a:r>
            <a:r>
              <a:rPr lang="zh-CN" altLang="en-US"/>
              <a:t>实体</a:t>
            </a:r>
            <a:endParaRPr lang="zh-CN" altLang="en-US"/>
          </a:p>
          <a:p>
            <a:pPr>
              <a:lnSpc>
                <a:spcPct val="120000"/>
              </a:lnSpc>
            </a:pPr>
            <a:r>
              <a:rPr lang="en-US" altLang="zh-CN"/>
              <a:t>2</a:t>
            </a:r>
            <a:r>
              <a:rPr lang="zh-CN" altLang="en-US"/>
              <a:t>、</a:t>
            </a:r>
            <a:r>
              <a:rPr lang="en-US" altLang="zh-CN"/>
              <a:t>NLME</a:t>
            </a:r>
            <a:r>
              <a:rPr lang="zh-CN" altLang="en-US"/>
              <a:t>：网络层管理</a:t>
            </a:r>
            <a:r>
              <a:rPr lang="zh-CN" altLang="en-US"/>
              <a:t>实体</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215900" y="506095"/>
            <a:ext cx="3308350" cy="958850"/>
            <a:chOff x="340" y="925"/>
            <a:chExt cx="5210" cy="1510"/>
          </a:xfrm>
        </p:grpSpPr>
        <p:sp>
          <p:nvSpPr>
            <p:cNvPr id="2" name="文本框 1"/>
            <p:cNvSpPr txBox="1"/>
            <p:nvPr/>
          </p:nvSpPr>
          <p:spPr>
            <a:xfrm>
              <a:off x="340" y="925"/>
              <a:ext cx="4800" cy="580"/>
            </a:xfrm>
            <a:prstGeom prst="rect">
              <a:avLst/>
            </a:prstGeom>
            <a:noFill/>
          </p:spPr>
          <p:txBody>
            <a:bodyPr wrap="square" rtlCol="0">
              <a:spAutoFit/>
            </a:bodyPr>
            <a:p>
              <a:r>
                <a:rPr lang="en-US" altLang="zh-CN"/>
                <a:t>NLDE</a:t>
              </a:r>
              <a:r>
                <a:rPr lang="zh-CN" altLang="en-US"/>
                <a:t>：提供数据</a:t>
              </a:r>
              <a:r>
                <a:rPr lang="zh-CN" altLang="en-US"/>
                <a:t>服务</a:t>
              </a:r>
              <a:endParaRPr lang="zh-CN" altLang="en-US"/>
            </a:p>
          </p:txBody>
        </p:sp>
        <p:pic>
          <p:nvPicPr>
            <p:cNvPr id="3" name="图片 2"/>
            <p:cNvPicPr>
              <a:picLocks noChangeAspect="1"/>
            </p:cNvPicPr>
            <p:nvPr/>
          </p:nvPicPr>
          <p:blipFill>
            <a:blip r:embed="rId1"/>
            <a:stretch>
              <a:fillRect/>
            </a:stretch>
          </p:blipFill>
          <p:spPr>
            <a:xfrm>
              <a:off x="340" y="1505"/>
              <a:ext cx="5210" cy="360"/>
            </a:xfrm>
            <a:prstGeom prst="rect">
              <a:avLst/>
            </a:prstGeom>
          </p:spPr>
        </p:pic>
        <p:pic>
          <p:nvPicPr>
            <p:cNvPr id="4" name="图片 3"/>
            <p:cNvPicPr>
              <a:picLocks noChangeAspect="1"/>
            </p:cNvPicPr>
            <p:nvPr/>
          </p:nvPicPr>
          <p:blipFill>
            <a:blip r:embed="rId2"/>
            <a:stretch>
              <a:fillRect/>
            </a:stretch>
          </p:blipFill>
          <p:spPr>
            <a:xfrm>
              <a:off x="341" y="1865"/>
              <a:ext cx="5209" cy="270"/>
            </a:xfrm>
            <a:prstGeom prst="rect">
              <a:avLst/>
            </a:prstGeom>
          </p:spPr>
        </p:pic>
        <p:pic>
          <p:nvPicPr>
            <p:cNvPr id="5" name="图片 4"/>
            <p:cNvPicPr>
              <a:picLocks noChangeAspect="1"/>
            </p:cNvPicPr>
            <p:nvPr/>
          </p:nvPicPr>
          <p:blipFill>
            <a:blip r:embed="rId3"/>
            <a:stretch>
              <a:fillRect/>
            </a:stretch>
          </p:blipFill>
          <p:spPr>
            <a:xfrm>
              <a:off x="340" y="2135"/>
              <a:ext cx="5210" cy="300"/>
            </a:xfrm>
            <a:prstGeom prst="rect">
              <a:avLst/>
            </a:prstGeom>
          </p:spPr>
        </p:pic>
      </p:grpSp>
      <p:sp>
        <p:nvSpPr>
          <p:cNvPr id="7" name="文本框 6"/>
          <p:cNvSpPr txBox="1"/>
          <p:nvPr/>
        </p:nvSpPr>
        <p:spPr>
          <a:xfrm>
            <a:off x="3919855" y="506095"/>
            <a:ext cx="3048000" cy="368300"/>
          </a:xfrm>
          <a:prstGeom prst="rect">
            <a:avLst/>
          </a:prstGeom>
          <a:noFill/>
        </p:spPr>
        <p:txBody>
          <a:bodyPr wrap="square" rtlCol="0">
            <a:spAutoFit/>
          </a:bodyPr>
          <a:p>
            <a:r>
              <a:rPr lang="en-US" altLang="zh-CN"/>
              <a:t>NLME</a:t>
            </a:r>
            <a:r>
              <a:rPr lang="zh-CN" altLang="en-US"/>
              <a:t>：提供管理</a:t>
            </a:r>
            <a:r>
              <a:rPr lang="zh-CN" altLang="en-US"/>
              <a:t>服务</a:t>
            </a:r>
            <a:endParaRPr lang="zh-CN" altLang="en-US"/>
          </a:p>
        </p:txBody>
      </p:sp>
      <p:pic>
        <p:nvPicPr>
          <p:cNvPr id="8" name="图片 7"/>
          <p:cNvPicPr>
            <a:picLocks noChangeAspect="1"/>
          </p:cNvPicPr>
          <p:nvPr/>
        </p:nvPicPr>
        <p:blipFill>
          <a:blip r:embed="rId4"/>
          <a:srcRect r="49620"/>
          <a:stretch>
            <a:fillRect/>
          </a:stretch>
        </p:blipFill>
        <p:spPr>
          <a:xfrm>
            <a:off x="3973195" y="874395"/>
            <a:ext cx="2021840" cy="30181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4" name="文本框 3"/>
          <p:cNvSpPr txBox="1"/>
          <p:nvPr/>
        </p:nvSpPr>
        <p:spPr>
          <a:xfrm>
            <a:off x="215900" y="509905"/>
            <a:ext cx="3048000" cy="368300"/>
          </a:xfrm>
          <a:prstGeom prst="rect">
            <a:avLst/>
          </a:prstGeom>
          <a:noFill/>
        </p:spPr>
        <p:txBody>
          <a:bodyPr wrap="square" rtlCol="0">
            <a:spAutoFit/>
          </a:bodyPr>
          <a:p>
            <a:r>
              <a:rPr lang="en-US" altLang="zh-CN"/>
              <a:t>1</a:t>
            </a:r>
            <a:r>
              <a:rPr lang="zh-CN" altLang="en-US"/>
              <a:t>、建立一个</a:t>
            </a:r>
            <a:r>
              <a:rPr lang="zh-CN" altLang="en-US"/>
              <a:t>新网络</a:t>
            </a:r>
            <a:endParaRPr lang="zh-CN" altLang="en-US"/>
          </a:p>
        </p:txBody>
      </p:sp>
      <p:pic>
        <p:nvPicPr>
          <p:cNvPr id="5" name="图片 4"/>
          <p:cNvPicPr>
            <a:picLocks noChangeAspect="1"/>
          </p:cNvPicPr>
          <p:nvPr/>
        </p:nvPicPr>
        <p:blipFill>
          <a:blip r:embed="rId1"/>
          <a:stretch>
            <a:fillRect/>
          </a:stretch>
        </p:blipFill>
        <p:spPr>
          <a:xfrm>
            <a:off x="2044065" y="1464945"/>
            <a:ext cx="5351145" cy="3371850"/>
          </a:xfrm>
          <a:prstGeom prst="rect">
            <a:avLst/>
          </a:prstGeom>
        </p:spPr>
      </p:pic>
      <p:pic>
        <p:nvPicPr>
          <p:cNvPr id="7" name="图片 6"/>
          <p:cNvPicPr>
            <a:picLocks noChangeAspect="1"/>
          </p:cNvPicPr>
          <p:nvPr/>
        </p:nvPicPr>
        <p:blipFill>
          <a:blip r:embed="rId2"/>
          <a:stretch>
            <a:fillRect/>
          </a:stretch>
        </p:blipFill>
        <p:spPr>
          <a:xfrm>
            <a:off x="34925" y="1330960"/>
            <a:ext cx="7869555" cy="220345"/>
          </a:xfrm>
          <a:prstGeom prst="rect">
            <a:avLst/>
          </a:prstGeom>
        </p:spPr>
      </p:pic>
      <p:pic>
        <p:nvPicPr>
          <p:cNvPr id="8" name="图片 7"/>
          <p:cNvPicPr>
            <a:picLocks noChangeAspect="1"/>
          </p:cNvPicPr>
          <p:nvPr/>
        </p:nvPicPr>
        <p:blipFill>
          <a:blip r:embed="rId3"/>
          <a:stretch>
            <a:fillRect/>
          </a:stretch>
        </p:blipFill>
        <p:spPr>
          <a:xfrm>
            <a:off x="0" y="878205"/>
            <a:ext cx="9144000" cy="161925"/>
          </a:xfrm>
          <a:prstGeom prst="rect">
            <a:avLst/>
          </a:prstGeom>
        </p:spPr>
      </p:pic>
      <p:sp>
        <p:nvSpPr>
          <p:cNvPr id="10" name="文本框 9"/>
          <p:cNvSpPr txBox="1"/>
          <p:nvPr/>
        </p:nvSpPr>
        <p:spPr>
          <a:xfrm>
            <a:off x="34925" y="1092200"/>
            <a:ext cx="304800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rPr>
              <a:t>协调器</a:t>
            </a:r>
            <a:endParaRPr lang="zh-CN" altLang="en-US" sz="1200">
              <a:latin typeface="宋体" panose="02010600030101010101" pitchFamily="2" charset="-122"/>
              <a:ea typeface="宋体" panose="02010600030101010101"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1520825" y="1623060"/>
            <a:ext cx="5520055" cy="2920365"/>
          </a:xfrm>
          <a:prstGeom prst="rect">
            <a:avLst/>
          </a:prstGeom>
        </p:spPr>
      </p:pic>
      <p:sp>
        <p:nvSpPr>
          <p:cNvPr id="4" name="文本框 3"/>
          <p:cNvSpPr txBox="1"/>
          <p:nvPr/>
        </p:nvSpPr>
        <p:spPr>
          <a:xfrm>
            <a:off x="215900" y="509905"/>
            <a:ext cx="3048000" cy="368300"/>
          </a:xfrm>
          <a:prstGeom prst="rect">
            <a:avLst/>
          </a:prstGeom>
          <a:noFill/>
        </p:spPr>
        <p:txBody>
          <a:bodyPr wrap="square" rtlCol="0">
            <a:spAutoFit/>
          </a:bodyPr>
          <a:p>
            <a:r>
              <a:rPr lang="en-US" altLang="zh-CN"/>
              <a:t>2</a:t>
            </a:r>
            <a:r>
              <a:rPr lang="zh-CN" altLang="en-US"/>
              <a:t>、允许设备加入</a:t>
            </a:r>
            <a:r>
              <a:rPr lang="zh-CN" altLang="en-US"/>
              <a:t>网络</a:t>
            </a:r>
            <a:endParaRPr lang="zh-CN" altLang="en-US"/>
          </a:p>
        </p:txBody>
      </p:sp>
      <p:pic>
        <p:nvPicPr>
          <p:cNvPr id="5" name="图片 4"/>
          <p:cNvPicPr>
            <a:picLocks noChangeAspect="1"/>
          </p:cNvPicPr>
          <p:nvPr/>
        </p:nvPicPr>
        <p:blipFill>
          <a:blip r:embed="rId2"/>
          <a:stretch>
            <a:fillRect/>
          </a:stretch>
        </p:blipFill>
        <p:spPr>
          <a:xfrm>
            <a:off x="215900" y="878205"/>
            <a:ext cx="5334000" cy="209550"/>
          </a:xfrm>
          <a:prstGeom prst="rect">
            <a:avLst/>
          </a:prstGeom>
        </p:spPr>
      </p:pic>
      <p:pic>
        <p:nvPicPr>
          <p:cNvPr id="7" name="图片 6"/>
          <p:cNvPicPr>
            <a:picLocks noChangeAspect="1"/>
          </p:cNvPicPr>
          <p:nvPr/>
        </p:nvPicPr>
        <p:blipFill>
          <a:blip r:embed="rId3"/>
          <a:stretch>
            <a:fillRect/>
          </a:stretch>
        </p:blipFill>
        <p:spPr>
          <a:xfrm>
            <a:off x="215900" y="1184910"/>
            <a:ext cx="3124200" cy="43815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4" name="文本框 3"/>
          <p:cNvSpPr txBox="1"/>
          <p:nvPr/>
        </p:nvSpPr>
        <p:spPr>
          <a:xfrm>
            <a:off x="215900" y="509905"/>
            <a:ext cx="3048000" cy="368300"/>
          </a:xfrm>
          <a:prstGeom prst="rect">
            <a:avLst/>
          </a:prstGeom>
          <a:noFill/>
        </p:spPr>
        <p:txBody>
          <a:bodyPr wrap="square" rtlCol="0">
            <a:spAutoFit/>
          </a:bodyPr>
          <a:p>
            <a:r>
              <a:rPr lang="en-US" altLang="zh-CN"/>
              <a:t>3</a:t>
            </a:r>
            <a:r>
              <a:rPr lang="zh-CN" altLang="en-US"/>
              <a:t>、设备加入</a:t>
            </a:r>
            <a:r>
              <a:rPr lang="zh-CN" altLang="en-US"/>
              <a:t>网络</a:t>
            </a:r>
            <a:endParaRPr lang="zh-CN" altLang="en-US"/>
          </a:p>
        </p:txBody>
      </p:sp>
      <p:pic>
        <p:nvPicPr>
          <p:cNvPr id="2" name="图片 1"/>
          <p:cNvPicPr>
            <a:picLocks noChangeAspect="1"/>
          </p:cNvPicPr>
          <p:nvPr/>
        </p:nvPicPr>
        <p:blipFill>
          <a:blip r:embed="rId1"/>
          <a:stretch>
            <a:fillRect/>
          </a:stretch>
        </p:blipFill>
        <p:spPr>
          <a:xfrm>
            <a:off x="730885" y="1859915"/>
            <a:ext cx="4123690" cy="2826385"/>
          </a:xfrm>
          <a:prstGeom prst="rect">
            <a:avLst/>
          </a:prstGeom>
        </p:spPr>
      </p:pic>
      <p:pic>
        <p:nvPicPr>
          <p:cNvPr id="3" name="图片 2"/>
          <p:cNvPicPr>
            <a:picLocks noChangeAspect="1"/>
          </p:cNvPicPr>
          <p:nvPr/>
        </p:nvPicPr>
        <p:blipFill>
          <a:blip r:embed="rId2"/>
          <a:stretch>
            <a:fillRect/>
          </a:stretch>
        </p:blipFill>
        <p:spPr>
          <a:xfrm>
            <a:off x="0" y="1002030"/>
            <a:ext cx="9144000" cy="226060"/>
          </a:xfrm>
          <a:prstGeom prst="rect">
            <a:avLst/>
          </a:prstGeom>
        </p:spPr>
      </p:pic>
      <p:pic>
        <p:nvPicPr>
          <p:cNvPr id="5" name="图片 4"/>
          <p:cNvPicPr>
            <a:picLocks noChangeAspect="1"/>
          </p:cNvPicPr>
          <p:nvPr/>
        </p:nvPicPr>
        <p:blipFill>
          <a:blip r:embed="rId3"/>
          <a:stretch>
            <a:fillRect/>
          </a:stretch>
        </p:blipFill>
        <p:spPr>
          <a:xfrm>
            <a:off x="0" y="1454785"/>
            <a:ext cx="9144000" cy="187960"/>
          </a:xfrm>
          <a:prstGeom prst="rect">
            <a:avLst/>
          </a:prstGeom>
        </p:spPr>
      </p:pic>
      <p:pic>
        <p:nvPicPr>
          <p:cNvPr id="7" name="图片 6"/>
          <p:cNvPicPr>
            <a:picLocks noChangeAspect="1"/>
          </p:cNvPicPr>
          <p:nvPr/>
        </p:nvPicPr>
        <p:blipFill>
          <a:blip r:embed="rId4"/>
          <a:stretch>
            <a:fillRect/>
          </a:stretch>
        </p:blipFill>
        <p:spPr>
          <a:xfrm>
            <a:off x="0" y="1642745"/>
            <a:ext cx="8953500" cy="190500"/>
          </a:xfrm>
          <a:prstGeom prst="rect">
            <a:avLst/>
          </a:prstGeom>
        </p:spPr>
      </p:pic>
      <p:sp>
        <p:nvSpPr>
          <p:cNvPr id="8" name="文本框 7"/>
          <p:cNvSpPr txBox="1"/>
          <p:nvPr/>
        </p:nvSpPr>
        <p:spPr>
          <a:xfrm>
            <a:off x="0" y="765175"/>
            <a:ext cx="304800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rPr>
              <a:t>路由器</a:t>
            </a:r>
            <a:endParaRPr lang="zh-CN" altLang="en-US" sz="1200">
              <a:latin typeface="宋体" panose="02010600030101010101" pitchFamily="2" charset="-122"/>
              <a:ea typeface="宋体" panose="02010600030101010101" pitchFamily="2" charset="-122"/>
            </a:endParaRPr>
          </a:p>
        </p:txBody>
      </p:sp>
      <p:sp>
        <p:nvSpPr>
          <p:cNvPr id="9" name="文本框 8"/>
          <p:cNvSpPr txBox="1"/>
          <p:nvPr/>
        </p:nvSpPr>
        <p:spPr>
          <a:xfrm>
            <a:off x="0" y="1231265"/>
            <a:ext cx="304800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rPr>
              <a:t>终端</a:t>
            </a:r>
            <a:endParaRPr lang="zh-CN" altLang="en-US" sz="1200">
              <a:latin typeface="宋体" panose="02010600030101010101" pitchFamily="2" charset="-122"/>
              <a:ea typeface="宋体" panose="02010600030101010101" pitchFamily="2" charset="-122"/>
            </a:endParaRPr>
          </a:p>
        </p:txBody>
      </p:sp>
      <p:pic>
        <p:nvPicPr>
          <p:cNvPr id="10" name="图片 9"/>
          <p:cNvPicPr>
            <a:picLocks noChangeAspect="1"/>
          </p:cNvPicPr>
          <p:nvPr/>
        </p:nvPicPr>
        <p:blipFill>
          <a:blip r:embed="rId5"/>
          <a:stretch>
            <a:fillRect/>
          </a:stretch>
        </p:blipFill>
        <p:spPr>
          <a:xfrm>
            <a:off x="99060" y="3363595"/>
            <a:ext cx="2286000" cy="209550"/>
          </a:xfrm>
          <a:prstGeom prst="rect">
            <a:avLst/>
          </a:prstGeom>
        </p:spPr>
      </p:pic>
      <p:pic>
        <p:nvPicPr>
          <p:cNvPr id="11" name="图片 10"/>
          <p:cNvPicPr>
            <a:picLocks noChangeAspect="1"/>
          </p:cNvPicPr>
          <p:nvPr/>
        </p:nvPicPr>
        <p:blipFill>
          <a:blip r:embed="rId6"/>
          <a:stretch>
            <a:fillRect/>
          </a:stretch>
        </p:blipFill>
        <p:spPr>
          <a:xfrm>
            <a:off x="4758055" y="2056765"/>
            <a:ext cx="4071620" cy="2021840"/>
          </a:xfrm>
          <a:prstGeom prst="rect">
            <a:avLst/>
          </a:prstGeom>
        </p:spPr>
      </p:pic>
      <p:sp>
        <p:nvSpPr>
          <p:cNvPr id="12" name="文本框 11"/>
          <p:cNvSpPr txBox="1"/>
          <p:nvPr/>
        </p:nvSpPr>
        <p:spPr>
          <a:xfrm>
            <a:off x="2206625" y="4568825"/>
            <a:ext cx="3048000" cy="245110"/>
          </a:xfrm>
          <a:prstGeom prst="rect">
            <a:avLst/>
          </a:prstGeom>
          <a:noFill/>
        </p:spPr>
        <p:txBody>
          <a:bodyPr wrap="square" rtlCol="0">
            <a:spAutoFit/>
          </a:bodyPr>
          <a:p>
            <a:r>
              <a:rPr lang="zh-CN" altLang="en-US" sz="1000"/>
              <a:t>子设备</a:t>
            </a:r>
            <a:endParaRPr lang="zh-CN" altLang="en-US" sz="1000"/>
          </a:p>
        </p:txBody>
      </p:sp>
      <p:sp>
        <p:nvSpPr>
          <p:cNvPr id="13" name="文本框 12"/>
          <p:cNvSpPr txBox="1"/>
          <p:nvPr/>
        </p:nvSpPr>
        <p:spPr>
          <a:xfrm>
            <a:off x="6342380" y="4090035"/>
            <a:ext cx="3048000" cy="245110"/>
          </a:xfrm>
          <a:prstGeom prst="rect">
            <a:avLst/>
          </a:prstGeom>
          <a:noFill/>
        </p:spPr>
        <p:txBody>
          <a:bodyPr wrap="square" rtlCol="0">
            <a:spAutoFit/>
          </a:bodyPr>
          <a:p>
            <a:r>
              <a:rPr lang="zh-CN" altLang="en-US" sz="1000"/>
              <a:t>父设备</a:t>
            </a:r>
            <a:endParaRPr lang="zh-CN" alt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15900" y="637540"/>
            <a:ext cx="3606800" cy="368300"/>
          </a:xfrm>
          <a:prstGeom prst="rect">
            <a:avLst/>
          </a:prstGeom>
          <a:noFill/>
        </p:spPr>
        <p:txBody>
          <a:bodyPr wrap="square" rtlCol="0">
            <a:spAutoFit/>
          </a:bodyPr>
          <a:p>
            <a:r>
              <a:rPr lang="en-US" altLang="zh-CN"/>
              <a:t>4</a:t>
            </a:r>
            <a:r>
              <a:rPr lang="zh-CN" altLang="en-US"/>
              <a:t>、设备</a:t>
            </a:r>
            <a:r>
              <a:rPr lang="zh-CN" altLang="en-US"/>
              <a:t>离网</a:t>
            </a:r>
            <a:endParaRPr lang="zh-CN" altLang="en-US"/>
          </a:p>
        </p:txBody>
      </p:sp>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215900" y="1848485"/>
            <a:ext cx="4050030" cy="1539875"/>
          </a:xfrm>
          <a:prstGeom prst="rect">
            <a:avLst/>
          </a:prstGeom>
        </p:spPr>
      </p:pic>
      <p:pic>
        <p:nvPicPr>
          <p:cNvPr id="4" name="图片 3"/>
          <p:cNvPicPr>
            <a:picLocks noChangeAspect="1"/>
          </p:cNvPicPr>
          <p:nvPr/>
        </p:nvPicPr>
        <p:blipFill>
          <a:blip r:embed="rId2"/>
          <a:stretch>
            <a:fillRect/>
          </a:stretch>
        </p:blipFill>
        <p:spPr>
          <a:xfrm>
            <a:off x="286385" y="1449705"/>
            <a:ext cx="2012950" cy="228600"/>
          </a:xfrm>
          <a:prstGeom prst="rect">
            <a:avLst/>
          </a:prstGeom>
        </p:spPr>
      </p:pic>
      <p:pic>
        <p:nvPicPr>
          <p:cNvPr id="5" name="图片 4"/>
          <p:cNvPicPr>
            <a:picLocks noChangeAspect="1"/>
          </p:cNvPicPr>
          <p:nvPr/>
        </p:nvPicPr>
        <p:blipFill>
          <a:blip r:embed="rId3"/>
          <a:stretch>
            <a:fillRect/>
          </a:stretch>
        </p:blipFill>
        <p:spPr>
          <a:xfrm>
            <a:off x="4591050" y="1469390"/>
            <a:ext cx="4044315" cy="1539240"/>
          </a:xfrm>
          <a:prstGeom prst="rect">
            <a:avLst/>
          </a:prstGeom>
        </p:spPr>
      </p:pic>
      <p:pic>
        <p:nvPicPr>
          <p:cNvPr id="7" name="图片 6"/>
          <p:cNvPicPr>
            <a:picLocks noChangeAspect="1"/>
          </p:cNvPicPr>
          <p:nvPr/>
        </p:nvPicPr>
        <p:blipFill>
          <a:blip r:embed="rId4"/>
          <a:srcRect l="1426" t="2083" r="4394" b="2917"/>
          <a:stretch>
            <a:fillRect/>
          </a:stretch>
        </p:blipFill>
        <p:spPr>
          <a:xfrm>
            <a:off x="4682490" y="2963545"/>
            <a:ext cx="3119755" cy="1884680"/>
          </a:xfrm>
          <a:prstGeom prst="rect">
            <a:avLst/>
          </a:prstGeom>
        </p:spPr>
      </p:pic>
      <p:sp>
        <p:nvSpPr>
          <p:cNvPr id="9" name="文本框 8"/>
          <p:cNvSpPr txBox="1"/>
          <p:nvPr/>
        </p:nvSpPr>
        <p:spPr>
          <a:xfrm>
            <a:off x="215900" y="1136015"/>
            <a:ext cx="3048000" cy="275590"/>
          </a:xfrm>
          <a:prstGeom prst="rect">
            <a:avLst/>
          </a:prstGeom>
          <a:noFill/>
        </p:spPr>
        <p:txBody>
          <a:bodyPr wrap="square" rtlCol="0">
            <a:spAutoFit/>
          </a:bodyPr>
          <a:p>
            <a:r>
              <a:rPr lang="zh-CN" altLang="en-US" sz="1200"/>
              <a:t>主动离网</a:t>
            </a:r>
            <a:endParaRPr lang="zh-CN" altLang="en-US" sz="1200"/>
          </a:p>
        </p:txBody>
      </p:sp>
      <p:sp>
        <p:nvSpPr>
          <p:cNvPr id="11" name="文本框 10"/>
          <p:cNvSpPr txBox="1"/>
          <p:nvPr/>
        </p:nvSpPr>
        <p:spPr>
          <a:xfrm>
            <a:off x="4682490" y="1136015"/>
            <a:ext cx="3048000" cy="275590"/>
          </a:xfrm>
          <a:prstGeom prst="rect">
            <a:avLst/>
          </a:prstGeom>
          <a:noFill/>
        </p:spPr>
        <p:txBody>
          <a:bodyPr wrap="square" rtlCol="0">
            <a:spAutoFit/>
          </a:bodyPr>
          <a:p>
            <a:r>
              <a:rPr lang="zh-CN" altLang="en-US" sz="1200"/>
              <a:t>被动离网</a:t>
            </a:r>
            <a:endParaRPr lang="zh-CN" altLang="en-US" sz="1200"/>
          </a:p>
        </p:txBody>
      </p:sp>
      <p:sp>
        <p:nvSpPr>
          <p:cNvPr id="12" name="文本框 11"/>
          <p:cNvSpPr txBox="1"/>
          <p:nvPr/>
        </p:nvSpPr>
        <p:spPr>
          <a:xfrm>
            <a:off x="215900" y="3625850"/>
            <a:ext cx="3048000" cy="737235"/>
          </a:xfrm>
          <a:prstGeom prst="rect">
            <a:avLst/>
          </a:prstGeom>
          <a:noFill/>
        </p:spPr>
        <p:txBody>
          <a:bodyPr wrap="square" rtlCol="0">
            <a:spAutoFit/>
          </a:bodyPr>
          <a:p>
            <a:r>
              <a:rPr lang="zh-CN" altLang="en-US" sz="1400"/>
              <a:t>主要参数：</a:t>
            </a:r>
            <a:r>
              <a:rPr lang="en-US" altLang="zh-CN" sz="1400"/>
              <a:t>device address</a:t>
            </a:r>
            <a:endParaRPr lang="en-US" altLang="zh-CN" sz="1400"/>
          </a:p>
          <a:p>
            <a:pPr marL="457200" lvl="1" indent="457200"/>
            <a:r>
              <a:rPr lang="en-US" altLang="zh-CN" sz="1400"/>
              <a:t>remove children</a:t>
            </a:r>
            <a:endParaRPr lang="en-US" altLang="zh-CN" sz="1400"/>
          </a:p>
          <a:p>
            <a:pPr marL="457200" lvl="1" indent="457200"/>
            <a:r>
              <a:rPr lang="en-US" altLang="zh-CN" sz="1400"/>
              <a:t>rejoin</a:t>
            </a:r>
            <a:endParaRPr lang="en-US" altLang="zh-CN"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259715" y="1730375"/>
            <a:ext cx="3167380" cy="2487295"/>
          </a:xfrm>
          <a:prstGeom prst="rect">
            <a:avLst/>
          </a:prstGeom>
        </p:spPr>
      </p:pic>
      <p:sp>
        <p:nvSpPr>
          <p:cNvPr id="3" name="文本框 2"/>
          <p:cNvSpPr txBox="1"/>
          <p:nvPr/>
        </p:nvSpPr>
        <p:spPr>
          <a:xfrm>
            <a:off x="215900" y="637540"/>
            <a:ext cx="7578090" cy="368300"/>
          </a:xfrm>
          <a:prstGeom prst="rect">
            <a:avLst/>
          </a:prstGeom>
          <a:noFill/>
        </p:spPr>
        <p:txBody>
          <a:bodyPr wrap="square" rtlCol="0">
            <a:spAutoFit/>
          </a:bodyPr>
          <a:p>
            <a:r>
              <a:rPr lang="en-US" altLang="zh-CN"/>
              <a:t>5</a:t>
            </a:r>
            <a:r>
              <a:rPr lang="zh-CN" altLang="en-US"/>
              <a:t>、使用</a:t>
            </a:r>
            <a:r>
              <a:rPr lang="en-US" altLang="zh-CN"/>
              <a:t>NWK</a:t>
            </a:r>
            <a:r>
              <a:rPr lang="zh-CN" altLang="en-US"/>
              <a:t>层命令重新加入网络</a:t>
            </a:r>
            <a:r>
              <a:rPr lang="en-US" altLang="zh-CN"/>
              <a:t>(</a:t>
            </a:r>
            <a:r>
              <a:rPr lang="en-US" altLang="zh-CN">
                <a:sym typeface="+mn-ea"/>
              </a:rPr>
              <a:t>rejoinnework</a:t>
            </a:r>
            <a:r>
              <a:rPr lang="zh-CN" altLang="en-US">
                <a:sym typeface="+mn-ea"/>
              </a:rPr>
              <a:t>：</a:t>
            </a:r>
            <a:r>
              <a:rPr lang="en-US" altLang="zh-CN">
                <a:sym typeface="+mn-ea"/>
              </a:rPr>
              <a:t>0x02</a:t>
            </a:r>
            <a:r>
              <a:rPr lang="en-US" altLang="zh-CN"/>
              <a:t>)</a:t>
            </a:r>
            <a:endParaRPr lang="en-US" altLang="zh-CN"/>
          </a:p>
        </p:txBody>
      </p:sp>
      <p:pic>
        <p:nvPicPr>
          <p:cNvPr id="4" name="图片 3"/>
          <p:cNvPicPr>
            <a:picLocks noChangeAspect="1"/>
          </p:cNvPicPr>
          <p:nvPr/>
        </p:nvPicPr>
        <p:blipFill>
          <a:blip r:embed="rId2"/>
          <a:stretch>
            <a:fillRect/>
          </a:stretch>
        </p:blipFill>
        <p:spPr>
          <a:xfrm>
            <a:off x="324485" y="1083945"/>
            <a:ext cx="2438400" cy="190500"/>
          </a:xfrm>
          <a:prstGeom prst="rect">
            <a:avLst/>
          </a:prstGeom>
        </p:spPr>
      </p:pic>
      <p:sp>
        <p:nvSpPr>
          <p:cNvPr id="5" name="文本框 4"/>
          <p:cNvSpPr txBox="1"/>
          <p:nvPr/>
        </p:nvSpPr>
        <p:spPr>
          <a:xfrm>
            <a:off x="259715" y="1352550"/>
            <a:ext cx="6180455" cy="245110"/>
          </a:xfrm>
          <a:prstGeom prst="rect">
            <a:avLst/>
          </a:prstGeom>
          <a:noFill/>
        </p:spPr>
        <p:txBody>
          <a:bodyPr wrap="square" rtlCol="0">
            <a:spAutoFit/>
          </a:bodyPr>
          <a:p>
            <a:r>
              <a:rPr lang="en-US" altLang="zh-CN" sz="1000"/>
              <a:t>rejoin type</a:t>
            </a:r>
            <a:r>
              <a:rPr lang="zh-CN" altLang="en-US" sz="1000"/>
              <a:t>：</a:t>
            </a:r>
            <a:r>
              <a:rPr lang="en-US" altLang="zh-CN" sz="1000"/>
              <a:t>ZIGBEE_EVT_TYPE_NWK_REJOIN_REQ</a:t>
            </a:r>
            <a:endParaRPr lang="en-US" altLang="zh-CN" sz="1000"/>
          </a:p>
        </p:txBody>
      </p:sp>
      <p:pic>
        <p:nvPicPr>
          <p:cNvPr id="7" name="图片 6"/>
          <p:cNvPicPr>
            <a:picLocks noChangeAspect="1"/>
          </p:cNvPicPr>
          <p:nvPr/>
        </p:nvPicPr>
        <p:blipFill>
          <a:blip r:embed="rId3"/>
          <a:stretch>
            <a:fillRect/>
          </a:stretch>
        </p:blipFill>
        <p:spPr>
          <a:xfrm>
            <a:off x="3870960" y="1730375"/>
            <a:ext cx="4211955" cy="24580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253365" y="2555875"/>
            <a:ext cx="4952365" cy="368300"/>
          </a:xfrm>
          <a:prstGeom prst="rect">
            <a:avLst/>
          </a:prstGeom>
          <a:noFill/>
        </p:spPr>
        <p:txBody>
          <a:bodyPr wrap="square" rtlCol="0">
            <a:spAutoFit/>
          </a:bodyPr>
          <a:p>
            <a:r>
              <a:rPr lang="en-US" altLang="zh-CN"/>
              <a:t>7</a:t>
            </a:r>
            <a:r>
              <a:rPr lang="zh-CN" altLang="en-US"/>
              <a:t>、孤程序加入或重新加入</a:t>
            </a:r>
            <a:r>
              <a:rPr lang="en-US" altLang="zh-CN"/>
              <a:t>(</a:t>
            </a:r>
            <a:r>
              <a:rPr lang="en-US" altLang="zh-CN">
                <a:sym typeface="+mn-ea"/>
              </a:rPr>
              <a:t>rejoinnework</a:t>
            </a:r>
            <a:r>
              <a:rPr lang="zh-CN" altLang="en-US">
                <a:sym typeface="+mn-ea"/>
              </a:rPr>
              <a:t>：</a:t>
            </a:r>
            <a:r>
              <a:rPr lang="en-US" altLang="zh-CN">
                <a:sym typeface="+mn-ea"/>
              </a:rPr>
              <a:t>0x01</a:t>
            </a:r>
            <a:r>
              <a:rPr lang="en-US" altLang="zh-CN"/>
              <a:t>)</a:t>
            </a:r>
            <a:endParaRPr lang="en-US" altLang="zh-CN"/>
          </a:p>
        </p:txBody>
      </p:sp>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pic>
        <p:nvPicPr>
          <p:cNvPr id="2" name="图片 1"/>
          <p:cNvPicPr>
            <a:picLocks noChangeAspect="1"/>
          </p:cNvPicPr>
          <p:nvPr/>
        </p:nvPicPr>
        <p:blipFill>
          <a:blip r:embed="rId1"/>
          <a:stretch>
            <a:fillRect/>
          </a:stretch>
        </p:blipFill>
        <p:spPr>
          <a:xfrm>
            <a:off x="108585" y="2924175"/>
            <a:ext cx="3751580" cy="1759585"/>
          </a:xfrm>
          <a:prstGeom prst="rect">
            <a:avLst/>
          </a:prstGeom>
        </p:spPr>
      </p:pic>
      <p:pic>
        <p:nvPicPr>
          <p:cNvPr id="4" name="图片 3"/>
          <p:cNvPicPr>
            <a:picLocks noChangeAspect="1"/>
          </p:cNvPicPr>
          <p:nvPr/>
        </p:nvPicPr>
        <p:blipFill>
          <a:blip r:embed="rId2"/>
          <a:stretch>
            <a:fillRect/>
          </a:stretch>
        </p:blipFill>
        <p:spPr>
          <a:xfrm>
            <a:off x="4259580" y="2987040"/>
            <a:ext cx="4593590" cy="1762125"/>
          </a:xfrm>
          <a:prstGeom prst="rect">
            <a:avLst/>
          </a:prstGeom>
        </p:spPr>
      </p:pic>
      <p:sp>
        <p:nvSpPr>
          <p:cNvPr id="7" name="文本框 6"/>
          <p:cNvSpPr txBox="1"/>
          <p:nvPr/>
        </p:nvSpPr>
        <p:spPr>
          <a:xfrm>
            <a:off x="215900" y="535940"/>
            <a:ext cx="3048000" cy="368300"/>
          </a:xfrm>
          <a:prstGeom prst="rect">
            <a:avLst/>
          </a:prstGeom>
          <a:noFill/>
        </p:spPr>
        <p:txBody>
          <a:bodyPr wrap="square" rtlCol="0">
            <a:spAutoFit/>
          </a:bodyPr>
          <a:p>
            <a:r>
              <a:rPr lang="en-US" altLang="zh-CN"/>
              <a:t>6</a:t>
            </a:r>
            <a:r>
              <a:rPr lang="zh-CN" altLang="en-US"/>
              <a:t>、直接加入一个</a:t>
            </a:r>
            <a:r>
              <a:rPr lang="zh-CN" altLang="en-US"/>
              <a:t>网络</a:t>
            </a:r>
            <a:endParaRPr lang="zh-CN" altLang="en-US"/>
          </a:p>
        </p:txBody>
      </p:sp>
      <p:pic>
        <p:nvPicPr>
          <p:cNvPr id="8" name="图片 7"/>
          <p:cNvPicPr>
            <a:picLocks noChangeAspect="1"/>
          </p:cNvPicPr>
          <p:nvPr/>
        </p:nvPicPr>
        <p:blipFill>
          <a:blip r:embed="rId3"/>
          <a:stretch>
            <a:fillRect/>
          </a:stretch>
        </p:blipFill>
        <p:spPr>
          <a:xfrm>
            <a:off x="160655" y="904240"/>
            <a:ext cx="3025775" cy="14198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|NWK</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560705"/>
            <a:ext cx="3048000" cy="368300"/>
          </a:xfrm>
          <a:prstGeom prst="rect">
            <a:avLst/>
          </a:prstGeom>
          <a:noFill/>
        </p:spPr>
        <p:txBody>
          <a:bodyPr wrap="square" rtlCol="0">
            <a:spAutoFit/>
          </a:bodyPr>
          <a:p>
            <a:r>
              <a:rPr lang="zh-CN" altLang="en-US"/>
              <a:t>帧格式</a:t>
            </a:r>
            <a:endParaRPr lang="zh-CN" altLang="en-US"/>
          </a:p>
        </p:txBody>
      </p:sp>
      <p:pic>
        <p:nvPicPr>
          <p:cNvPr id="4" name="图片 3"/>
          <p:cNvPicPr>
            <a:picLocks noChangeAspect="1"/>
          </p:cNvPicPr>
          <p:nvPr/>
        </p:nvPicPr>
        <p:blipFill>
          <a:blip r:embed="rId1"/>
          <a:stretch>
            <a:fillRect/>
          </a:stretch>
        </p:blipFill>
        <p:spPr>
          <a:xfrm>
            <a:off x="215900" y="929005"/>
            <a:ext cx="6144260" cy="1292225"/>
          </a:xfrm>
          <a:prstGeom prst="rect">
            <a:avLst/>
          </a:prstGeom>
        </p:spPr>
      </p:pic>
      <p:pic>
        <p:nvPicPr>
          <p:cNvPr id="5" name="图片 4"/>
          <p:cNvPicPr>
            <a:picLocks noChangeAspect="1"/>
          </p:cNvPicPr>
          <p:nvPr/>
        </p:nvPicPr>
        <p:blipFill>
          <a:blip r:embed="rId2"/>
          <a:stretch>
            <a:fillRect/>
          </a:stretch>
        </p:blipFill>
        <p:spPr>
          <a:xfrm>
            <a:off x="215900" y="2857500"/>
            <a:ext cx="6981190" cy="853440"/>
          </a:xfrm>
          <a:prstGeom prst="rect">
            <a:avLst/>
          </a:prstGeom>
        </p:spPr>
      </p:pic>
      <p:sp>
        <p:nvSpPr>
          <p:cNvPr id="7" name="文本框 6"/>
          <p:cNvSpPr txBox="1"/>
          <p:nvPr/>
        </p:nvSpPr>
        <p:spPr>
          <a:xfrm>
            <a:off x="215900" y="2562860"/>
            <a:ext cx="3048000" cy="368300"/>
          </a:xfrm>
          <a:prstGeom prst="rect">
            <a:avLst/>
          </a:prstGeom>
          <a:noFill/>
        </p:spPr>
        <p:txBody>
          <a:bodyPr wrap="square" rtlCol="0">
            <a:spAutoFit/>
          </a:bodyPr>
          <a:p>
            <a:r>
              <a:rPr lang="zh-CN" altLang="en-US"/>
              <a:t>帧</a:t>
            </a:r>
            <a:r>
              <a:rPr lang="zh-CN" altLang="en-US"/>
              <a:t>控制</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04</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ZDO</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5019"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altLang="zh-CN"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Zigbee</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设备</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对象</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04</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60985" y="587375"/>
            <a:ext cx="3048000" cy="368300"/>
          </a:xfrm>
          <a:prstGeom prst="rect">
            <a:avLst/>
          </a:prstGeom>
          <a:noFill/>
        </p:spPr>
        <p:txBody>
          <a:bodyPr wrap="square" rtlCol="0">
            <a:spAutoFit/>
          </a:bodyPr>
          <a:p>
            <a:r>
              <a:rPr lang="en-US" altLang="zh-CN"/>
              <a:t>Zigbee</a:t>
            </a:r>
            <a:r>
              <a:rPr lang="zh-CN" altLang="en-US"/>
              <a:t>应用</a:t>
            </a:r>
            <a:r>
              <a:rPr lang="zh-CN" altLang="en-US"/>
              <a:t>框架</a:t>
            </a:r>
            <a:endParaRPr lang="zh-CN" altLang="en-US"/>
          </a:p>
        </p:txBody>
      </p:sp>
      <p:sp>
        <p:nvSpPr>
          <p:cNvPr id="5" name="文本框 4"/>
          <p:cNvSpPr txBox="1"/>
          <p:nvPr/>
        </p:nvSpPr>
        <p:spPr>
          <a:xfrm>
            <a:off x="260985" y="1086485"/>
            <a:ext cx="3048000" cy="368300"/>
          </a:xfrm>
          <a:prstGeom prst="rect">
            <a:avLst/>
          </a:prstGeom>
          <a:noFill/>
        </p:spPr>
        <p:txBody>
          <a:bodyPr wrap="square" rtlCol="0">
            <a:spAutoFit/>
          </a:bodyPr>
          <a:p>
            <a:r>
              <a:rPr lang="en-US" altLang="zh-CN"/>
              <a:t>1</a:t>
            </a:r>
            <a:r>
              <a:rPr lang="zh-CN" altLang="en-US"/>
              <a:t>、创建一个</a:t>
            </a:r>
            <a:r>
              <a:rPr lang="en-US" altLang="zh-CN"/>
              <a:t>profile</a:t>
            </a:r>
            <a:endParaRPr lang="en-US" altLang="zh-CN"/>
          </a:p>
        </p:txBody>
      </p:sp>
      <p:sp>
        <p:nvSpPr>
          <p:cNvPr id="6" name="文本框 5"/>
          <p:cNvSpPr txBox="1"/>
          <p:nvPr/>
        </p:nvSpPr>
        <p:spPr>
          <a:xfrm>
            <a:off x="260985" y="1454785"/>
            <a:ext cx="3048000" cy="1076325"/>
          </a:xfrm>
          <a:prstGeom prst="rect">
            <a:avLst/>
          </a:prstGeom>
          <a:noFill/>
        </p:spPr>
        <p:txBody>
          <a:bodyPr wrap="square" rtlCol="0">
            <a:spAutoFit/>
          </a:bodyPr>
          <a:p>
            <a:r>
              <a:rPr lang="en-US" altLang="zh-CN" sz="1600">
                <a:latin typeface="宋体" panose="02010600030101010101" pitchFamily="2" charset="-122"/>
                <a:ea typeface="宋体" panose="02010600030101010101" pitchFamily="2" charset="-122"/>
                <a:cs typeface="宋体" panose="02010600030101010101" pitchFamily="2" charset="-122"/>
              </a:rPr>
              <a:t>(1)</a:t>
            </a:r>
            <a:r>
              <a:rPr lang="zh-CN" altLang="en-US" sz="1600">
                <a:latin typeface="宋体" panose="02010600030101010101" pitchFamily="2" charset="-122"/>
                <a:ea typeface="宋体" panose="02010600030101010101" pitchFamily="2" charset="-122"/>
                <a:cs typeface="宋体" panose="02010600030101010101" pitchFamily="2" charset="-122"/>
              </a:rPr>
              <a:t>获取</a:t>
            </a:r>
            <a:r>
              <a:rPr lang="en-US" altLang="zh-CN" sz="1600">
                <a:latin typeface="宋体" panose="02010600030101010101" pitchFamily="2" charset="-122"/>
                <a:ea typeface="宋体" panose="02010600030101010101" pitchFamily="2" charset="-122"/>
                <a:cs typeface="宋体" panose="02010600030101010101" pitchFamily="2" charset="-122"/>
              </a:rPr>
              <a:t>profile</a:t>
            </a:r>
            <a:r>
              <a:rPr lang="zh-CN" altLang="en-US" sz="1600">
                <a:latin typeface="宋体" panose="02010600030101010101" pitchFamily="2" charset="-122"/>
                <a:ea typeface="宋体" panose="02010600030101010101" pitchFamily="2" charset="-122"/>
                <a:cs typeface="宋体" panose="02010600030101010101" pitchFamily="2" charset="-122"/>
              </a:rPr>
              <a:t>标识符</a:t>
            </a:r>
            <a:endParaRPr lang="zh-CN" altLang="en-US" sz="1600">
              <a:latin typeface="宋体" panose="02010600030101010101" pitchFamily="2" charset="-122"/>
              <a:ea typeface="宋体" panose="02010600030101010101" pitchFamily="2" charset="-122"/>
              <a:cs typeface="宋体" panose="02010600030101010101" pitchFamily="2" charset="-122"/>
            </a:endParaRPr>
          </a:p>
          <a:p>
            <a:r>
              <a:rPr lang="en-US" altLang="zh-CN" sz="1600">
                <a:latin typeface="宋体" panose="02010600030101010101" pitchFamily="2" charset="-122"/>
                <a:ea typeface="宋体" panose="02010600030101010101" pitchFamily="2" charset="-122"/>
                <a:cs typeface="宋体" panose="02010600030101010101" pitchFamily="2" charset="-122"/>
                <a:sym typeface="+mn-ea"/>
              </a:rPr>
              <a:t>(2)</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定义设备类型和</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cluster</a:t>
            </a:r>
            <a:endParaRPr lang="en-US" altLang="zh-CN" sz="1600">
              <a:latin typeface="宋体" panose="02010600030101010101" pitchFamily="2" charset="-122"/>
              <a:ea typeface="宋体" panose="02010600030101010101" pitchFamily="2" charset="-122"/>
              <a:cs typeface="宋体" panose="02010600030101010101" pitchFamily="2" charset="-122"/>
            </a:endParaRPr>
          </a:p>
          <a:p>
            <a:r>
              <a:rPr lang="en-US" altLang="zh-CN" sz="1600">
                <a:latin typeface="宋体" panose="02010600030101010101" pitchFamily="2" charset="-122"/>
                <a:ea typeface="宋体" panose="02010600030101010101" pitchFamily="2" charset="-122"/>
                <a:cs typeface="宋体" panose="02010600030101010101" pitchFamily="2" charset="-122"/>
                <a:sym typeface="+mn-ea"/>
              </a:rPr>
              <a:t>(3)</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在端点上使用</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profile</a:t>
            </a:r>
            <a:endParaRPr lang="en-US" altLang="zh-CN" sz="1600">
              <a:latin typeface="宋体" panose="02010600030101010101" pitchFamily="2" charset="-122"/>
              <a:ea typeface="宋体" panose="02010600030101010101" pitchFamily="2" charset="-122"/>
              <a:cs typeface="宋体" panose="02010600030101010101" pitchFamily="2" charset="-122"/>
            </a:endParaRPr>
          </a:p>
          <a:p>
            <a:endParaRPr lang="en-US" altLang="zh-CN" sz="1600">
              <a:latin typeface="宋体" panose="02010600030101010101" pitchFamily="2" charset="-122"/>
              <a:ea typeface="宋体" panose="02010600030101010101" pitchFamily="2" charset="-122"/>
              <a:cs typeface="宋体" panose="02010600030101010101" pitchFamily="2" charset="-122"/>
            </a:endParaRPr>
          </a:p>
        </p:txBody>
      </p:sp>
      <p:graphicFrame>
        <p:nvGraphicFramePr>
          <p:cNvPr id="10" name="表格 9"/>
          <p:cNvGraphicFramePr/>
          <p:nvPr/>
        </p:nvGraphicFramePr>
        <p:xfrm>
          <a:off x="3419475" y="1086485"/>
          <a:ext cx="5297805" cy="1346200"/>
        </p:xfrm>
        <a:graphic>
          <a:graphicData uri="http://schemas.openxmlformats.org/drawingml/2006/table">
            <a:tbl>
              <a:tblPr/>
              <a:tblGrid>
                <a:gridCol w="681990"/>
                <a:gridCol w="862330"/>
                <a:gridCol w="3753485"/>
              </a:tblGrid>
              <a:tr h="0">
                <a:tc>
                  <a:txBody>
                    <a:bodyPr/>
                    <a:p>
                      <a:pPr algn="l"/>
                      <a:r>
                        <a:rPr lang="zh-CN" altLang="en-US" sz="1100"/>
                        <a:t>端点号</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用途</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说明</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en-US" altLang="zh-CN" sz="1100"/>
                        <a:t>0</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ZDO</a:t>
                      </a:r>
                      <a:r>
                        <a:rPr lang="zh-CN" altLang="en-US" sz="1100"/>
                        <a:t>专用</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负责组网、发现、绑定等管理，协议栈自动</a:t>
                      </a:r>
                      <a:r>
                        <a:rPr lang="zh-CN" altLang="en-US" sz="1100"/>
                        <a:t>注册</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en-US" altLang="zh-CN" sz="1100"/>
                        <a:t>1~240</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用户应用</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自定义业务功能，需手动</a:t>
                      </a:r>
                      <a:r>
                        <a:rPr lang="zh-CN" altLang="en-US" sz="1100"/>
                        <a:t>注册</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en-US" altLang="zh-CN" sz="1100"/>
                        <a:t>241~254</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预留</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协议保留，不可自定义</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en-US" altLang="zh-CN" sz="1100"/>
                        <a:t>255</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广播端点</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发给该端点的消息，设备所有应用端点都能接收</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pic>
        <p:nvPicPr>
          <p:cNvPr id="11" name="图片 10"/>
          <p:cNvPicPr>
            <a:picLocks noChangeAspect="1"/>
          </p:cNvPicPr>
          <p:nvPr/>
        </p:nvPicPr>
        <p:blipFill>
          <a:blip r:embed="rId1"/>
          <a:stretch>
            <a:fillRect/>
          </a:stretch>
        </p:blipFill>
        <p:spPr>
          <a:xfrm>
            <a:off x="232410" y="2832100"/>
            <a:ext cx="3498850" cy="1683385"/>
          </a:xfrm>
          <a:prstGeom prst="rect">
            <a:avLst/>
          </a:prstGeom>
        </p:spPr>
      </p:pic>
      <p:sp>
        <p:nvSpPr>
          <p:cNvPr id="12" name="文本框 11"/>
          <p:cNvSpPr txBox="1"/>
          <p:nvPr/>
        </p:nvSpPr>
        <p:spPr>
          <a:xfrm>
            <a:off x="232410" y="2571750"/>
            <a:ext cx="304800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rPr>
              <a:t>声明端点</a:t>
            </a:r>
            <a:endParaRPr lang="zh-CN" altLang="en-US" sz="1200">
              <a:latin typeface="宋体" panose="02010600030101010101" pitchFamily="2" charset="-122"/>
              <a:ea typeface="宋体" panose="02010600030101010101" pitchFamily="2" charset="-122"/>
            </a:endParaRPr>
          </a:p>
        </p:txBody>
      </p:sp>
      <p:pic>
        <p:nvPicPr>
          <p:cNvPr id="13" name="图片 12"/>
          <p:cNvPicPr>
            <a:picLocks noChangeAspect="1"/>
          </p:cNvPicPr>
          <p:nvPr/>
        </p:nvPicPr>
        <p:blipFill>
          <a:blip r:embed="rId2"/>
          <a:stretch>
            <a:fillRect/>
          </a:stretch>
        </p:blipFill>
        <p:spPr>
          <a:xfrm>
            <a:off x="3858260" y="2832100"/>
            <a:ext cx="3623310" cy="1196340"/>
          </a:xfrm>
          <a:prstGeom prst="rect">
            <a:avLst/>
          </a:prstGeom>
        </p:spPr>
      </p:pic>
      <p:pic>
        <p:nvPicPr>
          <p:cNvPr id="14" name="图片 13"/>
          <p:cNvPicPr>
            <a:picLocks noChangeAspect="1"/>
          </p:cNvPicPr>
          <p:nvPr/>
        </p:nvPicPr>
        <p:blipFill>
          <a:blip r:embed="rId3"/>
          <a:stretch>
            <a:fillRect/>
          </a:stretch>
        </p:blipFill>
        <p:spPr>
          <a:xfrm>
            <a:off x="3858260" y="4041775"/>
            <a:ext cx="4290695" cy="845185"/>
          </a:xfrm>
          <a:prstGeom prst="rect">
            <a:avLst/>
          </a:prstGeom>
        </p:spPr>
      </p:pic>
      <p:sp>
        <p:nvSpPr>
          <p:cNvPr id="16" name="文本框 15"/>
          <p:cNvSpPr txBox="1"/>
          <p:nvPr/>
        </p:nvSpPr>
        <p:spPr>
          <a:xfrm>
            <a:off x="3858260" y="2556510"/>
            <a:ext cx="3048000" cy="275590"/>
          </a:xfrm>
          <a:prstGeom prst="rect">
            <a:avLst/>
          </a:prstGeom>
          <a:noFill/>
        </p:spPr>
        <p:txBody>
          <a:bodyPr wrap="square" rtlCol="0">
            <a:spAutoFit/>
          </a:bodyPr>
          <a:p>
            <a:r>
              <a:rPr lang="zh-CN" altLang="en-US" sz="1200">
                <a:latin typeface="宋体" panose="02010600030101010101" pitchFamily="2" charset="-122"/>
                <a:ea typeface="宋体" panose="02010600030101010101" pitchFamily="2" charset="-122"/>
              </a:rPr>
              <a:t>注册端点</a:t>
            </a:r>
            <a:endParaRPr lang="zh-CN" altLang="en-US" sz="1200">
              <a:latin typeface="宋体" panose="02010600030101010101" pitchFamily="2" charset="-122"/>
              <a:ea typeface="宋体" panose="0201060003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60985" y="587375"/>
            <a:ext cx="3048000" cy="368300"/>
          </a:xfrm>
          <a:prstGeom prst="rect">
            <a:avLst/>
          </a:prstGeom>
          <a:noFill/>
        </p:spPr>
        <p:txBody>
          <a:bodyPr wrap="square" rtlCol="0">
            <a:spAutoFit/>
          </a:bodyPr>
          <a:p>
            <a:r>
              <a:rPr lang="en-US" altLang="zh-CN"/>
              <a:t>Zigbee</a:t>
            </a:r>
            <a:r>
              <a:rPr lang="zh-CN" altLang="en-US"/>
              <a:t>应用</a:t>
            </a:r>
            <a:r>
              <a:rPr lang="zh-CN" altLang="en-US"/>
              <a:t>框架</a:t>
            </a:r>
            <a:endParaRPr lang="zh-CN" altLang="en-US"/>
          </a:p>
        </p:txBody>
      </p:sp>
      <p:sp>
        <p:nvSpPr>
          <p:cNvPr id="5" name="文本框 4"/>
          <p:cNvSpPr txBox="1"/>
          <p:nvPr/>
        </p:nvSpPr>
        <p:spPr>
          <a:xfrm>
            <a:off x="260985" y="1086485"/>
            <a:ext cx="3048000" cy="368300"/>
          </a:xfrm>
          <a:prstGeom prst="rect">
            <a:avLst/>
          </a:prstGeom>
          <a:noFill/>
        </p:spPr>
        <p:txBody>
          <a:bodyPr wrap="square" rtlCol="0">
            <a:spAutoFit/>
          </a:bodyPr>
          <a:p>
            <a:r>
              <a:rPr lang="en-US" altLang="zh-CN"/>
              <a:t>2</a:t>
            </a:r>
            <a:r>
              <a:rPr lang="zh-CN" altLang="en-US"/>
              <a:t>、</a:t>
            </a:r>
            <a:r>
              <a:rPr lang="en-US" altLang="zh-CN"/>
              <a:t>Zigbee</a:t>
            </a:r>
            <a:r>
              <a:rPr lang="zh-CN" altLang="en-US"/>
              <a:t>描述符</a:t>
            </a:r>
            <a:endParaRPr lang="zh-CN" altLang="en-US"/>
          </a:p>
        </p:txBody>
      </p:sp>
      <p:pic>
        <p:nvPicPr>
          <p:cNvPr id="3" name="图片 2"/>
          <p:cNvPicPr>
            <a:picLocks noChangeAspect="1"/>
          </p:cNvPicPr>
          <p:nvPr/>
        </p:nvPicPr>
        <p:blipFill>
          <a:blip r:embed="rId1"/>
          <a:stretch>
            <a:fillRect/>
          </a:stretch>
        </p:blipFill>
        <p:spPr>
          <a:xfrm>
            <a:off x="260985" y="1585595"/>
            <a:ext cx="3905885" cy="22529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8" name="文本框 7"/>
          <p:cNvSpPr txBox="1"/>
          <p:nvPr/>
        </p:nvSpPr>
        <p:spPr>
          <a:xfrm>
            <a:off x="168275" y="765810"/>
            <a:ext cx="8353425" cy="1246505"/>
          </a:xfrm>
          <a:prstGeom prst="rect">
            <a:avLst/>
          </a:prstGeom>
          <a:noFill/>
        </p:spPr>
        <p:txBody>
          <a:bodyPr wrap="square" rtlCol="0">
            <a:noAutofit/>
          </a:bodyPr>
          <a:p>
            <a:r>
              <a:rPr lang="zh-CN" altLang="en-US"/>
              <a:t>（</a:t>
            </a:r>
            <a:r>
              <a:rPr lang="en-US" altLang="zh-CN"/>
              <a:t>1</a:t>
            </a:r>
            <a:r>
              <a:rPr lang="zh-CN" altLang="en-US"/>
              <a:t>）节点描述符：包含关于</a:t>
            </a:r>
            <a:r>
              <a:rPr lang="en-US" altLang="zh-CN"/>
              <a:t>ZigBee </a:t>
            </a:r>
            <a:r>
              <a:rPr lang="zh-CN" altLang="en-US"/>
              <a:t>节点功能的信息，对每个节点都是强制的，</a:t>
            </a:r>
            <a:r>
              <a:rPr lang="en-US" altLang="zh-CN"/>
              <a:t>     </a:t>
            </a:r>
            <a:endParaRPr lang="en-US" altLang="zh-CN"/>
          </a:p>
          <a:p>
            <a:r>
              <a:rPr lang="en-US" altLang="zh-CN"/>
              <a:t>                               </a:t>
            </a:r>
            <a:r>
              <a:rPr lang="zh-CN" altLang="en-US"/>
              <a:t>且一个节点中应该只有一个节点描述符</a:t>
            </a:r>
            <a:endParaRPr lang="zh-CN" altLang="en-US"/>
          </a:p>
        </p:txBody>
      </p:sp>
      <p:pic>
        <p:nvPicPr>
          <p:cNvPr id="2" name="图片 1"/>
          <p:cNvPicPr>
            <a:picLocks noChangeAspect="1"/>
          </p:cNvPicPr>
          <p:nvPr/>
        </p:nvPicPr>
        <p:blipFill>
          <a:blip r:embed="rId1"/>
          <a:stretch>
            <a:fillRect/>
          </a:stretch>
        </p:blipFill>
        <p:spPr>
          <a:xfrm>
            <a:off x="2404745" y="1657350"/>
            <a:ext cx="5965825" cy="2394585"/>
          </a:xfrm>
          <a:prstGeom prst="rect">
            <a:avLst/>
          </a:prstGeom>
        </p:spPr>
      </p:pic>
      <p:pic>
        <p:nvPicPr>
          <p:cNvPr id="5" name="图片 2"/>
          <p:cNvPicPr>
            <a:picLocks noChangeAspect="1"/>
          </p:cNvPicPr>
          <p:nvPr/>
        </p:nvPicPr>
        <p:blipFill>
          <a:blip r:embed="rId2"/>
          <a:stretch>
            <a:fillRect/>
          </a:stretch>
        </p:blipFill>
        <p:spPr>
          <a:xfrm>
            <a:off x="215583" y="1657350"/>
            <a:ext cx="1837055" cy="2387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15595" y="3462020"/>
            <a:ext cx="8011795" cy="933450"/>
          </a:xfrm>
          <a:prstGeom prst="rect">
            <a:avLst/>
          </a:prstGeom>
        </p:spPr>
      </p:pic>
      <p:pic>
        <p:nvPicPr>
          <p:cNvPr id="7" name="图片 4"/>
          <p:cNvPicPr>
            <a:picLocks noChangeAspect="1"/>
          </p:cNvPicPr>
          <p:nvPr/>
        </p:nvPicPr>
        <p:blipFill>
          <a:blip r:embed="rId2"/>
          <a:stretch>
            <a:fillRect/>
          </a:stretch>
        </p:blipFill>
        <p:spPr>
          <a:xfrm>
            <a:off x="315278" y="1481455"/>
            <a:ext cx="2225675" cy="1609090"/>
          </a:xfrm>
          <a:prstGeom prst="rect">
            <a:avLst/>
          </a:prstGeom>
          <a:noFill/>
          <a:ln>
            <a:noFill/>
          </a:ln>
        </p:spPr>
      </p:pic>
      <p:graphicFrame>
        <p:nvGraphicFramePr>
          <p:cNvPr id="4" name="表格 3"/>
          <p:cNvGraphicFramePr/>
          <p:nvPr/>
        </p:nvGraphicFramePr>
        <p:xfrm>
          <a:off x="2925763" y="1487488"/>
          <a:ext cx="5563235" cy="1593215"/>
        </p:xfrm>
        <a:graphic>
          <a:graphicData uri="http://schemas.openxmlformats.org/drawingml/2006/table">
            <a:tbl>
              <a:tblPr/>
              <a:tblGrid>
                <a:gridCol w="1562735"/>
                <a:gridCol w="1196340"/>
                <a:gridCol w="1298575"/>
                <a:gridCol w="1505585"/>
              </a:tblGrid>
              <a:tr h="451485">
                <a:tc>
                  <a:txBody>
                    <a:bodyPr/>
                    <a:p>
                      <a:pPr algn="ctr" defTabSz="914400">
                        <a:lnSpc>
                          <a:spcPct val="120000"/>
                        </a:lnSpc>
                        <a:spcBef>
                          <a:spcPct val="0"/>
                        </a:spcBef>
                        <a:spcAft>
                          <a:spcPts val="100"/>
                        </a:spcAft>
                        <a:tabLst>
                          <a:tab pos="727075" algn="l"/>
                        </a:tabLst>
                      </a:pPr>
                      <a:r>
                        <a:rPr lang="zh-CN" sz="1100">
                          <a:latin typeface="宋体" panose="02010600030101010101" pitchFamily="2" charset="-122"/>
                          <a:ea typeface="宋体" panose="02010600030101010101" pitchFamily="2" charset="-122"/>
                        </a:rPr>
                        <a:t>当前电源模式</a:t>
                      </a:r>
                      <a:endParaRPr lang="zh-CN" sz="11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defTabSz="914400">
                        <a:lnSpc>
                          <a:spcPct val="120000"/>
                        </a:lnSpc>
                        <a:spcBef>
                          <a:spcPct val="0"/>
                        </a:spcBef>
                        <a:spcAft>
                          <a:spcPts val="100"/>
                        </a:spcAft>
                        <a:tabLst>
                          <a:tab pos="727075" algn="l"/>
                        </a:tabLst>
                      </a:pPr>
                      <a:r>
                        <a:rPr lang="zh-CN" sz="1200">
                          <a:latin typeface="宋体" panose="02010600030101010101" pitchFamily="2" charset="-122"/>
                          <a:ea typeface="宋体" panose="02010600030101010101" pitchFamily="2" charset="-122"/>
                        </a:rPr>
                        <a:t>可用电源来源</a:t>
                      </a:r>
                      <a:endParaRPr lang="zh-CN" sz="12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defTabSz="914400">
                        <a:lnSpc>
                          <a:spcPct val="120000"/>
                        </a:lnSpc>
                        <a:spcBef>
                          <a:spcPct val="0"/>
                        </a:spcBef>
                        <a:spcAft>
                          <a:spcPts val="100"/>
                        </a:spcAft>
                        <a:tabLst>
                          <a:tab pos="727075" algn="l"/>
                        </a:tabLst>
                      </a:pPr>
                      <a:r>
                        <a:rPr lang="zh-CN" sz="1200">
                          <a:latin typeface="宋体" panose="02010600030101010101" pitchFamily="2" charset="-122"/>
                          <a:ea typeface="宋体" panose="02010600030101010101" pitchFamily="2" charset="-122"/>
                        </a:rPr>
                        <a:t>当前电源来源</a:t>
                      </a:r>
                      <a:endParaRPr lang="zh-CN" sz="12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ctr" defTabSz="914400">
                        <a:lnSpc>
                          <a:spcPct val="120000"/>
                        </a:lnSpc>
                        <a:spcBef>
                          <a:spcPct val="0"/>
                        </a:spcBef>
                        <a:spcAft>
                          <a:spcPts val="100"/>
                        </a:spcAft>
                        <a:tabLst>
                          <a:tab pos="727075" algn="l"/>
                        </a:tabLst>
                      </a:pPr>
                      <a:r>
                        <a:rPr lang="zh-CN" sz="1100">
                          <a:latin typeface="宋体" panose="02010600030101010101" pitchFamily="2" charset="-122"/>
                          <a:ea typeface="宋体" panose="02010600030101010101" pitchFamily="2" charset="-122"/>
                        </a:rPr>
                        <a:t>当前电源来源电量</a:t>
                      </a:r>
                      <a:endParaRPr lang="zh-CN" sz="1100">
                        <a:latin typeface="宋体" panose="02010600030101010101" pitchFamily="2" charset="-122"/>
                        <a:ea typeface="宋体" panose="02010600030101010101" pitchFamily="2" charset="-122"/>
                      </a:endParaRPr>
                    </a:p>
                  </a:txBody>
                  <a:tcPr marL="68580" marR="68580" marT="0" marB="0" anchor="ctr"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r h="1141730">
                <a:tc>
                  <a:txBody>
                    <a:bodyPr/>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0000</a:t>
                      </a:r>
                      <a:r>
                        <a:rPr lang="zh-CN" sz="1100">
                          <a:latin typeface="Calibri" panose="020F0502020204030204"/>
                          <a:ea typeface="宋体" panose="02010600030101010101" pitchFamily="2" charset="-122"/>
                        </a:rPr>
                        <a:t>：同步节点描述符</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0001</a:t>
                      </a:r>
                      <a:r>
                        <a:rPr lang="zh-CN" sz="1100">
                          <a:latin typeface="Calibri" panose="020F0502020204030204"/>
                          <a:ea typeface="宋体" panose="02010600030101010101" pitchFamily="2" charset="-122"/>
                        </a:rPr>
                        <a:t>：周期性打开</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0010</a:t>
                      </a:r>
                      <a:r>
                        <a:rPr lang="zh-CN" sz="1100">
                          <a:latin typeface="Calibri" panose="020F0502020204030204"/>
                          <a:ea typeface="宋体" panose="02010600030101010101" pitchFamily="2" charset="-122"/>
                        </a:rPr>
                        <a:t>：被激发打开</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0011-1111</a:t>
                      </a:r>
                      <a:r>
                        <a:rPr lang="zh-CN" sz="1100">
                          <a:latin typeface="Calibri" panose="020F0502020204030204"/>
                          <a:ea typeface="宋体" panose="02010600030101010101" pitchFamily="2" charset="-122"/>
                        </a:rPr>
                        <a:t>：预留</a:t>
                      </a:r>
                      <a:endParaRPr lang="zh-CN" sz="11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0001</a:t>
                      </a:r>
                      <a:r>
                        <a:rPr lang="zh-CN" sz="1100">
                          <a:latin typeface="Calibri" panose="020F0502020204030204"/>
                          <a:ea typeface="宋体" panose="02010600030101010101" pitchFamily="2" charset="-122"/>
                        </a:rPr>
                        <a:t>：常用电源</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0010</a:t>
                      </a:r>
                      <a:r>
                        <a:rPr lang="zh-CN" sz="1100">
                          <a:latin typeface="Calibri" panose="020F0502020204030204"/>
                          <a:ea typeface="宋体" panose="02010600030101010101" pitchFamily="2" charset="-122"/>
                        </a:rPr>
                        <a:t>：充电电池</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0100</a:t>
                      </a:r>
                      <a:r>
                        <a:rPr lang="zh-CN" sz="1100">
                          <a:latin typeface="Calibri" panose="020F0502020204030204"/>
                          <a:ea typeface="宋体" panose="02010600030101010101" pitchFamily="2" charset="-122"/>
                        </a:rPr>
                        <a:t>：一次性电</a:t>
                      </a:r>
                      <a:r>
                        <a:rPr lang="en-US" altLang="zh-CN" sz="1100">
                          <a:latin typeface="Calibri" panose="020F0502020204030204"/>
                          <a:ea typeface="Calibri" panose="020F0502020204030204"/>
                        </a:rPr>
                        <a:t>1000</a:t>
                      </a:r>
                      <a:r>
                        <a:rPr lang="zh-CN" sz="1100">
                          <a:latin typeface="Calibri" panose="020F0502020204030204"/>
                          <a:ea typeface="宋体" panose="02010600030101010101" pitchFamily="2" charset="-122"/>
                        </a:rPr>
                        <a:t>：保留</a:t>
                      </a:r>
                      <a:endParaRPr lang="zh-CN" sz="11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0001</a:t>
                      </a:r>
                      <a:r>
                        <a:rPr lang="zh-CN" sz="1100">
                          <a:latin typeface="Calibri" panose="020F0502020204030204"/>
                          <a:ea typeface="宋体" panose="02010600030101010101" pitchFamily="2" charset="-122"/>
                        </a:rPr>
                        <a:t>：常用电源</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0010</a:t>
                      </a:r>
                      <a:r>
                        <a:rPr lang="zh-CN" sz="1100">
                          <a:latin typeface="Calibri" panose="020F0502020204030204"/>
                          <a:ea typeface="宋体" panose="02010600030101010101" pitchFamily="2" charset="-122"/>
                        </a:rPr>
                        <a:t>：充电电池</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0100</a:t>
                      </a:r>
                      <a:r>
                        <a:rPr lang="zh-CN" sz="1100">
                          <a:latin typeface="Calibri" panose="020F0502020204030204"/>
                          <a:ea typeface="宋体" panose="02010600030101010101" pitchFamily="2" charset="-122"/>
                        </a:rPr>
                        <a:t>：一次性电</a:t>
                      </a:r>
                      <a:r>
                        <a:rPr lang="en-US" altLang="zh-CN" sz="1100">
                          <a:latin typeface="Calibri" panose="020F0502020204030204"/>
                          <a:ea typeface="Calibri" panose="020F0502020204030204"/>
                        </a:rPr>
                        <a:t>1000</a:t>
                      </a:r>
                      <a:r>
                        <a:rPr lang="zh-CN" sz="1100">
                          <a:latin typeface="Calibri" panose="020F0502020204030204"/>
                          <a:ea typeface="宋体" panose="02010600030101010101" pitchFamily="2" charset="-122"/>
                        </a:rPr>
                        <a:t>：保留</a:t>
                      </a:r>
                      <a:endParaRPr lang="zh-CN" sz="11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0000</a:t>
                      </a:r>
                      <a:r>
                        <a:rPr lang="zh-CN" sz="1100">
                          <a:latin typeface="Calibri" panose="020F0502020204030204"/>
                          <a:ea typeface="宋体" panose="02010600030101010101" pitchFamily="2" charset="-122"/>
                        </a:rPr>
                        <a:t>：临界</a:t>
                      </a:r>
                      <a:endParaRPr lang="zh-CN" sz="1100">
                        <a:latin typeface="Calibri" panose="020F0502020204030204"/>
                        <a:ea typeface="宋体" panose="02010600030101010101" pitchFamily="2" charset="-122"/>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0010</a:t>
                      </a:r>
                      <a:r>
                        <a:rPr lang="zh-CN" sz="1100">
                          <a:latin typeface="Calibri" panose="020F0502020204030204"/>
                          <a:ea typeface="宋体" panose="02010600030101010101" pitchFamily="2" charset="-122"/>
                        </a:rPr>
                        <a:t>：</a:t>
                      </a:r>
                      <a:r>
                        <a:rPr lang="en-US" altLang="zh-CN" sz="1100">
                          <a:latin typeface="Calibri" panose="020F0502020204030204"/>
                          <a:ea typeface="Calibri" panose="020F0502020204030204"/>
                        </a:rPr>
                        <a:t>33%</a:t>
                      </a:r>
                      <a:endParaRPr lang="en-US" altLang="zh-CN" sz="1100">
                        <a:latin typeface="Calibri" panose="020F0502020204030204"/>
                        <a:ea typeface="Calibri" panose="020F0502020204030204"/>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1000</a:t>
                      </a:r>
                      <a:r>
                        <a:rPr lang="zh-CN" sz="1100">
                          <a:latin typeface="Calibri" panose="020F0502020204030204"/>
                          <a:ea typeface="宋体" panose="02010600030101010101" pitchFamily="2" charset="-122"/>
                        </a:rPr>
                        <a:t>：</a:t>
                      </a:r>
                      <a:r>
                        <a:rPr lang="en-US" altLang="zh-CN" sz="1100">
                          <a:latin typeface="Calibri" panose="020F0502020204030204"/>
                          <a:ea typeface="Calibri" panose="020F0502020204030204"/>
                        </a:rPr>
                        <a:t>66%</a:t>
                      </a:r>
                      <a:endParaRPr lang="en-US" altLang="zh-CN" sz="1100">
                        <a:latin typeface="Calibri" panose="020F0502020204030204"/>
                        <a:ea typeface="Calibri" panose="020F0502020204030204"/>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1100</a:t>
                      </a:r>
                      <a:r>
                        <a:rPr lang="zh-CN" sz="1100">
                          <a:latin typeface="Calibri" panose="020F0502020204030204"/>
                          <a:ea typeface="宋体" panose="02010600030101010101" pitchFamily="2" charset="-122"/>
                        </a:rPr>
                        <a:t>：</a:t>
                      </a:r>
                      <a:r>
                        <a:rPr lang="en-US" altLang="zh-CN" sz="1100">
                          <a:latin typeface="Calibri" panose="020F0502020204030204"/>
                          <a:ea typeface="Calibri" panose="020F0502020204030204"/>
                        </a:rPr>
                        <a:t>100%</a:t>
                      </a:r>
                      <a:endParaRPr lang="en-US" altLang="zh-CN" sz="1100">
                        <a:latin typeface="Calibri" panose="020F0502020204030204"/>
                        <a:ea typeface="Calibri" panose="020F0502020204030204"/>
                      </a:endParaRPr>
                    </a:p>
                    <a:p>
                      <a:pPr algn="l" defTabSz="914400">
                        <a:lnSpc>
                          <a:spcPct val="120000"/>
                        </a:lnSpc>
                        <a:spcBef>
                          <a:spcPct val="0"/>
                        </a:spcBef>
                        <a:spcAft>
                          <a:spcPts val="100"/>
                        </a:spcAft>
                        <a:tabLst>
                          <a:tab pos="727075" algn="l"/>
                        </a:tabLst>
                      </a:pPr>
                      <a:r>
                        <a:rPr lang="en-US" altLang="zh-CN" sz="1100">
                          <a:latin typeface="Calibri" panose="020F0502020204030204"/>
                          <a:ea typeface="Calibri" panose="020F0502020204030204"/>
                        </a:rPr>
                        <a:t>else</a:t>
                      </a:r>
                      <a:r>
                        <a:rPr lang="zh-CN" sz="1100">
                          <a:latin typeface="Calibri" panose="020F0502020204030204"/>
                          <a:ea typeface="宋体" panose="02010600030101010101" pitchFamily="2" charset="-122"/>
                        </a:rPr>
                        <a:t>：保留</a:t>
                      </a:r>
                      <a:endParaRPr lang="zh-CN" sz="1100">
                        <a:latin typeface="Calibri" panose="020F0502020204030204"/>
                        <a:ea typeface="宋体" panose="02010600030101010101" pitchFamily="2" charset="-122"/>
                      </a:endParaRPr>
                    </a:p>
                  </a:txBody>
                  <a:tcPr marL="68580" marR="68580" marT="0" marB="0" anchor="t" anchorCtr="0">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r>
            </a:tbl>
          </a:graphicData>
        </a:graphic>
      </p:graphicFrame>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8" name="文本框 7"/>
          <p:cNvSpPr txBox="1"/>
          <p:nvPr/>
        </p:nvSpPr>
        <p:spPr>
          <a:xfrm>
            <a:off x="168275" y="765810"/>
            <a:ext cx="8463915" cy="577215"/>
          </a:xfrm>
          <a:prstGeom prst="rect">
            <a:avLst/>
          </a:prstGeom>
          <a:noFill/>
        </p:spPr>
        <p:txBody>
          <a:bodyPr wrap="square" rtlCol="0">
            <a:noAutofit/>
          </a:bodyPr>
          <a:p>
            <a:r>
              <a:rPr lang="zh-CN" altLang="en-US"/>
              <a:t>（</a:t>
            </a:r>
            <a:r>
              <a:rPr lang="en-US" altLang="zh-CN"/>
              <a:t>2</a:t>
            </a:r>
            <a:r>
              <a:rPr lang="zh-CN" altLang="en-US"/>
              <a:t>）电源描述符：节点的电源状态，对每个节点都是强制的，一个节点只有</a:t>
            </a:r>
            <a:r>
              <a:rPr lang="zh-CN" altLang="en-US"/>
              <a:t>一个</a:t>
            </a: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8" name="文本框 7"/>
          <p:cNvSpPr txBox="1"/>
          <p:nvPr/>
        </p:nvSpPr>
        <p:spPr>
          <a:xfrm>
            <a:off x="168275" y="765810"/>
            <a:ext cx="8643620" cy="577215"/>
          </a:xfrm>
          <a:prstGeom prst="rect">
            <a:avLst/>
          </a:prstGeom>
          <a:noFill/>
        </p:spPr>
        <p:txBody>
          <a:bodyPr wrap="square" rtlCol="0">
            <a:noAutofit/>
          </a:bodyPr>
          <a:p>
            <a:r>
              <a:rPr lang="zh-CN" altLang="en-US"/>
              <a:t>（</a:t>
            </a:r>
            <a:r>
              <a:rPr lang="en-US" altLang="zh-CN"/>
              <a:t>3</a:t>
            </a:r>
            <a:r>
              <a:rPr lang="zh-CN" altLang="en-US"/>
              <a:t>）简单描述符：符包含该节点所含每个端点的具体信息，每个端点对应一个简单</a:t>
            </a:r>
            <a:r>
              <a:rPr lang="en-US" altLang="zh-CN"/>
              <a:t>  </a:t>
            </a:r>
            <a:endParaRPr lang="en-US" altLang="zh-CN"/>
          </a:p>
          <a:p>
            <a:r>
              <a:rPr lang="en-US" altLang="zh-CN"/>
              <a:t>                               </a:t>
            </a:r>
            <a:r>
              <a:rPr lang="zh-CN" altLang="en-US"/>
              <a:t>描述符</a:t>
            </a:r>
            <a:endParaRPr lang="zh-CN" altLang="en-US"/>
          </a:p>
        </p:txBody>
      </p:sp>
      <p:pic>
        <p:nvPicPr>
          <p:cNvPr id="4" name="图片 3"/>
          <p:cNvPicPr>
            <a:picLocks noChangeAspect="1"/>
          </p:cNvPicPr>
          <p:nvPr/>
        </p:nvPicPr>
        <p:blipFill>
          <a:blip r:embed="rId1"/>
          <a:srcRect r="38540"/>
          <a:stretch>
            <a:fillRect/>
          </a:stretch>
        </p:blipFill>
        <p:spPr>
          <a:xfrm>
            <a:off x="6137910" y="1387475"/>
            <a:ext cx="2823210" cy="2482215"/>
          </a:xfrm>
          <a:prstGeom prst="rect">
            <a:avLst/>
          </a:prstGeom>
        </p:spPr>
      </p:pic>
      <p:pic>
        <p:nvPicPr>
          <p:cNvPr id="5" name="图片 4"/>
          <p:cNvPicPr>
            <a:picLocks noChangeAspect="1"/>
          </p:cNvPicPr>
          <p:nvPr/>
        </p:nvPicPr>
        <p:blipFill>
          <a:blip r:embed="rId2"/>
          <a:stretch>
            <a:fillRect/>
          </a:stretch>
        </p:blipFill>
        <p:spPr>
          <a:xfrm>
            <a:off x="46990" y="1387475"/>
            <a:ext cx="5950585" cy="19253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custDataLst>
              <p:tags r:id="rId1"/>
            </p:custDataLst>
          </p:nvPr>
        </p:nvSpPr>
        <p:spPr>
          <a:xfrm>
            <a:off x="215900" y="687070"/>
            <a:ext cx="7175500" cy="368300"/>
          </a:xfrm>
          <a:prstGeom prst="rect">
            <a:avLst/>
          </a:prstGeom>
          <a:noFill/>
        </p:spPr>
        <p:txBody>
          <a:bodyPr wrap="square" rtlCol="0">
            <a:spAutoFit/>
          </a:bodyPr>
          <a:p>
            <a:r>
              <a:rPr lang="en-US" altLang="zh-CN"/>
              <a:t>ZDO</a:t>
            </a:r>
            <a:r>
              <a:rPr lang="zh-CN" altLang="en-US"/>
              <a:t>：一个应用程序，使用</a:t>
            </a:r>
            <a:r>
              <a:rPr lang="en-US" altLang="zh-CN"/>
              <a:t>ZDP</a:t>
            </a:r>
            <a:r>
              <a:rPr lang="zh-CN" altLang="en-US"/>
              <a:t>并通过端点</a:t>
            </a:r>
            <a:r>
              <a:rPr lang="en-US" altLang="zh-CN"/>
              <a:t>0</a:t>
            </a:r>
            <a:r>
              <a:rPr lang="zh-CN" altLang="en-US"/>
              <a:t>来与其它设备进行</a:t>
            </a:r>
            <a:r>
              <a:rPr lang="zh-CN" altLang="en-US"/>
              <a:t>通信</a:t>
            </a:r>
            <a:endParaRPr lang="zh-CN" altLang="en-US"/>
          </a:p>
        </p:txBody>
      </p:sp>
      <p:sp>
        <p:nvSpPr>
          <p:cNvPr id="4" name="文本框 3"/>
          <p:cNvSpPr txBox="1"/>
          <p:nvPr>
            <p:custDataLst>
              <p:tags r:id="rId2"/>
            </p:custDataLst>
          </p:nvPr>
        </p:nvSpPr>
        <p:spPr>
          <a:xfrm>
            <a:off x="215900" y="1141730"/>
            <a:ext cx="8780145" cy="368300"/>
          </a:xfrm>
          <a:prstGeom prst="rect">
            <a:avLst/>
          </a:prstGeom>
          <a:noFill/>
        </p:spPr>
        <p:txBody>
          <a:bodyPr wrap="square" rtlCol="0">
            <a:spAutoFit/>
          </a:bodyPr>
          <a:p>
            <a:r>
              <a:rPr lang="en-US" altLang="zh-CN"/>
              <a:t>ZDP</a:t>
            </a:r>
            <a:r>
              <a:rPr lang="zh-CN" altLang="en-US"/>
              <a:t>：属于</a:t>
            </a:r>
            <a:r>
              <a:rPr lang="en-US" altLang="zh-CN"/>
              <a:t>ZDO</a:t>
            </a:r>
            <a:r>
              <a:rPr lang="zh-CN" altLang="en-US"/>
              <a:t>的专属通信协议，都是使用</a:t>
            </a:r>
            <a:r>
              <a:rPr lang="en-US" altLang="zh-CN"/>
              <a:t>APS</a:t>
            </a:r>
            <a:r>
              <a:rPr lang="zh-CN" altLang="en-US"/>
              <a:t>的</a:t>
            </a:r>
            <a:r>
              <a:rPr lang="en-US" altLang="zh-CN"/>
              <a:t>APSME</a:t>
            </a:r>
            <a:r>
              <a:rPr lang="zh-CN" altLang="en-US"/>
              <a:t>和</a:t>
            </a:r>
            <a:r>
              <a:rPr lang="en-US" altLang="zh-CN"/>
              <a:t>APSDE</a:t>
            </a:r>
            <a:r>
              <a:rPr lang="zh-CN" altLang="en-US"/>
              <a:t>来</a:t>
            </a:r>
            <a:r>
              <a:rPr lang="zh-CN" altLang="en-US"/>
              <a:t>实现</a:t>
            </a:r>
            <a:endParaRPr lang="zh-CN" altLang="en-US"/>
          </a:p>
        </p:txBody>
      </p:sp>
      <p:graphicFrame>
        <p:nvGraphicFramePr>
          <p:cNvPr id="3" name="表格 2"/>
          <p:cNvGraphicFramePr/>
          <p:nvPr>
            <p:custDataLst>
              <p:tags r:id="rId3"/>
            </p:custDataLst>
          </p:nvPr>
        </p:nvGraphicFramePr>
        <p:xfrm>
          <a:off x="303530" y="1826260"/>
          <a:ext cx="6416040" cy="2631440"/>
        </p:xfrm>
        <a:graphic>
          <a:graphicData uri="http://schemas.openxmlformats.org/drawingml/2006/table">
            <a:tbl>
              <a:tblPr/>
              <a:tblGrid>
                <a:gridCol w="1269365"/>
                <a:gridCol w="5146675"/>
              </a:tblGrid>
              <a:tr h="375920">
                <a:tc>
                  <a:txBody>
                    <a:bodyPr/>
                    <a:p>
                      <a:pPr algn="ctr"/>
                      <a:r>
                        <a:rPr lang="zh-CN" altLang="en-US" sz="1100"/>
                        <a:t>功能</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核心作用</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设备初始化</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定义设备角色（</a:t>
                      </a:r>
                      <a:r>
                        <a:rPr lang="en-US" altLang="zh-CN" sz="1100"/>
                        <a:t>ZC/ZR/ED</a:t>
                      </a:r>
                      <a:r>
                        <a:rPr lang="zh-CN" altLang="en-US" sz="1100"/>
                        <a:t>），初始化 </a:t>
                      </a:r>
                      <a:r>
                        <a:rPr lang="en-US" altLang="zh-CN" sz="1100"/>
                        <a:t>APS</a:t>
                      </a:r>
                      <a:r>
                        <a:rPr lang="zh-CN" altLang="en-US" sz="1100"/>
                        <a:t>、网络层（</a:t>
                      </a:r>
                      <a:r>
                        <a:rPr lang="en-US" altLang="zh-CN" sz="1100"/>
                        <a:t>NWK</a:t>
                      </a:r>
                      <a:r>
                        <a:rPr lang="zh-CN" altLang="en-US" sz="1100"/>
                        <a:t>）等底层模块</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设备与服务发现</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扫描并识别网络内其他设备，获取设备支持的端点、簇等服务信息</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网络管理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负责协调器建网、路由器 </a:t>
                      </a:r>
                      <a:r>
                        <a:rPr lang="en-US" altLang="zh-CN" sz="1100"/>
                        <a:t>/ </a:t>
                      </a:r>
                      <a:r>
                        <a:rPr lang="zh-CN" altLang="en-US" sz="1100"/>
                        <a:t>终端入网 </a:t>
                      </a:r>
                      <a:r>
                        <a:rPr lang="en-US" altLang="zh-CN" sz="1100"/>
                        <a:t>/ </a:t>
                      </a:r>
                      <a:r>
                        <a:rPr lang="zh-CN" altLang="en-US" sz="1100"/>
                        <a:t>离网，维护网络拓扑与节点状态</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绑定管理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发起 </a:t>
                      </a:r>
                      <a:r>
                        <a:rPr lang="en-US" altLang="zh-CN" sz="1100"/>
                        <a:t>/ </a:t>
                      </a:r>
                      <a:r>
                        <a:rPr lang="zh-CN" altLang="en-US" sz="1100"/>
                        <a:t>响应绑定请求，维护绑定表，实现设备间服务匹配</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安全管理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协商加密密钥、授权安全策略，建立设备间加密通信链路</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75920">
                <a:tc>
                  <a:txBody>
                    <a:bodyPr/>
                    <a:p>
                      <a:pPr algn="ctr"/>
                      <a:r>
                        <a:rPr lang="zh-CN" altLang="en-US" sz="1100"/>
                        <a:t>节点管理</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支持路由表 </a:t>
                      </a:r>
                      <a:r>
                        <a:rPr lang="en-US" altLang="zh-CN" sz="1100"/>
                        <a:t>/ </a:t>
                      </a:r>
                      <a:r>
                        <a:rPr lang="zh-CN" altLang="en-US" sz="1100"/>
                        <a:t>绑定表查询、节点离网 </a:t>
                      </a:r>
                      <a:r>
                        <a:rPr lang="en-US" altLang="zh-CN" sz="1100"/>
                        <a:t>/ </a:t>
                      </a:r>
                      <a:r>
                        <a:rPr lang="zh-CN" altLang="en-US" sz="1100"/>
                        <a:t>重启等操作</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527685"/>
            <a:ext cx="3048000" cy="368300"/>
          </a:xfrm>
          <a:prstGeom prst="rect">
            <a:avLst/>
          </a:prstGeom>
          <a:noFill/>
        </p:spPr>
        <p:txBody>
          <a:bodyPr wrap="square" rtlCol="0">
            <a:spAutoFit/>
          </a:bodyPr>
          <a:p>
            <a:r>
              <a:rPr lang="zh-CN" altLang="en-US"/>
              <a:t>设备服务和</a:t>
            </a:r>
            <a:r>
              <a:rPr lang="zh-CN" altLang="en-US"/>
              <a:t>发现</a:t>
            </a:r>
            <a:endParaRPr lang="zh-CN" altLang="en-US"/>
          </a:p>
        </p:txBody>
      </p:sp>
      <p:pic>
        <p:nvPicPr>
          <p:cNvPr id="3" name="图片 2"/>
          <p:cNvPicPr>
            <a:picLocks noChangeAspect="1"/>
          </p:cNvPicPr>
          <p:nvPr/>
        </p:nvPicPr>
        <p:blipFill>
          <a:blip r:embed="rId1"/>
          <a:srcRect b="19853"/>
          <a:stretch>
            <a:fillRect/>
          </a:stretch>
        </p:blipFill>
        <p:spPr>
          <a:xfrm>
            <a:off x="215900" y="1282065"/>
            <a:ext cx="4097655" cy="2696845"/>
          </a:xfrm>
          <a:prstGeom prst="rect">
            <a:avLst/>
          </a:prstGeom>
        </p:spPr>
      </p:pic>
      <p:pic>
        <p:nvPicPr>
          <p:cNvPr id="5" name="图片 4"/>
          <p:cNvPicPr>
            <a:picLocks noChangeAspect="1"/>
          </p:cNvPicPr>
          <p:nvPr/>
        </p:nvPicPr>
        <p:blipFill>
          <a:blip r:embed="rId2"/>
          <a:stretch>
            <a:fillRect/>
          </a:stretch>
        </p:blipFill>
        <p:spPr>
          <a:xfrm>
            <a:off x="4471670" y="1282065"/>
            <a:ext cx="3591560" cy="2124075"/>
          </a:xfrm>
          <a:prstGeom prst="rect">
            <a:avLst/>
          </a:prstGeom>
        </p:spPr>
      </p:pic>
      <p:sp>
        <p:nvSpPr>
          <p:cNvPr id="8" name="文本框 7"/>
          <p:cNvSpPr txBox="1"/>
          <p:nvPr/>
        </p:nvSpPr>
        <p:spPr>
          <a:xfrm>
            <a:off x="215900" y="951865"/>
            <a:ext cx="3048000" cy="30670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客户端</a:t>
            </a:r>
            <a:endParaRPr lang="zh-CN" altLang="en-US" sz="1400">
              <a:latin typeface="宋体" panose="02010600030101010101" pitchFamily="2" charset="-122"/>
              <a:ea typeface="宋体" panose="02010600030101010101" pitchFamily="2" charset="-122"/>
            </a:endParaRPr>
          </a:p>
        </p:txBody>
      </p:sp>
      <p:sp>
        <p:nvSpPr>
          <p:cNvPr id="9" name="文本框 8"/>
          <p:cNvSpPr txBox="1"/>
          <p:nvPr/>
        </p:nvSpPr>
        <p:spPr>
          <a:xfrm>
            <a:off x="4471670" y="975360"/>
            <a:ext cx="3048000" cy="306705"/>
          </a:xfrm>
          <a:prstGeom prst="rect">
            <a:avLst/>
          </a:prstGeom>
          <a:noFill/>
        </p:spPr>
        <p:txBody>
          <a:bodyPr wrap="square" rtlCol="0">
            <a:spAutoFit/>
          </a:bodyPr>
          <a:p>
            <a:r>
              <a:rPr lang="zh-CN" altLang="en-US" sz="1400">
                <a:latin typeface="宋体" panose="02010600030101010101" pitchFamily="2" charset="-122"/>
                <a:ea typeface="宋体" panose="02010600030101010101" pitchFamily="2" charset="-122"/>
              </a:rPr>
              <a:t>服务端</a:t>
            </a:r>
            <a:endParaRPr lang="zh-CN" altLang="en-US" sz="1400">
              <a:latin typeface="宋体" panose="02010600030101010101" pitchFamily="2" charset="-122"/>
              <a:ea typeface="宋体" panose="02010600030101010101" pitchFamily="2" charset="-122"/>
            </a:endParaRPr>
          </a:p>
        </p:txBody>
      </p:sp>
      <p:pic>
        <p:nvPicPr>
          <p:cNvPr id="11" name="图片 10"/>
          <p:cNvPicPr>
            <a:picLocks noChangeAspect="1"/>
          </p:cNvPicPr>
          <p:nvPr/>
        </p:nvPicPr>
        <p:blipFill>
          <a:blip r:embed="rId3"/>
          <a:stretch>
            <a:fillRect/>
          </a:stretch>
        </p:blipFill>
        <p:spPr>
          <a:xfrm>
            <a:off x="215900" y="4100830"/>
            <a:ext cx="4514850" cy="190500"/>
          </a:xfrm>
          <a:prstGeom prst="rect">
            <a:avLst/>
          </a:prstGeom>
        </p:spPr>
      </p:pic>
      <p:pic>
        <p:nvPicPr>
          <p:cNvPr id="12" name="图片 11"/>
          <p:cNvPicPr>
            <a:picLocks noChangeAspect="1"/>
          </p:cNvPicPr>
          <p:nvPr/>
        </p:nvPicPr>
        <p:blipFill>
          <a:blip r:embed="rId4"/>
          <a:stretch>
            <a:fillRect/>
          </a:stretch>
        </p:blipFill>
        <p:spPr>
          <a:xfrm>
            <a:off x="215900" y="4413250"/>
            <a:ext cx="3390900" cy="2032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ZDO</a:t>
            </a:r>
            <a:endParaRPr lang="en-US" altLang="zh-TW" sz="2400" b="1" spc="-38" dirty="0">
              <a:solidFill>
                <a:srgbClr val="3D5663"/>
              </a:solidFill>
              <a:latin typeface="Calibri" panose="020F0502020204030204" pitchFamily="34" charset="0"/>
              <a:cs typeface="Calibri" panose="020F0502020204030204" pitchFamily="34" charset="0"/>
            </a:endParaRPr>
          </a:p>
        </p:txBody>
      </p:sp>
      <p:sp>
        <p:nvSpPr>
          <p:cNvPr id="3" name="文本框 2"/>
          <p:cNvSpPr txBox="1"/>
          <p:nvPr/>
        </p:nvSpPr>
        <p:spPr>
          <a:xfrm>
            <a:off x="215900" y="736600"/>
            <a:ext cx="3048000" cy="368300"/>
          </a:xfrm>
          <a:prstGeom prst="rect">
            <a:avLst/>
          </a:prstGeom>
          <a:noFill/>
        </p:spPr>
        <p:txBody>
          <a:bodyPr wrap="square" rtlCol="0">
            <a:spAutoFit/>
          </a:bodyPr>
          <a:p>
            <a:r>
              <a:rPr lang="zh-CN" altLang="en-US"/>
              <a:t>节点</a:t>
            </a:r>
            <a:r>
              <a:rPr lang="zh-CN" altLang="en-US"/>
              <a:t>管理</a:t>
            </a:r>
            <a:endParaRPr lang="zh-CN" altLang="en-US"/>
          </a:p>
        </p:txBody>
      </p:sp>
      <p:pic>
        <p:nvPicPr>
          <p:cNvPr id="4" name="图片 3"/>
          <p:cNvPicPr>
            <a:picLocks noChangeAspect="1"/>
          </p:cNvPicPr>
          <p:nvPr/>
        </p:nvPicPr>
        <p:blipFill>
          <a:blip r:embed="rId1"/>
          <a:stretch>
            <a:fillRect/>
          </a:stretch>
        </p:blipFill>
        <p:spPr>
          <a:xfrm>
            <a:off x="1532890" y="821055"/>
            <a:ext cx="2733675" cy="4066540"/>
          </a:xfrm>
          <a:prstGeom prst="rect">
            <a:avLst/>
          </a:prstGeom>
        </p:spPr>
      </p:pic>
      <p:sp>
        <p:nvSpPr>
          <p:cNvPr id="5" name="文本框 4"/>
          <p:cNvSpPr txBox="1"/>
          <p:nvPr/>
        </p:nvSpPr>
        <p:spPr>
          <a:xfrm>
            <a:off x="4665345" y="452755"/>
            <a:ext cx="3048000" cy="368300"/>
          </a:xfrm>
          <a:prstGeom prst="rect">
            <a:avLst/>
          </a:prstGeom>
          <a:noFill/>
        </p:spPr>
        <p:txBody>
          <a:bodyPr wrap="square" rtlCol="0">
            <a:spAutoFit/>
          </a:bodyPr>
          <a:p>
            <a:r>
              <a:rPr lang="zh-CN" altLang="en-US"/>
              <a:t>属性</a:t>
            </a:r>
            <a:r>
              <a:rPr lang="zh-CN" altLang="en-US"/>
              <a:t>配置</a:t>
            </a:r>
            <a:endParaRPr lang="zh-CN" altLang="en-US"/>
          </a:p>
        </p:txBody>
      </p:sp>
      <p:pic>
        <p:nvPicPr>
          <p:cNvPr id="6" name="图片 5"/>
          <p:cNvPicPr>
            <a:picLocks noChangeAspect="1"/>
          </p:cNvPicPr>
          <p:nvPr/>
        </p:nvPicPr>
        <p:blipFill>
          <a:blip r:embed="rId2"/>
          <a:stretch>
            <a:fillRect/>
          </a:stretch>
        </p:blipFill>
        <p:spPr>
          <a:xfrm>
            <a:off x="4665345" y="821055"/>
            <a:ext cx="3499485" cy="13716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PART 05</a:t>
            </a:r>
            <a:endParaRPr lang="en-US" altLang="zh-TW" sz="2400" b="1" spc="-38" dirty="0">
              <a:solidFill>
                <a:srgbClr val="3D5663"/>
              </a:solidFill>
              <a:latin typeface="Calibri" panose="020F0502020204030204" pitchFamily="34" charset="0"/>
              <a:cs typeface="Calibri" panose="020F0502020204030204" pitchFamily="34" charset="0"/>
            </a:endParaRPr>
          </a:p>
        </p:txBody>
      </p:sp>
      <p:grpSp>
        <p:nvGrpSpPr>
          <p:cNvPr id="9" name="组合 8"/>
          <p:cNvGrpSpPr/>
          <p:nvPr/>
        </p:nvGrpSpPr>
        <p:grpSpPr>
          <a:xfrm>
            <a:off x="1203325" y="1275715"/>
            <a:ext cx="6307590" cy="2503805"/>
            <a:chOff x="3272" y="3874"/>
            <a:chExt cx="12612" cy="4373"/>
          </a:xfrm>
        </p:grpSpPr>
        <p:pic>
          <p:nvPicPr>
            <p:cNvPr id="10" name="图片 9" descr="图形用户界面, 应用程序&#10;&#10;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338" y="3874"/>
              <a:ext cx="6546" cy="4373"/>
            </a:xfrm>
            <a:prstGeom prst="rect">
              <a:avLst/>
            </a:prstGeom>
          </p:spPr>
        </p:pic>
        <p:sp>
          <p:nvSpPr>
            <p:cNvPr id="11" name="圆角矩形 10"/>
            <p:cNvSpPr/>
            <p:nvPr/>
          </p:nvSpPr>
          <p:spPr>
            <a:xfrm>
              <a:off x="3272" y="7403"/>
              <a:ext cx="1134" cy="72"/>
            </a:xfrm>
            <a:prstGeom prst="roundRect">
              <a:avLst>
                <a:gd name="adj" fmla="val 50000"/>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endParaRPr lang="zh-CN" altLang="en-US" sz="600"/>
            </a:p>
          </p:txBody>
        </p:sp>
        <p:sp>
          <p:nvSpPr>
            <p:cNvPr id="12" name="文本框 11"/>
            <p:cNvSpPr txBox="1"/>
            <p:nvPr/>
          </p:nvSpPr>
          <p:spPr>
            <a:xfrm>
              <a:off x="3272" y="5709"/>
              <a:ext cx="6666" cy="1581"/>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rPr>
                <a:t>SMP</a:t>
              </a:r>
              <a:endParaRPr kumimoji="0" lang="en-US" altLang="zh-CN" sz="6000" b="0" i="0" u="none" strike="noStrike" kern="1200" cap="none" spc="0" normalizeH="0" baseline="0" noProof="0" dirty="0">
                <a:ln>
                  <a:noFill/>
                </a:ln>
                <a:solidFill>
                  <a:schemeClr val="tx1">
                    <a:lumMod val="85000"/>
                    <a:lumOff val="15000"/>
                  </a:schemeClr>
                </a:solidFill>
                <a:effectLst/>
                <a:uLnTx/>
                <a:uFillTx/>
                <a:latin typeface="Times New Roman" panose="02020603050405020304" charset="0"/>
                <a:ea typeface="OPPOSans H" panose="00020600040101010101" pitchFamily="18" charset="-122"/>
                <a:cs typeface="Times New Roman" panose="02020603050405020304" charset="0"/>
              </a:endParaRPr>
            </a:p>
          </p:txBody>
        </p:sp>
        <p:sp>
          <p:nvSpPr>
            <p:cNvPr id="13" name="矩形 12"/>
            <p:cNvSpPr/>
            <p:nvPr/>
          </p:nvSpPr>
          <p:spPr>
            <a:xfrm>
              <a:off x="3272" y="7642"/>
              <a:ext cx="6328" cy="4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安全服务</a:t>
              </a:r>
              <a:r>
                <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rPr>
                <a:t>规范</a:t>
              </a:r>
              <a:endParaRPr lang="zh-CN" altLang="en-US" sz="1600" dirty="0">
                <a:solidFill>
                  <a:schemeClr val="accent5">
                    <a:lumMod val="40000"/>
                    <a:lumOff val="60000"/>
                  </a:schemeClr>
                </a:solidFill>
                <a:latin typeface="OPPOSans H" panose="00020600040101010101" pitchFamily="18" charset="-122"/>
                <a:ea typeface="OPPOSans H" panose="00020600040101010101" pitchFamily="18" charset="-122"/>
                <a:cs typeface="OPPOSans H" panose="00020600040101010101" pitchFamily="18" charset="-122"/>
              </a:endParaRPr>
            </a:p>
          </p:txBody>
        </p:sp>
        <p:sp>
          <p:nvSpPr>
            <p:cNvPr id="14" name="文本框 13"/>
            <p:cNvSpPr txBox="1"/>
            <p:nvPr/>
          </p:nvSpPr>
          <p:spPr>
            <a:xfrm>
              <a:off x="3272" y="4070"/>
              <a:ext cx="2915" cy="1888"/>
            </a:xfrm>
            <a:prstGeom prst="rect">
              <a:avLst/>
            </a:prstGeom>
            <a:noFill/>
          </p:spPr>
          <p:txBody>
            <a:bodyPr wrap="square" lIns="0" tIns="0" rIns="0" bIns="0">
              <a:no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rPr>
                <a:t>05</a:t>
              </a:r>
              <a:endParaRPr kumimoji="0" lang="en-US" altLang="zh-CN" sz="6600" b="0" i="0" u="none" strike="noStrike" kern="1200" cap="none" spc="0" normalizeH="0" baseline="0" noProof="0" dirty="0">
                <a:ln>
                  <a:noFill/>
                </a:ln>
                <a:solidFill>
                  <a:schemeClr val="accent5">
                    <a:lumMod val="40000"/>
                    <a:lumOff val="60000"/>
                  </a:schemeClr>
                </a:solidFill>
                <a:effectLst/>
                <a:uLnTx/>
                <a:uFillTx/>
                <a:latin typeface="OPPOSans H" panose="00020600040101010101" pitchFamily="18" charset="-122"/>
                <a:ea typeface="OPPOSans H" panose="00020600040101010101" pitchFamily="18" charset="-122"/>
                <a:cs typeface="OPPOSans H" panose="00020600040101010101" pitchFamily="18" charset="-122"/>
              </a:endParaRPr>
            </a:p>
          </p:txBody>
        </p:sp>
        <p:pic>
          <p:nvPicPr>
            <p:cNvPr id="15" name="图片 14" descr="图片包含 图标&#10;&#10;描述已自动生成"/>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9431409">
              <a:off x="13750" y="4000"/>
              <a:ext cx="1158" cy="491"/>
            </a:xfrm>
            <a:prstGeom prst="rect">
              <a:avLst/>
            </a:prstGeom>
          </p:spPr>
        </p:pic>
        <p:pic>
          <p:nvPicPr>
            <p:cNvPr id="16" name="图片 15" descr="形状&#10;&#10;描述已自动生成"/>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8" y="5085"/>
              <a:ext cx="264" cy="252"/>
            </a:xfrm>
            <a:prstGeom prst="rect">
              <a:avLst/>
            </a:prstGeom>
          </p:spPr>
        </p:pic>
        <p:pic>
          <p:nvPicPr>
            <p:cNvPr id="20" name="图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3" y="4497"/>
              <a:ext cx="193" cy="185"/>
            </a:xfrm>
            <a:prstGeom prst="rect">
              <a:avLst/>
            </a:prstGeom>
          </p:spPr>
        </p:pic>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795020"/>
            <a:ext cx="7921625" cy="645160"/>
          </a:xfrm>
          <a:prstGeom prst="rect">
            <a:avLst/>
          </a:prstGeom>
          <a:noFill/>
        </p:spPr>
        <p:txBody>
          <a:bodyPr wrap="square" rtlCol="0">
            <a:spAutoFit/>
          </a:bodyPr>
          <a:p>
            <a:r>
              <a:rPr lang="en-US" altLang="zh-CN"/>
              <a:t>Zigbee</a:t>
            </a:r>
            <a:r>
              <a:rPr lang="zh-CN" altLang="en-US"/>
              <a:t>的安全管理提供了包括密钥建立、密钥传输、帧的保护和设备管理</a:t>
            </a:r>
            <a:r>
              <a:rPr lang="zh-CN" altLang="en-US"/>
              <a:t>服务。</a:t>
            </a:r>
            <a:endParaRPr lang="zh-CN" altLang="en-US"/>
          </a:p>
        </p:txBody>
      </p:sp>
      <p:graphicFrame>
        <p:nvGraphicFramePr>
          <p:cNvPr id="4" name="表格 3"/>
          <p:cNvGraphicFramePr/>
          <p:nvPr/>
        </p:nvGraphicFramePr>
        <p:xfrm>
          <a:off x="215900" y="1596390"/>
          <a:ext cx="7861300" cy="0"/>
        </p:xfrm>
        <a:graphic>
          <a:graphicData uri="http://schemas.openxmlformats.org/drawingml/2006/table">
            <a:tbl>
              <a:tblPr/>
              <a:tblGrid>
                <a:gridCol w="1572260"/>
                <a:gridCol w="1572260"/>
                <a:gridCol w="1572260"/>
                <a:gridCol w="1572260"/>
              </a:tblGrid>
              <a:tr h="0">
                <a:tc>
                  <a:txBody>
                    <a:bodyPr/>
                    <a:p>
                      <a:pPr algn="l"/>
                      <a:r>
                        <a:rPr lang="zh-CN" altLang="en-US" sz="1100"/>
                        <a:t>密钥类型</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作用范围</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加密对象</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存储 </a:t>
                      </a:r>
                      <a:r>
                        <a:rPr lang="en-US" altLang="zh-CN" sz="1100"/>
                        <a:t>/ </a:t>
                      </a:r>
                      <a:r>
                        <a:rPr lang="zh-CN" altLang="en-US" sz="1100"/>
                        <a:t>使用层</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连接密钥（</a:t>
                      </a:r>
                      <a:r>
                        <a:rPr lang="en-US" altLang="zh-CN" sz="1100"/>
                        <a:t>Connection Key</a:t>
                      </a:r>
                      <a:r>
                        <a:rPr lang="zh-CN" altLang="en-US" sz="1100"/>
                        <a:t>）</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设备间对等实体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APL </a:t>
                      </a:r>
                      <a:r>
                        <a:rPr lang="zh-CN" altLang="en-US" sz="1100"/>
                        <a:t>层单播通信</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仅 </a:t>
                      </a:r>
                      <a:r>
                        <a:rPr lang="en-US" altLang="zh-CN" sz="1100"/>
                        <a:t>APS </a:t>
                      </a:r>
                      <a:r>
                        <a:rPr lang="zh-CN" altLang="en-US" sz="1100"/>
                        <a:t>子层 </a:t>
                      </a:r>
                      <a:r>
                        <a:rPr lang="en-US" altLang="zh-CN" sz="1100"/>
                        <a:t>/ APL </a:t>
                      </a:r>
                      <a:r>
                        <a:rPr lang="zh-CN" altLang="en-US" sz="1100"/>
                        <a:t>层</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网络密钥（</a:t>
                      </a:r>
                      <a:r>
                        <a:rPr lang="en-US" altLang="zh-CN" sz="1100"/>
                        <a:t>Network Key</a:t>
                      </a:r>
                      <a:r>
                        <a:rPr lang="zh-CN" altLang="en-US" sz="1100"/>
                        <a:t>）</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全网所有设备</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广播通信</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NWK </a:t>
                      </a:r>
                      <a:r>
                        <a:rPr lang="zh-CN" altLang="en-US" sz="1100"/>
                        <a:t>层 </a:t>
                      </a:r>
                      <a:r>
                        <a:rPr lang="en-US" altLang="zh-CN" sz="1100"/>
                        <a:t>+ APL </a:t>
                      </a:r>
                      <a:r>
                        <a:rPr lang="zh-CN" altLang="en-US" sz="1100"/>
                        <a:t>层</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主密钥（</a:t>
                      </a:r>
                      <a:r>
                        <a:rPr lang="en-US" altLang="zh-CN" sz="1100"/>
                        <a:t>Master Key</a:t>
                      </a:r>
                      <a:r>
                        <a:rPr lang="zh-CN" altLang="en-US" sz="1100"/>
                        <a:t>）</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密钥建立基础</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派生连接密钥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仅 </a:t>
                      </a:r>
                      <a:r>
                        <a:rPr lang="en-US" altLang="zh-CN" sz="1100"/>
                        <a:t>APS </a:t>
                      </a:r>
                      <a:r>
                        <a:rPr lang="zh-CN" altLang="en-US" sz="1100"/>
                        <a:t>子层 </a:t>
                      </a:r>
                      <a:r>
                        <a:rPr lang="en-US" altLang="zh-CN" sz="1100"/>
                        <a:t>/ APL </a:t>
                      </a:r>
                      <a:r>
                        <a:rPr lang="zh-CN" altLang="en-US" sz="1100"/>
                        <a:t>层</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密钥载入密钥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保护传输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主密钥 </a:t>
                      </a:r>
                      <a:r>
                        <a:rPr lang="en-US" altLang="zh-CN" sz="1100"/>
                        <a:t>/ </a:t>
                      </a:r>
                      <a:r>
                        <a:rPr lang="zh-CN" altLang="en-US" sz="1100"/>
                        <a:t>连接密钥传输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0">
                <a:tc>
                  <a:txBody>
                    <a:bodyPr/>
                    <a:p>
                      <a:pPr algn="l"/>
                      <a:r>
                        <a:rPr lang="zh-CN" altLang="en-US" sz="1100"/>
                        <a:t>密钥传输密钥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保护传输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网络密钥传输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sp>
        <p:nvSpPr>
          <p:cNvPr id="5" name="文本框 4"/>
          <p:cNvSpPr txBox="1"/>
          <p:nvPr/>
        </p:nvSpPr>
        <p:spPr>
          <a:xfrm>
            <a:off x="215900" y="3703320"/>
            <a:ext cx="6042660" cy="337185"/>
          </a:xfrm>
          <a:prstGeom prst="rect">
            <a:avLst/>
          </a:prstGeom>
          <a:noFill/>
        </p:spPr>
        <p:txBody>
          <a:bodyPr wrap="square" rtlCol="0">
            <a:spAutoFit/>
          </a:bodyPr>
          <a:p>
            <a:r>
              <a:rPr lang="zh-CN" altLang="en-US" sz="1600">
                <a:latin typeface="宋体" panose="02010600030101010101" pitchFamily="2" charset="-122"/>
                <a:ea typeface="宋体" panose="02010600030101010101" pitchFamily="2" charset="-122"/>
              </a:rPr>
              <a:t>信任中心：负责密钥管理、设备的加入和认证</a:t>
            </a:r>
            <a:endParaRPr lang="zh-CN" altLang="en-US" sz="1600">
              <a:latin typeface="宋体" panose="02010600030101010101" pitchFamily="2" charset="-122"/>
              <a:ea typeface="宋体" panose="02010600030101010101" pitchFamily="2" charset="-122"/>
            </a:endParaRPr>
          </a:p>
        </p:txBody>
      </p:sp>
      <p:sp>
        <p:nvSpPr>
          <p:cNvPr id="9" name="文本框 8"/>
          <p:cNvSpPr txBox="1"/>
          <p:nvPr/>
        </p:nvSpPr>
        <p:spPr>
          <a:xfrm>
            <a:off x="251460" y="3952240"/>
            <a:ext cx="7974330" cy="829945"/>
          </a:xfrm>
          <a:prstGeom prst="rect">
            <a:avLst/>
          </a:prstGeom>
          <a:noFill/>
        </p:spPr>
        <p:txBody>
          <a:bodyPr wrap="square" rtlCol="0">
            <a:spAutoFit/>
          </a:bodyPr>
          <a:p>
            <a:r>
              <a:rPr lang="en-US" altLang="zh-CN" sz="1600">
                <a:latin typeface="宋体" panose="02010600030101010101" pitchFamily="2" charset="-122"/>
                <a:ea typeface="宋体" panose="02010600030101010101" pitchFamily="2" charset="-122"/>
                <a:cs typeface="宋体" panose="02010600030101010101" pitchFamily="2" charset="-122"/>
              </a:rPr>
              <a:t>NWK</a:t>
            </a:r>
            <a:r>
              <a:rPr lang="zh-CN" altLang="en-US" sz="1600">
                <a:latin typeface="宋体" panose="02010600030101010101" pitchFamily="2" charset="-122"/>
                <a:ea typeface="宋体" panose="02010600030101010101" pitchFamily="2" charset="-122"/>
                <a:cs typeface="宋体" panose="02010600030101010101" pitchFamily="2" charset="-122"/>
              </a:rPr>
              <a:t>层安全：负责安全地传输输出帧和安全接收输入帧</a:t>
            </a:r>
            <a:endParaRPr lang="zh-CN" altLang="en-US" sz="1600">
              <a:latin typeface="宋体" panose="02010600030101010101" pitchFamily="2" charset="-122"/>
              <a:ea typeface="宋体" panose="02010600030101010101" pitchFamily="2" charset="-122"/>
              <a:cs typeface="宋体" panose="02010600030101010101" pitchFamily="2" charset="-122"/>
            </a:endParaRPr>
          </a:p>
          <a:p>
            <a:r>
              <a:rPr lang="en-US" altLang="zh-CN" sz="1600">
                <a:latin typeface="宋体" panose="02010600030101010101" pitchFamily="2" charset="-122"/>
                <a:ea typeface="宋体" panose="02010600030101010101" pitchFamily="2" charset="-122"/>
                <a:cs typeface="宋体" panose="02010600030101010101" pitchFamily="2" charset="-122"/>
              </a:rPr>
              <a:t>APS</a:t>
            </a:r>
            <a:r>
              <a:rPr lang="zh-CN" altLang="en-US" sz="1600">
                <a:latin typeface="宋体" panose="02010600030101010101" pitchFamily="2" charset="-122"/>
                <a:ea typeface="宋体" panose="02010600030101010101" pitchFamily="2" charset="-122"/>
                <a:cs typeface="宋体" panose="02010600030101010101" pitchFamily="2" charset="-122"/>
              </a:rPr>
              <a:t>层安全：</a:t>
            </a:r>
            <a:r>
              <a:rPr lang="en-US" altLang="zh-CN" sz="1600">
                <a:latin typeface="宋体" panose="02010600030101010101" pitchFamily="2" charset="-122"/>
                <a:ea typeface="宋体" panose="02010600030101010101" pitchFamily="2" charset="-122"/>
                <a:cs typeface="宋体" panose="02010600030101010101" pitchFamily="2" charset="-122"/>
              </a:rPr>
              <a:t>APS </a:t>
            </a:r>
            <a:r>
              <a:rPr lang="zh-CN" altLang="en-US" sz="1600">
                <a:latin typeface="宋体" panose="02010600030101010101" pitchFamily="2" charset="-122"/>
                <a:ea typeface="宋体" panose="02010600030101010101" pitchFamily="2" charset="-122"/>
                <a:cs typeface="宋体" panose="02010600030101010101" pitchFamily="2" charset="-122"/>
              </a:rPr>
              <a:t>层负责安全地转发输出帧，安全地接收输入帧，以及安全地建立并管理对称密钥</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215900" y="709930"/>
            <a:ext cx="3048000" cy="368300"/>
          </a:xfrm>
          <a:prstGeom prst="rect">
            <a:avLst/>
          </a:prstGeom>
          <a:noFill/>
        </p:spPr>
        <p:txBody>
          <a:bodyPr wrap="square" rtlCol="0">
            <a:spAutoFit/>
          </a:bodyPr>
          <a:p>
            <a:r>
              <a:rPr lang="en-US" altLang="zh-CN"/>
              <a:t>APS</a:t>
            </a:r>
            <a:r>
              <a:rPr lang="zh-CN" altLang="en-US"/>
              <a:t>层安全</a:t>
            </a:r>
            <a:r>
              <a:rPr lang="zh-CN" altLang="en-US"/>
              <a:t>服务</a:t>
            </a:r>
            <a:endParaRPr lang="zh-CN" altLang="en-US"/>
          </a:p>
        </p:txBody>
      </p:sp>
      <p:graphicFrame>
        <p:nvGraphicFramePr>
          <p:cNvPr id="3" name="表格 2"/>
          <p:cNvGraphicFramePr/>
          <p:nvPr>
            <p:custDataLst>
              <p:tags r:id="rId1"/>
            </p:custDataLst>
          </p:nvPr>
        </p:nvGraphicFramePr>
        <p:xfrm>
          <a:off x="215900" y="1310005"/>
          <a:ext cx="8328025" cy="2738120"/>
        </p:xfrm>
        <a:graphic>
          <a:graphicData uri="http://schemas.openxmlformats.org/drawingml/2006/table">
            <a:tbl>
              <a:tblPr/>
              <a:tblGrid>
                <a:gridCol w="1538605"/>
                <a:gridCol w="1978660"/>
                <a:gridCol w="4810760"/>
              </a:tblGrid>
              <a:tr h="342265">
                <a:tc>
                  <a:txBody>
                    <a:bodyPr/>
                    <a:p>
                      <a:pPr algn="ctr"/>
                      <a:r>
                        <a:rPr lang="zh-CN" altLang="en-US" sz="1100"/>
                        <a:t>服务</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原语</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描述</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r>
                        <a:rPr lang="zh-CN" altLang="en-US" sz="1100"/>
                        <a:t>密钥</a:t>
                      </a:r>
                      <a:r>
                        <a:rPr lang="zh-CN" altLang="en-US" sz="1100"/>
                        <a:t>建立</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APSME-ESTABLISH-KEY</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使用</a:t>
                      </a:r>
                      <a:r>
                        <a:rPr lang="en-US" altLang="zh-CN" sz="1100"/>
                        <a:t>SKKE</a:t>
                      </a:r>
                      <a:r>
                        <a:rPr lang="zh-CN" altLang="en-US" sz="1100"/>
                        <a:t>方法的其它</a:t>
                      </a:r>
                      <a:r>
                        <a:rPr lang="en-US" altLang="zh-CN" sz="1100"/>
                        <a:t>ZigBee</a:t>
                      </a:r>
                      <a:r>
                        <a:rPr lang="zh-CN" altLang="en-US" sz="1100"/>
                        <a:t>设备的建立连接密钥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r>
                        <a:rPr lang="zh-CN" altLang="en-US" sz="1100"/>
                        <a:t>密钥</a:t>
                      </a:r>
                      <a:r>
                        <a:rPr lang="zh-CN" altLang="en-US" sz="1100"/>
                        <a:t>传输</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APSME-TRANSPORT-KEY</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从一个设备传输到另一个设备传输安全材料</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r>
                        <a:rPr lang="zh-CN" altLang="en-US" sz="1100"/>
                        <a:t>更新</a:t>
                      </a:r>
                      <a:r>
                        <a:rPr lang="zh-CN" altLang="en-US" sz="1100"/>
                        <a:t>设备</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APSME-UPDATE-DEVICE</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当一个新设备加入时或者一个存在设备已经离开网络时通知信任中心</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r>
                        <a:rPr lang="zh-CN" altLang="en-US" sz="1100"/>
                        <a:t>移除设备</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en-US" altLang="zh-CN" sz="1100"/>
                        <a:t>APSME-REMOVE-DEVICE</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r>
                        <a:rPr lang="zh-CN" altLang="en-US" sz="1100"/>
                        <a:t>用于信任中心通知路由器，路由器的一个子设备应该从网络中移除。</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buNone/>
                      </a:pPr>
                      <a:r>
                        <a:rPr lang="zh-CN" altLang="en-US" sz="1100"/>
                        <a:t>请求</a:t>
                      </a:r>
                      <a:r>
                        <a:rPr lang="zh-CN" altLang="en-US" sz="1100"/>
                        <a:t>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en-US" altLang="zh-CN" sz="1100"/>
                        <a:t>APSME-REQUEST-KEY</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zh-CN" altLang="en-US" sz="1100"/>
                        <a:t>用于通过设备请求信任中心发送一个应用程序主密钥或者当前网络密钥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buNone/>
                      </a:pPr>
                      <a:r>
                        <a:rPr lang="zh-CN" altLang="en-US" sz="1100"/>
                        <a:t>更换</a:t>
                      </a:r>
                      <a:r>
                        <a:rPr lang="zh-CN" altLang="en-US" sz="1100"/>
                        <a:t>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en-US" altLang="zh-CN" sz="1100"/>
                        <a:t>APSME-SWITCH-KEY</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zh-CN" altLang="en-US" sz="1100"/>
                        <a:t>用于通过信任中心告诉设备切换到一个新的网络密钥</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r h="342265">
                <a:tc>
                  <a:txBody>
                    <a:bodyPr/>
                    <a:p>
                      <a:pPr algn="ctr">
                        <a:buNone/>
                      </a:pPr>
                      <a:r>
                        <a:rPr lang="zh-CN" altLang="en-US" sz="1100"/>
                        <a:t>实体</a:t>
                      </a:r>
                      <a:r>
                        <a:rPr lang="zh-CN" altLang="en-US" sz="1100"/>
                        <a:t>认证</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en-US" altLang="zh-CN" sz="1100"/>
                        <a:t>APSME-AUTHENTICATE</a:t>
                      </a:r>
                      <a:endParaRPr lang="en-US" altLang="zh-CN"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c>
                  <a:txBody>
                    <a:bodyPr/>
                    <a:p>
                      <a:pPr algn="l">
                        <a:buNone/>
                      </a:pPr>
                      <a:r>
                        <a:rPr lang="zh-CN" altLang="en-US" sz="1100"/>
                        <a:t>由两个设备使用，互相验证对方</a:t>
                      </a:r>
                      <a:endParaRPr lang="zh-CN" altLang="en-US" sz="1100"/>
                    </a:p>
                  </a:txBody>
                  <a:tcPr marL="51117" marR="51117" marT="51117" marB="51117" anchor="ctr" anchorCtr="0">
                    <a:lnL w="6350" cap="flat" cmpd="sng">
                      <a:solidFill>
                        <a:srgbClr val="CCCCCC"/>
                      </a:solidFill>
                      <a:prstDash val="solid"/>
                      <a:headEnd type="none" w="med" len="med"/>
                      <a:tailEnd type="none" w="med" len="med"/>
                    </a:lnL>
                    <a:lnR w="6350" cap="flat" cmpd="sng">
                      <a:solidFill>
                        <a:srgbClr val="CCCCCC"/>
                      </a:solidFill>
                      <a:prstDash val="solid"/>
                      <a:headEnd type="none" w="med" len="med"/>
                      <a:tailEnd type="none" w="med" len="med"/>
                    </a:lnR>
                    <a:lnT w="6350" cap="flat" cmpd="sng">
                      <a:solidFill>
                        <a:srgbClr val="CCCCCC"/>
                      </a:solidFill>
                      <a:prstDash val="solid"/>
                      <a:headEnd type="none" w="med" len="med"/>
                      <a:tailEnd type="none" w="med" len="med"/>
                    </a:lnT>
                    <a:lnB w="6350" cap="flat" cmpd="sng">
                      <a:solidFill>
                        <a:srgbClr val="CCCCCC"/>
                      </a:solidFill>
                      <a:prstDash val="solid"/>
                      <a:headEnd type="none" w="med" len="med"/>
                      <a:tailEnd type="none" w="med" len="med"/>
                    </a:lnB>
                    <a:no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8590" y="1213485"/>
            <a:ext cx="3048000" cy="368300"/>
          </a:xfrm>
          <a:prstGeom prst="rect">
            <a:avLst/>
          </a:prstGeom>
          <a:noFill/>
        </p:spPr>
        <p:txBody>
          <a:bodyPr wrap="square" rtlCol="0">
            <a:spAutoFit/>
          </a:bodyPr>
          <a:p>
            <a:r>
              <a:rPr lang="en-US" altLang="zh-CN"/>
              <a:t>1</a:t>
            </a:r>
            <a:r>
              <a:rPr lang="zh-CN" altLang="en-US"/>
              <a:t>、加入一个安全</a:t>
            </a:r>
            <a:r>
              <a:rPr lang="zh-CN" altLang="en-US"/>
              <a:t>网络</a:t>
            </a:r>
            <a:endParaRPr lang="zh-CN" altLang="en-US"/>
          </a:p>
        </p:txBody>
      </p:sp>
      <p:pic>
        <p:nvPicPr>
          <p:cNvPr id="4" name="图片 3"/>
          <p:cNvPicPr>
            <a:picLocks noChangeAspect="1"/>
          </p:cNvPicPr>
          <p:nvPr/>
        </p:nvPicPr>
        <p:blipFill>
          <a:blip r:embed="rId1"/>
          <a:stretch>
            <a:fillRect/>
          </a:stretch>
        </p:blipFill>
        <p:spPr>
          <a:xfrm>
            <a:off x="2764790" y="587375"/>
            <a:ext cx="4841240" cy="4295775"/>
          </a:xfrm>
          <a:prstGeom prst="rect">
            <a:avLst/>
          </a:prstGeom>
        </p:spPr>
      </p:pic>
      <p:sp>
        <p:nvSpPr>
          <p:cNvPr id="6" name="文本框 5"/>
          <p:cNvSpPr txBox="1"/>
          <p:nvPr/>
        </p:nvSpPr>
        <p:spPr>
          <a:xfrm>
            <a:off x="215900" y="587375"/>
            <a:ext cx="3048000" cy="368300"/>
          </a:xfrm>
          <a:prstGeom prst="rect">
            <a:avLst/>
          </a:prstGeom>
          <a:noFill/>
        </p:spPr>
        <p:txBody>
          <a:bodyPr wrap="square" rtlCol="0">
            <a:spAutoFit/>
          </a:bodyPr>
          <a:p>
            <a:r>
              <a:rPr lang="zh-CN" altLang="en-US"/>
              <a:t>安全</a:t>
            </a:r>
            <a:r>
              <a:rPr lang="zh-CN" altLang="en-US"/>
              <a:t>步骤</a:t>
            </a:r>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8590" y="1213485"/>
            <a:ext cx="3048000" cy="368300"/>
          </a:xfrm>
          <a:prstGeom prst="rect">
            <a:avLst/>
          </a:prstGeom>
          <a:noFill/>
        </p:spPr>
        <p:txBody>
          <a:bodyPr wrap="square" rtlCol="0">
            <a:spAutoFit/>
          </a:bodyPr>
          <a:p>
            <a:r>
              <a:rPr lang="en-US" altLang="zh-CN"/>
              <a:t>2</a:t>
            </a:r>
            <a:r>
              <a:rPr lang="zh-CN" altLang="en-US"/>
              <a:t>、</a:t>
            </a:r>
            <a:r>
              <a:rPr lang="zh-CN" altLang="en-US"/>
              <a:t>认证</a:t>
            </a:r>
            <a:endParaRPr lang="zh-CN" altLang="en-US"/>
          </a:p>
        </p:txBody>
      </p:sp>
      <p:sp>
        <p:nvSpPr>
          <p:cNvPr id="6" name="文本框 5"/>
          <p:cNvSpPr txBox="1"/>
          <p:nvPr/>
        </p:nvSpPr>
        <p:spPr>
          <a:xfrm>
            <a:off x="215900" y="587375"/>
            <a:ext cx="3048000" cy="368300"/>
          </a:xfrm>
          <a:prstGeom prst="rect">
            <a:avLst/>
          </a:prstGeom>
          <a:noFill/>
        </p:spPr>
        <p:txBody>
          <a:bodyPr wrap="square" rtlCol="0">
            <a:spAutoFit/>
          </a:bodyPr>
          <a:p>
            <a:r>
              <a:rPr lang="zh-CN" altLang="en-US"/>
              <a:t>安全</a:t>
            </a:r>
            <a:r>
              <a:rPr lang="zh-CN" altLang="en-US"/>
              <a:t>步骤</a:t>
            </a:r>
            <a:endParaRPr lang="zh-CN" altLang="en-US"/>
          </a:p>
        </p:txBody>
      </p:sp>
      <p:pic>
        <p:nvPicPr>
          <p:cNvPr id="5" name="图片 4"/>
          <p:cNvPicPr>
            <a:picLocks noChangeAspect="1"/>
          </p:cNvPicPr>
          <p:nvPr/>
        </p:nvPicPr>
        <p:blipFill>
          <a:blip r:embed="rId1"/>
          <a:stretch>
            <a:fillRect/>
          </a:stretch>
        </p:blipFill>
        <p:spPr>
          <a:xfrm>
            <a:off x="0" y="2386330"/>
            <a:ext cx="4664710" cy="1603375"/>
          </a:xfrm>
          <a:prstGeom prst="rect">
            <a:avLst/>
          </a:prstGeom>
        </p:spPr>
      </p:pic>
      <p:pic>
        <p:nvPicPr>
          <p:cNvPr id="3" name="图片 2"/>
          <p:cNvPicPr>
            <a:picLocks noChangeAspect="1"/>
          </p:cNvPicPr>
          <p:nvPr/>
        </p:nvPicPr>
        <p:blipFill>
          <a:blip r:embed="rId2"/>
          <a:stretch>
            <a:fillRect/>
          </a:stretch>
        </p:blipFill>
        <p:spPr>
          <a:xfrm>
            <a:off x="4272280" y="2335530"/>
            <a:ext cx="4550410" cy="2404110"/>
          </a:xfrm>
          <a:prstGeom prst="rect">
            <a:avLst/>
          </a:prstGeom>
        </p:spPr>
      </p:pic>
      <p:sp>
        <p:nvSpPr>
          <p:cNvPr id="8" name="文本框 7"/>
          <p:cNvSpPr txBox="1"/>
          <p:nvPr/>
        </p:nvSpPr>
        <p:spPr>
          <a:xfrm>
            <a:off x="215900" y="1750060"/>
            <a:ext cx="3048000" cy="368300"/>
          </a:xfrm>
          <a:prstGeom prst="rect">
            <a:avLst/>
          </a:prstGeom>
          <a:noFill/>
        </p:spPr>
        <p:txBody>
          <a:bodyPr wrap="square" rtlCol="0">
            <a:spAutoFit/>
          </a:bodyPr>
          <a:p>
            <a:endParaRPr lang="zh-CN" altLang="en-US"/>
          </a:p>
        </p:txBody>
      </p:sp>
      <p:sp>
        <p:nvSpPr>
          <p:cNvPr id="10" name="文本框 9"/>
          <p:cNvSpPr txBox="1"/>
          <p:nvPr/>
        </p:nvSpPr>
        <p:spPr>
          <a:xfrm>
            <a:off x="215900" y="1750060"/>
            <a:ext cx="3048000" cy="368300"/>
          </a:xfrm>
          <a:prstGeom prst="rect">
            <a:avLst/>
          </a:prstGeom>
          <a:noFill/>
        </p:spPr>
        <p:txBody>
          <a:bodyPr wrap="square" rtlCol="0">
            <a:spAutoFit/>
          </a:bodyPr>
          <a:p>
            <a:r>
              <a:rPr lang="zh-CN" altLang="en-US"/>
              <a:t>（</a:t>
            </a:r>
            <a:r>
              <a:rPr lang="en-US" altLang="zh-CN"/>
              <a:t>1</a:t>
            </a:r>
            <a:r>
              <a:rPr lang="zh-CN" altLang="en-US"/>
              <a:t>）低</a:t>
            </a:r>
            <a:r>
              <a:rPr lang="zh-CN" altLang="en-US"/>
              <a:t>安全</a:t>
            </a:r>
            <a:endParaRPr lang="zh-CN" altLang="en-US"/>
          </a:p>
        </p:txBody>
      </p:sp>
      <p:sp>
        <p:nvSpPr>
          <p:cNvPr id="11" name="文本框 10"/>
          <p:cNvSpPr txBox="1"/>
          <p:nvPr/>
        </p:nvSpPr>
        <p:spPr>
          <a:xfrm>
            <a:off x="4415155" y="1750060"/>
            <a:ext cx="3048000" cy="368300"/>
          </a:xfrm>
          <a:prstGeom prst="rect">
            <a:avLst/>
          </a:prstGeom>
          <a:noFill/>
        </p:spPr>
        <p:txBody>
          <a:bodyPr wrap="square" rtlCol="0">
            <a:spAutoFit/>
          </a:bodyPr>
          <a:p>
            <a:r>
              <a:rPr lang="zh-CN" altLang="en-US"/>
              <a:t>（</a:t>
            </a:r>
            <a:r>
              <a:rPr lang="en-US" altLang="zh-CN"/>
              <a:t>2</a:t>
            </a:r>
            <a:r>
              <a:rPr lang="zh-CN" altLang="en-US"/>
              <a:t>）高</a:t>
            </a:r>
            <a:r>
              <a:rPr lang="zh-CN" altLang="en-US"/>
              <a:t>安全</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8590" y="1213485"/>
            <a:ext cx="3048000" cy="368300"/>
          </a:xfrm>
          <a:prstGeom prst="rect">
            <a:avLst/>
          </a:prstGeom>
          <a:noFill/>
        </p:spPr>
        <p:txBody>
          <a:bodyPr wrap="square" rtlCol="0">
            <a:spAutoFit/>
          </a:bodyPr>
          <a:p>
            <a:r>
              <a:rPr lang="en-US" altLang="zh-CN">
                <a:sym typeface="+mn-ea"/>
              </a:rPr>
              <a:t>3</a:t>
            </a:r>
            <a:r>
              <a:rPr lang="zh-CN" altLang="en-US">
                <a:sym typeface="+mn-ea"/>
              </a:rPr>
              <a:t>、更新网络密钥</a:t>
            </a:r>
            <a:endParaRPr lang="zh-CN" altLang="en-US"/>
          </a:p>
        </p:txBody>
      </p:sp>
      <p:sp>
        <p:nvSpPr>
          <p:cNvPr id="6" name="文本框 5"/>
          <p:cNvSpPr txBox="1"/>
          <p:nvPr/>
        </p:nvSpPr>
        <p:spPr>
          <a:xfrm>
            <a:off x="215900" y="587375"/>
            <a:ext cx="3048000" cy="368300"/>
          </a:xfrm>
          <a:prstGeom prst="rect">
            <a:avLst/>
          </a:prstGeom>
          <a:noFill/>
        </p:spPr>
        <p:txBody>
          <a:bodyPr wrap="square" rtlCol="0">
            <a:spAutoFit/>
          </a:bodyPr>
          <a:p>
            <a:r>
              <a:rPr lang="zh-CN" altLang="en-US"/>
              <a:t>安全</a:t>
            </a:r>
            <a:r>
              <a:rPr lang="zh-CN" altLang="en-US"/>
              <a:t>步骤</a:t>
            </a:r>
            <a:endParaRPr lang="zh-CN" altLang="en-US"/>
          </a:p>
        </p:txBody>
      </p:sp>
      <p:sp>
        <p:nvSpPr>
          <p:cNvPr id="8" name="文本框 7"/>
          <p:cNvSpPr txBox="1"/>
          <p:nvPr/>
        </p:nvSpPr>
        <p:spPr>
          <a:xfrm>
            <a:off x="215900" y="1750060"/>
            <a:ext cx="3048000" cy="368300"/>
          </a:xfrm>
          <a:prstGeom prst="rect">
            <a:avLst/>
          </a:prstGeom>
          <a:noFill/>
        </p:spPr>
        <p:txBody>
          <a:bodyPr wrap="square" rtlCol="0">
            <a:spAutoFit/>
          </a:bodyPr>
          <a:p>
            <a:endParaRPr lang="zh-CN" altLang="en-US"/>
          </a:p>
        </p:txBody>
      </p:sp>
      <p:pic>
        <p:nvPicPr>
          <p:cNvPr id="4" name="图片 3"/>
          <p:cNvPicPr>
            <a:picLocks noChangeAspect="1"/>
          </p:cNvPicPr>
          <p:nvPr/>
        </p:nvPicPr>
        <p:blipFill>
          <a:blip r:embed="rId1"/>
          <a:stretch>
            <a:fillRect/>
          </a:stretch>
        </p:blipFill>
        <p:spPr>
          <a:xfrm>
            <a:off x="1733550" y="1839595"/>
            <a:ext cx="5391785" cy="252920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8590" y="1213485"/>
            <a:ext cx="3048000" cy="368300"/>
          </a:xfrm>
          <a:prstGeom prst="rect">
            <a:avLst/>
          </a:prstGeom>
          <a:noFill/>
        </p:spPr>
        <p:txBody>
          <a:bodyPr wrap="square" rtlCol="0">
            <a:spAutoFit/>
          </a:bodyPr>
          <a:p>
            <a:r>
              <a:rPr lang="en-US" altLang="zh-CN">
                <a:sym typeface="+mn-ea"/>
              </a:rPr>
              <a:t>4</a:t>
            </a:r>
            <a:r>
              <a:rPr lang="zh-CN" altLang="en-US">
                <a:sym typeface="+mn-ea"/>
              </a:rPr>
              <a:t>、端对端建立</a:t>
            </a:r>
            <a:r>
              <a:rPr lang="zh-CN" altLang="en-US">
                <a:sym typeface="+mn-ea"/>
              </a:rPr>
              <a:t>密钥</a:t>
            </a:r>
            <a:endParaRPr lang="zh-CN" altLang="en-US">
              <a:sym typeface="+mn-ea"/>
            </a:endParaRPr>
          </a:p>
        </p:txBody>
      </p:sp>
      <p:sp>
        <p:nvSpPr>
          <p:cNvPr id="6" name="文本框 5"/>
          <p:cNvSpPr txBox="1"/>
          <p:nvPr/>
        </p:nvSpPr>
        <p:spPr>
          <a:xfrm>
            <a:off x="215900" y="587375"/>
            <a:ext cx="3048000" cy="368300"/>
          </a:xfrm>
          <a:prstGeom prst="rect">
            <a:avLst/>
          </a:prstGeom>
          <a:noFill/>
        </p:spPr>
        <p:txBody>
          <a:bodyPr wrap="square" rtlCol="0">
            <a:spAutoFit/>
          </a:bodyPr>
          <a:p>
            <a:r>
              <a:rPr lang="zh-CN" altLang="en-US"/>
              <a:t>安全</a:t>
            </a:r>
            <a:r>
              <a:rPr lang="zh-CN" altLang="en-US"/>
              <a:t>步骤</a:t>
            </a:r>
            <a:endParaRPr lang="zh-CN" altLang="en-US"/>
          </a:p>
        </p:txBody>
      </p:sp>
      <p:sp>
        <p:nvSpPr>
          <p:cNvPr id="8" name="文本框 7"/>
          <p:cNvSpPr txBox="1"/>
          <p:nvPr/>
        </p:nvSpPr>
        <p:spPr>
          <a:xfrm>
            <a:off x="215900" y="1750060"/>
            <a:ext cx="3048000" cy="368300"/>
          </a:xfrm>
          <a:prstGeom prst="rect">
            <a:avLst/>
          </a:prstGeom>
          <a:noFill/>
        </p:spPr>
        <p:txBody>
          <a:bodyPr wrap="square" rtlCol="0">
            <a:spAutoFit/>
          </a:bodyPr>
          <a:p>
            <a:endParaRPr lang="zh-CN" altLang="en-US"/>
          </a:p>
        </p:txBody>
      </p:sp>
      <p:pic>
        <p:nvPicPr>
          <p:cNvPr id="3" name="图片 2"/>
          <p:cNvPicPr>
            <a:picLocks noChangeAspect="1"/>
          </p:cNvPicPr>
          <p:nvPr/>
        </p:nvPicPr>
        <p:blipFill>
          <a:blip r:embed="rId1"/>
          <a:stretch>
            <a:fillRect/>
          </a:stretch>
        </p:blipFill>
        <p:spPr>
          <a:xfrm>
            <a:off x="2457450" y="955675"/>
            <a:ext cx="5066665" cy="370713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SMP</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48590" y="1213485"/>
            <a:ext cx="3048000" cy="368300"/>
          </a:xfrm>
          <a:prstGeom prst="rect">
            <a:avLst/>
          </a:prstGeom>
          <a:noFill/>
        </p:spPr>
        <p:txBody>
          <a:bodyPr wrap="square" rtlCol="0">
            <a:spAutoFit/>
          </a:bodyPr>
          <a:p>
            <a:r>
              <a:rPr lang="en-US" altLang="zh-CN">
                <a:sym typeface="+mn-ea"/>
              </a:rPr>
              <a:t>4</a:t>
            </a:r>
            <a:r>
              <a:rPr lang="zh-CN" altLang="en-US">
                <a:sym typeface="+mn-ea"/>
              </a:rPr>
              <a:t>、设备</a:t>
            </a:r>
            <a:r>
              <a:rPr lang="zh-CN" altLang="en-US">
                <a:sym typeface="+mn-ea"/>
              </a:rPr>
              <a:t>离网</a:t>
            </a:r>
            <a:endParaRPr lang="zh-CN" altLang="en-US">
              <a:sym typeface="+mn-ea"/>
            </a:endParaRPr>
          </a:p>
        </p:txBody>
      </p:sp>
      <p:sp>
        <p:nvSpPr>
          <p:cNvPr id="6" name="文本框 5"/>
          <p:cNvSpPr txBox="1"/>
          <p:nvPr/>
        </p:nvSpPr>
        <p:spPr>
          <a:xfrm>
            <a:off x="215900" y="587375"/>
            <a:ext cx="3048000" cy="368300"/>
          </a:xfrm>
          <a:prstGeom prst="rect">
            <a:avLst/>
          </a:prstGeom>
          <a:noFill/>
        </p:spPr>
        <p:txBody>
          <a:bodyPr wrap="square" rtlCol="0">
            <a:spAutoFit/>
          </a:bodyPr>
          <a:p>
            <a:r>
              <a:rPr lang="zh-CN" altLang="en-US"/>
              <a:t>安全</a:t>
            </a:r>
            <a:r>
              <a:rPr lang="zh-CN" altLang="en-US"/>
              <a:t>步骤</a:t>
            </a:r>
            <a:endParaRPr lang="zh-CN" altLang="en-US"/>
          </a:p>
        </p:txBody>
      </p:sp>
      <p:sp>
        <p:nvSpPr>
          <p:cNvPr id="8" name="文本框 7"/>
          <p:cNvSpPr txBox="1"/>
          <p:nvPr/>
        </p:nvSpPr>
        <p:spPr>
          <a:xfrm>
            <a:off x="215900" y="1750060"/>
            <a:ext cx="3048000" cy="368300"/>
          </a:xfrm>
          <a:prstGeom prst="rect">
            <a:avLst/>
          </a:prstGeom>
          <a:noFill/>
        </p:spPr>
        <p:txBody>
          <a:bodyPr wrap="square" rtlCol="0">
            <a:spAutoFit/>
          </a:bodyPr>
          <a:p>
            <a:r>
              <a:rPr lang="zh-CN" altLang="en-US"/>
              <a:t>（</a:t>
            </a:r>
            <a:r>
              <a:rPr lang="en-US" altLang="zh-CN"/>
              <a:t>1</a:t>
            </a:r>
            <a:r>
              <a:rPr lang="zh-CN" altLang="en-US"/>
              <a:t>）被动</a:t>
            </a:r>
            <a:r>
              <a:rPr lang="zh-CN" altLang="en-US"/>
              <a:t>离网</a:t>
            </a:r>
            <a:endParaRPr lang="zh-CN" altLang="en-US"/>
          </a:p>
        </p:txBody>
      </p:sp>
      <p:pic>
        <p:nvPicPr>
          <p:cNvPr id="4" name="图片 3"/>
          <p:cNvPicPr>
            <a:picLocks noChangeAspect="1"/>
          </p:cNvPicPr>
          <p:nvPr/>
        </p:nvPicPr>
        <p:blipFill>
          <a:blip r:embed="rId1"/>
          <a:stretch>
            <a:fillRect/>
          </a:stretch>
        </p:blipFill>
        <p:spPr>
          <a:xfrm>
            <a:off x="148590" y="2367280"/>
            <a:ext cx="3543300" cy="1028700"/>
          </a:xfrm>
          <a:prstGeom prst="rect">
            <a:avLst/>
          </a:prstGeom>
        </p:spPr>
      </p:pic>
      <p:pic>
        <p:nvPicPr>
          <p:cNvPr id="5" name="图片 4"/>
          <p:cNvPicPr>
            <a:picLocks noChangeAspect="1"/>
          </p:cNvPicPr>
          <p:nvPr/>
        </p:nvPicPr>
        <p:blipFill>
          <a:blip r:embed="rId2"/>
          <a:stretch>
            <a:fillRect/>
          </a:stretch>
        </p:blipFill>
        <p:spPr>
          <a:xfrm>
            <a:off x="4216400" y="2367280"/>
            <a:ext cx="3714750" cy="1136650"/>
          </a:xfrm>
          <a:prstGeom prst="rect">
            <a:avLst/>
          </a:prstGeom>
        </p:spPr>
      </p:pic>
      <p:sp>
        <p:nvSpPr>
          <p:cNvPr id="9" name="文本框 8"/>
          <p:cNvSpPr txBox="1"/>
          <p:nvPr/>
        </p:nvSpPr>
        <p:spPr>
          <a:xfrm>
            <a:off x="4216400" y="1690370"/>
            <a:ext cx="3048000" cy="368300"/>
          </a:xfrm>
          <a:prstGeom prst="rect">
            <a:avLst/>
          </a:prstGeom>
          <a:noFill/>
        </p:spPr>
        <p:txBody>
          <a:bodyPr wrap="square" rtlCol="0">
            <a:spAutoFit/>
          </a:bodyPr>
          <a:p>
            <a:r>
              <a:rPr lang="zh-CN" altLang="en-US"/>
              <a:t>（</a:t>
            </a:r>
            <a:r>
              <a:rPr lang="en-US" altLang="zh-CN"/>
              <a:t>2</a:t>
            </a:r>
            <a:r>
              <a:rPr lang="zh-CN" altLang="en-US"/>
              <a:t>）主动</a:t>
            </a:r>
            <a:r>
              <a:rPr lang="zh-CN" altLang="en-US"/>
              <a:t>离网</a:t>
            </a:r>
            <a:endParaRPr lang="zh-CN"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 Q&amp;A</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94615" y="587375"/>
            <a:ext cx="8866505" cy="1617345"/>
          </a:xfrm>
          <a:prstGeom prst="rect">
            <a:avLst/>
          </a:prstGeom>
          <a:noFill/>
        </p:spPr>
        <p:txBody>
          <a:bodyPr wrap="square" rtlCol="0">
            <a:noAutofit/>
          </a:bodyPr>
          <a:p>
            <a:pPr>
              <a:lnSpc>
                <a:spcPct val="120000"/>
              </a:lnSpc>
            </a:pPr>
            <a:r>
              <a:rPr lang="en-US" altLang="zh-CN" sz="1600">
                <a:latin typeface="宋体" panose="02010600030101010101" pitchFamily="2" charset="-122"/>
                <a:ea typeface="宋体" panose="02010600030101010101" pitchFamily="2" charset="-122"/>
                <a:cs typeface="宋体" panose="02010600030101010101" pitchFamily="2" charset="-122"/>
              </a:rPr>
              <a:t>1</a:t>
            </a:r>
            <a:r>
              <a:rPr lang="zh-CN" altLang="en-US" sz="1600">
                <a:latin typeface="宋体" panose="02010600030101010101" pitchFamily="2" charset="-122"/>
                <a:ea typeface="宋体" panose="02010600030101010101" pitchFamily="2" charset="-122"/>
                <a:cs typeface="宋体" panose="02010600030101010101" pitchFamily="2" charset="-122"/>
              </a:rPr>
              <a:t>、设备（</a:t>
            </a:r>
            <a:r>
              <a:rPr lang="en-US" altLang="zh-CN" sz="1600">
                <a:latin typeface="宋体" panose="02010600030101010101" pitchFamily="2" charset="-122"/>
                <a:ea typeface="宋体" panose="02010600030101010101" pitchFamily="2" charset="-122"/>
                <a:cs typeface="宋体" panose="02010600030101010101" pitchFamily="2" charset="-122"/>
              </a:rPr>
              <a:t>ZR\ZD</a:t>
            </a:r>
            <a:r>
              <a:rPr lang="zh-CN" altLang="en-US" sz="1600">
                <a:latin typeface="宋体" panose="02010600030101010101" pitchFamily="2" charset="-122"/>
                <a:ea typeface="宋体" panose="02010600030101010101" pitchFamily="2" charset="-122"/>
                <a:cs typeface="宋体" panose="02010600030101010101" pitchFamily="2" charset="-122"/>
              </a:rPr>
              <a:t>）入网时，会保存信息在</a:t>
            </a:r>
            <a:r>
              <a:rPr lang="en-US" altLang="zh-CN" sz="1600">
                <a:latin typeface="宋体" panose="02010600030101010101" pitchFamily="2" charset="-122"/>
                <a:ea typeface="宋体" panose="02010600030101010101" pitchFamily="2" charset="-122"/>
                <a:cs typeface="宋体" panose="02010600030101010101" pitchFamily="2" charset="-122"/>
              </a:rPr>
              <a:t>ZC</a:t>
            </a:r>
            <a:r>
              <a:rPr lang="zh-CN" altLang="en-US" sz="1600">
                <a:latin typeface="宋体" panose="02010600030101010101" pitchFamily="2" charset="-122"/>
                <a:ea typeface="宋体" panose="02010600030101010101" pitchFamily="2" charset="-122"/>
                <a:cs typeface="宋体" panose="02010600030101010101" pitchFamily="2" charset="-122"/>
              </a:rPr>
              <a:t>，但如果设备不是挂载在</a:t>
            </a:r>
            <a:r>
              <a:rPr lang="en-US" altLang="zh-CN" sz="1600">
                <a:latin typeface="宋体" panose="02010600030101010101" pitchFamily="2" charset="-122"/>
                <a:ea typeface="宋体" panose="02010600030101010101" pitchFamily="2" charset="-122"/>
                <a:cs typeface="宋体" panose="02010600030101010101" pitchFamily="2" charset="-122"/>
              </a:rPr>
              <a:t>ZC</a:t>
            </a:r>
            <a:r>
              <a:rPr lang="zh-CN" altLang="en-US" sz="1600">
                <a:latin typeface="宋体" panose="02010600030101010101" pitchFamily="2" charset="-122"/>
                <a:ea typeface="宋体" panose="02010600030101010101" pitchFamily="2" charset="-122"/>
                <a:cs typeface="宋体" panose="02010600030101010101" pitchFamily="2" charset="-122"/>
              </a:rPr>
              <a:t>下，设备离网时</a:t>
            </a:r>
            <a:r>
              <a:rPr lang="en-US" altLang="zh-CN" sz="1600">
                <a:latin typeface="宋体" panose="02010600030101010101" pitchFamily="2" charset="-122"/>
                <a:ea typeface="宋体" panose="02010600030101010101" pitchFamily="2" charset="-122"/>
                <a:cs typeface="宋体" panose="02010600030101010101" pitchFamily="2" charset="-122"/>
              </a:rPr>
              <a:t>ZC</a:t>
            </a:r>
            <a:r>
              <a:rPr lang="zh-CN" altLang="en-US" sz="1600">
                <a:latin typeface="宋体" panose="02010600030101010101" pitchFamily="2" charset="-122"/>
                <a:ea typeface="宋体" panose="02010600030101010101" pitchFamily="2" charset="-122"/>
                <a:cs typeface="宋体" panose="02010600030101010101" pitchFamily="2" charset="-122"/>
              </a:rPr>
              <a:t>收不到离网</a:t>
            </a:r>
            <a:r>
              <a:rPr lang="en-US" altLang="zh-CN" sz="1600">
                <a:latin typeface="宋体" panose="02010600030101010101" pitchFamily="2" charset="-122"/>
                <a:ea typeface="宋体" panose="02010600030101010101" pitchFamily="2" charset="-122"/>
                <a:cs typeface="宋体" panose="02010600030101010101" pitchFamily="2" charset="-122"/>
              </a:rPr>
              <a:t>indication</a:t>
            </a:r>
            <a:r>
              <a:rPr lang="zh-CN" altLang="en-US" sz="1600">
                <a:latin typeface="宋体" panose="02010600030101010101" pitchFamily="2" charset="-122"/>
                <a:ea typeface="宋体" panose="02010600030101010101" pitchFamily="2" charset="-122"/>
                <a:cs typeface="宋体" panose="02010600030101010101" pitchFamily="2" charset="-122"/>
              </a:rPr>
              <a:t>，</a:t>
            </a:r>
            <a:r>
              <a:rPr lang="en-US" altLang="zh-CN" sz="1600">
                <a:latin typeface="宋体" panose="02010600030101010101" pitchFamily="2" charset="-122"/>
                <a:ea typeface="宋体" panose="02010600030101010101" pitchFamily="2" charset="-122"/>
                <a:cs typeface="宋体" panose="02010600030101010101" pitchFamily="2" charset="-122"/>
              </a:rPr>
              <a:t>ZR</a:t>
            </a:r>
            <a:r>
              <a:rPr lang="zh-CN" altLang="en-US" sz="1600">
                <a:latin typeface="宋体" panose="02010600030101010101" pitchFamily="2" charset="-122"/>
                <a:ea typeface="宋体" panose="02010600030101010101" pitchFamily="2" charset="-122"/>
                <a:cs typeface="宋体" panose="02010600030101010101" pitchFamily="2" charset="-122"/>
              </a:rPr>
              <a:t>也没有发送设备更新，导致</a:t>
            </a:r>
            <a:r>
              <a:rPr lang="en-US" altLang="zh-CN" sz="1600">
                <a:latin typeface="宋体" panose="02010600030101010101" pitchFamily="2" charset="-122"/>
                <a:ea typeface="宋体" panose="02010600030101010101" pitchFamily="2" charset="-122"/>
                <a:cs typeface="宋体" panose="02010600030101010101" pitchFamily="2" charset="-122"/>
              </a:rPr>
              <a:t>ZC</a:t>
            </a:r>
            <a:r>
              <a:rPr lang="zh-CN" altLang="en-US" sz="1600">
                <a:latin typeface="宋体" panose="02010600030101010101" pitchFamily="2" charset="-122"/>
                <a:ea typeface="宋体" panose="02010600030101010101" pitchFamily="2" charset="-122"/>
                <a:cs typeface="宋体" panose="02010600030101010101" pitchFamily="2" charset="-122"/>
              </a:rPr>
              <a:t>仍会保留该设备的信息？</a:t>
            </a:r>
            <a:endParaRPr lang="zh-CN" altLang="en-US" sz="1600">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en-US" altLang="zh-CN" sz="1600">
                <a:latin typeface="宋体" panose="02010600030101010101" pitchFamily="2" charset="-122"/>
                <a:ea typeface="宋体" panose="02010600030101010101" pitchFamily="2" charset="-122"/>
                <a:cs typeface="宋体" panose="02010600030101010101" pitchFamily="2" charset="-122"/>
              </a:rPr>
              <a:t>2</a:t>
            </a:r>
            <a:r>
              <a:rPr lang="zh-CN" altLang="en-US" sz="1600">
                <a:latin typeface="宋体" panose="02010600030101010101" pitchFamily="2" charset="-122"/>
                <a:ea typeface="宋体" panose="02010600030101010101" pitchFamily="2" charset="-122"/>
                <a:cs typeface="宋体" panose="02010600030101010101" pitchFamily="2" charset="-122"/>
              </a:rPr>
              <a:t>、在</a:t>
            </a:r>
            <a:r>
              <a:rPr lang="en-US" altLang="zh-CN" sz="1600">
                <a:latin typeface="宋体" panose="02010600030101010101" pitchFamily="2" charset="-122"/>
                <a:ea typeface="宋体" panose="02010600030101010101" pitchFamily="2" charset="-122"/>
                <a:cs typeface="宋体" panose="02010600030101010101" pitchFamily="2" charset="-122"/>
              </a:rPr>
              <a:t>SDK Zigbee Demo</a:t>
            </a:r>
            <a:r>
              <a:rPr lang="zh-CN" altLang="en-US" sz="1600">
                <a:latin typeface="宋体" panose="02010600030101010101" pitchFamily="2" charset="-122"/>
                <a:ea typeface="宋体" panose="02010600030101010101" pitchFamily="2" charset="-122"/>
                <a:cs typeface="宋体" panose="02010600030101010101" pitchFamily="2" charset="-122"/>
              </a:rPr>
              <a:t>中，</a:t>
            </a:r>
            <a:r>
              <a:rPr lang="en-US" altLang="zh-CN" sz="1600">
                <a:latin typeface="宋体" panose="02010600030101010101" pitchFamily="2" charset="-122"/>
                <a:ea typeface="宋体" panose="02010600030101010101" pitchFamily="2" charset="-122"/>
                <a:cs typeface="宋体" panose="02010600030101010101" pitchFamily="2" charset="-122"/>
              </a:rPr>
              <a:t>GW</a:t>
            </a:r>
            <a:r>
              <a:rPr lang="zh-CN" altLang="en-US" sz="1600">
                <a:latin typeface="宋体" panose="02010600030101010101" pitchFamily="2" charset="-122"/>
                <a:ea typeface="宋体" panose="02010600030101010101" pitchFamily="2" charset="-122"/>
                <a:cs typeface="宋体" panose="02010600030101010101" pitchFamily="2" charset="-122"/>
              </a:rPr>
              <a:t>建网完成后，没</a:t>
            </a:r>
            <a:r>
              <a:rPr lang="zh-CN" altLang="en-US" sz="1600">
                <a:latin typeface="宋体" panose="02010600030101010101" pitchFamily="2" charset="-122"/>
                <a:ea typeface="宋体" panose="02010600030101010101" pitchFamily="2" charset="-122"/>
                <a:cs typeface="宋体" panose="02010600030101010101" pitchFamily="2" charset="-122"/>
              </a:rPr>
              <a:t>看到有调</a:t>
            </a:r>
            <a:r>
              <a:rPr lang="en-US" altLang="zh-CN" sz="1600">
                <a:latin typeface="宋体" panose="02010600030101010101" pitchFamily="2" charset="-122"/>
                <a:ea typeface="宋体" panose="02010600030101010101" pitchFamily="2" charset="-122"/>
                <a:cs typeface="宋体" panose="02010600030101010101" pitchFamily="2" charset="-122"/>
              </a:rPr>
              <a:t>zigbee_send_permit_join()</a:t>
            </a:r>
            <a:r>
              <a:rPr lang="zh-CN" altLang="en-US" sz="1600">
                <a:latin typeface="宋体" panose="02010600030101010101" pitchFamily="2" charset="-122"/>
                <a:ea typeface="宋体" panose="02010600030101010101" pitchFamily="2" charset="-122"/>
                <a:cs typeface="宋体" panose="02010600030101010101" pitchFamily="2" charset="-122"/>
              </a:rPr>
              <a:t>，其它设备却能入网？</a:t>
            </a:r>
            <a:endParaRPr lang="zh-CN" altLang="en-US" sz="160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標題 1"/>
          <p:cNvSpPr txBox="1"/>
          <p:nvPr/>
        </p:nvSpPr>
        <p:spPr>
          <a:xfrm>
            <a:off x="215591" y="120567"/>
            <a:ext cx="8745530" cy="467115"/>
          </a:xfrm>
          <a:prstGeom prst="rect">
            <a:avLst/>
          </a:prstGeom>
        </p:spPr>
        <p:txBody>
          <a:bodyPr vert="horz" lIns="36000" tIns="36000" rIns="36000" bIns="36000" rtlCol="0" anchor="ctr">
            <a:normAutofit/>
          </a:bodyPr>
          <a:lstStyle>
            <a:lvl1pPr algn="l" defTabSz="685800" rtl="0" eaLnBrk="1" latinLnBrk="0" hangingPunct="1">
              <a:lnSpc>
                <a:spcPct val="90000"/>
              </a:lnSpc>
              <a:spcBef>
                <a:spcPct val="0"/>
              </a:spcBef>
              <a:buNone/>
              <a:defRPr sz="2025" kern="1200">
                <a:solidFill>
                  <a:schemeClr val="tx1"/>
                </a:solidFill>
                <a:latin typeface="+mn-lt"/>
                <a:ea typeface="+mj-ea"/>
                <a:cs typeface="+mj-cs"/>
              </a:defRPr>
            </a:lvl1pPr>
          </a:lstStyle>
          <a:p>
            <a:r>
              <a:rPr lang="en-US" altLang="zh-TW" sz="2400" b="1" spc="-38" dirty="0">
                <a:solidFill>
                  <a:srgbClr val="DFC27B"/>
                </a:solidFill>
                <a:latin typeface="Calibri" panose="020F0502020204030204" pitchFamily="34" charset="0"/>
                <a:cs typeface="Calibri" panose="020F0502020204030204" pitchFamily="34" charset="0"/>
              </a:rPr>
              <a:t>Rafael Micro</a:t>
            </a:r>
            <a:r>
              <a:rPr lang="en-US" altLang="zh-TW" sz="2400" b="1" spc="-38" dirty="0">
                <a:solidFill>
                  <a:srgbClr val="3D5663"/>
                </a:solidFill>
                <a:latin typeface="Calibri" panose="020F0502020204030204" pitchFamily="34" charset="0"/>
                <a:cs typeface="Calibri" panose="020F0502020204030204" pitchFamily="34" charset="0"/>
              </a:rPr>
              <a:t> |</a:t>
            </a:r>
            <a:r>
              <a:rPr lang="zh-CN" altLang="en-US" sz="2400" b="1" spc="-38" dirty="0">
                <a:solidFill>
                  <a:srgbClr val="3D5663"/>
                </a:solidFill>
                <a:latin typeface="Calibri" panose="020F0502020204030204" pitchFamily="34" charset="0"/>
                <a:cs typeface="Calibri" panose="020F0502020204030204" pitchFamily="34" charset="0"/>
              </a:rPr>
              <a:t>引用</a:t>
            </a:r>
            <a:r>
              <a:rPr lang="zh-CN" altLang="en-US" sz="2400" b="1" spc="-38" dirty="0">
                <a:solidFill>
                  <a:srgbClr val="3D5663"/>
                </a:solidFill>
                <a:latin typeface="Calibri" panose="020F0502020204030204" pitchFamily="34" charset="0"/>
                <a:cs typeface="Calibri" panose="020F0502020204030204" pitchFamily="34" charset="0"/>
              </a:rPr>
              <a:t>素材</a:t>
            </a:r>
            <a:endParaRPr lang="zh-CN" altLang="en-US" sz="2400" b="1" spc="-38" dirty="0">
              <a:solidFill>
                <a:srgbClr val="3D5663"/>
              </a:solidFill>
              <a:latin typeface="Calibri" panose="020F0502020204030204" pitchFamily="34" charset="0"/>
              <a:cs typeface="Calibri" panose="020F0502020204030204" pitchFamily="34" charset="0"/>
            </a:endParaRPr>
          </a:p>
        </p:txBody>
      </p:sp>
      <p:sp>
        <p:nvSpPr>
          <p:cNvPr id="2" name="文本框 1"/>
          <p:cNvSpPr txBox="1"/>
          <p:nvPr/>
        </p:nvSpPr>
        <p:spPr>
          <a:xfrm>
            <a:off x="196850" y="675640"/>
            <a:ext cx="6562725" cy="1087755"/>
          </a:xfrm>
          <a:prstGeom prst="rect">
            <a:avLst/>
          </a:prstGeom>
          <a:noFill/>
        </p:spPr>
        <p:txBody>
          <a:bodyPr wrap="square" rtlCol="0">
            <a:spAutoFit/>
          </a:bodyPr>
          <a:p>
            <a:pPr>
              <a:lnSpc>
                <a:spcPct val="120000"/>
              </a:lnSpc>
            </a:pPr>
            <a:r>
              <a:rPr lang="en-US" altLang="zh-CN">
                <a:latin typeface="Times New Roman" panose="02020603050405020304" charset="0"/>
                <a:cs typeface="Times New Roman" panose="02020603050405020304" charset="0"/>
              </a:rPr>
              <a:t>[1]zigbee</a:t>
            </a:r>
            <a:r>
              <a:rPr lang="zh-CN" altLang="en-US">
                <a:latin typeface="Times New Roman" panose="02020603050405020304" charset="0"/>
                <a:cs typeface="Times New Roman" panose="02020603050405020304" charset="0"/>
              </a:rPr>
              <a:t>规范</a:t>
            </a:r>
            <a:r>
              <a:rPr lang="en-US" altLang="zh-CN">
                <a:latin typeface="Times New Roman" panose="02020603050405020304" charset="0"/>
                <a:cs typeface="Times New Roman" panose="02020603050405020304" charset="0"/>
              </a:rPr>
              <a:t>2007</a:t>
            </a:r>
            <a:r>
              <a:rPr lang="zh-CN" altLang="en-US">
                <a:latin typeface="Times New Roman" panose="02020603050405020304" charset="0"/>
                <a:cs typeface="Times New Roman" panose="02020603050405020304" charset="0"/>
              </a:rPr>
              <a:t>版</a:t>
            </a:r>
            <a:r>
              <a:rPr lang="en-US" altLang="zh-CN">
                <a:latin typeface="Times New Roman" panose="02020603050405020304" charset="0"/>
                <a:cs typeface="Times New Roman" panose="02020603050405020304" charset="0"/>
              </a:rPr>
              <a:t>[PDF].</a:t>
            </a:r>
            <a:endParaRPr lang="en-US" altLang="zh-CN">
              <a:latin typeface="Times New Roman" panose="02020603050405020304" charset="0"/>
              <a:cs typeface="Times New Roman" panose="02020603050405020304" charset="0"/>
            </a:endParaRPr>
          </a:p>
          <a:p>
            <a:pPr>
              <a:lnSpc>
                <a:spcPct val="120000"/>
              </a:lnSpc>
            </a:pPr>
            <a:r>
              <a:rPr lang="en-US" altLang="zh-CN">
                <a:latin typeface="Times New Roman" panose="02020603050405020304" charset="0"/>
                <a:cs typeface="Times New Roman" panose="02020603050405020304" charset="0"/>
              </a:rPr>
              <a:t>[2]07-5123-08 Zigbee Cluster Library_2019_v8[PDF].</a:t>
            </a:r>
            <a:endParaRPr lang="en-US" altLang="zh-CN">
              <a:latin typeface="Times New Roman" panose="02020603050405020304" charset="0"/>
              <a:cs typeface="Times New Roman" panose="02020603050405020304" charset="0"/>
            </a:endParaRPr>
          </a:p>
          <a:p>
            <a:pPr>
              <a:lnSpc>
                <a:spcPct val="120000"/>
              </a:lnSpc>
            </a:pPr>
            <a:endParaRPr lang="en-US" altLang="zh-CN">
              <a:latin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6.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7.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8.xml><?xml version="1.0" encoding="utf-8"?>
<p:tagLst xmlns:p="http://schemas.openxmlformats.org/presentationml/2006/main">
  <p:tag name="KSO_WM_DIAGRAM_VIRTUALLY_FRAME" val="{&quot;height&quot;:115.4807874015748,&quot;left&quot;:137.65771653543305,&quot;top&quot;:240.1231496062992,&quot;width&quot;:141.7322834645669}"/>
</p:tagLst>
</file>

<file path=ppt/tags/tag9.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0.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1.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2.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3.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4.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5.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6.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7.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8.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19.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0.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1.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2.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3.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4.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5.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6.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7.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8.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29.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0.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1.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2.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3.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4.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5.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6.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7.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8.xml><?xml version="1.0" encoding="utf-8"?>
<p:tagLst xmlns:p="http://schemas.openxmlformats.org/presentationml/2006/main">
  <p:tag name="KSO_WM_DIAGRAM_VIRTUALLY_FRAME" val="{&quot;height&quot;:322.16986726722604,&quot;left&quot;:309.85886366906686,&quot;top&quot;:46.33209677927025,&quot;width&quot;:372.3698317169834}"/>
</p:tagLst>
</file>

<file path=ppt/tags/tag39.xml><?xml version="1.0" encoding="utf-8"?>
<p:tagLst xmlns:p="http://schemas.openxmlformats.org/presentationml/2006/main">
  <p:tag name="KSO_WM_DIAGRAM_VIRTUALLY_FRAME" val="{&quot;height&quot;:345.65,&quot;left&quot;:4.35,&quot;top&quot;:117.35,&quot;width&quot;:677.65}"/>
</p:tagLst>
</file>

<file path=ppt/tags/tag40.xml><?xml version="1.0" encoding="utf-8"?>
<p:tagLst xmlns:p="http://schemas.openxmlformats.org/presentationml/2006/main">
  <p:tag name="KSO_WM_DIAGRAM_VIRTUALLY_FRAME" val="{&quot;height&quot;:345.65,&quot;left&quot;:4.35,&quot;top&quot;:117.35,&quot;width&quot;:677.65}"/>
</p:tagLst>
</file>

<file path=ppt/tags/tag41.xml><?xml version="1.0" encoding="utf-8"?>
<p:tagLst xmlns:p="http://schemas.openxmlformats.org/presentationml/2006/main">
  <p:tag name="KSO_WM_DIAGRAM_VIRTUALLY_FRAME" val="{&quot;height&quot;:345.65,&quot;left&quot;:4.35,&quot;top&quot;:117.35,&quot;width&quot;:677.65}"/>
</p:tagLst>
</file>

<file path=ppt/tags/tag42.xml><?xml version="1.0" encoding="utf-8"?>
<p:tagLst xmlns:p="http://schemas.openxmlformats.org/presentationml/2006/main">
  <p:tag name="KSO_WM_DIAGRAM_VIRTUALLY_FRAME" val="{&quot;height&quot;:345.65,&quot;left&quot;:4.35,&quot;top&quot;:117.35,&quot;width&quot;:677.65}"/>
</p:tagLst>
</file>

<file path=ppt/tags/tag43.xml><?xml version="1.0" encoding="utf-8"?>
<p:tagLst xmlns:p="http://schemas.openxmlformats.org/presentationml/2006/main">
  <p:tag name="KSO_WM_DIAGRAM_VIRTUALLY_FRAME" val="{&quot;height&quot;:345.65,&quot;left&quot;:4.35,&quot;top&quot;:117.35,&quot;width&quot;:677.65}"/>
</p:tagLst>
</file>

<file path=ppt/tags/tag44.xml><?xml version="1.0" encoding="utf-8"?>
<p:tagLst xmlns:p="http://schemas.openxmlformats.org/presentationml/2006/main">
  <p:tag name="KSO_WM_DIAGRAM_VIRTUALLY_FRAME" val="{&quot;height&quot;:345.65,&quot;left&quot;:4.35,&quot;top&quot;:117.35,&quot;width&quot;:677.65}"/>
</p:tagLst>
</file>

<file path=ppt/tags/tag45.xml><?xml version="1.0" encoding="utf-8"?>
<p:tagLst xmlns:p="http://schemas.openxmlformats.org/presentationml/2006/main">
  <p:tag name="KSO_WM_DIAGRAM_VIRTUALLY_FRAME" val="{&quot;height&quot;:345.65,&quot;left&quot;:4.35,&quot;top&quot;:117.35,&quot;width&quot;:677.65}"/>
</p:tagLst>
</file>

<file path=ppt/tags/tag46.xml><?xml version="1.0" encoding="utf-8"?>
<p:tagLst xmlns:p="http://schemas.openxmlformats.org/presentationml/2006/main">
  <p:tag name="KSO_WM_DIAGRAM_VIRTUALLY_FRAME" val="{&quot;height&quot;:345.65,&quot;left&quot;:4.35,&quot;top&quot;:117.35,&quot;width&quot;:677.65}"/>
</p:tagLst>
</file>

<file path=ppt/tags/tag47.xml><?xml version="1.0" encoding="utf-8"?>
<p:tagLst xmlns:p="http://schemas.openxmlformats.org/presentationml/2006/main">
  <p:tag name="KSO_WM_DIAGRAM_VIRTUALLY_FRAME" val="{&quot;height&quot;:345.65,&quot;left&quot;:4.35,&quot;top&quot;:117.35,&quot;width&quot;:677.65}"/>
</p:tagLst>
</file>

<file path=ppt/tags/tag48.xml><?xml version="1.0" encoding="utf-8"?>
<p:tagLst xmlns:p="http://schemas.openxmlformats.org/presentationml/2006/main">
  <p:tag name="KSO_WM_DIAGRAM_VIRTUALLY_FRAME" val="{&quot;height&quot;:345.65,&quot;left&quot;:4.35,&quot;top&quot;:117.35,&quot;width&quot;:677.65}"/>
</p:tagLst>
</file>

<file path=ppt/tags/tag49.xml><?xml version="1.0" encoding="utf-8"?>
<p:tagLst xmlns:p="http://schemas.openxmlformats.org/presentationml/2006/main">
  <p:tag name="KSO_WM_DIAGRAM_VIRTUALLY_FRAME" val="{&quot;height&quot;:345.65,&quot;left&quot;:4.35,&quot;top&quot;:117.35,&quot;width&quot;:677.65}"/>
</p:tagLst>
</file>

<file path=ppt/tags/tag50.xml><?xml version="1.0" encoding="utf-8"?>
<p:tagLst xmlns:p="http://schemas.openxmlformats.org/presentationml/2006/main">
  <p:tag name="TABLE_ENDDRAG_ORIGIN_RECT" val="258*90"/>
  <p:tag name="TABLE_ENDDRAG_RECT" val="352*157*258*90"/>
</p:tagLst>
</file>

<file path=ppt/tags/tag51.xml><?xml version="1.0" encoding="utf-8"?>
<p:tagLst xmlns:p="http://schemas.openxmlformats.org/presentationml/2006/main">
  <p:tag name="KSO_WM_DIAGRAM_VIRTUALLY_FRAME" val="{&quot;height&quot;:279.05,&quot;left&quot;:17,&quot;top&quot;:75.25,&quot;width&quot;:590.35}"/>
</p:tagLst>
</file>

<file path=ppt/tags/tag52.xml><?xml version="1.0" encoding="utf-8"?>
<p:tagLst xmlns:p="http://schemas.openxmlformats.org/presentationml/2006/main">
  <p:tag name="KSO_WM_DIAGRAM_VIRTUALLY_FRAME" val="{&quot;height&quot;:279.05,&quot;left&quot;:17,&quot;top&quot;:75.25,&quot;width&quot;:590.35}"/>
</p:tagLst>
</file>

<file path=ppt/tags/tag53.xml><?xml version="1.0" encoding="utf-8"?>
<p:tagLst xmlns:p="http://schemas.openxmlformats.org/presentationml/2006/main">
  <p:tag name="KSO_WM_DIAGRAM_VIRTUALLY_FRAME" val="{&quot;height&quot;:279.05,&quot;left&quot;:17,&quot;top&quot;:75.25,&quot;width&quot;:590.35}"/>
</p:tagLst>
</file>

<file path=ppt/tags/tag54.xml><?xml version="1.0" encoding="utf-8"?>
<p:tagLst xmlns:p="http://schemas.openxmlformats.org/presentationml/2006/main">
  <p:tag name="KSO_WM_DIAGRAM_VIRTUALLY_FRAME" val="{&quot;height&quot;:279.05,&quot;left&quot;:17,&quot;top&quot;:75.25,&quot;width&quot;:590.35}"/>
</p:tagLst>
</file>

<file path=ppt/tags/tag55.xml><?xml version="1.0" encoding="utf-8"?>
<p:tagLst xmlns:p="http://schemas.openxmlformats.org/presentationml/2006/main">
  <p:tag name="TABLE_ENDDRAG_ORIGIN_RECT" val="270*175"/>
  <p:tag name="TABLE_ENDDRAG_RECT" val="50*75*270*175"/>
</p:tagLst>
</file>

<file path=ppt/tags/tag56.xml><?xml version="1.0" encoding="utf-8"?>
<p:tagLst xmlns:p="http://schemas.openxmlformats.org/presentationml/2006/main">
  <p:tag name="KSO_WM_DIAGRAM_VIRTUALLY_FRAME" val="{&quot;height&quot;:345.65,&quot;left&quot;:4.35,&quot;top&quot;:117.35,&quot;width&quot;:677.65}"/>
</p:tagLst>
</file>

<file path=ppt/tags/tag57.xml><?xml version="1.0" encoding="utf-8"?>
<p:tagLst xmlns:p="http://schemas.openxmlformats.org/presentationml/2006/main">
  <p:tag name="KSO_WM_DIAGRAM_VIRTUALLY_FRAME" val="{&quot;height&quot;:345.65,&quot;left&quot;:4.35,&quot;top&quot;:117.35,&quot;width&quot;:677.65}"/>
</p:tagLst>
</file>

<file path=ppt/tags/tag58.xml><?xml version="1.0" encoding="utf-8"?>
<p:tagLst xmlns:p="http://schemas.openxmlformats.org/presentationml/2006/main">
  <p:tag name="KSO_WM_DIAGRAM_VIRTUALLY_FRAME" val="{&quot;height&quot;:345.65,&quot;left&quot;:4.35,&quot;top&quot;:117.35,&quot;width&quot;:677.65}"/>
</p:tagLst>
</file>

<file path=ppt/tags/tag59.xml><?xml version="1.0" encoding="utf-8"?>
<p:tagLst xmlns:p="http://schemas.openxmlformats.org/presentationml/2006/main">
  <p:tag name="KSO_WM_DIAGRAM_VIRTUALLY_FRAME" val="{&quot;height&quot;:345.65,&quot;left&quot;:4.35,&quot;top&quot;:117.35,&quot;width&quot;:677.65}"/>
</p:tagLst>
</file>

<file path=ppt/tags/tag60.xml><?xml version="1.0" encoding="utf-8"?>
<p:tagLst xmlns:p="http://schemas.openxmlformats.org/presentationml/2006/main">
  <p:tag name="KSO_WM_DIAGRAM_VIRTUALLY_FRAME" val="{&quot;height&quot;:345.65,&quot;left&quot;:4.35,&quot;top&quot;:117.35,&quot;width&quot;:677.65}"/>
</p:tagLst>
</file>

<file path=ppt/tags/tag61.xml><?xml version="1.0" encoding="utf-8"?>
<p:tagLst xmlns:p="http://schemas.openxmlformats.org/presentationml/2006/main">
  <p:tag name="KSO_WM_DIAGRAM_VIRTUALLY_FRAME" val="{&quot;height&quot;:345.65,&quot;left&quot;:4.35,&quot;top&quot;:117.35,&quot;width&quot;:677.65}"/>
</p:tagLst>
</file>

<file path=ppt/tags/tag62.xml><?xml version="1.0" encoding="utf-8"?>
<p:tagLst xmlns:p="http://schemas.openxmlformats.org/presentationml/2006/main">
  <p:tag name="KSO_WM_DIAGRAM_VIRTUALLY_FRAME" val="{&quot;height&quot;:345.65,&quot;left&quot;:4.35,&quot;top&quot;:117.35,&quot;width&quot;:677.65}"/>
</p:tagLst>
</file>

<file path=ppt/tags/tag63.xml><?xml version="1.0" encoding="utf-8"?>
<p:tagLst xmlns:p="http://schemas.openxmlformats.org/presentationml/2006/main">
  <p:tag name="KSO_WM_DIAGRAM_VIRTUALLY_FRAME" val="{&quot;height&quot;:345.65,&quot;left&quot;:4.35,&quot;top&quot;:117.35,&quot;width&quot;:677.65}"/>
</p:tagLst>
</file>

<file path=ppt/tags/tag64.xml><?xml version="1.0" encoding="utf-8"?>
<p:tagLst xmlns:p="http://schemas.openxmlformats.org/presentationml/2006/main">
  <p:tag name="KSO_WM_DIAGRAM_VIRTUALLY_FRAME" val="{&quot;height&quot;:345.65,&quot;left&quot;:4.35,&quot;top&quot;:117.35,&quot;width&quot;:677.65}"/>
</p:tagLst>
</file>

<file path=ppt/tags/tag65.xml><?xml version="1.0" encoding="utf-8"?>
<p:tagLst xmlns:p="http://schemas.openxmlformats.org/presentationml/2006/main">
  <p:tag name="KSO_WM_DIAGRAM_VIRTUALLY_FRAME" val="{&quot;height&quot;:345.65,&quot;left&quot;:4.35,&quot;top&quot;:117.35,&quot;width&quot;:677.65}"/>
</p:tagLst>
</file>

<file path=ppt/tags/tag66.xml><?xml version="1.0" encoding="utf-8"?>
<p:tagLst xmlns:p="http://schemas.openxmlformats.org/presentationml/2006/main">
  <p:tag name="KSO_WM_DIAGRAM_VIRTUALLY_FRAME" val="{&quot;height&quot;:93.8,&quot;left&quot;:17,&quot;top&quot;:54.1,&quot;width&quot;:691.35}"/>
</p:tagLst>
</file>

<file path=ppt/tags/tag67.xml><?xml version="1.0" encoding="utf-8"?>
<p:tagLst xmlns:p="http://schemas.openxmlformats.org/presentationml/2006/main">
  <p:tag name="KSO_WM_DIAGRAM_VIRTUALLY_FRAME" val="{&quot;height&quot;:93.8,&quot;left&quot;:17,&quot;top&quot;:54.1,&quot;width&quot;:691.35}"/>
</p:tagLst>
</file>

<file path=ppt/tags/tag68.xml><?xml version="1.0" encoding="utf-8"?>
<p:tagLst xmlns:p="http://schemas.openxmlformats.org/presentationml/2006/main">
  <p:tag name="TABLE_ENDDRAG_ORIGIN_RECT" val="505*206"/>
  <p:tag name="TABLE_ENDDRAG_RECT" val="17*83*505*206"/>
</p:tagLst>
</file>

<file path=ppt/tags/tag69.xml><?xml version="1.0" encoding="utf-8"?>
<p:tagLst xmlns:p="http://schemas.openxmlformats.org/presentationml/2006/main">
  <p:tag name="TABLE_ENDDRAG_ORIGIN_RECT" val="655*215"/>
  <p:tag name="TABLE_ENDDRAG_RECT" val="52*116*655*215"/>
</p:tagLst>
</file>

<file path=ppt/theme/theme1.xml><?xml version="1.0" encoding="utf-8"?>
<a:theme xmlns:a="http://schemas.openxmlformats.org/drawingml/2006/main" name="Office 佈景主題">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6126</Words>
  <Application>WPS 演示</Application>
  <PresentationFormat>如螢幕大小 (16:9)</PresentationFormat>
  <Paragraphs>715</Paragraphs>
  <Slides>48</Slides>
  <Notes>0</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48</vt:i4>
      </vt:variant>
    </vt:vector>
  </HeadingPairs>
  <TitlesOfParts>
    <vt:vector size="81" baseType="lpstr">
      <vt:lpstr>Arial</vt:lpstr>
      <vt:lpstr>宋体</vt:lpstr>
      <vt:lpstr>Wingdings</vt:lpstr>
      <vt:lpstr>Calibri</vt:lpstr>
      <vt:lpstr>PMingLiU</vt:lpstr>
      <vt:lpstr>PMingLiU-ExtB</vt:lpstr>
      <vt:lpstr>Microsoft JhengHei</vt:lpstr>
      <vt:lpstr>ZapfDingbats</vt:lpstr>
      <vt:lpstr>OPPOSans H</vt:lpstr>
      <vt:lpstr>思源黑体 CN Normal</vt:lpstr>
      <vt:lpstr>Times New Roman</vt:lpstr>
      <vt:lpstr>OPPOSans B</vt:lpstr>
      <vt:lpstr>Consolas</vt:lpstr>
      <vt:lpstr>TimesNewRomanPSMT-Identity-H</vt:lpstr>
      <vt:lpstr>Segoe Print</vt:lpstr>
      <vt:lpstr>微软雅黑</vt:lpstr>
      <vt:lpstr>Arial Unicode MS</vt:lpstr>
      <vt:lpstr>等线</vt:lpstr>
      <vt:lpstr>Calibri</vt:lpstr>
      <vt:lpstr>Arial Black</vt:lpstr>
      <vt:lpstr>黑体</vt:lpstr>
      <vt:lpstr>PMingLiU</vt:lpstr>
      <vt:lpstr>Consolas</vt:lpstr>
      <vt:lpstr>OPPOSans B</vt:lpstr>
      <vt:lpstr>OPPOSans H</vt:lpstr>
      <vt:lpstr>TimesNewRomanPSMT-Identity-H</vt:lpstr>
      <vt:lpstr>ZapfDingbats</vt:lpstr>
      <vt:lpstr>思源黑体 CN Normal</vt:lpstr>
      <vt:lpstr>Zapf Renaissance Antiqua Light</vt:lpstr>
      <vt:lpstr>H2O</vt:lpstr>
      <vt:lpstr>方正大黑体_GBK</vt:lpstr>
      <vt:lpstr>The best part</vt:lpstr>
      <vt:lpstr>Office 佈景主題</vt:lpstr>
      <vt:lpstr>Zigbee学习报告</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公司新版政策語錄</dc:title>
  <dc:creator>KW31_陳柏廷(Point.Chen)</dc:creator>
  <cp:lastModifiedBy>黑影</cp:lastModifiedBy>
  <cp:revision>1235</cp:revision>
  <cp:lastPrinted>2023-11-14T06:51:00Z</cp:lastPrinted>
  <dcterms:created xsi:type="dcterms:W3CDTF">2021-05-06T16:03:00Z</dcterms:created>
  <dcterms:modified xsi:type="dcterms:W3CDTF">2026-03-17T08:03:26Z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C16F678DCBD14D92857B7BA57B8F979F_12</vt:lpwstr>
  </property>
</Properties>
</file>